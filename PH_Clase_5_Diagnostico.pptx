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notesSlides/notesSlide29.xml" ContentType="application/vnd.openxmlformats-officedocument.presentationml.notesSlide+xml"/>
  <Override PartName="/ppt/tags/tag2.xml" ContentType="application/vnd.openxmlformats-officedocument.presentationml.tags+xml"/>
  <Override PartName="/ppt/notesSlides/notesSlide30.xml" ContentType="application/vnd.openxmlformats-officedocument.presentationml.notesSlide+xml"/>
  <Override PartName="/ppt/tags/tag3.xml" ContentType="application/vnd.openxmlformats-officedocument.presentationml.tags+xml"/>
  <Override PartName="/ppt/notesSlides/notesSlide31.xml" ContentType="application/vnd.openxmlformats-officedocument.presentationml.notesSlide+xml"/>
  <Override PartName="/ppt/tags/tag4.xml" ContentType="application/vnd.openxmlformats-officedocument.presentationml.tags+xml"/>
  <Override PartName="/ppt/notesSlides/notesSlide32.xml" ContentType="application/vnd.openxmlformats-officedocument.presentationml.notesSlide+xml"/>
  <Override PartName="/ppt/tags/tag5.xml" ContentType="application/vnd.openxmlformats-officedocument.presentationml.tags+xml"/>
  <Override PartName="/ppt/notesSlides/notesSlide33.xml" ContentType="application/vnd.openxmlformats-officedocument.presentationml.notesSlide+xml"/>
  <Override PartName="/ppt/tags/tag6.xml" ContentType="application/vnd.openxmlformats-officedocument.presentationml.tags+xml"/>
  <Override PartName="/ppt/notesSlides/notesSlide34.xml" ContentType="application/vnd.openxmlformats-officedocument.presentationml.notesSlide+xml"/>
  <Override PartName="/ppt/tags/tag7.xml" ContentType="application/vnd.openxmlformats-officedocument.presentationml.tags+xml"/>
  <Override PartName="/ppt/notesSlides/notesSlide35.xml" ContentType="application/vnd.openxmlformats-officedocument.presentationml.notesSlide+xml"/>
  <Override PartName="/ppt/tags/tag8.xml" ContentType="application/vnd.openxmlformats-officedocument.presentationml.tags+xml"/>
  <Override PartName="/ppt/notesSlides/notesSlide36.xml" ContentType="application/vnd.openxmlformats-officedocument.presentationml.notesSlide+xml"/>
  <Override PartName="/ppt/tags/tag9.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5C783-57A1-46EC-9851-697F36EAC22C}" type="datetimeFigureOut">
              <a:rPr lang="es-BO" smtClean="0"/>
              <a:t>21/10/2026</a:t>
            </a:fld>
            <a:endParaRPr lang="es-B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B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F6F03E-44EF-4E32-8D18-3ED6B2EB4119}" type="slidenum">
              <a:rPr lang="es-BO" smtClean="0"/>
              <a:t>‹Nº›</a:t>
            </a:fld>
            <a:endParaRPr lang="es-BO"/>
          </a:p>
        </p:txBody>
      </p:sp>
    </p:spTree>
    <p:extLst>
      <p:ext uri="{BB962C8B-B14F-4D97-AF65-F5344CB8AC3E}">
        <p14:creationId xmlns:p14="http://schemas.microsoft.com/office/powerpoint/2010/main" val="1330840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Idea fuerza: el ensayo caro no es el que más cuesta, es el que se hace en el sitio equivocado. Las clases 1 a 4 enseñaron a mirar; este enseña a medir.</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a:t>
            </a:fld>
            <a:endParaRPr lang="es-BO"/>
          </a:p>
        </p:txBody>
      </p:sp>
    </p:spTree>
    <p:extLst>
      <p:ext uri="{BB962C8B-B14F-4D97-AF65-F5344CB8AC3E}">
        <p14:creationId xmlns:p14="http://schemas.microsoft.com/office/powerpoint/2010/main" val="686457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clase bisagra del curso: hasta aquí se diagnosticaba; a partir de la 7 se repara. Todo lo que se decida mal hoy se paga en las dos siguientes.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a:t>
            </a:fld>
            <a:endParaRPr lang="es-BO"/>
          </a:p>
        </p:txBody>
      </p:sp>
    </p:spTree>
    <p:extLst>
      <p:ext uri="{BB962C8B-B14F-4D97-AF65-F5344CB8AC3E}">
        <p14:creationId xmlns:p14="http://schemas.microsoft.com/office/powerpoint/2010/main" val="2080020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Repaso en tres minutos. Pregunta de apertura: ¿cuántos han pedido alguna vez un ensayo y después no han sabido qué hacer con el resultado?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a:t>
            </a:fld>
            <a:endParaRPr lang="es-BO"/>
          </a:p>
        </p:txBody>
      </p:sp>
    </p:spTree>
    <p:extLst>
      <p:ext uri="{BB962C8B-B14F-4D97-AF65-F5344CB8AC3E}">
        <p14:creationId xmlns:p14="http://schemas.microsoft.com/office/powerpoint/2010/main" val="2739333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Este orden es el esqueleto de la clase y del caso 6.1. Repetirlo tres veces a lo largo del día.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4</a:t>
            </a:fld>
            <a:endParaRPr lang="es-BO"/>
          </a:p>
        </p:txBody>
      </p:sp>
    </p:spTree>
    <p:extLst>
      <p:ext uri="{BB962C8B-B14F-4D97-AF65-F5344CB8AC3E}">
        <p14:creationId xmlns:p14="http://schemas.microsoft.com/office/powerpoint/2010/main" val="157306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1.</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5</a:t>
            </a:fld>
            <a:endParaRPr lang="es-BO"/>
          </a:p>
        </p:txBody>
      </p:sp>
    </p:spTree>
    <p:extLst>
      <p:ext uri="{BB962C8B-B14F-4D97-AF65-F5344CB8AC3E}">
        <p14:creationId xmlns:p14="http://schemas.microsoft.com/office/powerpoint/2010/main" val="1699091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Recorrer los cinco pasos. Señalar que el curso entero está ordenado igual: clases 1 a 4 el mecanismo, clase 5 la investigación, clases 6 y 7 la decisión.</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6</a:t>
            </a:fld>
            <a:endParaRPr lang="es-BO"/>
          </a:p>
        </p:txBody>
      </p:sp>
    </p:spTree>
    <p:extLst>
      <p:ext uri="{BB962C8B-B14F-4D97-AF65-F5344CB8AC3E}">
        <p14:creationId xmlns:p14="http://schemas.microsoft.com/office/powerpoint/2010/main" val="1974868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Insistir en la entrevista al personal antiguo. Es gratis y suele dar el dato que ordena todo el caso.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7</a:t>
            </a:fld>
            <a:endParaRPr lang="es-BO"/>
          </a:p>
        </p:txBody>
      </p:sp>
    </p:spTree>
    <p:extLst>
      <p:ext uri="{BB962C8B-B14F-4D97-AF65-F5344CB8AC3E}">
        <p14:creationId xmlns:p14="http://schemas.microsoft.com/office/powerpoint/2010/main" val="2491296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consejo del día de lluvia ya salió en la clase 2. Repetirlo aquí: es la frase que más se recuerda del curso.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8</a:t>
            </a:fld>
            <a:endParaRPr lang="es-BO"/>
          </a:p>
        </p:txBody>
      </p:sp>
    </p:spTree>
    <p:extLst>
      <p:ext uri="{BB962C8B-B14F-4D97-AF65-F5344CB8AC3E}">
        <p14:creationId xmlns:p14="http://schemas.microsoft.com/office/powerpoint/2010/main" val="4210590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Vender el mapeo como el producto de más valor a largo plazo. Justifica su coste ante el cliente.</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9</a:t>
            </a:fld>
            <a:endParaRPr lang="es-BO"/>
          </a:p>
        </p:txBody>
      </p:sp>
    </p:spTree>
    <p:extLst>
      <p:ext uri="{BB962C8B-B14F-4D97-AF65-F5344CB8AC3E}">
        <p14:creationId xmlns:p14="http://schemas.microsoft.com/office/powerpoint/2010/main" val="2943855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declaración de lo no inspeccionado se retoma en la parte 4. Dejarlo apuntado.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10</a:t>
            </a:fld>
            <a:endParaRPr lang="es-BO"/>
          </a:p>
        </p:txBody>
      </p:sp>
    </p:spTree>
    <p:extLst>
      <p:ext uri="{BB962C8B-B14F-4D97-AF65-F5344CB8AC3E}">
        <p14:creationId xmlns:p14="http://schemas.microsoft.com/office/powerpoint/2010/main" val="346473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2.</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11</a:t>
            </a:fld>
            <a:endParaRPr lang="es-BO"/>
          </a:p>
        </p:txBody>
      </p:sp>
    </p:spTree>
    <p:extLst>
      <p:ext uri="{BB962C8B-B14F-4D97-AF65-F5344CB8AC3E}">
        <p14:creationId xmlns:p14="http://schemas.microsoft.com/office/powerpoint/2010/main" val="3216109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Tabla de referencia de la clase. La columna «qué NO mide» es la aportación del curso.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12</a:t>
            </a:fld>
            <a:endParaRPr lang="es-BO"/>
          </a:p>
        </p:txBody>
      </p:sp>
    </p:spTree>
    <p:extLst>
      <p:ext uri="{BB962C8B-B14F-4D97-AF65-F5344CB8AC3E}">
        <p14:creationId xmlns:p14="http://schemas.microsoft.com/office/powerpoint/2010/main" val="2121267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esclerómetro es el aparato más usado y peor usado de Bolivia. Esta lámina es la más útil de la parte 2.</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13</a:t>
            </a:fld>
            <a:endParaRPr lang="es-BO"/>
          </a:p>
        </p:txBody>
      </p:sp>
    </p:spTree>
    <p:extLst>
      <p:ext uri="{BB962C8B-B14F-4D97-AF65-F5344CB8AC3E}">
        <p14:creationId xmlns:p14="http://schemas.microsoft.com/office/powerpoint/2010/main" val="133473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Enlazar con el caso 2.2: aquel 79 % salió de aquí. Cierra el círculo del curso.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14</a:t>
            </a:fld>
            <a:endParaRPr lang="es-BO"/>
          </a:p>
        </p:txBody>
      </p:sp>
    </p:spTree>
    <p:extLst>
      <p:ext uri="{BB962C8B-B14F-4D97-AF65-F5344CB8AC3E}">
        <p14:creationId xmlns:p14="http://schemas.microsoft.com/office/powerpoint/2010/main" val="259111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comprobación de contraste es la regla de oro de cualquier técnica indirecta. Decirlo así.</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15</a:t>
            </a:fld>
            <a:endParaRPr lang="es-BO"/>
          </a:p>
        </p:txBody>
      </p:sp>
    </p:spTree>
    <p:extLst>
      <p:ext uri="{BB962C8B-B14F-4D97-AF65-F5344CB8AC3E}">
        <p14:creationId xmlns:p14="http://schemas.microsoft.com/office/powerpoint/2010/main" val="3100538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Enlazar con la clase 2: el asiento se demuestra con dos nivelaciones, nunca con una.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16</a:t>
            </a:fld>
            <a:endParaRPr lang="es-BO"/>
          </a:p>
        </p:txBody>
      </p:sp>
    </p:spTree>
    <p:extLst>
      <p:ext uri="{BB962C8B-B14F-4D97-AF65-F5344CB8AC3E}">
        <p14:creationId xmlns:p14="http://schemas.microsoft.com/office/powerpoint/2010/main" val="2364277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3.</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17</a:t>
            </a:fld>
            <a:endParaRPr lang="es-BO"/>
          </a:p>
        </p:txBody>
      </p:sp>
    </p:spTree>
    <p:extLst>
      <p:ext uri="{BB962C8B-B14F-4D97-AF65-F5344CB8AC3E}">
        <p14:creationId xmlns:p14="http://schemas.microsoft.com/office/powerpoint/2010/main" val="2853738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punto 1 parece obvio y es el error más frecuente de los laboratorios locales.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18</a:t>
            </a:fld>
            <a:endParaRPr lang="es-BO"/>
          </a:p>
        </p:txBody>
      </p:sp>
    </p:spTree>
    <p:extLst>
      <p:ext uri="{BB962C8B-B14F-4D97-AF65-F5344CB8AC3E}">
        <p14:creationId xmlns:p14="http://schemas.microsoft.com/office/powerpoint/2010/main" val="3201381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Esta tabla y el caso 6.2 son el contenido más directamente aplicable de la clase. Que la fotografíen.</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19</a:t>
            </a:fld>
            <a:endParaRPr lang="es-BO"/>
          </a:p>
        </p:txBody>
      </p:sp>
    </p:spTree>
    <p:extLst>
      <p:ext uri="{BB962C8B-B14F-4D97-AF65-F5344CB8AC3E}">
        <p14:creationId xmlns:p14="http://schemas.microsoft.com/office/powerpoint/2010/main" val="2553622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0,85 y el 0,75 son los dos números que hay que llevarse de esta lámina.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20</a:t>
            </a:fld>
            <a:endParaRPr lang="es-BO"/>
          </a:p>
        </p:txBody>
      </p:sp>
    </p:spTree>
    <p:extLst>
      <p:ext uri="{BB962C8B-B14F-4D97-AF65-F5344CB8AC3E}">
        <p14:creationId xmlns:p14="http://schemas.microsoft.com/office/powerpoint/2010/main" val="1023985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Cada fila remite a una clase anterior. Hacer el recorrido en voz alta: carbonatación a la 1, cloruros a la 1, sulfatos y RAS a la 4.</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21</a:t>
            </a:fld>
            <a:endParaRPr lang="es-BO"/>
          </a:p>
        </p:txBody>
      </p:sp>
    </p:spTree>
    <p:extLst>
      <p:ext uri="{BB962C8B-B14F-4D97-AF65-F5344CB8AC3E}">
        <p14:creationId xmlns:p14="http://schemas.microsoft.com/office/powerpoint/2010/main" val="28780909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distinción cloruro total / cloruro soluble en agua es la que más confusión genera en informes bolivianos.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22</a:t>
            </a:fld>
            <a:endParaRPr lang="es-BO"/>
          </a:p>
        </p:txBody>
      </p:sp>
    </p:spTree>
    <p:extLst>
      <p:ext uri="{BB962C8B-B14F-4D97-AF65-F5344CB8AC3E}">
        <p14:creationId xmlns:p14="http://schemas.microsoft.com/office/powerpoint/2010/main" val="233796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4.</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23</a:t>
            </a:fld>
            <a:endParaRPr lang="es-BO"/>
          </a:p>
        </p:txBody>
      </p:sp>
    </p:spTree>
    <p:extLst>
      <p:ext uri="{BB962C8B-B14F-4D97-AF65-F5344CB8AC3E}">
        <p14:creationId xmlns:p14="http://schemas.microsoft.com/office/powerpoint/2010/main" val="3645524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Si de toda la clase se llevan una sola lámina, que sea esta.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24</a:t>
            </a:fld>
            <a:endParaRPr lang="es-BO"/>
          </a:p>
        </p:txBody>
      </p:sp>
    </p:spTree>
    <p:extLst>
      <p:ext uri="{BB962C8B-B14F-4D97-AF65-F5344CB8AC3E}">
        <p14:creationId xmlns:p14="http://schemas.microsoft.com/office/powerpoint/2010/main" val="38594004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Los cinco son gratis. Repetirlo: no hay excusa presupuestaria para no hacerlos.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25</a:t>
            </a:fld>
            <a:endParaRPr lang="es-BO"/>
          </a:p>
        </p:txBody>
      </p:sp>
    </p:spTree>
    <p:extLst>
      <p:ext uri="{BB962C8B-B14F-4D97-AF65-F5344CB8AC3E}">
        <p14:creationId xmlns:p14="http://schemas.microsoft.com/office/powerpoint/2010/main" val="4036528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Decirlo claro: el apartado 6 no es una debilidad del informe, es su garantía.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26</a:t>
            </a:fld>
            <a:endParaRPr lang="es-BO"/>
          </a:p>
        </p:txBody>
      </p:sp>
    </p:spTree>
    <p:extLst>
      <p:ext uri="{BB962C8B-B14F-4D97-AF65-F5344CB8AC3E}">
        <p14:creationId xmlns:p14="http://schemas.microsoft.com/office/powerpoint/2010/main" val="10527885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BO"/>
              <a:t>Presentación de los casos.</a:t>
            </a:r>
          </a:p>
        </p:txBody>
      </p:sp>
      <p:sp>
        <p:nvSpPr>
          <p:cNvPr id="4" name="Marcador de número de diapositiva 3"/>
          <p:cNvSpPr>
            <a:spLocks noGrp="1"/>
          </p:cNvSpPr>
          <p:nvPr>
            <p:ph type="sldNum" sz="quarter" idx="5"/>
          </p:nvPr>
        </p:nvSpPr>
        <p:spPr/>
        <p:txBody>
          <a:bodyPr/>
          <a:lstStyle/>
          <a:p>
            <a:fld id="{18F6F03E-44EF-4E32-8D18-3ED6B2EB4119}" type="slidenum">
              <a:rPr lang="es-BO" smtClean="0"/>
              <a:t>27</a:t>
            </a:fld>
            <a:endParaRPr lang="es-BO"/>
          </a:p>
        </p:txBody>
      </p:sp>
    </p:spTree>
    <p:extLst>
      <p:ext uri="{BB962C8B-B14F-4D97-AF65-F5344CB8AC3E}">
        <p14:creationId xmlns:p14="http://schemas.microsoft.com/office/powerpoint/2010/main" val="6752143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Hoy se cierra el círculo: los números que vienen usándose desde la clase 1 se explican aquí.</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28</a:t>
            </a:fld>
            <a:endParaRPr lang="es-BO"/>
          </a:p>
        </p:txBody>
      </p:sp>
    </p:spTree>
    <p:extLst>
      <p:ext uri="{BB962C8B-B14F-4D97-AF65-F5344CB8AC3E}">
        <p14:creationId xmlns:p14="http://schemas.microsoft.com/office/powerpoint/2010/main" val="1443843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Decir desde el principio que la conclusión del informe preliminar es falsa, y que al final se verá por qué.</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29</a:t>
            </a:fld>
            <a:endParaRPr lang="es-BO"/>
          </a:p>
        </p:txBody>
      </p:sp>
    </p:spTree>
    <p:extLst>
      <p:ext uri="{BB962C8B-B14F-4D97-AF65-F5344CB8AC3E}">
        <p14:creationId xmlns:p14="http://schemas.microsoft.com/office/powerpoint/2010/main" val="12187639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Insistir en los tres testigos por resultado. Es el error de procedimiento más caro del curso.</a:t>
            </a:r>
          </a:p>
          <a:p>
            <a:endParaRPr lang="es-MX"/>
          </a:p>
          <a:p>
            <a:r>
              <a:rPr lang="es-MX"/>
              <a:t>HIPÓTESIS Y LÍMITES DE VALIDEZ</a:t>
            </a:r>
          </a:p>
          <a:p>
            <a:r>
              <a:rPr lang="es-MX"/>
              <a:t>La media de tres testigos tiene una incertidumbre del orden del 10 % con el CV habitual en obra. Tres es el mínimo para un resultado; no permite estimar la dispersión de la población, solo la del resultado.</a:t>
            </a:r>
          </a:p>
          <a:p>
            <a:endParaRPr lang="es-MX"/>
          </a:p>
          <a:p>
            <a:r>
              <a:rPr lang="es-MX"/>
              <a:t>INTERPRETACIÓN, RESTO</a:t>
            </a:r>
          </a:p>
          <a:p>
            <a:r>
              <a:rPr lang="es-MX"/>
              <a:t>No es la resistencia de la columna: es la resistencia de tres cilindros de 75 mm de diámetro, saturados, con esbeltez 1,50. Para compararla con f′c hay que llevarla a condiciones de probeta normalizada.</a:t>
            </a:r>
          </a:p>
          <a:p>
            <a:endParaRPr lang="es-MX"/>
          </a:p>
          <a:p>
            <a:r>
              <a:rPr lang="es-MX"/>
              <a:t>DE DÓNDE SALE CADA DATO</a:t>
            </a:r>
          </a:p>
          <a:p>
            <a:r>
              <a:rPr lang="es-MX"/>
              <a:t>· 15,1 · 17,2 · 16,3 MPa: Roturas de los tres testigos de la columna C-4, acta del laboratorio. Rango 2,1 MPa, coeficiente de variación 6,5 %.</a:t>
            </a:r>
          </a:p>
          <a:p>
            <a:r>
              <a:rPr lang="es-MX"/>
              <a:t>· Ø 75 mm  ·  l/d = 1,50: Geometría de los testigos, necesaria para los factores del paso 3. Se exige al laboratorio en el acta.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30</a:t>
            </a:fld>
            <a:endParaRPr lang="es-BO"/>
          </a:p>
        </p:txBody>
      </p:sp>
    </p:spTree>
    <p:extLst>
      <p:ext uri="{BB962C8B-B14F-4D97-AF65-F5344CB8AC3E}">
        <p14:creationId xmlns:p14="http://schemas.microsoft.com/office/powerpoint/2010/main" val="1012622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Dejar que el grupo vea el 23 % y la conclusión. Luego desmontarlo paso a paso.</a:t>
            </a:r>
          </a:p>
          <a:p>
            <a:endParaRPr lang="es-MX"/>
          </a:p>
          <a:p>
            <a:r>
              <a:rPr lang="es-MX"/>
              <a:t>HIPÓTESIS Y LÍMITES DE VALIDEZ</a:t>
            </a:r>
          </a:p>
          <a:p>
            <a:r>
              <a:rPr lang="es-MX"/>
              <a:t>Este paso no es aplicable: se incluye únicamente para documentar el error del acta preliminar. Ninguna cifra de este paso debe trasladarse al informe final salvo como cita del acta que se corrige.</a:t>
            </a:r>
          </a:p>
          <a:p>
            <a:endParaRPr lang="es-MX"/>
          </a:p>
          <a:p>
            <a:r>
              <a:rPr lang="es-MX"/>
              <a:t>INTERPRETACIÓN, RESTO</a:t>
            </a:r>
          </a:p>
          <a:p>
            <a:r>
              <a:rPr lang="es-MX"/>
              <a:t>Catorce puntos porcentuales de corrección separan esa conclusión de la correcta, y los tres pasos siguientes los recuperan uno a uno, con factores tabulados.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31</a:t>
            </a:fld>
            <a:endParaRPr lang="es-BO"/>
          </a:p>
        </p:txBody>
      </p:sp>
    </p:spTree>
    <p:extLst>
      <p:ext uri="{BB962C8B-B14F-4D97-AF65-F5344CB8AC3E}">
        <p14:creationId xmlns:p14="http://schemas.microsoft.com/office/powerpoint/2010/main" val="2486369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Pedir que anoten los cuatro factores. Son los que van a usar en toda su vida profesional.</a:t>
            </a:r>
          </a:p>
          <a:p>
            <a:endParaRPr lang="es-MX"/>
          </a:p>
          <a:p>
            <a:r>
              <a:rPr lang="es-MX"/>
              <a:t>HIPÓTESIS Y LÍMITES DE VALIDEZ</a:t>
            </a:r>
          </a:p>
          <a:p>
            <a:r>
              <a:rPr lang="es-MX"/>
              <a:t>Los factores tienen dispersión propia; el de humedad es el más incierto (rango 1,04 a 1,13 según la fuente). Solo se aplican si se conocen las condiciones reales de ensayo: si el acta no las declara, hay que solicitarlas antes de corregir.</a:t>
            </a:r>
          </a:p>
          <a:p>
            <a:endParaRPr lang="es-MX"/>
          </a:p>
          <a:p>
            <a:r>
              <a:rPr lang="es-MX"/>
              <a:t>INTERPRETACIÓN, RESTO</a:t>
            </a:r>
          </a:p>
          <a:p>
            <a:r>
              <a:rPr lang="es-MX"/>
              <a:t>Si el laboratorio no declara la condición de humedad ni el procedimiento de extracción, los factores correspondientes no pueden aplicarse y hay que pedir el dato.</a:t>
            </a:r>
          </a:p>
          <a:p>
            <a:endParaRPr lang="es-MX"/>
          </a:p>
          <a:p>
            <a:r>
              <a:rPr lang="es-MX"/>
              <a:t>DE DÓNDE SALE CADA DATO</a:t>
            </a:r>
          </a:p>
          <a:p>
            <a:r>
              <a:rPr lang="es-MX"/>
              <a:t>· F_l/d = 0,96: Esbeltez 1,50 frente a 2,00 de referencia. Un testigo rechoncho rompe a mayor carga por el confinamiento de los platos: se corrige a la baja.</a:t>
            </a:r>
          </a:p>
          <a:p>
            <a:r>
              <a:rPr lang="es-MX"/>
              <a:t>· F_Ø = 1,03: Diámetro 75 mm frente a 150. Los testigos de menor diámetro dan valores menores por efecto de borde: se corrige al alza.</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32</a:t>
            </a:fld>
            <a:endParaRPr lang="es-BO"/>
          </a:p>
        </p:txBody>
      </p:sp>
    </p:spTree>
    <p:extLst>
      <p:ext uri="{BB962C8B-B14F-4D97-AF65-F5344CB8AC3E}">
        <p14:creationId xmlns:p14="http://schemas.microsoft.com/office/powerpoint/2010/main" val="36531077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Este es el número que vuelve en la clase 7. Pedir que lo anoten.</a:t>
            </a:r>
          </a:p>
          <a:p>
            <a:endParaRPr lang="es-MX"/>
          </a:p>
          <a:p>
            <a:r>
              <a:rPr lang="es-MX"/>
              <a:t>HIPÓTESIS Y LÍMITES DE VALIDEZ</a:t>
            </a:r>
          </a:p>
          <a:p>
            <a:r>
              <a:rPr lang="es-MX"/>
              <a:t>Es resistencia equivalente a probeta normalizada, comparable con f′c. No es la resistencia del elemento en servicio, que depende además de la geometría, del confinamiento por estribos y del estado de fisuración.</a:t>
            </a:r>
          </a:p>
          <a:p>
            <a:endParaRPr lang="es-MX"/>
          </a:p>
          <a:p>
            <a:r>
              <a:rPr lang="es-MX"/>
              <a:t>INTERPRETACIÓN, RESTO</a:t>
            </a:r>
          </a:p>
          <a:p>
            <a:r>
              <a:rPr lang="es-MX"/>
              <a:t>De 16,2 a 18,5 MPa sin que nadie toque el hormigón: la diferencia es haber llevado el dato a la magnitud comparable.</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33</a:t>
            </a:fld>
            <a:endParaRPr lang="es-BO"/>
          </a:p>
        </p:txBody>
      </p:sp>
    </p:spTree>
    <p:extLst>
      <p:ext uri="{BB962C8B-B14F-4D97-AF65-F5344CB8AC3E}">
        <p14:creationId xmlns:p14="http://schemas.microsoft.com/office/powerpoint/2010/main" val="32361787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Este es el momento del caso. Catorce por ciento de corrección cambiaron la conclusión por completo.</a:t>
            </a:r>
          </a:p>
          <a:p>
            <a:endParaRPr lang="es-MX"/>
          </a:p>
          <a:p>
            <a:r>
              <a:rPr lang="es-MX"/>
              <a:t>HIPÓTESIS Y LÍMITES DE VALIDEZ</a:t>
            </a:r>
          </a:p>
          <a:p>
            <a:r>
              <a:rPr lang="es-MX"/>
              <a:t>§26.12.4 es un criterio de aceptación de hormigón en obra nueva. En evaluación de estructuras existentes ACI 562 lo admite como referencia, pero la decisión final se toma con el recálculo de capacidad, no con el criterio de aceptación.</a:t>
            </a:r>
          </a:p>
          <a:p>
            <a:endParaRPr lang="es-MX"/>
          </a:p>
          <a:p>
            <a:r>
              <a:rPr lang="es-MX"/>
              <a:t>INTERPRETACIÓN, RESTO</a:t>
            </a:r>
          </a:p>
          <a:p>
            <a:r>
              <a:rPr lang="es-MX"/>
              <a:t>El margen es estrecho, del 3,6 %. Conviene declararlo: si un cuarto testigo bajara la media, el resultado podría cambiar, y eso debe constar.</a:t>
            </a:r>
          </a:p>
          <a:p>
            <a:endParaRPr lang="es-MX"/>
          </a:p>
          <a:p>
            <a:r>
              <a:rPr lang="es-MX"/>
              <a:t>DE DÓNDE SALE CADA DATO</a:t>
            </a:r>
          </a:p>
          <a:p>
            <a:r>
              <a:rPr lang="es-MX"/>
              <a:t>· 0,85 f′c = 17,85 MPa: Umbral sobre la media de los tres testigos corregidos. Protege frente a hormigón globalmente deficiente.</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34</a:t>
            </a:fld>
            <a:endParaRPr lang="es-BO"/>
          </a:p>
        </p:txBody>
      </p:sp>
    </p:spTree>
    <p:extLst>
      <p:ext uri="{BB962C8B-B14F-4D97-AF65-F5344CB8AC3E}">
        <p14:creationId xmlns:p14="http://schemas.microsoft.com/office/powerpoint/2010/main" val="7452192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Cerrar con el uso correcto: el esclerómetro, anclado con testigos, ahorra 23 perforaciones.</a:t>
            </a:r>
          </a:p>
          <a:p>
            <a:endParaRPr lang="es-MX"/>
          </a:p>
          <a:p>
            <a:r>
              <a:rPr lang="es-MX"/>
              <a:t>HIPÓTESIS Y LÍMITES DE VALIDEZ</a:t>
            </a:r>
          </a:p>
          <a:p>
            <a:r>
              <a:rPr lang="es-MX"/>
              <a:t>La correlación propia es válida solo para esta obra, este aparato, este operador y mientras el frente de carbonatación sea comparable. ACI 228.1R recomienda al menos seis pares testigo-rebote para una correlación fiable: con tres, el factor es orientativo.</a:t>
            </a:r>
          </a:p>
          <a:p>
            <a:endParaRPr lang="es-MX"/>
          </a:p>
          <a:p>
            <a:r>
              <a:rPr lang="es-MX"/>
              <a:t>INTERPRETACIÓN, RESTO</a:t>
            </a:r>
          </a:p>
          <a:p>
            <a:r>
              <a:rPr lang="es-MX"/>
              <a:t>Con los tres testigos se construye la correlación propia de esta obra, y entonces el esclerómetro sí aporta: permite extender el resultado a las otras 23 columnas sin perforarlas.</a:t>
            </a:r>
          </a:p>
          <a:p>
            <a:endParaRPr lang="es-MX"/>
          </a:p>
          <a:p>
            <a:r>
              <a:rPr lang="es-MX"/>
              <a:t>DE DÓNDE SALE CADA DATO</a:t>
            </a:r>
          </a:p>
          <a:p>
            <a:r>
              <a:rPr lang="es-MX"/>
              <a:t>· 28 MPa: Valor que da la curva del fabricante para ese índice. Curva construida con hormigones nuevos y no carbonatados.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35</a:t>
            </a:fld>
            <a:endParaRPr lang="es-BO"/>
          </a:p>
        </p:txBody>
      </p:sp>
    </p:spTree>
    <p:extLst>
      <p:ext uri="{BB962C8B-B14F-4D97-AF65-F5344CB8AC3E}">
        <p14:creationId xmlns:p14="http://schemas.microsoft.com/office/powerpoint/2010/main" val="11551139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Cerrar el caso. Los números están en la hoja 6 del libro de Excel del curso.</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36</a:t>
            </a:fld>
            <a:endParaRPr lang="es-BO"/>
          </a:p>
        </p:txBody>
      </p:sp>
    </p:spTree>
    <p:extLst>
      <p:ext uri="{BB962C8B-B14F-4D97-AF65-F5344CB8AC3E}">
        <p14:creationId xmlns:p14="http://schemas.microsoft.com/office/powerpoint/2010/main" val="6650953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Enseñar que el factor total pasa del 14 %: comparar el número bruto del laboratorio contra la resistencia de proyecto es comparar dos magnitudes distintas.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37</a:t>
            </a:fld>
            <a:endParaRPr lang="es-BO"/>
          </a:p>
        </p:txBody>
      </p:sp>
    </p:spTree>
    <p:extLst>
      <p:ext uri="{BB962C8B-B14F-4D97-AF65-F5344CB8AC3E}">
        <p14:creationId xmlns:p14="http://schemas.microsoft.com/office/powerpoint/2010/main" val="25608624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Seis ideas. La cuarta y la quinta son las que tienen efecto inmediato en el trabajo del lunes.</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38</a:t>
            </a:fld>
            <a:endParaRPr lang="es-BO"/>
          </a:p>
        </p:txBody>
      </p:sp>
    </p:spTree>
    <p:extLst>
      <p:ext uri="{BB962C8B-B14F-4D97-AF65-F5344CB8AC3E}">
        <p14:creationId xmlns:p14="http://schemas.microsoft.com/office/powerpoint/2010/main" val="21550806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Cierre. Anticipar que en la clase 6 se elige el principio antes que el producto, y que el entregable del diagnóstico de hoy es la entrada de allí.</a:t>
            </a:r>
            <a:endParaRPr lang="es-BO"/>
          </a:p>
        </p:txBody>
      </p:sp>
      <p:sp>
        <p:nvSpPr>
          <p:cNvPr id="4" name="Marcador de número de diapositiva 3"/>
          <p:cNvSpPr>
            <a:spLocks noGrp="1"/>
          </p:cNvSpPr>
          <p:nvPr>
            <p:ph type="sldNum" sz="quarter" idx="5"/>
          </p:nvPr>
        </p:nvSpPr>
        <p:spPr/>
        <p:txBody>
          <a:bodyPr/>
          <a:lstStyle/>
          <a:p>
            <a:fld id="{18F6F03E-44EF-4E32-8D18-3ED6B2EB4119}" type="slidenum">
              <a:rPr lang="es-BO" smtClean="0"/>
              <a:t>39</a:t>
            </a:fld>
            <a:endParaRPr lang="es-BO"/>
          </a:p>
        </p:txBody>
      </p:sp>
    </p:spTree>
    <p:extLst>
      <p:ext uri="{BB962C8B-B14F-4D97-AF65-F5344CB8AC3E}">
        <p14:creationId xmlns:p14="http://schemas.microsoft.com/office/powerpoint/2010/main" val="2913806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5A4078-45E1-6CDF-FD4D-D68CD6753D9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a:extLst>
              <a:ext uri="{FF2B5EF4-FFF2-40B4-BE49-F238E27FC236}">
                <a16:creationId xmlns:a16="http://schemas.microsoft.com/office/drawing/2014/main" id="{AEF2BB52-A3CF-7B3E-F857-106FA92D95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a:extLst>
              <a:ext uri="{FF2B5EF4-FFF2-40B4-BE49-F238E27FC236}">
                <a16:creationId xmlns:a16="http://schemas.microsoft.com/office/drawing/2014/main" id="{A408BBF5-0562-B684-4111-AC8A8A607711}"/>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5" name="Marcador de pie de página 4">
            <a:extLst>
              <a:ext uri="{FF2B5EF4-FFF2-40B4-BE49-F238E27FC236}">
                <a16:creationId xmlns:a16="http://schemas.microsoft.com/office/drawing/2014/main" id="{31471DFF-6B87-6AA9-CA65-6000E92FA2D5}"/>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583CC09E-421E-441A-F1F3-2D4A8A798B70}"/>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2268464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F6336-B1C9-689C-129C-675A9EFF9B3A}"/>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C9D993C6-8A18-643F-B85D-EA6878A925F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B37290A4-0B3D-7AFF-841B-B401400A2822}"/>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5" name="Marcador de pie de página 4">
            <a:extLst>
              <a:ext uri="{FF2B5EF4-FFF2-40B4-BE49-F238E27FC236}">
                <a16:creationId xmlns:a16="http://schemas.microsoft.com/office/drawing/2014/main" id="{205BBFDA-BE3C-EDC4-9515-1D40D623C1C7}"/>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D911DBB3-BAF7-3106-89CF-7BDDB03D0C8B}"/>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2127490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0408F7-2ECA-82C9-C0D2-2671CA16C7E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A8012AD4-7159-992A-6CCC-F7D1F8DEB4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2D9E6E8-AEED-9F34-A995-195BB7152F55}"/>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5" name="Marcador de pie de página 4">
            <a:extLst>
              <a:ext uri="{FF2B5EF4-FFF2-40B4-BE49-F238E27FC236}">
                <a16:creationId xmlns:a16="http://schemas.microsoft.com/office/drawing/2014/main" id="{D7DCFC9A-A88E-6660-A02B-A8FE1B115498}"/>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556A757A-6768-5A48-6E31-947E609CE6B7}"/>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16036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4F02F0-4DD1-9247-CD0E-58B9AB14BA95}"/>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45763897-AD77-C9DF-ED7B-C75F94039EA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a:extLst>
              <a:ext uri="{FF2B5EF4-FFF2-40B4-BE49-F238E27FC236}">
                <a16:creationId xmlns:a16="http://schemas.microsoft.com/office/drawing/2014/main" id="{C57751E5-C749-2A8F-6676-904F50C4158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a:extLst>
              <a:ext uri="{FF2B5EF4-FFF2-40B4-BE49-F238E27FC236}">
                <a16:creationId xmlns:a16="http://schemas.microsoft.com/office/drawing/2014/main" id="{D60BFAD2-9671-DA54-AB56-BEB4BDDFE363}"/>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6" name="Marcador de pie de página 5">
            <a:extLst>
              <a:ext uri="{FF2B5EF4-FFF2-40B4-BE49-F238E27FC236}">
                <a16:creationId xmlns:a16="http://schemas.microsoft.com/office/drawing/2014/main" id="{8BE88496-BD64-9DD2-D5A7-BA0C3C40BC9C}"/>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A8730B5F-B27C-C4F4-9D71-5D4908FF7AD1}"/>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50876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52A54E-D5FA-EE21-6038-CF0A3798FA9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2828F88A-ECFF-B79C-9A7E-98C29419C7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41F80-573F-E9B5-25AF-77187786656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a:extLst>
              <a:ext uri="{FF2B5EF4-FFF2-40B4-BE49-F238E27FC236}">
                <a16:creationId xmlns:a16="http://schemas.microsoft.com/office/drawing/2014/main" id="{BA2EB84E-456A-91D6-7570-B6CDA6DD5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3B7949-5080-128E-4A3E-5B1D3420974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a:extLst>
              <a:ext uri="{FF2B5EF4-FFF2-40B4-BE49-F238E27FC236}">
                <a16:creationId xmlns:a16="http://schemas.microsoft.com/office/drawing/2014/main" id="{1027AC5C-1AD2-B9C5-859F-46F53DE6830C}"/>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8" name="Marcador de pie de página 7">
            <a:extLst>
              <a:ext uri="{FF2B5EF4-FFF2-40B4-BE49-F238E27FC236}">
                <a16:creationId xmlns:a16="http://schemas.microsoft.com/office/drawing/2014/main" id="{4FA12038-38D8-B851-D4DD-1675625C3DFD}"/>
              </a:ext>
            </a:extLst>
          </p:cNvPr>
          <p:cNvSpPr>
            <a:spLocks noGrp="1"/>
          </p:cNvSpPr>
          <p:nvPr>
            <p:ph type="ftr" sz="quarter" idx="11"/>
          </p:nvPr>
        </p:nvSpPr>
        <p:spPr/>
        <p:txBody>
          <a:bodyPr/>
          <a:lstStyle/>
          <a:p>
            <a:endParaRPr lang="es-BO"/>
          </a:p>
        </p:txBody>
      </p:sp>
      <p:sp>
        <p:nvSpPr>
          <p:cNvPr id="9" name="Marcador de número de diapositiva 8">
            <a:extLst>
              <a:ext uri="{FF2B5EF4-FFF2-40B4-BE49-F238E27FC236}">
                <a16:creationId xmlns:a16="http://schemas.microsoft.com/office/drawing/2014/main" id="{06643C8C-8741-2AA4-2FA3-92C6DD3A8429}"/>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1307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7F83A1-CD3F-B39E-E624-4BDA02B5B354}"/>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fecha 2">
            <a:extLst>
              <a:ext uri="{FF2B5EF4-FFF2-40B4-BE49-F238E27FC236}">
                <a16:creationId xmlns:a16="http://schemas.microsoft.com/office/drawing/2014/main" id="{C453564D-2A8F-78AE-F53B-F350AD5DD005}"/>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4" name="Marcador de pie de página 3">
            <a:extLst>
              <a:ext uri="{FF2B5EF4-FFF2-40B4-BE49-F238E27FC236}">
                <a16:creationId xmlns:a16="http://schemas.microsoft.com/office/drawing/2014/main" id="{9F0B139B-239E-4088-765A-A5866E8E99E8}"/>
              </a:ext>
            </a:extLst>
          </p:cNvPr>
          <p:cNvSpPr>
            <a:spLocks noGrp="1"/>
          </p:cNvSpPr>
          <p:nvPr>
            <p:ph type="ftr" sz="quarter" idx="11"/>
          </p:nvPr>
        </p:nvSpPr>
        <p:spPr/>
        <p:txBody>
          <a:bodyPr/>
          <a:lstStyle/>
          <a:p>
            <a:endParaRPr lang="es-BO"/>
          </a:p>
        </p:txBody>
      </p:sp>
      <p:sp>
        <p:nvSpPr>
          <p:cNvPr id="5" name="Marcador de número de diapositiva 4">
            <a:extLst>
              <a:ext uri="{FF2B5EF4-FFF2-40B4-BE49-F238E27FC236}">
                <a16:creationId xmlns:a16="http://schemas.microsoft.com/office/drawing/2014/main" id="{C970E304-23C7-D6BE-94CD-BB0537014952}"/>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991187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ADEA997-77CB-0F80-3E5A-8D7D37421E2A}"/>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3" name="Marcador de pie de página 2">
            <a:extLst>
              <a:ext uri="{FF2B5EF4-FFF2-40B4-BE49-F238E27FC236}">
                <a16:creationId xmlns:a16="http://schemas.microsoft.com/office/drawing/2014/main" id="{C7214737-A0F3-032D-26B5-A092D32AD6EE}"/>
              </a:ext>
            </a:extLst>
          </p:cNvPr>
          <p:cNvSpPr>
            <a:spLocks noGrp="1"/>
          </p:cNvSpPr>
          <p:nvPr>
            <p:ph type="ftr" sz="quarter" idx="11"/>
          </p:nvPr>
        </p:nvSpPr>
        <p:spPr/>
        <p:txBody>
          <a:bodyPr/>
          <a:lstStyle/>
          <a:p>
            <a:endParaRPr lang="es-BO"/>
          </a:p>
        </p:txBody>
      </p:sp>
      <p:sp>
        <p:nvSpPr>
          <p:cNvPr id="4" name="Marcador de número de diapositiva 3">
            <a:extLst>
              <a:ext uri="{FF2B5EF4-FFF2-40B4-BE49-F238E27FC236}">
                <a16:creationId xmlns:a16="http://schemas.microsoft.com/office/drawing/2014/main" id="{F33A0F09-9F9A-3316-C2F3-7DDC24622304}"/>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2087535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52FC35-7041-12E7-A44A-665810F82F2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A6459200-6587-F57F-227B-E9D8FEBA0A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a:extLst>
              <a:ext uri="{FF2B5EF4-FFF2-40B4-BE49-F238E27FC236}">
                <a16:creationId xmlns:a16="http://schemas.microsoft.com/office/drawing/2014/main" id="{063BA063-4B93-1565-2BA8-10E46F62F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68D627-565C-61EF-B609-C686216F31A4}"/>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6" name="Marcador de pie de página 5">
            <a:extLst>
              <a:ext uri="{FF2B5EF4-FFF2-40B4-BE49-F238E27FC236}">
                <a16:creationId xmlns:a16="http://schemas.microsoft.com/office/drawing/2014/main" id="{F441D176-A7E1-CD0E-0757-563F492C252F}"/>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F64767DC-8EFA-471B-8907-7642DC3BB9C1}"/>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450990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AD6653-4E45-177D-B183-6E6526590FB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a:extLst>
              <a:ext uri="{FF2B5EF4-FFF2-40B4-BE49-F238E27FC236}">
                <a16:creationId xmlns:a16="http://schemas.microsoft.com/office/drawing/2014/main" id="{D90A5D17-AFA0-B120-75BC-4610CDC10FE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a:extLst>
              <a:ext uri="{FF2B5EF4-FFF2-40B4-BE49-F238E27FC236}">
                <a16:creationId xmlns:a16="http://schemas.microsoft.com/office/drawing/2014/main" id="{D27DD9D5-EAF4-C527-6673-2C410FC646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D7547B3-66BA-E9A4-B1A9-1352B6631A78}"/>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6" name="Marcador de pie de página 5">
            <a:extLst>
              <a:ext uri="{FF2B5EF4-FFF2-40B4-BE49-F238E27FC236}">
                <a16:creationId xmlns:a16="http://schemas.microsoft.com/office/drawing/2014/main" id="{0BA4AABA-F4FE-394E-9B55-7EEF5296F8DF}"/>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483278F0-7AE6-F58F-B58E-4C4F98596474}"/>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242475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7FDD26-A557-4F22-4E72-231074240B59}"/>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4A6DFD36-94C8-2AF0-6786-0F662CBB72A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66387F12-EC55-4159-C246-48B35672C411}"/>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5" name="Marcador de pie de página 4">
            <a:extLst>
              <a:ext uri="{FF2B5EF4-FFF2-40B4-BE49-F238E27FC236}">
                <a16:creationId xmlns:a16="http://schemas.microsoft.com/office/drawing/2014/main" id="{16786E9A-8EDD-BC06-F13E-43984E91934E}"/>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8356E596-0F39-3B99-CB4D-A0B594704EE1}"/>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3166988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B00EA02-42A6-D620-ED93-D46A4B0D323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B1704551-A4B9-4656-32E7-12274F205AD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2861A85F-3FBA-DBCC-23E8-E1B55C444A3A}"/>
              </a:ext>
            </a:extLst>
          </p:cNvPr>
          <p:cNvSpPr>
            <a:spLocks noGrp="1"/>
          </p:cNvSpPr>
          <p:nvPr>
            <p:ph type="dt" sz="half" idx="10"/>
          </p:nvPr>
        </p:nvSpPr>
        <p:spPr/>
        <p:txBody>
          <a:bodyPr/>
          <a:lstStyle/>
          <a:p>
            <a:fld id="{9126D07E-4788-474B-8BDE-669E02A84D43}" type="datetimeFigureOut">
              <a:rPr lang="es-BO" smtClean="0"/>
              <a:t>21/10/2026</a:t>
            </a:fld>
            <a:endParaRPr lang="es-BO"/>
          </a:p>
        </p:txBody>
      </p:sp>
      <p:sp>
        <p:nvSpPr>
          <p:cNvPr id="5" name="Marcador de pie de página 4">
            <a:extLst>
              <a:ext uri="{FF2B5EF4-FFF2-40B4-BE49-F238E27FC236}">
                <a16:creationId xmlns:a16="http://schemas.microsoft.com/office/drawing/2014/main" id="{D6011467-A78D-30AA-7B01-951BA8345E0E}"/>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06C620E4-D6D2-BB6B-9A50-C22EA446ACB1}"/>
              </a:ext>
            </a:extLst>
          </p:cNvPr>
          <p:cNvSpPr>
            <a:spLocks noGrp="1"/>
          </p:cNvSpPr>
          <p:nvPr>
            <p:ph type="sldNum" sz="quarter" idx="12"/>
          </p:nvPr>
        </p:nvSpPr>
        <p:spPr/>
        <p:txBody>
          <a:bodyPr/>
          <a:lstStyle/>
          <a:p>
            <a:fld id="{D0BFB493-7FD0-4F21-8A80-68C5AB2370DF}" type="slidenum">
              <a:rPr lang="es-BO" smtClean="0"/>
              <a:t>‹Nº›</a:t>
            </a:fld>
            <a:endParaRPr lang="es-BO"/>
          </a:p>
        </p:txBody>
      </p:sp>
    </p:spTree>
    <p:extLst>
      <p:ext uri="{BB962C8B-B14F-4D97-AF65-F5344CB8AC3E}">
        <p14:creationId xmlns:p14="http://schemas.microsoft.com/office/powerpoint/2010/main" val="494893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2699185-92A6-0D81-55BC-94CDDB6519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8200E481-D2A0-141A-BB54-36B0DE253F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A715E444-14E3-9E49-AF95-2E2022B5C4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6D07E-4788-474B-8BDE-669E02A84D43}" type="datetimeFigureOut">
              <a:rPr lang="es-BO" smtClean="0"/>
              <a:t>21/10/2026</a:t>
            </a:fld>
            <a:endParaRPr lang="es-BO"/>
          </a:p>
        </p:txBody>
      </p:sp>
      <p:sp>
        <p:nvSpPr>
          <p:cNvPr id="5" name="Marcador de pie de página 4">
            <a:extLst>
              <a:ext uri="{FF2B5EF4-FFF2-40B4-BE49-F238E27FC236}">
                <a16:creationId xmlns:a16="http://schemas.microsoft.com/office/drawing/2014/main" id="{BFB97B74-E1C4-04BE-CEC6-8B70305196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a:extLst>
              <a:ext uri="{FF2B5EF4-FFF2-40B4-BE49-F238E27FC236}">
                <a16:creationId xmlns:a16="http://schemas.microsoft.com/office/drawing/2014/main" id="{F39B3374-3839-0486-5D4F-E88964A0A0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BFB493-7FD0-4F21-8A80-68C5AB2370DF}" type="slidenum">
              <a:rPr lang="es-BO" smtClean="0"/>
              <a:t>‹Nº›</a:t>
            </a:fld>
            <a:endParaRPr lang="es-BO"/>
          </a:p>
        </p:txBody>
      </p:sp>
    </p:spTree>
    <p:extLst>
      <p:ext uri="{BB962C8B-B14F-4D97-AF65-F5344CB8AC3E}">
        <p14:creationId xmlns:p14="http://schemas.microsoft.com/office/powerpoint/2010/main" val="2943019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 Id="rId100" Type="http://schemas.openxmlformats.org/officeDocument/2006/relationships/image" Target="../media/kyvc_s3a_victima.png"/><Relationship Id="rId101" Type="http://schemas.openxmlformats.org/officeDocument/2006/relationships/image" Target="../media/kyvc_s3b_clase.png"/><Relationship Id="rId102" Type="http://schemas.openxmlformats.org/officeDocument/2006/relationships/image" Target="../media/kyvc_s3c_cortar.png"/></Relationships>
</file>

<file path=ppt/slides/_rels/slide4.xml.rels><?xml version='1.0' encoding='UTF-8' standalone='yes'?>
<Relationships xmlns="http://schemas.openxmlformats.org/package/2006/relationships"><Relationship Id="rId3" Type="http://schemas.openxmlformats.org/officeDocument/2006/relationships/image" Target="../media/kyvc_s4_campana.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kyvc_s8_recorrido.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kyvc_s9_mapeo.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6.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kyvc_s13_esclerometro.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kyvc_s14_upv_pacometro.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kyvc_s15_radar_termo.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kyvc_s18_testigo.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kyvc_s19_factores.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kyvc_s20_criterio.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kyvc_s21_laboratorio.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4.jpg"/><Relationship Id="rId4" Type="http://schemas.openxmlformats.org/officeDocument/2006/relationships/image" Target="../media/image23.jpg"/></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kyvc_s24_informe.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kyvc_s25_referencia.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kyvc_s26_limitaciones.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kyvc_s28_columna.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9.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kyvc_s39_reparacion.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641CB7B-339D-3140-86F8-BB13728902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D9FF3DBE-7393-2B3F-24CC-4AE9F5CDFDE6}"/>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BAEA4990-D5AB-E4A9-8613-7DE2F58AD2F1}"/>
              </a:ext>
            </a:extLst>
          </p:cNvPr>
          <p:cNvSpPr/>
          <p:nvPr/>
        </p:nvSpPr>
        <p:spPr>
          <a:xfrm>
            <a:off x="0" y="0"/>
            <a:ext cx="12192000" cy="6858000"/>
          </a:xfrm>
          <a:prstGeom prst="rect">
            <a:avLst/>
          </a:prstGeom>
          <a:solidFill>
            <a:srgbClr val="1C1813">
              <a:alpha val="42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Rectángulo 5">
            <a:extLst>
              <a:ext uri="{FF2B5EF4-FFF2-40B4-BE49-F238E27FC236}">
                <a16:creationId xmlns:a16="http://schemas.microsoft.com/office/drawing/2014/main" id="{7888F4B9-219D-4C0C-1D3C-AE492B181161}"/>
              </a:ext>
            </a:extLst>
          </p:cNvPr>
          <p:cNvSpPr/>
          <p:nvPr/>
        </p:nvSpPr>
        <p:spPr>
          <a:xfrm>
            <a:off x="609600" y="685800"/>
            <a:ext cx="3302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96099A8E-48A6-2161-4369-155FE3D775DD}"/>
              </a:ext>
            </a:extLst>
          </p:cNvPr>
          <p:cNvSpPr txBox="1"/>
          <p:nvPr/>
        </p:nvSpPr>
        <p:spPr>
          <a:xfrm>
            <a:off x="1066800" y="609600"/>
            <a:ext cx="9652000" cy="177800"/>
          </a:xfrm>
          <a:prstGeom prst="rect">
            <a:avLst/>
          </a:prstGeom>
          <a:noFill/>
        </p:spPr>
        <p:txBody>
          <a:bodyPr vert="horz" wrap="square" lIns="0" tIns="0" rIns="0" bIns="0" rtlCol="0" anchor="t">
            <a:noAutofit/>
          </a:bodyPr>
          <a:lstStyle/>
          <a:p>
            <a:r>
              <a:rPr lang="es-MX" sz="900" spc="180">
                <a:solidFill>
                  <a:srgbClr val="C9A66B"/>
                </a:solidFill>
                <a:latin typeface="Segoe UI Semibold" panose="020B0702040204020203" pitchFamily="34" charset="0"/>
              </a:rPr>
              <a:t>DIAGNÓSTICO DE PATOLOGÍAS, RECUPERACIÓN Y REHABILITACIÓN DEL HORMIGÓN</a:t>
            </a:r>
            <a:endParaRPr lang="es-BO" sz="900" spc="180">
              <a:solidFill>
                <a:srgbClr val="C9A66B"/>
              </a:solidFill>
              <a:latin typeface="Segoe UI Semibold" panose="020B0702040204020203" pitchFamily="34" charset="0"/>
            </a:endParaRPr>
          </a:p>
        </p:txBody>
      </p:sp>
      <p:sp>
        <p:nvSpPr>
          <p:cNvPr id="8" name="CuadroTexto 7">
            <a:extLst>
              <a:ext uri="{FF2B5EF4-FFF2-40B4-BE49-F238E27FC236}">
                <a16:creationId xmlns:a16="http://schemas.microsoft.com/office/drawing/2014/main" id="{0C701E36-27C7-C460-41B6-D78E7BBDDEAF}"/>
              </a:ext>
            </a:extLst>
          </p:cNvPr>
          <p:cNvSpPr txBox="1"/>
          <p:nvPr/>
        </p:nvSpPr>
        <p:spPr>
          <a:xfrm>
            <a:off x="584200" y="1498600"/>
            <a:ext cx="5080000" cy="762000"/>
          </a:xfrm>
          <a:prstGeom prst="rect">
            <a:avLst/>
          </a:prstGeom>
          <a:noFill/>
        </p:spPr>
        <p:txBody>
          <a:bodyPr vert="horz" wrap="square" lIns="0" tIns="0" rIns="0" bIns="0" rtlCol="0" anchor="t">
            <a:noAutofit/>
          </a:bodyPr>
          <a:lstStyle/>
          <a:p>
            <a:r>
              <a:rPr lang="es-BO" sz="3000" i="1">
                <a:solidFill>
                  <a:srgbClr val="C9A66B"/>
                </a:solidFill>
                <a:latin typeface="Constantia" panose="02030602050306030303" pitchFamily="18" charset="0"/>
              </a:rPr>
              <a:t>Clase 05</a:t>
            </a:r>
          </a:p>
        </p:txBody>
      </p:sp>
      <p:sp>
        <p:nvSpPr>
          <p:cNvPr id="9" name="Title">
            <a:extLst>
              <a:ext uri="{FF2B5EF4-FFF2-40B4-BE49-F238E27FC236}">
                <a16:creationId xmlns:a16="http://schemas.microsoft.com/office/drawing/2014/main" id="{81E40B34-745C-FFF4-17BB-5B216C784775}"/>
              </a:ext>
            </a:extLst>
          </p:cNvPr>
          <p:cNvSpPr txBox="1"/>
          <p:nvPr/>
        </p:nvSpPr>
        <p:spPr>
          <a:xfrm>
            <a:off x="584200" y="2108200"/>
            <a:ext cx="8128000" cy="1905000"/>
          </a:xfrm>
          <a:prstGeom prst="rect">
            <a:avLst/>
          </a:prstGeom>
          <a:noFill/>
        </p:spPr>
        <p:txBody>
          <a:bodyPr vert="horz" wrap="square" lIns="0" tIns="0" rIns="0" bIns="0" rtlCol="0" anchor="t">
            <a:noAutofit/>
          </a:bodyPr>
          <a:lstStyle/>
          <a:p>
            <a:pPr>
              <a:lnSpc>
                <a:spcPct val="90000"/>
              </a:lnSpc>
            </a:pPr>
            <a:r>
              <a:rPr lang="es-BO" sz="4400">
                <a:solidFill>
                  <a:srgbClr val="FFFFFF"/>
                </a:solidFill>
                <a:latin typeface="Bahnschrift SemiBold" panose="020B0502040204020203" pitchFamily="34" charset="0"/>
              </a:rPr>
              <a:t>Diagnóstico</a:t>
            </a:r>
          </a:p>
        </p:txBody>
      </p:sp>
      <p:sp>
        <p:nvSpPr>
          <p:cNvPr id="10" name="Rectángulo 9">
            <a:extLst>
              <a:ext uri="{FF2B5EF4-FFF2-40B4-BE49-F238E27FC236}">
                <a16:creationId xmlns:a16="http://schemas.microsoft.com/office/drawing/2014/main" id="{39917975-4682-99DD-047F-D55373FD8574}"/>
              </a:ext>
            </a:extLst>
          </p:cNvPr>
          <p:cNvSpPr/>
          <p:nvPr/>
        </p:nvSpPr>
        <p:spPr>
          <a:xfrm>
            <a:off x="609600" y="4191000"/>
            <a:ext cx="8128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637F0CF9-3A64-1143-1D27-6E53B445FC1D}"/>
              </a:ext>
            </a:extLst>
          </p:cNvPr>
          <p:cNvSpPr txBox="1"/>
          <p:nvPr/>
        </p:nvSpPr>
        <p:spPr>
          <a:xfrm>
            <a:off x="609600" y="4394200"/>
            <a:ext cx="7620000" cy="635000"/>
          </a:xfrm>
          <a:prstGeom prst="rect">
            <a:avLst/>
          </a:prstGeom>
          <a:noFill/>
        </p:spPr>
        <p:txBody>
          <a:bodyPr vert="horz" wrap="square" lIns="0" tIns="0" rIns="0" bIns="0" rtlCol="0" anchor="t">
            <a:noAutofit/>
          </a:bodyPr>
          <a:lstStyle/>
          <a:p>
            <a:pPr algn="l"/>
            <a:r>
              <a:rPr lang="es-MX" sz="1500">
                <a:solidFill>
                  <a:srgbClr val="E6DFD2"/>
                </a:solidFill>
                <a:latin typeface="Bahnschrift Light" panose="020B0502040204020203" pitchFamily="34" charset="0"/>
              </a:rPr>
              <a:t>La campaña de ensayos no se compra: se diseña, y se diseña en orden</a:t>
            </a:r>
            <a:endParaRPr lang="es-BO" sz="1500">
              <a:solidFill>
                <a:srgbClr val="E6DFD2"/>
              </a:solidFill>
              <a:latin typeface="Bahnschrift Light" panose="020B0502040204020203" pitchFamily="34" charset="0"/>
            </a:endParaRPr>
          </a:p>
        </p:txBody>
      </p:sp>
      <p:sp>
        <p:nvSpPr>
          <p:cNvPr id="12" name="CuadroTexto 11">
            <a:extLst>
              <a:ext uri="{FF2B5EF4-FFF2-40B4-BE49-F238E27FC236}">
                <a16:creationId xmlns:a16="http://schemas.microsoft.com/office/drawing/2014/main" id="{37209370-AF4D-A1EF-9EC9-17C7039E029E}"/>
              </a:ext>
            </a:extLst>
          </p:cNvPr>
          <p:cNvSpPr txBox="1"/>
          <p:nvPr/>
        </p:nvSpPr>
        <p:spPr>
          <a:xfrm>
            <a:off x="609600" y="5740400"/>
            <a:ext cx="5080000" cy="203200"/>
          </a:xfrm>
          <a:prstGeom prst="rect">
            <a:avLst/>
          </a:prstGeom>
          <a:noFill/>
        </p:spPr>
        <p:txBody>
          <a:bodyPr vert="horz" wrap="square" lIns="0" tIns="0" rIns="0" bIns="0" rtlCol="0" anchor="t">
            <a:noAutofit/>
          </a:bodyPr>
          <a:lstStyle/>
          <a:p>
            <a:pPr algn="l"/>
            <a:r>
              <a:rPr lang="nn-NO" sz="1300">
                <a:solidFill>
                  <a:srgbClr val="FFFFFF"/>
                </a:solidFill>
                <a:latin typeface="Bahnschrift SemiBold" panose="020B0502040204020203" pitchFamily="34" charset="0"/>
              </a:rPr>
              <a:t>Ing. Kevin Yerko Vera Careaga</a:t>
            </a:r>
            <a:endParaRPr lang="es-BO" sz="1300">
              <a:solidFill>
                <a:srgbClr val="FFFFFF"/>
              </a:solidFill>
              <a:latin typeface="Bahnschrift SemiBold" panose="020B0502040204020203" pitchFamily="34" charset="0"/>
            </a:endParaRPr>
          </a:p>
        </p:txBody>
      </p:sp>
      <p:sp>
        <p:nvSpPr>
          <p:cNvPr id="13" name="CuadroTexto 12">
            <a:extLst>
              <a:ext uri="{FF2B5EF4-FFF2-40B4-BE49-F238E27FC236}">
                <a16:creationId xmlns:a16="http://schemas.microsoft.com/office/drawing/2014/main" id="{D87A37FE-886B-2AB3-213C-C62008197BC8}"/>
              </a:ext>
            </a:extLst>
          </p:cNvPr>
          <p:cNvSpPr txBox="1"/>
          <p:nvPr/>
        </p:nvSpPr>
        <p:spPr>
          <a:xfrm>
            <a:off x="609600" y="5969000"/>
            <a:ext cx="5588000" cy="177800"/>
          </a:xfrm>
          <a:prstGeom prst="rect">
            <a:avLst/>
          </a:prstGeom>
          <a:noFill/>
        </p:spPr>
        <p:txBody>
          <a:bodyPr vert="horz" wrap="square" lIns="0" tIns="0" rIns="0" bIns="0" rtlCol="0" anchor="t">
            <a:noAutofit/>
          </a:bodyPr>
          <a:lstStyle/>
          <a:p>
            <a:pPr algn="l"/>
            <a:r>
              <a:rPr lang="es-MX" sz="950">
                <a:solidFill>
                  <a:srgbClr val="CFC7B8"/>
                </a:solidFill>
                <a:latin typeface="Segoe UI" panose="020B0502040204020203" pitchFamily="34" charset="0"/>
              </a:rPr>
              <a:t>Ingeniero Civil  ·  NRI 57148  ·  La Paz, Bolivia</a:t>
            </a:r>
            <a:endParaRPr lang="es-BO" sz="9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1AC54701-FFC6-F14B-69B7-AEFA79301323}"/>
              </a:ext>
            </a:extLst>
          </p:cNvPr>
          <p:cNvSpPr/>
          <p:nvPr/>
        </p:nvSpPr>
        <p:spPr>
          <a:xfrm>
            <a:off x="84836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08F353B8-06E7-452B-4BAA-94ECE98CF2F9}"/>
              </a:ext>
            </a:extLst>
          </p:cNvPr>
          <p:cNvSpPr txBox="1"/>
          <p:nvPr/>
        </p:nvSpPr>
        <p:spPr>
          <a:xfrm>
            <a:off x="84836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S1</a:t>
            </a:r>
          </a:p>
        </p:txBody>
      </p:sp>
      <p:sp>
        <p:nvSpPr>
          <p:cNvPr id="16" name="Rectángulo 15">
            <a:extLst>
              <a:ext uri="{FF2B5EF4-FFF2-40B4-BE49-F238E27FC236}">
                <a16:creationId xmlns:a16="http://schemas.microsoft.com/office/drawing/2014/main" id="{DBDD33DD-42C5-32EA-6D18-3711A1A21937}"/>
              </a:ext>
            </a:extLst>
          </p:cNvPr>
          <p:cNvSpPr/>
          <p:nvPr/>
        </p:nvSpPr>
        <p:spPr>
          <a:xfrm>
            <a:off x="89408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7" name="CuadroTexto 16">
            <a:extLst>
              <a:ext uri="{FF2B5EF4-FFF2-40B4-BE49-F238E27FC236}">
                <a16:creationId xmlns:a16="http://schemas.microsoft.com/office/drawing/2014/main" id="{8F90C885-DFA1-C1F9-4396-E8D3614F8471}"/>
              </a:ext>
            </a:extLst>
          </p:cNvPr>
          <p:cNvSpPr txBox="1"/>
          <p:nvPr/>
        </p:nvSpPr>
        <p:spPr>
          <a:xfrm>
            <a:off x="89408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S2</a:t>
            </a:r>
          </a:p>
        </p:txBody>
      </p:sp>
      <p:sp>
        <p:nvSpPr>
          <p:cNvPr id="18" name="Rectángulo 17">
            <a:extLst>
              <a:ext uri="{FF2B5EF4-FFF2-40B4-BE49-F238E27FC236}">
                <a16:creationId xmlns:a16="http://schemas.microsoft.com/office/drawing/2014/main" id="{00E10C49-9F47-0400-4449-DF0238B845BF}"/>
              </a:ext>
            </a:extLst>
          </p:cNvPr>
          <p:cNvSpPr/>
          <p:nvPr/>
        </p:nvSpPr>
        <p:spPr>
          <a:xfrm>
            <a:off x="93980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43C3B53C-B8B5-0BA5-4DE7-AA025F4707B4}"/>
              </a:ext>
            </a:extLst>
          </p:cNvPr>
          <p:cNvSpPr txBox="1"/>
          <p:nvPr/>
        </p:nvSpPr>
        <p:spPr>
          <a:xfrm>
            <a:off x="93980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S3</a:t>
            </a:r>
          </a:p>
        </p:txBody>
      </p:sp>
      <p:sp>
        <p:nvSpPr>
          <p:cNvPr id="20" name="Rectángulo 19">
            <a:extLst>
              <a:ext uri="{FF2B5EF4-FFF2-40B4-BE49-F238E27FC236}">
                <a16:creationId xmlns:a16="http://schemas.microsoft.com/office/drawing/2014/main" id="{DC2BC82C-B781-F7C9-7EAE-7D48799562EA}"/>
              </a:ext>
            </a:extLst>
          </p:cNvPr>
          <p:cNvSpPr/>
          <p:nvPr/>
        </p:nvSpPr>
        <p:spPr>
          <a:xfrm>
            <a:off x="98552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1" name="CuadroTexto 20">
            <a:extLst>
              <a:ext uri="{FF2B5EF4-FFF2-40B4-BE49-F238E27FC236}">
                <a16:creationId xmlns:a16="http://schemas.microsoft.com/office/drawing/2014/main" id="{3C78729D-1FF3-1249-D3E4-68811A54395C}"/>
              </a:ext>
            </a:extLst>
          </p:cNvPr>
          <p:cNvSpPr txBox="1"/>
          <p:nvPr/>
        </p:nvSpPr>
        <p:spPr>
          <a:xfrm>
            <a:off x="98552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S4</a:t>
            </a:r>
          </a:p>
        </p:txBody>
      </p:sp>
      <p:sp>
        <p:nvSpPr>
          <p:cNvPr id="22" name="Rectángulo 21">
            <a:extLst>
              <a:ext uri="{FF2B5EF4-FFF2-40B4-BE49-F238E27FC236}">
                <a16:creationId xmlns:a16="http://schemas.microsoft.com/office/drawing/2014/main" id="{80CEC604-DEAD-E919-1D16-F78082EAFA8F}"/>
              </a:ext>
            </a:extLst>
          </p:cNvPr>
          <p:cNvSpPr/>
          <p:nvPr/>
        </p:nvSpPr>
        <p:spPr>
          <a:xfrm>
            <a:off x="10312400" y="5918200"/>
            <a:ext cx="342900" cy="38100"/>
          </a:xfrm>
          <a:prstGeom prst="rect">
            <a:avLst/>
          </a:prstGeom>
          <a:solidFill>
            <a:srgbClr val="C9A6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8AE13848-5DEA-1136-C190-930A0F47BEEE}"/>
              </a:ext>
            </a:extLst>
          </p:cNvPr>
          <p:cNvSpPr txBox="1"/>
          <p:nvPr/>
        </p:nvSpPr>
        <p:spPr>
          <a:xfrm>
            <a:off x="10312400" y="6019800"/>
            <a:ext cx="342900" cy="152400"/>
          </a:xfrm>
          <a:prstGeom prst="rect">
            <a:avLst/>
          </a:prstGeom>
          <a:noFill/>
        </p:spPr>
        <p:txBody>
          <a:bodyPr vert="horz" wrap="square" lIns="0" tIns="0" rIns="0" bIns="0" rtlCol="0" anchor="t">
            <a:noAutofit/>
          </a:bodyPr>
          <a:lstStyle/>
          <a:p>
            <a:r>
              <a:rPr lang="es-BO" sz="800" spc="100">
                <a:solidFill>
                  <a:srgbClr val="C9A66B"/>
                </a:solidFill>
                <a:latin typeface="Segoe UI Semibold" panose="020B0702040204020203" pitchFamily="34" charset="0"/>
              </a:rPr>
              <a:t>S5</a:t>
            </a:r>
          </a:p>
        </p:txBody>
      </p:sp>
      <p:sp>
        <p:nvSpPr>
          <p:cNvPr id="24" name="Rectángulo 23">
            <a:extLst>
              <a:ext uri="{FF2B5EF4-FFF2-40B4-BE49-F238E27FC236}">
                <a16:creationId xmlns:a16="http://schemas.microsoft.com/office/drawing/2014/main" id="{9F4D3E27-D296-C39A-E515-9A0078592429}"/>
              </a:ext>
            </a:extLst>
          </p:cNvPr>
          <p:cNvSpPr/>
          <p:nvPr/>
        </p:nvSpPr>
        <p:spPr>
          <a:xfrm>
            <a:off x="10769600" y="5918200"/>
            <a:ext cx="342900" cy="38100"/>
          </a:xfrm>
          <a:prstGeom prst="rect">
            <a:avLst/>
          </a:prstGeom>
          <a:solidFill>
            <a:srgbClr val="3A32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49D614A3-15C4-83A1-4012-1253FC685995}"/>
              </a:ext>
            </a:extLst>
          </p:cNvPr>
          <p:cNvSpPr txBox="1"/>
          <p:nvPr/>
        </p:nvSpPr>
        <p:spPr>
          <a:xfrm>
            <a:off x="10769600" y="6019800"/>
            <a:ext cx="342900" cy="152400"/>
          </a:xfrm>
          <a:prstGeom prst="rect">
            <a:avLst/>
          </a:prstGeom>
          <a:noFill/>
        </p:spPr>
        <p:txBody>
          <a:bodyPr vert="horz" wrap="square" lIns="0" tIns="0" rIns="0" bIns="0" rtlCol="0" anchor="t">
            <a:noAutofit/>
          </a:bodyPr>
          <a:lstStyle/>
          <a:p>
            <a:r>
              <a:rPr lang="es-BO" sz="800" spc="100">
                <a:solidFill>
                  <a:srgbClr val="9C9284"/>
                </a:solidFill>
                <a:latin typeface="Segoe UI Semibold" panose="020B0702040204020203" pitchFamily="34" charset="0"/>
              </a:rPr>
              <a:t>S6</a:t>
            </a:r>
          </a:p>
        </p:txBody>
      </p:sp>
      <p:sp>
        <p:nvSpPr>
          <p:cNvPr id="26" name="Rectángulo 25">
            <a:extLst>
              <a:ext uri="{FF2B5EF4-FFF2-40B4-BE49-F238E27FC236}">
                <a16:creationId xmlns:a16="http://schemas.microsoft.com/office/drawing/2014/main" id="{74F101F5-AE14-956A-EE6A-B46CE2F8850F}"/>
              </a:ext>
            </a:extLst>
          </p:cNvPr>
          <p:cNvSpPr/>
          <p:nvPr/>
        </p:nvSpPr>
        <p:spPr>
          <a:xfrm>
            <a:off x="11226800" y="5918200"/>
            <a:ext cx="342900" cy="38100"/>
          </a:xfrm>
          <a:prstGeom prst="rect">
            <a:avLst/>
          </a:prstGeom>
          <a:solidFill>
            <a:srgbClr val="3A32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7" name="CuadroTexto 26">
            <a:extLst>
              <a:ext uri="{FF2B5EF4-FFF2-40B4-BE49-F238E27FC236}">
                <a16:creationId xmlns:a16="http://schemas.microsoft.com/office/drawing/2014/main" id="{CB91CD81-B459-C7F4-7424-FBCDAFDA1327}"/>
              </a:ext>
            </a:extLst>
          </p:cNvPr>
          <p:cNvSpPr txBox="1"/>
          <p:nvPr/>
        </p:nvSpPr>
        <p:spPr>
          <a:xfrm>
            <a:off x="11226800" y="6019800"/>
            <a:ext cx="342900" cy="152400"/>
          </a:xfrm>
          <a:prstGeom prst="rect">
            <a:avLst/>
          </a:prstGeom>
          <a:noFill/>
        </p:spPr>
        <p:txBody>
          <a:bodyPr vert="horz" wrap="square" lIns="0" tIns="0" rIns="0" bIns="0" rtlCol="0" anchor="t">
            <a:noAutofit/>
          </a:bodyPr>
          <a:lstStyle/>
          <a:p>
            <a:r>
              <a:rPr lang="es-BO" sz="800" spc="100">
                <a:solidFill>
                  <a:srgbClr val="9C9284"/>
                </a:solidFill>
                <a:latin typeface="Segoe UI Semibold" panose="020B0702040204020203" pitchFamily="34" charset="0"/>
              </a:rPr>
              <a:t>S7</a:t>
            </a:r>
          </a:p>
        </p:txBody>
      </p:sp>
      <p:sp>
        <p:nvSpPr>
          <p:cNvPr id="28" name="CuadroTexto 27">
            <a:extLst>
              <a:ext uri="{FF2B5EF4-FFF2-40B4-BE49-F238E27FC236}">
                <a16:creationId xmlns:a16="http://schemas.microsoft.com/office/drawing/2014/main" id="{B139ECF1-323D-52A5-5F7D-FF6B7D794C60}"/>
              </a:ext>
            </a:extLst>
          </p:cNvPr>
          <p:cNvSpPr txBox="1"/>
          <p:nvPr/>
        </p:nvSpPr>
        <p:spPr>
          <a:xfrm>
            <a:off x="8483600" y="5664200"/>
            <a:ext cx="3098800" cy="177800"/>
          </a:xfrm>
          <a:prstGeom prst="rect">
            <a:avLst/>
          </a:prstGeom>
          <a:noFill/>
        </p:spPr>
        <p:txBody>
          <a:bodyPr vert="horz" wrap="square" lIns="0" tIns="0" rIns="0" bIns="0" rtlCol="0" anchor="t">
            <a:noAutofit/>
          </a:bodyPr>
          <a:lstStyle/>
          <a:p>
            <a:r>
              <a:rPr lang="es-MX" sz="800" spc="140">
                <a:solidFill>
                  <a:srgbClr val="CFC7B8"/>
                </a:solidFill>
                <a:latin typeface="Segoe UI Semibold" panose="020B0702040204020203" pitchFamily="34" charset="0"/>
              </a:rPr>
              <a:t>CLASE 5 DE 7  ·  MODALIDAD VIRTUAL</a:t>
            </a:r>
            <a:endParaRPr lang="es-BO" sz="800" spc="140">
              <a:solidFill>
                <a:srgbClr val="CFC7B8"/>
              </a:solidFill>
              <a:latin typeface="Segoe UI Semibold" panose="020B0702040204020203" pitchFamily="34" charset="0"/>
            </a:endParaRPr>
          </a:p>
        </p:txBody>
      </p:sp>
      <p:sp>
        <p:nvSpPr>
          <p:cNvPr id="29" name="Monograma">
            <a:extLst>
              <a:ext uri="{FF2B5EF4-FFF2-40B4-BE49-F238E27FC236}">
                <a16:creationId xmlns:a16="http://schemas.microsoft.com/office/drawing/2014/main" id="{EBFBB2B0-35EF-2A55-AF45-B3B0546ECD26}"/>
              </a:ext>
            </a:extLst>
          </p:cNvPr>
          <p:cNvSpPr/>
          <p:nvPr/>
        </p:nvSpPr>
        <p:spPr>
          <a:xfrm>
            <a:off x="10998200" y="508000"/>
            <a:ext cx="584200" cy="584200"/>
          </a:xfrm>
          <a:prstGeom prst="ellipse">
            <a:avLst/>
          </a:prstGeom>
          <a:noFill/>
          <a:ln w="15875">
            <a:solidFill>
              <a:srgbClr val="8A6A2F"/>
            </a:solidFill>
          </a:ln>
          <a:extLst>
            <a:ext uri="{909E8E84-426E-40DD-AFC4-6F175D3DCCD1}">
              <a14:hiddenFill xmlns:a14="http://schemas.microsoft.com/office/drawing/2010/main">
                <a:solidFill>
                  <a:srgbClr val="1C181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pPr>
            <a:r>
              <a:rPr lang="es-BO" sz="1104">
                <a:solidFill>
                  <a:srgbClr val="8A6A2F"/>
                </a:solidFill>
                <a:latin typeface="Bahnschrift SemiBold" panose="020B0502040204020203" pitchFamily="34" charset="0"/>
              </a:rPr>
              <a:t>KY</a:t>
            </a:r>
          </a:p>
          <a:p>
            <a:pPr algn="ctr">
              <a:lnSpc>
                <a:spcPct val="80000"/>
              </a:lnSpc>
            </a:pPr>
            <a:r>
              <a:rPr lang="es-BO" sz="1104">
                <a:solidFill>
                  <a:srgbClr val="8A6A2F"/>
                </a:solidFill>
                <a:latin typeface="Bahnschrift SemiBold" panose="020B0502040204020203" pitchFamily="34" charset="0"/>
              </a:rPr>
              <a:t>VC</a:t>
            </a:r>
          </a:p>
        </p:txBody>
      </p:sp>
    </p:spTree>
    <p:extLst>
      <p:ext uri="{BB962C8B-B14F-4D97-AF65-F5344CB8AC3E}">
        <p14:creationId xmlns:p14="http://schemas.microsoft.com/office/powerpoint/2010/main" val="281584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5CBB35F-D26A-04F5-9FCC-C3E796E4607B}"/>
              </a:ext>
            </a:extLst>
          </p:cNvPr>
          <p:cNvSpPr/>
          <p:nvPr/>
        </p:nvSpPr>
        <p:spPr>
          <a:xfrm>
            <a:off x="0" y="0"/>
            <a:ext cx="4572000" cy="68580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 name="Rectángulo 2">
            <a:extLst>
              <a:ext uri="{FF2B5EF4-FFF2-40B4-BE49-F238E27FC236}">
                <a16:creationId xmlns:a16="http://schemas.microsoft.com/office/drawing/2014/main" id="{ADC62E2A-1C3E-22B2-0D0F-734962091EF0}"/>
              </a:ext>
            </a:extLst>
          </p:cNvPr>
          <p:cNvSpPr/>
          <p:nvPr/>
        </p:nvSpPr>
        <p:spPr>
          <a:xfrm>
            <a:off x="609600" y="508000"/>
            <a:ext cx="2286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 name="CuadroTexto 3">
            <a:extLst>
              <a:ext uri="{FF2B5EF4-FFF2-40B4-BE49-F238E27FC236}">
                <a16:creationId xmlns:a16="http://schemas.microsoft.com/office/drawing/2014/main" id="{6D38C62F-0EB9-3EDF-9986-D192F2CBD2E2}"/>
              </a:ext>
            </a:extLst>
          </p:cNvPr>
          <p:cNvSpPr txBox="1"/>
          <p:nvPr/>
        </p:nvSpPr>
        <p:spPr>
          <a:xfrm>
            <a:off x="939800" y="431800"/>
            <a:ext cx="3302000" cy="177800"/>
          </a:xfrm>
          <a:prstGeom prst="rect">
            <a:avLst/>
          </a:prstGeom>
          <a:noFill/>
        </p:spPr>
        <p:txBody>
          <a:bodyPr vert="horz" wrap="square" lIns="0" tIns="0" rIns="0" bIns="0" rtlCol="0" anchor="t">
            <a:noAutofit/>
          </a:bodyPr>
          <a:lstStyle/>
          <a:p>
            <a:r>
              <a:rPr lang="es-BO" sz="900" spc="180">
                <a:solidFill>
                  <a:srgbClr val="8A6A2F"/>
                </a:solidFill>
                <a:latin typeface="Segoe UI Semibold" panose="020B0702040204020203" pitchFamily="34" charset="0"/>
              </a:rPr>
              <a:t>OBJETIVOS DE LA CLASE</a:t>
            </a:r>
          </a:p>
        </p:txBody>
      </p:sp>
      <p:sp>
        <p:nvSpPr>
          <p:cNvPr id="5" name="Title">
            <a:extLst>
              <a:ext uri="{FF2B5EF4-FFF2-40B4-BE49-F238E27FC236}">
                <a16:creationId xmlns:a16="http://schemas.microsoft.com/office/drawing/2014/main" id="{9ADF0582-3F7C-F208-FDBA-3369B0518501}"/>
              </a:ext>
            </a:extLst>
          </p:cNvPr>
          <p:cNvSpPr txBox="1"/>
          <p:nvPr/>
        </p:nvSpPr>
        <p:spPr>
          <a:xfrm>
            <a:off x="609600" y="660400"/>
            <a:ext cx="3683000" cy="889000"/>
          </a:xfrm>
          <a:prstGeom prst="rect">
            <a:avLst/>
          </a:prstGeom>
          <a:noFill/>
        </p:spPr>
        <p:txBody>
          <a:bodyPr vert="horz" wrap="square" lIns="0" tIns="0" rIns="0" bIns="0" rtlCol="0" anchor="t">
            <a:noAutofit/>
          </a:bodyPr>
          <a:lstStyle/>
          <a:p>
            <a:r>
              <a:rPr lang="es-MX" sz="2200">
                <a:solidFill>
                  <a:srgbClr val="FFFFFF"/>
                </a:solidFill>
                <a:latin typeface="Bahnschrift SemiBold" panose="020B0502040204020203" pitchFamily="34" charset="0"/>
              </a:rPr>
              <a:t>Al terminar esta clase podrás…</a:t>
            </a:r>
            <a:endParaRPr lang="es-BO" sz="2200">
              <a:solidFill>
                <a:srgbClr val="FFFFFF"/>
              </a:solidFill>
              <a:latin typeface="Bahnschrift SemiBold" panose="020B0502040204020203" pitchFamily="34" charset="0"/>
            </a:endParaRPr>
          </a:p>
        </p:txBody>
      </p:sp>
      <p:sp>
        <p:nvSpPr>
          <p:cNvPr id="6" name="CuadroTexto 5">
            <a:extLst>
              <a:ext uri="{FF2B5EF4-FFF2-40B4-BE49-F238E27FC236}">
                <a16:creationId xmlns:a16="http://schemas.microsoft.com/office/drawing/2014/main" id="{62E3262F-1A3B-0EE0-3E96-FEC22BD578DF}"/>
              </a:ext>
            </a:extLst>
          </p:cNvPr>
          <p:cNvSpPr txBox="1"/>
          <p:nvPr/>
        </p:nvSpPr>
        <p:spPr>
          <a:xfrm>
            <a:off x="609600" y="17780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7" name="CuadroTexto 6">
            <a:extLst>
              <a:ext uri="{FF2B5EF4-FFF2-40B4-BE49-F238E27FC236}">
                <a16:creationId xmlns:a16="http://schemas.microsoft.com/office/drawing/2014/main" id="{0097AD8F-F621-79C0-F759-CE44FBDD9B58}"/>
              </a:ext>
            </a:extLst>
          </p:cNvPr>
          <p:cNvSpPr txBox="1"/>
          <p:nvPr/>
        </p:nvSpPr>
        <p:spPr>
          <a:xfrm>
            <a:off x="1117600" y="18161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Ordenar una campaña de ensayos de lo barato a lo caro, y justificar ese orden.</a:t>
            </a:r>
            <a:endParaRPr lang="es-BO" sz="1150">
              <a:solidFill>
                <a:srgbClr val="DCE3EC"/>
              </a:solidFill>
              <a:latin typeface="Segoe UI" panose="020B0502040204020203" pitchFamily="34" charset="0"/>
            </a:endParaRPr>
          </a:p>
        </p:txBody>
      </p:sp>
      <p:sp>
        <p:nvSpPr>
          <p:cNvPr id="8" name="CuadroTexto 7">
            <a:extLst>
              <a:ext uri="{FF2B5EF4-FFF2-40B4-BE49-F238E27FC236}">
                <a16:creationId xmlns:a16="http://schemas.microsoft.com/office/drawing/2014/main" id="{C4F4CA5B-35F9-A0F4-6A49-D1A19BED6054}"/>
              </a:ext>
            </a:extLst>
          </p:cNvPr>
          <p:cNvSpPr txBox="1"/>
          <p:nvPr/>
        </p:nvSpPr>
        <p:spPr>
          <a:xfrm>
            <a:off x="609600" y="27178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9" name="CuadroTexto 8">
            <a:extLst>
              <a:ext uri="{FF2B5EF4-FFF2-40B4-BE49-F238E27FC236}">
                <a16:creationId xmlns:a16="http://schemas.microsoft.com/office/drawing/2014/main" id="{BF2C4F55-06A5-3BF4-BD59-0701871DFE3F}"/>
              </a:ext>
            </a:extLst>
          </p:cNvPr>
          <p:cNvSpPr txBox="1"/>
          <p:nvPr/>
        </p:nvSpPr>
        <p:spPr>
          <a:xfrm>
            <a:off x="1117600" y="27559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Decir qué mide cada ensayo no destructivo y, sobre todo, qué no mide.</a:t>
            </a:r>
            <a:endParaRPr lang="es-BO" sz="1150">
              <a:solidFill>
                <a:srgbClr val="DCE3EC"/>
              </a:solidFill>
              <a:latin typeface="Segoe UI" panose="020B0502040204020203" pitchFamily="34" charset="0"/>
            </a:endParaRPr>
          </a:p>
        </p:txBody>
      </p:sp>
      <p:sp>
        <p:nvSpPr>
          <p:cNvPr id="10" name="CuadroTexto 9">
            <a:extLst>
              <a:ext uri="{FF2B5EF4-FFF2-40B4-BE49-F238E27FC236}">
                <a16:creationId xmlns:a16="http://schemas.microsoft.com/office/drawing/2014/main" id="{8444C991-F1CB-77D4-C4DE-16B4A25142A9}"/>
              </a:ext>
            </a:extLst>
          </p:cNvPr>
          <p:cNvSpPr txBox="1"/>
          <p:nvPr/>
        </p:nvSpPr>
        <p:spPr>
          <a:xfrm>
            <a:off x="609600" y="36576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1" name="CuadroTexto 10">
            <a:extLst>
              <a:ext uri="{FF2B5EF4-FFF2-40B4-BE49-F238E27FC236}">
                <a16:creationId xmlns:a16="http://schemas.microsoft.com/office/drawing/2014/main" id="{E3ADBC53-B066-3F64-F8E4-E0C85DAB2AA1}"/>
              </a:ext>
            </a:extLst>
          </p:cNvPr>
          <p:cNvSpPr txBox="1"/>
          <p:nvPr/>
        </p:nvSpPr>
        <p:spPr>
          <a:xfrm>
            <a:off x="1117600" y="36957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Corregir la resistencia de un testigo con los factores de ACI 214.4R.</a:t>
            </a:r>
            <a:endParaRPr lang="es-BO" sz="1150">
              <a:solidFill>
                <a:srgbClr val="DCE3EC"/>
              </a:solidFill>
              <a:latin typeface="Segoe UI" panose="020B0502040204020203" pitchFamily="34" charset="0"/>
            </a:endParaRPr>
          </a:p>
        </p:txBody>
      </p:sp>
      <p:sp>
        <p:nvSpPr>
          <p:cNvPr id="12" name="CuadroTexto 11">
            <a:extLst>
              <a:ext uri="{FF2B5EF4-FFF2-40B4-BE49-F238E27FC236}">
                <a16:creationId xmlns:a16="http://schemas.microsoft.com/office/drawing/2014/main" id="{BFAED169-BFAF-AB64-ABF2-A91FA2E8547B}"/>
              </a:ext>
            </a:extLst>
          </p:cNvPr>
          <p:cNvSpPr txBox="1"/>
          <p:nvPr/>
        </p:nvSpPr>
        <p:spPr>
          <a:xfrm>
            <a:off x="609600" y="45974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13" name="CuadroTexto 12">
            <a:extLst>
              <a:ext uri="{FF2B5EF4-FFF2-40B4-BE49-F238E27FC236}">
                <a16:creationId xmlns:a16="http://schemas.microsoft.com/office/drawing/2014/main" id="{DD93A57D-A9AA-F906-1BD1-7A2AF87A1360}"/>
              </a:ext>
            </a:extLst>
          </p:cNvPr>
          <p:cNvSpPr txBox="1"/>
          <p:nvPr/>
        </p:nvSpPr>
        <p:spPr>
          <a:xfrm>
            <a:off x="1117600" y="46355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Escribir un informe que se sostenga ante un tercero, con sus limitaciones declaradas.</a:t>
            </a:r>
            <a:endParaRPr lang="es-BO" sz="1150">
              <a:solidFill>
                <a:srgbClr val="DCE3EC"/>
              </a:solidFill>
              <a:latin typeface="Segoe UI" panose="020B0502040204020203" pitchFamily="34" charset="0"/>
            </a:endParaRPr>
          </a:p>
        </p:txBody>
      </p:sp>
      <p:sp>
        <p:nvSpPr>
          <p:cNvPr id="14" name="Rectángulo 13">
            <a:extLst>
              <a:ext uri="{FF2B5EF4-FFF2-40B4-BE49-F238E27FC236}">
                <a16:creationId xmlns:a16="http://schemas.microsoft.com/office/drawing/2014/main" id="{A4931C7D-0D41-7490-6F3A-DC51DA1F5287}"/>
              </a:ext>
            </a:extLst>
          </p:cNvPr>
          <p:cNvSpPr/>
          <p:nvPr/>
        </p:nvSpPr>
        <p:spPr>
          <a:xfrm>
            <a:off x="5080000" y="508000"/>
            <a:ext cx="2286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54B8B198-22F3-C8E7-772E-B88D1D999C0D}"/>
              </a:ext>
            </a:extLst>
          </p:cNvPr>
          <p:cNvSpPr txBox="1"/>
          <p:nvPr/>
        </p:nvSpPr>
        <p:spPr>
          <a:xfrm>
            <a:off x="5410200" y="431800"/>
            <a:ext cx="38100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RUTA DE LA CLASE</a:t>
            </a:r>
          </a:p>
        </p:txBody>
      </p:sp>
      <p:cxnSp>
        <p:nvCxnSpPr>
          <p:cNvPr id="16" name="Conector recto 15">
            <a:extLst>
              <a:ext uri="{FF2B5EF4-FFF2-40B4-BE49-F238E27FC236}">
                <a16:creationId xmlns:a16="http://schemas.microsoft.com/office/drawing/2014/main" id="{05F557E3-3D53-A305-EEEB-00D4CE99ABBF}"/>
              </a:ext>
            </a:extLst>
          </p:cNvPr>
          <p:cNvCxnSpPr/>
          <p:nvPr/>
        </p:nvCxnSpPr>
        <p:spPr>
          <a:xfrm>
            <a:off x="5257800" y="1219200"/>
            <a:ext cx="0" cy="4622800"/>
          </a:xfrm>
          <a:prstGeom prst="line">
            <a:avLst/>
          </a:prstGeom>
          <a:ln w="190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7" name="Elipse 16">
            <a:extLst>
              <a:ext uri="{FF2B5EF4-FFF2-40B4-BE49-F238E27FC236}">
                <a16:creationId xmlns:a16="http://schemas.microsoft.com/office/drawing/2014/main" id="{29F3FF68-8973-01FF-3622-A841076AAAA8}"/>
              </a:ext>
            </a:extLst>
          </p:cNvPr>
          <p:cNvSpPr/>
          <p:nvPr/>
        </p:nvSpPr>
        <p:spPr>
          <a:xfrm>
            <a:off x="5105400" y="10668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1</a:t>
            </a:r>
          </a:p>
        </p:txBody>
      </p:sp>
      <p:sp>
        <p:nvSpPr>
          <p:cNvPr id="18" name="CuadroTexto 17">
            <a:extLst>
              <a:ext uri="{FF2B5EF4-FFF2-40B4-BE49-F238E27FC236}">
                <a16:creationId xmlns:a16="http://schemas.microsoft.com/office/drawing/2014/main" id="{20A98FAF-44D8-7A1F-5709-70AC91B62C7A}"/>
              </a:ext>
            </a:extLst>
          </p:cNvPr>
          <p:cNvSpPr txBox="1"/>
          <p:nvPr/>
        </p:nvSpPr>
        <p:spPr>
          <a:xfrm>
            <a:off x="5715000" y="10287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APERTURA</a:t>
            </a:r>
          </a:p>
        </p:txBody>
      </p:sp>
      <p:sp>
        <p:nvSpPr>
          <p:cNvPr id="19" name="CuadroTexto 18">
            <a:extLst>
              <a:ext uri="{FF2B5EF4-FFF2-40B4-BE49-F238E27FC236}">
                <a16:creationId xmlns:a16="http://schemas.microsoft.com/office/drawing/2014/main" id="{C68D9C69-6B6D-7C48-1CEE-0D8524AAD671}"/>
              </a:ext>
            </a:extLst>
          </p:cNvPr>
          <p:cNvSpPr txBox="1"/>
          <p:nvPr/>
        </p:nvSpPr>
        <p:spPr>
          <a:xfrm>
            <a:off x="5715000" y="11938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Repaso de la clase anterior y pregunta</a:t>
            </a:r>
            <a:endParaRPr lang="es-BO" sz="1200">
              <a:solidFill>
                <a:srgbClr val="1C1813"/>
              </a:solidFill>
              <a:latin typeface="Bahnschrift SemiBold" panose="020B0502040204020203" pitchFamily="34" charset="0"/>
            </a:endParaRPr>
          </a:p>
        </p:txBody>
      </p:sp>
      <p:sp>
        <p:nvSpPr>
          <p:cNvPr id="20" name="Elipse 19">
            <a:extLst>
              <a:ext uri="{FF2B5EF4-FFF2-40B4-BE49-F238E27FC236}">
                <a16:creationId xmlns:a16="http://schemas.microsoft.com/office/drawing/2014/main" id="{688C7708-208D-BF43-7F78-CA76B3245443}"/>
              </a:ext>
            </a:extLst>
          </p:cNvPr>
          <p:cNvSpPr/>
          <p:nvPr/>
        </p:nvSpPr>
        <p:spPr>
          <a:xfrm>
            <a:off x="5105400" y="17272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2</a:t>
            </a:r>
          </a:p>
        </p:txBody>
      </p:sp>
      <p:sp>
        <p:nvSpPr>
          <p:cNvPr id="21" name="CuadroTexto 20">
            <a:extLst>
              <a:ext uri="{FF2B5EF4-FFF2-40B4-BE49-F238E27FC236}">
                <a16:creationId xmlns:a16="http://schemas.microsoft.com/office/drawing/2014/main" id="{BE1FDD52-C9C0-D93D-3C9F-2E7C803D27F7}"/>
              </a:ext>
            </a:extLst>
          </p:cNvPr>
          <p:cNvSpPr txBox="1"/>
          <p:nvPr/>
        </p:nvSpPr>
        <p:spPr>
          <a:xfrm>
            <a:off x="5715000" y="16891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1</a:t>
            </a:r>
          </a:p>
        </p:txBody>
      </p:sp>
      <p:sp>
        <p:nvSpPr>
          <p:cNvPr id="22" name="CuadroTexto 21">
            <a:extLst>
              <a:ext uri="{FF2B5EF4-FFF2-40B4-BE49-F238E27FC236}">
                <a16:creationId xmlns:a16="http://schemas.microsoft.com/office/drawing/2014/main" id="{2A4C8F06-BAF8-7335-3EFF-95CD9E816350}"/>
              </a:ext>
            </a:extLst>
          </p:cNvPr>
          <p:cNvSpPr txBox="1"/>
          <p:nvPr/>
        </p:nvSpPr>
        <p:spPr>
          <a:xfrm>
            <a:off x="5715000" y="18542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Antes de encender ningún aparato</a:t>
            </a:r>
            <a:endParaRPr lang="es-BO" sz="1200">
              <a:solidFill>
                <a:srgbClr val="1C1813"/>
              </a:solidFill>
              <a:latin typeface="Bahnschrift SemiBold" panose="020B0502040204020203" pitchFamily="34" charset="0"/>
            </a:endParaRPr>
          </a:p>
        </p:txBody>
      </p:sp>
      <p:sp>
        <p:nvSpPr>
          <p:cNvPr id="23" name="Elipse 22">
            <a:extLst>
              <a:ext uri="{FF2B5EF4-FFF2-40B4-BE49-F238E27FC236}">
                <a16:creationId xmlns:a16="http://schemas.microsoft.com/office/drawing/2014/main" id="{96F6C54D-D307-4C02-2D5D-DBC506C9499E}"/>
              </a:ext>
            </a:extLst>
          </p:cNvPr>
          <p:cNvSpPr/>
          <p:nvPr/>
        </p:nvSpPr>
        <p:spPr>
          <a:xfrm>
            <a:off x="5105400" y="23876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3</a:t>
            </a:r>
          </a:p>
        </p:txBody>
      </p:sp>
      <p:sp>
        <p:nvSpPr>
          <p:cNvPr id="24" name="CuadroTexto 23">
            <a:extLst>
              <a:ext uri="{FF2B5EF4-FFF2-40B4-BE49-F238E27FC236}">
                <a16:creationId xmlns:a16="http://schemas.microsoft.com/office/drawing/2014/main" id="{F3DB93C3-93D8-DABD-D329-448C8AF89D6F}"/>
              </a:ext>
            </a:extLst>
          </p:cNvPr>
          <p:cNvSpPr txBox="1"/>
          <p:nvPr/>
        </p:nvSpPr>
        <p:spPr>
          <a:xfrm>
            <a:off x="5715000" y="23495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2</a:t>
            </a:r>
          </a:p>
        </p:txBody>
      </p:sp>
      <p:sp>
        <p:nvSpPr>
          <p:cNvPr id="25" name="CuadroTexto 24">
            <a:extLst>
              <a:ext uri="{FF2B5EF4-FFF2-40B4-BE49-F238E27FC236}">
                <a16:creationId xmlns:a16="http://schemas.microsoft.com/office/drawing/2014/main" id="{C8BDC4AD-7DA9-E7BD-E1D1-988170532A71}"/>
              </a:ext>
            </a:extLst>
          </p:cNvPr>
          <p:cNvSpPr txBox="1"/>
          <p:nvPr/>
        </p:nvSpPr>
        <p:spPr>
          <a:xfrm>
            <a:off x="5715000" y="2514600"/>
            <a:ext cx="5715000" cy="228600"/>
          </a:xfrm>
          <a:prstGeom prst="rect">
            <a:avLst/>
          </a:prstGeom>
          <a:noFill/>
        </p:spPr>
        <p:txBody>
          <a:bodyPr vert="horz" wrap="square" lIns="0" tIns="0" rIns="0" bIns="0" rtlCol="0" anchor="t">
            <a:noAutofit/>
          </a:bodyPr>
          <a:lstStyle/>
          <a:p>
            <a:pPr algn="l"/>
            <a:r>
              <a:rPr lang="es-BO" sz="1200">
                <a:solidFill>
                  <a:srgbClr val="1C1813"/>
                </a:solidFill>
                <a:latin typeface="Bahnschrift SemiBold" panose="020B0502040204020203" pitchFamily="34" charset="0"/>
              </a:rPr>
              <a:t>Ensayos no destructivos</a:t>
            </a:r>
          </a:p>
        </p:txBody>
      </p:sp>
      <p:sp>
        <p:nvSpPr>
          <p:cNvPr id="26" name="Elipse 25">
            <a:extLst>
              <a:ext uri="{FF2B5EF4-FFF2-40B4-BE49-F238E27FC236}">
                <a16:creationId xmlns:a16="http://schemas.microsoft.com/office/drawing/2014/main" id="{78291CDD-117A-38B8-0ED2-8299164F9464}"/>
              </a:ext>
            </a:extLst>
          </p:cNvPr>
          <p:cNvSpPr/>
          <p:nvPr/>
        </p:nvSpPr>
        <p:spPr>
          <a:xfrm>
            <a:off x="5105400" y="30480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4</a:t>
            </a:r>
          </a:p>
        </p:txBody>
      </p:sp>
      <p:sp>
        <p:nvSpPr>
          <p:cNvPr id="27" name="CuadroTexto 26">
            <a:extLst>
              <a:ext uri="{FF2B5EF4-FFF2-40B4-BE49-F238E27FC236}">
                <a16:creationId xmlns:a16="http://schemas.microsoft.com/office/drawing/2014/main" id="{D1C87869-507E-4C75-C37F-14C939EF56D3}"/>
              </a:ext>
            </a:extLst>
          </p:cNvPr>
          <p:cNvSpPr txBox="1"/>
          <p:nvPr/>
        </p:nvSpPr>
        <p:spPr>
          <a:xfrm>
            <a:off x="5715000" y="30099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3</a:t>
            </a:r>
          </a:p>
        </p:txBody>
      </p:sp>
      <p:sp>
        <p:nvSpPr>
          <p:cNvPr id="28" name="CuadroTexto 27">
            <a:extLst>
              <a:ext uri="{FF2B5EF4-FFF2-40B4-BE49-F238E27FC236}">
                <a16:creationId xmlns:a16="http://schemas.microsoft.com/office/drawing/2014/main" id="{23D005AB-68AD-85F8-EBD9-A0FDD7E601FC}"/>
              </a:ext>
            </a:extLst>
          </p:cNvPr>
          <p:cNvSpPr txBox="1"/>
          <p:nvPr/>
        </p:nvSpPr>
        <p:spPr>
          <a:xfrm>
            <a:off x="5715000" y="3175000"/>
            <a:ext cx="5715000" cy="228600"/>
          </a:xfrm>
          <a:prstGeom prst="rect">
            <a:avLst/>
          </a:prstGeom>
          <a:noFill/>
        </p:spPr>
        <p:txBody>
          <a:bodyPr vert="horz" wrap="square" lIns="0" tIns="0" rIns="0" bIns="0" rtlCol="0" anchor="t">
            <a:noAutofit/>
          </a:bodyPr>
          <a:lstStyle/>
          <a:p>
            <a:pPr algn="l"/>
            <a:r>
              <a:rPr lang="es-BO" sz="1200">
                <a:solidFill>
                  <a:srgbClr val="1C1813"/>
                </a:solidFill>
                <a:latin typeface="Bahnschrift SemiBold" panose="020B0502040204020203" pitchFamily="34" charset="0"/>
              </a:rPr>
              <a:t>Semidestructivos y destructivos</a:t>
            </a:r>
          </a:p>
        </p:txBody>
      </p:sp>
      <p:sp>
        <p:nvSpPr>
          <p:cNvPr id="29" name="Elipse 28">
            <a:extLst>
              <a:ext uri="{FF2B5EF4-FFF2-40B4-BE49-F238E27FC236}">
                <a16:creationId xmlns:a16="http://schemas.microsoft.com/office/drawing/2014/main" id="{CE7ACD51-8A84-8239-5298-68047864E047}"/>
              </a:ext>
            </a:extLst>
          </p:cNvPr>
          <p:cNvSpPr/>
          <p:nvPr/>
        </p:nvSpPr>
        <p:spPr>
          <a:xfrm>
            <a:off x="5105400" y="37084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5</a:t>
            </a:r>
          </a:p>
        </p:txBody>
      </p:sp>
      <p:sp>
        <p:nvSpPr>
          <p:cNvPr id="30" name="CuadroTexto 29">
            <a:extLst>
              <a:ext uri="{FF2B5EF4-FFF2-40B4-BE49-F238E27FC236}">
                <a16:creationId xmlns:a16="http://schemas.microsoft.com/office/drawing/2014/main" id="{3C818367-25DD-C7F5-5FA5-B59B6F0F8124}"/>
              </a:ext>
            </a:extLst>
          </p:cNvPr>
          <p:cNvSpPr txBox="1"/>
          <p:nvPr/>
        </p:nvSpPr>
        <p:spPr>
          <a:xfrm>
            <a:off x="5715000" y="36703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4</a:t>
            </a:r>
          </a:p>
        </p:txBody>
      </p:sp>
      <p:sp>
        <p:nvSpPr>
          <p:cNvPr id="31" name="CuadroTexto 30">
            <a:extLst>
              <a:ext uri="{FF2B5EF4-FFF2-40B4-BE49-F238E27FC236}">
                <a16:creationId xmlns:a16="http://schemas.microsoft.com/office/drawing/2014/main" id="{305E6063-62D8-CE92-932B-D8F6BB733D41}"/>
              </a:ext>
            </a:extLst>
          </p:cNvPr>
          <p:cNvSpPr txBox="1"/>
          <p:nvPr/>
        </p:nvSpPr>
        <p:spPr>
          <a:xfrm>
            <a:off x="5715000" y="38354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El informe que se defiende</a:t>
            </a:r>
            <a:endParaRPr lang="es-BO" sz="1200">
              <a:solidFill>
                <a:srgbClr val="1C1813"/>
              </a:solidFill>
              <a:latin typeface="Bahnschrift SemiBold" panose="020B0502040204020203" pitchFamily="34" charset="0"/>
            </a:endParaRPr>
          </a:p>
        </p:txBody>
      </p:sp>
      <p:sp>
        <p:nvSpPr>
          <p:cNvPr id="32" name="Rectángulo 31">
            <a:extLst>
              <a:ext uri="{FF2B5EF4-FFF2-40B4-BE49-F238E27FC236}">
                <a16:creationId xmlns:a16="http://schemas.microsoft.com/office/drawing/2014/main" id="{83D66983-17CE-792A-5952-63785C7EE514}"/>
              </a:ext>
            </a:extLst>
          </p:cNvPr>
          <p:cNvSpPr/>
          <p:nvPr/>
        </p:nvSpPr>
        <p:spPr>
          <a:xfrm>
            <a:off x="5537200" y="4229100"/>
            <a:ext cx="6045200" cy="584200"/>
          </a:xfrm>
          <a:prstGeom prst="rect">
            <a:avLst/>
          </a:prstGeom>
          <a:solidFill>
            <a:srgbClr val="F0E7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Elipse 32">
            <a:extLst>
              <a:ext uri="{FF2B5EF4-FFF2-40B4-BE49-F238E27FC236}">
                <a16:creationId xmlns:a16="http://schemas.microsoft.com/office/drawing/2014/main" id="{E4B82E54-5267-16F7-C57E-56020CE97B25}"/>
              </a:ext>
            </a:extLst>
          </p:cNvPr>
          <p:cNvSpPr/>
          <p:nvPr/>
        </p:nvSpPr>
        <p:spPr>
          <a:xfrm>
            <a:off x="5105400" y="4368800"/>
            <a:ext cx="304800" cy="304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1C1813"/>
                </a:solidFill>
                <a:latin typeface="Bahnschrift SemiBold" panose="020B0502040204020203" pitchFamily="34" charset="0"/>
              </a:rPr>
              <a:t>6</a:t>
            </a:r>
          </a:p>
        </p:txBody>
      </p:sp>
      <p:sp>
        <p:nvSpPr>
          <p:cNvPr id="34" name="CuadroTexto 33">
            <a:extLst>
              <a:ext uri="{FF2B5EF4-FFF2-40B4-BE49-F238E27FC236}">
                <a16:creationId xmlns:a16="http://schemas.microsoft.com/office/drawing/2014/main" id="{803E9811-344C-7A5D-B05A-A3ABE42EA2BA}"/>
              </a:ext>
            </a:extLst>
          </p:cNvPr>
          <p:cNvSpPr txBox="1"/>
          <p:nvPr/>
        </p:nvSpPr>
        <p:spPr>
          <a:xfrm>
            <a:off x="5715000" y="43307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CASO RESUELTO</a:t>
            </a:r>
          </a:p>
        </p:txBody>
      </p:sp>
      <p:sp>
        <p:nvSpPr>
          <p:cNvPr id="35" name="CuadroTexto 34">
            <a:extLst>
              <a:ext uri="{FF2B5EF4-FFF2-40B4-BE49-F238E27FC236}">
                <a16:creationId xmlns:a16="http://schemas.microsoft.com/office/drawing/2014/main" id="{2C787953-7904-A5F8-08BB-431353766CDE}"/>
              </a:ext>
            </a:extLst>
          </p:cNvPr>
          <p:cNvSpPr txBox="1"/>
          <p:nvPr/>
        </p:nvSpPr>
        <p:spPr>
          <a:xfrm>
            <a:off x="5715000" y="44958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Los testigos de la columna C-4</a:t>
            </a:r>
            <a:endParaRPr lang="es-BO" sz="1200">
              <a:solidFill>
                <a:srgbClr val="1C1813"/>
              </a:solidFill>
              <a:latin typeface="Bahnschrift SemiBold" panose="020B0502040204020203" pitchFamily="34" charset="0"/>
            </a:endParaRPr>
          </a:p>
        </p:txBody>
      </p:sp>
      <p:sp>
        <p:nvSpPr>
          <p:cNvPr id="36" name="Elipse 35">
            <a:extLst>
              <a:ext uri="{FF2B5EF4-FFF2-40B4-BE49-F238E27FC236}">
                <a16:creationId xmlns:a16="http://schemas.microsoft.com/office/drawing/2014/main" id="{8928DBBC-55D7-8AAF-C7D7-8675CFC6C85D}"/>
              </a:ext>
            </a:extLst>
          </p:cNvPr>
          <p:cNvSpPr/>
          <p:nvPr/>
        </p:nvSpPr>
        <p:spPr>
          <a:xfrm>
            <a:off x="5105400" y="50292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7</a:t>
            </a:r>
          </a:p>
        </p:txBody>
      </p:sp>
      <p:sp>
        <p:nvSpPr>
          <p:cNvPr id="37" name="CuadroTexto 36">
            <a:extLst>
              <a:ext uri="{FF2B5EF4-FFF2-40B4-BE49-F238E27FC236}">
                <a16:creationId xmlns:a16="http://schemas.microsoft.com/office/drawing/2014/main" id="{697CC67E-4CB0-05FA-59D1-3179BC20DD1E}"/>
              </a:ext>
            </a:extLst>
          </p:cNvPr>
          <p:cNvSpPr txBox="1"/>
          <p:nvPr/>
        </p:nvSpPr>
        <p:spPr>
          <a:xfrm>
            <a:off x="5715000" y="49911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HERRAMIENTAS</a:t>
            </a:r>
          </a:p>
        </p:txBody>
      </p:sp>
      <p:sp>
        <p:nvSpPr>
          <p:cNvPr id="38" name="CuadroTexto 37">
            <a:extLst>
              <a:ext uri="{FF2B5EF4-FFF2-40B4-BE49-F238E27FC236}">
                <a16:creationId xmlns:a16="http://schemas.microsoft.com/office/drawing/2014/main" id="{83A43F87-1696-DE56-78D3-377AEDFFE424}"/>
              </a:ext>
            </a:extLst>
          </p:cNvPr>
          <p:cNvSpPr txBox="1"/>
          <p:nvPr/>
        </p:nvSpPr>
        <p:spPr>
          <a:xfrm>
            <a:off x="5715000" y="51562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La planilla y el formato de esta clase</a:t>
            </a:r>
            <a:endParaRPr lang="es-BO" sz="1200">
              <a:solidFill>
                <a:srgbClr val="1C1813"/>
              </a:solidFill>
              <a:latin typeface="Bahnschrift SemiBold" panose="020B0502040204020203" pitchFamily="34" charset="0"/>
            </a:endParaRPr>
          </a:p>
        </p:txBody>
      </p:sp>
      <p:sp>
        <p:nvSpPr>
          <p:cNvPr id="39" name="Elipse 38">
            <a:extLst>
              <a:ext uri="{FF2B5EF4-FFF2-40B4-BE49-F238E27FC236}">
                <a16:creationId xmlns:a16="http://schemas.microsoft.com/office/drawing/2014/main" id="{6922E8AA-5B2F-6D63-9903-4F4B3612F3E5}"/>
              </a:ext>
            </a:extLst>
          </p:cNvPr>
          <p:cNvSpPr/>
          <p:nvPr/>
        </p:nvSpPr>
        <p:spPr>
          <a:xfrm>
            <a:off x="5105400" y="56896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8</a:t>
            </a:r>
          </a:p>
        </p:txBody>
      </p:sp>
      <p:sp>
        <p:nvSpPr>
          <p:cNvPr id="40" name="CuadroTexto 39">
            <a:extLst>
              <a:ext uri="{FF2B5EF4-FFF2-40B4-BE49-F238E27FC236}">
                <a16:creationId xmlns:a16="http://schemas.microsoft.com/office/drawing/2014/main" id="{E11D7A59-0884-00ED-EBB8-494AAC93056E}"/>
              </a:ext>
            </a:extLst>
          </p:cNvPr>
          <p:cNvSpPr txBox="1"/>
          <p:nvPr/>
        </p:nvSpPr>
        <p:spPr>
          <a:xfrm>
            <a:off x="5715000" y="56515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CIERRE</a:t>
            </a:r>
          </a:p>
        </p:txBody>
      </p:sp>
      <p:sp>
        <p:nvSpPr>
          <p:cNvPr id="41" name="CuadroTexto 40">
            <a:extLst>
              <a:ext uri="{FF2B5EF4-FFF2-40B4-BE49-F238E27FC236}">
                <a16:creationId xmlns:a16="http://schemas.microsoft.com/office/drawing/2014/main" id="{0D740093-EE27-C161-63EB-B0FF268B2602}"/>
              </a:ext>
            </a:extLst>
          </p:cNvPr>
          <p:cNvSpPr txBox="1"/>
          <p:nvPr/>
        </p:nvSpPr>
        <p:spPr>
          <a:xfrm>
            <a:off x="5715000" y="5816600"/>
            <a:ext cx="5715000" cy="228600"/>
          </a:xfrm>
          <a:prstGeom prst="rect">
            <a:avLst/>
          </a:prstGeom>
          <a:noFill/>
        </p:spPr>
        <p:txBody>
          <a:bodyPr vert="horz" wrap="square" lIns="0" tIns="0" rIns="0" bIns="0" rtlCol="0" anchor="t">
            <a:noAutofit/>
          </a:bodyPr>
          <a:lstStyle/>
          <a:p>
            <a:pPr algn="l"/>
            <a:r>
              <a:rPr lang="es-BO" sz="1200">
                <a:solidFill>
                  <a:srgbClr val="1C1813"/>
                </a:solidFill>
                <a:latin typeface="Bahnschrift SemiBold" panose="020B0502040204020203" pitchFamily="34" charset="0"/>
              </a:rPr>
              <a:t>Seis ideas para llevarse</a:t>
            </a:r>
          </a:p>
        </p:txBody>
      </p:sp>
      <p:cxnSp>
        <p:nvCxnSpPr>
          <p:cNvPr id="42" name="Conector recto 41">
            <a:extLst>
              <a:ext uri="{FF2B5EF4-FFF2-40B4-BE49-F238E27FC236}">
                <a16:creationId xmlns:a16="http://schemas.microsoft.com/office/drawing/2014/main" id="{F2990A28-8B3C-B4A6-8542-403699C7F311}"/>
              </a:ext>
            </a:extLst>
          </p:cNvPr>
          <p:cNvCxnSpPr/>
          <p:nvPr/>
        </p:nvCxnSpPr>
        <p:spPr>
          <a:xfrm>
            <a:off x="5080000" y="6527800"/>
            <a:ext cx="65024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3" name="CuadroTexto 42">
            <a:extLst>
              <a:ext uri="{FF2B5EF4-FFF2-40B4-BE49-F238E27FC236}">
                <a16:creationId xmlns:a16="http://schemas.microsoft.com/office/drawing/2014/main" id="{D282FA0F-A6D8-C9D3-DA92-D2E60B13CBDB}"/>
              </a:ext>
            </a:extLst>
          </p:cNvPr>
          <p:cNvSpPr txBox="1"/>
          <p:nvPr/>
        </p:nvSpPr>
        <p:spPr>
          <a:xfrm>
            <a:off x="50800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4" name="PageNo">
            <a:extLst>
              <a:ext uri="{FF2B5EF4-FFF2-40B4-BE49-F238E27FC236}">
                <a16:creationId xmlns:a16="http://schemas.microsoft.com/office/drawing/2014/main" id="{3B592724-BAC7-FCB9-70B0-4B51B1278F54}"/>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02 / 39</a:t>
            </a:r>
          </a:p>
        </p:txBody>
      </p:sp>
    </p:spTree>
    <p:extLst>
      <p:ext uri="{BB962C8B-B14F-4D97-AF65-F5344CB8AC3E}">
        <p14:creationId xmlns:p14="http://schemas.microsoft.com/office/powerpoint/2010/main" val="95385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96B428-660D-45C9-70D5-28049EC9EFDF}"/>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REPASO DE LA CLASE 4</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9B92498E-A1B4-3C0D-C446-281105755E8F}"/>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ideas que traemos de la clase anterior</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AF63C9CD-3A64-4D6A-48B3-8936B9EBAA58}"/>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06F0059E-FE83-765F-97DF-E97650B69472}"/>
              </a:ext>
            </a:extLst>
          </p:cNvPr>
          <p:cNvSpPr/>
          <p:nvPr/>
        </p:nvSpPr>
        <p:spPr>
          <a:xfrm>
            <a:off x="609600" y="1498600"/>
            <a:ext cx="3454400" cy="381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D76108D1-4E32-FE08-ADF6-9BF0C09201DD}"/>
              </a:ext>
            </a:extLst>
          </p:cNvPr>
          <p:cNvSpPr txBox="1"/>
          <p:nvPr/>
        </p:nvSpPr>
        <p:spPr>
          <a:xfrm>
            <a:off x="863600" y="1727200"/>
            <a:ext cx="1016000" cy="508000"/>
          </a:xfrm>
          <a:prstGeom prst="rect">
            <a:avLst/>
          </a:prstGeom>
          <a:noFill/>
        </p:spPr>
        <p:txBody>
          <a:bodyPr vert="horz" wrap="square" lIns="0" tIns="0" rIns="0" bIns="0" rtlCol="0" anchor="t">
            <a:noAutofit/>
          </a:bodyPr>
          <a:lstStyle/>
          <a:p>
            <a:r>
              <a:rPr lang="es-BO" sz="3400">
                <a:solidFill>
                  <a:srgbClr val="8A6A2F"/>
                </a:solidFill>
                <a:latin typeface="Bahnschrift Light" panose="020B0502040204020203" pitchFamily="34" charset="0"/>
              </a:rPr>
              <a:t>01</a:t>
            </a:r>
          </a:p>
        </p:txBody>
      </p:sp>
      <p:sp>
        <p:nvSpPr>
          <p:cNvPr id="8" name="CuadroTexto 7">
            <a:extLst>
              <a:ext uri="{FF2B5EF4-FFF2-40B4-BE49-F238E27FC236}">
                <a16:creationId xmlns:a16="http://schemas.microsoft.com/office/drawing/2014/main" id="{6B443D65-7496-0987-9C5A-0E9EE71A5C7E}"/>
              </a:ext>
            </a:extLst>
          </p:cNvPr>
          <p:cNvSpPr txBox="1"/>
          <p:nvPr/>
        </p:nvSpPr>
        <p:spPr>
          <a:xfrm>
            <a:off x="863600" y="2413000"/>
            <a:ext cx="2946400" cy="762000"/>
          </a:xfrm>
          <a:prstGeom prst="rect">
            <a:avLst/>
          </a:prstGeom>
          <a:noFill/>
        </p:spPr>
        <p:txBody>
          <a:bodyPr vert="horz" wrap="square" lIns="0" tIns="0" rIns="0" bIns="0" rtlCol="0" anchor="t">
            <a:noAutofit/>
          </a:bodyPr>
          <a:lstStyle/>
          <a:p>
            <a:r>
              <a:rPr lang="es-BO" sz="1600">
                <a:solidFill>
                  <a:srgbClr val="1C1813"/>
                </a:solidFill>
                <a:latin typeface="Bahnschrift SemiBold" panose="020B0502040204020203" pitchFamily="34" charset="0"/>
              </a:rPr>
              <a:t>La víctima cambia</a:t>
            </a:r>
          </a:p>
        </p:txBody>
      </p:sp>
      <p:sp>
        <p:nvSpPr>
          <p:cNvPr id="9" name="CuadroTexto 8">
            <a:extLst>
              <a:ext uri="{FF2B5EF4-FFF2-40B4-BE49-F238E27FC236}">
                <a16:creationId xmlns:a16="http://schemas.microsoft.com/office/drawing/2014/main" id="{19A42BE4-329D-053C-8DA3-B051B706EB53}"/>
              </a:ext>
            </a:extLst>
          </p:cNvPr>
          <p:cNvSpPr txBox="1"/>
          <p:nvPr/>
        </p:nvSpPr>
        <p:spPr>
          <a:xfrm>
            <a:off x="863600" y="3251200"/>
            <a:ext cx="2946400" cy="713232"/>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En el ataque químico el dañado es la pasta de cemento, no la armadura. Es el único mecanismo así del curso.</a:t>
            </a:r>
            <a:endParaRPr lang="es-BO" sz="1100">
              <a:solidFill>
                <a:srgbClr val="5A5248"/>
              </a:solidFill>
              <a:latin typeface="Segoe UI" panose="020B0502040204020203" pitchFamily="34" charset="0"/>
            </a:endParaRPr>
          </a:p>
        </p:txBody>
      </p:sp>
      <p:sp>
        <p:nvSpPr>
          <p:cNvPr id="10" name="Rectángulo 9">
            <a:extLst>
              <a:ext uri="{FF2B5EF4-FFF2-40B4-BE49-F238E27FC236}">
                <a16:creationId xmlns:a16="http://schemas.microsoft.com/office/drawing/2014/main" id="{7FBE342C-3BDA-BC59-7F38-486E7E2AE9E0}"/>
              </a:ext>
            </a:extLst>
          </p:cNvPr>
          <p:cNvSpPr/>
          <p:nvPr/>
        </p:nvSpPr>
        <p:spPr>
          <a:xfrm>
            <a:off x="4368800" y="1498600"/>
            <a:ext cx="3454400" cy="381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E198DE40-71A7-D624-7A99-1E4A7997948F}"/>
              </a:ext>
            </a:extLst>
          </p:cNvPr>
          <p:cNvSpPr txBox="1"/>
          <p:nvPr/>
        </p:nvSpPr>
        <p:spPr>
          <a:xfrm>
            <a:off x="4622800" y="1727200"/>
            <a:ext cx="1016000" cy="508000"/>
          </a:xfrm>
          <a:prstGeom prst="rect">
            <a:avLst/>
          </a:prstGeom>
          <a:noFill/>
        </p:spPr>
        <p:txBody>
          <a:bodyPr vert="horz" wrap="square" lIns="0" tIns="0" rIns="0" bIns="0" rtlCol="0" anchor="t">
            <a:noAutofit/>
          </a:bodyPr>
          <a:lstStyle/>
          <a:p>
            <a:r>
              <a:rPr lang="es-BO" sz="3400">
                <a:solidFill>
                  <a:srgbClr val="8A6A2F"/>
                </a:solidFill>
                <a:latin typeface="Bahnschrift Light" panose="020B0502040204020203" pitchFamily="34" charset="0"/>
              </a:rPr>
              <a:t>02</a:t>
            </a:r>
          </a:p>
        </p:txBody>
      </p:sp>
      <p:sp>
        <p:nvSpPr>
          <p:cNvPr id="12" name="CuadroTexto 11">
            <a:extLst>
              <a:ext uri="{FF2B5EF4-FFF2-40B4-BE49-F238E27FC236}">
                <a16:creationId xmlns:a16="http://schemas.microsoft.com/office/drawing/2014/main" id="{A543CB38-983A-5321-A36A-74B88F89EF0C}"/>
              </a:ext>
            </a:extLst>
          </p:cNvPr>
          <p:cNvSpPr txBox="1"/>
          <p:nvPr/>
        </p:nvSpPr>
        <p:spPr>
          <a:xfrm>
            <a:off x="4622800" y="2413000"/>
            <a:ext cx="2946400" cy="762000"/>
          </a:xfrm>
          <a:prstGeom prst="rect">
            <a:avLst/>
          </a:prstGeom>
          <a:noFill/>
        </p:spPr>
        <p:txBody>
          <a:bodyPr vert="horz" wrap="square" lIns="0" tIns="0" rIns="0" bIns="0" rtlCol="0" anchor="t">
            <a:noAutofit/>
          </a:bodyPr>
          <a:lstStyle/>
          <a:p>
            <a:r>
              <a:rPr lang="es-BO" sz="1600">
                <a:solidFill>
                  <a:srgbClr val="1C1813"/>
                </a:solidFill>
                <a:latin typeface="Bahnschrift SemiBold" panose="020B0502040204020203" pitchFamily="34" charset="0"/>
              </a:rPr>
              <a:t>La clase manda</a:t>
            </a:r>
          </a:p>
        </p:txBody>
      </p:sp>
      <p:sp>
        <p:nvSpPr>
          <p:cNvPr id="13" name="CuadroTexto 12">
            <a:extLst>
              <a:ext uri="{FF2B5EF4-FFF2-40B4-BE49-F238E27FC236}">
                <a16:creationId xmlns:a16="http://schemas.microsoft.com/office/drawing/2014/main" id="{00CA9181-6B1C-D35F-442B-3D1CF18D6A86}"/>
              </a:ext>
            </a:extLst>
          </p:cNvPr>
          <p:cNvSpPr txBox="1"/>
          <p:nvPr/>
        </p:nvSpPr>
        <p:spPr>
          <a:xfrm>
            <a:off x="4622800" y="3251200"/>
            <a:ext cx="2946400" cy="713232"/>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El terreno de la nave dio 0.35 % de sulfatos: clase S2, que exigía 31 MPa. Se ejecutó con 21,0.</a:t>
            </a:r>
            <a:endParaRPr lang="es-BO" sz="1100">
              <a:solidFill>
                <a:srgbClr val="5A5248"/>
              </a:solidFill>
              <a:latin typeface="Segoe UI" panose="020B0502040204020203" pitchFamily="34" charset="0"/>
            </a:endParaRPr>
          </a:p>
        </p:txBody>
      </p:sp>
      <p:sp>
        <p:nvSpPr>
          <p:cNvPr id="14" name="Rectángulo 13">
            <a:extLst>
              <a:ext uri="{FF2B5EF4-FFF2-40B4-BE49-F238E27FC236}">
                <a16:creationId xmlns:a16="http://schemas.microsoft.com/office/drawing/2014/main" id="{1F1E4508-B9F6-8F8B-43E1-2DC48D72E1D9}"/>
              </a:ext>
            </a:extLst>
          </p:cNvPr>
          <p:cNvSpPr/>
          <p:nvPr/>
        </p:nvSpPr>
        <p:spPr>
          <a:xfrm>
            <a:off x="8128000" y="1498600"/>
            <a:ext cx="3454400" cy="381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D0C01ACE-5C32-B992-74E9-345FE54D9123}"/>
              </a:ext>
            </a:extLst>
          </p:cNvPr>
          <p:cNvSpPr txBox="1"/>
          <p:nvPr/>
        </p:nvSpPr>
        <p:spPr>
          <a:xfrm>
            <a:off x="8382000" y="1727200"/>
            <a:ext cx="1016000" cy="508000"/>
          </a:xfrm>
          <a:prstGeom prst="rect">
            <a:avLst/>
          </a:prstGeom>
          <a:noFill/>
        </p:spPr>
        <p:txBody>
          <a:bodyPr vert="horz" wrap="square" lIns="0" tIns="0" rIns="0" bIns="0" rtlCol="0" anchor="t">
            <a:noAutofit/>
          </a:bodyPr>
          <a:lstStyle/>
          <a:p>
            <a:r>
              <a:rPr lang="es-BO" sz="3400">
                <a:solidFill>
                  <a:srgbClr val="8A6A2F"/>
                </a:solidFill>
                <a:latin typeface="Bahnschrift Light" panose="020B0502040204020203" pitchFamily="34" charset="0"/>
              </a:rPr>
              <a:t>03</a:t>
            </a:r>
          </a:p>
        </p:txBody>
      </p:sp>
      <p:sp>
        <p:nvSpPr>
          <p:cNvPr id="16" name="CuadroTexto 15">
            <a:extLst>
              <a:ext uri="{FF2B5EF4-FFF2-40B4-BE49-F238E27FC236}">
                <a16:creationId xmlns:a16="http://schemas.microsoft.com/office/drawing/2014/main" id="{6E40671D-1762-8DE9-0655-8C463A433D70}"/>
              </a:ext>
            </a:extLst>
          </p:cNvPr>
          <p:cNvSpPr txBox="1"/>
          <p:nvPr/>
        </p:nvSpPr>
        <p:spPr>
          <a:xfrm>
            <a:off x="8382000" y="2413000"/>
            <a:ext cx="2946400" cy="762000"/>
          </a:xfrm>
          <a:prstGeom prst="rect">
            <a:avLst/>
          </a:prstGeom>
          <a:noFill/>
        </p:spPr>
        <p:txBody>
          <a:bodyPr vert="horz" wrap="square" lIns="0" tIns="0" rIns="0" bIns="0" rtlCol="0" anchor="t">
            <a:noAutofit/>
          </a:bodyPr>
          <a:lstStyle/>
          <a:p>
            <a:r>
              <a:rPr lang="es-BO" sz="1600">
                <a:solidFill>
                  <a:srgbClr val="1C1813"/>
                </a:solidFill>
                <a:latin typeface="Bahnschrift SemiBold" panose="020B0502040204020203" pitchFamily="34" charset="0"/>
              </a:rPr>
              <a:t>Cortar el agente</a:t>
            </a:r>
          </a:p>
        </p:txBody>
      </p:sp>
      <p:sp>
        <p:nvSpPr>
          <p:cNvPr id="17" name="CuadroTexto 16">
            <a:extLst>
              <a:ext uri="{FF2B5EF4-FFF2-40B4-BE49-F238E27FC236}">
                <a16:creationId xmlns:a16="http://schemas.microsoft.com/office/drawing/2014/main" id="{5576126E-97CA-7551-A787-54B340AE5177}"/>
              </a:ext>
            </a:extLst>
          </p:cNvPr>
          <p:cNvSpPr txBox="1"/>
          <p:nvPr/>
        </p:nvSpPr>
        <p:spPr>
          <a:xfrm>
            <a:off x="8382000" y="3251200"/>
            <a:ext cx="2946400" cy="713232"/>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Sobre lo construido no se cambia el cemento: se corta el agua, se interpone una barrera o se sustituye.</a:t>
            </a:r>
            <a:endParaRPr lang="es-BO" sz="1100">
              <a:solidFill>
                <a:srgbClr val="5A5248"/>
              </a:solidFill>
              <a:latin typeface="Segoe UI" panose="020B0502040204020203" pitchFamily="34" charset="0"/>
            </a:endParaRPr>
          </a:p>
        </p:txBody>
      </p:sp>
      <p:pic>
        <p:nvPicPr>
          <p:cNvPr id="25" name="Ilustración 1" descr="Superficie retrocedida con el árido a la vista y la armadura todavía sana"/>
          <p:cNvPicPr>
            <a:picLocks noChangeAspect="1"/>
          </p:cNvPicPr>
          <p:nvPr/>
        </p:nvPicPr>
        <p:blipFill>
          <a:blip r:embed="rId100"/>
          <a:stretch>
            <a:fillRect/>
          </a:stretch>
        </p:blipFill>
        <p:spPr>
          <a:xfrm>
            <a:off x="868680" y="4005072"/>
            <a:ext cx="2944368" cy="1143000"/>
          </a:xfrm>
          <a:prstGeom prst="rect">
            <a:avLst/>
          </a:prstGeom>
        </p:spPr>
      </p:pic>
      <p:pic>
        <p:nvPicPr>
          <p:cNvPr id="26" name="Ilustración 2" descr="Clase S2: 31 MPa exigidos frente a 21 ejecutados"/>
          <p:cNvPicPr>
            <a:picLocks noChangeAspect="1"/>
          </p:cNvPicPr>
          <p:nvPr/>
        </p:nvPicPr>
        <p:blipFill>
          <a:blip r:embed="rId101"/>
          <a:stretch>
            <a:fillRect/>
          </a:stretch>
        </p:blipFill>
        <p:spPr>
          <a:xfrm>
            <a:off x="4626864" y="4005072"/>
            <a:ext cx="2944368" cy="1143000"/>
          </a:xfrm>
          <a:prstGeom prst="rect">
            <a:avLst/>
          </a:prstGeom>
        </p:spPr>
      </p:pic>
      <p:pic>
        <p:nvPicPr>
          <p:cNvPr id="27" name="Ilustración 3" descr="Barrera, dren y ventilación para cortar el agua"/>
          <p:cNvPicPr>
            <a:picLocks noChangeAspect="1"/>
          </p:cNvPicPr>
          <p:nvPr/>
        </p:nvPicPr>
        <p:blipFill>
          <a:blip r:embed="rId102"/>
          <a:stretch>
            <a:fillRect/>
          </a:stretch>
        </p:blipFill>
        <p:spPr>
          <a:xfrm>
            <a:off x="8385048" y="4005072"/>
            <a:ext cx="2944368" cy="1143000"/>
          </a:xfrm>
          <a:prstGeom prst="rect">
            <a:avLst/>
          </a:prstGeom>
        </p:spPr>
      </p:pic>
      <p:sp>
        <p:nvSpPr>
          <p:cNvPr id="18" name="Rectángulo 17">
            <a:extLst>
              <a:ext uri="{FF2B5EF4-FFF2-40B4-BE49-F238E27FC236}">
                <a16:creationId xmlns:a16="http://schemas.microsoft.com/office/drawing/2014/main" id="{8D9B572E-2AE0-B7FA-CFD6-8E59FBEA538C}"/>
              </a:ext>
            </a:extLst>
          </p:cNvPr>
          <p:cNvSpPr/>
          <p:nvPr/>
        </p:nvSpPr>
        <p:spPr>
          <a:xfrm>
            <a:off x="609600" y="5537200"/>
            <a:ext cx="10972800" cy="6096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7CD2C8C1-D430-00E3-BEB5-8F2A1219FD86}"/>
              </a:ext>
            </a:extLst>
          </p:cNvPr>
          <p:cNvSpPr txBox="1"/>
          <p:nvPr/>
        </p:nvSpPr>
        <p:spPr>
          <a:xfrm>
            <a:off x="838200" y="5588000"/>
            <a:ext cx="10566400" cy="5080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Pregunta de apertura: ¿qué aplicaste o qué observaste en tu trabajo desde la última clase?</a:t>
            </a:r>
            <a:endParaRPr lang="es-BO" sz="1200">
              <a:solidFill>
                <a:srgbClr val="FFFFFF"/>
              </a:solidFill>
              <a:latin typeface="Segoe UI" panose="020B0502040204020203" pitchFamily="34" charset="0"/>
            </a:endParaRPr>
          </a:p>
        </p:txBody>
      </p:sp>
      <p:cxnSp>
        <p:nvCxnSpPr>
          <p:cNvPr id="21" name="Conector recto 20">
            <a:extLst>
              <a:ext uri="{FF2B5EF4-FFF2-40B4-BE49-F238E27FC236}">
                <a16:creationId xmlns:a16="http://schemas.microsoft.com/office/drawing/2014/main" id="{08A26E1D-49DB-4519-C278-4931340C1928}"/>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F1EDD6FE-898A-6C8D-C736-C480F01DE1FF}"/>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DBB539E5-4E20-D847-0F02-A972DC8A637A}"/>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4" name="PageNo">
            <a:extLst>
              <a:ext uri="{FF2B5EF4-FFF2-40B4-BE49-F238E27FC236}">
                <a16:creationId xmlns:a16="http://schemas.microsoft.com/office/drawing/2014/main" id="{9F28C147-A6A1-0258-737B-1B278751703D}"/>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03 / 39</a:t>
            </a:r>
          </a:p>
        </p:txBody>
      </p:sp>
    </p:spTree>
    <p:extLst>
      <p:ext uri="{BB962C8B-B14F-4D97-AF65-F5344CB8AC3E}">
        <p14:creationId xmlns:p14="http://schemas.microsoft.com/office/powerpoint/2010/main" val="601720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9602BC8-7ED0-528E-7F0A-4746611FB2F0}"/>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MAPA DE LA CLASE</a:t>
            </a:r>
          </a:p>
        </p:txBody>
      </p:sp>
      <p:sp>
        <p:nvSpPr>
          <p:cNvPr id="3" name="Title">
            <a:extLst>
              <a:ext uri="{FF2B5EF4-FFF2-40B4-BE49-F238E27FC236}">
                <a16:creationId xmlns:a16="http://schemas.microsoft.com/office/drawing/2014/main" id="{883BDC16-ECF1-2A00-FF03-A00ACD35A95C}"/>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campaña va de lo barato a lo caro, y nunca al revés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697EA1AD-A65B-947E-0554-A3B6EB5CA687}"/>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D96699F3-67AC-3657-1628-3D5A6C087330}"/>
              </a:ext>
            </a:extLst>
          </p:cNvPr>
          <p:cNvCxnSpPr/>
          <p:nvPr/>
        </p:nvCxnSpPr>
        <p:spPr>
          <a:xfrm>
            <a:off x="19177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7B875BB6-8026-73AF-5E18-06AFF1276705}"/>
              </a:ext>
            </a:extLst>
          </p:cNvPr>
          <p:cNvCxnSpPr/>
          <p:nvPr/>
        </p:nvCxnSpPr>
        <p:spPr>
          <a:xfrm>
            <a:off x="41529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B427A326-9AE3-31E8-4709-FA061D69FBDD}"/>
              </a:ext>
            </a:extLst>
          </p:cNvPr>
          <p:cNvCxnSpPr/>
          <p:nvPr/>
        </p:nvCxnSpPr>
        <p:spPr>
          <a:xfrm>
            <a:off x="63881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4281E386-0212-F739-E385-16B9F8CD7A45}"/>
              </a:ext>
            </a:extLst>
          </p:cNvPr>
          <p:cNvCxnSpPr/>
          <p:nvPr/>
        </p:nvCxnSpPr>
        <p:spPr>
          <a:xfrm>
            <a:off x="86233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C7A0BC63-E554-D8D6-5909-746C849AB433}"/>
              </a:ext>
            </a:extLst>
          </p:cNvPr>
          <p:cNvSpPr/>
          <p:nvPr/>
        </p:nvSpPr>
        <p:spPr>
          <a:xfrm>
            <a:off x="13970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01</a:t>
            </a:r>
          </a:p>
        </p:txBody>
      </p:sp>
      <p:sp>
        <p:nvSpPr>
          <p:cNvPr id="11" name="CuadroTexto 10">
            <a:extLst>
              <a:ext uri="{FF2B5EF4-FFF2-40B4-BE49-F238E27FC236}">
                <a16:creationId xmlns:a16="http://schemas.microsoft.com/office/drawing/2014/main" id="{551A1A56-2C9E-FE61-43BE-18DB02F2A0F2}"/>
              </a:ext>
            </a:extLst>
          </p:cNvPr>
          <p:cNvSpPr txBox="1"/>
          <p:nvPr/>
        </p:nvSpPr>
        <p:spPr>
          <a:xfrm>
            <a:off x="6096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Documentación</a:t>
            </a:r>
          </a:p>
        </p:txBody>
      </p:sp>
      <p:sp>
        <p:nvSpPr>
          <p:cNvPr id="12" name="CuadroTexto 11">
            <a:extLst>
              <a:ext uri="{FF2B5EF4-FFF2-40B4-BE49-F238E27FC236}">
                <a16:creationId xmlns:a16="http://schemas.microsoft.com/office/drawing/2014/main" id="{318E7632-8087-7081-21E3-089C1F84E951}"/>
              </a:ext>
            </a:extLst>
          </p:cNvPr>
          <p:cNvSpPr txBox="1"/>
          <p:nvPr/>
        </p:nvSpPr>
        <p:spPr>
          <a:xfrm>
            <a:off x="6096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Planos, memoria, historia de la obra y de sus usos. Cuesta cero y orienta todo lo demás.</a:t>
            </a:r>
            <a:endParaRPr lang="es-BO" sz="1100">
              <a:solidFill>
                <a:srgbClr val="5A5248"/>
              </a:solidFill>
              <a:latin typeface="Segoe UI" panose="020B0502040204020203" pitchFamily="34" charset="0"/>
            </a:endParaRPr>
          </a:p>
        </p:txBody>
      </p:sp>
      <p:sp>
        <p:nvSpPr>
          <p:cNvPr id="13" name="Elipse 12">
            <a:extLst>
              <a:ext uri="{FF2B5EF4-FFF2-40B4-BE49-F238E27FC236}">
                <a16:creationId xmlns:a16="http://schemas.microsoft.com/office/drawing/2014/main" id="{854A90F0-550A-24B0-499F-E659235CF5DC}"/>
              </a:ext>
            </a:extLst>
          </p:cNvPr>
          <p:cNvSpPr/>
          <p:nvPr/>
        </p:nvSpPr>
        <p:spPr>
          <a:xfrm>
            <a:off x="36322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02</a:t>
            </a:r>
          </a:p>
        </p:txBody>
      </p:sp>
      <p:sp>
        <p:nvSpPr>
          <p:cNvPr id="14" name="CuadroTexto 13">
            <a:extLst>
              <a:ext uri="{FF2B5EF4-FFF2-40B4-BE49-F238E27FC236}">
                <a16:creationId xmlns:a16="http://schemas.microsoft.com/office/drawing/2014/main" id="{99489238-5469-DC27-5333-50FF2BA7BCF9}"/>
              </a:ext>
            </a:extLst>
          </p:cNvPr>
          <p:cNvSpPr txBox="1"/>
          <p:nvPr/>
        </p:nvSpPr>
        <p:spPr>
          <a:xfrm>
            <a:off x="28448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Inspección visual</a:t>
            </a:r>
          </a:p>
        </p:txBody>
      </p:sp>
      <p:sp>
        <p:nvSpPr>
          <p:cNvPr id="15" name="CuadroTexto 14">
            <a:extLst>
              <a:ext uri="{FF2B5EF4-FFF2-40B4-BE49-F238E27FC236}">
                <a16:creationId xmlns:a16="http://schemas.microsoft.com/office/drawing/2014/main" id="{B7D44603-1B9C-DA58-4A8A-74BCBD68A393}"/>
              </a:ext>
            </a:extLst>
          </p:cNvPr>
          <p:cNvSpPr txBox="1"/>
          <p:nvPr/>
        </p:nvSpPr>
        <p:spPr>
          <a:xfrm>
            <a:off x="28448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Recorrido sistemático y mapeo de daños sobre plano. Todavía no se enciende nada.</a:t>
            </a:r>
            <a:endParaRPr lang="es-BO" sz="1100">
              <a:solidFill>
                <a:srgbClr val="5A5248"/>
              </a:solidFill>
              <a:latin typeface="Segoe UI" panose="020B0502040204020203" pitchFamily="34" charset="0"/>
            </a:endParaRPr>
          </a:p>
        </p:txBody>
      </p:sp>
      <p:sp>
        <p:nvSpPr>
          <p:cNvPr id="16" name="Elipse 15">
            <a:extLst>
              <a:ext uri="{FF2B5EF4-FFF2-40B4-BE49-F238E27FC236}">
                <a16:creationId xmlns:a16="http://schemas.microsoft.com/office/drawing/2014/main" id="{6B05064E-1602-8B5F-6A0C-94D59183A4AC}"/>
              </a:ext>
            </a:extLst>
          </p:cNvPr>
          <p:cNvSpPr/>
          <p:nvPr/>
        </p:nvSpPr>
        <p:spPr>
          <a:xfrm>
            <a:off x="58674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03</a:t>
            </a:r>
          </a:p>
        </p:txBody>
      </p:sp>
      <p:sp>
        <p:nvSpPr>
          <p:cNvPr id="17" name="CuadroTexto 16">
            <a:extLst>
              <a:ext uri="{FF2B5EF4-FFF2-40B4-BE49-F238E27FC236}">
                <a16:creationId xmlns:a16="http://schemas.microsoft.com/office/drawing/2014/main" id="{53496FB6-26E8-3C9D-F805-4A796ADD5EFC}"/>
              </a:ext>
            </a:extLst>
          </p:cNvPr>
          <p:cNvSpPr txBox="1"/>
          <p:nvPr/>
        </p:nvSpPr>
        <p:spPr>
          <a:xfrm>
            <a:off x="50800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No destructivos</a:t>
            </a:r>
          </a:p>
        </p:txBody>
      </p:sp>
      <p:sp>
        <p:nvSpPr>
          <p:cNvPr id="18" name="CuadroTexto 17">
            <a:extLst>
              <a:ext uri="{FF2B5EF4-FFF2-40B4-BE49-F238E27FC236}">
                <a16:creationId xmlns:a16="http://schemas.microsoft.com/office/drawing/2014/main" id="{C4826D3F-0C64-04B5-3A8C-DA15A41EA331}"/>
              </a:ext>
            </a:extLst>
          </p:cNvPr>
          <p:cNvSpPr txBox="1"/>
          <p:nvPr/>
        </p:nvSpPr>
        <p:spPr>
          <a:xfrm>
            <a:off x="50800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Baratos y rápidos: sirven para barrer el cien por cien y decidir dónde mirar de cerca.</a:t>
            </a:r>
            <a:endParaRPr lang="es-BO" sz="1100">
              <a:solidFill>
                <a:srgbClr val="5A5248"/>
              </a:solidFill>
              <a:latin typeface="Segoe UI" panose="020B0502040204020203" pitchFamily="34" charset="0"/>
            </a:endParaRPr>
          </a:p>
        </p:txBody>
      </p:sp>
      <p:sp>
        <p:nvSpPr>
          <p:cNvPr id="19" name="Elipse 18">
            <a:extLst>
              <a:ext uri="{FF2B5EF4-FFF2-40B4-BE49-F238E27FC236}">
                <a16:creationId xmlns:a16="http://schemas.microsoft.com/office/drawing/2014/main" id="{07595A9C-152A-7865-D8EB-334B25EBA346}"/>
              </a:ext>
            </a:extLst>
          </p:cNvPr>
          <p:cNvSpPr/>
          <p:nvPr/>
        </p:nvSpPr>
        <p:spPr>
          <a:xfrm>
            <a:off x="81026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04</a:t>
            </a:r>
          </a:p>
        </p:txBody>
      </p:sp>
      <p:sp>
        <p:nvSpPr>
          <p:cNvPr id="20" name="CuadroTexto 19">
            <a:extLst>
              <a:ext uri="{FF2B5EF4-FFF2-40B4-BE49-F238E27FC236}">
                <a16:creationId xmlns:a16="http://schemas.microsoft.com/office/drawing/2014/main" id="{8283F6AF-A433-847E-4FA5-122FDC71E3A0}"/>
              </a:ext>
            </a:extLst>
          </p:cNvPr>
          <p:cNvSpPr txBox="1"/>
          <p:nvPr/>
        </p:nvSpPr>
        <p:spPr>
          <a:xfrm>
            <a:off x="73152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Destructivos</a:t>
            </a:r>
          </a:p>
        </p:txBody>
      </p:sp>
      <p:sp>
        <p:nvSpPr>
          <p:cNvPr id="21" name="CuadroTexto 20">
            <a:extLst>
              <a:ext uri="{FF2B5EF4-FFF2-40B4-BE49-F238E27FC236}">
                <a16:creationId xmlns:a16="http://schemas.microsoft.com/office/drawing/2014/main" id="{F2BAC544-DF5D-7A73-A77B-636306C6F6B7}"/>
              </a:ext>
            </a:extLst>
          </p:cNvPr>
          <p:cNvSpPr txBox="1"/>
          <p:nvPr/>
        </p:nvSpPr>
        <p:spPr>
          <a:xfrm>
            <a:off x="73152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Caros, lentos y limitados en número. Van exactamente donde los anteriores digan.</a:t>
            </a:r>
            <a:endParaRPr lang="es-BO" sz="1100">
              <a:solidFill>
                <a:srgbClr val="5A5248"/>
              </a:solidFill>
              <a:latin typeface="Segoe UI" panose="020B0502040204020203" pitchFamily="34" charset="0"/>
            </a:endParaRPr>
          </a:p>
        </p:txBody>
      </p:sp>
      <p:sp>
        <p:nvSpPr>
          <p:cNvPr id="22" name="Elipse 21">
            <a:extLst>
              <a:ext uri="{FF2B5EF4-FFF2-40B4-BE49-F238E27FC236}">
                <a16:creationId xmlns:a16="http://schemas.microsoft.com/office/drawing/2014/main" id="{9643F966-0D76-2A0D-B669-49A2A3DC87AA}"/>
              </a:ext>
            </a:extLst>
          </p:cNvPr>
          <p:cNvSpPr/>
          <p:nvPr/>
        </p:nvSpPr>
        <p:spPr>
          <a:xfrm>
            <a:off x="103378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05</a:t>
            </a:r>
          </a:p>
        </p:txBody>
      </p:sp>
      <p:sp>
        <p:nvSpPr>
          <p:cNvPr id="23" name="CuadroTexto 22">
            <a:extLst>
              <a:ext uri="{FF2B5EF4-FFF2-40B4-BE49-F238E27FC236}">
                <a16:creationId xmlns:a16="http://schemas.microsoft.com/office/drawing/2014/main" id="{2CC6BF41-8A3C-63FD-53F1-C2F026FE5F05}"/>
              </a:ext>
            </a:extLst>
          </p:cNvPr>
          <p:cNvSpPr txBox="1"/>
          <p:nvPr/>
        </p:nvSpPr>
        <p:spPr>
          <a:xfrm>
            <a:off x="95504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El informe</a:t>
            </a:r>
          </a:p>
        </p:txBody>
      </p:sp>
      <p:sp>
        <p:nvSpPr>
          <p:cNvPr id="24" name="CuadroTexto 23">
            <a:extLst>
              <a:ext uri="{FF2B5EF4-FFF2-40B4-BE49-F238E27FC236}">
                <a16:creationId xmlns:a16="http://schemas.microsoft.com/office/drawing/2014/main" id="{915C5DCA-39A4-1E16-DDDB-0209426552EE}"/>
              </a:ext>
            </a:extLst>
          </p:cNvPr>
          <p:cNvSpPr txBox="1"/>
          <p:nvPr/>
        </p:nvSpPr>
        <p:spPr>
          <a:xfrm>
            <a:off x="95504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Hechos, interpretación, conclusiones y limitaciones, en ese orden y separados.</a:t>
            </a:r>
            <a:endParaRPr lang="es-BO" sz="1100">
              <a:solidFill>
                <a:srgbClr val="5A5248"/>
              </a:solidFill>
              <a:latin typeface="Segoe UI" panose="020B0502040204020203" pitchFamily="34" charset="0"/>
            </a:endParaRPr>
          </a:p>
        </p:txBody>
      </p:sp>
      <p:pic>
        <p:nvPicPr>
          <p:cNvPr id="26" name="Imagen 25" descr="Campaña de ensayos de lo barato a lo caro: documentación, inspección, no destructivos, testigos e informe">
            <a:extLst>
              <a:ext uri="{FF2B5EF4-FFF2-40B4-BE49-F238E27FC236}">
                <a16:creationId xmlns:a16="http://schemas.microsoft.com/office/drawing/2014/main" id="{D5D22C46-F56F-35FD-5DAF-F90E9DA20D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94200"/>
            <a:ext cx="10972800" cy="1320800"/>
          </a:xfrm>
          <a:prstGeom prst="rect">
            <a:avLst/>
          </a:prstGeom>
        </p:spPr>
      </p:pic>
      <p:sp>
        <p:nvSpPr>
          <p:cNvPr id="27" name="Rectángulo 26">
            <a:extLst>
              <a:ext uri="{FF2B5EF4-FFF2-40B4-BE49-F238E27FC236}">
                <a16:creationId xmlns:a16="http://schemas.microsoft.com/office/drawing/2014/main" id="{E267FF2A-80E2-361E-8199-54E08BBD117F}"/>
              </a:ext>
            </a:extLst>
          </p:cNvPr>
          <p:cNvSpPr/>
          <p:nvPr/>
        </p:nvSpPr>
        <p:spPr>
          <a:xfrm>
            <a:off x="609600" y="5537200"/>
            <a:ext cx="10972800" cy="6350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9" name="CuadroTexto 28">
            <a:extLst>
              <a:ext uri="{FF2B5EF4-FFF2-40B4-BE49-F238E27FC236}">
                <a16:creationId xmlns:a16="http://schemas.microsoft.com/office/drawing/2014/main" id="{4DFDB5AC-A426-F490-0F8C-42632E411CCF}"/>
              </a:ext>
            </a:extLst>
          </p:cNvPr>
          <p:cNvSpPr txBox="1"/>
          <p:nvPr/>
        </p:nvSpPr>
        <p:spPr>
          <a:xfrm>
            <a:off x="838200" y="5588000"/>
            <a:ext cx="10566400" cy="5334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Invertir el orden es el error más caro de la profesión: </a:t>
            </a:r>
            <a:r>
              <a:rPr lang="es-MX" sz="1200" b="1">
                <a:solidFill>
                  <a:srgbClr val="FFFFFF"/>
                </a:solidFill>
                <a:latin typeface="Segoe UI Semibold" panose="020B0702040204020203" pitchFamily="34" charset="0"/>
              </a:rPr>
              <a:t>se perforan testigos antes de saber dónde</a:t>
            </a:r>
            <a:r>
              <a:rPr lang="es-MX" sz="1200">
                <a:solidFill>
                  <a:srgbClr val="FFFFFF"/>
                </a:solidFill>
                <a:latin typeface="Segoe UI" panose="020B0502040204020203" pitchFamily="34" charset="0"/>
              </a:rPr>
              <a:t>, y después hay que volver a perforar porque los primeros no estaban donde importaba.</a:t>
            </a:r>
            <a:endParaRPr lang="es-BO" sz="1200">
              <a:solidFill>
                <a:srgbClr val="FFFFFF"/>
              </a:solidFill>
              <a:latin typeface="Segoe UI" panose="020B0502040204020203" pitchFamily="34" charset="0"/>
            </a:endParaRPr>
          </a:p>
        </p:txBody>
      </p:sp>
      <p:sp>
        <p:nvSpPr>
          <p:cNvPr id="30" name="CuadroTexto 29">
            <a:extLst>
              <a:ext uri="{FF2B5EF4-FFF2-40B4-BE49-F238E27FC236}">
                <a16:creationId xmlns:a16="http://schemas.microsoft.com/office/drawing/2014/main" id="{20EC7189-BDA8-219A-BA05-F71B472D36CE}"/>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562; ACI 228.2R, Nondestructive Test Methods for Evaluation of Concrete in Structures.</a:t>
            </a:r>
            <a:endParaRPr lang="es-BO" sz="700">
              <a:solidFill>
                <a:srgbClr val="938A7C"/>
              </a:solidFill>
              <a:latin typeface="Segoe UI" panose="020B0502040204020203" pitchFamily="34" charset="0"/>
            </a:endParaRPr>
          </a:p>
        </p:txBody>
      </p:sp>
      <p:cxnSp>
        <p:nvCxnSpPr>
          <p:cNvPr id="31" name="Conector recto 30">
            <a:extLst>
              <a:ext uri="{FF2B5EF4-FFF2-40B4-BE49-F238E27FC236}">
                <a16:creationId xmlns:a16="http://schemas.microsoft.com/office/drawing/2014/main" id="{98E996EF-CA08-BC3E-3F51-CB3FDAD82528}"/>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2" name="CuadroTexto 31">
            <a:extLst>
              <a:ext uri="{FF2B5EF4-FFF2-40B4-BE49-F238E27FC236}">
                <a16:creationId xmlns:a16="http://schemas.microsoft.com/office/drawing/2014/main" id="{946E7568-2F1A-C717-7CD3-6F1723AC5E52}"/>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3" name="CuadroTexto 32">
            <a:extLst>
              <a:ext uri="{FF2B5EF4-FFF2-40B4-BE49-F238E27FC236}">
                <a16:creationId xmlns:a16="http://schemas.microsoft.com/office/drawing/2014/main" id="{23463714-AB88-CCC0-9426-19CE36E5A31F}"/>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4" name="PageNo">
            <a:extLst>
              <a:ext uri="{FF2B5EF4-FFF2-40B4-BE49-F238E27FC236}">
                <a16:creationId xmlns:a16="http://schemas.microsoft.com/office/drawing/2014/main" id="{CCCA409A-6562-007A-91DA-A224E99536A3}"/>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04 / 39</a:t>
            </a:r>
          </a:p>
        </p:txBody>
      </p:sp>
    </p:spTree>
    <p:extLst>
      <p:ext uri="{BB962C8B-B14F-4D97-AF65-F5344CB8AC3E}">
        <p14:creationId xmlns:p14="http://schemas.microsoft.com/office/powerpoint/2010/main" val="1300482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368EE98-5EF3-8B9E-68BB-191FEE6944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4AAD894C-010E-9ACD-8F51-F061EBA507F6}"/>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702A440C-0712-945A-A0DC-F569F74C5FE7}"/>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22A13AE9-FEA1-8B08-7BDC-D920A50EE215}"/>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1</a:t>
            </a:r>
          </a:p>
        </p:txBody>
      </p:sp>
      <p:sp>
        <p:nvSpPr>
          <p:cNvPr id="7" name="Title">
            <a:extLst>
              <a:ext uri="{FF2B5EF4-FFF2-40B4-BE49-F238E27FC236}">
                <a16:creationId xmlns:a16="http://schemas.microsoft.com/office/drawing/2014/main" id="{1C3DADBC-50F9-1CA8-964C-5B21A67AA220}"/>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Antes de encender ningún aparato</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196A865D-0AD4-A124-83A9-25F48CED76F9}"/>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4147C158-55BE-69F4-230C-53686317EF85}"/>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La mitad del diagnóstico está en papeles que ya existen y en una mañana de recorrido.</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F782FACB-1D12-92D5-0B11-648212C21CF5}"/>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0DD3469C-8830-6BE4-FB14-351C72CD9062}"/>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La documentación</a:t>
            </a:r>
          </a:p>
        </p:txBody>
      </p:sp>
      <p:sp>
        <p:nvSpPr>
          <p:cNvPr id="12" name="Rectángulo 11">
            <a:extLst>
              <a:ext uri="{FF2B5EF4-FFF2-40B4-BE49-F238E27FC236}">
                <a16:creationId xmlns:a16="http://schemas.microsoft.com/office/drawing/2014/main" id="{F0AF95F1-85F2-6DE9-4D82-7E430ACE98B4}"/>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CF946E2B-C66F-3576-D7FF-24D37B2391D6}"/>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La visita</a:t>
            </a:r>
          </a:p>
        </p:txBody>
      </p:sp>
      <p:sp>
        <p:nvSpPr>
          <p:cNvPr id="14" name="Rectángulo 13">
            <a:extLst>
              <a:ext uri="{FF2B5EF4-FFF2-40B4-BE49-F238E27FC236}">
                <a16:creationId xmlns:a16="http://schemas.microsoft.com/office/drawing/2014/main" id="{9DBEF493-CD38-03B2-BD70-74810B11D97C}"/>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B58D6C4B-BE90-2C00-CBCD-CA721C681379}"/>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El mapeo de daños</a:t>
            </a:r>
          </a:p>
        </p:txBody>
      </p:sp>
      <p:sp>
        <p:nvSpPr>
          <p:cNvPr id="16" name="CuadroTexto 15">
            <a:extLst>
              <a:ext uri="{FF2B5EF4-FFF2-40B4-BE49-F238E27FC236}">
                <a16:creationId xmlns:a16="http://schemas.microsoft.com/office/drawing/2014/main" id="{A2FF40C0-B7FE-7AD1-F39C-7D4A5FFC762C}"/>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5 · DIAGNÓSTICO</a:t>
            </a:r>
          </a:p>
        </p:txBody>
      </p:sp>
    </p:spTree>
    <p:extLst>
      <p:ext uri="{BB962C8B-B14F-4D97-AF65-F5344CB8AC3E}">
        <p14:creationId xmlns:p14="http://schemas.microsoft.com/office/powerpoint/2010/main" val="1283109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F572EB4-802A-114D-DFB6-D3FCAD868336}"/>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1 · EL PROCESO DE ACI 562</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765210D-7E22-67D9-BD1A-ABAD98F54030}"/>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El proceso de evaluación, en el orden en que se ejecuta</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E5DD5B08-F9BC-ACEB-F831-DB6594A91AD2}"/>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esquinas redondeadas 5">
            <a:extLst>
              <a:ext uri="{FF2B5EF4-FFF2-40B4-BE49-F238E27FC236}">
                <a16:creationId xmlns:a16="http://schemas.microsoft.com/office/drawing/2014/main" id="{CBCDF31A-7B2F-5A57-C812-97A8F90754FD}"/>
              </a:ext>
            </a:extLst>
          </p:cNvPr>
          <p:cNvSpPr/>
          <p:nvPr/>
        </p:nvSpPr>
        <p:spPr>
          <a:xfrm>
            <a:off x="609600" y="1498600"/>
            <a:ext cx="2133600" cy="2997200"/>
          </a:xfrm>
          <a:prstGeom prst="roundRect">
            <a:avLst>
              <a:gd name="adj" fmla="val 6000"/>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Elipse 6">
            <a:extLst>
              <a:ext uri="{FF2B5EF4-FFF2-40B4-BE49-F238E27FC236}">
                <a16:creationId xmlns:a16="http://schemas.microsoft.com/office/drawing/2014/main" id="{6C8CD5BB-F1F6-555D-C37B-447063F004F2}"/>
              </a:ext>
            </a:extLst>
          </p:cNvPr>
          <p:cNvSpPr/>
          <p:nvPr/>
        </p:nvSpPr>
        <p:spPr>
          <a:xfrm>
            <a:off x="1676400" y="1803400"/>
            <a:ext cx="381000" cy="3810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00">
                <a:solidFill>
                  <a:srgbClr val="1C1813"/>
                </a:solidFill>
                <a:latin typeface="Bahnschrift SemiBold" panose="020B0502040204020203" pitchFamily="34" charset="0"/>
              </a:rPr>
              <a:t>01</a:t>
            </a:r>
          </a:p>
        </p:txBody>
      </p:sp>
      <p:sp>
        <p:nvSpPr>
          <p:cNvPr id="8" name="CuadroTexto 7">
            <a:extLst>
              <a:ext uri="{FF2B5EF4-FFF2-40B4-BE49-F238E27FC236}">
                <a16:creationId xmlns:a16="http://schemas.microsoft.com/office/drawing/2014/main" id="{89070A2E-A0CA-A9D6-C048-894D58DCC0B6}"/>
              </a:ext>
            </a:extLst>
          </p:cNvPr>
          <p:cNvSpPr txBox="1"/>
          <p:nvPr/>
        </p:nvSpPr>
        <p:spPr>
          <a:xfrm>
            <a:off x="762000" y="2235200"/>
            <a:ext cx="1828800" cy="508000"/>
          </a:xfrm>
          <a:prstGeom prst="rect">
            <a:avLst/>
          </a:prstGeom>
          <a:noFill/>
        </p:spPr>
        <p:txBody>
          <a:bodyPr vert="horz" wrap="square" lIns="0" tIns="0" rIns="0" bIns="0" rtlCol="0" anchor="t">
            <a:noAutofit/>
          </a:bodyPr>
          <a:lstStyle/>
          <a:p>
            <a:pPr algn="ctr"/>
            <a:r>
              <a:rPr lang="es-BO" sz="1150">
                <a:solidFill>
                  <a:srgbClr val="1C1813"/>
                </a:solidFill>
                <a:latin typeface="Bahnschrift SemiBold" panose="020B0502040204020203" pitchFamily="34" charset="0"/>
              </a:rPr>
              <a:t>Evaluación preliminar</a:t>
            </a:r>
          </a:p>
        </p:txBody>
      </p:sp>
      <p:sp>
        <p:nvSpPr>
          <p:cNvPr id="9" name="CuadroTexto 8">
            <a:extLst>
              <a:ext uri="{FF2B5EF4-FFF2-40B4-BE49-F238E27FC236}">
                <a16:creationId xmlns:a16="http://schemas.microsoft.com/office/drawing/2014/main" id="{A81359CA-A20B-1EE2-5633-51D8A6B7DE24}"/>
              </a:ext>
            </a:extLst>
          </p:cNvPr>
          <p:cNvSpPr txBox="1"/>
          <p:nvPr/>
        </p:nvSpPr>
        <p:spPr>
          <a:xfrm>
            <a:off x="762000" y="2768600"/>
            <a:ext cx="1828800" cy="15494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Documentación disponible, historia de la obra, inspección visual y definición del alcance.</a:t>
            </a:r>
            <a:endParaRPr lang="es-BO" sz="1100">
              <a:solidFill>
                <a:srgbClr val="5A5248"/>
              </a:solidFill>
              <a:latin typeface="Segoe UI" panose="020B0502040204020203" pitchFamily="34" charset="0"/>
            </a:endParaRPr>
          </a:p>
        </p:txBody>
      </p:sp>
      <p:sp>
        <p:nvSpPr>
          <p:cNvPr id="10" name="Rectángulo: esquinas redondeadas 9">
            <a:extLst>
              <a:ext uri="{FF2B5EF4-FFF2-40B4-BE49-F238E27FC236}">
                <a16:creationId xmlns:a16="http://schemas.microsoft.com/office/drawing/2014/main" id="{07AB6742-CD96-B816-A7F1-93CC0F100C36}"/>
              </a:ext>
            </a:extLst>
          </p:cNvPr>
          <p:cNvSpPr/>
          <p:nvPr/>
        </p:nvSpPr>
        <p:spPr>
          <a:xfrm>
            <a:off x="2844800" y="1498600"/>
            <a:ext cx="2133600" cy="2997200"/>
          </a:xfrm>
          <a:prstGeom prst="roundRect">
            <a:avLst>
              <a:gd name="adj" fmla="val 6000"/>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Elipse 10">
            <a:extLst>
              <a:ext uri="{FF2B5EF4-FFF2-40B4-BE49-F238E27FC236}">
                <a16:creationId xmlns:a16="http://schemas.microsoft.com/office/drawing/2014/main" id="{A476ED30-59DA-D1C6-D4FF-5F5148B44DE7}"/>
              </a:ext>
            </a:extLst>
          </p:cNvPr>
          <p:cNvSpPr/>
          <p:nvPr/>
        </p:nvSpPr>
        <p:spPr>
          <a:xfrm>
            <a:off x="3911600" y="1803400"/>
            <a:ext cx="381000" cy="3810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00">
                <a:solidFill>
                  <a:srgbClr val="1C1813"/>
                </a:solidFill>
                <a:latin typeface="Bahnschrift SemiBold" panose="020B0502040204020203" pitchFamily="34" charset="0"/>
              </a:rPr>
              <a:t>02</a:t>
            </a:r>
          </a:p>
        </p:txBody>
      </p:sp>
      <p:sp>
        <p:nvSpPr>
          <p:cNvPr id="12" name="CuadroTexto 11">
            <a:extLst>
              <a:ext uri="{FF2B5EF4-FFF2-40B4-BE49-F238E27FC236}">
                <a16:creationId xmlns:a16="http://schemas.microsoft.com/office/drawing/2014/main" id="{1C861B49-544B-956B-BBE8-9BDE43A59F00}"/>
              </a:ext>
            </a:extLst>
          </p:cNvPr>
          <p:cNvSpPr txBox="1"/>
          <p:nvPr/>
        </p:nvSpPr>
        <p:spPr>
          <a:xfrm>
            <a:off x="2997200" y="2235200"/>
            <a:ext cx="1828800" cy="508000"/>
          </a:xfrm>
          <a:prstGeom prst="rect">
            <a:avLst/>
          </a:prstGeom>
          <a:noFill/>
        </p:spPr>
        <p:txBody>
          <a:bodyPr vert="horz" wrap="square" lIns="0" tIns="0" rIns="0" bIns="0" rtlCol="0" anchor="t">
            <a:noAutofit/>
          </a:bodyPr>
          <a:lstStyle/>
          <a:p>
            <a:pPr algn="ctr"/>
            <a:r>
              <a:rPr lang="es-BO" sz="1150">
                <a:solidFill>
                  <a:srgbClr val="1C1813"/>
                </a:solidFill>
                <a:latin typeface="Bahnschrift SemiBold" panose="020B0502040204020203" pitchFamily="34" charset="0"/>
              </a:rPr>
              <a:t>Investigación</a:t>
            </a:r>
          </a:p>
        </p:txBody>
      </p:sp>
      <p:sp>
        <p:nvSpPr>
          <p:cNvPr id="13" name="CuadroTexto 12">
            <a:extLst>
              <a:ext uri="{FF2B5EF4-FFF2-40B4-BE49-F238E27FC236}">
                <a16:creationId xmlns:a16="http://schemas.microsoft.com/office/drawing/2014/main" id="{AA965640-4BA3-3676-BB77-FE5530E2DD64}"/>
              </a:ext>
            </a:extLst>
          </p:cNvPr>
          <p:cNvSpPr txBox="1"/>
          <p:nvPr/>
        </p:nvSpPr>
        <p:spPr>
          <a:xfrm>
            <a:off x="2997200" y="2768600"/>
            <a:ext cx="1828800" cy="15494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Ensayos no destructivos y destructivos, propiedades reales de los materiales, geometría verificada.</a:t>
            </a:r>
            <a:endParaRPr lang="es-BO" sz="1100">
              <a:solidFill>
                <a:srgbClr val="5A5248"/>
              </a:solidFill>
              <a:latin typeface="Segoe UI" panose="020B0502040204020203" pitchFamily="34" charset="0"/>
            </a:endParaRPr>
          </a:p>
        </p:txBody>
      </p:sp>
      <p:sp>
        <p:nvSpPr>
          <p:cNvPr id="14" name="Rectángulo: esquinas redondeadas 13">
            <a:extLst>
              <a:ext uri="{FF2B5EF4-FFF2-40B4-BE49-F238E27FC236}">
                <a16:creationId xmlns:a16="http://schemas.microsoft.com/office/drawing/2014/main" id="{5829DFF7-A829-6A2E-2D21-0E434031AB78}"/>
              </a:ext>
            </a:extLst>
          </p:cNvPr>
          <p:cNvSpPr/>
          <p:nvPr/>
        </p:nvSpPr>
        <p:spPr>
          <a:xfrm>
            <a:off x="5080000" y="1498600"/>
            <a:ext cx="2133600" cy="2997200"/>
          </a:xfrm>
          <a:prstGeom prst="roundRect">
            <a:avLst>
              <a:gd name="adj" fmla="val 6000"/>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Elipse 14">
            <a:extLst>
              <a:ext uri="{FF2B5EF4-FFF2-40B4-BE49-F238E27FC236}">
                <a16:creationId xmlns:a16="http://schemas.microsoft.com/office/drawing/2014/main" id="{43617B35-3D72-D5D6-F864-4FDA8A1E259E}"/>
              </a:ext>
            </a:extLst>
          </p:cNvPr>
          <p:cNvSpPr/>
          <p:nvPr/>
        </p:nvSpPr>
        <p:spPr>
          <a:xfrm>
            <a:off x="6146800" y="1803400"/>
            <a:ext cx="381000" cy="3810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00">
                <a:solidFill>
                  <a:srgbClr val="1C1813"/>
                </a:solidFill>
                <a:latin typeface="Bahnschrift SemiBold" panose="020B0502040204020203" pitchFamily="34" charset="0"/>
              </a:rPr>
              <a:t>03</a:t>
            </a:r>
          </a:p>
        </p:txBody>
      </p:sp>
      <p:sp>
        <p:nvSpPr>
          <p:cNvPr id="16" name="CuadroTexto 15">
            <a:extLst>
              <a:ext uri="{FF2B5EF4-FFF2-40B4-BE49-F238E27FC236}">
                <a16:creationId xmlns:a16="http://schemas.microsoft.com/office/drawing/2014/main" id="{370D5BF0-5F80-D130-6C42-0E1325056D5B}"/>
              </a:ext>
            </a:extLst>
          </p:cNvPr>
          <p:cNvSpPr txBox="1"/>
          <p:nvPr/>
        </p:nvSpPr>
        <p:spPr>
          <a:xfrm>
            <a:off x="5232400" y="2235200"/>
            <a:ext cx="1828800" cy="508000"/>
          </a:xfrm>
          <a:prstGeom prst="rect">
            <a:avLst/>
          </a:prstGeom>
          <a:noFill/>
        </p:spPr>
        <p:txBody>
          <a:bodyPr vert="horz" wrap="square" lIns="0" tIns="0" rIns="0" bIns="0" rtlCol="0" anchor="t">
            <a:noAutofit/>
          </a:bodyPr>
          <a:lstStyle/>
          <a:p>
            <a:pPr algn="ctr"/>
            <a:r>
              <a:rPr lang="es-BO" sz="1150">
                <a:solidFill>
                  <a:srgbClr val="1C1813"/>
                </a:solidFill>
                <a:latin typeface="Bahnschrift SemiBold" panose="020B0502040204020203" pitchFamily="34" charset="0"/>
              </a:rPr>
              <a:t>Determinación de causas</a:t>
            </a:r>
          </a:p>
        </p:txBody>
      </p:sp>
      <p:sp>
        <p:nvSpPr>
          <p:cNvPr id="17" name="CuadroTexto 16">
            <a:extLst>
              <a:ext uri="{FF2B5EF4-FFF2-40B4-BE49-F238E27FC236}">
                <a16:creationId xmlns:a16="http://schemas.microsoft.com/office/drawing/2014/main" id="{E1153BD8-5615-A708-B429-B889E9D436D4}"/>
              </a:ext>
            </a:extLst>
          </p:cNvPr>
          <p:cNvSpPr txBox="1"/>
          <p:nvPr/>
        </p:nvSpPr>
        <p:spPr>
          <a:xfrm>
            <a:off x="5232400" y="2768600"/>
            <a:ext cx="1828800" cy="15494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Se establece el mecanismo y su causa, con la evidencia que lo respalda.</a:t>
            </a:r>
            <a:endParaRPr lang="es-BO" sz="1100">
              <a:solidFill>
                <a:srgbClr val="5A5248"/>
              </a:solidFill>
              <a:latin typeface="Segoe UI" panose="020B0502040204020203" pitchFamily="34" charset="0"/>
            </a:endParaRPr>
          </a:p>
        </p:txBody>
      </p:sp>
      <p:sp>
        <p:nvSpPr>
          <p:cNvPr id="18" name="Rectángulo: esquinas redondeadas 17">
            <a:extLst>
              <a:ext uri="{FF2B5EF4-FFF2-40B4-BE49-F238E27FC236}">
                <a16:creationId xmlns:a16="http://schemas.microsoft.com/office/drawing/2014/main" id="{4CC80012-8B95-8E47-AB9B-A2DAAD398C2E}"/>
              </a:ext>
            </a:extLst>
          </p:cNvPr>
          <p:cNvSpPr/>
          <p:nvPr/>
        </p:nvSpPr>
        <p:spPr>
          <a:xfrm>
            <a:off x="7315200" y="1498600"/>
            <a:ext cx="2133600" cy="2997200"/>
          </a:xfrm>
          <a:prstGeom prst="roundRect">
            <a:avLst>
              <a:gd name="adj" fmla="val 6000"/>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Elipse 18">
            <a:extLst>
              <a:ext uri="{FF2B5EF4-FFF2-40B4-BE49-F238E27FC236}">
                <a16:creationId xmlns:a16="http://schemas.microsoft.com/office/drawing/2014/main" id="{B0B9391A-5A2F-62D2-EF91-CFC2B52CE483}"/>
              </a:ext>
            </a:extLst>
          </p:cNvPr>
          <p:cNvSpPr/>
          <p:nvPr/>
        </p:nvSpPr>
        <p:spPr>
          <a:xfrm>
            <a:off x="8382000" y="1803400"/>
            <a:ext cx="381000" cy="3810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00">
                <a:solidFill>
                  <a:srgbClr val="1C1813"/>
                </a:solidFill>
                <a:latin typeface="Bahnschrift SemiBold" panose="020B0502040204020203" pitchFamily="34" charset="0"/>
              </a:rPr>
              <a:t>04</a:t>
            </a:r>
          </a:p>
        </p:txBody>
      </p:sp>
      <p:sp>
        <p:nvSpPr>
          <p:cNvPr id="20" name="CuadroTexto 19">
            <a:extLst>
              <a:ext uri="{FF2B5EF4-FFF2-40B4-BE49-F238E27FC236}">
                <a16:creationId xmlns:a16="http://schemas.microsoft.com/office/drawing/2014/main" id="{59964479-E661-D86A-5358-BE9D38A2A3E5}"/>
              </a:ext>
            </a:extLst>
          </p:cNvPr>
          <p:cNvSpPr txBox="1"/>
          <p:nvPr/>
        </p:nvSpPr>
        <p:spPr>
          <a:xfrm>
            <a:off x="7467600" y="2235200"/>
            <a:ext cx="1828800" cy="508000"/>
          </a:xfrm>
          <a:prstGeom prst="rect">
            <a:avLst/>
          </a:prstGeom>
          <a:noFill/>
        </p:spPr>
        <p:txBody>
          <a:bodyPr vert="horz" wrap="square" lIns="0" tIns="0" rIns="0" bIns="0" rtlCol="0" anchor="t">
            <a:noAutofit/>
          </a:bodyPr>
          <a:lstStyle/>
          <a:p>
            <a:pPr algn="ctr"/>
            <a:r>
              <a:rPr lang="es-BO" sz="1150">
                <a:solidFill>
                  <a:srgbClr val="1C1813"/>
                </a:solidFill>
                <a:latin typeface="Bahnschrift SemiBold" panose="020B0502040204020203" pitchFamily="34" charset="0"/>
              </a:rPr>
              <a:t>Evaluación estructural</a:t>
            </a:r>
          </a:p>
        </p:txBody>
      </p:sp>
      <p:sp>
        <p:nvSpPr>
          <p:cNvPr id="21" name="CuadroTexto 20">
            <a:extLst>
              <a:ext uri="{FF2B5EF4-FFF2-40B4-BE49-F238E27FC236}">
                <a16:creationId xmlns:a16="http://schemas.microsoft.com/office/drawing/2014/main" id="{BBDE2453-9622-548B-025D-675D0C3E91B6}"/>
              </a:ext>
            </a:extLst>
          </p:cNvPr>
          <p:cNvSpPr txBox="1"/>
          <p:nvPr/>
        </p:nvSpPr>
        <p:spPr>
          <a:xfrm>
            <a:off x="7467600" y="2768600"/>
            <a:ext cx="1828800" cy="15494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Capacidad residual frente a la demanda actual, con las propiedades medidas.</a:t>
            </a:r>
            <a:endParaRPr lang="es-BO" sz="1100">
              <a:solidFill>
                <a:srgbClr val="5A5248"/>
              </a:solidFill>
              <a:latin typeface="Segoe UI" panose="020B0502040204020203" pitchFamily="34" charset="0"/>
            </a:endParaRPr>
          </a:p>
        </p:txBody>
      </p:sp>
      <p:sp>
        <p:nvSpPr>
          <p:cNvPr id="22" name="Rectángulo: esquinas redondeadas 21">
            <a:extLst>
              <a:ext uri="{FF2B5EF4-FFF2-40B4-BE49-F238E27FC236}">
                <a16:creationId xmlns:a16="http://schemas.microsoft.com/office/drawing/2014/main" id="{ADA2CB34-FDC4-9E08-0C68-06939007CA9F}"/>
              </a:ext>
            </a:extLst>
          </p:cNvPr>
          <p:cNvSpPr/>
          <p:nvPr/>
        </p:nvSpPr>
        <p:spPr>
          <a:xfrm>
            <a:off x="9550400" y="1498600"/>
            <a:ext cx="2133600" cy="2997200"/>
          </a:xfrm>
          <a:prstGeom prst="roundRect">
            <a:avLst>
              <a:gd name="adj" fmla="val 6000"/>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Elipse 22">
            <a:extLst>
              <a:ext uri="{FF2B5EF4-FFF2-40B4-BE49-F238E27FC236}">
                <a16:creationId xmlns:a16="http://schemas.microsoft.com/office/drawing/2014/main" id="{3BC5E5CF-F378-5466-0064-0E1A56E79B47}"/>
              </a:ext>
            </a:extLst>
          </p:cNvPr>
          <p:cNvSpPr/>
          <p:nvPr/>
        </p:nvSpPr>
        <p:spPr>
          <a:xfrm>
            <a:off x="10617200" y="1803400"/>
            <a:ext cx="381000" cy="3810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00">
                <a:solidFill>
                  <a:srgbClr val="1C1813"/>
                </a:solidFill>
                <a:latin typeface="Bahnschrift SemiBold" panose="020B0502040204020203" pitchFamily="34" charset="0"/>
              </a:rPr>
              <a:t>05</a:t>
            </a:r>
          </a:p>
        </p:txBody>
      </p:sp>
      <p:sp>
        <p:nvSpPr>
          <p:cNvPr id="24" name="CuadroTexto 23">
            <a:extLst>
              <a:ext uri="{FF2B5EF4-FFF2-40B4-BE49-F238E27FC236}">
                <a16:creationId xmlns:a16="http://schemas.microsoft.com/office/drawing/2014/main" id="{755DFC08-1452-511C-7252-08E6096FEE18}"/>
              </a:ext>
            </a:extLst>
          </p:cNvPr>
          <p:cNvSpPr txBox="1"/>
          <p:nvPr/>
        </p:nvSpPr>
        <p:spPr>
          <a:xfrm>
            <a:off x="9702800" y="2235200"/>
            <a:ext cx="1828800" cy="508000"/>
          </a:xfrm>
          <a:prstGeom prst="rect">
            <a:avLst/>
          </a:prstGeom>
          <a:noFill/>
        </p:spPr>
        <p:txBody>
          <a:bodyPr vert="horz" wrap="square" lIns="0" tIns="0" rIns="0" bIns="0" rtlCol="0" anchor="t">
            <a:noAutofit/>
          </a:bodyPr>
          <a:lstStyle/>
          <a:p>
            <a:pPr algn="ctr"/>
            <a:r>
              <a:rPr lang="es-BO" sz="1150">
                <a:solidFill>
                  <a:srgbClr val="1C1813"/>
                </a:solidFill>
                <a:latin typeface="Bahnschrift SemiBold" panose="020B0502040204020203" pitchFamily="34" charset="0"/>
              </a:rPr>
              <a:t>Decisión y proyecto</a:t>
            </a:r>
          </a:p>
        </p:txBody>
      </p:sp>
      <p:sp>
        <p:nvSpPr>
          <p:cNvPr id="25" name="CuadroTexto 24">
            <a:extLst>
              <a:ext uri="{FF2B5EF4-FFF2-40B4-BE49-F238E27FC236}">
                <a16:creationId xmlns:a16="http://schemas.microsoft.com/office/drawing/2014/main" id="{8988B069-B9FD-424B-0201-1EDE32A77EFB}"/>
              </a:ext>
            </a:extLst>
          </p:cNvPr>
          <p:cNvSpPr txBox="1"/>
          <p:nvPr/>
        </p:nvSpPr>
        <p:spPr>
          <a:xfrm>
            <a:off x="9702800" y="2768600"/>
            <a:ext cx="1828800" cy="15494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Reparar, reforzar, limitar el uso o demoler. Con criterios de aceptación declarados.</a:t>
            </a:r>
            <a:endParaRPr lang="es-BO" sz="1100">
              <a:solidFill>
                <a:srgbClr val="5A5248"/>
              </a:solidFill>
              <a:latin typeface="Segoe UI" panose="020B0502040204020203" pitchFamily="34" charset="0"/>
            </a:endParaRPr>
          </a:p>
        </p:txBody>
      </p:sp>
      <p:sp>
        <p:nvSpPr>
          <p:cNvPr id="26" name="Rectángulo 25">
            <a:extLst>
              <a:ext uri="{FF2B5EF4-FFF2-40B4-BE49-F238E27FC236}">
                <a16:creationId xmlns:a16="http://schemas.microsoft.com/office/drawing/2014/main" id="{8B82660C-6F37-84F0-F672-675FEB33A276}"/>
              </a:ext>
            </a:extLst>
          </p:cNvPr>
          <p:cNvSpPr/>
          <p:nvPr/>
        </p:nvSpPr>
        <p:spPr>
          <a:xfrm>
            <a:off x="609600" y="4749800"/>
            <a:ext cx="10972800" cy="7366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8" name="CuadroTexto 27">
            <a:extLst>
              <a:ext uri="{FF2B5EF4-FFF2-40B4-BE49-F238E27FC236}">
                <a16:creationId xmlns:a16="http://schemas.microsoft.com/office/drawing/2014/main" id="{1ED08B7E-3A6F-C4A7-9CA9-30F528600420}"/>
              </a:ext>
            </a:extLst>
          </p:cNvPr>
          <p:cNvSpPr txBox="1"/>
          <p:nvPr/>
        </p:nvSpPr>
        <p:spPr>
          <a:xfrm>
            <a:off x="838200" y="4800600"/>
            <a:ext cx="10566400" cy="6350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El paso 3 es el que separa un informe técnico de una lista de daños. </a:t>
            </a:r>
            <a:r>
              <a:rPr lang="es-MX" sz="1200" b="1">
                <a:solidFill>
                  <a:srgbClr val="FFFFFF"/>
                </a:solidFill>
                <a:latin typeface="Segoe UI Semibold" panose="020B0702040204020203" pitchFamily="34" charset="0"/>
              </a:rPr>
              <a:t>ACI 562 no permite saltar de la inspección a la reparación</a:t>
            </a:r>
            <a:r>
              <a:rPr lang="es-MX" sz="1200">
                <a:solidFill>
                  <a:srgbClr val="FFFFFF"/>
                </a:solidFill>
                <a:latin typeface="Segoe UI" panose="020B0502040204020203" pitchFamily="34" charset="0"/>
              </a:rPr>
              <a:t>: exige establecer la causa.</a:t>
            </a:r>
            <a:endParaRPr lang="es-BO" sz="1200">
              <a:solidFill>
                <a:srgbClr val="FFFFFF"/>
              </a:solidFill>
              <a:latin typeface="Segoe UI" panose="020B0502040204020203" pitchFamily="34" charset="0"/>
            </a:endParaRPr>
          </a:p>
        </p:txBody>
      </p:sp>
      <p:sp>
        <p:nvSpPr>
          <p:cNvPr id="29" name="CuadroTexto 28">
            <a:extLst>
              <a:ext uri="{FF2B5EF4-FFF2-40B4-BE49-F238E27FC236}">
                <a16:creationId xmlns:a16="http://schemas.microsoft.com/office/drawing/2014/main" id="{9A562CEA-09E9-AE68-F3D1-A8793C55004A}"/>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CODE-562-25, Assessment, Repair, and Rehabilitation of Existing Concrete Structures.</a:t>
            </a:r>
            <a:endParaRPr lang="es-BO" sz="700">
              <a:solidFill>
                <a:srgbClr val="938A7C"/>
              </a:solidFill>
              <a:latin typeface="Segoe UI" panose="020B0502040204020203" pitchFamily="34" charset="0"/>
            </a:endParaRPr>
          </a:p>
        </p:txBody>
      </p:sp>
      <p:cxnSp>
        <p:nvCxnSpPr>
          <p:cNvPr id="30" name="Conector recto 29">
            <a:extLst>
              <a:ext uri="{FF2B5EF4-FFF2-40B4-BE49-F238E27FC236}">
                <a16:creationId xmlns:a16="http://schemas.microsoft.com/office/drawing/2014/main" id="{352F59DD-1C96-E7F7-08C1-3F26EAC1C87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46AE63A9-FEC1-E92A-C94D-248A85329FED}"/>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2" name="CuadroTexto 31">
            <a:extLst>
              <a:ext uri="{FF2B5EF4-FFF2-40B4-BE49-F238E27FC236}">
                <a16:creationId xmlns:a16="http://schemas.microsoft.com/office/drawing/2014/main" id="{FD4B366B-50CA-8F33-A291-F79DB12DBD53}"/>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3" name="PageNo">
            <a:extLst>
              <a:ext uri="{FF2B5EF4-FFF2-40B4-BE49-F238E27FC236}">
                <a16:creationId xmlns:a16="http://schemas.microsoft.com/office/drawing/2014/main" id="{9540E7E3-53A5-082A-F9E6-F27902B81D4F}"/>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06 / 39</a:t>
            </a:r>
          </a:p>
        </p:txBody>
      </p:sp>
    </p:spTree>
    <p:extLst>
      <p:ext uri="{BB962C8B-B14F-4D97-AF65-F5344CB8AC3E}">
        <p14:creationId xmlns:p14="http://schemas.microsoft.com/office/powerpoint/2010/main" val="3711579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1F31308-B288-B965-1D68-6C427EA88C23}"/>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1 · LA DOCUMENTACIÓN</a:t>
            </a:r>
          </a:p>
        </p:txBody>
      </p:sp>
      <p:sp>
        <p:nvSpPr>
          <p:cNvPr id="3" name="Title">
            <a:extLst>
              <a:ext uri="{FF2B5EF4-FFF2-40B4-BE49-F238E27FC236}">
                <a16:creationId xmlns:a16="http://schemas.microsoft.com/office/drawing/2014/main" id="{9C22B8D5-93CF-124B-F784-454DC7AE7B30}"/>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Seis papeles que valen más que el primer ensayo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C74AFCCF-53FA-78A0-C7F5-4D6C607822D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C907554A-36A5-7EB7-8700-CF4D16F66000}"/>
              </a:ext>
            </a:extLst>
          </p:cNvPr>
          <p:cNvGraphicFramePr>
            <a:graphicFrameLocks noGrp="1"/>
          </p:cNvGraphicFramePr>
          <p:nvPr>
            <p:extLst>
              <p:ext uri="{D42A27DB-BD31-4B8C-83A1-F6EECF244321}">
                <p14:modId xmlns:p14="http://schemas.microsoft.com/office/powerpoint/2010/main" val="161964003"/>
              </p:ext>
            </p:extLst>
          </p:nvPr>
        </p:nvGraphicFramePr>
        <p:xfrm>
          <a:off x="609600" y="1422400"/>
          <a:ext cx="6299200" cy="340360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2844092308"/>
                    </a:ext>
                  </a:extLst>
                </a:gridCol>
                <a:gridCol w="2717800">
                  <a:extLst>
                    <a:ext uri="{9D8B030D-6E8A-4147-A177-3AD203B41FA5}">
                      <a16:colId xmlns:a16="http://schemas.microsoft.com/office/drawing/2014/main" val="737155304"/>
                    </a:ext>
                  </a:extLst>
                </a:gridCol>
                <a:gridCol w="2184400">
                  <a:extLst>
                    <a:ext uri="{9D8B030D-6E8A-4147-A177-3AD203B41FA5}">
                      <a16:colId xmlns:a16="http://schemas.microsoft.com/office/drawing/2014/main" val="2330314041"/>
                    </a:ext>
                  </a:extLst>
                </a:gridCol>
              </a:tblGrid>
              <a:tr h="486229">
                <a:tc>
                  <a:txBody>
                    <a:bodyPr/>
                    <a:lstStyle/>
                    <a:p>
                      <a:pPr algn="ctr"/>
                      <a:r>
                        <a:rPr lang="es-BO" sz="900" b="0">
                          <a:solidFill>
                            <a:srgbClr val="FFFFFF"/>
                          </a:solidFill>
                          <a:latin typeface="Segoe UI Semibold" panose="020B0702040204020203" pitchFamily="34" charset="0"/>
                        </a:rPr>
                        <a:t>Documento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MX" sz="900" b="0">
                          <a:solidFill>
                            <a:srgbClr val="FFFFFF"/>
                          </a:solidFill>
                          <a:latin typeface="Segoe UI Semibold" panose="020B0702040204020203" pitchFamily="34" charset="0"/>
                        </a:rPr>
                        <a:t>Qué se saca de él</a:t>
                      </a:r>
                      <a:endParaRPr lang="es-BO" sz="900" b="0">
                        <a:solidFill>
                          <a:srgbClr val="FFFFFF"/>
                        </a:solidFill>
                        <a:latin typeface="Segoe UI Semibold" panose="020B07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Si no existe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1457268866"/>
                  </a:ext>
                </a:extLst>
              </a:tr>
              <a:tr h="486229">
                <a:tc>
                  <a:txBody>
                    <a:bodyPr/>
                    <a:lstStyle/>
                    <a:p>
                      <a:pPr algn="ctr"/>
                      <a:r>
                        <a:rPr lang="es-BO" sz="950" b="0">
                          <a:solidFill>
                            <a:srgbClr val="1C1813"/>
                          </a:solidFill>
                          <a:latin typeface="Segoe UI Semibold" panose="020B0702040204020203" pitchFamily="34" charset="0"/>
                        </a:rPr>
                        <a:t>Planos estructurales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Geometría, armado previsto, recubrimientos de proyecto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Levantamiento y pacómetro: todo pasa a medirse</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208482233"/>
                  </a:ext>
                </a:extLst>
              </a:tr>
              <a:tr h="486229">
                <a:tc>
                  <a:txBody>
                    <a:bodyPr/>
                    <a:lstStyle/>
                    <a:p>
                      <a:pPr algn="ctr"/>
                      <a:r>
                        <a:rPr lang="es-BO" sz="950" b="0">
                          <a:solidFill>
                            <a:srgbClr val="1C1813"/>
                          </a:solidFill>
                          <a:latin typeface="Segoe UI Semibold" panose="020B0702040204020203" pitchFamily="34" charset="0"/>
                        </a:rPr>
                        <a:t>Memoria de cálculo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Hipótesis de carga, código aplicado, criterio del proyectista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Se recalcula con el criterio vigente y se declara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016828884"/>
                  </a:ext>
                </a:extLst>
              </a:tr>
              <a:tr h="486229">
                <a:tc>
                  <a:txBody>
                    <a:bodyPr/>
                    <a:lstStyle/>
                    <a:p>
                      <a:pPr algn="ctr"/>
                      <a:r>
                        <a:rPr lang="es-BO" sz="950" b="0">
                          <a:solidFill>
                            <a:srgbClr val="1C1813"/>
                          </a:solidFill>
                          <a:latin typeface="Segoe UI Semibold" panose="020B0702040204020203" pitchFamily="34" charset="0"/>
                        </a:rPr>
                        <a:t>Estudio de suelos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Capacidad portante, nivel freático, sulfatos del terreno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Hay que repetirlo: es barato y condiciona la clase 7</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527676726"/>
                  </a:ext>
                </a:extLst>
              </a:tr>
              <a:tr h="486229">
                <a:tc>
                  <a:txBody>
                    <a:bodyPr/>
                    <a:lstStyle/>
                    <a:p>
                      <a:pPr algn="ctr"/>
                      <a:r>
                        <a:rPr lang="es-BO" sz="950" b="0">
                          <a:solidFill>
                            <a:srgbClr val="1C1813"/>
                          </a:solidFill>
                          <a:latin typeface="Segoe UI Semibold" panose="020B0702040204020203" pitchFamily="34" charset="0"/>
                        </a:rPr>
                        <a:t>Historia de usos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Cambios de uso, ampliaciones, zonas nuevas de proceso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Entrevista al personal más antiguo de la planta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473438495"/>
                  </a:ext>
                </a:extLst>
              </a:tr>
              <a:tr h="486229">
                <a:tc>
                  <a:txBody>
                    <a:bodyPr/>
                    <a:lstStyle/>
                    <a:p>
                      <a:pPr algn="ctr"/>
                      <a:r>
                        <a:rPr lang="es-BO" sz="950" b="0">
                          <a:solidFill>
                            <a:srgbClr val="1C1813"/>
                          </a:solidFill>
                          <a:latin typeface="Segoe UI Semibold" panose="020B0702040204020203" pitchFamily="34" charset="0"/>
                        </a:rPr>
                        <a:t>Partes de incidencias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Fugas, inundaciones, impactos, reparaciones previas</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Se busca en facturas de mantenimiento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741639176"/>
                  </a:ext>
                </a:extLst>
              </a:tr>
              <a:tr h="486229">
                <a:tc>
                  <a:txBody>
                    <a:bodyPr/>
                    <a:lstStyle/>
                    <a:p>
                      <a:pPr algn="ctr"/>
                      <a:r>
                        <a:rPr lang="es-BO" sz="950" b="0">
                          <a:solidFill>
                            <a:srgbClr val="1C1813"/>
                          </a:solidFill>
                          <a:latin typeface="Segoe UI Semibold" panose="020B0702040204020203" pitchFamily="34" charset="0"/>
                        </a:rPr>
                        <a:t>Reparaciones anteriores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Qué se hizo, con qué producto y por qué volvió a fallar</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Se identifica en obra: el parche se distingue siempre</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243464005"/>
                  </a:ext>
                </a:extLst>
              </a:tr>
            </a:tbl>
          </a:graphicData>
        </a:graphic>
      </p:graphicFrame>
      <p:pic>
        <p:nvPicPr>
          <p:cNvPr id="8" name="Imagen 7">
            <a:extLst>
              <a:ext uri="{FF2B5EF4-FFF2-40B4-BE49-F238E27FC236}">
                <a16:creationId xmlns:a16="http://schemas.microsoft.com/office/drawing/2014/main" id="{34D08F14-16C7-420B-6F21-D9E35FABB24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0" y="1422400"/>
            <a:ext cx="4470400" cy="3403600"/>
          </a:xfrm>
          <a:prstGeom prst="rect">
            <a:avLst/>
          </a:prstGeom>
        </p:spPr>
      </p:pic>
      <p:sp>
        <p:nvSpPr>
          <p:cNvPr id="9" name="Rectángulo 8">
            <a:extLst>
              <a:ext uri="{FF2B5EF4-FFF2-40B4-BE49-F238E27FC236}">
                <a16:creationId xmlns:a16="http://schemas.microsoft.com/office/drawing/2014/main" id="{1847B6CD-58AA-95E3-E4CF-4A07FEEC97C5}"/>
              </a:ext>
            </a:extLst>
          </p:cNvPr>
          <p:cNvSpPr/>
          <p:nvPr/>
        </p:nvSpPr>
        <p:spPr>
          <a:xfrm>
            <a:off x="609600" y="5029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56A47176-218C-6654-F776-850A243C0916}"/>
              </a:ext>
            </a:extLst>
          </p:cNvPr>
          <p:cNvSpPr txBox="1"/>
          <p:nvPr/>
        </p:nvSpPr>
        <p:spPr>
          <a:xfrm>
            <a:off x="838200" y="5080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 fila más rentable es la cuarta. </a:t>
            </a:r>
            <a:r>
              <a:rPr lang="es-MX" sz="1200" b="1">
                <a:solidFill>
                  <a:srgbClr val="FFFFFF"/>
                </a:solidFill>
                <a:latin typeface="Segoe UI Semibold" panose="020B0702040204020203" pitchFamily="34" charset="0"/>
              </a:rPr>
              <a:t>En la nave Sector 4, la zona de lavado de 2012 no aparece en ningún plano</a:t>
            </a:r>
            <a:r>
              <a:rPr lang="es-MX" sz="1200">
                <a:solidFill>
                  <a:srgbClr val="FFFFFF"/>
                </a:solidFill>
                <a:latin typeface="Segoe UI" panose="020B0502040204020203" pitchFamily="34" charset="0"/>
              </a:rPr>
              <a:t>, y explica la mitad de las patologías del caso.</a:t>
            </a:r>
            <a:endParaRPr lang="es-BO" sz="1200">
              <a:solidFill>
                <a:srgbClr val="FFFFFF"/>
              </a:solidFill>
              <a:latin typeface="Segoe UI" panose="020B0502040204020203" pitchFamily="34" charset="0"/>
            </a:endParaRPr>
          </a:p>
        </p:txBody>
      </p:sp>
      <p:sp>
        <p:nvSpPr>
          <p:cNvPr id="12" name="CuadroTexto 11">
            <a:extLst>
              <a:ext uri="{FF2B5EF4-FFF2-40B4-BE49-F238E27FC236}">
                <a16:creationId xmlns:a16="http://schemas.microsoft.com/office/drawing/2014/main" id="{EE37ACF4-175E-CD1E-F6F1-6AF1B95C102C}"/>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562 §5, requisitos de evaluación.</a:t>
            </a:r>
            <a:endParaRPr lang="es-BO" sz="700">
              <a:solidFill>
                <a:srgbClr val="938A7C"/>
              </a:solidFill>
              <a:latin typeface="Segoe UI" panose="020B0502040204020203" pitchFamily="34" charset="0"/>
            </a:endParaRPr>
          </a:p>
        </p:txBody>
      </p:sp>
      <p:cxnSp>
        <p:nvCxnSpPr>
          <p:cNvPr id="13" name="Conector recto 12">
            <a:extLst>
              <a:ext uri="{FF2B5EF4-FFF2-40B4-BE49-F238E27FC236}">
                <a16:creationId xmlns:a16="http://schemas.microsoft.com/office/drawing/2014/main" id="{947463C1-EEF5-CF15-FD78-B21CBDF7B6C4}"/>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D9FCDF17-039C-F7A0-5C1D-D62F0137CFDC}"/>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5" name="CuadroTexto 14">
            <a:extLst>
              <a:ext uri="{FF2B5EF4-FFF2-40B4-BE49-F238E27FC236}">
                <a16:creationId xmlns:a16="http://schemas.microsoft.com/office/drawing/2014/main" id="{33A3A545-13A7-900A-8840-03F77015456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16" name="PageNo">
            <a:extLst>
              <a:ext uri="{FF2B5EF4-FFF2-40B4-BE49-F238E27FC236}">
                <a16:creationId xmlns:a16="http://schemas.microsoft.com/office/drawing/2014/main" id="{279CF89E-7951-BBF7-A98A-39854EB30D5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07 / 39</a:t>
            </a:r>
          </a:p>
        </p:txBody>
      </p:sp>
    </p:spTree>
    <p:extLst>
      <p:ext uri="{BB962C8B-B14F-4D97-AF65-F5344CB8AC3E}">
        <p14:creationId xmlns:p14="http://schemas.microsoft.com/office/powerpoint/2010/main" val="1643856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ACE7D11-17E4-B12F-8484-A8C62E4D0430}"/>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1 · LA VISITA</a:t>
            </a:r>
          </a:p>
        </p:txBody>
      </p:sp>
      <p:sp>
        <p:nvSpPr>
          <p:cNvPr id="3" name="Title">
            <a:extLst>
              <a:ext uri="{FF2B5EF4-FFF2-40B4-BE49-F238E27FC236}">
                <a16:creationId xmlns:a16="http://schemas.microsoft.com/office/drawing/2014/main" id="{311FCE83-C08C-8C9C-81A6-785DF5C7F522}"/>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Un recorrido sistemático, no un paseo por lo que llama la atención</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D227EB69-82FF-47D6-E1C3-3CE371148AA6}"/>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261108B8-CD95-632C-119B-12401B2A6B72}"/>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45AD78A2-F9D9-F7FE-A005-CBC45B922FEC}"/>
              </a:ext>
            </a:extLst>
          </p:cNvPr>
          <p:cNvSpPr txBox="1"/>
          <p:nvPr/>
        </p:nvSpPr>
        <p:spPr>
          <a:xfrm>
            <a:off x="1143000" y="1435100"/>
            <a:ext cx="5588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De lo general a lo particular</a:t>
            </a:r>
            <a:endParaRPr lang="es-BO" sz="1350">
              <a:solidFill>
                <a:srgbClr val="1C1813"/>
              </a:solidFill>
              <a:latin typeface="Bahnschrift SemiBold" panose="020B0502040204020203" pitchFamily="34" charset="0"/>
            </a:endParaRPr>
          </a:p>
        </p:txBody>
      </p:sp>
      <p:sp>
        <p:nvSpPr>
          <p:cNvPr id="8" name="CuadroTexto 7">
            <a:extLst>
              <a:ext uri="{FF2B5EF4-FFF2-40B4-BE49-F238E27FC236}">
                <a16:creationId xmlns:a16="http://schemas.microsoft.com/office/drawing/2014/main" id="{7AE16227-9949-7E8C-F259-380CA9069957}"/>
              </a:ext>
            </a:extLst>
          </p:cNvPr>
          <p:cNvSpPr txBox="1"/>
          <p:nvPr/>
        </p:nvSpPr>
        <p:spPr>
          <a:xfrm>
            <a:off x="1143000" y="16891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Primero una vuelta completa sin detenerse, para entender la estructura y el uso. Después el recorrido elemento a elemento, en un orden fijo que se anota.</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E0EC531D-049A-D519-DBA8-BA57A8FCE64D}"/>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B120C0CE-0D42-3742-1602-724A21B36C8D}"/>
              </a:ext>
            </a:extLst>
          </p:cNvPr>
          <p:cNvSpPr txBox="1"/>
          <p:nvPr/>
        </p:nvSpPr>
        <p:spPr>
          <a:xfrm>
            <a:off x="1143000" y="2400300"/>
            <a:ext cx="5588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Todo se fotografía con referencia</a:t>
            </a:r>
            <a:endParaRPr lang="es-BO" sz="1350">
              <a:solidFill>
                <a:srgbClr val="1C1813"/>
              </a:solidFill>
              <a:latin typeface="Bahnschrift SemiBold" panose="020B0502040204020203" pitchFamily="34" charset="0"/>
            </a:endParaRPr>
          </a:p>
        </p:txBody>
      </p:sp>
      <p:sp>
        <p:nvSpPr>
          <p:cNvPr id="11" name="CuadroTexto 10">
            <a:extLst>
              <a:ext uri="{FF2B5EF4-FFF2-40B4-BE49-F238E27FC236}">
                <a16:creationId xmlns:a16="http://schemas.microsoft.com/office/drawing/2014/main" id="{E1342978-9F09-A8B4-7079-0284E78C44BC}"/>
              </a:ext>
            </a:extLst>
          </p:cNvPr>
          <p:cNvSpPr txBox="1"/>
          <p:nvPr/>
        </p:nvSpPr>
        <p:spPr>
          <a:xfrm>
            <a:off x="1143000" y="26543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Cada fotografía con su elemento identificado y un testigo de escala. Una foto sin referencia no sirve en un informe ni en un juicio.</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6C1BD219-3534-1B58-3562-2CB5551EF97D}"/>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5F849CA6-3415-3C35-C1EC-6711D4C36A10}"/>
              </a:ext>
            </a:extLst>
          </p:cNvPr>
          <p:cNvSpPr txBox="1"/>
          <p:nvPr/>
        </p:nvSpPr>
        <p:spPr>
          <a:xfrm>
            <a:off x="1143000" y="3365500"/>
            <a:ext cx="5588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El martillo siempre en la mano</a:t>
            </a:r>
            <a:endParaRPr lang="es-BO" sz="1350">
              <a:solidFill>
                <a:srgbClr val="1C1813"/>
              </a:solidFill>
              <a:latin typeface="Bahnschrift SemiBold" panose="020B0502040204020203" pitchFamily="34" charset="0"/>
            </a:endParaRPr>
          </a:p>
        </p:txBody>
      </p:sp>
      <p:sp>
        <p:nvSpPr>
          <p:cNvPr id="14" name="CuadroTexto 13">
            <a:extLst>
              <a:ext uri="{FF2B5EF4-FFF2-40B4-BE49-F238E27FC236}">
                <a16:creationId xmlns:a16="http://schemas.microsoft.com/office/drawing/2014/main" id="{55635360-51A2-860F-AD60-4EC9E8F78A36}"/>
              </a:ext>
            </a:extLst>
          </p:cNvPr>
          <p:cNvSpPr txBox="1"/>
          <p:nvPr/>
        </p:nvSpPr>
        <p:spPr>
          <a:xfrm>
            <a:off x="1143000" y="36195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Golpeo sistemático de paramentos para delimitar delaminaciones. Es el ensayo más barato y el que más superficie cubre por hora.</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891334CC-E493-1898-8958-C0EC280A450D}"/>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1C29FAEC-3B0C-EA99-F7AF-E03CD75D1282}"/>
              </a:ext>
            </a:extLst>
          </p:cNvPr>
          <p:cNvSpPr txBox="1"/>
          <p:nvPr/>
        </p:nvSpPr>
        <p:spPr>
          <a:xfrm>
            <a:off x="1143000" y="43307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Se busca el agua</a:t>
            </a:r>
          </a:p>
        </p:txBody>
      </p:sp>
      <p:sp>
        <p:nvSpPr>
          <p:cNvPr id="17" name="CuadroTexto 16">
            <a:extLst>
              <a:ext uri="{FF2B5EF4-FFF2-40B4-BE49-F238E27FC236}">
                <a16:creationId xmlns:a16="http://schemas.microsoft.com/office/drawing/2014/main" id="{687D6FC9-BA05-E245-76B9-9E77211DCF7F}"/>
              </a:ext>
            </a:extLst>
          </p:cNvPr>
          <p:cNvSpPr txBox="1"/>
          <p:nvPr/>
        </p:nvSpPr>
        <p:spPr>
          <a:xfrm>
            <a:off x="1143000" y="45847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De dónde viene, por dónde entra, dónde se queda. Todos los mecanismos de las clases 1 a 4 necesitan agua: encontrarla es media parte del diagnóstico.</a:t>
            </a:r>
            <a:endParaRPr lang="es-BO" sz="1150">
              <a:solidFill>
                <a:srgbClr val="5A5248"/>
              </a:solidFill>
              <a:latin typeface="Segoe UI" panose="020B0502040204020203" pitchFamily="34" charset="0"/>
            </a:endParaRPr>
          </a:p>
        </p:txBody>
      </p:sp>
      <p:pic>
        <p:nvPicPr>
          <p:cNvPr id="19" name="Imagen 18" descr="Planta de la nave con el recorrido fijo de inspección, fotos referenciadas, zona hueca y zona de lavado">
            <a:extLst>
              <a:ext uri="{FF2B5EF4-FFF2-40B4-BE49-F238E27FC236}">
                <a16:creationId xmlns:a16="http://schemas.microsoft.com/office/drawing/2014/main" id="{80351149-00A6-E432-9F4F-C3CEBC4FDB0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26400" y="1422400"/>
            <a:ext cx="3556000" cy="3759200"/>
          </a:xfrm>
          <a:prstGeom prst="rect">
            <a:avLst/>
          </a:prstGeom>
        </p:spPr>
      </p:pic>
      <p:sp>
        <p:nvSpPr>
          <p:cNvPr id="20" name="Rectángulo 19">
            <a:extLst>
              <a:ext uri="{FF2B5EF4-FFF2-40B4-BE49-F238E27FC236}">
                <a16:creationId xmlns:a16="http://schemas.microsoft.com/office/drawing/2014/main" id="{95771D68-FF0D-E008-9673-D699BCE6B6A5}"/>
              </a:ext>
            </a:extLst>
          </p:cNvPr>
          <p:cNvSpPr/>
          <p:nvPr/>
        </p:nvSpPr>
        <p:spPr>
          <a:xfrm>
            <a:off x="609600" y="5384800"/>
            <a:ext cx="7112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77335F68-1EFE-152C-4FC4-A72768C06DED}"/>
              </a:ext>
            </a:extLst>
          </p:cNvPr>
          <p:cNvSpPr txBox="1"/>
          <p:nvPr/>
        </p:nvSpPr>
        <p:spPr>
          <a:xfrm>
            <a:off x="838200" y="5435600"/>
            <a:ext cx="6705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Visite </a:t>
            </a:r>
            <a:r>
              <a:rPr lang="es-MX" sz="1150" b="1">
                <a:solidFill>
                  <a:srgbClr val="FFFFFF"/>
                </a:solidFill>
                <a:latin typeface="Segoe UI Semibold" panose="020B0702040204020203" pitchFamily="34" charset="0"/>
              </a:rPr>
              <a:t>un día de lluvia</a:t>
            </a:r>
            <a:r>
              <a:rPr lang="es-MX" sz="1150">
                <a:solidFill>
                  <a:srgbClr val="FFFFFF"/>
                </a:solidFill>
                <a:latin typeface="Segoe UI" panose="020B0502040204020203" pitchFamily="34" charset="0"/>
              </a:rPr>
              <a:t> si puede. La estructura enseña por dónde entra el agua sin que haya que ensayar nada.</a:t>
            </a:r>
            <a:endParaRPr lang="es-BO" sz="1150">
              <a:solidFill>
                <a:srgbClr val="FFFFFF"/>
              </a:solidFill>
              <a:latin typeface="Segoe UI" panose="020B0502040204020203" pitchFamily="34" charset="0"/>
            </a:endParaRPr>
          </a:p>
        </p:txBody>
      </p:sp>
      <p:cxnSp>
        <p:nvCxnSpPr>
          <p:cNvPr id="23" name="Conector recto 22">
            <a:extLst>
              <a:ext uri="{FF2B5EF4-FFF2-40B4-BE49-F238E27FC236}">
                <a16:creationId xmlns:a16="http://schemas.microsoft.com/office/drawing/2014/main" id="{B6BF2899-3B91-1972-7F1A-B098729F5CE3}"/>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3653EECC-0E3D-BA2B-0F9C-8909C1DBD27E}"/>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5" name="CuadroTexto 24">
            <a:extLst>
              <a:ext uri="{FF2B5EF4-FFF2-40B4-BE49-F238E27FC236}">
                <a16:creationId xmlns:a16="http://schemas.microsoft.com/office/drawing/2014/main" id="{17DF43B6-B950-B7C0-B24E-FB8BE0D8D22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6" name="PageNo">
            <a:extLst>
              <a:ext uri="{FF2B5EF4-FFF2-40B4-BE49-F238E27FC236}">
                <a16:creationId xmlns:a16="http://schemas.microsoft.com/office/drawing/2014/main" id="{3C0871C5-2EB1-91DE-4645-284000D7E196}"/>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08 / 39</a:t>
            </a:r>
          </a:p>
        </p:txBody>
      </p:sp>
    </p:spTree>
    <p:extLst>
      <p:ext uri="{BB962C8B-B14F-4D97-AF65-F5344CB8AC3E}">
        <p14:creationId xmlns:p14="http://schemas.microsoft.com/office/powerpoint/2010/main" val="1216196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EA10F6A-D1FA-6221-544F-F83EE55FDA2B}"/>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1 · EL MAPEO DE DAÑOS</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C5C3093A-2152-A519-89AF-FB962E1AF80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Lo que no está dibujado sobre un plano no existe en el informe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A889F01D-23F3-722E-D7CA-CFF127638E92}"/>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0442E761-0FAF-B9C7-6DBE-F23E2BB65A3C}"/>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A023C04F-C561-E874-F85D-97C7A1DF33FB}"/>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F8B27506-5C62-2BE8-D732-E93AA5E3134D}"/>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Un plano por mecanismo</a:t>
            </a:r>
          </a:p>
        </p:txBody>
      </p:sp>
      <p:sp>
        <p:nvSpPr>
          <p:cNvPr id="10" name="CuadroTexto 9">
            <a:extLst>
              <a:ext uri="{FF2B5EF4-FFF2-40B4-BE49-F238E27FC236}">
                <a16:creationId xmlns:a16="http://schemas.microsoft.com/office/drawing/2014/main" id="{B10F70C7-BB56-0E80-D683-8F39E45CC90A}"/>
              </a:ext>
            </a:extLst>
          </p:cNvPr>
          <p:cNvSpPr txBox="1"/>
          <p:nvPr/>
        </p:nvSpPr>
        <p:spPr>
          <a:xfrm>
            <a:off x="812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Uno para fisuración, otro para desprendimientos y delaminaciones, otro para humedades. Superponerlos todos en uno los vuelve ilegibles.</a:t>
            </a:r>
            <a:endParaRPr lang="es-BO" sz="110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67416830-AEA9-5134-38C3-212799B2F876}"/>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4627E058-D78C-4634-6FF5-54675F9A42F9}"/>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ED9EF680-2117-168B-918D-71CFE0FF7DFB}"/>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Simbología fija y declarada</a:t>
            </a:r>
          </a:p>
        </p:txBody>
      </p:sp>
      <p:sp>
        <p:nvSpPr>
          <p:cNvPr id="15" name="CuadroTexto 14">
            <a:extLst>
              <a:ext uri="{FF2B5EF4-FFF2-40B4-BE49-F238E27FC236}">
                <a16:creationId xmlns:a16="http://schemas.microsoft.com/office/drawing/2014/main" id="{6C57003C-1EF7-694F-386A-3BA52F4A3F8C}"/>
              </a:ext>
            </a:extLst>
          </p:cNvPr>
          <p:cNvSpPr txBox="1"/>
          <p:nvPr/>
        </p:nvSpPr>
        <p:spPr>
          <a:xfrm>
            <a:off x="3606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La misma trama para lo mismo en toda la obra, con su leyenda. Si cambia entre plantas, el plano deja de ser comparable.</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E481F296-10EF-872C-7A2A-C427C981DB67}"/>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03E4CB20-FB21-E0A6-4A74-6EB064BE71E5}"/>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13702495-6CDA-AA08-722C-ED7ADE551944}"/>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MX" sz="1300">
                <a:solidFill>
                  <a:srgbClr val="1C1813"/>
                </a:solidFill>
                <a:latin typeface="Bahnschrift SemiBold" panose="020B0502040204020203" pitchFamily="34" charset="0"/>
              </a:rPr>
              <a:t>Con fecha y con autor</a:t>
            </a:r>
            <a:endParaRPr lang="es-BO" sz="1300">
              <a:solidFill>
                <a:srgbClr val="1C1813"/>
              </a:solidFill>
              <a:latin typeface="Bahnschrift SemiBold" panose="020B0502040204020203" pitchFamily="34" charset="0"/>
            </a:endParaRPr>
          </a:p>
        </p:txBody>
      </p:sp>
      <p:sp>
        <p:nvSpPr>
          <p:cNvPr id="20" name="CuadroTexto 19">
            <a:extLst>
              <a:ext uri="{FF2B5EF4-FFF2-40B4-BE49-F238E27FC236}">
                <a16:creationId xmlns:a16="http://schemas.microsoft.com/office/drawing/2014/main" id="{2F5DAAEF-6E25-B2FB-A213-92F651819310}"/>
              </a:ext>
            </a:extLst>
          </p:cNvPr>
          <p:cNvSpPr txBox="1"/>
          <p:nvPr/>
        </p:nvSpPr>
        <p:spPr>
          <a:xfrm>
            <a:off x="6400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El mapeo es una fotografía del estado en un día concreto. Sin fecha no se puede comparar con el siguiente, y comparar es el objetivo.</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C1D1CED2-8DD2-9648-C1F2-83C3308AD6AD}"/>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82DB6C26-CFC9-A26D-CD32-E34C796A0A9B}"/>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24" name="CuadroTexto 23">
            <a:extLst>
              <a:ext uri="{FF2B5EF4-FFF2-40B4-BE49-F238E27FC236}">
                <a16:creationId xmlns:a16="http://schemas.microsoft.com/office/drawing/2014/main" id="{4E8CE28B-AEE8-584F-DD5C-549261C78E5B}"/>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MX" sz="1300">
                <a:solidFill>
                  <a:srgbClr val="1C1813"/>
                </a:solidFill>
                <a:latin typeface="Bahnschrift SemiBold" panose="020B0502040204020203" pitchFamily="34" charset="0"/>
              </a:rPr>
              <a:t>Con los puntos de ensayo</a:t>
            </a:r>
            <a:endParaRPr lang="es-BO" sz="1300">
              <a:solidFill>
                <a:srgbClr val="1C1813"/>
              </a:solidFill>
              <a:latin typeface="Bahnschrift SemiBold" panose="020B0502040204020203" pitchFamily="34" charset="0"/>
            </a:endParaRPr>
          </a:p>
        </p:txBody>
      </p:sp>
      <p:sp>
        <p:nvSpPr>
          <p:cNvPr id="25" name="CuadroTexto 24">
            <a:extLst>
              <a:ext uri="{FF2B5EF4-FFF2-40B4-BE49-F238E27FC236}">
                <a16:creationId xmlns:a16="http://schemas.microsoft.com/office/drawing/2014/main" id="{26CA2143-7D50-8D11-7864-62CA1CBBF658}"/>
              </a:ext>
            </a:extLst>
          </p:cNvPr>
          <p:cNvSpPr txBox="1"/>
          <p:nvPr/>
        </p:nvSpPr>
        <p:spPr>
          <a:xfrm>
            <a:off x="9194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Cada testigo, cada ventana y cada nudo de malla, numerado y situado. Es lo que permite repetir la campaña dentro de cinco años.</a:t>
            </a:r>
            <a:endParaRPr lang="es-BO" sz="1100">
              <a:solidFill>
                <a:srgbClr val="5A5248"/>
              </a:solidFill>
              <a:latin typeface="Segoe UI" panose="020B0502040204020203" pitchFamily="34" charset="0"/>
            </a:endParaRPr>
          </a:p>
        </p:txBody>
      </p:sp>
      <p:pic>
        <p:nvPicPr>
          <p:cNvPr id="27" name="Imagen 26" descr="Planos por mecanismo, leyenda fija, cajetín con fecha y autor y puntos de ensayo numerados">
            <a:extLst>
              <a:ext uri="{FF2B5EF4-FFF2-40B4-BE49-F238E27FC236}">
                <a16:creationId xmlns:a16="http://schemas.microsoft.com/office/drawing/2014/main" id="{F34F25E9-DE55-28DD-5AB6-0B0CF95479A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18000"/>
            <a:ext cx="10972800" cy="1320800"/>
          </a:xfrm>
          <a:prstGeom prst="rect">
            <a:avLst/>
          </a:prstGeom>
        </p:spPr>
      </p:pic>
      <p:sp>
        <p:nvSpPr>
          <p:cNvPr id="28" name="Rectángulo 27">
            <a:extLst>
              <a:ext uri="{FF2B5EF4-FFF2-40B4-BE49-F238E27FC236}">
                <a16:creationId xmlns:a16="http://schemas.microsoft.com/office/drawing/2014/main" id="{E952CB1A-BF8E-E5FB-CFDA-606D8A293070}"/>
              </a:ext>
            </a:extLst>
          </p:cNvPr>
          <p:cNvSpPr/>
          <p:nvPr/>
        </p:nvSpPr>
        <p:spPr>
          <a:xfrm>
            <a:off x="609600" y="5765800"/>
            <a:ext cx="10972800" cy="406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3A7C00D8-7929-3E81-B0F0-B4C5C0AD9932}"/>
              </a:ext>
            </a:extLst>
          </p:cNvPr>
          <p:cNvSpPr txBox="1"/>
          <p:nvPr/>
        </p:nvSpPr>
        <p:spPr>
          <a:xfrm>
            <a:off x="838200" y="5816600"/>
            <a:ext cx="10566400" cy="304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El mapeo es el entregable que sobrevive al informe. </a:t>
            </a:r>
            <a:r>
              <a:rPr lang="es-MX" sz="1200" b="1">
                <a:solidFill>
                  <a:srgbClr val="FFFFFF"/>
                </a:solidFill>
                <a:latin typeface="Segoe UI Semibold" panose="020B0702040204020203" pitchFamily="34" charset="0"/>
              </a:rPr>
              <a:t>Dentro de diez años nadie leerá el texto, pero alguien comparará ese plano con el nuevo</a:t>
            </a:r>
            <a:r>
              <a:rPr lang="es-MX" sz="1200">
                <a:solidFill>
                  <a:srgbClr val="FFFFFF"/>
                </a:solidFill>
                <a:latin typeface="Segoe UI" panose="020B0502040204020203" pitchFamily="34" charset="0"/>
              </a:rPr>
              <a:t> y sabrá si el daño avanzó o se detuvo.</a:t>
            </a:r>
            <a:endParaRPr lang="es-BO" sz="120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106F4255-C085-68A4-54D8-AC75A3943698}"/>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201.1R, Guide for Conducting a Visual Inspection of Concrete in Service.</a:t>
            </a:r>
            <a:endParaRPr lang="es-BO" sz="700">
              <a:solidFill>
                <a:srgbClr val="938A7C"/>
              </a:solidFill>
              <a:latin typeface="Segoe UI" panose="020B0502040204020203" pitchFamily="34" charset="0"/>
            </a:endParaRPr>
          </a:p>
        </p:txBody>
      </p:sp>
      <p:cxnSp>
        <p:nvCxnSpPr>
          <p:cNvPr id="32" name="Conector recto 31">
            <a:extLst>
              <a:ext uri="{FF2B5EF4-FFF2-40B4-BE49-F238E27FC236}">
                <a16:creationId xmlns:a16="http://schemas.microsoft.com/office/drawing/2014/main" id="{22DB2B7A-D7B2-F9C4-A7E7-980E8E3618DB}"/>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E5C7D1CA-4DE0-4FF7-42E7-0664C36255E2}"/>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BC01B133-E1CB-F37A-D48C-CAE13C0AA40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5" name="PageNo">
            <a:extLst>
              <a:ext uri="{FF2B5EF4-FFF2-40B4-BE49-F238E27FC236}">
                <a16:creationId xmlns:a16="http://schemas.microsoft.com/office/drawing/2014/main" id="{10D11D72-7EEB-233C-B94E-815F6967C7D4}"/>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09 / 39</a:t>
            </a:r>
          </a:p>
        </p:txBody>
      </p:sp>
    </p:spTree>
    <p:extLst>
      <p:ext uri="{BB962C8B-B14F-4D97-AF65-F5344CB8AC3E}">
        <p14:creationId xmlns:p14="http://schemas.microsoft.com/office/powerpoint/2010/main" val="4130008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76692BD-A139-63D7-00BF-F4154B0C0576}"/>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1 · LO QUE HACE UNA INSPECCIÓN</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DEF27250-0F9D-AB51-299C-82C5F4C6C70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momentos que no se sustituyen con ningún aparato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6A5C8C5C-C697-6F1A-D35A-8A119B9F0EB4}"/>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pic>
        <p:nvPicPr>
          <p:cNvPr id="7" name="Imagen 6" descr="Técnica anotando con carpeta durante la inspección">
            <a:extLst>
              <a:ext uri="{FF2B5EF4-FFF2-40B4-BE49-F238E27FC236}">
                <a16:creationId xmlns:a16="http://schemas.microsoft.com/office/drawing/2014/main" id="{2BC79BEF-ECC4-8753-71AF-F925AAFBA9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524000"/>
            <a:ext cx="3454400" cy="2336800"/>
          </a:xfrm>
          <a:prstGeom prst="rect">
            <a:avLst/>
          </a:prstGeom>
        </p:spPr>
      </p:pic>
      <p:sp>
        <p:nvSpPr>
          <p:cNvPr id="8" name="CuadroTexto 7">
            <a:extLst>
              <a:ext uri="{FF2B5EF4-FFF2-40B4-BE49-F238E27FC236}">
                <a16:creationId xmlns:a16="http://schemas.microsoft.com/office/drawing/2014/main" id="{955E9E6C-A8EB-4B24-8B8B-B1792E514AF2}"/>
              </a:ext>
            </a:extLst>
          </p:cNvPr>
          <p:cNvSpPr txBox="1"/>
          <p:nvPr/>
        </p:nvSpPr>
        <p:spPr>
          <a:xfrm>
            <a:off x="6096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Anotar en el momento</a:t>
            </a:r>
          </a:p>
        </p:txBody>
      </p:sp>
      <p:sp>
        <p:nvSpPr>
          <p:cNvPr id="9" name="CuadroTexto 8">
            <a:extLst>
              <a:ext uri="{FF2B5EF4-FFF2-40B4-BE49-F238E27FC236}">
                <a16:creationId xmlns:a16="http://schemas.microsoft.com/office/drawing/2014/main" id="{BB70FF56-AAD5-CD11-2485-579148681089}"/>
              </a:ext>
            </a:extLst>
          </p:cNvPr>
          <p:cNvSpPr txBox="1"/>
          <p:nvPr/>
        </p:nvSpPr>
        <p:spPr>
          <a:xfrm>
            <a:off x="6096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Lo que no se escribe delante del elemento se escribe mal por la tarde. La libreta va antes que el aparato.</a:t>
            </a:r>
            <a:endParaRPr lang="es-BO" sz="1150">
              <a:solidFill>
                <a:srgbClr val="5A5248"/>
              </a:solidFill>
              <a:latin typeface="Segoe UI" panose="020B0502040204020203" pitchFamily="34" charset="0"/>
            </a:endParaRPr>
          </a:p>
        </p:txBody>
      </p:sp>
      <p:pic>
        <p:nvPicPr>
          <p:cNvPr id="11" name="Imagen 10" descr="Inspector revisando la parte alta de un pilar">
            <a:extLst>
              <a:ext uri="{FF2B5EF4-FFF2-40B4-BE49-F238E27FC236}">
                <a16:creationId xmlns:a16="http://schemas.microsoft.com/office/drawing/2014/main" id="{A72B5FBF-849D-5341-A7F7-5D91A7B646C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68800" y="1524000"/>
            <a:ext cx="3454400" cy="2336800"/>
          </a:xfrm>
          <a:prstGeom prst="rect">
            <a:avLst/>
          </a:prstGeom>
        </p:spPr>
      </p:pic>
      <p:sp>
        <p:nvSpPr>
          <p:cNvPr id="12" name="CuadroTexto 11">
            <a:extLst>
              <a:ext uri="{FF2B5EF4-FFF2-40B4-BE49-F238E27FC236}">
                <a16:creationId xmlns:a16="http://schemas.microsoft.com/office/drawing/2014/main" id="{5E296FD8-7B98-27E0-FF75-8FEF5E2DF32D}"/>
              </a:ext>
            </a:extLst>
          </p:cNvPr>
          <p:cNvSpPr txBox="1"/>
          <p:nvPr/>
        </p:nvSpPr>
        <p:spPr>
          <a:xfrm>
            <a:off x="43688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Llegar hasta arriba</a:t>
            </a:r>
          </a:p>
        </p:txBody>
      </p:sp>
      <p:sp>
        <p:nvSpPr>
          <p:cNvPr id="13" name="CuadroTexto 12">
            <a:extLst>
              <a:ext uri="{FF2B5EF4-FFF2-40B4-BE49-F238E27FC236}">
                <a16:creationId xmlns:a16="http://schemas.microsoft.com/office/drawing/2014/main" id="{81E21700-8F2A-E697-4119-E3BEA571CDC0}"/>
              </a:ext>
            </a:extLst>
          </p:cNvPr>
          <p:cNvSpPr txBox="1"/>
          <p:nvPr/>
        </p:nvSpPr>
        <p:spPr>
          <a:xfrm>
            <a:off x="43688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La mitad del daño está donde no se ve desde el suelo. Si no hay acceso, el informe tiene que decirlo como limitación.</a:t>
            </a:r>
            <a:endParaRPr lang="es-BO" sz="1150">
              <a:solidFill>
                <a:srgbClr val="5A5248"/>
              </a:solidFill>
              <a:latin typeface="Segoe UI" panose="020B0502040204020203" pitchFamily="34" charset="0"/>
            </a:endParaRPr>
          </a:p>
        </p:txBody>
      </p:sp>
      <p:pic>
        <p:nvPicPr>
          <p:cNvPr id="15" name="Imagen 14" descr="Técnico recorriendo una nave industrial con su planilla">
            <a:extLst>
              <a:ext uri="{FF2B5EF4-FFF2-40B4-BE49-F238E27FC236}">
                <a16:creationId xmlns:a16="http://schemas.microsoft.com/office/drawing/2014/main" id="{E70FB962-0005-60E2-DD1A-6270AE717AA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128000" y="1524000"/>
            <a:ext cx="3454400" cy="2336800"/>
          </a:xfrm>
          <a:prstGeom prst="rect">
            <a:avLst/>
          </a:prstGeom>
        </p:spPr>
      </p:pic>
      <p:sp>
        <p:nvSpPr>
          <p:cNvPr id="16" name="CuadroTexto 15">
            <a:extLst>
              <a:ext uri="{FF2B5EF4-FFF2-40B4-BE49-F238E27FC236}">
                <a16:creationId xmlns:a16="http://schemas.microsoft.com/office/drawing/2014/main" id="{2C5DBC10-D1AD-A4F4-A93D-195CDA1EDF01}"/>
              </a:ext>
            </a:extLst>
          </p:cNvPr>
          <p:cNvSpPr txBox="1"/>
          <p:nvPr/>
        </p:nvSpPr>
        <p:spPr>
          <a:xfrm>
            <a:off x="81280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Recorrer con criterio</a:t>
            </a:r>
          </a:p>
        </p:txBody>
      </p:sp>
      <p:sp>
        <p:nvSpPr>
          <p:cNvPr id="17" name="CuadroTexto 16">
            <a:extLst>
              <a:ext uri="{FF2B5EF4-FFF2-40B4-BE49-F238E27FC236}">
                <a16:creationId xmlns:a16="http://schemas.microsoft.com/office/drawing/2014/main" id="{31E625BD-82C5-549D-18D1-9FE9243376D2}"/>
              </a:ext>
            </a:extLst>
          </p:cNvPr>
          <p:cNvSpPr txBox="1"/>
          <p:nvPr/>
        </p:nvSpPr>
        <p:spPr>
          <a:xfrm>
            <a:off x="81280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orden del recorrido se decide antes y se cumple. Así ningún elemento queda sin mirar por cansancio.</a:t>
            </a:r>
            <a:endParaRPr lang="es-BO" sz="1150">
              <a:solidFill>
                <a:srgbClr val="5A5248"/>
              </a:solidFill>
              <a:latin typeface="Segoe UI" panose="020B0502040204020203" pitchFamily="34" charset="0"/>
            </a:endParaRPr>
          </a:p>
        </p:txBody>
      </p:sp>
      <p:sp>
        <p:nvSpPr>
          <p:cNvPr id="18" name="Rectángulo 17">
            <a:extLst>
              <a:ext uri="{FF2B5EF4-FFF2-40B4-BE49-F238E27FC236}">
                <a16:creationId xmlns:a16="http://schemas.microsoft.com/office/drawing/2014/main" id="{24CBAF1C-8FC4-01C7-5785-3D5DBF584434}"/>
              </a:ext>
            </a:extLst>
          </p:cNvPr>
          <p:cNvSpPr/>
          <p:nvPr/>
        </p:nvSpPr>
        <p:spPr>
          <a:xfrm>
            <a:off x="609600" y="5410200"/>
            <a:ext cx="109728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2CD8FC5B-957E-D63A-0935-FC6DD0CA00D5}"/>
              </a:ext>
            </a:extLst>
          </p:cNvPr>
          <p:cNvSpPr txBox="1"/>
          <p:nvPr/>
        </p:nvSpPr>
        <p:spPr>
          <a:xfrm>
            <a:off x="838200" y="5461000"/>
            <a:ext cx="10566400" cy="558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 segunda foto es la más importante de la lámina: </a:t>
            </a:r>
            <a:r>
              <a:rPr lang="es-MX" sz="1200" b="1">
                <a:solidFill>
                  <a:srgbClr val="FFFFFF"/>
                </a:solidFill>
                <a:latin typeface="Segoe UI Semibold" panose="020B0702040204020203" pitchFamily="34" charset="0"/>
              </a:rPr>
              <a:t>lo inaccesible se declara, no se supone</a:t>
            </a:r>
            <a:r>
              <a:rPr lang="es-MX" sz="1200">
                <a:solidFill>
                  <a:srgbClr val="FFFFFF"/>
                </a:solidFill>
                <a:latin typeface="Segoe UI" panose="020B0502040204020203" pitchFamily="34" charset="0"/>
              </a:rPr>
              <a:t>. Un informe que calla lo que no pudo ver es un informe que no se defiende.</a:t>
            </a:r>
            <a:endParaRPr lang="es-BO" sz="1200">
              <a:solidFill>
                <a:srgbClr val="FFFFFF"/>
              </a:solidFill>
              <a:latin typeface="Segoe UI" panose="020B0502040204020203" pitchFamily="34" charset="0"/>
            </a:endParaRPr>
          </a:p>
        </p:txBody>
      </p:sp>
      <p:cxnSp>
        <p:nvCxnSpPr>
          <p:cNvPr id="21" name="Conector recto 20">
            <a:extLst>
              <a:ext uri="{FF2B5EF4-FFF2-40B4-BE49-F238E27FC236}">
                <a16:creationId xmlns:a16="http://schemas.microsoft.com/office/drawing/2014/main" id="{ECBBBFA4-A84E-91E2-A6B3-1235F16F9B9A}"/>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3D80D3F9-1400-DA35-F2C4-0888CA64DCDA}"/>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986FA7F1-A253-3EB8-5A84-5B621B784AD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4" name="PageNo">
            <a:extLst>
              <a:ext uri="{FF2B5EF4-FFF2-40B4-BE49-F238E27FC236}">
                <a16:creationId xmlns:a16="http://schemas.microsoft.com/office/drawing/2014/main" id="{4B75F7FB-411B-183E-E57C-4214F4DBEFBA}"/>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10 / 39</a:t>
            </a:r>
          </a:p>
        </p:txBody>
      </p:sp>
    </p:spTree>
    <p:extLst>
      <p:ext uri="{BB962C8B-B14F-4D97-AF65-F5344CB8AC3E}">
        <p14:creationId xmlns:p14="http://schemas.microsoft.com/office/powerpoint/2010/main" val="536831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E73DEA2-21C4-C7F9-1A09-1A09A9EBAD1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EA0922C4-94A6-34A2-5289-66C1562DB7DA}"/>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F1EB5319-8A37-9A66-9224-BBCCB112E01E}"/>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F8361787-B7FC-E596-F4B5-9B2A2BE9C087}"/>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2</a:t>
            </a:r>
          </a:p>
        </p:txBody>
      </p:sp>
      <p:sp>
        <p:nvSpPr>
          <p:cNvPr id="7" name="Title">
            <a:extLst>
              <a:ext uri="{FF2B5EF4-FFF2-40B4-BE49-F238E27FC236}">
                <a16:creationId xmlns:a16="http://schemas.microsoft.com/office/drawing/2014/main" id="{0F499E86-B686-ADDC-67F9-9BFF47014D08}"/>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BO" sz="3800">
                <a:solidFill>
                  <a:srgbClr val="FFFFFF"/>
                </a:solidFill>
                <a:latin typeface="Bahnschrift SemiBold" panose="020B0502040204020203" pitchFamily="34" charset="0"/>
              </a:rPr>
              <a:t>Ensayos no destructivos</a:t>
            </a:r>
          </a:p>
        </p:txBody>
      </p:sp>
      <p:sp>
        <p:nvSpPr>
          <p:cNvPr id="8" name="Rectángulo 7">
            <a:extLst>
              <a:ext uri="{FF2B5EF4-FFF2-40B4-BE49-F238E27FC236}">
                <a16:creationId xmlns:a16="http://schemas.microsoft.com/office/drawing/2014/main" id="{29DA707E-8FA4-38B3-A591-5B6D27C98893}"/>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9651252B-78B3-01B9-6211-7FDF34E68EA1}"/>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Baratos, rápidos y limitados. Sirven para barrer, no para sentenciar.</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4D98143B-E865-3D62-8BB1-28BC644C370F}"/>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9498C9AF-BCDD-0986-69D4-59E5AC829AED}"/>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Qué mide cada uno</a:t>
            </a:r>
          </a:p>
        </p:txBody>
      </p:sp>
      <p:sp>
        <p:nvSpPr>
          <p:cNvPr id="12" name="Rectángulo 11">
            <a:extLst>
              <a:ext uri="{FF2B5EF4-FFF2-40B4-BE49-F238E27FC236}">
                <a16:creationId xmlns:a16="http://schemas.microsoft.com/office/drawing/2014/main" id="{E25F0B11-4AD9-90B4-7933-66396D1380CB}"/>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B960F44C-A35A-239A-3560-4FAE9E0829B4}"/>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Qué no mide ninguno</a:t>
            </a:r>
          </a:p>
        </p:txBody>
      </p:sp>
      <p:sp>
        <p:nvSpPr>
          <p:cNvPr id="14" name="Rectángulo 13">
            <a:extLst>
              <a:ext uri="{FF2B5EF4-FFF2-40B4-BE49-F238E27FC236}">
                <a16:creationId xmlns:a16="http://schemas.microsoft.com/office/drawing/2014/main" id="{C7ECEB08-86A3-FAD7-C9C6-94A845E726D8}"/>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55D1E588-0371-0C90-CBED-0FFB47A2E466}"/>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Cómo se combinan</a:t>
            </a:r>
          </a:p>
        </p:txBody>
      </p:sp>
      <p:sp>
        <p:nvSpPr>
          <p:cNvPr id="16" name="CuadroTexto 15">
            <a:extLst>
              <a:ext uri="{FF2B5EF4-FFF2-40B4-BE49-F238E27FC236}">
                <a16:creationId xmlns:a16="http://schemas.microsoft.com/office/drawing/2014/main" id="{6676CE88-ED1D-DC02-8183-3BC5FA1CDAEE}"/>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5 · DIAGNÓSTICO</a:t>
            </a:r>
          </a:p>
        </p:txBody>
      </p:sp>
    </p:spTree>
    <p:extLst>
      <p:ext uri="{BB962C8B-B14F-4D97-AF65-F5344CB8AC3E}">
        <p14:creationId xmlns:p14="http://schemas.microsoft.com/office/powerpoint/2010/main" val="1592826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8F0C451-29CA-0395-5DD3-2E39ED302985}"/>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2 · EL REPERTORIO</a:t>
            </a:r>
          </a:p>
        </p:txBody>
      </p:sp>
      <p:sp>
        <p:nvSpPr>
          <p:cNvPr id="3" name="Title">
            <a:extLst>
              <a:ext uri="{FF2B5EF4-FFF2-40B4-BE49-F238E27FC236}">
                <a16:creationId xmlns:a16="http://schemas.microsoft.com/office/drawing/2014/main" id="{07412BB6-D43D-5804-43AE-6635295E2BC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Siete aparatos, y ninguno contesta la pregunta del otro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EC40E773-0768-8991-5B2D-BAC316354F4C}"/>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AA7E10D8-C79B-5D35-EDB8-1477C9C556CB}"/>
              </a:ext>
            </a:extLst>
          </p:cNvPr>
          <p:cNvGraphicFramePr>
            <a:graphicFrameLocks noGrp="1"/>
          </p:cNvGraphicFramePr>
          <p:nvPr>
            <p:extLst>
              <p:ext uri="{D42A27DB-BD31-4B8C-83A1-F6EECF244321}">
                <p14:modId xmlns:p14="http://schemas.microsoft.com/office/powerpoint/2010/main" val="4222189960"/>
              </p:ext>
            </p:extLst>
          </p:nvPr>
        </p:nvGraphicFramePr>
        <p:xfrm>
          <a:off x="609600" y="1422400"/>
          <a:ext cx="6299200" cy="34036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3375492950"/>
                    </a:ext>
                  </a:extLst>
                </a:gridCol>
                <a:gridCol w="1955800">
                  <a:extLst>
                    <a:ext uri="{9D8B030D-6E8A-4147-A177-3AD203B41FA5}">
                      <a16:colId xmlns:a16="http://schemas.microsoft.com/office/drawing/2014/main" val="274672961"/>
                    </a:ext>
                  </a:extLst>
                </a:gridCol>
                <a:gridCol w="1917700">
                  <a:extLst>
                    <a:ext uri="{9D8B030D-6E8A-4147-A177-3AD203B41FA5}">
                      <a16:colId xmlns:a16="http://schemas.microsoft.com/office/drawing/2014/main" val="50550396"/>
                    </a:ext>
                  </a:extLst>
                </a:gridCol>
                <a:gridCol w="1155700">
                  <a:extLst>
                    <a:ext uri="{9D8B030D-6E8A-4147-A177-3AD203B41FA5}">
                      <a16:colId xmlns:a16="http://schemas.microsoft.com/office/drawing/2014/main" val="2354175835"/>
                    </a:ext>
                  </a:extLst>
                </a:gridCol>
              </a:tblGrid>
              <a:tr h="425450">
                <a:tc>
                  <a:txBody>
                    <a:bodyPr/>
                    <a:lstStyle/>
                    <a:p>
                      <a:pPr algn="ctr"/>
                      <a:r>
                        <a:rPr lang="es-BO" sz="850" b="0">
                          <a:solidFill>
                            <a:srgbClr val="FFFFFF"/>
                          </a:solidFill>
                          <a:latin typeface="Segoe UI Semibold" panose="020B0702040204020203" pitchFamily="34" charset="0"/>
                        </a:rPr>
                        <a:t>Ensayo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850" b="0">
                          <a:solidFill>
                            <a:srgbClr val="FFFFFF"/>
                          </a:solidFill>
                          <a:latin typeface="Segoe UI Semibold" panose="020B0702040204020203" pitchFamily="34" charset="0"/>
                        </a:rPr>
                        <a:t>Qué mide de verdad</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850" b="0">
                          <a:solidFill>
                            <a:srgbClr val="FFFFFF"/>
                          </a:solidFill>
                          <a:latin typeface="Segoe UI Semibold" panose="020B0702040204020203" pitchFamily="34" charset="0"/>
                        </a:rPr>
                        <a:t>Qué NO mide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850" b="0">
                          <a:solidFill>
                            <a:srgbClr val="FFFFFF"/>
                          </a:solidFill>
                          <a:latin typeface="Segoe UI Semibold" panose="020B0702040204020203" pitchFamily="34" charset="0"/>
                        </a:rPr>
                        <a:t>Norma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172046508"/>
                  </a:ext>
                </a:extLst>
              </a:tr>
              <a:tr h="425450">
                <a:tc>
                  <a:txBody>
                    <a:bodyPr/>
                    <a:lstStyle/>
                    <a:p>
                      <a:pPr algn="ctr"/>
                      <a:r>
                        <a:rPr lang="es-BO" sz="900" b="0">
                          <a:solidFill>
                            <a:srgbClr val="1C1813"/>
                          </a:solidFill>
                          <a:latin typeface="Segoe UI Semibold" panose="020B0702040204020203" pitchFamily="34" charset="0"/>
                        </a:rPr>
                        <a:t>Golpeo con martillo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Delaminación: sonido hueco frente a macizo</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Nada cuantitativo; depende del oído</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ACI 201.1R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651715558"/>
                  </a:ext>
                </a:extLst>
              </a:tr>
              <a:tr h="425450">
                <a:tc>
                  <a:txBody>
                    <a:bodyPr/>
                    <a:lstStyle/>
                    <a:p>
                      <a:pPr algn="ctr"/>
                      <a:r>
                        <a:rPr lang="es-BO" sz="900" b="0">
                          <a:solidFill>
                            <a:srgbClr val="1C1813"/>
                          </a:solidFill>
                          <a:latin typeface="Segoe UI Semibold" panose="020B0702040204020203" pitchFamily="34" charset="0"/>
                        </a:rPr>
                        <a:t>Esclerómetro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Dureza superficial de los primeros 30 mm</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Resistencia del hormigón de dentro</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ASTM C805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771962302"/>
                  </a:ext>
                </a:extLst>
              </a:tr>
              <a:tr h="425450">
                <a:tc>
                  <a:txBody>
                    <a:bodyPr/>
                    <a:lstStyle/>
                    <a:p>
                      <a:pPr algn="ctr"/>
                      <a:r>
                        <a:rPr lang="es-BO" sz="900" b="0">
                          <a:solidFill>
                            <a:srgbClr val="1C1813"/>
                          </a:solidFill>
                          <a:latin typeface="Segoe UI Semibold" panose="020B0702040204020203" pitchFamily="34" charset="0"/>
                        </a:rPr>
                        <a:t>Ultrasonido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Velocidad de pulso: uniformidad y huecos</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Resistencia, sin correlación propia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ASTM C597</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678597112"/>
                  </a:ext>
                </a:extLst>
              </a:tr>
              <a:tr h="425450">
                <a:tc>
                  <a:txBody>
                    <a:bodyPr/>
                    <a:lstStyle/>
                    <a:p>
                      <a:pPr algn="ctr"/>
                      <a:r>
                        <a:rPr lang="es-BO" sz="900" b="0">
                          <a:solidFill>
                            <a:srgbClr val="1C1813"/>
                          </a:solidFill>
                          <a:latin typeface="Segoe UI Semibold" panose="020B0702040204020203" pitchFamily="34" charset="0"/>
                        </a:rPr>
                        <a:t>Pacómetro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Posición, diámetro aparente y recubrimiento</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Sección residual de la barra</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BS 1881-204</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95697787"/>
                  </a:ext>
                </a:extLst>
              </a:tr>
              <a:tr h="425450">
                <a:tc>
                  <a:txBody>
                    <a:bodyPr/>
                    <a:lstStyle/>
                    <a:p>
                      <a:pPr algn="ctr"/>
                      <a:r>
                        <a:rPr lang="es-BO" sz="900" b="0">
                          <a:solidFill>
                            <a:srgbClr val="1C1813"/>
                          </a:solidFill>
                          <a:latin typeface="Segoe UI Semibold" panose="020B0702040204020203" pitchFamily="34" charset="0"/>
                        </a:rPr>
                        <a:t>Radar de subsuelo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Armadura, espesores, vacíos y humedad relativa</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Estado de corrosión de la barra</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ACI 228.2R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665300788"/>
                  </a:ext>
                </a:extLst>
              </a:tr>
              <a:tr h="425450">
                <a:tc>
                  <a:txBody>
                    <a:bodyPr/>
                    <a:lstStyle/>
                    <a:p>
                      <a:pPr algn="ctr"/>
                      <a:r>
                        <a:rPr lang="es-BO" sz="900" b="0">
                          <a:solidFill>
                            <a:srgbClr val="1C1813"/>
                          </a:solidFill>
                          <a:latin typeface="Segoe UI Semibold" panose="020B0702040204020203" pitchFamily="34" charset="0"/>
                        </a:rPr>
                        <a:t>Potencial de corrosión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Probabilidad de actividad electroquímica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Velocidad de corrosión ni sección perdida</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ASTM C876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4080726978"/>
                  </a:ext>
                </a:extLst>
              </a:tr>
              <a:tr h="425450">
                <a:tc>
                  <a:txBody>
                    <a:bodyPr/>
                    <a:lstStyle/>
                    <a:p>
                      <a:pPr algn="ctr"/>
                      <a:r>
                        <a:rPr lang="es-BO" sz="900" b="0">
                          <a:solidFill>
                            <a:srgbClr val="1C1813"/>
                          </a:solidFill>
                          <a:latin typeface="Segoe UI Semibold" panose="020B0702040204020203" pitchFamily="34" charset="0"/>
                        </a:rPr>
                        <a:t>Termografía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Diferencias de temperatura: huecos y humedades</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Profundidad del defecto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ASTM D4788</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49949941"/>
                  </a:ext>
                </a:extLst>
              </a:tr>
            </a:tbl>
          </a:graphicData>
        </a:graphic>
      </p:graphicFrame>
      <p:sp>
        <p:nvSpPr>
          <p:cNvPr id="7" name="Rectángulo 6">
            <a:extLst>
              <a:ext uri="{FF2B5EF4-FFF2-40B4-BE49-F238E27FC236}">
                <a16:creationId xmlns:a16="http://schemas.microsoft.com/office/drawing/2014/main" id="{5605D7F4-EFA4-25C7-926A-9B54028B00A1}"/>
              </a:ext>
            </a:extLst>
          </p:cNvPr>
          <p:cNvSpPr/>
          <p:nvPr/>
        </p:nvSpPr>
        <p:spPr>
          <a:xfrm>
            <a:off x="7213600" y="1422400"/>
            <a:ext cx="4368800" cy="34036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AEF00837-B63E-E11E-1D17-38F4024AEFF1}"/>
              </a:ext>
            </a:extLst>
          </p:cNvPr>
          <p:cNvSpPr txBox="1"/>
          <p:nvPr/>
        </p:nvSpPr>
        <p:spPr>
          <a:xfrm>
            <a:off x="7416800" y="1536700"/>
            <a:ext cx="3987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DE LO BARATO A LO CARO, NUNCA AL REVÉS</a:t>
            </a:r>
            <a:endParaRPr lang="es-BO" sz="750" spc="160">
              <a:solidFill>
                <a:srgbClr val="6A4F20"/>
              </a:solidFill>
              <a:latin typeface="Segoe UI Semibold" panose="020B0702040204020203" pitchFamily="34" charset="0"/>
            </a:endParaRPr>
          </a:p>
        </p:txBody>
      </p:sp>
      <p:sp>
        <p:nvSpPr>
          <p:cNvPr id="10" name="Rectángulo 9">
            <a:extLst>
              <a:ext uri="{FF2B5EF4-FFF2-40B4-BE49-F238E27FC236}">
                <a16:creationId xmlns:a16="http://schemas.microsoft.com/office/drawing/2014/main" id="{482FDA17-C035-6D37-EB06-AEAC7317A0EA}"/>
              </a:ext>
            </a:extLst>
          </p:cNvPr>
          <p:cNvSpPr/>
          <p:nvPr/>
        </p:nvSpPr>
        <p:spPr>
          <a:xfrm>
            <a:off x="7975600" y="1879600"/>
            <a:ext cx="3048000" cy="4064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A26EA89B-4A3F-8ACE-A1C5-A6A2E14BE17A}"/>
              </a:ext>
            </a:extLst>
          </p:cNvPr>
          <p:cNvSpPr txBox="1"/>
          <p:nvPr/>
        </p:nvSpPr>
        <p:spPr>
          <a:xfrm>
            <a:off x="7975600" y="1905000"/>
            <a:ext cx="3048000" cy="139700"/>
          </a:xfrm>
          <a:prstGeom prst="rect">
            <a:avLst/>
          </a:prstGeom>
          <a:noFill/>
        </p:spPr>
        <p:txBody>
          <a:bodyPr vert="horz" wrap="square" lIns="0" tIns="0" rIns="0" bIns="0" rtlCol="0" anchor="t">
            <a:noAutofit/>
          </a:bodyPr>
          <a:lstStyle/>
          <a:p>
            <a:pPr algn="ctr"/>
            <a:r>
              <a:rPr lang="es-BO" sz="750">
                <a:solidFill>
                  <a:srgbClr val="FFFFFF"/>
                </a:solidFill>
                <a:latin typeface="Segoe UI Semibold" panose="020B0702040204020203" pitchFamily="34" charset="0"/>
              </a:rPr>
              <a:t>Documentación y visita</a:t>
            </a:r>
          </a:p>
        </p:txBody>
      </p:sp>
      <p:sp>
        <p:nvSpPr>
          <p:cNvPr id="12" name="CuadroTexto 11">
            <a:extLst>
              <a:ext uri="{FF2B5EF4-FFF2-40B4-BE49-F238E27FC236}">
                <a16:creationId xmlns:a16="http://schemas.microsoft.com/office/drawing/2014/main" id="{60874BE0-E24D-25ED-47FF-0854ABCF5A82}"/>
              </a:ext>
            </a:extLst>
          </p:cNvPr>
          <p:cNvSpPr txBox="1"/>
          <p:nvPr/>
        </p:nvSpPr>
        <p:spPr>
          <a:xfrm>
            <a:off x="7975600" y="2044700"/>
            <a:ext cx="3048000" cy="127000"/>
          </a:xfrm>
          <a:prstGeom prst="rect">
            <a:avLst/>
          </a:prstGeom>
          <a:noFill/>
        </p:spPr>
        <p:txBody>
          <a:bodyPr vert="horz" wrap="square" lIns="0" tIns="0" rIns="0" bIns="0" rtlCol="0" anchor="t">
            <a:noAutofit/>
          </a:bodyPr>
          <a:lstStyle/>
          <a:p>
            <a:pPr algn="ctr"/>
            <a:r>
              <a:rPr lang="es-BO" sz="600">
                <a:solidFill>
                  <a:srgbClr val="FFFFFF"/>
                </a:solidFill>
                <a:latin typeface="Segoe UI" panose="020B0502040204020203" pitchFamily="34" charset="0"/>
              </a:rPr>
              <a:t>Orienta todo lo demás</a:t>
            </a:r>
          </a:p>
        </p:txBody>
      </p:sp>
      <p:sp>
        <p:nvSpPr>
          <p:cNvPr id="13" name="CuadroTexto 12">
            <a:extLst>
              <a:ext uri="{FF2B5EF4-FFF2-40B4-BE49-F238E27FC236}">
                <a16:creationId xmlns:a16="http://schemas.microsoft.com/office/drawing/2014/main" id="{B0B3FEAB-CF90-3CB2-FE6F-C064E7F2C26D}"/>
              </a:ext>
            </a:extLst>
          </p:cNvPr>
          <p:cNvSpPr txBox="1"/>
          <p:nvPr/>
        </p:nvSpPr>
        <p:spPr>
          <a:xfrm>
            <a:off x="7467600" y="1917700"/>
            <a:ext cx="558800" cy="381000"/>
          </a:xfrm>
          <a:prstGeom prst="rect">
            <a:avLst/>
          </a:prstGeom>
          <a:noFill/>
        </p:spPr>
        <p:txBody>
          <a:bodyPr vert="horz" wrap="square" lIns="0" tIns="0" rIns="0" bIns="0" rtlCol="0" anchor="t">
            <a:noAutofit/>
          </a:bodyPr>
          <a:lstStyle/>
          <a:p>
            <a:pPr algn="r"/>
            <a:r>
              <a:rPr lang="es-BO" sz="550">
                <a:solidFill>
                  <a:srgbClr val="938A7C"/>
                </a:solidFill>
                <a:latin typeface="Segoe UI" panose="020B0502040204020203" pitchFamily="34" charset="0"/>
              </a:rPr>
              <a:t>Coste cero</a:t>
            </a:r>
          </a:p>
        </p:txBody>
      </p:sp>
      <p:sp>
        <p:nvSpPr>
          <p:cNvPr id="14" name="Rectángulo 13">
            <a:extLst>
              <a:ext uri="{FF2B5EF4-FFF2-40B4-BE49-F238E27FC236}">
                <a16:creationId xmlns:a16="http://schemas.microsoft.com/office/drawing/2014/main" id="{18937FFB-36E3-2529-F260-1183229F48ED}"/>
              </a:ext>
            </a:extLst>
          </p:cNvPr>
          <p:cNvSpPr/>
          <p:nvPr/>
        </p:nvSpPr>
        <p:spPr>
          <a:xfrm>
            <a:off x="8280400" y="2374900"/>
            <a:ext cx="2438400" cy="4064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652BAAE6-8073-C3AE-7247-06B58F67F27B}"/>
              </a:ext>
            </a:extLst>
          </p:cNvPr>
          <p:cNvSpPr txBox="1"/>
          <p:nvPr/>
        </p:nvSpPr>
        <p:spPr>
          <a:xfrm>
            <a:off x="8280400" y="2400300"/>
            <a:ext cx="2438400" cy="139700"/>
          </a:xfrm>
          <a:prstGeom prst="rect">
            <a:avLst/>
          </a:prstGeom>
          <a:noFill/>
        </p:spPr>
        <p:txBody>
          <a:bodyPr vert="horz" wrap="square" lIns="0" tIns="0" rIns="0" bIns="0" rtlCol="0" anchor="t">
            <a:noAutofit/>
          </a:bodyPr>
          <a:lstStyle/>
          <a:p>
            <a:pPr algn="ctr"/>
            <a:r>
              <a:rPr lang="es-BO" sz="750">
                <a:solidFill>
                  <a:srgbClr val="FFFFFF"/>
                </a:solidFill>
                <a:latin typeface="Segoe UI Semibold" panose="020B0702040204020203" pitchFamily="34" charset="0"/>
              </a:rPr>
              <a:t>Ensayos no destructivos</a:t>
            </a:r>
          </a:p>
        </p:txBody>
      </p:sp>
      <p:sp>
        <p:nvSpPr>
          <p:cNvPr id="16" name="CuadroTexto 15">
            <a:extLst>
              <a:ext uri="{FF2B5EF4-FFF2-40B4-BE49-F238E27FC236}">
                <a16:creationId xmlns:a16="http://schemas.microsoft.com/office/drawing/2014/main" id="{BA290BA0-F48C-D6BB-A898-441D65CCFE48}"/>
              </a:ext>
            </a:extLst>
          </p:cNvPr>
          <p:cNvSpPr txBox="1"/>
          <p:nvPr/>
        </p:nvSpPr>
        <p:spPr>
          <a:xfrm>
            <a:off x="8280400" y="2540000"/>
            <a:ext cx="2438400" cy="127000"/>
          </a:xfrm>
          <a:prstGeom prst="rect">
            <a:avLst/>
          </a:prstGeom>
          <a:noFill/>
        </p:spPr>
        <p:txBody>
          <a:bodyPr vert="horz" wrap="square" lIns="0" tIns="0" rIns="0" bIns="0" rtlCol="0" anchor="t">
            <a:noAutofit/>
          </a:bodyPr>
          <a:lstStyle/>
          <a:p>
            <a:pPr algn="ctr"/>
            <a:r>
              <a:rPr lang="es-MX" sz="600">
                <a:solidFill>
                  <a:srgbClr val="FFFFFF"/>
                </a:solidFill>
                <a:latin typeface="Segoe UI" panose="020B0502040204020203" pitchFamily="34" charset="0"/>
              </a:rPr>
              <a:t>Dice dónde mirar de cerca</a:t>
            </a:r>
            <a:endParaRPr lang="es-BO" sz="600">
              <a:solidFill>
                <a:srgbClr val="FFFFFF"/>
              </a:solidFill>
              <a:latin typeface="Segoe UI" panose="020B0502040204020203" pitchFamily="34" charset="0"/>
            </a:endParaRPr>
          </a:p>
        </p:txBody>
      </p:sp>
      <p:sp>
        <p:nvSpPr>
          <p:cNvPr id="17" name="CuadroTexto 16">
            <a:extLst>
              <a:ext uri="{FF2B5EF4-FFF2-40B4-BE49-F238E27FC236}">
                <a16:creationId xmlns:a16="http://schemas.microsoft.com/office/drawing/2014/main" id="{A279D5C1-54C9-CECA-C98F-C66594A3FF81}"/>
              </a:ext>
            </a:extLst>
          </p:cNvPr>
          <p:cNvSpPr txBox="1"/>
          <p:nvPr/>
        </p:nvSpPr>
        <p:spPr>
          <a:xfrm>
            <a:off x="7467600" y="2413000"/>
            <a:ext cx="558800" cy="381000"/>
          </a:xfrm>
          <a:prstGeom prst="rect">
            <a:avLst/>
          </a:prstGeom>
          <a:noFill/>
        </p:spPr>
        <p:txBody>
          <a:bodyPr vert="horz" wrap="square" lIns="0" tIns="0" rIns="0" bIns="0" rtlCol="0" anchor="t">
            <a:noAutofit/>
          </a:bodyPr>
          <a:lstStyle/>
          <a:p>
            <a:pPr algn="r"/>
            <a:r>
              <a:rPr lang="es-BO" sz="550">
                <a:solidFill>
                  <a:srgbClr val="938A7C"/>
                </a:solidFill>
                <a:latin typeface="Segoe UI" panose="020B0502040204020203" pitchFamily="34" charset="0"/>
              </a:rPr>
              <a:t>Barato, cien por cien</a:t>
            </a:r>
          </a:p>
        </p:txBody>
      </p:sp>
      <p:sp>
        <p:nvSpPr>
          <p:cNvPr id="18" name="Rectángulo 17">
            <a:extLst>
              <a:ext uri="{FF2B5EF4-FFF2-40B4-BE49-F238E27FC236}">
                <a16:creationId xmlns:a16="http://schemas.microsoft.com/office/drawing/2014/main" id="{07FF3BFA-B179-D65B-A79A-53611B350D81}"/>
              </a:ext>
            </a:extLst>
          </p:cNvPr>
          <p:cNvSpPr/>
          <p:nvPr/>
        </p:nvSpPr>
        <p:spPr>
          <a:xfrm>
            <a:off x="8615680" y="2870200"/>
            <a:ext cx="1767840" cy="406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1669B017-4B15-D2AC-53C7-15191D9A6ECD}"/>
              </a:ext>
            </a:extLst>
          </p:cNvPr>
          <p:cNvSpPr txBox="1"/>
          <p:nvPr/>
        </p:nvSpPr>
        <p:spPr>
          <a:xfrm>
            <a:off x="8615680" y="2895600"/>
            <a:ext cx="1767840" cy="139700"/>
          </a:xfrm>
          <a:prstGeom prst="rect">
            <a:avLst/>
          </a:prstGeom>
          <a:noFill/>
        </p:spPr>
        <p:txBody>
          <a:bodyPr vert="horz" wrap="square" lIns="0" tIns="0" rIns="0" bIns="0" rtlCol="0" anchor="t">
            <a:noAutofit/>
          </a:bodyPr>
          <a:lstStyle/>
          <a:p>
            <a:pPr algn="ctr"/>
            <a:r>
              <a:rPr lang="es-BO" sz="750">
                <a:solidFill>
                  <a:srgbClr val="FFFFFF"/>
                </a:solidFill>
                <a:latin typeface="Segoe UI Semibold" panose="020B0702040204020203" pitchFamily="34" charset="0"/>
              </a:rPr>
              <a:t>Semidestructivos</a:t>
            </a:r>
          </a:p>
        </p:txBody>
      </p:sp>
      <p:sp>
        <p:nvSpPr>
          <p:cNvPr id="20" name="CuadroTexto 19">
            <a:extLst>
              <a:ext uri="{FF2B5EF4-FFF2-40B4-BE49-F238E27FC236}">
                <a16:creationId xmlns:a16="http://schemas.microsoft.com/office/drawing/2014/main" id="{974B93C8-5DEF-047A-7DFB-BB7EA2AAB0A7}"/>
              </a:ext>
            </a:extLst>
          </p:cNvPr>
          <p:cNvSpPr txBox="1"/>
          <p:nvPr/>
        </p:nvSpPr>
        <p:spPr>
          <a:xfrm>
            <a:off x="8615680" y="3035300"/>
            <a:ext cx="1767840" cy="127000"/>
          </a:xfrm>
          <a:prstGeom prst="rect">
            <a:avLst/>
          </a:prstGeom>
          <a:noFill/>
        </p:spPr>
        <p:txBody>
          <a:bodyPr vert="horz" wrap="square" lIns="0" tIns="0" rIns="0" bIns="0" rtlCol="0" anchor="t">
            <a:noAutofit/>
          </a:bodyPr>
          <a:lstStyle/>
          <a:p>
            <a:pPr algn="ctr"/>
            <a:r>
              <a:rPr lang="es-MX" sz="600">
                <a:solidFill>
                  <a:srgbClr val="FFFFFF"/>
                </a:solidFill>
                <a:latin typeface="Segoe UI" panose="020B0502040204020203" pitchFamily="34" charset="0"/>
              </a:rPr>
              <a:t>Confirma lo que barrió el anterior</a:t>
            </a:r>
            <a:endParaRPr lang="es-BO" sz="600">
              <a:solidFill>
                <a:srgbClr val="FFFFFF"/>
              </a:solidFill>
              <a:latin typeface="Segoe UI" panose="020B0502040204020203" pitchFamily="34" charset="0"/>
            </a:endParaRPr>
          </a:p>
        </p:txBody>
      </p:sp>
      <p:sp>
        <p:nvSpPr>
          <p:cNvPr id="21" name="CuadroTexto 20">
            <a:extLst>
              <a:ext uri="{FF2B5EF4-FFF2-40B4-BE49-F238E27FC236}">
                <a16:creationId xmlns:a16="http://schemas.microsoft.com/office/drawing/2014/main" id="{42AEED80-C323-9E17-DA47-F2C91154EB2D}"/>
              </a:ext>
            </a:extLst>
          </p:cNvPr>
          <p:cNvSpPr txBox="1"/>
          <p:nvPr/>
        </p:nvSpPr>
        <p:spPr>
          <a:xfrm>
            <a:off x="7467600" y="2908300"/>
            <a:ext cx="558800" cy="381000"/>
          </a:xfrm>
          <a:prstGeom prst="rect">
            <a:avLst/>
          </a:prstGeom>
          <a:noFill/>
        </p:spPr>
        <p:txBody>
          <a:bodyPr vert="horz" wrap="square" lIns="0" tIns="0" rIns="0" bIns="0" rtlCol="0" anchor="t">
            <a:noAutofit/>
          </a:bodyPr>
          <a:lstStyle/>
          <a:p>
            <a:pPr algn="r"/>
            <a:r>
              <a:rPr lang="es-BO" sz="550">
                <a:solidFill>
                  <a:srgbClr val="938A7C"/>
                </a:solidFill>
                <a:latin typeface="Segoe UI" panose="020B0502040204020203" pitchFamily="34" charset="0"/>
              </a:rPr>
              <a:t>Puntual</a:t>
            </a:r>
          </a:p>
        </p:txBody>
      </p:sp>
      <p:sp>
        <p:nvSpPr>
          <p:cNvPr id="22" name="Rectángulo 21">
            <a:extLst>
              <a:ext uri="{FF2B5EF4-FFF2-40B4-BE49-F238E27FC236}">
                <a16:creationId xmlns:a16="http://schemas.microsoft.com/office/drawing/2014/main" id="{6C2AA05A-DC02-3CC1-CCCE-B4376677C347}"/>
              </a:ext>
            </a:extLst>
          </p:cNvPr>
          <p:cNvSpPr/>
          <p:nvPr/>
        </p:nvSpPr>
        <p:spPr>
          <a:xfrm>
            <a:off x="8981440" y="3365500"/>
            <a:ext cx="1036320" cy="4064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856874D6-2623-5AF9-A036-C12C13C9D683}"/>
              </a:ext>
            </a:extLst>
          </p:cNvPr>
          <p:cNvSpPr txBox="1"/>
          <p:nvPr/>
        </p:nvSpPr>
        <p:spPr>
          <a:xfrm>
            <a:off x="8981440" y="3390900"/>
            <a:ext cx="1036320" cy="139700"/>
          </a:xfrm>
          <a:prstGeom prst="rect">
            <a:avLst/>
          </a:prstGeom>
          <a:noFill/>
        </p:spPr>
        <p:txBody>
          <a:bodyPr vert="horz" wrap="square" lIns="0" tIns="0" rIns="0" bIns="0" rtlCol="0" anchor="t">
            <a:noAutofit/>
          </a:bodyPr>
          <a:lstStyle/>
          <a:p>
            <a:pPr algn="ctr"/>
            <a:r>
              <a:rPr lang="es-BO" sz="750">
                <a:solidFill>
                  <a:srgbClr val="FFFFFF"/>
                </a:solidFill>
                <a:latin typeface="Segoe UI Semibold" panose="020B0702040204020203" pitchFamily="34" charset="0"/>
              </a:rPr>
              <a:t>Testigos y laboratorio</a:t>
            </a:r>
          </a:p>
        </p:txBody>
      </p:sp>
      <p:sp>
        <p:nvSpPr>
          <p:cNvPr id="24" name="CuadroTexto 23">
            <a:extLst>
              <a:ext uri="{FF2B5EF4-FFF2-40B4-BE49-F238E27FC236}">
                <a16:creationId xmlns:a16="http://schemas.microsoft.com/office/drawing/2014/main" id="{E7653FE0-4F73-3947-8453-B32EC1863947}"/>
              </a:ext>
            </a:extLst>
          </p:cNvPr>
          <p:cNvSpPr txBox="1"/>
          <p:nvPr/>
        </p:nvSpPr>
        <p:spPr>
          <a:xfrm>
            <a:off x="8981440" y="3530600"/>
            <a:ext cx="1036320" cy="127000"/>
          </a:xfrm>
          <a:prstGeom prst="rect">
            <a:avLst/>
          </a:prstGeom>
          <a:noFill/>
        </p:spPr>
        <p:txBody>
          <a:bodyPr vert="horz" wrap="square" lIns="0" tIns="0" rIns="0" bIns="0" rtlCol="0" anchor="t">
            <a:noAutofit/>
          </a:bodyPr>
          <a:lstStyle/>
          <a:p>
            <a:pPr algn="ctr"/>
            <a:r>
              <a:rPr lang="es-BO" sz="600">
                <a:solidFill>
                  <a:srgbClr val="FFFFFF"/>
                </a:solidFill>
                <a:latin typeface="Segoe UI" panose="020B0502040204020203" pitchFamily="34" charset="0"/>
              </a:rPr>
              <a:t>Da el número que entra al cálculo</a:t>
            </a:r>
          </a:p>
        </p:txBody>
      </p:sp>
      <p:sp>
        <p:nvSpPr>
          <p:cNvPr id="25" name="CuadroTexto 24">
            <a:extLst>
              <a:ext uri="{FF2B5EF4-FFF2-40B4-BE49-F238E27FC236}">
                <a16:creationId xmlns:a16="http://schemas.microsoft.com/office/drawing/2014/main" id="{AC26F532-E6F9-CCE4-C1E6-15EF085EF5ED}"/>
              </a:ext>
            </a:extLst>
          </p:cNvPr>
          <p:cNvSpPr txBox="1"/>
          <p:nvPr/>
        </p:nvSpPr>
        <p:spPr>
          <a:xfrm>
            <a:off x="7467600" y="3403600"/>
            <a:ext cx="558800" cy="381000"/>
          </a:xfrm>
          <a:prstGeom prst="rect">
            <a:avLst/>
          </a:prstGeom>
          <a:noFill/>
        </p:spPr>
        <p:txBody>
          <a:bodyPr vert="horz" wrap="square" lIns="0" tIns="0" rIns="0" bIns="0" rtlCol="0" anchor="t">
            <a:noAutofit/>
          </a:bodyPr>
          <a:lstStyle/>
          <a:p>
            <a:pPr algn="r"/>
            <a:r>
              <a:rPr lang="es-BO" sz="550">
                <a:solidFill>
                  <a:srgbClr val="938A7C"/>
                </a:solidFill>
                <a:latin typeface="Segoe UI" panose="020B0502040204020203" pitchFamily="34" charset="0"/>
              </a:rPr>
              <a:t>Caro y definitivo</a:t>
            </a:r>
          </a:p>
        </p:txBody>
      </p:sp>
      <p:cxnSp>
        <p:nvCxnSpPr>
          <p:cNvPr id="26" name="Conector recto 25">
            <a:extLst>
              <a:ext uri="{FF2B5EF4-FFF2-40B4-BE49-F238E27FC236}">
                <a16:creationId xmlns:a16="http://schemas.microsoft.com/office/drawing/2014/main" id="{A7C80A79-C77E-C363-4B41-67D66F72D2C9}"/>
              </a:ext>
            </a:extLst>
          </p:cNvPr>
          <p:cNvCxnSpPr/>
          <p:nvPr/>
        </p:nvCxnSpPr>
        <p:spPr>
          <a:xfrm>
            <a:off x="11328400" y="1905000"/>
            <a:ext cx="0" cy="1930400"/>
          </a:xfrm>
          <a:prstGeom prst="line">
            <a:avLst/>
          </a:prstGeom>
          <a:ln w="15240">
            <a:solidFill>
              <a:srgbClr val="5A5248"/>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F80A9CBC-3FD2-36F9-335B-36FBAD983D69}"/>
              </a:ext>
            </a:extLst>
          </p:cNvPr>
          <p:cNvSpPr txBox="1"/>
          <p:nvPr/>
        </p:nvSpPr>
        <p:spPr>
          <a:xfrm>
            <a:off x="11176000" y="2184400"/>
            <a:ext cx="152400" cy="1016000"/>
          </a:xfrm>
          <a:prstGeom prst="rect">
            <a:avLst/>
          </a:prstGeom>
          <a:noFill/>
        </p:spPr>
        <p:txBody>
          <a:bodyPr vert="horz" wrap="square" lIns="0" tIns="0" rIns="0" bIns="0" rtlCol="0" anchor="ctr">
            <a:noAutofit/>
          </a:bodyPr>
          <a:lstStyle/>
          <a:p>
            <a:pPr algn="ctr"/>
            <a:r>
              <a:rPr lang="es-BO" sz="550" spc="120">
                <a:solidFill>
                  <a:srgbClr val="938A7C"/>
                </a:solidFill>
                <a:latin typeface="Segoe UI Semibold" panose="020B0702040204020203" pitchFamily="34" charset="0"/>
              </a:rPr>
              <a:t>COSTE POR DATO</a:t>
            </a:r>
          </a:p>
        </p:txBody>
      </p:sp>
      <p:sp>
        <p:nvSpPr>
          <p:cNvPr id="28" name="CuadroTexto 27">
            <a:extLst>
              <a:ext uri="{FF2B5EF4-FFF2-40B4-BE49-F238E27FC236}">
                <a16:creationId xmlns:a16="http://schemas.microsoft.com/office/drawing/2014/main" id="{2EE414D1-6787-113B-AAAE-8C9E37CB9E50}"/>
              </a:ext>
            </a:extLst>
          </p:cNvPr>
          <p:cNvSpPr txBox="1"/>
          <p:nvPr/>
        </p:nvSpPr>
        <p:spPr>
          <a:xfrm>
            <a:off x="7518400" y="4445000"/>
            <a:ext cx="3759200" cy="381000"/>
          </a:xfrm>
          <a:prstGeom prst="rect">
            <a:avLst/>
          </a:prstGeom>
          <a:noFill/>
        </p:spPr>
        <p:txBody>
          <a:bodyPr vert="horz" wrap="square" lIns="0" tIns="0" rIns="0" bIns="0" rtlCol="0" anchor="t">
            <a:noAutofit/>
          </a:bodyPr>
          <a:lstStyle/>
          <a:p>
            <a:pPr algn="ctr"/>
            <a:r>
              <a:rPr lang="es-MX" sz="700">
                <a:solidFill>
                  <a:srgbClr val="5A5248"/>
                </a:solidFill>
                <a:latin typeface="Segoe UI" panose="020B0502040204020203" pitchFamily="34" charset="0"/>
              </a:rPr>
              <a:t>Cada nivel decide dónde se hace el siguiente. </a:t>
            </a:r>
            <a:r>
              <a:rPr lang="es-MX" sz="700" b="1">
                <a:solidFill>
                  <a:srgbClr val="5A5248"/>
                </a:solidFill>
                <a:latin typeface="Segoe UI Semibold" panose="020B0702040204020203" pitchFamily="34" charset="0"/>
              </a:rPr>
              <a:t>Perforar antes de barrer es perforar donde es cómodo</a:t>
            </a:r>
            <a:r>
              <a:rPr lang="es-MX" sz="700">
                <a:solidFill>
                  <a:srgbClr val="5A5248"/>
                </a:solidFill>
                <a:latin typeface="Segoe UI" panose="020B0502040204020203" pitchFamily="34" charset="0"/>
              </a:rPr>
              <a:t>, que casi nunca es donde importa.</a:t>
            </a:r>
            <a:endParaRPr lang="es-BO" sz="700">
              <a:solidFill>
                <a:srgbClr val="5A5248"/>
              </a:solidFill>
              <a:latin typeface="Segoe UI" panose="020B0502040204020203" pitchFamily="34" charset="0"/>
            </a:endParaRPr>
          </a:p>
        </p:txBody>
      </p:sp>
      <p:sp>
        <p:nvSpPr>
          <p:cNvPr id="29" name="Rectángulo 28">
            <a:extLst>
              <a:ext uri="{FF2B5EF4-FFF2-40B4-BE49-F238E27FC236}">
                <a16:creationId xmlns:a16="http://schemas.microsoft.com/office/drawing/2014/main" id="{CFCAB201-5C19-C1BD-6580-C55419EDBE73}"/>
              </a:ext>
            </a:extLst>
          </p:cNvPr>
          <p:cNvSpPr/>
          <p:nvPr/>
        </p:nvSpPr>
        <p:spPr>
          <a:xfrm>
            <a:off x="609600" y="5029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1" name="CuadroTexto 30">
            <a:extLst>
              <a:ext uri="{FF2B5EF4-FFF2-40B4-BE49-F238E27FC236}">
                <a16:creationId xmlns:a16="http://schemas.microsoft.com/office/drawing/2014/main" id="{F351F269-2B39-82BF-C2BA-6043D16D761C}"/>
              </a:ext>
            </a:extLst>
          </p:cNvPr>
          <p:cNvSpPr txBox="1"/>
          <p:nvPr/>
        </p:nvSpPr>
        <p:spPr>
          <a:xfrm>
            <a:off x="838200" y="5080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 columna del medio es la que hay que leer. </a:t>
            </a:r>
            <a:r>
              <a:rPr lang="es-MX" sz="1200" b="1">
                <a:solidFill>
                  <a:srgbClr val="FFFFFF"/>
                </a:solidFill>
                <a:latin typeface="Segoe UI Semibold" panose="020B0702040204020203" pitchFamily="34" charset="0"/>
              </a:rPr>
              <a:t>Casi todos los errores de interpretación del curso vienen de pedirle a un ensayo lo que está en esa columna.</a:t>
            </a:r>
            <a:endParaRPr lang="es-BO" sz="1200" b="1">
              <a:solidFill>
                <a:srgbClr val="FFFFFF"/>
              </a:solidFill>
              <a:latin typeface="Segoe UI Semibold" panose="020B0702040204020203" pitchFamily="34" charset="0"/>
            </a:endParaRPr>
          </a:p>
        </p:txBody>
      </p:sp>
      <p:sp>
        <p:nvSpPr>
          <p:cNvPr id="32" name="CuadroTexto 31">
            <a:extLst>
              <a:ext uri="{FF2B5EF4-FFF2-40B4-BE49-F238E27FC236}">
                <a16:creationId xmlns:a16="http://schemas.microsoft.com/office/drawing/2014/main" id="{60E2079E-6CA1-D926-9041-6EC27175C6E2}"/>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BO" sz="700">
                <a:solidFill>
                  <a:srgbClr val="938A7C"/>
                </a:solidFill>
                <a:latin typeface="Segoe UI" panose="020B0502040204020203" pitchFamily="34" charset="0"/>
              </a:rPr>
              <a:t>Fuente: ACI 228.2R; normas indicadas en la última columna.</a:t>
            </a:r>
          </a:p>
        </p:txBody>
      </p:sp>
      <p:cxnSp>
        <p:nvCxnSpPr>
          <p:cNvPr id="33" name="Conector recto 32">
            <a:extLst>
              <a:ext uri="{FF2B5EF4-FFF2-40B4-BE49-F238E27FC236}">
                <a16:creationId xmlns:a16="http://schemas.microsoft.com/office/drawing/2014/main" id="{B62036F4-446F-E756-0028-10FC7E56E084}"/>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4" name="CuadroTexto 33">
            <a:extLst>
              <a:ext uri="{FF2B5EF4-FFF2-40B4-BE49-F238E27FC236}">
                <a16:creationId xmlns:a16="http://schemas.microsoft.com/office/drawing/2014/main" id="{28A91C82-5A43-67DF-A005-5424E6884560}"/>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5" name="CuadroTexto 34">
            <a:extLst>
              <a:ext uri="{FF2B5EF4-FFF2-40B4-BE49-F238E27FC236}">
                <a16:creationId xmlns:a16="http://schemas.microsoft.com/office/drawing/2014/main" id="{09CC0F2D-F055-3EB4-06A2-00F73C2FE1A0}"/>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6" name="PageNo">
            <a:extLst>
              <a:ext uri="{FF2B5EF4-FFF2-40B4-BE49-F238E27FC236}">
                <a16:creationId xmlns:a16="http://schemas.microsoft.com/office/drawing/2014/main" id="{22A728D0-E06A-35D8-A417-C7690BDB2087}"/>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12 / 39</a:t>
            </a:r>
          </a:p>
        </p:txBody>
      </p:sp>
    </p:spTree>
    <p:extLst>
      <p:ext uri="{BB962C8B-B14F-4D97-AF65-F5344CB8AC3E}">
        <p14:creationId xmlns:p14="http://schemas.microsoft.com/office/powerpoint/2010/main" val="3425514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43B8297-5305-A0DE-38BE-45C5071E67BD}"/>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2 · EL ESCLERÓMETRO</a:t>
            </a:r>
          </a:p>
        </p:txBody>
      </p:sp>
      <p:sp>
        <p:nvSpPr>
          <p:cNvPr id="3" name="Title">
            <a:extLst>
              <a:ext uri="{FF2B5EF4-FFF2-40B4-BE49-F238E27FC236}">
                <a16:creationId xmlns:a16="http://schemas.microsoft.com/office/drawing/2014/main" id="{5EF21FB0-E7C1-9AC7-F7BD-3851148B28B9}"/>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Mide la dureza de la piel, y en una obra vieja la piel miente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566C8AE9-0416-0CF8-4814-6A9154AD0A3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42D777B6-5925-D4E6-5AAD-5B93C0D28DF4}"/>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2B00C8E9-D944-E1C0-466A-F1E7F9325A9D}"/>
              </a:ext>
            </a:extLst>
          </p:cNvPr>
          <p:cNvSpPr txBox="1"/>
          <p:nvPr/>
        </p:nvSpPr>
        <p:spPr>
          <a:xfrm>
            <a:off x="1143000" y="14351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Qué hace realmente</a:t>
            </a:r>
          </a:p>
        </p:txBody>
      </p:sp>
      <p:sp>
        <p:nvSpPr>
          <p:cNvPr id="8" name="CuadroTexto 7">
            <a:extLst>
              <a:ext uri="{FF2B5EF4-FFF2-40B4-BE49-F238E27FC236}">
                <a16:creationId xmlns:a16="http://schemas.microsoft.com/office/drawing/2014/main" id="{CF6F425E-6292-2299-64D8-C6963C7A7D0D}"/>
              </a:ext>
            </a:extLst>
          </p:cNvPr>
          <p:cNvSpPr txBox="1"/>
          <p:nvPr/>
        </p:nvSpPr>
        <p:spPr>
          <a:xfrm>
            <a:off x="1143000" y="16891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Lanza una masa contra la superficie y mide cuánto rebota. El rebote depende de la dureza de los primeros 30 milímetros, nada más.</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C8933DB2-F281-B01C-1791-4A8010FAB364}"/>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608451EE-C5F3-7047-29DD-2AA6B5E47F08}"/>
              </a:ext>
            </a:extLst>
          </p:cNvPr>
          <p:cNvSpPr txBox="1"/>
          <p:nvPr/>
        </p:nvSpPr>
        <p:spPr>
          <a:xfrm>
            <a:off x="1143000" y="24003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Por qué sobreestima</a:t>
            </a:r>
          </a:p>
        </p:txBody>
      </p:sp>
      <p:sp>
        <p:nvSpPr>
          <p:cNvPr id="11" name="CuadroTexto 10">
            <a:extLst>
              <a:ext uri="{FF2B5EF4-FFF2-40B4-BE49-F238E27FC236}">
                <a16:creationId xmlns:a16="http://schemas.microsoft.com/office/drawing/2014/main" id="{38A86EF4-15B8-0BDA-0639-20628CDEFFAA}"/>
              </a:ext>
            </a:extLst>
          </p:cNvPr>
          <p:cNvSpPr txBox="1"/>
          <p:nvPr/>
        </p:nvSpPr>
        <p:spPr>
          <a:xfrm>
            <a:off x="1143000" y="26543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En una obra vieja esos 30 mm están </a:t>
            </a:r>
            <a:r>
              <a:rPr lang="es-MX" sz="1150" b="1">
                <a:solidFill>
                  <a:srgbClr val="5A5248"/>
                </a:solidFill>
                <a:latin typeface="Segoe UI Semibold" panose="020B0702040204020203" pitchFamily="34" charset="0"/>
              </a:rPr>
              <a:t>carbonatados y endurecidos</a:t>
            </a:r>
            <a:r>
              <a:rPr lang="es-MX" sz="1150">
                <a:solidFill>
                  <a:srgbClr val="5A5248"/>
                </a:solidFill>
                <a:latin typeface="Segoe UI" panose="020B0502040204020203" pitchFamily="34" charset="0"/>
              </a:rPr>
              <a:t>. El aparato lee una piel dura sobre un hormigón que puede ser mucho peor.</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0E7D1A65-51B9-933D-B801-384CF23D99FC}"/>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F603EB69-519E-5838-857B-CD9890E68677}"/>
              </a:ext>
            </a:extLst>
          </p:cNvPr>
          <p:cNvSpPr txBox="1"/>
          <p:nvPr/>
        </p:nvSpPr>
        <p:spPr>
          <a:xfrm>
            <a:off x="1143000" y="33655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La curva del fabricante no vale</a:t>
            </a:r>
          </a:p>
        </p:txBody>
      </p:sp>
      <p:sp>
        <p:nvSpPr>
          <p:cNvPr id="14" name="CuadroTexto 13">
            <a:extLst>
              <a:ext uri="{FF2B5EF4-FFF2-40B4-BE49-F238E27FC236}">
                <a16:creationId xmlns:a16="http://schemas.microsoft.com/office/drawing/2014/main" id="{6C21AA1D-5DD5-88CF-F9F4-93824A505913}"/>
              </a:ext>
            </a:extLst>
          </p:cNvPr>
          <p:cNvSpPr txBox="1"/>
          <p:nvPr/>
        </p:nvSpPr>
        <p:spPr>
          <a:xfrm>
            <a:off x="1143000" y="36195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Está construida con hormigones nuevos de mezcla conocida. Aplicarla a un hormigón de 28 años es usar una regla hecha para otra cosa.</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8091B0D2-D93E-CC4F-1AAC-5C350D72635D}"/>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FDDC8CD5-6BF0-2958-11F8-5D07C462A0A8}"/>
              </a:ext>
            </a:extLst>
          </p:cNvPr>
          <p:cNvSpPr txBox="1"/>
          <p:nvPr/>
        </p:nvSpPr>
        <p:spPr>
          <a:xfrm>
            <a:off x="1143000" y="43307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Cómo se usa bien</a:t>
            </a:r>
          </a:p>
        </p:txBody>
      </p:sp>
      <p:sp>
        <p:nvSpPr>
          <p:cNvPr id="17" name="CuadroTexto 16">
            <a:extLst>
              <a:ext uri="{FF2B5EF4-FFF2-40B4-BE49-F238E27FC236}">
                <a16:creationId xmlns:a16="http://schemas.microsoft.com/office/drawing/2014/main" id="{312E7CA9-7F97-B624-E347-88367624DF0F}"/>
              </a:ext>
            </a:extLst>
          </p:cNvPr>
          <p:cNvSpPr txBox="1"/>
          <p:nvPr/>
        </p:nvSpPr>
        <p:spPr>
          <a:xfrm>
            <a:off x="1143000" y="45847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Para </a:t>
            </a:r>
            <a:r>
              <a:rPr lang="es-MX" sz="1150" b="1">
                <a:solidFill>
                  <a:srgbClr val="5A5248"/>
                </a:solidFill>
                <a:latin typeface="Segoe UI Semibold" panose="020B0702040204020203" pitchFamily="34" charset="0"/>
              </a:rPr>
              <a:t>mapear uniformidad</a:t>
            </a:r>
            <a:r>
              <a:rPr lang="es-MX" sz="1150">
                <a:solidFill>
                  <a:srgbClr val="5A5248"/>
                </a:solidFill>
                <a:latin typeface="Segoe UI" panose="020B0502040204020203" pitchFamily="34" charset="0"/>
              </a:rPr>
              <a:t>: encontrar las zonas flojas dentro de un elemento. El valor absoluto se ancla con testigos, con una correlación propia de esa obra.</a:t>
            </a:r>
            <a:endParaRPr lang="es-BO" sz="1150">
              <a:solidFill>
                <a:srgbClr val="5A5248"/>
              </a:solidFill>
              <a:latin typeface="Segoe UI" panose="020B0502040204020203" pitchFamily="34" charset="0"/>
            </a:endParaRPr>
          </a:p>
        </p:txBody>
      </p:sp>
      <p:pic>
        <p:nvPicPr>
          <p:cNvPr id="19" name="Imagen 18" descr="Esclerómetro sobre hormigón con piel carbonatada y correlación propia frente a la curva del fabricante">
            <a:extLst>
              <a:ext uri="{FF2B5EF4-FFF2-40B4-BE49-F238E27FC236}">
                <a16:creationId xmlns:a16="http://schemas.microsoft.com/office/drawing/2014/main" id="{32DCD593-1A29-9817-616C-5C1E3B1ACC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26400" y="1422400"/>
            <a:ext cx="3556000" cy="3759200"/>
          </a:xfrm>
          <a:prstGeom prst="rect">
            <a:avLst/>
          </a:prstGeom>
        </p:spPr>
      </p:pic>
      <p:sp>
        <p:nvSpPr>
          <p:cNvPr id="20" name="Rectángulo 19">
            <a:extLst>
              <a:ext uri="{FF2B5EF4-FFF2-40B4-BE49-F238E27FC236}">
                <a16:creationId xmlns:a16="http://schemas.microsoft.com/office/drawing/2014/main" id="{CBCAD094-1F95-7B55-1B89-9D54B52C277F}"/>
              </a:ext>
            </a:extLst>
          </p:cNvPr>
          <p:cNvSpPr/>
          <p:nvPr/>
        </p:nvSpPr>
        <p:spPr>
          <a:xfrm>
            <a:off x="609600" y="5384800"/>
            <a:ext cx="7112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29585F8B-2637-B390-F1E9-CB1666AAD54C}"/>
              </a:ext>
            </a:extLst>
          </p:cNvPr>
          <p:cNvSpPr txBox="1"/>
          <p:nvPr/>
        </p:nvSpPr>
        <p:spPr>
          <a:xfrm>
            <a:off x="838200" y="5435600"/>
            <a:ext cx="6705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En C-4 el rebote medio da </a:t>
            </a:r>
            <a:r>
              <a:rPr lang="es-MX" sz="1150" b="1">
                <a:solidFill>
                  <a:srgbClr val="FFFFFF"/>
                </a:solidFill>
                <a:latin typeface="Segoe UI Semibold" panose="020B0702040204020203" pitchFamily="34" charset="0"/>
              </a:rPr>
              <a:t>32</a:t>
            </a:r>
            <a:r>
              <a:rPr lang="es-MX" sz="1150">
                <a:solidFill>
                  <a:srgbClr val="FFFFFF"/>
                </a:solidFill>
                <a:latin typeface="Segoe UI" panose="020B0502040204020203" pitchFamily="34" charset="0"/>
              </a:rPr>
              <a:t>, que en la curva del fabricante son 28 MPa. Los testigos dicen otra cosa. Caso 6.3.</a:t>
            </a:r>
            <a:endParaRPr lang="es-BO" sz="1150">
              <a:solidFill>
                <a:srgbClr val="FFFFFF"/>
              </a:solidFill>
              <a:latin typeface="Segoe UI" panose="020B0502040204020203" pitchFamily="34" charset="0"/>
            </a:endParaRPr>
          </a:p>
        </p:txBody>
      </p:sp>
      <p:sp>
        <p:nvSpPr>
          <p:cNvPr id="23" name="CuadroTexto 22">
            <a:extLst>
              <a:ext uri="{FF2B5EF4-FFF2-40B4-BE49-F238E27FC236}">
                <a16:creationId xmlns:a16="http://schemas.microsoft.com/office/drawing/2014/main" id="{3EAF8136-ADD3-3ABE-EED7-3B09FC4A00DF}"/>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ASTM C805; ACI 228.1R, In-Place Methods to Estimate Concrete Strength.</a:t>
            </a:r>
            <a:endParaRPr lang="es-BO" sz="700">
              <a:solidFill>
                <a:srgbClr val="938A7C"/>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6C2EB602-C923-69CB-ECEB-599522265B58}"/>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C364C078-67FF-86A1-7291-E6218CE410E2}"/>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FAEDED88-1BB5-3093-BB3D-D6A6890D85C5}"/>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7" name="PageNo">
            <a:extLst>
              <a:ext uri="{FF2B5EF4-FFF2-40B4-BE49-F238E27FC236}">
                <a16:creationId xmlns:a16="http://schemas.microsoft.com/office/drawing/2014/main" id="{41C29111-1544-E96B-ABFF-516D8737505D}"/>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13 / 39</a:t>
            </a:r>
          </a:p>
        </p:txBody>
      </p:sp>
    </p:spTree>
    <p:extLst>
      <p:ext uri="{BB962C8B-B14F-4D97-AF65-F5344CB8AC3E}">
        <p14:creationId xmlns:p14="http://schemas.microsoft.com/office/powerpoint/2010/main" val="417992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173F16-D5B4-7E92-8768-41541F5A3C65}"/>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2 · ULTRASONIDO Y PACÓMETRO</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EEDE9231-B2D7-7E7D-71AE-D559198473A3}"/>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Dos aparatos honestos a los que se les pide lo que no tienen</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CCA6C660-F771-93CE-037D-FBCE292C440B}"/>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2E1842ED-3169-1B7A-5729-99495356229D}"/>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09069DC9-D6C3-E223-D66F-1FBE3A52EFE9}"/>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B6F05E71-855C-6429-ECA4-20D9F375C704}"/>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Ultrasonido: qué sí</a:t>
            </a:r>
          </a:p>
        </p:txBody>
      </p:sp>
      <p:sp>
        <p:nvSpPr>
          <p:cNvPr id="10" name="CuadroTexto 9">
            <a:extLst>
              <a:ext uri="{FF2B5EF4-FFF2-40B4-BE49-F238E27FC236}">
                <a16:creationId xmlns:a16="http://schemas.microsoft.com/office/drawing/2014/main" id="{906D6408-4CA5-5D68-F3AC-F9110AA59430}"/>
              </a:ext>
            </a:extLst>
          </p:cNvPr>
          <p:cNvSpPr txBox="1"/>
          <p:nvPr/>
        </p:nvSpPr>
        <p:spPr>
          <a:xfrm>
            <a:off x="812800" y="2247900"/>
            <a:ext cx="2235200" cy="1854200"/>
          </a:xfrm>
          <a:prstGeom prst="rect">
            <a:avLst/>
          </a:prstGeom>
          <a:noFill/>
        </p:spPr>
        <p:txBody>
          <a:bodyPr vert="horz" wrap="square" lIns="0" tIns="0" rIns="0" bIns="0" rtlCol="0" anchor="t">
            <a:noAutofit/>
          </a:bodyPr>
          <a:lstStyle/>
          <a:p>
            <a:pPr algn="l"/>
            <a:r>
              <a:rPr lang="es-BO" sz="1100">
                <a:solidFill>
                  <a:srgbClr val="5A5248"/>
                </a:solidFill>
                <a:latin typeface="Segoe UI" panose="020B0502040204020203" pitchFamily="34" charset="0"/>
              </a:rPr>
              <a:t>Velocidad de pulso entre dos caras. Detecta huecos, coqueras, fisuras internas y compara zonas entre sí. Excelente para uniformidad.</a:t>
            </a:r>
          </a:p>
        </p:txBody>
      </p:sp>
      <p:sp>
        <p:nvSpPr>
          <p:cNvPr id="11" name="Rectángulo 10">
            <a:extLst>
              <a:ext uri="{FF2B5EF4-FFF2-40B4-BE49-F238E27FC236}">
                <a16:creationId xmlns:a16="http://schemas.microsoft.com/office/drawing/2014/main" id="{70D62FD8-6E0F-B4AB-D578-5E771195CFEC}"/>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46AF1FB9-19BE-ECEC-62FE-404426876095}"/>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F15134BE-EFFA-E3F6-40C5-8378E5CD94DF}"/>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Ultrasonido: qué no</a:t>
            </a:r>
          </a:p>
        </p:txBody>
      </p:sp>
      <p:sp>
        <p:nvSpPr>
          <p:cNvPr id="15" name="CuadroTexto 14">
            <a:extLst>
              <a:ext uri="{FF2B5EF4-FFF2-40B4-BE49-F238E27FC236}">
                <a16:creationId xmlns:a16="http://schemas.microsoft.com/office/drawing/2014/main" id="{78D58864-9EA7-281A-768C-C5EC5ACDBCFD}"/>
              </a:ext>
            </a:extLst>
          </p:cNvPr>
          <p:cNvSpPr txBox="1"/>
          <p:nvPr/>
        </p:nvSpPr>
        <p:spPr>
          <a:xfrm>
            <a:off x="3606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No da resistencia. Las tablas velocidad-resistencia de los manuales son orientativas y dependen del árido, de la humedad y de la armadura.</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08CAFC1E-BE8D-D5BA-10AD-71165D4FB8BD}"/>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B280108B-DACD-61A4-772D-4830E448EF42}"/>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AA9932B5-22CA-3BBD-FE55-57DBFB42ACEC}"/>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Pacómetro: qué sí</a:t>
            </a:r>
          </a:p>
        </p:txBody>
      </p:sp>
      <p:sp>
        <p:nvSpPr>
          <p:cNvPr id="20" name="CuadroTexto 19">
            <a:extLst>
              <a:ext uri="{FF2B5EF4-FFF2-40B4-BE49-F238E27FC236}">
                <a16:creationId xmlns:a16="http://schemas.microsoft.com/office/drawing/2014/main" id="{780331B7-0539-BE28-3F3B-1128A80BC1FE}"/>
              </a:ext>
            </a:extLst>
          </p:cNvPr>
          <p:cNvSpPr txBox="1"/>
          <p:nvPr/>
        </p:nvSpPr>
        <p:spPr>
          <a:xfrm>
            <a:off x="6400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Posición de las barras, separación y recubrimiento con precisión de pocos milímetros. Es el ensayo que más se amortiza del repertorio.</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EF6288B0-CC25-4B62-7977-5B59D8A43E3F}"/>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D8E9E1CC-3437-62CE-9589-B64643CD1082}"/>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24" name="CuadroTexto 23">
            <a:extLst>
              <a:ext uri="{FF2B5EF4-FFF2-40B4-BE49-F238E27FC236}">
                <a16:creationId xmlns:a16="http://schemas.microsoft.com/office/drawing/2014/main" id="{76364D6C-5566-4237-D2B0-87DA6D407337}"/>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Pacómetro: qué no</a:t>
            </a:r>
          </a:p>
        </p:txBody>
      </p:sp>
      <p:sp>
        <p:nvSpPr>
          <p:cNvPr id="25" name="CuadroTexto 24">
            <a:extLst>
              <a:ext uri="{FF2B5EF4-FFF2-40B4-BE49-F238E27FC236}">
                <a16:creationId xmlns:a16="http://schemas.microsoft.com/office/drawing/2014/main" id="{B94581A1-F221-40E1-0A6D-40F9B922818D}"/>
              </a:ext>
            </a:extLst>
          </p:cNvPr>
          <p:cNvSpPr txBox="1"/>
          <p:nvPr/>
        </p:nvSpPr>
        <p:spPr>
          <a:xfrm>
            <a:off x="9194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No ve la sección residual: una barra corroída al cincuenta por ciento se detecta en el mismo sitio y con un diámetro aparente parecido.</a:t>
            </a:r>
            <a:endParaRPr lang="es-BO" sz="1100">
              <a:solidFill>
                <a:srgbClr val="5A5248"/>
              </a:solidFill>
              <a:latin typeface="Segoe UI" panose="020B0502040204020203" pitchFamily="34" charset="0"/>
            </a:endParaRPr>
          </a:p>
        </p:txBody>
      </p:sp>
      <p:pic>
        <p:nvPicPr>
          <p:cNvPr id="27" name="Imagen 26" descr="Ultrasonido por transmisión directa, nube velocidad-resistencia y pacómetro sobre barra sana y corroída">
            <a:extLst>
              <a:ext uri="{FF2B5EF4-FFF2-40B4-BE49-F238E27FC236}">
                <a16:creationId xmlns:a16="http://schemas.microsoft.com/office/drawing/2014/main" id="{0D58F395-6AF7-D752-0BB2-F63B3C4502E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18000"/>
            <a:ext cx="10972800" cy="1320800"/>
          </a:xfrm>
          <a:prstGeom prst="rect">
            <a:avLst/>
          </a:prstGeom>
        </p:spPr>
      </p:pic>
      <p:sp>
        <p:nvSpPr>
          <p:cNvPr id="28" name="Rectángulo 27">
            <a:extLst>
              <a:ext uri="{FF2B5EF4-FFF2-40B4-BE49-F238E27FC236}">
                <a16:creationId xmlns:a16="http://schemas.microsoft.com/office/drawing/2014/main" id="{05D83123-1D95-3630-49DA-0AC92059348E}"/>
              </a:ext>
            </a:extLst>
          </p:cNvPr>
          <p:cNvSpPr/>
          <p:nvPr/>
        </p:nvSpPr>
        <p:spPr>
          <a:xfrm>
            <a:off x="609600" y="5765800"/>
            <a:ext cx="10972800" cy="406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0691042D-7345-859D-0B45-1A10022E542D}"/>
              </a:ext>
            </a:extLst>
          </p:cNvPr>
          <p:cNvSpPr txBox="1"/>
          <p:nvPr/>
        </p:nvSpPr>
        <p:spPr>
          <a:xfrm>
            <a:off x="838200" y="5816600"/>
            <a:ext cx="10566400" cy="304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El pacómetro es el aparato que cambia más decisiones por bolivianos invertidos. </a:t>
            </a:r>
            <a:r>
              <a:rPr lang="es-MX" sz="1200" b="1">
                <a:solidFill>
                  <a:srgbClr val="FFFFFF"/>
                </a:solidFill>
                <a:latin typeface="Segoe UI Semibold" panose="020B0702040204020203" pitchFamily="34" charset="0"/>
              </a:rPr>
              <a:t>Las 40 lecturas de recubrimiento de la clase 1 salieron de una mañana de pacómetro</a:t>
            </a:r>
            <a:r>
              <a:rPr lang="es-MX" sz="1200">
                <a:solidFill>
                  <a:srgbClr val="FFFFFF"/>
                </a:solidFill>
                <a:latin typeface="Segoe UI" panose="020B0502040204020203" pitchFamily="34" charset="0"/>
              </a:rPr>
              <a:t>, y con ellas se calculó el 79 % de superficie despasivada.</a:t>
            </a:r>
            <a:endParaRPr lang="es-BO" sz="120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7E6481C4-9D36-42DB-B273-DB571CDDFB30}"/>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ASTM C597; BS 1881-204; ACI 228.2R.</a:t>
            </a:r>
            <a:endParaRPr lang="es-BO" sz="700">
              <a:solidFill>
                <a:srgbClr val="938A7C"/>
              </a:solidFill>
              <a:latin typeface="Segoe UI" panose="020B0502040204020203" pitchFamily="34" charset="0"/>
            </a:endParaRPr>
          </a:p>
        </p:txBody>
      </p:sp>
      <p:cxnSp>
        <p:nvCxnSpPr>
          <p:cNvPr id="32" name="Conector recto 31">
            <a:extLst>
              <a:ext uri="{FF2B5EF4-FFF2-40B4-BE49-F238E27FC236}">
                <a16:creationId xmlns:a16="http://schemas.microsoft.com/office/drawing/2014/main" id="{968F2B6D-19AA-ADB7-F4F0-EDDBEF1E5CEC}"/>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E6A065D6-FC78-8BD0-982A-319AEBC21D6F}"/>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7C0BBAE2-D3B8-57DD-774F-D2552CE491C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5" name="PageNo">
            <a:extLst>
              <a:ext uri="{FF2B5EF4-FFF2-40B4-BE49-F238E27FC236}">
                <a16:creationId xmlns:a16="http://schemas.microsoft.com/office/drawing/2014/main" id="{ED47FEED-C1E2-89EF-48DE-5B43D740C566}"/>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14 / 39</a:t>
            </a:r>
          </a:p>
        </p:txBody>
      </p:sp>
    </p:spTree>
    <p:extLst>
      <p:ext uri="{BB962C8B-B14F-4D97-AF65-F5344CB8AC3E}">
        <p14:creationId xmlns:p14="http://schemas.microsoft.com/office/powerpoint/2010/main" val="3464354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08467F2-A60B-D52E-4A34-71BCD686EB50}"/>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2 · RADAR Y TERMOGRAFÍA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016C8E3B-A1F8-36CD-C69C-6A81A6051C80}"/>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BO" sz="2700">
                <a:solidFill>
                  <a:srgbClr val="1C1813"/>
                </a:solidFill>
                <a:latin typeface="Bahnschrift SemiBold" panose="020B0502040204020203" pitchFamily="34" charset="0"/>
              </a:rPr>
              <a:t>Dos técnicas que ven dentro, y dos formas de interpretarlas mal</a:t>
            </a:r>
          </a:p>
        </p:txBody>
      </p:sp>
      <p:cxnSp>
        <p:nvCxnSpPr>
          <p:cNvPr id="4" name="Conector recto 3">
            <a:extLst>
              <a:ext uri="{FF2B5EF4-FFF2-40B4-BE49-F238E27FC236}">
                <a16:creationId xmlns:a16="http://schemas.microsoft.com/office/drawing/2014/main" id="{A5EA29F8-66A7-DA15-8EE5-10496F047DD6}"/>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58A8B798-0AA5-86C5-7441-508B6C3C0CC1}"/>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3F530D43-B02C-635E-0535-0A15F8ADAC29}"/>
              </a:ext>
            </a:extLst>
          </p:cNvPr>
          <p:cNvSpPr txBox="1"/>
          <p:nvPr/>
        </p:nvSpPr>
        <p:spPr>
          <a:xfrm>
            <a:off x="1143000" y="14351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Radar: qué aporta</a:t>
            </a:r>
          </a:p>
        </p:txBody>
      </p:sp>
      <p:sp>
        <p:nvSpPr>
          <p:cNvPr id="8" name="CuadroTexto 7">
            <a:extLst>
              <a:ext uri="{FF2B5EF4-FFF2-40B4-BE49-F238E27FC236}">
                <a16:creationId xmlns:a16="http://schemas.microsoft.com/office/drawing/2014/main" id="{ADB53253-3900-F0DB-3A98-AEDCA9F111A1}"/>
              </a:ext>
            </a:extLst>
          </p:cNvPr>
          <p:cNvSpPr txBox="1"/>
          <p:nvPr/>
        </p:nvSpPr>
        <p:spPr>
          <a:xfrm>
            <a:off x="1143000" y="16891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Barre superficies grandes muy rápido. Localiza armadura, mide espesores, encuentra vacíos y detecta cambios de humedad dentro del elemento.</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83F8DF8D-E9BA-2BEB-F4E4-175200DBB5F7}"/>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F623EBF2-ADC0-2558-E2F0-52D3EB0EDE3A}"/>
              </a:ext>
            </a:extLst>
          </p:cNvPr>
          <p:cNvSpPr txBox="1"/>
          <p:nvPr/>
        </p:nvSpPr>
        <p:spPr>
          <a:xfrm>
            <a:off x="1143000" y="24003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Radar: la trampa</a:t>
            </a:r>
          </a:p>
        </p:txBody>
      </p:sp>
      <p:sp>
        <p:nvSpPr>
          <p:cNvPr id="11" name="CuadroTexto 10">
            <a:extLst>
              <a:ext uri="{FF2B5EF4-FFF2-40B4-BE49-F238E27FC236}">
                <a16:creationId xmlns:a16="http://schemas.microsoft.com/office/drawing/2014/main" id="{25385527-7009-76AD-2F86-50DF1165DD93}"/>
              </a:ext>
            </a:extLst>
          </p:cNvPr>
          <p:cNvSpPr txBox="1"/>
          <p:nvPr/>
        </p:nvSpPr>
        <p:spPr>
          <a:xfrm>
            <a:off x="1143000" y="26543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La humedad cambia la señal. Un elemento húmedo puede ocultar la armadura profunda, y una anomalía de humedad se confunde con un vacío.</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9F17D875-A94B-9C08-3761-9FD712CFE3FA}"/>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D174A952-9DEF-49B7-5787-5181F2B45FBF}"/>
              </a:ext>
            </a:extLst>
          </p:cNvPr>
          <p:cNvSpPr txBox="1"/>
          <p:nvPr/>
        </p:nvSpPr>
        <p:spPr>
          <a:xfrm>
            <a:off x="1143000" y="33655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Termografía: qué aporta</a:t>
            </a:r>
          </a:p>
        </p:txBody>
      </p:sp>
      <p:sp>
        <p:nvSpPr>
          <p:cNvPr id="14" name="CuadroTexto 13">
            <a:extLst>
              <a:ext uri="{FF2B5EF4-FFF2-40B4-BE49-F238E27FC236}">
                <a16:creationId xmlns:a16="http://schemas.microsoft.com/office/drawing/2014/main" id="{F5E9FD50-6503-98B0-D83A-18BAFE8CC5F2}"/>
              </a:ext>
            </a:extLst>
          </p:cNvPr>
          <p:cNvSpPr txBox="1"/>
          <p:nvPr/>
        </p:nvSpPr>
        <p:spPr>
          <a:xfrm>
            <a:off x="1143000" y="36195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Un delaminado se calienta y se enfría distinto que el hormigón macizo. Permite mapear delaminaciones en fachadas enteras sin tocarlas.</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34B29AB0-3F73-84F3-0501-BC518BB0C962}"/>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7593BE13-0F06-0297-D255-8E5113DF8373}"/>
              </a:ext>
            </a:extLst>
          </p:cNvPr>
          <p:cNvSpPr txBox="1"/>
          <p:nvPr/>
        </p:nvSpPr>
        <p:spPr>
          <a:xfrm>
            <a:off x="1143000" y="43307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Termografía: la trampa</a:t>
            </a:r>
          </a:p>
        </p:txBody>
      </p:sp>
      <p:sp>
        <p:nvSpPr>
          <p:cNvPr id="17" name="CuadroTexto 16">
            <a:extLst>
              <a:ext uri="{FF2B5EF4-FFF2-40B4-BE49-F238E27FC236}">
                <a16:creationId xmlns:a16="http://schemas.microsoft.com/office/drawing/2014/main" id="{1E4C5279-DD9C-7D60-4707-F862A6773FE4}"/>
              </a:ext>
            </a:extLst>
          </p:cNvPr>
          <p:cNvSpPr txBox="1"/>
          <p:nvPr/>
        </p:nvSpPr>
        <p:spPr>
          <a:xfrm>
            <a:off x="1143000" y="45847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Necesita un gradiente térmico: sin sol o sin salto de temperatura no se ve nada. Y no dice </a:t>
            </a:r>
            <a:r>
              <a:rPr lang="es-MX" sz="1150" b="1">
                <a:solidFill>
                  <a:srgbClr val="5A5248"/>
                </a:solidFill>
                <a:latin typeface="Segoe UI Semibold" panose="020B0702040204020203" pitchFamily="34" charset="0"/>
              </a:rPr>
              <a:t>a qué profundidad</a:t>
            </a:r>
            <a:r>
              <a:rPr lang="es-MX" sz="1150">
                <a:solidFill>
                  <a:srgbClr val="5A5248"/>
                </a:solidFill>
                <a:latin typeface="Segoe UI" panose="020B0502040204020203" pitchFamily="34" charset="0"/>
              </a:rPr>
              <a:t> está el defecto.</a:t>
            </a:r>
            <a:endParaRPr lang="es-BO" sz="1150">
              <a:solidFill>
                <a:srgbClr val="5A5248"/>
              </a:solidFill>
              <a:latin typeface="Segoe UI" panose="020B0502040204020203" pitchFamily="34" charset="0"/>
            </a:endParaRPr>
          </a:p>
        </p:txBody>
      </p:sp>
      <p:pic>
        <p:nvPicPr>
          <p:cNvPr id="19" name="Imagen 18" descr="Radar con radargrama y zona húmeda; termografía de fachada con delaminado caliente">
            <a:extLst>
              <a:ext uri="{FF2B5EF4-FFF2-40B4-BE49-F238E27FC236}">
                <a16:creationId xmlns:a16="http://schemas.microsoft.com/office/drawing/2014/main" id="{44E00A07-8F4C-34DC-62D1-73DC266181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26400" y="1422400"/>
            <a:ext cx="3556000" cy="3759200"/>
          </a:xfrm>
          <a:prstGeom prst="rect">
            <a:avLst/>
          </a:prstGeom>
        </p:spPr>
      </p:pic>
      <p:sp>
        <p:nvSpPr>
          <p:cNvPr id="20" name="Rectángulo 19">
            <a:extLst>
              <a:ext uri="{FF2B5EF4-FFF2-40B4-BE49-F238E27FC236}">
                <a16:creationId xmlns:a16="http://schemas.microsoft.com/office/drawing/2014/main" id="{2A278063-31D4-FCEC-3BD2-D60ED9CC58FB}"/>
              </a:ext>
            </a:extLst>
          </p:cNvPr>
          <p:cNvSpPr/>
          <p:nvPr/>
        </p:nvSpPr>
        <p:spPr>
          <a:xfrm>
            <a:off x="609600" y="5384800"/>
            <a:ext cx="7112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D4BFCED9-DBDC-B613-55C7-29C269A5DF8B}"/>
              </a:ext>
            </a:extLst>
          </p:cNvPr>
          <p:cNvSpPr txBox="1"/>
          <p:nvPr/>
        </p:nvSpPr>
        <p:spPr>
          <a:xfrm>
            <a:off x="838200" y="5435600"/>
            <a:ext cx="6705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Las dos son potentes y las dos exigen </a:t>
            </a:r>
            <a:r>
              <a:rPr lang="es-MX" sz="1150" b="1">
                <a:solidFill>
                  <a:srgbClr val="FFFFFF"/>
                </a:solidFill>
                <a:latin typeface="Segoe UI Semibold" panose="020B0702040204020203" pitchFamily="34" charset="0"/>
              </a:rPr>
              <a:t>una comprobación destructiva de contraste</a:t>
            </a:r>
            <a:r>
              <a:rPr lang="es-MX" sz="1150">
                <a:solidFill>
                  <a:srgbClr val="FFFFFF"/>
                </a:solidFill>
                <a:latin typeface="Segoe UI" panose="020B0502040204020203" pitchFamily="34" charset="0"/>
              </a:rPr>
              <a:t>: una ventana que confirme que lo que se vio era lo que se creía.</a:t>
            </a:r>
            <a:endParaRPr lang="es-BO" sz="1150">
              <a:solidFill>
                <a:srgbClr val="FFFFFF"/>
              </a:solidFill>
              <a:latin typeface="Segoe UI" panose="020B0502040204020203" pitchFamily="34" charset="0"/>
            </a:endParaRPr>
          </a:p>
        </p:txBody>
      </p:sp>
      <p:sp>
        <p:nvSpPr>
          <p:cNvPr id="23" name="CuadroTexto 22">
            <a:extLst>
              <a:ext uri="{FF2B5EF4-FFF2-40B4-BE49-F238E27FC236}">
                <a16:creationId xmlns:a16="http://schemas.microsoft.com/office/drawing/2014/main" id="{9C6EBFC6-F8A7-7107-5F09-A73E25943B95}"/>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ACI 228.2R; ASTM D4788.</a:t>
            </a:r>
            <a:endParaRPr lang="es-BO" sz="700">
              <a:solidFill>
                <a:srgbClr val="938A7C"/>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5658294C-7CFC-964C-A9C7-2115365EFB5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596C12B1-D1F8-F928-1FF8-77F5F97462A0}"/>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E1B54F56-F778-C9EC-7293-CDD3992F83F1}"/>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7" name="PageNo">
            <a:extLst>
              <a:ext uri="{FF2B5EF4-FFF2-40B4-BE49-F238E27FC236}">
                <a16:creationId xmlns:a16="http://schemas.microsoft.com/office/drawing/2014/main" id="{532D3D1D-8647-9895-258B-95AA672F863B}"/>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15 / 39</a:t>
            </a:r>
          </a:p>
        </p:txBody>
      </p:sp>
    </p:spTree>
    <p:extLst>
      <p:ext uri="{BB962C8B-B14F-4D97-AF65-F5344CB8AC3E}">
        <p14:creationId xmlns:p14="http://schemas.microsoft.com/office/powerpoint/2010/main" val="2940636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D16FF77-1F71-11FD-BDAC-B361EB8DE4A7}"/>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2 · EL EQUIPO EN OBRA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71C85605-960C-00E7-440B-3AC2C4428481}"/>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situaciones de medida que decide el que diseña la campaña</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64D66D05-2E6D-BC10-08C7-6327E5F7417A}"/>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B4791637-9AEC-D60A-806A-54DD49189C0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524000"/>
            <a:ext cx="3454400" cy="2336800"/>
          </a:xfrm>
          <a:prstGeom prst="rect">
            <a:avLst/>
          </a:prstGeom>
        </p:spPr>
      </p:pic>
      <p:sp>
        <p:nvSpPr>
          <p:cNvPr id="8" name="CuadroTexto 7">
            <a:extLst>
              <a:ext uri="{FF2B5EF4-FFF2-40B4-BE49-F238E27FC236}">
                <a16:creationId xmlns:a16="http://schemas.microsoft.com/office/drawing/2014/main" id="{82721713-2B6A-C9DD-8215-F374456A4506}"/>
              </a:ext>
            </a:extLst>
          </p:cNvPr>
          <p:cNvSpPr txBox="1"/>
          <p:nvPr/>
        </p:nvSpPr>
        <p:spPr>
          <a:xfrm>
            <a:off x="6096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Nivelación</a:t>
            </a:r>
          </a:p>
        </p:txBody>
      </p:sp>
      <p:sp>
        <p:nvSpPr>
          <p:cNvPr id="9" name="CuadroTexto 8">
            <a:extLst>
              <a:ext uri="{FF2B5EF4-FFF2-40B4-BE49-F238E27FC236}">
                <a16:creationId xmlns:a16="http://schemas.microsoft.com/office/drawing/2014/main" id="{C8290B50-3328-469D-F893-46B918FF1853}"/>
              </a:ext>
            </a:extLst>
          </p:cNvPr>
          <p:cNvSpPr txBox="1"/>
          <p:nvPr/>
        </p:nvSpPr>
        <p:spPr>
          <a:xfrm>
            <a:off x="6096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Dos campañas separadas en el tiempo son la única prueba de un asiento. Una sola no demuestra nada.</a:t>
            </a:r>
            <a:endParaRPr lang="es-BO" sz="1150">
              <a:solidFill>
                <a:srgbClr val="5A5248"/>
              </a:solidFill>
              <a:latin typeface="Segoe UI" panose="020B0502040204020203" pitchFamily="34" charset="0"/>
            </a:endParaRPr>
          </a:p>
        </p:txBody>
      </p:sp>
      <p:pic>
        <p:nvPicPr>
          <p:cNvPr id="11" name="Imagen 10">
            <a:extLst>
              <a:ext uri="{FF2B5EF4-FFF2-40B4-BE49-F238E27FC236}">
                <a16:creationId xmlns:a16="http://schemas.microsoft.com/office/drawing/2014/main" id="{1EEC3CD3-2420-E0D8-B708-BD42A86823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68800" y="1524000"/>
            <a:ext cx="3454400" cy="2336800"/>
          </a:xfrm>
          <a:prstGeom prst="rect">
            <a:avLst/>
          </a:prstGeom>
        </p:spPr>
      </p:pic>
      <p:sp>
        <p:nvSpPr>
          <p:cNvPr id="12" name="CuadroTexto 11">
            <a:extLst>
              <a:ext uri="{FF2B5EF4-FFF2-40B4-BE49-F238E27FC236}">
                <a16:creationId xmlns:a16="http://schemas.microsoft.com/office/drawing/2014/main" id="{B660DC4C-6D31-4C35-9F5B-2CFCB924C544}"/>
              </a:ext>
            </a:extLst>
          </p:cNvPr>
          <p:cNvSpPr txBox="1"/>
          <p:nvPr/>
        </p:nvSpPr>
        <p:spPr>
          <a:xfrm>
            <a:off x="43688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Geometría real</a:t>
            </a:r>
          </a:p>
        </p:txBody>
      </p:sp>
      <p:sp>
        <p:nvSpPr>
          <p:cNvPr id="13" name="CuadroTexto 12">
            <a:extLst>
              <a:ext uri="{FF2B5EF4-FFF2-40B4-BE49-F238E27FC236}">
                <a16:creationId xmlns:a16="http://schemas.microsoft.com/office/drawing/2014/main" id="{2AD540A6-2AB8-7DAD-DAD6-E8AA7F84D0D3}"/>
              </a:ext>
            </a:extLst>
          </p:cNvPr>
          <p:cNvSpPr txBox="1"/>
          <p:nvPr/>
        </p:nvSpPr>
        <p:spPr>
          <a:xfrm>
            <a:off x="43688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Levantar lo que hay, no lo que dicen los planos. Las diferencias suelen ser la primera sorpresa del encargo.</a:t>
            </a:r>
            <a:endParaRPr lang="es-BO" sz="1150">
              <a:solidFill>
                <a:srgbClr val="5A5248"/>
              </a:solidFill>
              <a:latin typeface="Segoe UI" panose="020B0502040204020203" pitchFamily="34" charset="0"/>
            </a:endParaRPr>
          </a:p>
        </p:txBody>
      </p:sp>
      <p:pic>
        <p:nvPicPr>
          <p:cNvPr id="15" name="Imagen 14">
            <a:extLst>
              <a:ext uri="{FF2B5EF4-FFF2-40B4-BE49-F238E27FC236}">
                <a16:creationId xmlns:a16="http://schemas.microsoft.com/office/drawing/2014/main" id="{DEF4A6AB-F816-F1D2-8D09-B5E93FD6360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128000" y="1524000"/>
            <a:ext cx="3454400" cy="2336800"/>
          </a:xfrm>
          <a:prstGeom prst="rect">
            <a:avLst/>
          </a:prstGeom>
        </p:spPr>
      </p:pic>
      <p:sp>
        <p:nvSpPr>
          <p:cNvPr id="16" name="CuadroTexto 15">
            <a:extLst>
              <a:ext uri="{FF2B5EF4-FFF2-40B4-BE49-F238E27FC236}">
                <a16:creationId xmlns:a16="http://schemas.microsoft.com/office/drawing/2014/main" id="{B6FB35BE-9456-05BF-3A8C-990AD6138336}"/>
              </a:ext>
            </a:extLst>
          </p:cNvPr>
          <p:cNvSpPr txBox="1"/>
          <p:nvPr/>
        </p:nvSpPr>
        <p:spPr>
          <a:xfrm>
            <a:off x="81280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Control de movimientos</a:t>
            </a:r>
          </a:p>
        </p:txBody>
      </p:sp>
      <p:sp>
        <p:nvSpPr>
          <p:cNvPr id="17" name="CuadroTexto 16">
            <a:extLst>
              <a:ext uri="{FF2B5EF4-FFF2-40B4-BE49-F238E27FC236}">
                <a16:creationId xmlns:a16="http://schemas.microsoft.com/office/drawing/2014/main" id="{F1D0B9C7-ABC6-5D7E-3993-093913D06746}"/>
              </a:ext>
            </a:extLst>
          </p:cNvPr>
          <p:cNvSpPr txBox="1"/>
          <p:nvPr/>
        </p:nvSpPr>
        <p:spPr>
          <a:xfrm>
            <a:off x="81280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Para estructuras grandes o laderas inestables, la medida se instrumenta y se repite en fechas fijadas.</a:t>
            </a:r>
            <a:endParaRPr lang="es-BO" sz="1150">
              <a:solidFill>
                <a:srgbClr val="5A5248"/>
              </a:solidFill>
              <a:latin typeface="Segoe UI" panose="020B0502040204020203" pitchFamily="34" charset="0"/>
            </a:endParaRPr>
          </a:p>
        </p:txBody>
      </p:sp>
      <p:sp>
        <p:nvSpPr>
          <p:cNvPr id="18" name="Rectángulo 17">
            <a:extLst>
              <a:ext uri="{FF2B5EF4-FFF2-40B4-BE49-F238E27FC236}">
                <a16:creationId xmlns:a16="http://schemas.microsoft.com/office/drawing/2014/main" id="{1B9D42F8-9B45-DE67-714E-DC681B69EE54}"/>
              </a:ext>
            </a:extLst>
          </p:cNvPr>
          <p:cNvSpPr/>
          <p:nvPr/>
        </p:nvSpPr>
        <p:spPr>
          <a:xfrm>
            <a:off x="609600" y="5410200"/>
            <a:ext cx="109728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1438574B-6216-CC61-019E-1F61BDDC7C78}"/>
              </a:ext>
            </a:extLst>
          </p:cNvPr>
          <p:cNvSpPr txBox="1"/>
          <p:nvPr/>
        </p:nvSpPr>
        <p:spPr>
          <a:xfrm>
            <a:off x="838200" y="5461000"/>
            <a:ext cx="10566400" cy="558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Las tres tienen algo en común: </a:t>
            </a:r>
            <a:r>
              <a:rPr lang="es-MX" sz="1200" b="1">
                <a:solidFill>
                  <a:srgbClr val="FFFFFF"/>
                </a:solidFill>
                <a:latin typeface="Segoe UI Semibold" panose="020B0702040204020203" pitchFamily="34" charset="0"/>
              </a:rPr>
              <a:t>miden para comparar con una medida futura</a:t>
            </a:r>
            <a:r>
              <a:rPr lang="es-MX" sz="1200">
                <a:solidFill>
                  <a:srgbClr val="FFFFFF"/>
                </a:solidFill>
                <a:latin typeface="Segoe UI" panose="020B0502040204020203" pitchFamily="34" charset="0"/>
              </a:rPr>
              <a:t>. Por eso la fecha y la referencia valen tanto como el número.</a:t>
            </a:r>
            <a:endParaRPr lang="es-BO" sz="1200">
              <a:solidFill>
                <a:srgbClr val="FFFFFF"/>
              </a:solidFill>
              <a:latin typeface="Segoe UI" panose="020B0502040204020203" pitchFamily="34" charset="0"/>
            </a:endParaRPr>
          </a:p>
        </p:txBody>
      </p:sp>
      <p:cxnSp>
        <p:nvCxnSpPr>
          <p:cNvPr id="21" name="Conector recto 20">
            <a:extLst>
              <a:ext uri="{FF2B5EF4-FFF2-40B4-BE49-F238E27FC236}">
                <a16:creationId xmlns:a16="http://schemas.microsoft.com/office/drawing/2014/main" id="{36EBCCEB-9085-2445-31EF-AB314DA52A10}"/>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C933C1FC-D42A-DBFB-07AB-F857192ABC31}"/>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C7E33CFF-1EB9-24BD-4AD6-8931D0338A1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4" name="PageNo">
            <a:extLst>
              <a:ext uri="{FF2B5EF4-FFF2-40B4-BE49-F238E27FC236}">
                <a16:creationId xmlns:a16="http://schemas.microsoft.com/office/drawing/2014/main" id="{81734FCA-E2EF-4324-8A82-F33FFD033D27}"/>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16 / 39</a:t>
            </a:r>
          </a:p>
        </p:txBody>
      </p:sp>
    </p:spTree>
    <p:extLst>
      <p:ext uri="{BB962C8B-B14F-4D97-AF65-F5344CB8AC3E}">
        <p14:creationId xmlns:p14="http://schemas.microsoft.com/office/powerpoint/2010/main" val="381011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50F24CA-D099-8546-4FD9-5934A61DE17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41E45294-0164-3A02-9EFC-A532322BD3E5}"/>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2B83A9F1-02E2-FBAC-DFF8-403092BC33A6}"/>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447535A1-197E-C69C-8E35-9CCDCBAA7FA4}"/>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3</a:t>
            </a:r>
          </a:p>
        </p:txBody>
      </p:sp>
      <p:sp>
        <p:nvSpPr>
          <p:cNvPr id="7" name="Title">
            <a:extLst>
              <a:ext uri="{FF2B5EF4-FFF2-40B4-BE49-F238E27FC236}">
                <a16:creationId xmlns:a16="http://schemas.microsoft.com/office/drawing/2014/main" id="{78510BF9-A647-8FDE-45F6-F4A657D1B077}"/>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BO" sz="3800">
                <a:solidFill>
                  <a:srgbClr val="FFFFFF"/>
                </a:solidFill>
                <a:latin typeface="Bahnschrift SemiBold" panose="020B0502040204020203" pitchFamily="34" charset="0"/>
              </a:rPr>
              <a:t>Semidestructivos y destructivos</a:t>
            </a:r>
          </a:p>
        </p:txBody>
      </p:sp>
      <p:sp>
        <p:nvSpPr>
          <p:cNvPr id="8" name="Rectángulo 7">
            <a:extLst>
              <a:ext uri="{FF2B5EF4-FFF2-40B4-BE49-F238E27FC236}">
                <a16:creationId xmlns:a16="http://schemas.microsoft.com/office/drawing/2014/main" id="{F60B4FD2-2008-CB97-8CCB-1F7B26A59B70}"/>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706CB300-70F1-0CAC-5D90-98E09C131DC5}"/>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Pocos, caros y definitivos. Van exactamente donde los anteriores hayan dicho.</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4A39AA52-CC69-2B9C-4A12-C6C36C6754E2}"/>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C81B39BF-F78A-8BD7-1553-C1EA6DDB44AE}"/>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El testigo y lo que lo invalida</a:t>
            </a:r>
            <a:endParaRPr lang="es-BO" sz="1050">
              <a:solidFill>
                <a:srgbClr val="CFC7B8"/>
              </a:solidFill>
              <a:latin typeface="Segoe UI" panose="020B0502040204020203" pitchFamily="34" charset="0"/>
            </a:endParaRPr>
          </a:p>
        </p:txBody>
      </p:sp>
      <p:sp>
        <p:nvSpPr>
          <p:cNvPr id="12" name="Rectángulo 11">
            <a:extLst>
              <a:ext uri="{FF2B5EF4-FFF2-40B4-BE49-F238E27FC236}">
                <a16:creationId xmlns:a16="http://schemas.microsoft.com/office/drawing/2014/main" id="{1D3F0AF6-8771-E03F-A9E6-5C931DA244D7}"/>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32B5A957-DE36-D94B-BC52-70FEFB86B395}"/>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La corrección de ACI 214.4R</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B79513BF-4B3A-E15F-BF3F-548B54FB4BA0}"/>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4409891B-FEE2-0C42-5048-CE1F9516F8EC}"/>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Los ensayos de laboratorio</a:t>
            </a:r>
          </a:p>
        </p:txBody>
      </p:sp>
      <p:sp>
        <p:nvSpPr>
          <p:cNvPr id="16" name="CuadroTexto 15">
            <a:extLst>
              <a:ext uri="{FF2B5EF4-FFF2-40B4-BE49-F238E27FC236}">
                <a16:creationId xmlns:a16="http://schemas.microsoft.com/office/drawing/2014/main" id="{3B2981E1-879C-0788-5367-74C4633BB79E}"/>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5 · DIAGNÓSTICO</a:t>
            </a:r>
          </a:p>
        </p:txBody>
      </p:sp>
    </p:spTree>
    <p:extLst>
      <p:ext uri="{BB962C8B-B14F-4D97-AF65-F5344CB8AC3E}">
        <p14:creationId xmlns:p14="http://schemas.microsoft.com/office/powerpoint/2010/main" val="3798838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5292F87-0693-7A7E-C581-0614CE56C49D}"/>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3 · EL TESTIGO</a:t>
            </a:r>
          </a:p>
        </p:txBody>
      </p:sp>
      <p:sp>
        <p:nvSpPr>
          <p:cNvPr id="3" name="Title">
            <a:extLst>
              <a:ext uri="{FF2B5EF4-FFF2-40B4-BE49-F238E27FC236}">
                <a16:creationId xmlns:a16="http://schemas.microsoft.com/office/drawing/2014/main" id="{5ED38EAB-D299-A198-9DA7-D09B903048B7}"/>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Cuatro cosas invalidan un testigo, y tres ocurren antes del laboratorio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CB75C831-B3C3-DE79-233A-49D76678F990}"/>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3D4891CC-8C7B-1E1E-70BA-4FCE9177D589}"/>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24FE4A18-4C70-1D61-270A-7C5A8ECBBE97}"/>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F920F5B7-87E8-1874-5FA3-7EE93FA71CB9}"/>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Cortar armadura</a:t>
            </a:r>
          </a:p>
        </p:txBody>
      </p:sp>
      <p:sp>
        <p:nvSpPr>
          <p:cNvPr id="10" name="CuadroTexto 9">
            <a:extLst>
              <a:ext uri="{FF2B5EF4-FFF2-40B4-BE49-F238E27FC236}">
                <a16:creationId xmlns:a16="http://schemas.microsoft.com/office/drawing/2014/main" id="{0AA1DD7D-D5CE-00E0-07C5-C38F183E3712}"/>
              </a:ext>
            </a:extLst>
          </p:cNvPr>
          <p:cNvSpPr txBox="1"/>
          <p:nvPr/>
        </p:nvSpPr>
        <p:spPr>
          <a:xfrm>
            <a:off x="812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Un testigo con barra dentro da una resistencia que no es la del hormigón. Se localiza con pacómetro </a:t>
            </a:r>
            <a:r>
              <a:rPr lang="es-MX" sz="1100" b="1">
                <a:solidFill>
                  <a:srgbClr val="5A5248"/>
                </a:solidFill>
                <a:latin typeface="Segoe UI Semibold" panose="020B0702040204020203" pitchFamily="34" charset="0"/>
              </a:rPr>
              <a:t>antes</a:t>
            </a:r>
            <a:r>
              <a:rPr lang="es-MX" sz="1100">
                <a:solidFill>
                  <a:srgbClr val="5A5248"/>
                </a:solidFill>
                <a:latin typeface="Segoe UI" panose="020B0502040204020203" pitchFamily="34" charset="0"/>
              </a:rPr>
              <a:t> de perforar, siempre.</a:t>
            </a:r>
            <a:endParaRPr lang="es-BO" sz="110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64186107-587D-E98F-9EE5-5040199C493A}"/>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264CEA19-3E6A-947C-C77D-C78908C02930}"/>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48489E3D-AECE-F7A1-9B36-2BF5875EE153}"/>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Extraer en mal sitio</a:t>
            </a:r>
          </a:p>
        </p:txBody>
      </p:sp>
      <p:sp>
        <p:nvSpPr>
          <p:cNvPr id="15" name="CuadroTexto 14">
            <a:extLst>
              <a:ext uri="{FF2B5EF4-FFF2-40B4-BE49-F238E27FC236}">
                <a16:creationId xmlns:a16="http://schemas.microsoft.com/office/drawing/2014/main" id="{3A008A00-C86A-EAAA-CE5A-D153F0676AE2}"/>
              </a:ext>
            </a:extLst>
          </p:cNvPr>
          <p:cNvSpPr txBox="1"/>
          <p:nvPr/>
        </p:nvSpPr>
        <p:spPr>
          <a:xfrm>
            <a:off x="3606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Junto a una junta, en una esquina o en una zona de hormigonado defectuoso. El testigo representa a su zona, no a la obra entera.</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83B079DE-BF11-275F-4631-0830E636020B}"/>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389E4276-884F-E3CB-AE6F-8F9DE2B6E72D}"/>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B776D9C2-B72F-4445-5653-737FD60666EF}"/>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Tratarlo mal</a:t>
            </a:r>
          </a:p>
        </p:txBody>
      </p:sp>
      <p:sp>
        <p:nvSpPr>
          <p:cNvPr id="20" name="CuadroTexto 19">
            <a:extLst>
              <a:ext uri="{FF2B5EF4-FFF2-40B4-BE49-F238E27FC236}">
                <a16:creationId xmlns:a16="http://schemas.microsoft.com/office/drawing/2014/main" id="{84F0FB68-611B-A0D9-E756-D84514EACBB2}"/>
              </a:ext>
            </a:extLst>
          </p:cNvPr>
          <p:cNvSpPr txBox="1"/>
          <p:nvPr/>
        </p:nvSpPr>
        <p:spPr>
          <a:xfrm>
            <a:off x="6400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Golpes, secado al sol o transporte suelto. Lo que se rompe entre la obra y el laboratorio se cuenta como resistencia perdida.</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10AC597B-5205-5B5F-C3A4-16997901083C}"/>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C6F7F242-C565-A785-5178-4546F563E59D}"/>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24" name="CuadroTexto 23">
            <a:extLst>
              <a:ext uri="{FF2B5EF4-FFF2-40B4-BE49-F238E27FC236}">
                <a16:creationId xmlns:a16="http://schemas.microsoft.com/office/drawing/2014/main" id="{861C8B28-DCFA-9DC9-AF35-3C2D5CF1B88F}"/>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No declarar la condición</a:t>
            </a:r>
          </a:p>
        </p:txBody>
      </p:sp>
      <p:sp>
        <p:nvSpPr>
          <p:cNvPr id="25" name="CuadroTexto 24">
            <a:extLst>
              <a:ext uri="{FF2B5EF4-FFF2-40B4-BE49-F238E27FC236}">
                <a16:creationId xmlns:a16="http://schemas.microsoft.com/office/drawing/2014/main" id="{279C32F7-EEE0-465A-83EE-926225632494}"/>
              </a:ext>
            </a:extLst>
          </p:cNvPr>
          <p:cNvSpPr txBox="1"/>
          <p:nvPr/>
        </p:nvSpPr>
        <p:spPr>
          <a:xfrm>
            <a:off x="9194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Saturado, seco al aire o tal como se recibió: cada caso tiene su factor de corrección. Si no se declara, el número no se puede corregir.</a:t>
            </a:r>
            <a:endParaRPr lang="es-BO" sz="1100">
              <a:solidFill>
                <a:srgbClr val="5A5248"/>
              </a:solidFill>
              <a:latin typeface="Segoe UI" panose="020B0502040204020203" pitchFamily="34" charset="0"/>
            </a:endParaRPr>
          </a:p>
        </p:txBody>
      </p:sp>
      <p:pic>
        <p:nvPicPr>
          <p:cNvPr id="27" name="Imagen 26" descr="Testigo con barra cortada, extracción en mal sitio, daño por manejo y condición de humedad declarada">
            <a:extLst>
              <a:ext uri="{FF2B5EF4-FFF2-40B4-BE49-F238E27FC236}">
                <a16:creationId xmlns:a16="http://schemas.microsoft.com/office/drawing/2014/main" id="{1B6773DB-F5AB-6A52-DB95-EE79B75C72F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18000"/>
            <a:ext cx="10972800" cy="1320800"/>
          </a:xfrm>
          <a:prstGeom prst="rect">
            <a:avLst/>
          </a:prstGeom>
        </p:spPr>
      </p:pic>
      <p:sp>
        <p:nvSpPr>
          <p:cNvPr id="28" name="Rectángulo 27">
            <a:extLst>
              <a:ext uri="{FF2B5EF4-FFF2-40B4-BE49-F238E27FC236}">
                <a16:creationId xmlns:a16="http://schemas.microsoft.com/office/drawing/2014/main" id="{180841F3-0554-2871-F2BE-9B7A235B74D7}"/>
              </a:ext>
            </a:extLst>
          </p:cNvPr>
          <p:cNvSpPr/>
          <p:nvPr/>
        </p:nvSpPr>
        <p:spPr>
          <a:xfrm>
            <a:off x="609600" y="5765800"/>
            <a:ext cx="10972800" cy="406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A03425F5-DCB1-B7E2-1485-18F3EEB2C107}"/>
              </a:ext>
            </a:extLst>
          </p:cNvPr>
          <p:cNvSpPr txBox="1"/>
          <p:nvPr/>
        </p:nvSpPr>
        <p:spPr>
          <a:xfrm>
            <a:off x="838200" y="5816600"/>
            <a:ext cx="10566400" cy="304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Y una regla de número: </a:t>
            </a:r>
            <a:r>
              <a:rPr lang="es-MX" sz="1200" b="1">
                <a:solidFill>
                  <a:srgbClr val="FFFFFF"/>
                </a:solidFill>
                <a:latin typeface="Segoe UI Semibold" panose="020B0702040204020203" pitchFamily="34" charset="0"/>
              </a:rPr>
              <a:t>hacen falta tres testigos por cada resultado</a:t>
            </a:r>
            <a:r>
              <a:rPr lang="es-MX" sz="1200">
                <a:solidFill>
                  <a:srgbClr val="FFFFFF"/>
                </a:solidFill>
                <a:latin typeface="Segoe UI" panose="020B0502040204020203" pitchFamily="34" charset="0"/>
              </a:rPr>
              <a:t>, no uno. Un testigo solo da un dato; tres dan un resultado con el que se puede comparar contra un criterio.</a:t>
            </a:r>
            <a:endParaRPr lang="es-BO" sz="120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E62649EA-7383-9C79-C1E0-409439B9B6CA}"/>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ASTM C42; ACI 318-19 §26.12.4; ACI 214.4R.</a:t>
            </a:r>
            <a:endParaRPr lang="es-BO" sz="700">
              <a:solidFill>
                <a:srgbClr val="938A7C"/>
              </a:solidFill>
              <a:latin typeface="Segoe UI" panose="020B0502040204020203" pitchFamily="34" charset="0"/>
            </a:endParaRPr>
          </a:p>
        </p:txBody>
      </p:sp>
      <p:cxnSp>
        <p:nvCxnSpPr>
          <p:cNvPr id="32" name="Conector recto 31">
            <a:extLst>
              <a:ext uri="{FF2B5EF4-FFF2-40B4-BE49-F238E27FC236}">
                <a16:creationId xmlns:a16="http://schemas.microsoft.com/office/drawing/2014/main" id="{9F795ECF-2326-8ACC-FB07-A672D755B6B0}"/>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B39BB29-7829-AA56-86C9-EA233487CC7E}"/>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180D2EB6-01C7-49AC-7B44-4FA04A82D707}"/>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5" name="PageNo">
            <a:extLst>
              <a:ext uri="{FF2B5EF4-FFF2-40B4-BE49-F238E27FC236}">
                <a16:creationId xmlns:a16="http://schemas.microsoft.com/office/drawing/2014/main" id="{04BB4E5A-3FCF-915B-DF6F-AEC6D9F10ED1}"/>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18 / 39</a:t>
            </a:r>
          </a:p>
        </p:txBody>
      </p:sp>
    </p:spTree>
    <p:extLst>
      <p:ext uri="{BB962C8B-B14F-4D97-AF65-F5344CB8AC3E}">
        <p14:creationId xmlns:p14="http://schemas.microsoft.com/office/powerpoint/2010/main" val="382747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5B4207-80FC-A536-F467-6138842B05F8}"/>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LA CORRECCIÓN DE LOS TESTIGOS</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F1F6FAF2-F288-B4A8-7308-E84C26CEBCA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El número que sale del laboratorio todavía no es la resistencia in situ</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91A3A543-1D8C-C5EA-CE16-18C0668C56C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6765F59C-0DC2-BB46-9512-AD27B1E5DB80}"/>
              </a:ext>
            </a:extLst>
          </p:cNvPr>
          <p:cNvGraphicFramePr>
            <a:graphicFrameLocks noGrp="1"/>
          </p:cNvGraphicFramePr>
          <p:nvPr>
            <p:extLst>
              <p:ext uri="{D42A27DB-BD31-4B8C-83A1-F6EECF244321}">
                <p14:modId xmlns:p14="http://schemas.microsoft.com/office/powerpoint/2010/main" val="2458426484"/>
              </p:ext>
            </p:extLst>
          </p:nvPr>
        </p:nvGraphicFramePr>
        <p:xfrm>
          <a:off x="609600" y="1422400"/>
          <a:ext cx="6604000" cy="29210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271868139"/>
                    </a:ext>
                  </a:extLst>
                </a:gridCol>
                <a:gridCol w="2946400">
                  <a:extLst>
                    <a:ext uri="{9D8B030D-6E8A-4147-A177-3AD203B41FA5}">
                      <a16:colId xmlns:a16="http://schemas.microsoft.com/office/drawing/2014/main" val="3224880914"/>
                    </a:ext>
                  </a:extLst>
                </a:gridCol>
                <a:gridCol w="1905000">
                  <a:extLst>
                    <a:ext uri="{9D8B030D-6E8A-4147-A177-3AD203B41FA5}">
                      <a16:colId xmlns:a16="http://schemas.microsoft.com/office/drawing/2014/main" val="2598591604"/>
                    </a:ext>
                  </a:extLst>
                </a:gridCol>
              </a:tblGrid>
              <a:tr h="584200">
                <a:tc>
                  <a:txBody>
                    <a:bodyPr/>
                    <a:lstStyle/>
                    <a:p>
                      <a:pPr algn="ctr"/>
                      <a:r>
                        <a:rPr lang="es-BO" sz="950" b="0">
                          <a:solidFill>
                            <a:srgbClr val="FFFFFF"/>
                          </a:solidFill>
                          <a:latin typeface="Segoe UI Semibold" panose="020B0702040204020203" pitchFamily="34" charset="0"/>
                        </a:rPr>
                        <a:t>Factor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50" b="0">
                          <a:solidFill>
                            <a:srgbClr val="FFFFFF"/>
                          </a:solidFill>
                          <a:latin typeface="Segoe UI Semibold" panose="020B0702040204020203" pitchFamily="34" charset="0"/>
                        </a:rPr>
                        <a:t>Condición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50" b="0">
                          <a:solidFill>
                            <a:srgbClr val="FFFFFF"/>
                          </a:solidFill>
                          <a:latin typeface="Segoe UI Semibold" panose="020B0702040204020203" pitchFamily="34" charset="0"/>
                        </a:rPr>
                        <a:t>Valor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983974439"/>
                  </a:ext>
                </a:extLst>
              </a:tr>
              <a:tr h="584200">
                <a:tc>
                  <a:txBody>
                    <a:bodyPr/>
                    <a:lstStyle/>
                    <a:p>
                      <a:pPr algn="ctr"/>
                      <a:r>
                        <a:rPr lang="es-BO" sz="1000" b="0">
                          <a:solidFill>
                            <a:srgbClr val="1C1813"/>
                          </a:solidFill>
                          <a:latin typeface="Segoe UI Semibold" panose="020B0702040204020203" pitchFamily="34" charset="0"/>
                        </a:rPr>
                        <a:t>Esbeltez  l/d</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1,75  /  1,50  /  1,25  /  1,00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0,98 / 0,96 / 0,93 / 0,87</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617825204"/>
                  </a:ext>
                </a:extLst>
              </a:tr>
              <a:tr h="584200">
                <a:tc>
                  <a:txBody>
                    <a:bodyPr/>
                    <a:lstStyle/>
                    <a:p>
                      <a:pPr algn="ctr"/>
                      <a:r>
                        <a:rPr lang="es-BO" sz="1000" b="0">
                          <a:solidFill>
                            <a:srgbClr val="1C1813"/>
                          </a:solidFill>
                          <a:latin typeface="Segoe UI Semibold" panose="020B0702040204020203" pitchFamily="34" charset="0"/>
                        </a:rPr>
                        <a:t>Diámetro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50 mm  /  100 mm  /  150 mm</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1,06  /  1,00  /  0,98</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600444025"/>
                  </a:ext>
                </a:extLst>
              </a:tr>
              <a:tr h="584200">
                <a:tc>
                  <a:txBody>
                    <a:bodyPr/>
                    <a:lstStyle/>
                    <a:p>
                      <a:pPr algn="ctr"/>
                      <a:r>
                        <a:rPr lang="es-BO" sz="1000" b="0">
                          <a:solidFill>
                            <a:srgbClr val="1C1813"/>
                          </a:solidFill>
                          <a:latin typeface="Segoe UI Semibold" panose="020B0702040204020203" pitchFamily="34" charset="0"/>
                        </a:rPr>
                        <a:t>Humedad</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1000" b="0">
                          <a:solidFill>
                            <a:srgbClr val="241F18"/>
                          </a:solidFill>
                          <a:latin typeface="Segoe UI" panose="020B0502040204020203" pitchFamily="34" charset="0"/>
                        </a:rPr>
                        <a:t>Saturado  /  tal cual  /  seco al aire</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1,09  /  1,00  /  0,96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628383894"/>
                  </a:ext>
                </a:extLst>
              </a:tr>
              <a:tr h="584200">
                <a:tc>
                  <a:txBody>
                    <a:bodyPr/>
                    <a:lstStyle/>
                    <a:p>
                      <a:pPr algn="ctr"/>
                      <a:r>
                        <a:rPr lang="es-BO" sz="1000" b="0">
                          <a:solidFill>
                            <a:srgbClr val="1C1813"/>
                          </a:solidFill>
                          <a:latin typeface="Segoe UI Semibold" panose="020B0702040204020203" pitchFamily="34" charset="0"/>
                        </a:rPr>
                        <a:t>Daño de extracción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Siempre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1,06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770859716"/>
                  </a:ext>
                </a:extLst>
              </a:tr>
            </a:tbl>
          </a:graphicData>
        </a:graphic>
      </p:graphicFrame>
      <p:sp>
        <p:nvSpPr>
          <p:cNvPr id="7" name="CuadroTexto 6">
            <a:extLst>
              <a:ext uri="{FF2B5EF4-FFF2-40B4-BE49-F238E27FC236}">
                <a16:creationId xmlns:a16="http://schemas.microsoft.com/office/drawing/2014/main" id="{EC1B03C9-9A3A-C4D1-8F15-3B28CCA98C93}"/>
              </a:ext>
            </a:extLst>
          </p:cNvPr>
          <p:cNvSpPr txBox="1"/>
          <p:nvPr/>
        </p:nvSpPr>
        <p:spPr>
          <a:xfrm>
            <a:off x="7569200" y="1422400"/>
            <a:ext cx="40132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Cómo se aplica</a:t>
            </a:r>
          </a:p>
        </p:txBody>
      </p:sp>
      <p:sp>
        <p:nvSpPr>
          <p:cNvPr id="8" name="CuadroTexto 7">
            <a:extLst>
              <a:ext uri="{FF2B5EF4-FFF2-40B4-BE49-F238E27FC236}">
                <a16:creationId xmlns:a16="http://schemas.microsoft.com/office/drawing/2014/main" id="{85424085-8FAF-9694-6987-5D5D30086CB7}"/>
              </a:ext>
            </a:extLst>
          </p:cNvPr>
          <p:cNvSpPr txBox="1"/>
          <p:nvPr/>
        </p:nvSpPr>
        <p:spPr>
          <a:xfrm>
            <a:off x="7569200" y="1752600"/>
            <a:ext cx="4013200" cy="9144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Se multiplican todos los factores entre sí y el producto por la resistencia bruta del testigo. El resultado es la resistencia equivalente in situ, que es la que entra en el recálculo.</a:t>
            </a:r>
            <a:endParaRPr lang="es-BO" sz="1100">
              <a:solidFill>
                <a:srgbClr val="5A5248"/>
              </a:solidFill>
              <a:latin typeface="Segoe UI" panose="020B0502040204020203" pitchFamily="34" charset="0"/>
            </a:endParaRPr>
          </a:p>
        </p:txBody>
      </p:sp>
      <p:sp>
        <p:nvSpPr>
          <p:cNvPr id="9" name="CuadroTexto 8">
            <a:extLst>
              <a:ext uri="{FF2B5EF4-FFF2-40B4-BE49-F238E27FC236}">
                <a16:creationId xmlns:a16="http://schemas.microsoft.com/office/drawing/2014/main" id="{00579C51-119C-B229-981D-3204B8B0E90B}"/>
              </a:ext>
            </a:extLst>
          </p:cNvPr>
          <p:cNvSpPr txBox="1"/>
          <p:nvPr/>
        </p:nvSpPr>
        <p:spPr>
          <a:xfrm>
            <a:off x="7569200" y="2768600"/>
            <a:ext cx="40132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Por qué importa tanto</a:t>
            </a:r>
          </a:p>
        </p:txBody>
      </p:sp>
      <p:sp>
        <p:nvSpPr>
          <p:cNvPr id="10" name="CuadroTexto 9">
            <a:extLst>
              <a:ext uri="{FF2B5EF4-FFF2-40B4-BE49-F238E27FC236}">
                <a16:creationId xmlns:a16="http://schemas.microsoft.com/office/drawing/2014/main" id="{35E6B806-826D-DE59-957E-1C50E9444F8B}"/>
              </a:ext>
            </a:extLst>
          </p:cNvPr>
          <p:cNvSpPr txBox="1"/>
          <p:nvPr/>
        </p:nvSpPr>
        <p:spPr>
          <a:xfrm>
            <a:off x="7569200" y="3098800"/>
            <a:ext cx="4013200" cy="12446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Los factores pueden sumar más de un 14 %. Un informe que compare la resistencia bruta del testigo contra la f′c de proyecto está comparando dos cosas distintas, y casi siempre perjudica a la estructura.</a:t>
            </a:r>
            <a:endParaRPr lang="es-BO" sz="110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8D52BDD7-F05A-17DE-280B-EBD0606F2352}"/>
              </a:ext>
            </a:extLst>
          </p:cNvPr>
          <p:cNvSpPr/>
          <p:nvPr/>
        </p:nvSpPr>
        <p:spPr>
          <a:xfrm>
            <a:off x="609600" y="4470400"/>
            <a:ext cx="10972800" cy="6350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1A3825CD-6B3E-FABF-3790-8D73599DA5B5}"/>
              </a:ext>
            </a:extLst>
          </p:cNvPr>
          <p:cNvSpPr txBox="1"/>
          <p:nvPr/>
        </p:nvSpPr>
        <p:spPr>
          <a:xfrm>
            <a:off x="838200" y="4521200"/>
            <a:ext cx="10566400" cy="5334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En la nave Sector 4 los tres testigos de C-4 dieron una media bruta de </a:t>
            </a:r>
            <a:r>
              <a:rPr lang="es-MX" sz="1200" b="1">
                <a:solidFill>
                  <a:srgbClr val="FFFFFF"/>
                </a:solidFill>
                <a:latin typeface="Segoe UI Semibold" panose="020B0702040204020203" pitchFamily="34" charset="0"/>
              </a:rPr>
              <a:t>16,2 MPa</a:t>
            </a:r>
            <a:r>
              <a:rPr lang="es-MX" sz="1200">
                <a:solidFill>
                  <a:srgbClr val="FFFFFF"/>
                </a:solidFill>
                <a:latin typeface="Segoe UI" panose="020B0502040204020203" pitchFamily="34" charset="0"/>
              </a:rPr>
              <a:t>. Corregidos son </a:t>
            </a:r>
            <a:r>
              <a:rPr lang="es-MX" sz="1200" b="1">
                <a:solidFill>
                  <a:srgbClr val="FFFFFF"/>
                </a:solidFill>
                <a:latin typeface="Segoe UI Semibold" panose="020B0702040204020203" pitchFamily="34" charset="0"/>
              </a:rPr>
              <a:t>18,5 MPa</a:t>
            </a:r>
            <a:r>
              <a:rPr lang="es-MX" sz="1200">
                <a:solidFill>
                  <a:srgbClr val="FFFFFF"/>
                </a:solidFill>
                <a:latin typeface="Segoe UI" panose="020B0502040204020203" pitchFamily="34" charset="0"/>
              </a:rPr>
              <a:t>, y eso cambia la conclusión. Se calcula en el caso 6.2.</a:t>
            </a:r>
            <a:endParaRPr lang="es-BO" sz="1200">
              <a:solidFill>
                <a:srgbClr val="FFFFFF"/>
              </a:solidFill>
              <a:latin typeface="Segoe UI" panose="020B0502040204020203" pitchFamily="34" charset="0"/>
            </a:endParaRPr>
          </a:p>
        </p:txBody>
      </p:sp>
      <p:pic>
        <p:nvPicPr>
          <p:cNvPr id="15" name="Imagen 14" descr="Producto de los cuatro factores de corrección de ACI 214.4R">
            <a:extLst>
              <a:ext uri="{FF2B5EF4-FFF2-40B4-BE49-F238E27FC236}">
                <a16:creationId xmlns:a16="http://schemas.microsoft.com/office/drawing/2014/main" id="{42C38587-A3CB-E18A-185E-70305D10E8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5232400"/>
            <a:ext cx="10972800" cy="939800"/>
          </a:xfrm>
          <a:prstGeom prst="rect">
            <a:avLst/>
          </a:prstGeom>
        </p:spPr>
      </p:pic>
      <p:sp>
        <p:nvSpPr>
          <p:cNvPr id="16" name="CuadroTexto 15">
            <a:extLst>
              <a:ext uri="{FF2B5EF4-FFF2-40B4-BE49-F238E27FC236}">
                <a16:creationId xmlns:a16="http://schemas.microsoft.com/office/drawing/2014/main" id="{3AABCE60-001A-9352-CF2F-876BA66CED3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214.4R, Guide for Obtaining Cores and Interpreting Compressive Strength Results; ASTM C42.</a:t>
            </a:r>
            <a:endParaRPr lang="es-BO" sz="700">
              <a:solidFill>
                <a:srgbClr val="938A7C"/>
              </a:solidFill>
              <a:latin typeface="Segoe UI" panose="020B0502040204020203" pitchFamily="34" charset="0"/>
            </a:endParaRPr>
          </a:p>
        </p:txBody>
      </p:sp>
      <p:cxnSp>
        <p:nvCxnSpPr>
          <p:cNvPr id="17" name="Conector recto 16">
            <a:extLst>
              <a:ext uri="{FF2B5EF4-FFF2-40B4-BE49-F238E27FC236}">
                <a16:creationId xmlns:a16="http://schemas.microsoft.com/office/drawing/2014/main" id="{146D2FEF-524F-192A-0CBB-337EABE62BB3}"/>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03DA3A6E-3AB0-3108-8A93-4CCC8E2504B2}"/>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9" name="CuadroTexto 18">
            <a:extLst>
              <a:ext uri="{FF2B5EF4-FFF2-40B4-BE49-F238E27FC236}">
                <a16:creationId xmlns:a16="http://schemas.microsoft.com/office/drawing/2014/main" id="{68C7A20A-8FAD-0D83-5143-846D6F5515AC}"/>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0" name="PageNo">
            <a:extLst>
              <a:ext uri="{FF2B5EF4-FFF2-40B4-BE49-F238E27FC236}">
                <a16:creationId xmlns:a16="http://schemas.microsoft.com/office/drawing/2014/main" id="{E9BD5BD6-193F-8386-80AC-5660B53904A4}"/>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19 / 39</a:t>
            </a:r>
          </a:p>
        </p:txBody>
      </p:sp>
    </p:spTree>
    <p:extLst>
      <p:ext uri="{BB962C8B-B14F-4D97-AF65-F5344CB8AC3E}">
        <p14:creationId xmlns:p14="http://schemas.microsoft.com/office/powerpoint/2010/main" val="2968294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4D4EEB1-C87C-9D69-41FE-E6EC54E1AB12}"/>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EL CRITERIO DE ACEPTACIÓN</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C68B6707-3D22-E207-3CC5-C999A7BC61D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Por debajo de f′c puede ser aceptable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6AD24531-B2DF-19F5-41AE-E6E8C7FA2FF5}"/>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867BCC8D-A5A7-9EED-F552-CEC7AC63DAC3}"/>
              </a:ext>
            </a:extLst>
          </p:cNvPr>
          <p:cNvSpPr/>
          <p:nvPr/>
        </p:nvSpPr>
        <p:spPr>
          <a:xfrm>
            <a:off x="609600" y="1422400"/>
            <a:ext cx="5334000" cy="7620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Media de 3 testigos  ≥  0,85 · f′c</a:t>
            </a:r>
            <a:endParaRPr lang="es-BO" sz="1700">
              <a:solidFill>
                <a:srgbClr val="FFFFFF"/>
              </a:solidFill>
              <a:latin typeface="Bahnschrift SemiBold" panose="020B0502040204020203" pitchFamily="34" charset="0"/>
            </a:endParaRPr>
          </a:p>
        </p:txBody>
      </p:sp>
      <p:sp>
        <p:nvSpPr>
          <p:cNvPr id="7" name="Rectángulo 6">
            <a:extLst>
              <a:ext uri="{FF2B5EF4-FFF2-40B4-BE49-F238E27FC236}">
                <a16:creationId xmlns:a16="http://schemas.microsoft.com/office/drawing/2014/main" id="{4DBA9806-9700-23FE-966D-7903FC478BB4}"/>
              </a:ext>
            </a:extLst>
          </p:cNvPr>
          <p:cNvSpPr/>
          <p:nvPr/>
        </p:nvSpPr>
        <p:spPr>
          <a:xfrm>
            <a:off x="6248400" y="1422400"/>
            <a:ext cx="5334000" cy="7620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Ningún testigo  &lt;  0,75 · f′c</a:t>
            </a:r>
            <a:endParaRPr lang="es-BO" sz="1700">
              <a:solidFill>
                <a:srgbClr val="FFFFFF"/>
              </a:solidFill>
              <a:latin typeface="Bahnschrift SemiBold" panose="020B0502040204020203" pitchFamily="34" charset="0"/>
            </a:endParaRPr>
          </a:p>
        </p:txBody>
      </p:sp>
      <p:sp>
        <p:nvSpPr>
          <p:cNvPr id="8" name="Elipse 7">
            <a:extLst>
              <a:ext uri="{FF2B5EF4-FFF2-40B4-BE49-F238E27FC236}">
                <a16:creationId xmlns:a16="http://schemas.microsoft.com/office/drawing/2014/main" id="{D8DDE3CB-D522-8577-47A6-D6723D342B86}"/>
              </a:ext>
            </a:extLst>
          </p:cNvPr>
          <p:cNvSpPr/>
          <p:nvPr/>
        </p:nvSpPr>
        <p:spPr>
          <a:xfrm>
            <a:off x="609600" y="2413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9" name="CuadroTexto 8">
            <a:extLst>
              <a:ext uri="{FF2B5EF4-FFF2-40B4-BE49-F238E27FC236}">
                <a16:creationId xmlns:a16="http://schemas.microsoft.com/office/drawing/2014/main" id="{57B1C3A0-AFD5-12AA-C080-30AA1340A650}"/>
              </a:ext>
            </a:extLst>
          </p:cNvPr>
          <p:cNvSpPr txBox="1"/>
          <p:nvPr/>
        </p:nvSpPr>
        <p:spPr>
          <a:xfrm>
            <a:off x="1143000" y="24257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Por qué no se exige el 100 %</a:t>
            </a:r>
            <a:endParaRPr lang="es-BO" sz="1350">
              <a:solidFill>
                <a:srgbClr val="1C1813"/>
              </a:solidFill>
              <a:latin typeface="Bahnschrift SemiBold" panose="020B0502040204020203" pitchFamily="34" charset="0"/>
            </a:endParaRPr>
          </a:p>
        </p:txBody>
      </p:sp>
      <p:sp>
        <p:nvSpPr>
          <p:cNvPr id="10" name="CuadroTexto 9">
            <a:extLst>
              <a:ext uri="{FF2B5EF4-FFF2-40B4-BE49-F238E27FC236}">
                <a16:creationId xmlns:a16="http://schemas.microsoft.com/office/drawing/2014/main" id="{A1B99AC8-5FCA-097E-F6D5-6CE00AF589B5}"/>
              </a:ext>
            </a:extLst>
          </p:cNvPr>
          <p:cNvSpPr txBox="1"/>
          <p:nvPr/>
        </p:nvSpPr>
        <p:spPr>
          <a:xfrm>
            <a:off x="1143000" y="2679700"/>
            <a:ext cx="69596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La f′c de proyecto es un valor característico de probetas curadas en laboratorio. El hormigón de la obra, curado en obra y ensayado a los 28 años, no se mide contra ese mismo listón.</a:t>
            </a:r>
            <a:endParaRPr lang="es-BO" sz="1150">
              <a:solidFill>
                <a:srgbClr val="5A5248"/>
              </a:solidFill>
              <a:latin typeface="Segoe UI" panose="020B0502040204020203" pitchFamily="34" charset="0"/>
            </a:endParaRPr>
          </a:p>
        </p:txBody>
      </p:sp>
      <p:sp>
        <p:nvSpPr>
          <p:cNvPr id="11" name="Elipse 10">
            <a:extLst>
              <a:ext uri="{FF2B5EF4-FFF2-40B4-BE49-F238E27FC236}">
                <a16:creationId xmlns:a16="http://schemas.microsoft.com/office/drawing/2014/main" id="{06270CC1-5267-96EF-DC96-EC394176D99A}"/>
              </a:ext>
            </a:extLst>
          </p:cNvPr>
          <p:cNvSpPr/>
          <p:nvPr/>
        </p:nvSpPr>
        <p:spPr>
          <a:xfrm>
            <a:off x="609600" y="3225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2" name="CuadroTexto 11">
            <a:extLst>
              <a:ext uri="{FF2B5EF4-FFF2-40B4-BE49-F238E27FC236}">
                <a16:creationId xmlns:a16="http://schemas.microsoft.com/office/drawing/2014/main" id="{D9A494E9-43FF-DF54-668D-9EDC712C232E}"/>
              </a:ext>
            </a:extLst>
          </p:cNvPr>
          <p:cNvSpPr txBox="1"/>
          <p:nvPr/>
        </p:nvSpPr>
        <p:spPr>
          <a:xfrm>
            <a:off x="1143000" y="32385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Los dos criterios a la vez</a:t>
            </a:r>
            <a:endParaRPr lang="es-BO" sz="1350">
              <a:solidFill>
                <a:srgbClr val="1C1813"/>
              </a:solidFill>
              <a:latin typeface="Bahnschrift SemiBold" panose="020B0502040204020203" pitchFamily="34" charset="0"/>
            </a:endParaRPr>
          </a:p>
        </p:txBody>
      </p:sp>
      <p:sp>
        <p:nvSpPr>
          <p:cNvPr id="13" name="CuadroTexto 12">
            <a:extLst>
              <a:ext uri="{FF2B5EF4-FFF2-40B4-BE49-F238E27FC236}">
                <a16:creationId xmlns:a16="http://schemas.microsoft.com/office/drawing/2014/main" id="{C999B2C0-2C47-5F8B-3878-F77E1678EC68}"/>
              </a:ext>
            </a:extLst>
          </p:cNvPr>
          <p:cNvSpPr txBox="1"/>
          <p:nvPr/>
        </p:nvSpPr>
        <p:spPr>
          <a:xfrm>
            <a:off x="1143000" y="3492500"/>
            <a:ext cx="69596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de la media protege frente a un hormigón globalmente flojo. El del valor individual protege frente a una zona puntualmente mala que la media esconde.</a:t>
            </a:r>
            <a:endParaRPr lang="es-BO" sz="1150">
              <a:solidFill>
                <a:srgbClr val="5A5248"/>
              </a:solidFill>
              <a:latin typeface="Segoe UI" panose="020B0502040204020203" pitchFamily="34" charset="0"/>
            </a:endParaRPr>
          </a:p>
        </p:txBody>
      </p:sp>
      <p:sp>
        <p:nvSpPr>
          <p:cNvPr id="14" name="Elipse 13">
            <a:extLst>
              <a:ext uri="{FF2B5EF4-FFF2-40B4-BE49-F238E27FC236}">
                <a16:creationId xmlns:a16="http://schemas.microsoft.com/office/drawing/2014/main" id="{C28A418B-4D1E-4889-A69D-281265FE1489}"/>
              </a:ext>
            </a:extLst>
          </p:cNvPr>
          <p:cNvSpPr/>
          <p:nvPr/>
        </p:nvSpPr>
        <p:spPr>
          <a:xfrm>
            <a:off x="609600" y="4038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5" name="CuadroTexto 14">
            <a:extLst>
              <a:ext uri="{FF2B5EF4-FFF2-40B4-BE49-F238E27FC236}">
                <a16:creationId xmlns:a16="http://schemas.microsoft.com/office/drawing/2014/main" id="{F9E8FD2E-88D5-647D-7C52-3FA1BECDEE55}"/>
              </a:ext>
            </a:extLst>
          </p:cNvPr>
          <p:cNvSpPr txBox="1"/>
          <p:nvPr/>
        </p:nvSpPr>
        <p:spPr>
          <a:xfrm>
            <a:off x="1143000" y="40513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Qué pasa si no cumple</a:t>
            </a:r>
            <a:endParaRPr lang="es-BO" sz="1350">
              <a:solidFill>
                <a:srgbClr val="1C1813"/>
              </a:solidFill>
              <a:latin typeface="Bahnschrift SemiBold" panose="020B0502040204020203" pitchFamily="34" charset="0"/>
            </a:endParaRPr>
          </a:p>
        </p:txBody>
      </p:sp>
      <p:sp>
        <p:nvSpPr>
          <p:cNvPr id="16" name="CuadroTexto 15">
            <a:extLst>
              <a:ext uri="{FF2B5EF4-FFF2-40B4-BE49-F238E27FC236}">
                <a16:creationId xmlns:a16="http://schemas.microsoft.com/office/drawing/2014/main" id="{4E9C31F8-169C-B196-835A-247B1097EA71}"/>
              </a:ext>
            </a:extLst>
          </p:cNvPr>
          <p:cNvSpPr txBox="1"/>
          <p:nvPr/>
        </p:nvSpPr>
        <p:spPr>
          <a:xfrm>
            <a:off x="1143000" y="4305300"/>
            <a:ext cx="69596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No significa demoler. Significa </a:t>
            </a:r>
            <a:r>
              <a:rPr lang="es-MX" sz="1150" b="1">
                <a:solidFill>
                  <a:srgbClr val="5A5248"/>
                </a:solidFill>
                <a:latin typeface="Segoe UI Semibold" panose="020B0702040204020203" pitchFamily="34" charset="0"/>
              </a:rPr>
              <a:t>recalcular con la resistencia real</a:t>
            </a:r>
            <a:r>
              <a:rPr lang="es-MX" sz="1150">
                <a:solidFill>
                  <a:srgbClr val="5A5248"/>
                </a:solidFill>
                <a:latin typeface="Segoe UI" panose="020B0502040204020203" pitchFamily="34" charset="0"/>
              </a:rPr>
              <a:t> y decidir si la estructura sirve para lo que se le va a pedir. Eso es la clase 7.</a:t>
            </a:r>
            <a:endParaRPr lang="es-BO" sz="1150">
              <a:solidFill>
                <a:srgbClr val="5A5248"/>
              </a:solidFill>
              <a:latin typeface="Segoe UI" panose="020B0502040204020203" pitchFamily="34" charset="0"/>
            </a:endParaRPr>
          </a:p>
        </p:txBody>
      </p:sp>
      <p:sp>
        <p:nvSpPr>
          <p:cNvPr id="17" name="Elipse 16">
            <a:extLst>
              <a:ext uri="{FF2B5EF4-FFF2-40B4-BE49-F238E27FC236}">
                <a16:creationId xmlns:a16="http://schemas.microsoft.com/office/drawing/2014/main" id="{78BFAEF6-9162-3EAF-AA1B-5E78587EFD79}"/>
              </a:ext>
            </a:extLst>
          </p:cNvPr>
          <p:cNvSpPr/>
          <p:nvPr/>
        </p:nvSpPr>
        <p:spPr>
          <a:xfrm>
            <a:off x="609600" y="4851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8" name="CuadroTexto 17">
            <a:extLst>
              <a:ext uri="{FF2B5EF4-FFF2-40B4-BE49-F238E27FC236}">
                <a16:creationId xmlns:a16="http://schemas.microsoft.com/office/drawing/2014/main" id="{97678D94-4AC8-19B9-E252-8F832D74DAC6}"/>
              </a:ext>
            </a:extLst>
          </p:cNvPr>
          <p:cNvSpPr txBox="1"/>
          <p:nvPr/>
        </p:nvSpPr>
        <p:spPr>
          <a:xfrm>
            <a:off x="1143000" y="4864100"/>
            <a:ext cx="5842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Y si cumple</a:t>
            </a:r>
          </a:p>
        </p:txBody>
      </p:sp>
      <p:sp>
        <p:nvSpPr>
          <p:cNvPr id="19" name="CuadroTexto 18">
            <a:extLst>
              <a:ext uri="{FF2B5EF4-FFF2-40B4-BE49-F238E27FC236}">
                <a16:creationId xmlns:a16="http://schemas.microsoft.com/office/drawing/2014/main" id="{2EDCB83C-E3AC-47D7-F9BB-81C57232ECC5}"/>
              </a:ext>
            </a:extLst>
          </p:cNvPr>
          <p:cNvSpPr txBox="1"/>
          <p:nvPr/>
        </p:nvSpPr>
        <p:spPr>
          <a:xfrm>
            <a:off x="1143000" y="5118100"/>
            <a:ext cx="69596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Tampoco cierra el caso: la resistencia es una propiedad de las muchas que hay que comprobar. Durabilidad y recubrimiento van por separado.</a:t>
            </a:r>
            <a:endParaRPr lang="es-BO" sz="1150">
              <a:solidFill>
                <a:srgbClr val="5A5248"/>
              </a:solidFill>
              <a:latin typeface="Segoe UI" panose="020B0502040204020203" pitchFamily="34" charset="0"/>
            </a:endParaRPr>
          </a:p>
        </p:txBody>
      </p:sp>
      <p:pic>
        <p:nvPicPr>
          <p:cNvPr id="21" name="Imagen 20" descr="Testigos brutos y corregidos frente a 0,85 y 0,75 de f'c">
            <a:extLst>
              <a:ext uri="{FF2B5EF4-FFF2-40B4-BE49-F238E27FC236}">
                <a16:creationId xmlns:a16="http://schemas.microsoft.com/office/drawing/2014/main" id="{8C9550AA-8D4C-E2FA-A2A2-CB17465693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483600" y="2413000"/>
            <a:ext cx="3098800" cy="3098800"/>
          </a:xfrm>
          <a:prstGeom prst="rect">
            <a:avLst/>
          </a:prstGeom>
        </p:spPr>
      </p:pic>
      <p:sp>
        <p:nvSpPr>
          <p:cNvPr id="22" name="Rectángulo 21">
            <a:extLst>
              <a:ext uri="{FF2B5EF4-FFF2-40B4-BE49-F238E27FC236}">
                <a16:creationId xmlns:a16="http://schemas.microsoft.com/office/drawing/2014/main" id="{0BE264A3-7D70-908C-5A4B-55424E1E192B}"/>
              </a:ext>
            </a:extLst>
          </p:cNvPr>
          <p:cNvSpPr/>
          <p:nvPr/>
        </p:nvSpPr>
        <p:spPr>
          <a:xfrm>
            <a:off x="609600" y="5715000"/>
            <a:ext cx="10972800" cy="457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4" name="CuadroTexto 23">
            <a:extLst>
              <a:ext uri="{FF2B5EF4-FFF2-40B4-BE49-F238E27FC236}">
                <a16:creationId xmlns:a16="http://schemas.microsoft.com/office/drawing/2014/main" id="{EA2729B8-CFA7-782F-17D9-F1279B64FF28}"/>
              </a:ext>
            </a:extLst>
          </p:cNvPr>
          <p:cNvSpPr txBox="1"/>
          <p:nvPr/>
        </p:nvSpPr>
        <p:spPr>
          <a:xfrm>
            <a:off x="838200" y="5765800"/>
            <a:ext cx="10566400" cy="3556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Cumplir el criterio de testigos no es lo mismo que estar en buen estado.</a:t>
            </a:r>
            <a:endParaRPr lang="es-BO" sz="1150">
              <a:solidFill>
                <a:srgbClr val="FFFFFF"/>
              </a:solidFill>
              <a:latin typeface="Segoe UI" panose="020B0502040204020203" pitchFamily="34" charset="0"/>
            </a:endParaRPr>
          </a:p>
        </p:txBody>
      </p:sp>
      <p:sp>
        <p:nvSpPr>
          <p:cNvPr id="25" name="CuadroTexto 24">
            <a:extLst>
              <a:ext uri="{FF2B5EF4-FFF2-40B4-BE49-F238E27FC236}">
                <a16:creationId xmlns:a16="http://schemas.microsoft.com/office/drawing/2014/main" id="{C2050D5E-6BB7-4542-FC77-0DA4AA6B6FC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it-IT" sz="700">
                <a:solidFill>
                  <a:srgbClr val="938A7C"/>
                </a:solidFill>
                <a:latin typeface="Segoe UI" panose="020B0502040204020203" pitchFamily="34" charset="0"/>
              </a:rPr>
              <a:t>Fuente: ACI 318-19 §26.12.4.1; ACI 562 §6.</a:t>
            </a:r>
            <a:endParaRPr lang="es-BO" sz="700">
              <a:solidFill>
                <a:srgbClr val="938A7C"/>
              </a:solidFill>
              <a:latin typeface="Segoe UI" panose="020B0502040204020203" pitchFamily="34" charset="0"/>
            </a:endParaRPr>
          </a:p>
        </p:txBody>
      </p:sp>
      <p:cxnSp>
        <p:nvCxnSpPr>
          <p:cNvPr id="26" name="Conector recto 25">
            <a:extLst>
              <a:ext uri="{FF2B5EF4-FFF2-40B4-BE49-F238E27FC236}">
                <a16:creationId xmlns:a16="http://schemas.microsoft.com/office/drawing/2014/main" id="{AF0D1E4E-F535-42DB-9489-5BB7AC81197E}"/>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0043A272-7D6A-DD77-1190-00BB99A61A80}"/>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8" name="CuadroTexto 27">
            <a:extLst>
              <a:ext uri="{FF2B5EF4-FFF2-40B4-BE49-F238E27FC236}">
                <a16:creationId xmlns:a16="http://schemas.microsoft.com/office/drawing/2014/main" id="{30BF1846-5A5C-F180-859B-8D68242F0E3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9" name="PageNo">
            <a:extLst>
              <a:ext uri="{FF2B5EF4-FFF2-40B4-BE49-F238E27FC236}">
                <a16:creationId xmlns:a16="http://schemas.microsoft.com/office/drawing/2014/main" id="{7C3A52DE-D112-2F12-768B-2E01D2AAA3D8}"/>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20 / 39</a:t>
            </a:r>
          </a:p>
        </p:txBody>
      </p:sp>
    </p:spTree>
    <p:extLst>
      <p:ext uri="{BB962C8B-B14F-4D97-AF65-F5344CB8AC3E}">
        <p14:creationId xmlns:p14="http://schemas.microsoft.com/office/powerpoint/2010/main" val="409544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F7A400A-35C2-7A8B-B887-432751D14E47}"/>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LOS ENSAYOS DE LABORATORIO</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E570164B-76AF-81C6-8A8D-AF2FD704144B}"/>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Cada mecanismo del curso tiene su ensayo, y solo uno lo confirma</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5466AE4E-810D-5E5E-8747-28788997A6B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4757998D-0667-148D-F5C3-A1AEE975C180}"/>
              </a:ext>
            </a:extLst>
          </p:cNvPr>
          <p:cNvGraphicFramePr>
            <a:graphicFrameLocks noGrp="1"/>
          </p:cNvGraphicFramePr>
          <p:nvPr>
            <p:extLst>
              <p:ext uri="{D42A27DB-BD31-4B8C-83A1-F6EECF244321}">
                <p14:modId xmlns:p14="http://schemas.microsoft.com/office/powerpoint/2010/main" val="1228802847"/>
              </p:ext>
            </p:extLst>
          </p:nvPr>
        </p:nvGraphicFramePr>
        <p:xfrm>
          <a:off x="609600" y="1422400"/>
          <a:ext cx="6299200" cy="3403600"/>
        </p:xfrm>
        <a:graphic>
          <a:graphicData uri="http://schemas.openxmlformats.org/drawingml/2006/table">
            <a:tbl>
              <a:tblPr firstRow="1" bandRow="1">
                <a:tableStyleId>{5C22544A-7EE6-4342-B048-85BDC9FD1C3A}</a:tableStyleId>
              </a:tblPr>
              <a:tblGrid>
                <a:gridCol w="1308100">
                  <a:extLst>
                    <a:ext uri="{9D8B030D-6E8A-4147-A177-3AD203B41FA5}">
                      <a16:colId xmlns:a16="http://schemas.microsoft.com/office/drawing/2014/main" val="2805886038"/>
                    </a:ext>
                  </a:extLst>
                </a:gridCol>
                <a:gridCol w="2082800">
                  <a:extLst>
                    <a:ext uri="{9D8B030D-6E8A-4147-A177-3AD203B41FA5}">
                      <a16:colId xmlns:a16="http://schemas.microsoft.com/office/drawing/2014/main" val="629720914"/>
                    </a:ext>
                  </a:extLst>
                </a:gridCol>
                <a:gridCol w="1828800">
                  <a:extLst>
                    <a:ext uri="{9D8B030D-6E8A-4147-A177-3AD203B41FA5}">
                      <a16:colId xmlns:a16="http://schemas.microsoft.com/office/drawing/2014/main" val="1704189435"/>
                    </a:ext>
                  </a:extLst>
                </a:gridCol>
                <a:gridCol w="1079500">
                  <a:extLst>
                    <a:ext uri="{9D8B030D-6E8A-4147-A177-3AD203B41FA5}">
                      <a16:colId xmlns:a16="http://schemas.microsoft.com/office/drawing/2014/main" val="2732002844"/>
                    </a:ext>
                  </a:extLst>
                </a:gridCol>
              </a:tblGrid>
              <a:tr h="486229">
                <a:tc>
                  <a:txBody>
                    <a:bodyPr/>
                    <a:lstStyle/>
                    <a:p>
                      <a:pPr algn="ctr"/>
                      <a:r>
                        <a:rPr lang="es-BO" sz="850" b="0">
                          <a:solidFill>
                            <a:srgbClr val="FFFFFF"/>
                          </a:solidFill>
                          <a:latin typeface="Segoe UI Semibold" panose="020B0702040204020203" pitchFamily="34" charset="0"/>
                        </a:rPr>
                        <a:t>Ensayo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850" b="0">
                          <a:solidFill>
                            <a:srgbClr val="FFFFFF"/>
                          </a:solidFill>
                          <a:latin typeface="Segoe UI Semibold" panose="020B0702040204020203" pitchFamily="34" charset="0"/>
                        </a:rPr>
                        <a:t>Qué confirma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850" b="0">
                          <a:solidFill>
                            <a:srgbClr val="FFFFFF"/>
                          </a:solidFill>
                          <a:latin typeface="Segoe UI Semibold" panose="020B0702040204020203" pitchFamily="34" charset="0"/>
                        </a:rPr>
                        <a:t>Muestra que hace falta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850" b="0">
                          <a:solidFill>
                            <a:srgbClr val="FFFFFF"/>
                          </a:solidFill>
                          <a:latin typeface="Segoe UI Semibold" panose="020B0702040204020203" pitchFamily="34" charset="0"/>
                        </a:rPr>
                        <a:t>Norma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1649925421"/>
                  </a:ext>
                </a:extLst>
              </a:tr>
              <a:tr h="486229">
                <a:tc>
                  <a:txBody>
                    <a:bodyPr/>
                    <a:lstStyle/>
                    <a:p>
                      <a:pPr algn="ctr"/>
                      <a:r>
                        <a:rPr lang="es-BO" sz="900" b="0">
                          <a:solidFill>
                            <a:srgbClr val="1C1813"/>
                          </a:solidFill>
                          <a:latin typeface="Segoe UI Semibold" panose="020B0702040204020203" pitchFamily="34" charset="0"/>
                        </a:rPr>
                        <a:t>Fenolftaleína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Profundidad del frente de carbonatación</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Fractura fresca, en obra o sobre testigo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EN 14630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077545001"/>
                  </a:ext>
                </a:extLst>
              </a:tr>
              <a:tr h="486229">
                <a:tc>
                  <a:txBody>
                    <a:bodyPr/>
                    <a:lstStyle/>
                    <a:p>
                      <a:pPr algn="ctr"/>
                      <a:r>
                        <a:rPr lang="es-BO" sz="900" b="0">
                          <a:solidFill>
                            <a:srgbClr val="1C1813"/>
                          </a:solidFill>
                          <a:latin typeface="Segoe UI Semibold" panose="020B0702040204020203" pitchFamily="34" charset="0"/>
                        </a:rPr>
                        <a:t>Perfil de cloruros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Contenido por profundidades y si supera el umbral</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Polvo de taladro por capas de 10 mm</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ASTM C1152 / C1218</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849820462"/>
                  </a:ext>
                </a:extLst>
              </a:tr>
              <a:tr h="486229">
                <a:tc>
                  <a:txBody>
                    <a:bodyPr/>
                    <a:lstStyle/>
                    <a:p>
                      <a:pPr algn="ctr"/>
                      <a:r>
                        <a:rPr lang="es-BO" sz="900" b="0">
                          <a:solidFill>
                            <a:srgbClr val="1C1813"/>
                          </a:solidFill>
                          <a:latin typeface="Segoe UI Semibold" panose="020B0702040204020203" pitchFamily="34" charset="0"/>
                        </a:rPr>
                        <a:t>Sulfatos en el terreno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Clase de exposición química del suelo</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00" b="0">
                          <a:solidFill>
                            <a:srgbClr val="241F18"/>
                          </a:solidFill>
                          <a:latin typeface="Segoe UI" panose="020B0502040204020203" pitchFamily="34" charset="0"/>
                        </a:rPr>
                        <a:t>Muestra de suelo a la cota de cimentación</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ASTM C1580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454274668"/>
                  </a:ext>
                </a:extLst>
              </a:tr>
              <a:tr h="486229">
                <a:tc>
                  <a:txBody>
                    <a:bodyPr/>
                    <a:lstStyle/>
                    <a:p>
                      <a:pPr algn="ctr"/>
                      <a:r>
                        <a:rPr lang="es-BO" sz="900" b="0">
                          <a:solidFill>
                            <a:srgbClr val="1C1813"/>
                          </a:solidFill>
                          <a:latin typeface="Segoe UI Semibold" panose="020B0702040204020203" pitchFamily="34" charset="0"/>
                        </a:rPr>
                        <a:t>Petrografía del árido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Sílice reactiva: riesgo de reacción árido-álcali</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Testigo o muestra de la cantera</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ASTM C295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4163148808"/>
                  </a:ext>
                </a:extLst>
              </a:tr>
              <a:tr h="486229">
                <a:tc>
                  <a:txBody>
                    <a:bodyPr/>
                    <a:lstStyle/>
                    <a:p>
                      <a:pPr algn="ctr"/>
                      <a:r>
                        <a:rPr lang="es-BO" sz="900" b="0">
                          <a:solidFill>
                            <a:srgbClr val="1C1813"/>
                          </a:solidFill>
                          <a:latin typeface="Segoe UI Semibold" panose="020B0702040204020203" pitchFamily="34" charset="0"/>
                        </a:rPr>
                        <a:t>Sección delgada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Microestructura, gel de reacción, etringita secundaria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Testigo íntegro, sin golpear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00" b="0">
                          <a:solidFill>
                            <a:srgbClr val="241F18"/>
                          </a:solidFill>
                          <a:latin typeface="Segoe UI" panose="020B0502040204020203" pitchFamily="34" charset="0"/>
                        </a:rPr>
                        <a:t>ASTM C856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494494011"/>
                  </a:ext>
                </a:extLst>
              </a:tr>
              <a:tr h="486229">
                <a:tc>
                  <a:txBody>
                    <a:bodyPr/>
                    <a:lstStyle/>
                    <a:p>
                      <a:pPr algn="ctr"/>
                      <a:r>
                        <a:rPr lang="es-BO" sz="900" b="0">
                          <a:solidFill>
                            <a:srgbClr val="1C1813"/>
                          </a:solidFill>
                          <a:latin typeface="Segoe UI Semibold" panose="020B0702040204020203" pitchFamily="34" charset="0"/>
                        </a:rPr>
                        <a:t>Arrancamiento  (pull-off)</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Adherencia del soporte o de una reparación</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00" b="0">
                          <a:solidFill>
                            <a:srgbClr val="241F18"/>
                          </a:solidFill>
                          <a:latin typeface="Segoe UI" panose="020B0502040204020203" pitchFamily="34" charset="0"/>
                        </a:rPr>
                        <a:t>Sufridera pegada y corona cortada in situ</a:t>
                      </a:r>
                      <a:endParaRPr lang="es-BO" sz="9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00" b="0">
                          <a:solidFill>
                            <a:srgbClr val="241F18"/>
                          </a:solidFill>
                          <a:latin typeface="Segoe UI" panose="020B0502040204020203" pitchFamily="34" charset="0"/>
                        </a:rPr>
                        <a:t>EN 1542</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996697617"/>
                  </a:ext>
                </a:extLst>
              </a:tr>
            </a:tbl>
          </a:graphicData>
        </a:graphic>
      </p:graphicFrame>
      <p:pic>
        <p:nvPicPr>
          <p:cNvPr id="8" name="Imagen 7" descr="Fenolftaleína, perfil de cloruros, arrancamiento y sección delgada">
            <a:extLst>
              <a:ext uri="{FF2B5EF4-FFF2-40B4-BE49-F238E27FC236}">
                <a16:creationId xmlns:a16="http://schemas.microsoft.com/office/drawing/2014/main" id="{200AADB0-623D-498D-4E20-A104BE775C8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0" y="1422400"/>
            <a:ext cx="4470400" cy="3403600"/>
          </a:xfrm>
          <a:prstGeom prst="rect">
            <a:avLst/>
          </a:prstGeom>
        </p:spPr>
      </p:pic>
      <p:sp>
        <p:nvSpPr>
          <p:cNvPr id="9" name="Rectángulo 8">
            <a:extLst>
              <a:ext uri="{FF2B5EF4-FFF2-40B4-BE49-F238E27FC236}">
                <a16:creationId xmlns:a16="http://schemas.microsoft.com/office/drawing/2014/main" id="{5E4483A8-5F52-D61B-741D-639DEDCE0824}"/>
              </a:ext>
            </a:extLst>
          </p:cNvPr>
          <p:cNvSpPr/>
          <p:nvPr/>
        </p:nvSpPr>
        <p:spPr>
          <a:xfrm>
            <a:off x="609600" y="5029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09CCC88E-B5D2-0A41-562E-41B947BEDCFA}"/>
              </a:ext>
            </a:extLst>
          </p:cNvPr>
          <p:cNvSpPr txBox="1"/>
          <p:nvPr/>
        </p:nvSpPr>
        <p:spPr>
          <a:xfrm>
            <a:off x="838200" y="5080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 última fila es la que se usa en la clase 6: </a:t>
            </a:r>
            <a:r>
              <a:rPr lang="es-MX" sz="1200" b="1">
                <a:solidFill>
                  <a:srgbClr val="FFFFFF"/>
                </a:solidFill>
                <a:latin typeface="Segoe UI Semibold" panose="020B0702040204020203" pitchFamily="34" charset="0"/>
              </a:rPr>
              <a:t>una reparación que no se comprueba con pull-off no está recibida</a:t>
            </a:r>
            <a:r>
              <a:rPr lang="es-MX" sz="1200">
                <a:solidFill>
                  <a:srgbClr val="FFFFFF"/>
                </a:solidFill>
                <a:latin typeface="Segoe UI" panose="020B0502040204020203" pitchFamily="34" charset="0"/>
              </a:rPr>
              <a:t>, por muy bien que se vea.</a:t>
            </a:r>
            <a:endParaRPr lang="es-BO" sz="1200">
              <a:solidFill>
                <a:srgbClr val="FFFFFF"/>
              </a:solidFill>
              <a:latin typeface="Segoe UI" panose="020B0502040204020203" pitchFamily="34" charset="0"/>
            </a:endParaRPr>
          </a:p>
        </p:txBody>
      </p:sp>
      <p:sp>
        <p:nvSpPr>
          <p:cNvPr id="12" name="CuadroTexto 11">
            <a:extLst>
              <a:ext uri="{FF2B5EF4-FFF2-40B4-BE49-F238E27FC236}">
                <a16:creationId xmlns:a16="http://schemas.microsoft.com/office/drawing/2014/main" id="{3740D2E2-89DB-1285-ED00-9DD0B1770FD7}"/>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Normas indicadas; EN 1504-10 para la ejecución.</a:t>
            </a:r>
            <a:endParaRPr lang="es-BO" sz="700">
              <a:solidFill>
                <a:srgbClr val="938A7C"/>
              </a:solidFill>
              <a:latin typeface="Segoe UI" panose="020B0502040204020203" pitchFamily="34" charset="0"/>
            </a:endParaRPr>
          </a:p>
        </p:txBody>
      </p:sp>
      <p:cxnSp>
        <p:nvCxnSpPr>
          <p:cNvPr id="13" name="Conector recto 12">
            <a:extLst>
              <a:ext uri="{FF2B5EF4-FFF2-40B4-BE49-F238E27FC236}">
                <a16:creationId xmlns:a16="http://schemas.microsoft.com/office/drawing/2014/main" id="{FF1266B0-D0E5-85D3-C247-89C285C9ED20}"/>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2C7BF53C-B057-849C-DFBF-96DFF81C1E9C}"/>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5" name="CuadroTexto 14">
            <a:extLst>
              <a:ext uri="{FF2B5EF4-FFF2-40B4-BE49-F238E27FC236}">
                <a16:creationId xmlns:a16="http://schemas.microsoft.com/office/drawing/2014/main" id="{3465C652-DBA2-E93B-18AF-2FFAEEB86D7F}"/>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16" name="PageNo">
            <a:extLst>
              <a:ext uri="{FF2B5EF4-FFF2-40B4-BE49-F238E27FC236}">
                <a16:creationId xmlns:a16="http://schemas.microsoft.com/office/drawing/2014/main" id="{4CB491A6-FC37-6224-6982-EA3A22ED23E4}"/>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21 / 39</a:t>
            </a:r>
          </a:p>
        </p:txBody>
      </p:sp>
    </p:spTree>
    <p:extLst>
      <p:ext uri="{BB962C8B-B14F-4D97-AF65-F5344CB8AC3E}">
        <p14:creationId xmlns:p14="http://schemas.microsoft.com/office/powerpoint/2010/main" val="1526656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F368521-4339-C678-FF53-C884D7211BB6}"/>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3 · EL LABORATORIO</a:t>
            </a:r>
          </a:p>
        </p:txBody>
      </p:sp>
      <p:sp>
        <p:nvSpPr>
          <p:cNvPr id="3" name="Title">
            <a:extLst>
              <a:ext uri="{FF2B5EF4-FFF2-40B4-BE49-F238E27FC236}">
                <a16:creationId xmlns:a16="http://schemas.microsoft.com/office/drawing/2014/main" id="{3AA7C2D6-66EC-91B0-5738-BDDAC57AB1A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trabajos que deciden el valor de toda la campaña</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9991FCA6-1D55-471B-4138-0CBB15DF74DD}"/>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B726E40D-1B5D-108B-1274-B6DBBBD197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524000"/>
            <a:ext cx="3454400" cy="2336800"/>
          </a:xfrm>
          <a:prstGeom prst="rect">
            <a:avLst/>
          </a:prstGeom>
        </p:spPr>
      </p:pic>
      <p:sp>
        <p:nvSpPr>
          <p:cNvPr id="8" name="CuadroTexto 7">
            <a:extLst>
              <a:ext uri="{FF2B5EF4-FFF2-40B4-BE49-F238E27FC236}">
                <a16:creationId xmlns:a16="http://schemas.microsoft.com/office/drawing/2014/main" id="{44CC3E99-F412-9B25-DDC9-BC5591A0767B}"/>
              </a:ext>
            </a:extLst>
          </p:cNvPr>
          <p:cNvSpPr txBox="1"/>
          <p:nvPr/>
        </p:nvSpPr>
        <p:spPr>
          <a:xfrm>
            <a:off x="6096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La pesada</a:t>
            </a:r>
          </a:p>
        </p:txBody>
      </p:sp>
      <p:sp>
        <p:nvSpPr>
          <p:cNvPr id="9" name="CuadroTexto 8">
            <a:extLst>
              <a:ext uri="{FF2B5EF4-FFF2-40B4-BE49-F238E27FC236}">
                <a16:creationId xmlns:a16="http://schemas.microsoft.com/office/drawing/2014/main" id="{3116AC11-43D8-7798-D087-B8823C46E36E}"/>
              </a:ext>
            </a:extLst>
          </p:cNvPr>
          <p:cNvSpPr txBox="1"/>
          <p:nvPr/>
        </p:nvSpPr>
        <p:spPr>
          <a:xfrm>
            <a:off x="6096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Un perfil de cloruros es una serie de pesadas. La precisión de la balanza es la precisión del diagnóstico.</a:t>
            </a:r>
            <a:endParaRPr lang="es-BO" sz="1150">
              <a:solidFill>
                <a:srgbClr val="5A5248"/>
              </a:solidFill>
              <a:latin typeface="Segoe UI" panose="020B0502040204020203" pitchFamily="34" charset="0"/>
            </a:endParaRPr>
          </a:p>
        </p:txBody>
      </p:sp>
      <p:pic>
        <p:nvPicPr>
          <p:cNvPr id="11" name="Imagen 10">
            <a:extLst>
              <a:ext uri="{FF2B5EF4-FFF2-40B4-BE49-F238E27FC236}">
                <a16:creationId xmlns:a16="http://schemas.microsoft.com/office/drawing/2014/main" id="{6E84AF52-F7EF-4C8B-72EB-7C424F840F1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68800" y="1524000"/>
            <a:ext cx="3454400" cy="2336800"/>
          </a:xfrm>
          <a:prstGeom prst="rect">
            <a:avLst/>
          </a:prstGeom>
        </p:spPr>
      </p:pic>
      <p:sp>
        <p:nvSpPr>
          <p:cNvPr id="12" name="CuadroTexto 11">
            <a:extLst>
              <a:ext uri="{FF2B5EF4-FFF2-40B4-BE49-F238E27FC236}">
                <a16:creationId xmlns:a16="http://schemas.microsoft.com/office/drawing/2014/main" id="{0EAA4360-AF0D-5A9E-8706-0F83500498AB}"/>
              </a:ext>
            </a:extLst>
          </p:cNvPr>
          <p:cNvSpPr txBox="1"/>
          <p:nvPr/>
        </p:nvSpPr>
        <p:spPr>
          <a:xfrm>
            <a:off x="43688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La valoración</a:t>
            </a:r>
          </a:p>
        </p:txBody>
      </p:sp>
      <p:sp>
        <p:nvSpPr>
          <p:cNvPr id="13" name="CuadroTexto 12">
            <a:extLst>
              <a:ext uri="{FF2B5EF4-FFF2-40B4-BE49-F238E27FC236}">
                <a16:creationId xmlns:a16="http://schemas.microsoft.com/office/drawing/2014/main" id="{BE4A9FA9-0C2F-C291-0486-D0F93E9153EB}"/>
              </a:ext>
            </a:extLst>
          </p:cNvPr>
          <p:cNvSpPr txBox="1"/>
          <p:nvPr/>
        </p:nvSpPr>
        <p:spPr>
          <a:xfrm>
            <a:off x="43688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contenido de cloruro se determina por vía química. Pida el método: ácido soluble y soluble en agua no son lo mismo.</a:t>
            </a:r>
            <a:endParaRPr lang="es-BO" sz="1150">
              <a:solidFill>
                <a:srgbClr val="5A5248"/>
              </a:solidFill>
              <a:latin typeface="Segoe UI" panose="020B0502040204020203" pitchFamily="34" charset="0"/>
            </a:endParaRPr>
          </a:p>
        </p:txBody>
      </p:sp>
      <p:pic>
        <p:nvPicPr>
          <p:cNvPr id="15" name="Imagen 14">
            <a:extLst>
              <a:ext uri="{FF2B5EF4-FFF2-40B4-BE49-F238E27FC236}">
                <a16:creationId xmlns:a16="http://schemas.microsoft.com/office/drawing/2014/main" id="{E8E0BBD7-1132-8739-AC61-593F8767881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128000" y="1524000"/>
            <a:ext cx="3454400" cy="2336800"/>
          </a:xfrm>
          <a:prstGeom prst="rect">
            <a:avLst/>
          </a:prstGeom>
        </p:spPr>
      </p:pic>
      <p:sp>
        <p:nvSpPr>
          <p:cNvPr id="16" name="CuadroTexto 15">
            <a:extLst>
              <a:ext uri="{FF2B5EF4-FFF2-40B4-BE49-F238E27FC236}">
                <a16:creationId xmlns:a16="http://schemas.microsoft.com/office/drawing/2014/main" id="{F4BB9593-8088-1062-01A6-2C84767E2236}"/>
              </a:ext>
            </a:extLst>
          </p:cNvPr>
          <p:cNvSpPr txBox="1"/>
          <p:nvPr/>
        </p:nvSpPr>
        <p:spPr>
          <a:xfrm>
            <a:off x="81280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La calcinación</a:t>
            </a:r>
          </a:p>
        </p:txBody>
      </p:sp>
      <p:sp>
        <p:nvSpPr>
          <p:cNvPr id="17" name="CuadroTexto 16">
            <a:extLst>
              <a:ext uri="{FF2B5EF4-FFF2-40B4-BE49-F238E27FC236}">
                <a16:creationId xmlns:a16="http://schemas.microsoft.com/office/drawing/2014/main" id="{10F2EFAE-BAD2-9A43-A124-333FE8077681}"/>
              </a:ext>
            </a:extLst>
          </p:cNvPr>
          <p:cNvSpPr txBox="1"/>
          <p:nvPr/>
        </p:nvSpPr>
        <p:spPr>
          <a:xfrm>
            <a:off x="81280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Para determinar contenido de cemento y de materia orgánica. Es como se comprueba una dosificación a posteriori.</a:t>
            </a:r>
            <a:endParaRPr lang="es-BO" sz="1150">
              <a:solidFill>
                <a:srgbClr val="5A5248"/>
              </a:solidFill>
              <a:latin typeface="Segoe UI" panose="020B0502040204020203" pitchFamily="34" charset="0"/>
            </a:endParaRPr>
          </a:p>
        </p:txBody>
      </p:sp>
      <p:sp>
        <p:nvSpPr>
          <p:cNvPr id="18" name="Rectángulo 17">
            <a:extLst>
              <a:ext uri="{FF2B5EF4-FFF2-40B4-BE49-F238E27FC236}">
                <a16:creationId xmlns:a16="http://schemas.microsoft.com/office/drawing/2014/main" id="{77C7EB4D-8D64-E5F1-2E56-F0F3EF79C39E}"/>
              </a:ext>
            </a:extLst>
          </p:cNvPr>
          <p:cNvSpPr/>
          <p:nvPr/>
        </p:nvSpPr>
        <p:spPr>
          <a:xfrm>
            <a:off x="609600" y="5410200"/>
            <a:ext cx="109728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C477CF62-FAD7-70A5-EA36-085B3E3704AA}"/>
              </a:ext>
            </a:extLst>
          </p:cNvPr>
          <p:cNvSpPr txBox="1"/>
          <p:nvPr/>
        </p:nvSpPr>
        <p:spPr>
          <a:xfrm>
            <a:off x="838200" y="5461000"/>
            <a:ext cx="10566400" cy="558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Pida siempre el </a:t>
            </a:r>
            <a:r>
              <a:rPr lang="es-MX" sz="1200" b="1">
                <a:solidFill>
                  <a:srgbClr val="FFFFFF"/>
                </a:solidFill>
                <a:latin typeface="Segoe UI Semibold" panose="020B0702040204020203" pitchFamily="34" charset="0"/>
              </a:rPr>
              <a:t>método</a:t>
            </a:r>
            <a:r>
              <a:rPr lang="es-MX" sz="1200">
                <a:solidFill>
                  <a:srgbClr val="FFFFFF"/>
                </a:solidFill>
                <a:latin typeface="Segoe UI" panose="020B0502040204020203" pitchFamily="34" charset="0"/>
              </a:rPr>
              <a:t> además del resultado. Dos laboratorios pueden dar cifras de cloruro distintas por usar normas distintas, y las dos ser correctas.</a:t>
            </a:r>
            <a:endParaRPr lang="es-BO" sz="1200">
              <a:solidFill>
                <a:srgbClr val="FFFFFF"/>
              </a:solidFill>
              <a:latin typeface="Segoe UI" panose="020B0502040204020203" pitchFamily="34" charset="0"/>
            </a:endParaRPr>
          </a:p>
        </p:txBody>
      </p:sp>
      <p:cxnSp>
        <p:nvCxnSpPr>
          <p:cNvPr id="21" name="Conector recto 20">
            <a:extLst>
              <a:ext uri="{FF2B5EF4-FFF2-40B4-BE49-F238E27FC236}">
                <a16:creationId xmlns:a16="http://schemas.microsoft.com/office/drawing/2014/main" id="{D1B6B0A4-B4A8-25EC-D1B3-0EB3DCD1BC70}"/>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436CEFF6-0846-030F-389D-1B9BA6883875}"/>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3D8F179C-8F49-2AB3-6934-CD35FDD77608}"/>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4" name="PageNo">
            <a:extLst>
              <a:ext uri="{FF2B5EF4-FFF2-40B4-BE49-F238E27FC236}">
                <a16:creationId xmlns:a16="http://schemas.microsoft.com/office/drawing/2014/main" id="{19E6290B-D306-D757-5553-3B90BB20244C}"/>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22 / 39</a:t>
            </a:r>
          </a:p>
        </p:txBody>
      </p:sp>
    </p:spTree>
    <p:extLst>
      <p:ext uri="{BB962C8B-B14F-4D97-AF65-F5344CB8AC3E}">
        <p14:creationId xmlns:p14="http://schemas.microsoft.com/office/powerpoint/2010/main" val="2912285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644D661-2C3B-53E4-DE8F-D12F63FA18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C24C7D63-9094-8475-F508-EC2BC44B23C9}"/>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C81E4BFA-ACCD-34D1-76DA-B3ABB0F1073C}"/>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72A7C51F-4384-4ACC-84FB-474D9D6B7C4A}"/>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4</a:t>
            </a:r>
          </a:p>
        </p:txBody>
      </p:sp>
      <p:sp>
        <p:nvSpPr>
          <p:cNvPr id="7" name="Title">
            <a:extLst>
              <a:ext uri="{FF2B5EF4-FFF2-40B4-BE49-F238E27FC236}">
                <a16:creationId xmlns:a16="http://schemas.microsoft.com/office/drawing/2014/main" id="{8AC962BD-E4D9-0839-8118-48797C0A70AD}"/>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El informe que se defiende</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816B012B-0DBA-6519-E345-637E954EFF2F}"/>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D96FEF7E-13A5-F1D6-9595-19CAD3880F67}"/>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Un informe no se juzga por lo que concluye, sino por si un tercero puede repetirlo.</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805CDDF3-F1D6-C1E4-AC46-D100AADA15D2}"/>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B9B86665-05EA-34EB-EA50-593E7388A93A}"/>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La estructura</a:t>
            </a:r>
          </a:p>
        </p:txBody>
      </p:sp>
      <p:sp>
        <p:nvSpPr>
          <p:cNvPr id="12" name="Rectángulo 11">
            <a:extLst>
              <a:ext uri="{FF2B5EF4-FFF2-40B4-BE49-F238E27FC236}">
                <a16:creationId xmlns:a16="http://schemas.microsoft.com/office/drawing/2014/main" id="{5C72AFEB-C4C9-130E-046E-5A2E9B26C28C}"/>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314943A1-9611-BEBC-4522-B0EADADB1CA6}"/>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Lo que lo hace defendible</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AB1CBC3F-A054-50D8-4E70-BF812E2502F2}"/>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52753C79-F350-9B97-9C6C-3EF30271FB16}"/>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Las limitaciones</a:t>
            </a:r>
          </a:p>
        </p:txBody>
      </p:sp>
      <p:sp>
        <p:nvSpPr>
          <p:cNvPr id="16" name="CuadroTexto 15">
            <a:extLst>
              <a:ext uri="{FF2B5EF4-FFF2-40B4-BE49-F238E27FC236}">
                <a16:creationId xmlns:a16="http://schemas.microsoft.com/office/drawing/2014/main" id="{D64C561A-3045-55D6-685F-A24770D78607}"/>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5 · DIAGNÓSTICO</a:t>
            </a:r>
          </a:p>
        </p:txBody>
      </p:sp>
    </p:spTree>
    <p:extLst>
      <p:ext uri="{BB962C8B-B14F-4D97-AF65-F5344CB8AC3E}">
        <p14:creationId xmlns:p14="http://schemas.microsoft.com/office/powerpoint/2010/main" val="2590421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E6562C9-CC53-B39A-5A77-7B262D281D2A}"/>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4 · LA ESTRUCTURA</a:t>
            </a:r>
          </a:p>
        </p:txBody>
      </p:sp>
      <p:sp>
        <p:nvSpPr>
          <p:cNvPr id="3" name="Title">
            <a:extLst>
              <a:ext uri="{FF2B5EF4-FFF2-40B4-BE49-F238E27FC236}">
                <a16:creationId xmlns:a16="http://schemas.microsoft.com/office/drawing/2014/main" id="{A97DDEFE-1589-C821-60D9-6E1377EA2867}"/>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Seis apartados, y el orden no es negociable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F25B0D3A-766F-CAF2-F673-F8A66272CE25}"/>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FF47303B-82FA-2195-E69D-3C48ED83B5B8}"/>
              </a:ext>
            </a:extLst>
          </p:cNvPr>
          <p:cNvGraphicFramePr>
            <a:graphicFrameLocks noGrp="1"/>
          </p:cNvGraphicFramePr>
          <p:nvPr>
            <p:extLst>
              <p:ext uri="{D42A27DB-BD31-4B8C-83A1-F6EECF244321}">
                <p14:modId xmlns:p14="http://schemas.microsoft.com/office/powerpoint/2010/main" val="2655836102"/>
              </p:ext>
            </p:extLst>
          </p:nvPr>
        </p:nvGraphicFramePr>
        <p:xfrm>
          <a:off x="609600" y="1422400"/>
          <a:ext cx="6299200" cy="3149600"/>
        </p:xfrm>
        <a:graphic>
          <a:graphicData uri="http://schemas.openxmlformats.org/drawingml/2006/table">
            <a:tbl>
              <a:tblPr firstRow="1" bandRow="1">
                <a:tableStyleId>{5C22544A-7EE6-4342-B048-85BDC9FD1C3A}</a:tableStyleId>
              </a:tblPr>
              <a:tblGrid>
                <a:gridCol w="1358900">
                  <a:extLst>
                    <a:ext uri="{9D8B030D-6E8A-4147-A177-3AD203B41FA5}">
                      <a16:colId xmlns:a16="http://schemas.microsoft.com/office/drawing/2014/main" val="1494311900"/>
                    </a:ext>
                  </a:extLst>
                </a:gridCol>
                <a:gridCol w="2921000">
                  <a:extLst>
                    <a:ext uri="{9D8B030D-6E8A-4147-A177-3AD203B41FA5}">
                      <a16:colId xmlns:a16="http://schemas.microsoft.com/office/drawing/2014/main" val="1108790689"/>
                    </a:ext>
                  </a:extLst>
                </a:gridCol>
                <a:gridCol w="2019300">
                  <a:extLst>
                    <a:ext uri="{9D8B030D-6E8A-4147-A177-3AD203B41FA5}">
                      <a16:colId xmlns:a16="http://schemas.microsoft.com/office/drawing/2014/main" val="4003079833"/>
                    </a:ext>
                  </a:extLst>
                </a:gridCol>
              </a:tblGrid>
              <a:tr h="449943">
                <a:tc>
                  <a:txBody>
                    <a:bodyPr/>
                    <a:lstStyle/>
                    <a:p>
                      <a:pPr algn="ctr"/>
                      <a:r>
                        <a:rPr lang="es-BO" sz="900" b="0">
                          <a:solidFill>
                            <a:srgbClr val="FFFFFF"/>
                          </a:solidFill>
                          <a:latin typeface="Segoe UI Semibold" panose="020B0702040204020203" pitchFamily="34" charset="0"/>
                        </a:rPr>
                        <a:t>Apartado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Qué va dentro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Qué NO va dentro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2418708881"/>
                  </a:ext>
                </a:extLst>
              </a:tr>
              <a:tr h="449943">
                <a:tc>
                  <a:txBody>
                    <a:bodyPr/>
                    <a:lstStyle/>
                    <a:p>
                      <a:pPr algn="ctr"/>
                      <a:r>
                        <a:rPr lang="es-BO" sz="950" b="0">
                          <a:solidFill>
                            <a:srgbClr val="1C1813"/>
                          </a:solidFill>
                          <a:latin typeface="Segoe UI Semibold" panose="020B0702040204020203" pitchFamily="34" charset="0"/>
                        </a:rPr>
                        <a:t>1 · Objeto y alcance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Quién encarga, qué se pide, qué elementos se evalúan</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Conclusiones adelantadas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636314016"/>
                  </a:ext>
                </a:extLst>
              </a:tr>
              <a:tr h="449943">
                <a:tc>
                  <a:txBody>
                    <a:bodyPr/>
                    <a:lstStyle/>
                    <a:p>
                      <a:pPr algn="ctr"/>
                      <a:r>
                        <a:rPr lang="es-BO" sz="950" b="0">
                          <a:solidFill>
                            <a:srgbClr val="1C1813"/>
                          </a:solidFill>
                          <a:latin typeface="Segoe UI Semibold" panose="020B0702040204020203" pitchFamily="34" charset="0"/>
                        </a:rPr>
                        <a:t>2 · Documentación y normas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Qué se recibió, qué norma de proyecto y cuál de evaluación</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Normas que no se han usado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135938604"/>
                  </a:ext>
                </a:extLst>
              </a:tr>
              <a:tr h="449943">
                <a:tc>
                  <a:txBody>
                    <a:bodyPr/>
                    <a:lstStyle/>
                    <a:p>
                      <a:pPr algn="ctr"/>
                      <a:r>
                        <a:rPr lang="es-BO" sz="950" b="0">
                          <a:solidFill>
                            <a:srgbClr val="1C1813"/>
                          </a:solidFill>
                          <a:latin typeface="Segoe UI Semibold" panose="020B0702040204020203" pitchFamily="34" charset="0"/>
                        </a:rPr>
                        <a:t>3 · Hechos observados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Lo visto y lo medido, con fecha, método y referencia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Interpretaciones ni causas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02457156"/>
                  </a:ext>
                </a:extLst>
              </a:tr>
              <a:tr h="449943">
                <a:tc>
                  <a:txBody>
                    <a:bodyPr/>
                    <a:lstStyle/>
                    <a:p>
                      <a:pPr algn="ctr"/>
                      <a:r>
                        <a:rPr lang="es-BO" sz="950" b="0">
                          <a:solidFill>
                            <a:srgbClr val="1C1813"/>
                          </a:solidFill>
                          <a:latin typeface="Segoe UI Semibold" panose="020B0702040204020203" pitchFamily="34" charset="0"/>
                        </a:rPr>
                        <a:t>4 · Interpretación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Mecanismos, cadena causa-efecto, cálculos de comprobación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Hechos nuevos no declarados antes</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599879448"/>
                  </a:ext>
                </a:extLst>
              </a:tr>
              <a:tr h="449943">
                <a:tc>
                  <a:txBody>
                    <a:bodyPr/>
                    <a:lstStyle/>
                    <a:p>
                      <a:pPr algn="ctr"/>
                      <a:r>
                        <a:rPr lang="es-BO" sz="950" b="0">
                          <a:solidFill>
                            <a:srgbClr val="1C1813"/>
                          </a:solidFill>
                          <a:latin typeface="Segoe UI Semibold" panose="020B0702040204020203" pitchFamily="34" charset="0"/>
                        </a:rPr>
                        <a:t>5 · Conclusiones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Respuesta a cada pregunta del objeto, numerada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Nada que no venga de los apartados 3 y 4</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408571803"/>
                  </a:ext>
                </a:extLst>
              </a:tr>
              <a:tr h="449943">
                <a:tc>
                  <a:txBody>
                    <a:bodyPr/>
                    <a:lstStyle/>
                    <a:p>
                      <a:pPr algn="ctr"/>
                      <a:r>
                        <a:rPr lang="es-BO" sz="950" b="0">
                          <a:solidFill>
                            <a:srgbClr val="1C1813"/>
                          </a:solidFill>
                          <a:latin typeface="Segoe UI Semibold" panose="020B0702040204020203" pitchFamily="34" charset="0"/>
                        </a:rPr>
                        <a:t>6 · Limitaciones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Qué no se inspeccionó, qué se supuso y con qué incertidumbre</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Excusas: son limitaciones técnicas, no disculpas</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411571929"/>
                  </a:ext>
                </a:extLst>
              </a:tr>
            </a:tbl>
          </a:graphicData>
        </a:graphic>
      </p:graphicFrame>
      <p:pic>
        <p:nvPicPr>
          <p:cNvPr id="8" name="Imagen 7" descr="Informe con los seis apartados y la separación entre hechos e interpretación">
            <a:extLst>
              <a:ext uri="{FF2B5EF4-FFF2-40B4-BE49-F238E27FC236}">
                <a16:creationId xmlns:a16="http://schemas.microsoft.com/office/drawing/2014/main" id="{5848EF20-AEB9-A24E-8E1A-13532D2BE62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0" y="1422400"/>
            <a:ext cx="4470400" cy="3149600"/>
          </a:xfrm>
          <a:prstGeom prst="rect">
            <a:avLst/>
          </a:prstGeom>
        </p:spPr>
      </p:pic>
      <p:sp>
        <p:nvSpPr>
          <p:cNvPr id="9" name="Rectángulo 8">
            <a:extLst>
              <a:ext uri="{FF2B5EF4-FFF2-40B4-BE49-F238E27FC236}">
                <a16:creationId xmlns:a16="http://schemas.microsoft.com/office/drawing/2014/main" id="{2C8154EA-5F99-F02B-1CB2-A79AC9917DB0}"/>
              </a:ext>
            </a:extLst>
          </p:cNvPr>
          <p:cNvSpPr/>
          <p:nvPr/>
        </p:nvSpPr>
        <p:spPr>
          <a:xfrm>
            <a:off x="609600" y="4775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9E2F5CCC-F508-F0D1-41E7-7739E71E0110}"/>
              </a:ext>
            </a:extLst>
          </p:cNvPr>
          <p:cNvSpPr txBox="1"/>
          <p:nvPr/>
        </p:nvSpPr>
        <p:spPr>
          <a:xfrm>
            <a:off x="838200" y="4826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 separación entre el apartado 3 y el 4 es lo que distingue un informe pericial de una opinión. </a:t>
            </a:r>
            <a:r>
              <a:rPr lang="es-MX" sz="1200" b="1">
                <a:solidFill>
                  <a:srgbClr val="FFFFFF"/>
                </a:solidFill>
                <a:latin typeface="Segoe UI Semibold" panose="020B0702040204020203" pitchFamily="34" charset="0"/>
              </a:rPr>
              <a:t>Los hechos los puede comprobar cualquiera; la interpretación la firma usted.</a:t>
            </a:r>
            <a:endParaRPr lang="es-BO" sz="1200" b="1">
              <a:solidFill>
                <a:srgbClr val="FFFFFF"/>
              </a:solidFill>
              <a:latin typeface="Segoe UI Semibold" panose="020B0702040204020203" pitchFamily="34" charset="0"/>
            </a:endParaRPr>
          </a:p>
        </p:txBody>
      </p:sp>
      <p:sp>
        <p:nvSpPr>
          <p:cNvPr id="12" name="CuadroTexto 11">
            <a:extLst>
              <a:ext uri="{FF2B5EF4-FFF2-40B4-BE49-F238E27FC236}">
                <a16:creationId xmlns:a16="http://schemas.microsoft.com/office/drawing/2014/main" id="{6353C388-5FB2-40C0-85DD-7A1B7C48BE1E}"/>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562 §5 y §6; ACI 364.1R, Evaluation of Concrete Structures before Rehabilitation.</a:t>
            </a:r>
            <a:endParaRPr lang="es-BO" sz="700">
              <a:solidFill>
                <a:srgbClr val="938A7C"/>
              </a:solidFill>
              <a:latin typeface="Segoe UI" panose="020B0502040204020203" pitchFamily="34" charset="0"/>
            </a:endParaRPr>
          </a:p>
        </p:txBody>
      </p:sp>
      <p:cxnSp>
        <p:nvCxnSpPr>
          <p:cNvPr id="13" name="Conector recto 12">
            <a:extLst>
              <a:ext uri="{FF2B5EF4-FFF2-40B4-BE49-F238E27FC236}">
                <a16:creationId xmlns:a16="http://schemas.microsoft.com/office/drawing/2014/main" id="{8E0E2511-13D5-DFB5-2335-3EB42D2292B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03573F3C-CF53-DB8C-1330-34B3CDEDA61E}"/>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5" name="CuadroTexto 14">
            <a:extLst>
              <a:ext uri="{FF2B5EF4-FFF2-40B4-BE49-F238E27FC236}">
                <a16:creationId xmlns:a16="http://schemas.microsoft.com/office/drawing/2014/main" id="{7B06BFD4-3D2A-C54E-69CB-9E4183DAA63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16" name="PageNo">
            <a:extLst>
              <a:ext uri="{FF2B5EF4-FFF2-40B4-BE49-F238E27FC236}">
                <a16:creationId xmlns:a16="http://schemas.microsoft.com/office/drawing/2014/main" id="{E0E66502-AD21-6937-247E-CC528EE6B70D}"/>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24 / 39</a:t>
            </a:r>
          </a:p>
        </p:txBody>
      </p:sp>
    </p:spTree>
    <p:extLst>
      <p:ext uri="{BB962C8B-B14F-4D97-AF65-F5344CB8AC3E}">
        <p14:creationId xmlns:p14="http://schemas.microsoft.com/office/powerpoint/2010/main" val="578968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35CE36F-A1B1-80FB-062C-9863B0A87433}"/>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4 · LO QUE LO HACE DEFENDIBLE</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92AA4F3D-2CC0-F4FF-4072-FB5961BA4DC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Cinco detalles que se añaden al redactar y valen el informe entero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2D2DDC30-8F67-4BDF-A868-A8BDBC657A4D}"/>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E1CE22B9-0564-28A7-E4C8-D6C31FF6B584}"/>
              </a:ext>
            </a:extLst>
          </p:cNvPr>
          <p:cNvSpPr/>
          <p:nvPr/>
        </p:nvSpPr>
        <p:spPr>
          <a:xfrm>
            <a:off x="609600" y="1371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2B9AC911-0CFB-6457-7CB1-A6B8C3F6B31F}"/>
              </a:ext>
            </a:extLst>
          </p:cNvPr>
          <p:cNvSpPr txBox="1"/>
          <p:nvPr/>
        </p:nvSpPr>
        <p:spPr>
          <a:xfrm>
            <a:off x="1143000" y="13843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Cada número con su método</a:t>
            </a:r>
            <a:endParaRPr lang="es-BO" sz="1350">
              <a:solidFill>
                <a:srgbClr val="1C1813"/>
              </a:solidFill>
              <a:latin typeface="Bahnschrift SemiBold" panose="020B0502040204020203" pitchFamily="34" charset="0"/>
            </a:endParaRPr>
          </a:p>
        </p:txBody>
      </p:sp>
      <p:sp>
        <p:nvSpPr>
          <p:cNvPr id="8" name="CuadroTexto 7">
            <a:extLst>
              <a:ext uri="{FF2B5EF4-FFF2-40B4-BE49-F238E27FC236}">
                <a16:creationId xmlns:a16="http://schemas.microsoft.com/office/drawing/2014/main" id="{B058C41A-0DC2-D134-A8AC-8AD4C12C7594}"/>
              </a:ext>
            </a:extLst>
          </p:cNvPr>
          <p:cNvSpPr txBox="1"/>
          <p:nvPr/>
        </p:nvSpPr>
        <p:spPr>
          <a:xfrm>
            <a:off x="1143000" y="1638300"/>
            <a:ext cx="6858000" cy="5334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No «recubrimiento 18 mm», sino «18 mm de media de 40 lecturas con pacómetro, desviación típica 5 mm, el 12/03/2026».</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5A45C439-6065-C521-AF65-DE5CA41CBC61}"/>
              </a:ext>
            </a:extLst>
          </p:cNvPr>
          <p:cNvSpPr/>
          <p:nvPr/>
        </p:nvSpPr>
        <p:spPr>
          <a:xfrm>
            <a:off x="609600" y="22352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74F27D55-B06A-C61B-B7D8-50A21238A0D0}"/>
              </a:ext>
            </a:extLst>
          </p:cNvPr>
          <p:cNvSpPr txBox="1"/>
          <p:nvPr/>
        </p:nvSpPr>
        <p:spPr>
          <a:xfrm>
            <a:off x="1143000" y="22479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Cada foto con su referencia</a:t>
            </a:r>
            <a:endParaRPr lang="es-BO" sz="1350">
              <a:solidFill>
                <a:srgbClr val="1C1813"/>
              </a:solidFill>
              <a:latin typeface="Bahnschrift SemiBold" panose="020B0502040204020203" pitchFamily="34" charset="0"/>
            </a:endParaRPr>
          </a:p>
        </p:txBody>
      </p:sp>
      <p:sp>
        <p:nvSpPr>
          <p:cNvPr id="11" name="CuadroTexto 10">
            <a:extLst>
              <a:ext uri="{FF2B5EF4-FFF2-40B4-BE49-F238E27FC236}">
                <a16:creationId xmlns:a16="http://schemas.microsoft.com/office/drawing/2014/main" id="{BE6BFFFB-79C2-C951-E9D5-62DE7B48290D}"/>
              </a:ext>
            </a:extLst>
          </p:cNvPr>
          <p:cNvSpPr txBox="1"/>
          <p:nvPr/>
        </p:nvSpPr>
        <p:spPr>
          <a:xfrm>
            <a:off x="1143000" y="2501900"/>
            <a:ext cx="6858000" cy="5334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Elemento identificado, orientación y testigo de escala. Una foto sin referencia no prueba nada.</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9425BABE-6081-8B97-A7C2-2406426DA40A}"/>
              </a:ext>
            </a:extLst>
          </p:cNvPr>
          <p:cNvSpPr/>
          <p:nvPr/>
        </p:nvSpPr>
        <p:spPr>
          <a:xfrm>
            <a:off x="609600" y="3098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790352B0-9807-5010-828D-527B71C12A1D}"/>
              </a:ext>
            </a:extLst>
          </p:cNvPr>
          <p:cNvSpPr txBox="1"/>
          <p:nvPr/>
        </p:nvSpPr>
        <p:spPr>
          <a:xfrm>
            <a:off x="1143000" y="3111500"/>
            <a:ext cx="5842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Cada hipótesis declarada</a:t>
            </a:r>
          </a:p>
        </p:txBody>
      </p:sp>
      <p:sp>
        <p:nvSpPr>
          <p:cNvPr id="14" name="CuadroTexto 13">
            <a:extLst>
              <a:ext uri="{FF2B5EF4-FFF2-40B4-BE49-F238E27FC236}">
                <a16:creationId xmlns:a16="http://schemas.microsoft.com/office/drawing/2014/main" id="{B42B8638-E86C-6F65-E9D4-ACE2925CEF5A}"/>
              </a:ext>
            </a:extLst>
          </p:cNvPr>
          <p:cNvSpPr txBox="1"/>
          <p:nvPr/>
        </p:nvSpPr>
        <p:spPr>
          <a:xfrm>
            <a:off x="1143000" y="3365500"/>
            <a:ext cx="6858000" cy="5334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Si se adoptó una icorr de tabla o un factor de picadura de 5, se dice y se justifica. Lo que no se declara, se descubre.</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F0039F96-864E-0DE5-39D1-69661EAD9294}"/>
              </a:ext>
            </a:extLst>
          </p:cNvPr>
          <p:cNvSpPr/>
          <p:nvPr/>
        </p:nvSpPr>
        <p:spPr>
          <a:xfrm>
            <a:off x="609600" y="396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FC16BD55-3645-75B8-C03E-4DDFB1674A4C}"/>
              </a:ext>
            </a:extLst>
          </p:cNvPr>
          <p:cNvSpPr txBox="1"/>
          <p:nvPr/>
        </p:nvSpPr>
        <p:spPr>
          <a:xfrm>
            <a:off x="1143000" y="39751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Cada norma citada con su año</a:t>
            </a:r>
            <a:endParaRPr lang="es-BO" sz="1350">
              <a:solidFill>
                <a:srgbClr val="1C1813"/>
              </a:solidFill>
              <a:latin typeface="Bahnschrift SemiBold" panose="020B0502040204020203" pitchFamily="34" charset="0"/>
            </a:endParaRPr>
          </a:p>
        </p:txBody>
      </p:sp>
      <p:sp>
        <p:nvSpPr>
          <p:cNvPr id="17" name="CuadroTexto 16">
            <a:extLst>
              <a:ext uri="{FF2B5EF4-FFF2-40B4-BE49-F238E27FC236}">
                <a16:creationId xmlns:a16="http://schemas.microsoft.com/office/drawing/2014/main" id="{2CE70F82-9E9E-837E-1E46-84440E2D3419}"/>
              </a:ext>
            </a:extLst>
          </p:cNvPr>
          <p:cNvSpPr txBox="1"/>
          <p:nvPr/>
        </p:nvSpPr>
        <p:spPr>
          <a:xfrm>
            <a:off x="1143000" y="4229100"/>
            <a:ext cx="6858000" cy="5334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ACI 318-19 no es ACI 318-14. La versión forma parte de la cita y a veces cambia el resultado.</a:t>
            </a:r>
            <a:endParaRPr lang="es-BO" sz="1150">
              <a:solidFill>
                <a:srgbClr val="5A5248"/>
              </a:solidFill>
              <a:latin typeface="Segoe UI" panose="020B0502040204020203" pitchFamily="34" charset="0"/>
            </a:endParaRPr>
          </a:p>
        </p:txBody>
      </p:sp>
      <p:sp>
        <p:nvSpPr>
          <p:cNvPr id="18" name="Elipse 17">
            <a:extLst>
              <a:ext uri="{FF2B5EF4-FFF2-40B4-BE49-F238E27FC236}">
                <a16:creationId xmlns:a16="http://schemas.microsoft.com/office/drawing/2014/main" id="{4A944F27-C742-B845-20F6-F02CE6A1625D}"/>
              </a:ext>
            </a:extLst>
          </p:cNvPr>
          <p:cNvSpPr/>
          <p:nvPr/>
        </p:nvSpPr>
        <p:spPr>
          <a:xfrm>
            <a:off x="609600" y="4826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5</a:t>
            </a:r>
          </a:p>
        </p:txBody>
      </p:sp>
      <p:sp>
        <p:nvSpPr>
          <p:cNvPr id="19" name="CuadroTexto 18">
            <a:extLst>
              <a:ext uri="{FF2B5EF4-FFF2-40B4-BE49-F238E27FC236}">
                <a16:creationId xmlns:a16="http://schemas.microsoft.com/office/drawing/2014/main" id="{C8E6DD69-0738-A4A1-0E95-66ED4B77BC38}"/>
              </a:ext>
            </a:extLst>
          </p:cNvPr>
          <p:cNvSpPr txBox="1"/>
          <p:nvPr/>
        </p:nvSpPr>
        <p:spPr>
          <a:xfrm>
            <a:off x="1143000" y="4838700"/>
            <a:ext cx="5842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Trazabilidad de las muestras</a:t>
            </a:r>
          </a:p>
        </p:txBody>
      </p:sp>
      <p:sp>
        <p:nvSpPr>
          <p:cNvPr id="20" name="CuadroTexto 19">
            <a:extLst>
              <a:ext uri="{FF2B5EF4-FFF2-40B4-BE49-F238E27FC236}">
                <a16:creationId xmlns:a16="http://schemas.microsoft.com/office/drawing/2014/main" id="{D436FF53-BB91-168A-C1E4-F371FD07B5D6}"/>
              </a:ext>
            </a:extLst>
          </p:cNvPr>
          <p:cNvSpPr txBox="1"/>
          <p:nvPr/>
        </p:nvSpPr>
        <p:spPr>
          <a:xfrm>
            <a:off x="1143000" y="5092700"/>
            <a:ext cx="6858000" cy="5334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Dónde se tomó, quién, cuándo, cómo se transportó y qué laboratorio la recibió. Sin cadena de custodia, el ensayo es un papel suelto.</a:t>
            </a:r>
            <a:endParaRPr lang="es-BO" sz="1150">
              <a:solidFill>
                <a:srgbClr val="5A5248"/>
              </a:solidFill>
              <a:latin typeface="Segoe UI" panose="020B0502040204020203" pitchFamily="34" charset="0"/>
            </a:endParaRPr>
          </a:p>
        </p:txBody>
      </p:sp>
      <p:pic>
        <p:nvPicPr>
          <p:cNvPr id="22" name="Imagen 21" descr="Fotografía de paramento con tarjeta de color y escala como referencia">
            <a:extLst>
              <a:ext uri="{FF2B5EF4-FFF2-40B4-BE49-F238E27FC236}">
                <a16:creationId xmlns:a16="http://schemas.microsoft.com/office/drawing/2014/main" id="{0667DBC7-0270-0A45-69FB-E76870691BF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29600" y="1371600"/>
            <a:ext cx="3352800" cy="3683000"/>
          </a:xfrm>
          <a:prstGeom prst="rect">
            <a:avLst/>
          </a:prstGeom>
        </p:spPr>
      </p:pic>
      <p:sp>
        <p:nvSpPr>
          <p:cNvPr id="23" name="Rectángulo 22">
            <a:extLst>
              <a:ext uri="{FF2B5EF4-FFF2-40B4-BE49-F238E27FC236}">
                <a16:creationId xmlns:a16="http://schemas.microsoft.com/office/drawing/2014/main" id="{64349924-B5FB-2C65-17C2-8A20160B5203}"/>
              </a:ext>
            </a:extLst>
          </p:cNvPr>
          <p:cNvSpPr/>
          <p:nvPr/>
        </p:nvSpPr>
        <p:spPr>
          <a:xfrm>
            <a:off x="609600" y="5740400"/>
            <a:ext cx="10972800" cy="5080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5E1E342F-60C2-FA8A-9C52-5FDB40D27546}"/>
              </a:ext>
            </a:extLst>
          </p:cNvPr>
          <p:cNvSpPr txBox="1"/>
          <p:nvPr/>
        </p:nvSpPr>
        <p:spPr>
          <a:xfrm>
            <a:off x="838200" y="5791200"/>
            <a:ext cx="10566400" cy="4064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Ninguno de los cinco cuesta dinero. Todos cuestan disciplina, y </a:t>
            </a:r>
            <a:r>
              <a:rPr lang="es-MX" sz="1150" b="1">
                <a:solidFill>
                  <a:srgbClr val="FFFFFF"/>
                </a:solidFill>
                <a:latin typeface="Segoe UI Semibold" panose="020B0702040204020203" pitchFamily="34" charset="0"/>
              </a:rPr>
              <a:t>todos se echan de menos justo cuando alguien discute el informe</a:t>
            </a:r>
            <a:r>
              <a:rPr lang="es-MX" sz="1150">
                <a:solidFill>
                  <a:srgbClr val="FFFFFF"/>
                </a:solidFill>
                <a:latin typeface="Segoe UI" panose="020B0502040204020203" pitchFamily="34" charset="0"/>
              </a:rPr>
              <a:t>.</a:t>
            </a:r>
            <a:endParaRPr lang="es-BO" sz="1150">
              <a:solidFill>
                <a:srgbClr val="FFFFFF"/>
              </a:solidFill>
              <a:latin typeface="Segoe UI" panose="020B0502040204020203" pitchFamily="34" charset="0"/>
            </a:endParaRPr>
          </a:p>
        </p:txBody>
      </p:sp>
      <p:cxnSp>
        <p:nvCxnSpPr>
          <p:cNvPr id="26" name="Conector recto 25">
            <a:extLst>
              <a:ext uri="{FF2B5EF4-FFF2-40B4-BE49-F238E27FC236}">
                <a16:creationId xmlns:a16="http://schemas.microsoft.com/office/drawing/2014/main" id="{D1B7673D-21CB-3970-75A4-A0D824AFAC38}"/>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E95D5BC2-170E-5F95-1D2E-C1B15A59F508}"/>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8" name="CuadroTexto 27">
            <a:extLst>
              <a:ext uri="{FF2B5EF4-FFF2-40B4-BE49-F238E27FC236}">
                <a16:creationId xmlns:a16="http://schemas.microsoft.com/office/drawing/2014/main" id="{640FFD8B-46F9-C450-75A5-78170B259CEC}"/>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9" name="PageNo">
            <a:extLst>
              <a:ext uri="{FF2B5EF4-FFF2-40B4-BE49-F238E27FC236}">
                <a16:creationId xmlns:a16="http://schemas.microsoft.com/office/drawing/2014/main" id="{C440F2A3-0A70-E3DB-A428-456AD7791B05}"/>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25 / 39</a:t>
            </a:r>
          </a:p>
        </p:txBody>
      </p:sp>
    </p:spTree>
    <p:extLst>
      <p:ext uri="{BB962C8B-B14F-4D97-AF65-F5344CB8AC3E}">
        <p14:creationId xmlns:p14="http://schemas.microsoft.com/office/powerpoint/2010/main" val="110845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14855A-3922-FCAA-7216-7FEEDC95E111}"/>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4 · LAS LIMITACIONES</a:t>
            </a:r>
          </a:p>
        </p:txBody>
      </p:sp>
      <p:sp>
        <p:nvSpPr>
          <p:cNvPr id="3" name="Title">
            <a:extLst>
              <a:ext uri="{FF2B5EF4-FFF2-40B4-BE49-F238E27FC236}">
                <a16:creationId xmlns:a16="http://schemas.microsoft.com/office/drawing/2014/main" id="{F90B078C-59A4-B5CE-0D99-FBE5DF5D7E5B}"/>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Declarar lo que no se sabe es lo que da valor a lo que sí</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DC4363EB-FC31-CBC4-A9F7-75F752DB9630}"/>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AF7B0BBA-6DB3-DFB7-9356-F64328AB6DCC}"/>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69E1DE32-BCAA-F64E-1C7D-7CF2AAA01D27}"/>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223CCFD7-DAD6-1A13-06E3-A90E8F863DE7}"/>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Lo no accesible</a:t>
            </a:r>
          </a:p>
        </p:txBody>
      </p:sp>
      <p:sp>
        <p:nvSpPr>
          <p:cNvPr id="10" name="CuadroTexto 9">
            <a:extLst>
              <a:ext uri="{FF2B5EF4-FFF2-40B4-BE49-F238E27FC236}">
                <a16:creationId xmlns:a16="http://schemas.microsoft.com/office/drawing/2014/main" id="{E5A3F45A-9C8E-B0C8-B1A0-6DBD7AC7E3E5}"/>
              </a:ext>
            </a:extLst>
          </p:cNvPr>
          <p:cNvSpPr txBox="1"/>
          <p:nvPr/>
        </p:nvSpPr>
        <p:spPr>
          <a:xfrm>
            <a:off x="812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Elementos que no se pudieron inspeccionar y por qué: sin andamio, con instalaciones delante, en servicio o enterrados.</a:t>
            </a:r>
            <a:endParaRPr lang="es-BO" sz="110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7055734D-4F99-E589-5D9C-25AAA3F01530}"/>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7304E4A0-1ED6-094A-9E79-9A8B764D7E81}"/>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A43FC7DD-E431-B55B-C55B-370A68FCD7CD}"/>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Lo no ensayado</a:t>
            </a:r>
          </a:p>
        </p:txBody>
      </p:sp>
      <p:sp>
        <p:nvSpPr>
          <p:cNvPr id="15" name="CuadroTexto 14">
            <a:extLst>
              <a:ext uri="{FF2B5EF4-FFF2-40B4-BE49-F238E27FC236}">
                <a16:creationId xmlns:a16="http://schemas.microsoft.com/office/drawing/2014/main" id="{FEB89029-4C03-6466-1C42-95536A17E77B}"/>
              </a:ext>
            </a:extLst>
          </p:cNvPr>
          <p:cNvSpPr txBox="1"/>
          <p:nvPr/>
        </p:nvSpPr>
        <p:spPr>
          <a:xfrm>
            <a:off x="3606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Qué zonas quedaron fuera del muestreo y qué representatividad tiene lo ensayado respecto al conjunto.</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B67933DC-BE3B-C913-E3FF-22AFA6404FEE}"/>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1BCB97EF-0538-C58E-4D9F-1AD0DEAE6735}"/>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2646632F-686C-3FB7-B48D-BB1E6F5BD81F}"/>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Lo supuesto</a:t>
            </a:r>
          </a:p>
        </p:txBody>
      </p:sp>
      <p:sp>
        <p:nvSpPr>
          <p:cNvPr id="20" name="CuadroTexto 19">
            <a:extLst>
              <a:ext uri="{FF2B5EF4-FFF2-40B4-BE49-F238E27FC236}">
                <a16:creationId xmlns:a16="http://schemas.microsoft.com/office/drawing/2014/main" id="{1B72055D-16A6-9DF4-2D66-2EECC709C5F4}"/>
              </a:ext>
            </a:extLst>
          </p:cNvPr>
          <p:cNvSpPr txBox="1"/>
          <p:nvPr/>
        </p:nvSpPr>
        <p:spPr>
          <a:xfrm>
            <a:off x="6400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Valores adoptados de tabla en lugar de medidos, con la referencia de dónde salen y el efecto que tendría equivocarse.</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F53F2E55-E72C-9C10-1AE0-601B0D88FFB9}"/>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6380A2B6-4EB5-8531-E36A-AECD7B54D39F}"/>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24" name="CuadroTexto 23">
            <a:extLst>
              <a:ext uri="{FF2B5EF4-FFF2-40B4-BE49-F238E27FC236}">
                <a16:creationId xmlns:a16="http://schemas.microsoft.com/office/drawing/2014/main" id="{61347131-F95F-2DE2-1B72-BB9DE52F0740}"/>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La vigencia</a:t>
            </a:r>
          </a:p>
        </p:txBody>
      </p:sp>
      <p:sp>
        <p:nvSpPr>
          <p:cNvPr id="25" name="CuadroTexto 24">
            <a:extLst>
              <a:ext uri="{FF2B5EF4-FFF2-40B4-BE49-F238E27FC236}">
                <a16:creationId xmlns:a16="http://schemas.microsoft.com/office/drawing/2014/main" id="{B0CEFC92-80FC-7016-418A-83030A380738}"/>
              </a:ext>
            </a:extLst>
          </p:cNvPr>
          <p:cNvSpPr txBox="1"/>
          <p:nvPr/>
        </p:nvSpPr>
        <p:spPr>
          <a:xfrm>
            <a:off x="9194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Un diagnóstico es una fotografía de una fecha. Decir cuándo habría que repetirlo y qué lo invalidaría antes.</a:t>
            </a:r>
            <a:endParaRPr lang="es-BO" sz="1100">
              <a:solidFill>
                <a:srgbClr val="5A5248"/>
              </a:solidFill>
              <a:latin typeface="Segoe UI" panose="020B0502040204020203" pitchFamily="34" charset="0"/>
            </a:endParaRPr>
          </a:p>
        </p:txBody>
      </p:sp>
      <p:pic>
        <p:nvPicPr>
          <p:cNvPr id="27" name="Imagen 26" descr="Zona no inspeccionada, columnas ensayadas, valor supuesto y vigencia del diagnóstico">
            <a:extLst>
              <a:ext uri="{FF2B5EF4-FFF2-40B4-BE49-F238E27FC236}">
                <a16:creationId xmlns:a16="http://schemas.microsoft.com/office/drawing/2014/main" id="{BC53BF70-786F-AD64-239C-27C77A4B28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18000"/>
            <a:ext cx="10972800" cy="1320800"/>
          </a:xfrm>
          <a:prstGeom prst="rect">
            <a:avLst/>
          </a:prstGeom>
        </p:spPr>
      </p:pic>
      <p:sp>
        <p:nvSpPr>
          <p:cNvPr id="28" name="Rectángulo 27">
            <a:extLst>
              <a:ext uri="{FF2B5EF4-FFF2-40B4-BE49-F238E27FC236}">
                <a16:creationId xmlns:a16="http://schemas.microsoft.com/office/drawing/2014/main" id="{28811745-E5ED-6BC8-00FE-82598691C1A3}"/>
              </a:ext>
            </a:extLst>
          </p:cNvPr>
          <p:cNvSpPr/>
          <p:nvPr/>
        </p:nvSpPr>
        <p:spPr>
          <a:xfrm>
            <a:off x="609600" y="5765800"/>
            <a:ext cx="10972800" cy="406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EE2AE32F-C362-9F04-C9D8-E9E0C4389589}"/>
              </a:ext>
            </a:extLst>
          </p:cNvPr>
          <p:cNvSpPr txBox="1"/>
          <p:nvPr/>
        </p:nvSpPr>
        <p:spPr>
          <a:xfrm>
            <a:off x="838200" y="5816600"/>
            <a:ext cx="10566400" cy="304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El apartado de limitaciones es el que más protege al técnico y el que más se omite. </a:t>
            </a:r>
            <a:r>
              <a:rPr lang="es-MX" sz="1200" b="1">
                <a:solidFill>
                  <a:srgbClr val="FFFFFF"/>
                </a:solidFill>
                <a:latin typeface="Segoe UI Semibold" panose="020B0702040204020203" pitchFamily="34" charset="0"/>
              </a:rPr>
              <a:t>Un informe sin limitaciones declaradas afirma, implícitamente, que lo sabe todo</a:t>
            </a:r>
            <a:r>
              <a:rPr lang="es-MX" sz="1200">
                <a:solidFill>
                  <a:srgbClr val="FFFFFF"/>
                </a:solidFill>
                <a:latin typeface="Segoe UI" panose="020B0502040204020203" pitchFamily="34" charset="0"/>
              </a:rPr>
              <a:t>, y eso nunca es cierto.</a:t>
            </a:r>
            <a:endParaRPr lang="es-BO" sz="120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58521E2E-BFF1-5B1E-3A74-C3D34E38E970}"/>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BO" sz="700">
                <a:solidFill>
                  <a:srgbClr val="938A7C"/>
                </a:solidFill>
                <a:latin typeface="Segoe UI" panose="020B0502040204020203" pitchFamily="34" charset="0"/>
              </a:rPr>
              <a:t>Fuente: ACI 562 §5.4; ACI 364.1R.</a:t>
            </a:r>
          </a:p>
        </p:txBody>
      </p:sp>
      <p:cxnSp>
        <p:nvCxnSpPr>
          <p:cNvPr id="32" name="Conector recto 31">
            <a:extLst>
              <a:ext uri="{FF2B5EF4-FFF2-40B4-BE49-F238E27FC236}">
                <a16:creationId xmlns:a16="http://schemas.microsoft.com/office/drawing/2014/main" id="{3C352CED-1061-84C3-EC61-042E88185640}"/>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64E1FC9F-0168-4F82-ED2D-F4394A7736E7}"/>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4F3721EA-7540-D53E-12D2-AADC77D7FC48}"/>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35" name="PageNo">
            <a:extLst>
              <a:ext uri="{FF2B5EF4-FFF2-40B4-BE49-F238E27FC236}">
                <a16:creationId xmlns:a16="http://schemas.microsoft.com/office/drawing/2014/main" id="{5DA48486-4CBE-CCB6-95B5-E3227E266DC3}"/>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26 / 39</a:t>
            </a:r>
          </a:p>
        </p:txBody>
      </p:sp>
    </p:spTree>
    <p:extLst>
      <p:ext uri="{BB962C8B-B14F-4D97-AF65-F5344CB8AC3E}">
        <p14:creationId xmlns:p14="http://schemas.microsoft.com/office/powerpoint/2010/main" val="1062191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5CE7AFE-89BE-A6D8-3B97-2789FCD3B5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4FA63436-8CC6-1FF6-A0A4-E44A5BC202DB}"/>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2BB291B2-03AE-A835-488C-0C7085844595}"/>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A8FACEC0-6E45-4D76-C750-34ABA6D66558}"/>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CASO RESUELTO</a:t>
            </a:r>
          </a:p>
        </p:txBody>
      </p:sp>
      <p:sp>
        <p:nvSpPr>
          <p:cNvPr id="7" name="Title">
            <a:extLst>
              <a:ext uri="{FF2B5EF4-FFF2-40B4-BE49-F238E27FC236}">
                <a16:creationId xmlns:a16="http://schemas.microsoft.com/office/drawing/2014/main" id="{9CD4F608-9A64-E2E6-065D-E81523015435}"/>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Los testigos de la columna C-4</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D7881170-E156-89FE-1116-008C7288B653}"/>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D684554D-620E-9ED6-A699-925005B3EF0F}"/>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Un solo ejercicio, seis pasos, una lámina por paso: del número bruto del laboratorio al criterio de aceptación.</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E083E297-3C6C-E5B2-54A5-93213DB22CBC}"/>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90A8D99F-127F-DB35-4745-6483DC560799}"/>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Caso 6.1 · Dimensionar la campaña</a:t>
            </a:r>
          </a:p>
        </p:txBody>
      </p:sp>
      <p:sp>
        <p:nvSpPr>
          <p:cNvPr id="12" name="Rectángulo 11">
            <a:extLst>
              <a:ext uri="{FF2B5EF4-FFF2-40B4-BE49-F238E27FC236}">
                <a16:creationId xmlns:a16="http://schemas.microsoft.com/office/drawing/2014/main" id="{D7FFB43F-8C9F-0BAB-324F-39BADAD8B098}"/>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6316498B-0415-078F-7433-D8BC08FDE716}"/>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Caso 6.2 · Corregir los testigos</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F42988DE-E615-49B2-4AC4-E8B10B4D989F}"/>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D9784981-A159-D0F9-2999-DF7C03551109}"/>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Caso 6.3 · El esclerómetro que miente</a:t>
            </a:r>
            <a:endParaRPr lang="es-BO" sz="1050">
              <a:solidFill>
                <a:srgbClr val="CFC7B8"/>
              </a:solidFill>
              <a:latin typeface="Segoe UI" panose="020B0502040204020203" pitchFamily="34" charset="0"/>
            </a:endParaRPr>
          </a:p>
        </p:txBody>
      </p:sp>
      <p:sp>
        <p:nvSpPr>
          <p:cNvPr id="16" name="CuadroTexto 15">
            <a:extLst>
              <a:ext uri="{FF2B5EF4-FFF2-40B4-BE49-F238E27FC236}">
                <a16:creationId xmlns:a16="http://schemas.microsoft.com/office/drawing/2014/main" id="{EC8C6CEC-1354-6C34-D160-A5013F38DF8B}"/>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5 · DIAGNÓSTICO</a:t>
            </a:r>
          </a:p>
        </p:txBody>
      </p:sp>
    </p:spTree>
    <p:extLst>
      <p:ext uri="{BB962C8B-B14F-4D97-AF65-F5344CB8AC3E}">
        <p14:creationId xmlns:p14="http://schemas.microsoft.com/office/powerpoint/2010/main" val="1881327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992192B-FA7C-7B3E-A6C9-541A9B3CA91F}"/>
              </a:ext>
            </a:extLst>
          </p:cNvPr>
          <p:cNvSpPr txBox="1"/>
          <p:nvPr/>
        </p:nvSpPr>
        <p:spPr>
          <a:xfrm>
            <a:off x="609600" y="406400"/>
            <a:ext cx="66040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EJEMPLO DEL CURSO  ·  LOS DATOS DE LA CLASE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AF676CD0-62D1-6849-8ECD-62E268440716}"/>
              </a:ext>
            </a:extLst>
          </p:cNvPr>
          <p:cNvSpPr txBox="1"/>
          <p:nvPr/>
        </p:nvSpPr>
        <p:spPr>
          <a:xfrm>
            <a:off x="609600" y="609600"/>
            <a:ext cx="6604000" cy="508000"/>
          </a:xfrm>
          <a:prstGeom prst="rect">
            <a:avLst/>
          </a:prstGeom>
          <a:noFill/>
        </p:spPr>
        <p:txBody>
          <a:bodyPr vert="horz" wrap="square" lIns="0" tIns="0" rIns="0" bIns="0" rtlCol="0" anchor="t">
            <a:noAutofit/>
          </a:bodyPr>
          <a:lstStyle/>
          <a:p>
            <a:r>
              <a:rPr lang="es-BO" sz="2700">
                <a:solidFill>
                  <a:srgbClr val="1C1813"/>
                </a:solidFill>
                <a:latin typeface="Bahnschrift SemiBold" panose="020B0502040204020203" pitchFamily="34" charset="0"/>
              </a:rPr>
              <a:t>Nave industrial Sector 4</a:t>
            </a:r>
          </a:p>
        </p:txBody>
      </p:sp>
      <p:cxnSp>
        <p:nvCxnSpPr>
          <p:cNvPr id="4" name="Conector recto 3">
            <a:extLst>
              <a:ext uri="{FF2B5EF4-FFF2-40B4-BE49-F238E27FC236}">
                <a16:creationId xmlns:a16="http://schemas.microsoft.com/office/drawing/2014/main" id="{D732F441-61E2-D56F-D3B0-46A2FAC18CF8}"/>
              </a:ext>
            </a:extLst>
          </p:cNvPr>
          <p:cNvCxnSpPr/>
          <p:nvPr/>
        </p:nvCxnSpPr>
        <p:spPr>
          <a:xfrm>
            <a:off x="609600" y="1206500"/>
            <a:ext cx="66040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4BDF2311-18AD-97DD-0103-777AA91D3820}"/>
              </a:ext>
            </a:extLst>
          </p:cNvPr>
          <p:cNvGraphicFramePr>
            <a:graphicFrameLocks noGrp="1"/>
          </p:cNvGraphicFramePr>
          <p:nvPr>
            <p:extLst>
              <p:ext uri="{D42A27DB-BD31-4B8C-83A1-F6EECF244321}">
                <p14:modId xmlns:p14="http://schemas.microsoft.com/office/powerpoint/2010/main" val="782834180"/>
              </p:ext>
            </p:extLst>
          </p:nvPr>
        </p:nvGraphicFramePr>
        <p:xfrm>
          <a:off x="609600" y="1320800"/>
          <a:ext cx="6604000" cy="3810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795952967"/>
                    </a:ext>
                  </a:extLst>
                </a:gridCol>
                <a:gridCol w="4699000">
                  <a:extLst>
                    <a:ext uri="{9D8B030D-6E8A-4147-A177-3AD203B41FA5}">
                      <a16:colId xmlns:a16="http://schemas.microsoft.com/office/drawing/2014/main" val="1557488939"/>
                    </a:ext>
                  </a:extLst>
                </a:gridCol>
              </a:tblGrid>
              <a:tr h="476250">
                <a:tc>
                  <a:txBody>
                    <a:bodyPr/>
                    <a:lstStyle/>
                    <a:p>
                      <a:pPr algn="ctr"/>
                      <a:r>
                        <a:rPr lang="es-BO" sz="950" b="0">
                          <a:solidFill>
                            <a:srgbClr val="FFFFFF"/>
                          </a:solidFill>
                          <a:latin typeface="Segoe UI Semibold" panose="020B0702040204020203" pitchFamily="34" charset="0"/>
                        </a:rPr>
                        <a:t>Dato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50" b="0">
                          <a:solidFill>
                            <a:srgbClr val="FFFFFF"/>
                          </a:solidFill>
                          <a:latin typeface="Segoe UI Semibold" panose="020B0702040204020203" pitchFamily="34" charset="0"/>
                        </a:rPr>
                        <a:t>Valor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730894113"/>
                  </a:ext>
                </a:extLst>
              </a:tr>
              <a:tr h="476250">
                <a:tc>
                  <a:txBody>
                    <a:bodyPr/>
                    <a:lstStyle/>
                    <a:p>
                      <a:pPr algn="ctr"/>
                      <a:r>
                        <a:rPr lang="es-BO" sz="1000" b="0">
                          <a:solidFill>
                            <a:srgbClr val="1C1813"/>
                          </a:solidFill>
                          <a:latin typeface="Segoe UI Semibold" panose="020B0702040204020203" pitchFamily="34" charset="0"/>
                        </a:rPr>
                        <a:t>Edad en la evaluación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28 años  (2026)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850385415"/>
                  </a:ext>
                </a:extLst>
              </a:tr>
              <a:tr h="476250">
                <a:tc>
                  <a:txBody>
                    <a:bodyPr/>
                    <a:lstStyle/>
                    <a:p>
                      <a:pPr algn="ctr"/>
                      <a:r>
                        <a:rPr lang="es-BO" sz="1000" b="0">
                          <a:solidFill>
                            <a:srgbClr val="1C1813"/>
                          </a:solidFill>
                          <a:latin typeface="Segoe UI Semibold" panose="020B0702040204020203" pitchFamily="34" charset="0"/>
                        </a:rPr>
                        <a:t>Testigos de C-4  (bruto)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15,1  ·  17,2  ·  16,3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232982330"/>
                  </a:ext>
                </a:extLst>
              </a:tr>
              <a:tr h="476250">
                <a:tc>
                  <a:txBody>
                    <a:bodyPr/>
                    <a:lstStyle/>
                    <a:p>
                      <a:pPr algn="ctr"/>
                      <a:r>
                        <a:rPr lang="es-BO" sz="1000" b="0">
                          <a:solidFill>
                            <a:srgbClr val="1C1813"/>
                          </a:solidFill>
                          <a:latin typeface="Segoe UI Semibold" panose="020B0702040204020203" pitchFamily="34" charset="0"/>
                        </a:rPr>
                        <a:t>Diámetro y esbeltez</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Ø75 mm  ·  l/d = 1,50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927621559"/>
                  </a:ext>
                </a:extLst>
              </a:tr>
              <a:tr h="476250">
                <a:tc>
                  <a:txBody>
                    <a:bodyPr/>
                    <a:lstStyle/>
                    <a:p>
                      <a:pPr algn="ctr"/>
                      <a:r>
                        <a:rPr lang="es-BO" sz="1000" b="0">
                          <a:solidFill>
                            <a:srgbClr val="1C1813"/>
                          </a:solidFill>
                          <a:latin typeface="Segoe UI Semibold" panose="020B0702040204020203" pitchFamily="34" charset="0"/>
                        </a:rPr>
                        <a:t>Condición de ensayo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pt-BR" sz="1000" b="0">
                          <a:solidFill>
                            <a:srgbClr val="241F18"/>
                          </a:solidFill>
                          <a:latin typeface="Segoe UI" panose="020B0502040204020203" pitchFamily="34" charset="0"/>
                        </a:rPr>
                        <a:t>Saturado 48 h antes de romper</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231665179"/>
                  </a:ext>
                </a:extLst>
              </a:tr>
              <a:tr h="476250">
                <a:tc>
                  <a:txBody>
                    <a:bodyPr/>
                    <a:lstStyle/>
                    <a:p>
                      <a:pPr algn="ctr"/>
                      <a:r>
                        <a:rPr lang="es-BO" sz="1000" b="0">
                          <a:solidFill>
                            <a:srgbClr val="1C1813"/>
                          </a:solidFill>
                          <a:latin typeface="Segoe UI Semibold" panose="020B0702040204020203" pitchFamily="34" charset="0"/>
                        </a:rPr>
                        <a:t>f′c de proyecto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21,0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034166950"/>
                  </a:ext>
                </a:extLst>
              </a:tr>
              <a:tr h="476250">
                <a:tc>
                  <a:txBody>
                    <a:bodyPr/>
                    <a:lstStyle/>
                    <a:p>
                      <a:pPr algn="ctr"/>
                      <a:r>
                        <a:rPr lang="es-MX" sz="1000" b="0">
                          <a:solidFill>
                            <a:srgbClr val="1C1813"/>
                          </a:solidFill>
                          <a:latin typeface="Segoe UI Semibold" panose="020B0702040204020203" pitchFamily="34" charset="0"/>
                        </a:rPr>
                        <a:t>Índice de rebote en C-4</a:t>
                      </a:r>
                      <a:endParaRPr lang="es-BO" sz="1000" b="0">
                        <a:solidFill>
                          <a:srgbClr val="1C1813"/>
                        </a:solidFill>
                        <a:latin typeface="Segoe UI Semibold" panose="020B07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1000" b="0">
                          <a:solidFill>
                            <a:srgbClr val="241F18"/>
                          </a:solidFill>
                          <a:latin typeface="Segoe UI" panose="020B0502040204020203" pitchFamily="34" charset="0"/>
                        </a:rPr>
                        <a:t>32  →  28 MPa según el fabricante</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398143044"/>
                  </a:ext>
                </a:extLst>
              </a:tr>
              <a:tr h="476250">
                <a:tc>
                  <a:txBody>
                    <a:bodyPr/>
                    <a:lstStyle/>
                    <a:p>
                      <a:pPr algn="ctr"/>
                      <a:r>
                        <a:rPr lang="es-BO" sz="1000" b="0">
                          <a:solidFill>
                            <a:srgbClr val="1C1813"/>
                          </a:solidFill>
                          <a:latin typeface="Segoe UI Semibold" panose="020B0702040204020203" pitchFamily="34" charset="0"/>
                        </a:rPr>
                        <a:t>Recubrimiento medio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1000" b="0">
                          <a:solidFill>
                            <a:srgbClr val="241F18"/>
                          </a:solidFill>
                          <a:latin typeface="Segoe UI" panose="020B0502040204020203" pitchFamily="34" charset="0"/>
                        </a:rPr>
                        <a:t>18 mm  ·  σ 5 mm  ·  40 lecturas</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468437213"/>
                  </a:ext>
                </a:extLst>
              </a:tr>
            </a:tbl>
          </a:graphicData>
        </a:graphic>
      </p:graphicFrame>
      <p:sp>
        <p:nvSpPr>
          <p:cNvPr id="7" name="Rectángulo 6">
            <a:extLst>
              <a:ext uri="{FF2B5EF4-FFF2-40B4-BE49-F238E27FC236}">
                <a16:creationId xmlns:a16="http://schemas.microsoft.com/office/drawing/2014/main" id="{553FD220-32EF-B892-8C1C-D082ADEE3DFB}"/>
              </a:ext>
            </a:extLst>
          </p:cNvPr>
          <p:cNvSpPr/>
          <p:nvPr/>
        </p:nvSpPr>
        <p:spPr>
          <a:xfrm>
            <a:off x="609600" y="5334000"/>
            <a:ext cx="6604000" cy="812800"/>
          </a:xfrm>
          <a:prstGeom prst="rect">
            <a:avLst/>
          </a:prstGeom>
          <a:solidFill>
            <a:srgbClr val="F0E7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ABF23F16-8049-B542-FBEA-1DE4BCDD2C3F}"/>
              </a:ext>
            </a:extLst>
          </p:cNvPr>
          <p:cNvSpPr txBox="1"/>
          <p:nvPr/>
        </p:nvSpPr>
        <p:spPr>
          <a:xfrm>
            <a:off x="838200" y="5384800"/>
            <a:ext cx="6197600" cy="711200"/>
          </a:xfrm>
          <a:prstGeom prst="rect">
            <a:avLst/>
          </a:prstGeom>
          <a:noFill/>
        </p:spPr>
        <p:txBody>
          <a:bodyPr vert="horz" wrap="square" lIns="0" tIns="0" rIns="0" bIns="0" rtlCol="0" anchor="ctr">
            <a:noAutofit/>
          </a:bodyPr>
          <a:lstStyle/>
          <a:p>
            <a:pPr algn="l"/>
            <a:r>
              <a:rPr lang="es-MX" sz="1150">
                <a:solidFill>
                  <a:srgbClr val="1C1813"/>
                </a:solidFill>
                <a:latin typeface="Segoe UI" panose="020B0502040204020203" pitchFamily="34" charset="0"/>
              </a:rPr>
              <a:t>Todas las medidas de las clases 1 a 4 salieron de esta campaña: es la que hoy se dimensiona y se justifica.</a:t>
            </a:r>
            <a:endParaRPr lang="es-BO" sz="1150">
              <a:solidFill>
                <a:srgbClr val="1C1813"/>
              </a:solidFill>
              <a:latin typeface="Segoe UI" panose="020B0502040204020203" pitchFamily="34" charset="0"/>
            </a:endParaRPr>
          </a:p>
        </p:txBody>
      </p:sp>
      <p:pic>
        <p:nvPicPr>
          <p:cNvPr id="11" name="Imagen 10" descr="Columna C-4 con la posición de los tres testigos y sus resistencias brutas">
            <a:extLst>
              <a:ext uri="{FF2B5EF4-FFF2-40B4-BE49-F238E27FC236}">
                <a16:creationId xmlns:a16="http://schemas.microsoft.com/office/drawing/2014/main" id="{9810D973-24FE-F68D-94C7-C911868F12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620000" y="0"/>
            <a:ext cx="4572000" cy="2540000"/>
          </a:xfrm>
          <a:prstGeom prst="rect">
            <a:avLst/>
          </a:prstGeom>
        </p:spPr>
      </p:pic>
      <p:sp>
        <p:nvSpPr>
          <p:cNvPr id="12" name="Rectángulo 11">
            <a:extLst>
              <a:ext uri="{FF2B5EF4-FFF2-40B4-BE49-F238E27FC236}">
                <a16:creationId xmlns:a16="http://schemas.microsoft.com/office/drawing/2014/main" id="{5A0CF903-73D3-735F-3BFF-D419C462092B}"/>
              </a:ext>
            </a:extLst>
          </p:cNvPr>
          <p:cNvSpPr/>
          <p:nvPr/>
        </p:nvSpPr>
        <p:spPr>
          <a:xfrm>
            <a:off x="7620000" y="2540000"/>
            <a:ext cx="4572000" cy="43180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8F507936-5FCC-6F86-7862-D34829D91E13}"/>
              </a:ext>
            </a:extLst>
          </p:cNvPr>
          <p:cNvSpPr txBox="1"/>
          <p:nvPr/>
        </p:nvSpPr>
        <p:spPr>
          <a:xfrm>
            <a:off x="7874000" y="2717800"/>
            <a:ext cx="4064000" cy="177800"/>
          </a:xfrm>
          <a:prstGeom prst="rect">
            <a:avLst/>
          </a:prstGeom>
          <a:noFill/>
        </p:spPr>
        <p:txBody>
          <a:bodyPr vert="horz" wrap="square" lIns="0" tIns="0" rIns="0" bIns="0" rtlCol="0" anchor="t">
            <a:noAutofit/>
          </a:bodyPr>
          <a:lstStyle/>
          <a:p>
            <a:r>
              <a:rPr lang="es-BO" sz="900" spc="180">
                <a:solidFill>
                  <a:srgbClr val="8A6A2F"/>
                </a:solidFill>
                <a:latin typeface="Segoe UI Semibold" panose="020B0702040204020203" pitchFamily="34" charset="0"/>
              </a:rPr>
              <a:t>LÍNEA DE TIEMPO</a:t>
            </a:r>
          </a:p>
        </p:txBody>
      </p:sp>
      <p:cxnSp>
        <p:nvCxnSpPr>
          <p:cNvPr id="14" name="Conector recto 13">
            <a:extLst>
              <a:ext uri="{FF2B5EF4-FFF2-40B4-BE49-F238E27FC236}">
                <a16:creationId xmlns:a16="http://schemas.microsoft.com/office/drawing/2014/main" id="{7E689C9A-318B-E6EF-1DD7-C777D7B3836A}"/>
              </a:ext>
            </a:extLst>
          </p:cNvPr>
          <p:cNvCxnSpPr/>
          <p:nvPr/>
        </p:nvCxnSpPr>
        <p:spPr>
          <a:xfrm>
            <a:off x="7975600" y="3124200"/>
            <a:ext cx="0" cy="1828800"/>
          </a:xfrm>
          <a:prstGeom prst="line">
            <a:avLst/>
          </a:prstGeom>
          <a:ln w="19050">
            <a:solidFill>
              <a:srgbClr val="3A4D69"/>
            </a:solidFill>
            <a:prstDash val="solid"/>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163244-478E-E5AD-C92F-8FF5FAFC81C3}"/>
              </a:ext>
            </a:extLst>
          </p:cNvPr>
          <p:cNvSpPr/>
          <p:nvPr/>
        </p:nvSpPr>
        <p:spPr>
          <a:xfrm>
            <a:off x="7899400" y="30480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6" name="CuadroTexto 15">
            <a:extLst>
              <a:ext uri="{FF2B5EF4-FFF2-40B4-BE49-F238E27FC236}">
                <a16:creationId xmlns:a16="http://schemas.microsoft.com/office/drawing/2014/main" id="{4B5DCC3A-F34C-8D85-2C3C-95672EDD85E7}"/>
              </a:ext>
            </a:extLst>
          </p:cNvPr>
          <p:cNvSpPr txBox="1"/>
          <p:nvPr/>
        </p:nvSpPr>
        <p:spPr>
          <a:xfrm>
            <a:off x="8204200" y="30226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1998</a:t>
            </a:r>
          </a:p>
        </p:txBody>
      </p:sp>
      <p:sp>
        <p:nvSpPr>
          <p:cNvPr id="17" name="CuadroTexto 16">
            <a:extLst>
              <a:ext uri="{FF2B5EF4-FFF2-40B4-BE49-F238E27FC236}">
                <a16:creationId xmlns:a16="http://schemas.microsoft.com/office/drawing/2014/main" id="{C172A9B2-A6DD-7787-5689-D604367CE7D1}"/>
              </a:ext>
            </a:extLst>
          </p:cNvPr>
          <p:cNvSpPr txBox="1"/>
          <p:nvPr/>
        </p:nvSpPr>
        <p:spPr>
          <a:xfrm>
            <a:off x="9118600" y="30226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Proyecto y construcción bajo CBH-87</a:t>
            </a:r>
            <a:endParaRPr lang="es-BO" sz="1100">
              <a:solidFill>
                <a:srgbClr val="CFC7B8"/>
              </a:solidFill>
              <a:latin typeface="Segoe UI" panose="020B0502040204020203" pitchFamily="34" charset="0"/>
            </a:endParaRPr>
          </a:p>
        </p:txBody>
      </p:sp>
      <p:sp>
        <p:nvSpPr>
          <p:cNvPr id="18" name="Elipse 17">
            <a:extLst>
              <a:ext uri="{FF2B5EF4-FFF2-40B4-BE49-F238E27FC236}">
                <a16:creationId xmlns:a16="http://schemas.microsoft.com/office/drawing/2014/main" id="{EC725ABC-C31C-924B-160A-58F1D2634677}"/>
              </a:ext>
            </a:extLst>
          </p:cNvPr>
          <p:cNvSpPr/>
          <p:nvPr/>
        </p:nvSpPr>
        <p:spPr>
          <a:xfrm>
            <a:off x="7899400" y="35052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8E6D6B0E-7B66-C627-95D6-03D124FD7D6A}"/>
              </a:ext>
            </a:extLst>
          </p:cNvPr>
          <p:cNvSpPr txBox="1"/>
          <p:nvPr/>
        </p:nvSpPr>
        <p:spPr>
          <a:xfrm>
            <a:off x="8204200" y="34798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2012</a:t>
            </a:r>
          </a:p>
        </p:txBody>
      </p:sp>
      <p:sp>
        <p:nvSpPr>
          <p:cNvPr id="20" name="CuadroTexto 19">
            <a:extLst>
              <a:ext uri="{FF2B5EF4-FFF2-40B4-BE49-F238E27FC236}">
                <a16:creationId xmlns:a16="http://schemas.microsoft.com/office/drawing/2014/main" id="{90D4C609-C463-85A7-6C59-EEDC3486092E}"/>
              </a:ext>
            </a:extLst>
          </p:cNvPr>
          <p:cNvSpPr txBox="1"/>
          <p:nvPr/>
        </p:nvSpPr>
        <p:spPr>
          <a:xfrm>
            <a:off x="9118600" y="34798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Se habilita la zona de lavado: humedad permanente y cloruros</a:t>
            </a:r>
            <a:endParaRPr lang="es-BO" sz="1100">
              <a:solidFill>
                <a:srgbClr val="CFC7B8"/>
              </a:solidFill>
              <a:latin typeface="Segoe UI" panose="020B0502040204020203" pitchFamily="34" charset="0"/>
            </a:endParaRPr>
          </a:p>
        </p:txBody>
      </p:sp>
      <p:sp>
        <p:nvSpPr>
          <p:cNvPr id="21" name="Elipse 20">
            <a:extLst>
              <a:ext uri="{FF2B5EF4-FFF2-40B4-BE49-F238E27FC236}">
                <a16:creationId xmlns:a16="http://schemas.microsoft.com/office/drawing/2014/main" id="{C4FB61E1-74C9-3F6E-16A1-77E19EA7221D}"/>
              </a:ext>
            </a:extLst>
          </p:cNvPr>
          <p:cNvSpPr/>
          <p:nvPr/>
        </p:nvSpPr>
        <p:spPr>
          <a:xfrm>
            <a:off x="7899400" y="39624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BECB4433-8033-C1B8-3B3B-12C8C60FE504}"/>
              </a:ext>
            </a:extLst>
          </p:cNvPr>
          <p:cNvSpPr txBox="1"/>
          <p:nvPr/>
        </p:nvSpPr>
        <p:spPr>
          <a:xfrm>
            <a:off x="8204200" y="39370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2024</a:t>
            </a:r>
          </a:p>
        </p:txBody>
      </p:sp>
      <p:sp>
        <p:nvSpPr>
          <p:cNvPr id="23" name="CuadroTexto 22">
            <a:extLst>
              <a:ext uri="{FF2B5EF4-FFF2-40B4-BE49-F238E27FC236}">
                <a16:creationId xmlns:a16="http://schemas.microsoft.com/office/drawing/2014/main" id="{12BC6920-2432-8118-1195-AEFFCD4CF9DE}"/>
              </a:ext>
            </a:extLst>
          </p:cNvPr>
          <p:cNvSpPr txBox="1"/>
          <p:nvPr/>
        </p:nvSpPr>
        <p:spPr>
          <a:xfrm>
            <a:off x="9118600" y="39370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Aparecen fisuras con óxido en la viga V-3 y en la base de C-4</a:t>
            </a:r>
            <a:endParaRPr lang="es-BO" sz="1100">
              <a:solidFill>
                <a:srgbClr val="CFC7B8"/>
              </a:solidFill>
              <a:latin typeface="Segoe UI" panose="020B0502040204020203" pitchFamily="34" charset="0"/>
            </a:endParaRPr>
          </a:p>
        </p:txBody>
      </p:sp>
      <p:sp>
        <p:nvSpPr>
          <p:cNvPr id="24" name="Elipse 23">
            <a:extLst>
              <a:ext uri="{FF2B5EF4-FFF2-40B4-BE49-F238E27FC236}">
                <a16:creationId xmlns:a16="http://schemas.microsoft.com/office/drawing/2014/main" id="{99B829C2-A1C8-87A9-47A7-3C810F81BC6E}"/>
              </a:ext>
            </a:extLst>
          </p:cNvPr>
          <p:cNvSpPr/>
          <p:nvPr/>
        </p:nvSpPr>
        <p:spPr>
          <a:xfrm>
            <a:off x="7899400" y="4419600"/>
            <a:ext cx="152400" cy="152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1F64A0D0-FAE2-7526-91B5-A457769BE0D4}"/>
              </a:ext>
            </a:extLst>
          </p:cNvPr>
          <p:cNvSpPr txBox="1"/>
          <p:nvPr/>
        </p:nvSpPr>
        <p:spPr>
          <a:xfrm>
            <a:off x="8204200" y="43942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2026</a:t>
            </a:r>
          </a:p>
        </p:txBody>
      </p:sp>
      <p:sp>
        <p:nvSpPr>
          <p:cNvPr id="26" name="CuadroTexto 25">
            <a:extLst>
              <a:ext uri="{FF2B5EF4-FFF2-40B4-BE49-F238E27FC236}">
                <a16:creationId xmlns:a16="http://schemas.microsoft.com/office/drawing/2014/main" id="{477ACAEF-4D18-7F6A-F305-20C4915B87B9}"/>
              </a:ext>
            </a:extLst>
          </p:cNvPr>
          <p:cNvSpPr txBox="1"/>
          <p:nvPr/>
        </p:nvSpPr>
        <p:spPr>
          <a:xfrm>
            <a:off x="9118600" y="4394200"/>
            <a:ext cx="2921000" cy="381000"/>
          </a:xfrm>
          <a:prstGeom prst="rect">
            <a:avLst/>
          </a:prstGeom>
          <a:noFill/>
        </p:spPr>
        <p:txBody>
          <a:bodyPr vert="horz" wrap="square" lIns="0" tIns="0" rIns="0" bIns="0" rtlCol="0" anchor="t">
            <a:noAutofit/>
          </a:bodyPr>
          <a:lstStyle/>
          <a:p>
            <a:pPr algn="l"/>
            <a:r>
              <a:rPr lang="es-MX" sz="1100">
                <a:solidFill>
                  <a:srgbClr val="FFFFFF"/>
                </a:solidFill>
                <a:latin typeface="Segoe UI" panose="020B0502040204020203" pitchFamily="34" charset="0"/>
              </a:rPr>
              <a:t>Campaña de diagnóstico y propuesta de cambio de uso</a:t>
            </a:r>
            <a:endParaRPr lang="es-BO" sz="1100">
              <a:solidFill>
                <a:srgbClr val="FFFFFF"/>
              </a:solidFill>
              <a:latin typeface="Segoe UI" panose="020B0502040204020203" pitchFamily="34" charset="0"/>
            </a:endParaRPr>
          </a:p>
        </p:txBody>
      </p:sp>
      <p:sp>
        <p:nvSpPr>
          <p:cNvPr id="27" name="Elipse 26">
            <a:extLst>
              <a:ext uri="{FF2B5EF4-FFF2-40B4-BE49-F238E27FC236}">
                <a16:creationId xmlns:a16="http://schemas.microsoft.com/office/drawing/2014/main" id="{5FD7EE52-DC9C-B4BB-1069-F888BD781C81}"/>
              </a:ext>
            </a:extLst>
          </p:cNvPr>
          <p:cNvSpPr/>
          <p:nvPr/>
        </p:nvSpPr>
        <p:spPr>
          <a:xfrm>
            <a:off x="7899400" y="48768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8" name="CuadroTexto 27">
            <a:extLst>
              <a:ext uri="{FF2B5EF4-FFF2-40B4-BE49-F238E27FC236}">
                <a16:creationId xmlns:a16="http://schemas.microsoft.com/office/drawing/2014/main" id="{71B01405-8783-F4AB-B3E9-50930E1E288F}"/>
              </a:ext>
            </a:extLst>
          </p:cNvPr>
          <p:cNvSpPr txBox="1"/>
          <p:nvPr/>
        </p:nvSpPr>
        <p:spPr>
          <a:xfrm>
            <a:off x="8204200" y="48514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2026</a:t>
            </a:r>
          </a:p>
        </p:txBody>
      </p:sp>
      <p:sp>
        <p:nvSpPr>
          <p:cNvPr id="29" name="CuadroTexto 28">
            <a:extLst>
              <a:ext uri="{FF2B5EF4-FFF2-40B4-BE49-F238E27FC236}">
                <a16:creationId xmlns:a16="http://schemas.microsoft.com/office/drawing/2014/main" id="{9C1DAAB5-4771-6CE6-368B-8EA696284B58}"/>
              </a:ext>
            </a:extLst>
          </p:cNvPr>
          <p:cNvSpPr txBox="1"/>
          <p:nvPr/>
        </p:nvSpPr>
        <p:spPr>
          <a:xfrm>
            <a:off x="9118600" y="48514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Proyecto de reparación, refuerzo y recalce</a:t>
            </a:r>
            <a:endParaRPr lang="es-BO" sz="1100">
              <a:solidFill>
                <a:srgbClr val="CFC7B8"/>
              </a:solidFill>
              <a:latin typeface="Segoe UI" panose="020B0502040204020203" pitchFamily="34" charset="0"/>
            </a:endParaRPr>
          </a:p>
        </p:txBody>
      </p:sp>
      <p:cxnSp>
        <p:nvCxnSpPr>
          <p:cNvPr id="30" name="Conector recto 29">
            <a:extLst>
              <a:ext uri="{FF2B5EF4-FFF2-40B4-BE49-F238E27FC236}">
                <a16:creationId xmlns:a16="http://schemas.microsoft.com/office/drawing/2014/main" id="{6D8B7136-B5FF-97CC-043E-FC024227E5DD}"/>
              </a:ext>
            </a:extLst>
          </p:cNvPr>
          <p:cNvCxnSpPr/>
          <p:nvPr/>
        </p:nvCxnSpPr>
        <p:spPr>
          <a:xfrm>
            <a:off x="609600" y="6527800"/>
            <a:ext cx="66040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DF8898D0-E085-24F0-D0E8-3C64EBF8368E}"/>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2" name="PageNo">
            <a:extLst>
              <a:ext uri="{FF2B5EF4-FFF2-40B4-BE49-F238E27FC236}">
                <a16:creationId xmlns:a16="http://schemas.microsoft.com/office/drawing/2014/main" id="{F6FDA3D5-CF3A-27F6-3BB9-EFBF6CE84F3A}"/>
              </a:ext>
            </a:extLst>
          </p:cNvPr>
          <p:cNvSpPr txBox="1"/>
          <p:nvPr/>
        </p:nvSpPr>
        <p:spPr>
          <a:xfrm>
            <a:off x="60706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28 / 39</a:t>
            </a:r>
          </a:p>
        </p:txBody>
      </p:sp>
    </p:spTree>
    <p:extLst>
      <p:ext uri="{BB962C8B-B14F-4D97-AF65-F5344CB8AC3E}">
        <p14:creationId xmlns:p14="http://schemas.microsoft.com/office/powerpoint/2010/main" val="1319330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79A848D-AB02-B3E6-ED38-FA6D77494C2D}"/>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EXPLICADO PASO A PASO</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13B350C9-A259-A01B-D347-656ABD76F786}"/>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Testigos de C-4: del valor bruto al criterio de aceptación</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F2DF9897-BBBA-C1CA-3A00-AA7874B04D0F}"/>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2D8F95B9-9E29-132F-2F94-0042DBE04CF5}"/>
              </a:ext>
            </a:extLst>
          </p:cNvPr>
          <p:cNvSpPr txBox="1"/>
          <p:nvPr/>
        </p:nvSpPr>
        <p:spPr>
          <a:xfrm>
            <a:off x="609600" y="1371600"/>
            <a:ext cx="6604000" cy="7366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laboratorio entrega tres testigos de la columna C-4 con 15,1 · 17,2 · 16,3 MPa y un informe preliminar que concluye que el hormigón está un 23 % por debajo de proyecto y que la columna no cumple. Antes de que esa conclusión llegue a un expediente, hay que corregir los valores según ACI 214.4R y aplicar el criterio que realmente procede.</a:t>
            </a:r>
            <a:endParaRPr lang="es-BO" sz="1150">
              <a:solidFill>
                <a:srgbClr val="5A5248"/>
              </a:solidFill>
              <a:latin typeface="Segoe UI" panose="020B0502040204020203" pitchFamily="34" charset="0"/>
            </a:endParaRPr>
          </a:p>
        </p:txBody>
      </p:sp>
      <p:sp>
        <p:nvSpPr>
          <p:cNvPr id="7" name="Elipse 6">
            <a:extLst>
              <a:ext uri="{FF2B5EF4-FFF2-40B4-BE49-F238E27FC236}">
                <a16:creationId xmlns:a16="http://schemas.microsoft.com/office/drawing/2014/main" id="{9A23CC0D-E69E-6780-CF26-AD39B6C97C30}"/>
              </a:ext>
            </a:extLst>
          </p:cNvPr>
          <p:cNvSpPr/>
          <p:nvPr/>
        </p:nvSpPr>
        <p:spPr>
          <a:xfrm>
            <a:off x="609600" y="2235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1</a:t>
            </a:r>
          </a:p>
        </p:txBody>
      </p:sp>
      <p:sp>
        <p:nvSpPr>
          <p:cNvPr id="8" name="CuadroTexto 7">
            <a:extLst>
              <a:ext uri="{FF2B5EF4-FFF2-40B4-BE49-F238E27FC236}">
                <a16:creationId xmlns:a16="http://schemas.microsoft.com/office/drawing/2014/main" id="{04173D72-2608-C08D-FD2C-452B7B0F4652}"/>
              </a:ext>
            </a:extLst>
          </p:cNvPr>
          <p:cNvSpPr txBox="1"/>
          <p:nvPr/>
        </p:nvSpPr>
        <p:spPr>
          <a:xfrm>
            <a:off x="990600" y="2273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Media bruta de los tres testigos</a:t>
            </a:r>
            <a:endParaRPr lang="es-BO" sz="1150">
              <a:solidFill>
                <a:srgbClr val="1C1813"/>
              </a:solidFill>
              <a:latin typeface="Segoe UI Semibold" panose="020B0702040204020203" pitchFamily="34" charset="0"/>
            </a:endParaRPr>
          </a:p>
        </p:txBody>
      </p:sp>
      <p:sp>
        <p:nvSpPr>
          <p:cNvPr id="9" name="Elipse 8">
            <a:extLst>
              <a:ext uri="{FF2B5EF4-FFF2-40B4-BE49-F238E27FC236}">
                <a16:creationId xmlns:a16="http://schemas.microsoft.com/office/drawing/2014/main" id="{985176E4-7D5F-FA64-3352-7D43517DFF09}"/>
              </a:ext>
            </a:extLst>
          </p:cNvPr>
          <p:cNvSpPr/>
          <p:nvPr/>
        </p:nvSpPr>
        <p:spPr>
          <a:xfrm>
            <a:off x="609600" y="2616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38713BA6-B14F-6995-8264-B863C3704421}"/>
              </a:ext>
            </a:extLst>
          </p:cNvPr>
          <p:cNvSpPr txBox="1"/>
          <p:nvPr/>
        </p:nvSpPr>
        <p:spPr>
          <a:xfrm>
            <a:off x="990600" y="2654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La comparación que el informe preliminar planteó mal</a:t>
            </a:r>
            <a:endParaRPr lang="es-BO" sz="1150">
              <a:solidFill>
                <a:srgbClr val="1C1813"/>
              </a:solidFill>
              <a:latin typeface="Segoe UI Semibold" panose="020B0702040204020203" pitchFamily="34" charset="0"/>
            </a:endParaRPr>
          </a:p>
        </p:txBody>
      </p:sp>
      <p:sp>
        <p:nvSpPr>
          <p:cNvPr id="11" name="Elipse 10">
            <a:extLst>
              <a:ext uri="{FF2B5EF4-FFF2-40B4-BE49-F238E27FC236}">
                <a16:creationId xmlns:a16="http://schemas.microsoft.com/office/drawing/2014/main" id="{1BAF2899-BE2A-D24B-25EF-C09BA433FEE5}"/>
              </a:ext>
            </a:extLst>
          </p:cNvPr>
          <p:cNvSpPr/>
          <p:nvPr/>
        </p:nvSpPr>
        <p:spPr>
          <a:xfrm>
            <a:off x="609600" y="2997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3</a:t>
            </a:r>
          </a:p>
        </p:txBody>
      </p:sp>
      <p:sp>
        <p:nvSpPr>
          <p:cNvPr id="12" name="CuadroTexto 11">
            <a:extLst>
              <a:ext uri="{FF2B5EF4-FFF2-40B4-BE49-F238E27FC236}">
                <a16:creationId xmlns:a16="http://schemas.microsoft.com/office/drawing/2014/main" id="{9B0ACB5E-7835-8EF6-4624-EFC6A392919B}"/>
              </a:ext>
            </a:extLst>
          </p:cNvPr>
          <p:cNvSpPr txBox="1"/>
          <p:nvPr/>
        </p:nvSpPr>
        <p:spPr>
          <a:xfrm>
            <a:off x="990600" y="3035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Los cuatro factores de corrección de ACI 214.4R</a:t>
            </a:r>
            <a:endParaRPr lang="es-BO" sz="1150">
              <a:solidFill>
                <a:srgbClr val="1C1813"/>
              </a:solidFill>
              <a:latin typeface="Segoe UI Semibold" panose="020B0702040204020203" pitchFamily="34" charset="0"/>
            </a:endParaRPr>
          </a:p>
        </p:txBody>
      </p:sp>
      <p:sp>
        <p:nvSpPr>
          <p:cNvPr id="13" name="Elipse 12">
            <a:extLst>
              <a:ext uri="{FF2B5EF4-FFF2-40B4-BE49-F238E27FC236}">
                <a16:creationId xmlns:a16="http://schemas.microsoft.com/office/drawing/2014/main" id="{CD9D10FB-2A55-CBA2-DC75-21BD69A15ECD}"/>
              </a:ext>
            </a:extLst>
          </p:cNvPr>
          <p:cNvSpPr/>
          <p:nvPr/>
        </p:nvSpPr>
        <p:spPr>
          <a:xfrm>
            <a:off x="609600" y="3378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4</a:t>
            </a:r>
          </a:p>
        </p:txBody>
      </p:sp>
      <p:sp>
        <p:nvSpPr>
          <p:cNvPr id="14" name="CuadroTexto 13">
            <a:extLst>
              <a:ext uri="{FF2B5EF4-FFF2-40B4-BE49-F238E27FC236}">
                <a16:creationId xmlns:a16="http://schemas.microsoft.com/office/drawing/2014/main" id="{9E8D8786-2AF0-565E-9A5C-478CF8F1BBE6}"/>
              </a:ext>
            </a:extLst>
          </p:cNvPr>
          <p:cNvSpPr txBox="1"/>
          <p:nvPr/>
        </p:nvSpPr>
        <p:spPr>
          <a:xfrm>
            <a:off x="990600" y="3416300"/>
            <a:ext cx="6223000" cy="304800"/>
          </a:xfrm>
          <a:prstGeom prst="rect">
            <a:avLst/>
          </a:prstGeom>
          <a:noFill/>
        </p:spPr>
        <p:txBody>
          <a:bodyPr vert="horz" wrap="square" lIns="0" tIns="0" rIns="0" bIns="0" rtlCol="0" anchor="t">
            <a:noAutofit/>
          </a:bodyPr>
          <a:lstStyle/>
          <a:p>
            <a:pPr algn="l"/>
            <a:r>
              <a:rPr lang="es-BO" sz="1150">
                <a:solidFill>
                  <a:srgbClr val="1C1813"/>
                </a:solidFill>
                <a:latin typeface="Segoe UI Semibold" panose="020B0702040204020203" pitchFamily="34" charset="0"/>
              </a:rPr>
              <a:t>Resistencia in situ equivalente</a:t>
            </a:r>
          </a:p>
        </p:txBody>
      </p:sp>
      <p:sp>
        <p:nvSpPr>
          <p:cNvPr id="15" name="Elipse 14">
            <a:extLst>
              <a:ext uri="{FF2B5EF4-FFF2-40B4-BE49-F238E27FC236}">
                <a16:creationId xmlns:a16="http://schemas.microsoft.com/office/drawing/2014/main" id="{DA9CFB41-7996-2C99-589E-0A5D1999C4AC}"/>
              </a:ext>
            </a:extLst>
          </p:cNvPr>
          <p:cNvSpPr/>
          <p:nvPr/>
        </p:nvSpPr>
        <p:spPr>
          <a:xfrm>
            <a:off x="609600" y="3759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5</a:t>
            </a:r>
          </a:p>
        </p:txBody>
      </p:sp>
      <p:sp>
        <p:nvSpPr>
          <p:cNvPr id="16" name="CuadroTexto 15">
            <a:extLst>
              <a:ext uri="{FF2B5EF4-FFF2-40B4-BE49-F238E27FC236}">
                <a16:creationId xmlns:a16="http://schemas.microsoft.com/office/drawing/2014/main" id="{9A0F710C-D423-2FBD-6037-B0FA35C20FD1}"/>
              </a:ext>
            </a:extLst>
          </p:cNvPr>
          <p:cNvSpPr txBox="1"/>
          <p:nvPr/>
        </p:nvSpPr>
        <p:spPr>
          <a:xfrm>
            <a:off x="990600" y="3797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Criterio de aceptación de ACI 318-19 §26.12.4</a:t>
            </a:r>
            <a:endParaRPr lang="es-BO" sz="1150">
              <a:solidFill>
                <a:srgbClr val="1C1813"/>
              </a:solidFill>
              <a:latin typeface="Segoe UI Semibold" panose="020B0702040204020203" pitchFamily="34" charset="0"/>
            </a:endParaRPr>
          </a:p>
        </p:txBody>
      </p:sp>
      <p:sp>
        <p:nvSpPr>
          <p:cNvPr id="17" name="Elipse 16">
            <a:extLst>
              <a:ext uri="{FF2B5EF4-FFF2-40B4-BE49-F238E27FC236}">
                <a16:creationId xmlns:a16="http://schemas.microsoft.com/office/drawing/2014/main" id="{F5FF59DB-A4E5-DAD8-08B3-9A69A83BD4AA}"/>
              </a:ext>
            </a:extLst>
          </p:cNvPr>
          <p:cNvSpPr/>
          <p:nvPr/>
        </p:nvSpPr>
        <p:spPr>
          <a:xfrm>
            <a:off x="609600" y="4140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6</a:t>
            </a:r>
          </a:p>
        </p:txBody>
      </p:sp>
      <p:sp>
        <p:nvSpPr>
          <p:cNvPr id="18" name="CuadroTexto 17">
            <a:extLst>
              <a:ext uri="{FF2B5EF4-FFF2-40B4-BE49-F238E27FC236}">
                <a16:creationId xmlns:a16="http://schemas.microsoft.com/office/drawing/2014/main" id="{AFBC4449-0B0D-4E93-E89D-728DBBE37CE7}"/>
              </a:ext>
            </a:extLst>
          </p:cNvPr>
          <p:cNvSpPr txBox="1"/>
          <p:nvPr/>
        </p:nvSpPr>
        <p:spPr>
          <a:xfrm>
            <a:off x="990600" y="4178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Correlación propia para el esclerómetro</a:t>
            </a:r>
            <a:endParaRPr lang="es-BO" sz="1150">
              <a:solidFill>
                <a:srgbClr val="1C1813"/>
              </a:solidFill>
              <a:latin typeface="Segoe UI Semibold" panose="020B0702040204020203" pitchFamily="34" charset="0"/>
            </a:endParaRPr>
          </a:p>
        </p:txBody>
      </p:sp>
      <p:sp>
        <p:nvSpPr>
          <p:cNvPr id="19" name="Rectángulo 18">
            <a:extLst>
              <a:ext uri="{FF2B5EF4-FFF2-40B4-BE49-F238E27FC236}">
                <a16:creationId xmlns:a16="http://schemas.microsoft.com/office/drawing/2014/main" id="{864E53AB-BA3C-AD59-0F51-C03047A9DC2A}"/>
              </a:ext>
            </a:extLst>
          </p:cNvPr>
          <p:cNvSpPr/>
          <p:nvPr/>
        </p:nvSpPr>
        <p:spPr>
          <a:xfrm>
            <a:off x="7467600" y="1371600"/>
            <a:ext cx="4114800" cy="3987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1" name="CuadroTexto 20">
            <a:extLst>
              <a:ext uri="{FF2B5EF4-FFF2-40B4-BE49-F238E27FC236}">
                <a16:creationId xmlns:a16="http://schemas.microsoft.com/office/drawing/2014/main" id="{F9A8600E-03BE-9ACF-F6BB-66509282B19C}"/>
              </a:ext>
            </a:extLst>
          </p:cNvPr>
          <p:cNvSpPr txBox="1"/>
          <p:nvPr/>
        </p:nvSpPr>
        <p:spPr>
          <a:xfrm>
            <a:off x="7670800" y="1485900"/>
            <a:ext cx="3733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TRES TESTIGOS DE LA COLUMNA C-4</a:t>
            </a:r>
            <a:endParaRPr lang="es-BO" sz="750" spc="16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B412AE7A-2D4C-0D70-32A6-228F645E460C}"/>
              </a:ext>
            </a:extLst>
          </p:cNvPr>
          <p:cNvSpPr/>
          <p:nvPr/>
        </p:nvSpPr>
        <p:spPr>
          <a:xfrm>
            <a:off x="7975600" y="1930400"/>
            <a:ext cx="905933" cy="1219200"/>
          </a:xfrm>
          <a:prstGeom prst="rect">
            <a:avLst/>
          </a:prstGeom>
          <a:solidFill>
            <a:srgbClr val="C9C3B4"/>
          </a:solidFill>
          <a:ln w="9525">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23" name="Conector recto 22">
            <a:extLst>
              <a:ext uri="{FF2B5EF4-FFF2-40B4-BE49-F238E27FC236}">
                <a16:creationId xmlns:a16="http://schemas.microsoft.com/office/drawing/2014/main" id="{ED7EBDC6-FDAE-9AFC-75E5-7427D21DFBFE}"/>
              </a:ext>
            </a:extLst>
          </p:cNvPr>
          <p:cNvCxnSpPr/>
          <p:nvPr/>
        </p:nvCxnSpPr>
        <p:spPr>
          <a:xfrm>
            <a:off x="7975600" y="1930400"/>
            <a:ext cx="0" cy="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AB3C2C94-C6FE-29EE-0CA6-D9B2D8D44E93}"/>
              </a:ext>
            </a:extLst>
          </p:cNvPr>
          <p:cNvCxnSpPr/>
          <p:nvPr/>
        </p:nvCxnSpPr>
        <p:spPr>
          <a:xfrm flipH="1">
            <a:off x="7975600" y="1930400"/>
            <a:ext cx="139700" cy="139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E8AF039C-FB67-EB1C-5F95-320937D52A7D}"/>
              </a:ext>
            </a:extLst>
          </p:cNvPr>
          <p:cNvCxnSpPr/>
          <p:nvPr/>
        </p:nvCxnSpPr>
        <p:spPr>
          <a:xfrm flipH="1">
            <a:off x="7975600" y="1930400"/>
            <a:ext cx="279400" cy="2794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85EF508-AB09-5D9C-6AC5-EA98D22D5FAA}"/>
              </a:ext>
            </a:extLst>
          </p:cNvPr>
          <p:cNvCxnSpPr/>
          <p:nvPr/>
        </p:nvCxnSpPr>
        <p:spPr>
          <a:xfrm flipH="1">
            <a:off x="7975600" y="1930400"/>
            <a:ext cx="419100" cy="419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0E01DEDA-1FB3-1F2E-C9BF-7B9A5CF3E28F}"/>
              </a:ext>
            </a:extLst>
          </p:cNvPr>
          <p:cNvCxnSpPr/>
          <p:nvPr/>
        </p:nvCxnSpPr>
        <p:spPr>
          <a:xfrm flipH="1">
            <a:off x="7975600" y="1930400"/>
            <a:ext cx="558800" cy="558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2AA8063C-360D-1F29-ECDB-3DE05A76A911}"/>
              </a:ext>
            </a:extLst>
          </p:cNvPr>
          <p:cNvCxnSpPr/>
          <p:nvPr/>
        </p:nvCxnSpPr>
        <p:spPr>
          <a:xfrm flipH="1">
            <a:off x="7975600" y="1930400"/>
            <a:ext cx="698500" cy="6985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C7F4BBEE-83FA-03A6-FA69-60B216FA521C}"/>
              </a:ext>
            </a:extLst>
          </p:cNvPr>
          <p:cNvCxnSpPr/>
          <p:nvPr/>
        </p:nvCxnSpPr>
        <p:spPr>
          <a:xfrm flipH="1">
            <a:off x="7975600" y="1930400"/>
            <a:ext cx="838200" cy="838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AABC60A6-B226-D1E4-0370-FD1F69B68451}"/>
              </a:ext>
            </a:extLst>
          </p:cNvPr>
          <p:cNvCxnSpPr/>
          <p:nvPr/>
        </p:nvCxnSpPr>
        <p:spPr>
          <a:xfrm flipH="1">
            <a:off x="7975600" y="2002367"/>
            <a:ext cx="905933" cy="9059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B10CC112-02BB-70E7-99E8-E6CB81573361}"/>
              </a:ext>
            </a:extLst>
          </p:cNvPr>
          <p:cNvCxnSpPr/>
          <p:nvPr/>
        </p:nvCxnSpPr>
        <p:spPr>
          <a:xfrm flipH="1">
            <a:off x="7975600" y="2142067"/>
            <a:ext cx="905933" cy="9059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B3FD1877-684D-5287-62A0-FA18DD38FEC2}"/>
              </a:ext>
            </a:extLst>
          </p:cNvPr>
          <p:cNvCxnSpPr/>
          <p:nvPr/>
        </p:nvCxnSpPr>
        <p:spPr>
          <a:xfrm flipH="1">
            <a:off x="8013700" y="2281767"/>
            <a:ext cx="867833" cy="8678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4C17BC8B-4203-C35E-1363-9F91D803BDF2}"/>
              </a:ext>
            </a:extLst>
          </p:cNvPr>
          <p:cNvCxnSpPr/>
          <p:nvPr/>
        </p:nvCxnSpPr>
        <p:spPr>
          <a:xfrm flipH="1">
            <a:off x="8153400" y="2421467"/>
            <a:ext cx="728133" cy="7281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1BE3EDA7-34BA-55AE-2C8B-A8C6F226FA0B}"/>
              </a:ext>
            </a:extLst>
          </p:cNvPr>
          <p:cNvCxnSpPr/>
          <p:nvPr/>
        </p:nvCxnSpPr>
        <p:spPr>
          <a:xfrm flipH="1">
            <a:off x="8293100" y="2561167"/>
            <a:ext cx="588433" cy="5884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CE5CA64C-39D4-3AEF-287C-5C41B928528D}"/>
              </a:ext>
            </a:extLst>
          </p:cNvPr>
          <p:cNvCxnSpPr/>
          <p:nvPr/>
        </p:nvCxnSpPr>
        <p:spPr>
          <a:xfrm flipH="1">
            <a:off x="8432800" y="2700867"/>
            <a:ext cx="448733" cy="4487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BA5C554D-EC57-DA4D-8E75-70BC363DDD69}"/>
              </a:ext>
            </a:extLst>
          </p:cNvPr>
          <p:cNvCxnSpPr/>
          <p:nvPr/>
        </p:nvCxnSpPr>
        <p:spPr>
          <a:xfrm flipH="1">
            <a:off x="8572500" y="2840567"/>
            <a:ext cx="309033" cy="3090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454A3972-1624-7D76-0A37-960099DC671B}"/>
              </a:ext>
            </a:extLst>
          </p:cNvPr>
          <p:cNvCxnSpPr/>
          <p:nvPr/>
        </p:nvCxnSpPr>
        <p:spPr>
          <a:xfrm flipH="1">
            <a:off x="8712200" y="2980267"/>
            <a:ext cx="169333" cy="1693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3D5D0F71-717E-E9B4-B71A-032C596C5285}"/>
              </a:ext>
            </a:extLst>
          </p:cNvPr>
          <p:cNvSpPr txBox="1"/>
          <p:nvPr/>
        </p:nvSpPr>
        <p:spPr>
          <a:xfrm>
            <a:off x="7975600" y="3200400"/>
            <a:ext cx="905933" cy="152400"/>
          </a:xfrm>
          <a:prstGeom prst="rect">
            <a:avLst/>
          </a:prstGeom>
          <a:noFill/>
        </p:spPr>
        <p:txBody>
          <a:bodyPr vert="horz" wrap="square" lIns="0" tIns="0" rIns="0" bIns="0" rtlCol="0" anchor="t">
            <a:noAutofit/>
          </a:bodyPr>
          <a:lstStyle/>
          <a:p>
            <a:pPr algn="ctr"/>
            <a:r>
              <a:rPr lang="es-BO" sz="700">
                <a:solidFill>
                  <a:srgbClr val="1C1813"/>
                </a:solidFill>
                <a:latin typeface="Segoe UI Semibold" panose="020B0702040204020203" pitchFamily="34" charset="0"/>
              </a:rPr>
              <a:t>15,1 MPa</a:t>
            </a:r>
          </a:p>
        </p:txBody>
      </p:sp>
      <p:sp>
        <p:nvSpPr>
          <p:cNvPr id="39" name="Rectángulo 38">
            <a:extLst>
              <a:ext uri="{FF2B5EF4-FFF2-40B4-BE49-F238E27FC236}">
                <a16:creationId xmlns:a16="http://schemas.microsoft.com/office/drawing/2014/main" id="{D021D158-26AF-7BF5-1FA3-BB2567663692}"/>
              </a:ext>
            </a:extLst>
          </p:cNvPr>
          <p:cNvSpPr/>
          <p:nvPr/>
        </p:nvSpPr>
        <p:spPr>
          <a:xfrm>
            <a:off x="9072033" y="1930400"/>
            <a:ext cx="905933" cy="1219200"/>
          </a:xfrm>
          <a:prstGeom prst="rect">
            <a:avLst/>
          </a:prstGeom>
          <a:solidFill>
            <a:srgbClr val="C9C3B4"/>
          </a:solidFill>
          <a:ln w="9525">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40" name="Conector recto 39">
            <a:extLst>
              <a:ext uri="{FF2B5EF4-FFF2-40B4-BE49-F238E27FC236}">
                <a16:creationId xmlns:a16="http://schemas.microsoft.com/office/drawing/2014/main" id="{D602B3DB-D8EB-DB7E-74EF-63D6B92CF3C2}"/>
              </a:ext>
            </a:extLst>
          </p:cNvPr>
          <p:cNvCxnSpPr/>
          <p:nvPr/>
        </p:nvCxnSpPr>
        <p:spPr>
          <a:xfrm>
            <a:off x="9072033" y="1930400"/>
            <a:ext cx="0" cy="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CA3F0D15-E3DB-1420-90E1-75EAD50BC64F}"/>
              </a:ext>
            </a:extLst>
          </p:cNvPr>
          <p:cNvCxnSpPr/>
          <p:nvPr/>
        </p:nvCxnSpPr>
        <p:spPr>
          <a:xfrm flipH="1">
            <a:off x="9072033" y="1930400"/>
            <a:ext cx="139700" cy="139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5D0381A6-0B52-25CB-6C54-D2C0A17A6D5F}"/>
              </a:ext>
            </a:extLst>
          </p:cNvPr>
          <p:cNvCxnSpPr/>
          <p:nvPr/>
        </p:nvCxnSpPr>
        <p:spPr>
          <a:xfrm flipH="1">
            <a:off x="9072033" y="1930400"/>
            <a:ext cx="279400" cy="2794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7117AD75-FF93-FA0A-A1F5-52241F8B5A6B}"/>
              </a:ext>
            </a:extLst>
          </p:cNvPr>
          <p:cNvCxnSpPr/>
          <p:nvPr/>
        </p:nvCxnSpPr>
        <p:spPr>
          <a:xfrm flipH="1">
            <a:off x="9072033" y="1930400"/>
            <a:ext cx="419100" cy="419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B034EA2A-1E21-5336-9268-13ED28088CB2}"/>
              </a:ext>
            </a:extLst>
          </p:cNvPr>
          <p:cNvCxnSpPr/>
          <p:nvPr/>
        </p:nvCxnSpPr>
        <p:spPr>
          <a:xfrm flipH="1">
            <a:off x="9072033" y="1930400"/>
            <a:ext cx="558800" cy="558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AE1BD2C0-3926-9AA6-5C7F-EAD2D57FC327}"/>
              </a:ext>
            </a:extLst>
          </p:cNvPr>
          <p:cNvCxnSpPr/>
          <p:nvPr/>
        </p:nvCxnSpPr>
        <p:spPr>
          <a:xfrm flipH="1">
            <a:off x="9072033" y="1930400"/>
            <a:ext cx="698500" cy="6985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A436FB51-9AF1-2178-8A7B-4DA2082CE52E}"/>
              </a:ext>
            </a:extLst>
          </p:cNvPr>
          <p:cNvCxnSpPr/>
          <p:nvPr/>
        </p:nvCxnSpPr>
        <p:spPr>
          <a:xfrm flipH="1">
            <a:off x="9072033" y="1930400"/>
            <a:ext cx="838200" cy="838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B7958D45-0BB7-85B0-50D5-6035BAE1591C}"/>
              </a:ext>
            </a:extLst>
          </p:cNvPr>
          <p:cNvCxnSpPr/>
          <p:nvPr/>
        </p:nvCxnSpPr>
        <p:spPr>
          <a:xfrm flipH="1">
            <a:off x="9072033" y="2002367"/>
            <a:ext cx="905934" cy="9059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3BC52321-C947-2292-FED8-3BBC6FD4C4DC}"/>
              </a:ext>
            </a:extLst>
          </p:cNvPr>
          <p:cNvCxnSpPr/>
          <p:nvPr/>
        </p:nvCxnSpPr>
        <p:spPr>
          <a:xfrm flipH="1">
            <a:off x="9072033" y="2142067"/>
            <a:ext cx="905934" cy="9059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32F8CF56-557E-2637-553D-B99AF1B1AA40}"/>
              </a:ext>
            </a:extLst>
          </p:cNvPr>
          <p:cNvCxnSpPr/>
          <p:nvPr/>
        </p:nvCxnSpPr>
        <p:spPr>
          <a:xfrm flipH="1">
            <a:off x="9110133" y="2281767"/>
            <a:ext cx="867834" cy="8678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3799AC26-DCD4-03DD-5F36-59C168DBE553}"/>
              </a:ext>
            </a:extLst>
          </p:cNvPr>
          <p:cNvCxnSpPr/>
          <p:nvPr/>
        </p:nvCxnSpPr>
        <p:spPr>
          <a:xfrm flipH="1">
            <a:off x="9249833" y="2421467"/>
            <a:ext cx="728134" cy="7281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1" name="Conector recto 50">
            <a:extLst>
              <a:ext uri="{FF2B5EF4-FFF2-40B4-BE49-F238E27FC236}">
                <a16:creationId xmlns:a16="http://schemas.microsoft.com/office/drawing/2014/main" id="{C1B29359-25D1-9157-20BD-93F5EAE0D972}"/>
              </a:ext>
            </a:extLst>
          </p:cNvPr>
          <p:cNvCxnSpPr/>
          <p:nvPr/>
        </p:nvCxnSpPr>
        <p:spPr>
          <a:xfrm flipH="1">
            <a:off x="9389533" y="2561167"/>
            <a:ext cx="588434" cy="5884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CADF99EE-5746-5371-33D4-02D16BA327E9}"/>
              </a:ext>
            </a:extLst>
          </p:cNvPr>
          <p:cNvCxnSpPr/>
          <p:nvPr/>
        </p:nvCxnSpPr>
        <p:spPr>
          <a:xfrm flipH="1">
            <a:off x="9529233" y="2700867"/>
            <a:ext cx="448734" cy="4487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C1568F5B-E35C-FBC6-59AC-822CD0E59E3B}"/>
              </a:ext>
            </a:extLst>
          </p:cNvPr>
          <p:cNvCxnSpPr/>
          <p:nvPr/>
        </p:nvCxnSpPr>
        <p:spPr>
          <a:xfrm flipH="1">
            <a:off x="9668933" y="2840567"/>
            <a:ext cx="309034" cy="3090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531CAB27-C32E-D1A5-4A4D-DA26DC98FA58}"/>
              </a:ext>
            </a:extLst>
          </p:cNvPr>
          <p:cNvCxnSpPr/>
          <p:nvPr/>
        </p:nvCxnSpPr>
        <p:spPr>
          <a:xfrm flipH="1">
            <a:off x="9808633" y="2980267"/>
            <a:ext cx="169334" cy="1693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sp>
        <p:nvSpPr>
          <p:cNvPr id="55" name="CuadroTexto 54">
            <a:extLst>
              <a:ext uri="{FF2B5EF4-FFF2-40B4-BE49-F238E27FC236}">
                <a16:creationId xmlns:a16="http://schemas.microsoft.com/office/drawing/2014/main" id="{046AD041-6122-006F-10EA-F0A438F1DFDD}"/>
              </a:ext>
            </a:extLst>
          </p:cNvPr>
          <p:cNvSpPr txBox="1"/>
          <p:nvPr/>
        </p:nvSpPr>
        <p:spPr>
          <a:xfrm>
            <a:off x="9072033" y="3200400"/>
            <a:ext cx="905933" cy="152400"/>
          </a:xfrm>
          <a:prstGeom prst="rect">
            <a:avLst/>
          </a:prstGeom>
          <a:noFill/>
        </p:spPr>
        <p:txBody>
          <a:bodyPr vert="horz" wrap="square" lIns="0" tIns="0" rIns="0" bIns="0" rtlCol="0" anchor="t">
            <a:noAutofit/>
          </a:bodyPr>
          <a:lstStyle/>
          <a:p>
            <a:pPr algn="ctr"/>
            <a:r>
              <a:rPr lang="es-BO" sz="700">
                <a:solidFill>
                  <a:srgbClr val="1C1813"/>
                </a:solidFill>
                <a:latin typeface="Segoe UI Semibold" panose="020B0702040204020203" pitchFamily="34" charset="0"/>
              </a:rPr>
              <a:t>17,2 MPa</a:t>
            </a:r>
          </a:p>
        </p:txBody>
      </p:sp>
      <p:sp>
        <p:nvSpPr>
          <p:cNvPr id="56" name="Rectángulo 55">
            <a:extLst>
              <a:ext uri="{FF2B5EF4-FFF2-40B4-BE49-F238E27FC236}">
                <a16:creationId xmlns:a16="http://schemas.microsoft.com/office/drawing/2014/main" id="{A5278DAA-ED64-8E0F-03CB-7A0CF039CEB0}"/>
              </a:ext>
            </a:extLst>
          </p:cNvPr>
          <p:cNvSpPr/>
          <p:nvPr/>
        </p:nvSpPr>
        <p:spPr>
          <a:xfrm>
            <a:off x="10168467" y="1930400"/>
            <a:ext cx="905933" cy="1219200"/>
          </a:xfrm>
          <a:prstGeom prst="rect">
            <a:avLst/>
          </a:prstGeom>
          <a:solidFill>
            <a:srgbClr val="C9C3B4"/>
          </a:solidFill>
          <a:ln w="9525">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57" name="Conector recto 56">
            <a:extLst>
              <a:ext uri="{FF2B5EF4-FFF2-40B4-BE49-F238E27FC236}">
                <a16:creationId xmlns:a16="http://schemas.microsoft.com/office/drawing/2014/main" id="{7C261312-5685-D862-6036-476C646E8FBA}"/>
              </a:ext>
            </a:extLst>
          </p:cNvPr>
          <p:cNvCxnSpPr/>
          <p:nvPr/>
        </p:nvCxnSpPr>
        <p:spPr>
          <a:xfrm>
            <a:off x="10168467" y="1930400"/>
            <a:ext cx="0" cy="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4C54036D-EB9A-B870-96E5-BF2E06C00386}"/>
              </a:ext>
            </a:extLst>
          </p:cNvPr>
          <p:cNvCxnSpPr/>
          <p:nvPr/>
        </p:nvCxnSpPr>
        <p:spPr>
          <a:xfrm flipH="1">
            <a:off x="10168467" y="1930400"/>
            <a:ext cx="139700" cy="139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A95563E7-E82E-9EFB-7A19-40C5E3C8F8D3}"/>
              </a:ext>
            </a:extLst>
          </p:cNvPr>
          <p:cNvCxnSpPr/>
          <p:nvPr/>
        </p:nvCxnSpPr>
        <p:spPr>
          <a:xfrm flipH="1">
            <a:off x="10168467" y="1930400"/>
            <a:ext cx="279400" cy="2794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7799F000-EAA3-76AB-150C-8FCCADB3E0A8}"/>
              </a:ext>
            </a:extLst>
          </p:cNvPr>
          <p:cNvCxnSpPr/>
          <p:nvPr/>
        </p:nvCxnSpPr>
        <p:spPr>
          <a:xfrm flipH="1">
            <a:off x="10168467" y="1930400"/>
            <a:ext cx="419100" cy="419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35FECA65-068E-9490-1E22-AF3D8A2E5CAB}"/>
              </a:ext>
            </a:extLst>
          </p:cNvPr>
          <p:cNvCxnSpPr/>
          <p:nvPr/>
        </p:nvCxnSpPr>
        <p:spPr>
          <a:xfrm flipH="1">
            <a:off x="10168467" y="1930400"/>
            <a:ext cx="558800" cy="558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757078B2-1F1E-4B40-D9CE-EB7302ED30C5}"/>
              </a:ext>
            </a:extLst>
          </p:cNvPr>
          <p:cNvCxnSpPr/>
          <p:nvPr/>
        </p:nvCxnSpPr>
        <p:spPr>
          <a:xfrm flipH="1">
            <a:off x="10168467" y="1930400"/>
            <a:ext cx="698500" cy="6985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BA567F57-71E7-6B5C-D991-53F23E94B507}"/>
              </a:ext>
            </a:extLst>
          </p:cNvPr>
          <p:cNvCxnSpPr/>
          <p:nvPr/>
        </p:nvCxnSpPr>
        <p:spPr>
          <a:xfrm flipH="1">
            <a:off x="10168467" y="1930400"/>
            <a:ext cx="838200" cy="838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D449BFCA-42AC-A80A-7F33-A2405D29E55D}"/>
              </a:ext>
            </a:extLst>
          </p:cNvPr>
          <p:cNvCxnSpPr/>
          <p:nvPr/>
        </p:nvCxnSpPr>
        <p:spPr>
          <a:xfrm flipH="1">
            <a:off x="10168467" y="2002367"/>
            <a:ext cx="905933" cy="9059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3A651C9F-D482-EBDB-396D-FF72FEA62B72}"/>
              </a:ext>
            </a:extLst>
          </p:cNvPr>
          <p:cNvCxnSpPr/>
          <p:nvPr/>
        </p:nvCxnSpPr>
        <p:spPr>
          <a:xfrm flipH="1">
            <a:off x="10168467" y="2142067"/>
            <a:ext cx="905933" cy="9059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33B5C9B5-A35E-9EF2-804D-8A2499BBFC72}"/>
              </a:ext>
            </a:extLst>
          </p:cNvPr>
          <p:cNvCxnSpPr/>
          <p:nvPr/>
        </p:nvCxnSpPr>
        <p:spPr>
          <a:xfrm flipH="1">
            <a:off x="10206567" y="2281767"/>
            <a:ext cx="867833" cy="8678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35C0F18A-100E-461B-0C14-BE7FEF36A325}"/>
              </a:ext>
            </a:extLst>
          </p:cNvPr>
          <p:cNvCxnSpPr/>
          <p:nvPr/>
        </p:nvCxnSpPr>
        <p:spPr>
          <a:xfrm flipH="1">
            <a:off x="10346267" y="2421467"/>
            <a:ext cx="728133" cy="7281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EBEF562C-60EF-FB61-BA2E-8E4F3A83EC4C}"/>
              </a:ext>
            </a:extLst>
          </p:cNvPr>
          <p:cNvCxnSpPr/>
          <p:nvPr/>
        </p:nvCxnSpPr>
        <p:spPr>
          <a:xfrm flipH="1">
            <a:off x="10485967" y="2561167"/>
            <a:ext cx="588433" cy="5884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AA948541-09FC-0652-61C8-7AC9341A1F07}"/>
              </a:ext>
            </a:extLst>
          </p:cNvPr>
          <p:cNvCxnSpPr/>
          <p:nvPr/>
        </p:nvCxnSpPr>
        <p:spPr>
          <a:xfrm flipH="1">
            <a:off x="10625667" y="2700867"/>
            <a:ext cx="448733" cy="4487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CD33AADE-D13F-C061-1527-130C90D20F02}"/>
              </a:ext>
            </a:extLst>
          </p:cNvPr>
          <p:cNvCxnSpPr/>
          <p:nvPr/>
        </p:nvCxnSpPr>
        <p:spPr>
          <a:xfrm flipH="1">
            <a:off x="10765367" y="2840567"/>
            <a:ext cx="309033" cy="3090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D1A51D38-BEB1-5252-4EC1-B791BCAB7D09}"/>
              </a:ext>
            </a:extLst>
          </p:cNvPr>
          <p:cNvCxnSpPr/>
          <p:nvPr/>
        </p:nvCxnSpPr>
        <p:spPr>
          <a:xfrm flipH="1">
            <a:off x="10905067" y="2980267"/>
            <a:ext cx="169333" cy="169333"/>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sp>
        <p:nvSpPr>
          <p:cNvPr id="72" name="CuadroTexto 71">
            <a:extLst>
              <a:ext uri="{FF2B5EF4-FFF2-40B4-BE49-F238E27FC236}">
                <a16:creationId xmlns:a16="http://schemas.microsoft.com/office/drawing/2014/main" id="{8EA7AE91-B462-83F1-9EEC-22BCC30DCAB5}"/>
              </a:ext>
            </a:extLst>
          </p:cNvPr>
          <p:cNvSpPr txBox="1"/>
          <p:nvPr/>
        </p:nvSpPr>
        <p:spPr>
          <a:xfrm>
            <a:off x="10168467" y="3200400"/>
            <a:ext cx="905933" cy="152400"/>
          </a:xfrm>
          <a:prstGeom prst="rect">
            <a:avLst/>
          </a:prstGeom>
          <a:noFill/>
        </p:spPr>
        <p:txBody>
          <a:bodyPr vert="horz" wrap="square" lIns="0" tIns="0" rIns="0" bIns="0" rtlCol="0" anchor="t">
            <a:noAutofit/>
          </a:bodyPr>
          <a:lstStyle/>
          <a:p>
            <a:pPr algn="ctr"/>
            <a:r>
              <a:rPr lang="es-BO" sz="700">
                <a:solidFill>
                  <a:srgbClr val="1C1813"/>
                </a:solidFill>
                <a:latin typeface="Segoe UI Semibold" panose="020B0702040204020203" pitchFamily="34" charset="0"/>
              </a:rPr>
              <a:t>16,3 MPa</a:t>
            </a:r>
          </a:p>
        </p:txBody>
      </p:sp>
      <p:sp>
        <p:nvSpPr>
          <p:cNvPr id="73" name="CuadroTexto 72">
            <a:extLst>
              <a:ext uri="{FF2B5EF4-FFF2-40B4-BE49-F238E27FC236}">
                <a16:creationId xmlns:a16="http://schemas.microsoft.com/office/drawing/2014/main" id="{85D47B29-5E3B-BC0E-EA6A-38C7513A0D18}"/>
              </a:ext>
            </a:extLst>
          </p:cNvPr>
          <p:cNvSpPr txBox="1"/>
          <p:nvPr/>
        </p:nvSpPr>
        <p:spPr>
          <a:xfrm>
            <a:off x="7797800" y="3378200"/>
            <a:ext cx="3454400" cy="381000"/>
          </a:xfrm>
          <a:prstGeom prst="rect">
            <a:avLst/>
          </a:prstGeom>
          <a:noFill/>
        </p:spPr>
        <p:txBody>
          <a:bodyPr vert="horz" wrap="square" lIns="0" tIns="0" rIns="0" bIns="0" rtlCol="0" anchor="t">
            <a:noAutofit/>
          </a:bodyPr>
          <a:lstStyle/>
          <a:p>
            <a:pPr algn="ctr"/>
            <a:r>
              <a:rPr lang="pt-BR" sz="650">
                <a:solidFill>
                  <a:srgbClr val="5A5248"/>
                </a:solidFill>
                <a:latin typeface="Segoe UI" panose="020B0502040204020203" pitchFamily="34" charset="0"/>
              </a:rPr>
              <a:t>Ø 75 mm  ·  l/d = 1,50  ·  saturados 48 h</a:t>
            </a:r>
            <a:endParaRPr lang="es-BO" sz="650">
              <a:solidFill>
                <a:srgbClr val="5A5248"/>
              </a:solidFill>
              <a:latin typeface="Segoe UI" panose="020B0502040204020203" pitchFamily="34" charset="0"/>
            </a:endParaRPr>
          </a:p>
        </p:txBody>
      </p:sp>
      <p:sp>
        <p:nvSpPr>
          <p:cNvPr id="74" name="Rectángulo 73">
            <a:extLst>
              <a:ext uri="{FF2B5EF4-FFF2-40B4-BE49-F238E27FC236}">
                <a16:creationId xmlns:a16="http://schemas.microsoft.com/office/drawing/2014/main" id="{362D52E7-0BBE-8776-CB3D-A5908D2E9B85}"/>
              </a:ext>
            </a:extLst>
          </p:cNvPr>
          <p:cNvSpPr/>
          <p:nvPr/>
        </p:nvSpPr>
        <p:spPr>
          <a:xfrm>
            <a:off x="7797800" y="36322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5" name="CuadroTexto 74">
            <a:extLst>
              <a:ext uri="{FF2B5EF4-FFF2-40B4-BE49-F238E27FC236}">
                <a16:creationId xmlns:a16="http://schemas.microsoft.com/office/drawing/2014/main" id="{852E8E5A-1AE7-C1F0-F6A9-838102FBCDE1}"/>
              </a:ext>
            </a:extLst>
          </p:cNvPr>
          <p:cNvSpPr txBox="1"/>
          <p:nvPr/>
        </p:nvSpPr>
        <p:spPr>
          <a:xfrm>
            <a:off x="7899400" y="3632200"/>
            <a:ext cx="11430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f′c proyecto</a:t>
            </a:r>
          </a:p>
        </p:txBody>
      </p:sp>
      <p:sp>
        <p:nvSpPr>
          <p:cNvPr id="76" name="CuadroTexto 75">
            <a:extLst>
              <a:ext uri="{FF2B5EF4-FFF2-40B4-BE49-F238E27FC236}">
                <a16:creationId xmlns:a16="http://schemas.microsoft.com/office/drawing/2014/main" id="{2CA8AFE1-3054-2B06-3E7D-EE97DF83868D}"/>
              </a:ext>
            </a:extLst>
          </p:cNvPr>
          <p:cNvSpPr txBox="1"/>
          <p:nvPr/>
        </p:nvSpPr>
        <p:spPr>
          <a:xfrm>
            <a:off x="9067800" y="3632200"/>
            <a:ext cx="21590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21,0 MPa  ·  H-21</a:t>
            </a:r>
          </a:p>
        </p:txBody>
      </p:sp>
      <p:sp>
        <p:nvSpPr>
          <p:cNvPr id="77" name="Rectángulo 76">
            <a:extLst>
              <a:ext uri="{FF2B5EF4-FFF2-40B4-BE49-F238E27FC236}">
                <a16:creationId xmlns:a16="http://schemas.microsoft.com/office/drawing/2014/main" id="{2A0EA2CA-76F6-CB07-CF08-1DF8DD28A8C6}"/>
              </a:ext>
            </a:extLst>
          </p:cNvPr>
          <p:cNvSpPr/>
          <p:nvPr/>
        </p:nvSpPr>
        <p:spPr>
          <a:xfrm>
            <a:off x="7797800" y="38735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8" name="CuadroTexto 77">
            <a:extLst>
              <a:ext uri="{FF2B5EF4-FFF2-40B4-BE49-F238E27FC236}">
                <a16:creationId xmlns:a16="http://schemas.microsoft.com/office/drawing/2014/main" id="{A01B26EE-A045-CF99-028A-58343CFFB008}"/>
              </a:ext>
            </a:extLst>
          </p:cNvPr>
          <p:cNvSpPr txBox="1"/>
          <p:nvPr/>
        </p:nvSpPr>
        <p:spPr>
          <a:xfrm>
            <a:off x="7899400" y="3873500"/>
            <a:ext cx="11430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Media bruta</a:t>
            </a:r>
          </a:p>
        </p:txBody>
      </p:sp>
      <p:sp>
        <p:nvSpPr>
          <p:cNvPr id="79" name="CuadroTexto 78">
            <a:extLst>
              <a:ext uri="{FF2B5EF4-FFF2-40B4-BE49-F238E27FC236}">
                <a16:creationId xmlns:a16="http://schemas.microsoft.com/office/drawing/2014/main" id="{FA2F8982-71C6-6223-6FE1-6197D77A513F}"/>
              </a:ext>
            </a:extLst>
          </p:cNvPr>
          <p:cNvSpPr txBox="1"/>
          <p:nvPr/>
        </p:nvSpPr>
        <p:spPr>
          <a:xfrm>
            <a:off x="9067800" y="3873500"/>
            <a:ext cx="21590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16,2 MPa</a:t>
            </a:r>
          </a:p>
        </p:txBody>
      </p:sp>
      <p:sp>
        <p:nvSpPr>
          <p:cNvPr id="80" name="Rectángulo 79">
            <a:extLst>
              <a:ext uri="{FF2B5EF4-FFF2-40B4-BE49-F238E27FC236}">
                <a16:creationId xmlns:a16="http://schemas.microsoft.com/office/drawing/2014/main" id="{33EE87E2-6ABD-B2D4-5436-C7C09D1CF059}"/>
              </a:ext>
            </a:extLst>
          </p:cNvPr>
          <p:cNvSpPr/>
          <p:nvPr/>
        </p:nvSpPr>
        <p:spPr>
          <a:xfrm>
            <a:off x="7797800" y="41148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1" name="CuadroTexto 80">
            <a:extLst>
              <a:ext uri="{FF2B5EF4-FFF2-40B4-BE49-F238E27FC236}">
                <a16:creationId xmlns:a16="http://schemas.microsoft.com/office/drawing/2014/main" id="{8ED09EC3-6744-0501-2CB3-2C206C300A62}"/>
              </a:ext>
            </a:extLst>
          </p:cNvPr>
          <p:cNvSpPr txBox="1"/>
          <p:nvPr/>
        </p:nvSpPr>
        <p:spPr>
          <a:xfrm>
            <a:off x="7899400" y="4114800"/>
            <a:ext cx="11430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Esclerómetro</a:t>
            </a:r>
          </a:p>
        </p:txBody>
      </p:sp>
      <p:sp>
        <p:nvSpPr>
          <p:cNvPr id="82" name="CuadroTexto 81">
            <a:extLst>
              <a:ext uri="{FF2B5EF4-FFF2-40B4-BE49-F238E27FC236}">
                <a16:creationId xmlns:a16="http://schemas.microsoft.com/office/drawing/2014/main" id="{AA1CAC91-97BA-458D-3D3E-09A271B3E3C8}"/>
              </a:ext>
            </a:extLst>
          </p:cNvPr>
          <p:cNvSpPr txBox="1"/>
          <p:nvPr/>
        </p:nvSpPr>
        <p:spPr>
          <a:xfrm>
            <a:off x="9067800" y="4114800"/>
            <a:ext cx="21590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índice 32 → 28 MPa</a:t>
            </a:r>
          </a:p>
        </p:txBody>
      </p:sp>
      <p:sp>
        <p:nvSpPr>
          <p:cNvPr id="83" name="Rectángulo 82">
            <a:extLst>
              <a:ext uri="{FF2B5EF4-FFF2-40B4-BE49-F238E27FC236}">
                <a16:creationId xmlns:a16="http://schemas.microsoft.com/office/drawing/2014/main" id="{FBEC4D8F-407A-BE5D-3C90-76CEB13C3ABD}"/>
              </a:ext>
            </a:extLst>
          </p:cNvPr>
          <p:cNvSpPr/>
          <p:nvPr/>
        </p:nvSpPr>
        <p:spPr>
          <a:xfrm>
            <a:off x="7797800" y="43561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4" name="CuadroTexto 83">
            <a:extLst>
              <a:ext uri="{FF2B5EF4-FFF2-40B4-BE49-F238E27FC236}">
                <a16:creationId xmlns:a16="http://schemas.microsoft.com/office/drawing/2014/main" id="{30FF8D1F-31DC-5759-20AC-4E0CE36917AD}"/>
              </a:ext>
            </a:extLst>
          </p:cNvPr>
          <p:cNvSpPr txBox="1"/>
          <p:nvPr/>
        </p:nvSpPr>
        <p:spPr>
          <a:xfrm>
            <a:off x="7899400" y="4356100"/>
            <a:ext cx="11430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Norma</a:t>
            </a:r>
          </a:p>
        </p:txBody>
      </p:sp>
      <p:sp>
        <p:nvSpPr>
          <p:cNvPr id="85" name="CuadroTexto 84">
            <a:extLst>
              <a:ext uri="{FF2B5EF4-FFF2-40B4-BE49-F238E27FC236}">
                <a16:creationId xmlns:a16="http://schemas.microsoft.com/office/drawing/2014/main" id="{4A5BCDAF-ED03-8F11-B46D-D59496FAE2B3}"/>
              </a:ext>
            </a:extLst>
          </p:cNvPr>
          <p:cNvSpPr txBox="1"/>
          <p:nvPr/>
        </p:nvSpPr>
        <p:spPr>
          <a:xfrm>
            <a:off x="9067800" y="4356100"/>
            <a:ext cx="21590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ACI 214.4R para corregir</a:t>
            </a:r>
          </a:p>
        </p:txBody>
      </p:sp>
      <p:sp>
        <p:nvSpPr>
          <p:cNvPr id="86" name="Rectángulo 85">
            <a:extLst>
              <a:ext uri="{FF2B5EF4-FFF2-40B4-BE49-F238E27FC236}">
                <a16:creationId xmlns:a16="http://schemas.microsoft.com/office/drawing/2014/main" id="{5AAEF394-BC77-69EB-A68B-4023977B82A2}"/>
              </a:ext>
            </a:extLst>
          </p:cNvPr>
          <p:cNvSpPr/>
          <p:nvPr/>
        </p:nvSpPr>
        <p:spPr>
          <a:xfrm>
            <a:off x="7797800" y="45974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7" name="CuadroTexto 86">
            <a:extLst>
              <a:ext uri="{FF2B5EF4-FFF2-40B4-BE49-F238E27FC236}">
                <a16:creationId xmlns:a16="http://schemas.microsoft.com/office/drawing/2014/main" id="{DB1E7CA2-7A19-59DF-36B6-E4EF14403237}"/>
              </a:ext>
            </a:extLst>
          </p:cNvPr>
          <p:cNvSpPr txBox="1"/>
          <p:nvPr/>
        </p:nvSpPr>
        <p:spPr>
          <a:xfrm>
            <a:off x="7899400" y="4597400"/>
            <a:ext cx="11430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Criterio</a:t>
            </a:r>
          </a:p>
        </p:txBody>
      </p:sp>
      <p:sp>
        <p:nvSpPr>
          <p:cNvPr id="88" name="CuadroTexto 87">
            <a:extLst>
              <a:ext uri="{FF2B5EF4-FFF2-40B4-BE49-F238E27FC236}">
                <a16:creationId xmlns:a16="http://schemas.microsoft.com/office/drawing/2014/main" id="{F4433270-8B30-3B30-9601-505C01F0FF9E}"/>
              </a:ext>
            </a:extLst>
          </p:cNvPr>
          <p:cNvSpPr txBox="1"/>
          <p:nvPr/>
        </p:nvSpPr>
        <p:spPr>
          <a:xfrm>
            <a:off x="9067800" y="4597400"/>
            <a:ext cx="21590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ACI 318-19 §26.12.4</a:t>
            </a:r>
          </a:p>
        </p:txBody>
      </p:sp>
      <p:sp>
        <p:nvSpPr>
          <p:cNvPr id="89" name="Rectángulo 88">
            <a:extLst>
              <a:ext uri="{FF2B5EF4-FFF2-40B4-BE49-F238E27FC236}">
                <a16:creationId xmlns:a16="http://schemas.microsoft.com/office/drawing/2014/main" id="{B9B8B9B9-83A5-C99C-A586-F6D20A7CC3C4}"/>
              </a:ext>
            </a:extLst>
          </p:cNvPr>
          <p:cNvSpPr/>
          <p:nvPr/>
        </p:nvSpPr>
        <p:spPr>
          <a:xfrm>
            <a:off x="609600" y="5537200"/>
            <a:ext cx="10972800" cy="5588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1" name="CuadroTexto 90">
            <a:extLst>
              <a:ext uri="{FF2B5EF4-FFF2-40B4-BE49-F238E27FC236}">
                <a16:creationId xmlns:a16="http://schemas.microsoft.com/office/drawing/2014/main" id="{FEA2B94F-77D2-EBFF-2291-4135841D81EB}"/>
              </a:ext>
            </a:extLst>
          </p:cNvPr>
          <p:cNvSpPr txBox="1"/>
          <p:nvPr/>
        </p:nvSpPr>
        <p:spPr>
          <a:xfrm>
            <a:off x="838200" y="5588000"/>
            <a:ext cx="10566400" cy="4572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Seis pasos para desmontar una conclusión errónea. </a:t>
            </a:r>
            <a:r>
              <a:rPr lang="es-MX" sz="1150" b="1">
                <a:solidFill>
                  <a:srgbClr val="FFFFFF"/>
                </a:solidFill>
                <a:latin typeface="Segoe UI Semibold" panose="020B0702040204020203" pitchFamily="34" charset="0"/>
              </a:rPr>
              <a:t>El error no está en el laboratorio, que entrega lo que mide: está en comparar la resistencia bruta de un testigo con f′c</a:t>
            </a:r>
            <a:r>
              <a:rPr lang="es-MX" sz="1150">
                <a:solidFill>
                  <a:srgbClr val="FFFFFF"/>
                </a:solidFill>
                <a:latin typeface="Segoe UI" panose="020B0502040204020203" pitchFamily="34" charset="0"/>
              </a:rPr>
              <a:t>, que son dos magnitudes de poblaciones distintas.</a:t>
            </a:r>
            <a:endParaRPr lang="es-BO" sz="1150">
              <a:solidFill>
                <a:srgbClr val="FFFFFF"/>
              </a:solidFill>
              <a:latin typeface="Segoe UI" panose="020B0502040204020203" pitchFamily="34" charset="0"/>
            </a:endParaRPr>
          </a:p>
        </p:txBody>
      </p:sp>
      <p:sp>
        <p:nvSpPr>
          <p:cNvPr id="92" name="CuadroTexto 91">
            <a:extLst>
              <a:ext uri="{FF2B5EF4-FFF2-40B4-BE49-F238E27FC236}">
                <a16:creationId xmlns:a16="http://schemas.microsoft.com/office/drawing/2014/main" id="{480867D2-0A71-CBE9-8A38-6A6FCA30F069}"/>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ACI 214.4R; ACI 318-19 §26.12.4; ASTM C42; ASTM C805; ACI 228.1R.</a:t>
            </a:r>
            <a:endParaRPr lang="es-BO" sz="700">
              <a:solidFill>
                <a:srgbClr val="938A7C"/>
              </a:solidFill>
              <a:latin typeface="Segoe UI" panose="020B0502040204020203" pitchFamily="34" charset="0"/>
            </a:endParaRPr>
          </a:p>
        </p:txBody>
      </p:sp>
      <p:cxnSp>
        <p:nvCxnSpPr>
          <p:cNvPr id="93" name="Conector recto 92">
            <a:extLst>
              <a:ext uri="{FF2B5EF4-FFF2-40B4-BE49-F238E27FC236}">
                <a16:creationId xmlns:a16="http://schemas.microsoft.com/office/drawing/2014/main" id="{1C47108A-58B8-DB12-F17B-439A5D8A481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94" name="CuadroTexto 93">
            <a:extLst>
              <a:ext uri="{FF2B5EF4-FFF2-40B4-BE49-F238E27FC236}">
                <a16:creationId xmlns:a16="http://schemas.microsoft.com/office/drawing/2014/main" id="{803696CC-821C-51BF-D23A-698E6471995B}"/>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95" name="CuadroTexto 94">
            <a:extLst>
              <a:ext uri="{FF2B5EF4-FFF2-40B4-BE49-F238E27FC236}">
                <a16:creationId xmlns:a16="http://schemas.microsoft.com/office/drawing/2014/main" id="{0431DDCB-631B-8DD3-E611-2EF3F913D01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96" name="PageNo">
            <a:extLst>
              <a:ext uri="{FF2B5EF4-FFF2-40B4-BE49-F238E27FC236}">
                <a16:creationId xmlns:a16="http://schemas.microsoft.com/office/drawing/2014/main" id="{4CEA7E51-020E-5ED5-2D9A-9080B72DFE2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29 / 39</a:t>
            </a:r>
          </a:p>
        </p:txBody>
      </p:sp>
    </p:spTree>
    <p:custDataLst>
      <p:tags r:id="rId1"/>
    </p:custDataLst>
    <p:extLst>
      <p:ext uri="{BB962C8B-B14F-4D97-AF65-F5344CB8AC3E}">
        <p14:creationId xmlns:p14="http://schemas.microsoft.com/office/powerpoint/2010/main" val="1253320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B500961-D4A5-1492-728B-67E7D4E6FCE2}"/>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PASO 1 DE 6</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1618284-CD80-80CE-E976-DB0BB631B04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Media bruta de los tres testigos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94A05869-B6E2-C86C-CE59-00D08AF3F6B5}"/>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DCD9AE17-5ABF-AC37-7F47-6D106270A674}"/>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¿Qué valor entrega el laboratorio? Tres testigos dan un resultado; uno solo no da ninguno.</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F1F6B9AA-9421-3CE2-8998-5D74D433DF82}"/>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pt-BR" sz="1700">
                <a:solidFill>
                  <a:srgbClr val="FFFFFF"/>
                </a:solidFill>
                <a:latin typeface="Bahnschrift SemiBold" panose="020B0502040204020203" pitchFamily="34" charset="0"/>
              </a:rPr>
              <a:t>f_bruta  =  Σ f_i  /  n</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8EB92F16-001C-94DE-04B6-99C1B69E99D1}"/>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D4B9DB94-F7FF-FD07-8138-3C098358D219}"/>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Media aritmética. El contenido del paso es de procedimiento: ACI 318-19 exige tres testigos por resultado, porque uno aislado no permite aplicar ningún criterio de aceptación.</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3BEE4AAE-C5A4-389E-0D32-81B96F54F000}"/>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C3E2D024-46CA-AA8F-1449-E42B8DC8846D}"/>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15,1 · 17,2 · 16,3 MPa</a:t>
            </a:r>
          </a:p>
        </p:txBody>
      </p:sp>
      <p:sp>
        <p:nvSpPr>
          <p:cNvPr id="14" name="CuadroTexto 13">
            <a:extLst>
              <a:ext uri="{FF2B5EF4-FFF2-40B4-BE49-F238E27FC236}">
                <a16:creationId xmlns:a16="http://schemas.microsoft.com/office/drawing/2014/main" id="{559D54D9-45EE-9B9F-B13E-B35BE2933D90}"/>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Roturas de los tres testigos de la columna C-4, acta del laboratorio.</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37F1DC98-C53E-64FC-5426-DBB3DF112E89}"/>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n = 3</a:t>
            </a:r>
          </a:p>
        </p:txBody>
      </p:sp>
      <p:sp>
        <p:nvSpPr>
          <p:cNvPr id="17" name="CuadroTexto 16">
            <a:extLst>
              <a:ext uri="{FF2B5EF4-FFF2-40B4-BE49-F238E27FC236}">
                <a16:creationId xmlns:a16="http://schemas.microsoft.com/office/drawing/2014/main" id="{4248AB25-8647-2903-628E-AE568453EC29}"/>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BO" sz="850">
                <a:solidFill>
                  <a:srgbClr val="5A5248"/>
                </a:solidFill>
                <a:latin typeface="Segoe UI" panose="020B0502040204020203" pitchFamily="34" charset="0"/>
              </a:rPr>
              <a:t>Mínimo de ACI 318-19 §26.12.4 para constituir un resultado.</a:t>
            </a:r>
          </a:p>
        </p:txBody>
      </p:sp>
      <p:sp>
        <p:nvSpPr>
          <p:cNvPr id="19" name="CuadroTexto 18">
            <a:extLst>
              <a:ext uri="{FF2B5EF4-FFF2-40B4-BE49-F238E27FC236}">
                <a16:creationId xmlns:a16="http://schemas.microsoft.com/office/drawing/2014/main" id="{4778414B-7EB7-648E-8855-D11ED5181A8F}"/>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Ø 75 mm  ·  l/d = 1,50</a:t>
            </a:r>
          </a:p>
        </p:txBody>
      </p:sp>
      <p:sp>
        <p:nvSpPr>
          <p:cNvPr id="20" name="CuadroTexto 19">
            <a:extLst>
              <a:ext uri="{FF2B5EF4-FFF2-40B4-BE49-F238E27FC236}">
                <a16:creationId xmlns:a16="http://schemas.microsoft.com/office/drawing/2014/main" id="{6CB27478-B72D-6EFB-54A5-9AB3F54B0F7D}"/>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Geometría de los testigos, necesaria para los factores del paso 3.</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3135A594-E90A-3B34-88D4-7E45377F42E3}"/>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E7CFE477-4F07-BAD3-9A12-D747BDF30052}"/>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4E136398-D814-7789-97D8-D0730E11CE1D}"/>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sv-SE" sz="1150">
                <a:solidFill>
                  <a:srgbClr val="241F18"/>
                </a:solidFill>
                <a:latin typeface="Segoe UI" panose="020B0502040204020203" pitchFamily="34" charset="0"/>
              </a:rPr>
              <a:t>f_bruta  =  ( 15,1 + 17,2 + 16,3 ) / 3</a:t>
            </a:r>
            <a:endParaRPr lang="es-BO" sz="1150">
              <a:solidFill>
                <a:srgbClr val="241F18"/>
              </a:solidFill>
              <a:latin typeface="Segoe UI" panose="020B0502040204020203" pitchFamily="34" charset="0"/>
            </a:endParaRPr>
          </a:p>
        </p:txBody>
      </p:sp>
      <p:sp>
        <p:nvSpPr>
          <p:cNvPr id="24" name="CuadroTexto 23">
            <a:extLst>
              <a:ext uri="{FF2B5EF4-FFF2-40B4-BE49-F238E27FC236}">
                <a16:creationId xmlns:a16="http://schemas.microsoft.com/office/drawing/2014/main" id="{556FA28A-EDCE-B91F-7249-0A9F9EE92062}"/>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f_bruta  =  48,6 / 3</a:t>
            </a:r>
          </a:p>
        </p:txBody>
      </p:sp>
      <p:sp>
        <p:nvSpPr>
          <p:cNvPr id="25" name="CuadroTexto 24">
            <a:extLst>
              <a:ext uri="{FF2B5EF4-FFF2-40B4-BE49-F238E27FC236}">
                <a16:creationId xmlns:a16="http://schemas.microsoft.com/office/drawing/2014/main" id="{308FFCBF-04B2-48CC-0F6F-8962259553F4}"/>
              </a:ext>
            </a:extLst>
          </p:cNvPr>
          <p:cNvSpPr txBox="1"/>
          <p:nvPr/>
        </p:nvSpPr>
        <p:spPr>
          <a:xfrm>
            <a:off x="4648200" y="3797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f_bruta  =  16,2 MPa</a:t>
            </a:r>
          </a:p>
        </p:txBody>
      </p:sp>
      <p:sp>
        <p:nvSpPr>
          <p:cNvPr id="26" name="CuadroTexto 25">
            <a:extLst>
              <a:ext uri="{FF2B5EF4-FFF2-40B4-BE49-F238E27FC236}">
                <a16:creationId xmlns:a16="http://schemas.microsoft.com/office/drawing/2014/main" id="{13947212-D598-921A-9CEF-FC3B96E46C13}"/>
              </a:ext>
            </a:extLst>
          </p:cNvPr>
          <p:cNvSpPr txBox="1"/>
          <p:nvPr/>
        </p:nvSpPr>
        <p:spPr>
          <a:xfrm>
            <a:off x="4648200" y="41148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7" name="CuadroTexto 26">
            <a:extLst>
              <a:ext uri="{FF2B5EF4-FFF2-40B4-BE49-F238E27FC236}">
                <a16:creationId xmlns:a16="http://schemas.microsoft.com/office/drawing/2014/main" id="{A74C70C2-2E85-7AEB-6175-BA2E64DB411E}"/>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it-IT" sz="1150">
                <a:solidFill>
                  <a:srgbClr val="241F18"/>
                </a:solidFill>
                <a:latin typeface="Segoe UI" panose="020B0502040204020203" pitchFamily="34" charset="0"/>
              </a:rPr>
              <a:t>rango  =  2,1 MPa    ·    CV  =  6,5 %</a:t>
            </a:r>
            <a:endParaRPr lang="es-BO" sz="1150">
              <a:solidFill>
                <a:srgbClr val="241F18"/>
              </a:solidFill>
              <a:latin typeface="Segoe UI" panose="020B0502040204020203" pitchFamily="34" charset="0"/>
            </a:endParaRPr>
          </a:p>
        </p:txBody>
      </p:sp>
      <p:sp>
        <p:nvSpPr>
          <p:cNvPr id="28" name="Rectángulo 27">
            <a:extLst>
              <a:ext uri="{FF2B5EF4-FFF2-40B4-BE49-F238E27FC236}">
                <a16:creationId xmlns:a16="http://schemas.microsoft.com/office/drawing/2014/main" id="{70CFDF4E-9139-1D2F-CEE1-E929D27EC19D}"/>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8BF3A3BA-8A77-98EC-7889-317EEF8350E4}"/>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LOS TRES TESTIGOS DE LA COLUMNA C-4</a:t>
            </a:r>
            <a:endParaRPr lang="es-BO" sz="750" spc="160">
              <a:solidFill>
                <a:srgbClr val="6A4F20"/>
              </a:solidFill>
              <a:latin typeface="Segoe UI Semibold" panose="020B0702040204020203" pitchFamily="34" charset="0"/>
            </a:endParaRPr>
          </a:p>
        </p:txBody>
      </p:sp>
      <p:sp>
        <p:nvSpPr>
          <p:cNvPr id="31" name="Rectángulo 30">
            <a:extLst>
              <a:ext uri="{FF2B5EF4-FFF2-40B4-BE49-F238E27FC236}">
                <a16:creationId xmlns:a16="http://schemas.microsoft.com/office/drawing/2014/main" id="{20776A8B-EDD2-5116-6C3B-1D2F68E469F0}"/>
              </a:ext>
            </a:extLst>
          </p:cNvPr>
          <p:cNvSpPr/>
          <p:nvPr/>
        </p:nvSpPr>
        <p:spPr>
          <a:xfrm>
            <a:off x="8610600" y="3737864"/>
            <a:ext cx="787400" cy="300736"/>
          </a:xfrm>
          <a:prstGeom prst="rect">
            <a:avLst/>
          </a:prstGeom>
          <a:solidFill>
            <a:srgbClr val="5A52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CuadroTexto 31">
            <a:extLst>
              <a:ext uri="{FF2B5EF4-FFF2-40B4-BE49-F238E27FC236}">
                <a16:creationId xmlns:a16="http://schemas.microsoft.com/office/drawing/2014/main" id="{3813E047-8743-6567-FBB5-A26F0B0372D7}"/>
              </a:ext>
            </a:extLst>
          </p:cNvPr>
          <p:cNvSpPr txBox="1"/>
          <p:nvPr/>
        </p:nvSpPr>
        <p:spPr>
          <a:xfrm>
            <a:off x="8610600" y="3585464"/>
            <a:ext cx="787400" cy="152400"/>
          </a:xfrm>
          <a:prstGeom prst="rect">
            <a:avLst/>
          </a:prstGeom>
          <a:noFill/>
        </p:spPr>
        <p:txBody>
          <a:bodyPr vert="horz" wrap="square" lIns="0" tIns="0" rIns="0" bIns="0" rtlCol="0" anchor="t">
            <a:noAutofit/>
          </a:bodyPr>
          <a:lstStyle/>
          <a:p>
            <a:pPr algn="ctr"/>
            <a:r>
              <a:rPr lang="es-BO" sz="700">
                <a:solidFill>
                  <a:srgbClr val="1C1813"/>
                </a:solidFill>
                <a:latin typeface="Segoe UI Semibold" panose="020B0702040204020203" pitchFamily="34" charset="0"/>
              </a:rPr>
              <a:t>15,1</a:t>
            </a:r>
          </a:p>
        </p:txBody>
      </p:sp>
      <p:sp>
        <p:nvSpPr>
          <p:cNvPr id="33" name="Rectángulo 32">
            <a:extLst>
              <a:ext uri="{FF2B5EF4-FFF2-40B4-BE49-F238E27FC236}">
                <a16:creationId xmlns:a16="http://schemas.microsoft.com/office/drawing/2014/main" id="{B1B1A339-B5E8-AD5A-8BFF-9E02BB0F7651}"/>
              </a:ext>
            </a:extLst>
          </p:cNvPr>
          <p:cNvSpPr/>
          <p:nvPr/>
        </p:nvSpPr>
        <p:spPr>
          <a:xfrm>
            <a:off x="9512300" y="3672840"/>
            <a:ext cx="787400" cy="365760"/>
          </a:xfrm>
          <a:prstGeom prst="rect">
            <a:avLst/>
          </a:prstGeom>
          <a:solidFill>
            <a:srgbClr val="5A52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4" name="CuadroTexto 33">
            <a:extLst>
              <a:ext uri="{FF2B5EF4-FFF2-40B4-BE49-F238E27FC236}">
                <a16:creationId xmlns:a16="http://schemas.microsoft.com/office/drawing/2014/main" id="{9A7C9925-DB93-3D9D-80E7-0570AAE817B8}"/>
              </a:ext>
            </a:extLst>
          </p:cNvPr>
          <p:cNvSpPr txBox="1"/>
          <p:nvPr/>
        </p:nvSpPr>
        <p:spPr>
          <a:xfrm>
            <a:off x="9512300" y="3520440"/>
            <a:ext cx="787400" cy="152400"/>
          </a:xfrm>
          <a:prstGeom prst="rect">
            <a:avLst/>
          </a:prstGeom>
          <a:noFill/>
        </p:spPr>
        <p:txBody>
          <a:bodyPr vert="horz" wrap="square" lIns="0" tIns="0" rIns="0" bIns="0" rtlCol="0" anchor="t">
            <a:noAutofit/>
          </a:bodyPr>
          <a:lstStyle/>
          <a:p>
            <a:pPr algn="ctr"/>
            <a:r>
              <a:rPr lang="es-BO" sz="700">
                <a:solidFill>
                  <a:srgbClr val="1C1813"/>
                </a:solidFill>
                <a:latin typeface="Segoe UI Semibold" panose="020B0702040204020203" pitchFamily="34" charset="0"/>
              </a:rPr>
              <a:t>17,2</a:t>
            </a:r>
          </a:p>
        </p:txBody>
      </p:sp>
      <p:sp>
        <p:nvSpPr>
          <p:cNvPr id="35" name="Rectángulo 34">
            <a:extLst>
              <a:ext uri="{FF2B5EF4-FFF2-40B4-BE49-F238E27FC236}">
                <a16:creationId xmlns:a16="http://schemas.microsoft.com/office/drawing/2014/main" id="{1D044F5A-B87A-9BC1-00F8-CEF67A5CD5C1}"/>
              </a:ext>
            </a:extLst>
          </p:cNvPr>
          <p:cNvSpPr/>
          <p:nvPr/>
        </p:nvSpPr>
        <p:spPr>
          <a:xfrm>
            <a:off x="10414000" y="3701288"/>
            <a:ext cx="787400" cy="337312"/>
          </a:xfrm>
          <a:prstGeom prst="rect">
            <a:avLst/>
          </a:prstGeom>
          <a:solidFill>
            <a:srgbClr val="5A52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CuadroTexto 35">
            <a:extLst>
              <a:ext uri="{FF2B5EF4-FFF2-40B4-BE49-F238E27FC236}">
                <a16:creationId xmlns:a16="http://schemas.microsoft.com/office/drawing/2014/main" id="{806047C3-DC2F-63CE-B9F3-062B2DBF38FB}"/>
              </a:ext>
            </a:extLst>
          </p:cNvPr>
          <p:cNvSpPr txBox="1"/>
          <p:nvPr/>
        </p:nvSpPr>
        <p:spPr>
          <a:xfrm>
            <a:off x="10414000" y="3548888"/>
            <a:ext cx="787400" cy="152400"/>
          </a:xfrm>
          <a:prstGeom prst="rect">
            <a:avLst/>
          </a:prstGeom>
          <a:noFill/>
        </p:spPr>
        <p:txBody>
          <a:bodyPr vert="horz" wrap="square" lIns="0" tIns="0" rIns="0" bIns="0" rtlCol="0" anchor="t">
            <a:noAutofit/>
          </a:bodyPr>
          <a:lstStyle/>
          <a:p>
            <a:pPr algn="ctr"/>
            <a:r>
              <a:rPr lang="es-BO" sz="700">
                <a:solidFill>
                  <a:srgbClr val="1C1813"/>
                </a:solidFill>
                <a:latin typeface="Segoe UI Semibold" panose="020B0702040204020203" pitchFamily="34" charset="0"/>
              </a:rPr>
              <a:t>16,3</a:t>
            </a:r>
          </a:p>
        </p:txBody>
      </p:sp>
      <p:cxnSp>
        <p:nvCxnSpPr>
          <p:cNvPr id="37" name="Conector recto 36">
            <a:extLst>
              <a:ext uri="{FF2B5EF4-FFF2-40B4-BE49-F238E27FC236}">
                <a16:creationId xmlns:a16="http://schemas.microsoft.com/office/drawing/2014/main" id="{E1DB3FBB-19A1-D08E-A006-644BEE1E3629}"/>
              </a:ext>
            </a:extLst>
          </p:cNvPr>
          <p:cNvCxnSpPr/>
          <p:nvPr/>
        </p:nvCxnSpPr>
        <p:spPr>
          <a:xfrm>
            <a:off x="8509000" y="4038600"/>
            <a:ext cx="2794000" cy="0"/>
          </a:xfrm>
          <a:prstGeom prst="line">
            <a:avLst/>
          </a:prstGeom>
          <a:ln w="10160">
            <a:solidFill>
              <a:srgbClr val="5A5248"/>
            </a:solidFill>
            <a:prstDash val="solid"/>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79FC094F-B667-7F83-A9CD-379B08E0BE75}"/>
              </a:ext>
            </a:extLst>
          </p:cNvPr>
          <p:cNvSpPr txBox="1"/>
          <p:nvPr/>
        </p:nvSpPr>
        <p:spPr>
          <a:xfrm>
            <a:off x="8432800" y="4076700"/>
            <a:ext cx="2946400" cy="381000"/>
          </a:xfrm>
          <a:prstGeom prst="rect">
            <a:avLst/>
          </a:prstGeom>
          <a:noFill/>
        </p:spPr>
        <p:txBody>
          <a:bodyPr vert="horz" wrap="square" lIns="0" tIns="0" rIns="0" bIns="0" rtlCol="0" anchor="t">
            <a:noAutofit/>
          </a:bodyPr>
          <a:lstStyle/>
          <a:p>
            <a:pPr algn="ctr"/>
            <a:r>
              <a:rPr lang="es-BO" sz="650">
                <a:solidFill>
                  <a:srgbClr val="5A5248"/>
                </a:solidFill>
                <a:latin typeface="Segoe UI" panose="020B0502040204020203" pitchFamily="34" charset="0"/>
              </a:rPr>
              <a:t>media bruta 16,2 MPa</a:t>
            </a:r>
          </a:p>
        </p:txBody>
      </p:sp>
      <p:sp>
        <p:nvSpPr>
          <p:cNvPr id="40" name="CuadroTexto 39">
            <a:extLst>
              <a:ext uri="{FF2B5EF4-FFF2-40B4-BE49-F238E27FC236}">
                <a16:creationId xmlns:a16="http://schemas.microsoft.com/office/drawing/2014/main" id="{817BFC17-8FE2-1104-374B-1D7EBCB1B460}"/>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1" name="CuadroTexto 40">
            <a:extLst>
              <a:ext uri="{FF2B5EF4-FFF2-40B4-BE49-F238E27FC236}">
                <a16:creationId xmlns:a16="http://schemas.microsoft.com/office/drawing/2014/main" id="{8E69F340-A047-DB11-8E0E-E64B80D7DF46}"/>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Es el valor que el laboratorio entrega y el que figura en su acta.</a:t>
            </a:r>
            <a:endParaRPr lang="es-BO" sz="1050">
              <a:solidFill>
                <a:srgbClr val="5A5248"/>
              </a:solidFill>
              <a:latin typeface="Segoe UI" panose="020B0502040204020203" pitchFamily="34" charset="0"/>
            </a:endParaRPr>
          </a:p>
        </p:txBody>
      </p:sp>
      <p:sp>
        <p:nvSpPr>
          <p:cNvPr id="42" name="Resultado_1">
            <a:extLst>
              <a:ext uri="{FF2B5EF4-FFF2-40B4-BE49-F238E27FC236}">
                <a16:creationId xmlns:a16="http://schemas.microsoft.com/office/drawing/2014/main" id="{BAC00DCC-7D81-6FD6-F338-170BE67E7514}"/>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600">
                <a:solidFill>
                  <a:srgbClr val="FFFFFF"/>
                </a:solidFill>
                <a:latin typeface="Bahnschrift SemiBold" panose="020B0502040204020203" pitchFamily="34" charset="0"/>
              </a:rPr>
              <a:t>f_bruta  =  16,2 MPa</a:t>
            </a:r>
          </a:p>
        </p:txBody>
      </p:sp>
      <p:sp>
        <p:nvSpPr>
          <p:cNvPr id="43" name="CuadroTexto 42">
            <a:extLst>
              <a:ext uri="{FF2B5EF4-FFF2-40B4-BE49-F238E27FC236}">
                <a16:creationId xmlns:a16="http://schemas.microsoft.com/office/drawing/2014/main" id="{8EAB068B-6E7F-B7F1-2FBC-067C8E13A1C3}"/>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BO" sz="700">
                <a:solidFill>
                  <a:srgbClr val="938A7C"/>
                </a:solidFill>
                <a:latin typeface="Segoe UI" panose="020B0502040204020203" pitchFamily="34" charset="0"/>
              </a:rPr>
              <a:t>Fuente: ASTM C42; ACI 318-19 §26.12.4 sobre número de testigos.</a:t>
            </a:r>
          </a:p>
        </p:txBody>
      </p:sp>
      <p:cxnSp>
        <p:nvCxnSpPr>
          <p:cNvPr id="44" name="Conector recto 43">
            <a:extLst>
              <a:ext uri="{FF2B5EF4-FFF2-40B4-BE49-F238E27FC236}">
                <a16:creationId xmlns:a16="http://schemas.microsoft.com/office/drawing/2014/main" id="{614DFB71-F7DC-4A22-5941-B0202723B595}"/>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AB46BE69-D52A-63A2-8331-041F083FAC44}"/>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6" name="CuadroTexto 45">
            <a:extLst>
              <a:ext uri="{FF2B5EF4-FFF2-40B4-BE49-F238E27FC236}">
                <a16:creationId xmlns:a16="http://schemas.microsoft.com/office/drawing/2014/main" id="{2FD98E80-0616-C7CD-0483-C98E47EBE1E7}"/>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47" name="PageNo">
            <a:extLst>
              <a:ext uri="{FF2B5EF4-FFF2-40B4-BE49-F238E27FC236}">
                <a16:creationId xmlns:a16="http://schemas.microsoft.com/office/drawing/2014/main" id="{EACA6967-F344-9E70-AE2F-1CFC5BC7253C}"/>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30 / 39</a:t>
            </a:r>
          </a:p>
        </p:txBody>
      </p:sp>
    </p:spTree>
    <p:custDataLst>
      <p:tags r:id="rId1"/>
    </p:custDataLst>
    <p:extLst>
      <p:ext uri="{BB962C8B-B14F-4D97-AF65-F5344CB8AC3E}">
        <p14:creationId xmlns:p14="http://schemas.microsoft.com/office/powerpoint/2010/main" val="264501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006CD6C-C5C7-D89B-1DE5-6BA3B118CC84}"/>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PASO 2 DE 6</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FE466770-8FDB-5227-A87F-E051E77F4AF7}"/>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comparación que el informe preliminar planteó mal</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BA22FC7B-EB4D-F397-3708-3F2EF0111F82}"/>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DE1691C1-25CC-1B21-DA56-1626831E5EA9}"/>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¿Por qué está mal comparar ese valor con la resistencia de proyecto? Aquí nace el error.</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164208A1-3BFC-0DBD-3A79-A07218B4D0D3}"/>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f_bruta  /  f′c          ←  comparación sin respaldo normativo</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6F2F30E0-C31A-A6DC-AF03-7F7894B60C7B}"/>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EA064CCC-717D-3A32-1FB0-206B46B44F43}"/>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Este paso se documenta para dejar constancia del error, no para usarlo. f′c es un valor característico de probeta curada en laboratorio; la resistencia bruta de un testigo extraído es otra magnitud y otra población.</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E62941F7-4E06-5FE7-D8E9-A68C2DA27AF6}"/>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81E232B8-924A-11E7-4297-3EDDDD360A2C}"/>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f′c = 21 MPa</a:t>
            </a:r>
          </a:p>
        </p:txBody>
      </p:sp>
      <p:sp>
        <p:nvSpPr>
          <p:cNvPr id="14" name="CuadroTexto 13">
            <a:extLst>
              <a:ext uri="{FF2B5EF4-FFF2-40B4-BE49-F238E27FC236}">
                <a16:creationId xmlns:a16="http://schemas.microsoft.com/office/drawing/2014/main" id="{CB28A5F8-DC66-8917-B5CD-C99E93E9479E}"/>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Resistencia especificada del H-21 en la memoria de 1998.</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E5704953-BA9C-C69C-98A2-0FCDAC3E75DE}"/>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f_bruta = 16,2 MPa</a:t>
            </a:r>
          </a:p>
        </p:txBody>
      </p:sp>
      <p:sp>
        <p:nvSpPr>
          <p:cNvPr id="17" name="CuadroTexto 16">
            <a:extLst>
              <a:ext uri="{FF2B5EF4-FFF2-40B4-BE49-F238E27FC236}">
                <a16:creationId xmlns:a16="http://schemas.microsoft.com/office/drawing/2014/main" id="{1DBCF832-EC2C-2A7E-84C8-4B8529DF7AEA}"/>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Del paso 1, sin corregir.</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0D8E35C2-1486-0948-80A3-7E3A7E0DDD23}"/>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Dónde falla</a:t>
            </a:r>
          </a:p>
        </p:txBody>
      </p:sp>
      <p:sp>
        <p:nvSpPr>
          <p:cNvPr id="20" name="CuadroTexto 19">
            <a:extLst>
              <a:ext uri="{FF2B5EF4-FFF2-40B4-BE49-F238E27FC236}">
                <a16:creationId xmlns:a16="http://schemas.microsoft.com/office/drawing/2014/main" id="{2BA0CBF8-1E64-68B6-A53D-209E8F4DC9EE}"/>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Compara probeta de molde con testigo extraído, saturado y de otra esbeltez.</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BEDD446C-0FBC-A52F-16B9-03727ED1CB40}"/>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5B5E759E-3B90-52CC-73F9-1C248321F442}"/>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98C3BE23-FA52-C452-BD7F-C996B7D6FC03}"/>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16,2 / 21  =  0,771</a:t>
            </a:r>
          </a:p>
        </p:txBody>
      </p:sp>
      <p:sp>
        <p:nvSpPr>
          <p:cNvPr id="24" name="CuadroTexto 23">
            <a:extLst>
              <a:ext uri="{FF2B5EF4-FFF2-40B4-BE49-F238E27FC236}">
                <a16:creationId xmlns:a16="http://schemas.microsoft.com/office/drawing/2014/main" id="{0006E240-81A6-4C9D-8477-7B3BBFB77A31}"/>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  23 % por debajo</a:t>
            </a:r>
          </a:p>
        </p:txBody>
      </p:sp>
      <p:sp>
        <p:nvSpPr>
          <p:cNvPr id="25" name="CuadroTexto 24">
            <a:extLst>
              <a:ext uri="{FF2B5EF4-FFF2-40B4-BE49-F238E27FC236}">
                <a16:creationId xmlns:a16="http://schemas.microsoft.com/office/drawing/2014/main" id="{0CA29904-8B3A-9D08-74B2-318AB6CDFC3A}"/>
              </a:ext>
            </a:extLst>
          </p:cNvPr>
          <p:cNvSpPr txBox="1"/>
          <p:nvPr/>
        </p:nvSpPr>
        <p:spPr>
          <a:xfrm>
            <a:off x="4648200" y="37973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6" name="CuadroTexto 25">
            <a:extLst>
              <a:ext uri="{FF2B5EF4-FFF2-40B4-BE49-F238E27FC236}">
                <a16:creationId xmlns:a16="http://schemas.microsoft.com/office/drawing/2014/main" id="{7026ECF4-3C1D-7C3B-9818-E1C20033AAC5}"/>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conclusión del acta preliminar:</a:t>
            </a:r>
          </a:p>
        </p:txBody>
      </p:sp>
      <p:sp>
        <p:nvSpPr>
          <p:cNvPr id="27" name="CuadroTexto 26">
            <a:extLst>
              <a:ext uri="{FF2B5EF4-FFF2-40B4-BE49-F238E27FC236}">
                <a16:creationId xmlns:a16="http://schemas.microsoft.com/office/drawing/2014/main" id="{5CF012B7-1AE6-7BF2-D715-8B6A28E95F40}"/>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«el elemento no cumple»  —  es falsa</a:t>
            </a:r>
            <a:endParaRPr lang="es-BO" sz="1150">
              <a:solidFill>
                <a:srgbClr val="241F18"/>
              </a:solidFill>
              <a:latin typeface="Segoe UI" panose="020B0502040204020203" pitchFamily="34" charset="0"/>
            </a:endParaRPr>
          </a:p>
        </p:txBody>
      </p:sp>
      <p:sp>
        <p:nvSpPr>
          <p:cNvPr id="28" name="Rectángulo 27">
            <a:extLst>
              <a:ext uri="{FF2B5EF4-FFF2-40B4-BE49-F238E27FC236}">
                <a16:creationId xmlns:a16="http://schemas.microsoft.com/office/drawing/2014/main" id="{F51FFE01-3E57-C9A9-C2F1-3322BF7F32BF}"/>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FB782D0D-EB5A-72F6-E7D4-A6F4F8853349}"/>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LA COMPARACIÓN QUE ESTÁ MAL HECHA</a:t>
            </a:r>
            <a:endParaRPr lang="es-BO" sz="750" spc="160">
              <a:solidFill>
                <a:srgbClr val="6A4F20"/>
              </a:solidFill>
              <a:latin typeface="Segoe UI Semibold" panose="020B0702040204020203" pitchFamily="34" charset="0"/>
            </a:endParaRPr>
          </a:p>
        </p:txBody>
      </p:sp>
      <p:sp>
        <p:nvSpPr>
          <p:cNvPr id="31" name="Rectángulo 30">
            <a:extLst>
              <a:ext uri="{FF2B5EF4-FFF2-40B4-BE49-F238E27FC236}">
                <a16:creationId xmlns:a16="http://schemas.microsoft.com/office/drawing/2014/main" id="{802C7B16-906C-8CA5-A885-E28B402B0F08}"/>
              </a:ext>
            </a:extLst>
          </p:cNvPr>
          <p:cNvSpPr/>
          <p:nvPr/>
        </p:nvSpPr>
        <p:spPr>
          <a:xfrm>
            <a:off x="9144000" y="34290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Rectángulo 31">
            <a:extLst>
              <a:ext uri="{FF2B5EF4-FFF2-40B4-BE49-F238E27FC236}">
                <a16:creationId xmlns:a16="http://schemas.microsoft.com/office/drawing/2014/main" id="{886085F6-0C54-D759-EDA2-C369BE1CE5F1}"/>
              </a:ext>
            </a:extLst>
          </p:cNvPr>
          <p:cNvSpPr/>
          <p:nvPr/>
        </p:nvSpPr>
        <p:spPr>
          <a:xfrm>
            <a:off x="9144000" y="3429000"/>
            <a:ext cx="2159000" cy="1905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759B0B6B-0E7D-3B24-18EB-942EA093F7C0}"/>
              </a:ext>
            </a:extLst>
          </p:cNvPr>
          <p:cNvSpPr txBox="1"/>
          <p:nvPr/>
        </p:nvSpPr>
        <p:spPr>
          <a:xfrm>
            <a:off x="8356600" y="34290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f′c proyecto</a:t>
            </a:r>
          </a:p>
        </p:txBody>
      </p:sp>
      <p:sp>
        <p:nvSpPr>
          <p:cNvPr id="34" name="CuadroTexto 33">
            <a:extLst>
              <a:ext uri="{FF2B5EF4-FFF2-40B4-BE49-F238E27FC236}">
                <a16:creationId xmlns:a16="http://schemas.microsoft.com/office/drawing/2014/main" id="{E6204FE1-80D4-0FCC-B390-6D7C6CC39942}"/>
              </a:ext>
            </a:extLst>
          </p:cNvPr>
          <p:cNvSpPr txBox="1"/>
          <p:nvPr/>
        </p:nvSpPr>
        <p:spPr>
          <a:xfrm>
            <a:off x="9194800" y="34290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21,0 MPa</a:t>
            </a:r>
          </a:p>
        </p:txBody>
      </p:sp>
      <p:sp>
        <p:nvSpPr>
          <p:cNvPr id="35" name="Rectángulo 34">
            <a:extLst>
              <a:ext uri="{FF2B5EF4-FFF2-40B4-BE49-F238E27FC236}">
                <a16:creationId xmlns:a16="http://schemas.microsoft.com/office/drawing/2014/main" id="{782D56FA-27C3-D3BD-446F-CE39502C84F9}"/>
              </a:ext>
            </a:extLst>
          </p:cNvPr>
          <p:cNvSpPr/>
          <p:nvPr/>
        </p:nvSpPr>
        <p:spPr>
          <a:xfrm>
            <a:off x="9144000" y="37084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Rectángulo 35">
            <a:extLst>
              <a:ext uri="{FF2B5EF4-FFF2-40B4-BE49-F238E27FC236}">
                <a16:creationId xmlns:a16="http://schemas.microsoft.com/office/drawing/2014/main" id="{CFFEECE3-95B1-1915-11EA-47DB91778C36}"/>
              </a:ext>
            </a:extLst>
          </p:cNvPr>
          <p:cNvSpPr/>
          <p:nvPr/>
        </p:nvSpPr>
        <p:spPr>
          <a:xfrm>
            <a:off x="9144000" y="3708400"/>
            <a:ext cx="1662430" cy="1905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552CDC08-579E-FA8A-A843-960D45D45241}"/>
              </a:ext>
            </a:extLst>
          </p:cNvPr>
          <p:cNvSpPr txBox="1"/>
          <p:nvPr/>
        </p:nvSpPr>
        <p:spPr>
          <a:xfrm>
            <a:off x="8356600" y="37084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media bruta</a:t>
            </a:r>
          </a:p>
        </p:txBody>
      </p:sp>
      <p:sp>
        <p:nvSpPr>
          <p:cNvPr id="38" name="CuadroTexto 37">
            <a:extLst>
              <a:ext uri="{FF2B5EF4-FFF2-40B4-BE49-F238E27FC236}">
                <a16:creationId xmlns:a16="http://schemas.microsoft.com/office/drawing/2014/main" id="{97FC2C74-B9A3-AC00-B498-251DBBF4D818}"/>
              </a:ext>
            </a:extLst>
          </p:cNvPr>
          <p:cNvSpPr txBox="1"/>
          <p:nvPr/>
        </p:nvSpPr>
        <p:spPr>
          <a:xfrm>
            <a:off x="9194800" y="37084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16,2 MPa  ·  23 % menos</a:t>
            </a:r>
          </a:p>
        </p:txBody>
      </p:sp>
      <p:sp>
        <p:nvSpPr>
          <p:cNvPr id="40" name="CuadroTexto 39">
            <a:extLst>
              <a:ext uri="{FF2B5EF4-FFF2-40B4-BE49-F238E27FC236}">
                <a16:creationId xmlns:a16="http://schemas.microsoft.com/office/drawing/2014/main" id="{48EC05DA-4637-BC09-6D59-4BCA3A464C5C}"/>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1" name="CuadroTexto 40">
            <a:extLst>
              <a:ext uri="{FF2B5EF4-FFF2-40B4-BE49-F238E27FC236}">
                <a16:creationId xmlns:a16="http://schemas.microsoft.com/office/drawing/2014/main" id="{AD5DD9B5-8B6C-5628-C66D-6932204A118B}"/>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El acta comparó magnitudes de poblaciones distintas. No hay artículo de norma que respalde esa comparación.</a:t>
            </a:r>
            <a:endParaRPr lang="es-BO" sz="1050">
              <a:solidFill>
                <a:srgbClr val="5A5248"/>
              </a:solidFill>
              <a:latin typeface="Segoe UI" panose="020B0502040204020203" pitchFamily="34" charset="0"/>
            </a:endParaRPr>
          </a:p>
        </p:txBody>
      </p:sp>
      <p:sp>
        <p:nvSpPr>
          <p:cNvPr id="42" name="Resultado_1">
            <a:extLst>
              <a:ext uri="{FF2B5EF4-FFF2-40B4-BE49-F238E27FC236}">
                <a16:creationId xmlns:a16="http://schemas.microsoft.com/office/drawing/2014/main" id="{2F8B25F4-FB3D-DFB8-D8AC-2D670FCDDE29}"/>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600">
                <a:solidFill>
                  <a:srgbClr val="FFFFFF"/>
                </a:solidFill>
                <a:latin typeface="Bahnschrift SemiBold" panose="020B0502040204020203" pitchFamily="34" charset="0"/>
              </a:rPr>
              <a:t>De aquí salió el 23 % y la conclusión errónea</a:t>
            </a:r>
            <a:endParaRPr lang="es-BO" sz="1600">
              <a:solidFill>
                <a:srgbClr val="FFFFFF"/>
              </a:solidFill>
              <a:latin typeface="Bahnschrift SemiBold" panose="020B0502040204020203" pitchFamily="34" charset="0"/>
            </a:endParaRPr>
          </a:p>
        </p:txBody>
      </p:sp>
      <p:sp>
        <p:nvSpPr>
          <p:cNvPr id="43" name="CuadroTexto 42">
            <a:extLst>
              <a:ext uri="{FF2B5EF4-FFF2-40B4-BE49-F238E27FC236}">
                <a16:creationId xmlns:a16="http://schemas.microsoft.com/office/drawing/2014/main" id="{972DF93D-406A-12C2-DD83-C9E037A2146A}"/>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214.4R §1, sobre qué representa la resistencia de un testigo.</a:t>
            </a:r>
            <a:endParaRPr lang="es-BO" sz="700">
              <a:solidFill>
                <a:srgbClr val="938A7C"/>
              </a:solidFill>
              <a:latin typeface="Segoe UI" panose="020B0502040204020203" pitchFamily="34" charset="0"/>
            </a:endParaRPr>
          </a:p>
        </p:txBody>
      </p:sp>
      <p:cxnSp>
        <p:nvCxnSpPr>
          <p:cNvPr id="44" name="Conector recto 43">
            <a:extLst>
              <a:ext uri="{FF2B5EF4-FFF2-40B4-BE49-F238E27FC236}">
                <a16:creationId xmlns:a16="http://schemas.microsoft.com/office/drawing/2014/main" id="{D56C8ECE-BDDD-9344-5D9D-FFAAFFB21D8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A15AB386-A6F8-10F9-18C6-332895E4E11F}"/>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6" name="CuadroTexto 45">
            <a:extLst>
              <a:ext uri="{FF2B5EF4-FFF2-40B4-BE49-F238E27FC236}">
                <a16:creationId xmlns:a16="http://schemas.microsoft.com/office/drawing/2014/main" id="{A8F3429D-81FC-EAC2-85BD-DD6FE001ACE4}"/>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47" name="PageNo">
            <a:extLst>
              <a:ext uri="{FF2B5EF4-FFF2-40B4-BE49-F238E27FC236}">
                <a16:creationId xmlns:a16="http://schemas.microsoft.com/office/drawing/2014/main" id="{768BF046-3016-7D3D-D9C2-FF86BD0D4C7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31 / 39</a:t>
            </a:r>
          </a:p>
        </p:txBody>
      </p:sp>
    </p:spTree>
    <p:custDataLst>
      <p:tags r:id="rId1"/>
    </p:custDataLst>
    <p:extLst>
      <p:ext uri="{BB962C8B-B14F-4D97-AF65-F5344CB8AC3E}">
        <p14:creationId xmlns:p14="http://schemas.microsoft.com/office/powerpoint/2010/main" val="366319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2954FAD-CA5F-A851-A971-5600BE82966E}"/>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PASO 3 DE 6</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74A71919-BFA8-376C-3B32-137DCF7BBE5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Los cuatro factores de corrección de ACI 214.4R</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03E5F9E1-6687-8604-7BA6-58873D467E89}"/>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476F7AF6-8D7C-386B-F191-615FE03583BE}"/>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¿Cuánto hay que corregir? Un factor por cada diferencia con la probeta normalizada.</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4565FCA2-EFA4-E984-4387-4D1915D4E993}"/>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700">
                <a:solidFill>
                  <a:srgbClr val="FFFFFF"/>
                </a:solidFill>
                <a:latin typeface="Bahnschrift SemiBold" panose="020B0502040204020203" pitchFamily="34" charset="0"/>
              </a:rPr>
              <a:t>F  =  F_l/d  ·  F_Ø  ·  F_humedad  ·  F_daño</a:t>
            </a:r>
          </a:p>
        </p:txBody>
      </p:sp>
      <p:sp>
        <p:nvSpPr>
          <p:cNvPr id="9" name="CuadroTexto 8">
            <a:extLst>
              <a:ext uri="{FF2B5EF4-FFF2-40B4-BE49-F238E27FC236}">
                <a16:creationId xmlns:a16="http://schemas.microsoft.com/office/drawing/2014/main" id="{179EC6F2-4588-A5EB-2A44-EEF8686F8013}"/>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4046E23D-EC46-997F-A6A0-6051B5C6E5A9}"/>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ACI 214.4R tabula un factor por cada diferencia entre el testigo ensayado y la probeta normalizada de referencia. Son multiplicativos y cada uno corrige una causa física distinta.</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CD5DD73D-FC64-1068-FACD-AE582F3D2A8C}"/>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91D60304-24F8-A5DE-202C-B6129BD188B2}"/>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F_l/d = 0,96</a:t>
            </a:r>
          </a:p>
        </p:txBody>
      </p:sp>
      <p:sp>
        <p:nvSpPr>
          <p:cNvPr id="14" name="CuadroTexto 13">
            <a:extLst>
              <a:ext uri="{FF2B5EF4-FFF2-40B4-BE49-F238E27FC236}">
                <a16:creationId xmlns:a16="http://schemas.microsoft.com/office/drawing/2014/main" id="{CADBFBDD-32D8-3FCD-4DE0-006D9803FA56}"/>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BO" sz="850">
                <a:solidFill>
                  <a:srgbClr val="5A5248"/>
                </a:solidFill>
                <a:latin typeface="Segoe UI" panose="020B0502040204020203" pitchFamily="34" charset="0"/>
              </a:rPr>
              <a:t>Esbeltez 1,50 frente a 2,00 de referencia.</a:t>
            </a:r>
          </a:p>
        </p:txBody>
      </p:sp>
      <p:sp>
        <p:nvSpPr>
          <p:cNvPr id="16" name="CuadroTexto 15">
            <a:extLst>
              <a:ext uri="{FF2B5EF4-FFF2-40B4-BE49-F238E27FC236}">
                <a16:creationId xmlns:a16="http://schemas.microsoft.com/office/drawing/2014/main" id="{49473A19-D7B6-6F58-CBF0-E39B520C69E0}"/>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F_Ø = 1,03</a:t>
            </a:r>
          </a:p>
        </p:txBody>
      </p:sp>
      <p:sp>
        <p:nvSpPr>
          <p:cNvPr id="17" name="CuadroTexto 16">
            <a:extLst>
              <a:ext uri="{FF2B5EF4-FFF2-40B4-BE49-F238E27FC236}">
                <a16:creationId xmlns:a16="http://schemas.microsoft.com/office/drawing/2014/main" id="{0E1522CD-2A49-C206-FA0E-5C58ED948B4D}"/>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pt-BR" sz="850">
                <a:solidFill>
                  <a:srgbClr val="5A5248"/>
                </a:solidFill>
                <a:latin typeface="Segoe UI" panose="020B0502040204020203" pitchFamily="34" charset="0"/>
              </a:rPr>
              <a:t>Diámetro 75 mm frente a 150.</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9D756827-B367-FBF6-E78F-37EA577BCA77}"/>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pt-BR" sz="1000">
                <a:solidFill>
                  <a:srgbClr val="1C1813"/>
                </a:solidFill>
                <a:latin typeface="Segoe UI Semibold" panose="020B0702040204020203" pitchFamily="34" charset="0"/>
              </a:rPr>
              <a:t>F_h = 1,09  ·  F_d = 1,06</a:t>
            </a:r>
            <a:endParaRPr lang="es-BO" sz="1000">
              <a:solidFill>
                <a:srgbClr val="1C1813"/>
              </a:solidFill>
              <a:latin typeface="Segoe UI Semibold" panose="020B0702040204020203" pitchFamily="34" charset="0"/>
            </a:endParaRPr>
          </a:p>
        </p:txBody>
      </p:sp>
      <p:sp>
        <p:nvSpPr>
          <p:cNvPr id="20" name="CuadroTexto 19">
            <a:extLst>
              <a:ext uri="{FF2B5EF4-FFF2-40B4-BE49-F238E27FC236}">
                <a16:creationId xmlns:a16="http://schemas.microsoft.com/office/drawing/2014/main" id="{D2663546-D556-F39F-F276-78B8573B81F6}"/>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Saturado 48 h antes de romper, y daño por el corte de la corona.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04E12068-8566-229D-AC4E-0D9ED87E193A}"/>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EA1A62DF-FABF-586B-3455-CDE2FA99266A}"/>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99CEFB84-BBC0-6A25-44E0-CCE32E6FAC40}"/>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  =  0,96 × 1,03 × 1,09 × 1,06</a:t>
            </a:r>
          </a:p>
        </p:txBody>
      </p:sp>
      <p:sp>
        <p:nvSpPr>
          <p:cNvPr id="24" name="CuadroTexto 23">
            <a:extLst>
              <a:ext uri="{FF2B5EF4-FFF2-40B4-BE49-F238E27FC236}">
                <a16:creationId xmlns:a16="http://schemas.microsoft.com/office/drawing/2014/main" id="{98869221-12B7-D34B-9E64-6B74BA7BA521}"/>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0,96 × 1,03  =  0,9888</a:t>
            </a:r>
          </a:p>
        </p:txBody>
      </p:sp>
      <p:sp>
        <p:nvSpPr>
          <p:cNvPr id="25" name="CuadroTexto 24">
            <a:extLst>
              <a:ext uri="{FF2B5EF4-FFF2-40B4-BE49-F238E27FC236}">
                <a16:creationId xmlns:a16="http://schemas.microsoft.com/office/drawing/2014/main" id="{FD2C1930-99F5-6753-2364-21FF9E6DFEDA}"/>
              </a:ext>
            </a:extLst>
          </p:cNvPr>
          <p:cNvSpPr txBox="1"/>
          <p:nvPr/>
        </p:nvSpPr>
        <p:spPr>
          <a:xfrm>
            <a:off x="4648200" y="3797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0,9888 × 1,09  =  1,0778</a:t>
            </a:r>
          </a:p>
        </p:txBody>
      </p:sp>
      <p:sp>
        <p:nvSpPr>
          <p:cNvPr id="26" name="CuadroTexto 25">
            <a:extLst>
              <a:ext uri="{FF2B5EF4-FFF2-40B4-BE49-F238E27FC236}">
                <a16:creationId xmlns:a16="http://schemas.microsoft.com/office/drawing/2014/main" id="{EC826D3D-7891-B896-B256-89223E3B8EB1}"/>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1,0778 × 1,06  =  1,1425</a:t>
            </a:r>
          </a:p>
        </p:txBody>
      </p:sp>
      <p:sp>
        <p:nvSpPr>
          <p:cNvPr id="27" name="CuadroTexto 26">
            <a:extLst>
              <a:ext uri="{FF2B5EF4-FFF2-40B4-BE49-F238E27FC236}">
                <a16:creationId xmlns:a16="http://schemas.microsoft.com/office/drawing/2014/main" id="{ACD061F4-022B-F924-46CF-D16380BE9E9D}"/>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  =  1,1425    →    +14,25 %</a:t>
            </a:r>
          </a:p>
        </p:txBody>
      </p:sp>
      <p:sp>
        <p:nvSpPr>
          <p:cNvPr id="28" name="Rectángulo 27">
            <a:extLst>
              <a:ext uri="{FF2B5EF4-FFF2-40B4-BE49-F238E27FC236}">
                <a16:creationId xmlns:a16="http://schemas.microsoft.com/office/drawing/2014/main" id="{FC8FBDDE-DB29-38DC-0970-1D63AFF3797E}"/>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EEB5B5C4-C388-6D4F-40E1-9DEFF5D14C42}"/>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LOS CUATRO FACTORES DE ACI 214.4R</a:t>
            </a:r>
          </a:p>
        </p:txBody>
      </p:sp>
      <p:sp>
        <p:nvSpPr>
          <p:cNvPr id="31" name="Rectángulo 30">
            <a:extLst>
              <a:ext uri="{FF2B5EF4-FFF2-40B4-BE49-F238E27FC236}">
                <a16:creationId xmlns:a16="http://schemas.microsoft.com/office/drawing/2014/main" id="{7C63D694-377F-4184-EA63-36306E9E9617}"/>
              </a:ext>
            </a:extLst>
          </p:cNvPr>
          <p:cNvSpPr/>
          <p:nvPr/>
        </p:nvSpPr>
        <p:spPr>
          <a:xfrm>
            <a:off x="8407400" y="3454400"/>
            <a:ext cx="38100" cy="1778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CuadroTexto 31">
            <a:extLst>
              <a:ext uri="{FF2B5EF4-FFF2-40B4-BE49-F238E27FC236}">
                <a16:creationId xmlns:a16="http://schemas.microsoft.com/office/drawing/2014/main" id="{B844275C-2129-B3DE-4B36-89FEE933F213}"/>
              </a:ext>
            </a:extLst>
          </p:cNvPr>
          <p:cNvSpPr txBox="1"/>
          <p:nvPr/>
        </p:nvSpPr>
        <p:spPr>
          <a:xfrm>
            <a:off x="8509000" y="3454400"/>
            <a:ext cx="1879600" cy="165100"/>
          </a:xfrm>
          <a:prstGeom prst="rect">
            <a:avLst/>
          </a:prstGeom>
          <a:noFill/>
        </p:spPr>
        <p:txBody>
          <a:bodyPr vert="horz" wrap="square" lIns="0" tIns="0" rIns="0" bIns="0" rtlCol="0" anchor="t">
            <a:noAutofit/>
          </a:bodyPr>
          <a:lstStyle/>
          <a:p>
            <a:pPr algn="l"/>
            <a:r>
              <a:rPr lang="es-BO" sz="650">
                <a:solidFill>
                  <a:srgbClr val="1C1813"/>
                </a:solidFill>
                <a:latin typeface="Segoe UI" panose="020B0502040204020203" pitchFamily="34" charset="0"/>
              </a:rPr>
              <a:t>Esbeltez l/d = 1,50</a:t>
            </a:r>
          </a:p>
        </p:txBody>
      </p:sp>
      <p:sp>
        <p:nvSpPr>
          <p:cNvPr id="33" name="CuadroTexto 32">
            <a:extLst>
              <a:ext uri="{FF2B5EF4-FFF2-40B4-BE49-F238E27FC236}">
                <a16:creationId xmlns:a16="http://schemas.microsoft.com/office/drawing/2014/main" id="{E06EBA6C-C228-30D6-2CBC-56ADC3B0E306}"/>
              </a:ext>
            </a:extLst>
          </p:cNvPr>
          <p:cNvSpPr txBox="1"/>
          <p:nvPr/>
        </p:nvSpPr>
        <p:spPr>
          <a:xfrm>
            <a:off x="10414000" y="3454400"/>
            <a:ext cx="711200" cy="165100"/>
          </a:xfrm>
          <a:prstGeom prst="rect">
            <a:avLst/>
          </a:prstGeom>
          <a:noFill/>
        </p:spPr>
        <p:txBody>
          <a:bodyPr vert="horz" wrap="square" lIns="0" tIns="0" rIns="0" bIns="0" rtlCol="0" anchor="t">
            <a:noAutofit/>
          </a:bodyPr>
          <a:lstStyle/>
          <a:p>
            <a:r>
              <a:rPr lang="es-BO" sz="700">
                <a:solidFill>
                  <a:srgbClr val="4A5559"/>
                </a:solidFill>
                <a:latin typeface="Segoe UI Semibold" panose="020B0702040204020203" pitchFamily="34" charset="0"/>
              </a:rPr>
              <a:t>0,96</a:t>
            </a:r>
          </a:p>
        </p:txBody>
      </p:sp>
      <p:sp>
        <p:nvSpPr>
          <p:cNvPr id="34" name="Rectángulo 33">
            <a:extLst>
              <a:ext uri="{FF2B5EF4-FFF2-40B4-BE49-F238E27FC236}">
                <a16:creationId xmlns:a16="http://schemas.microsoft.com/office/drawing/2014/main" id="{685E04DC-1CC8-6759-11F9-D3B0C279D0F3}"/>
              </a:ext>
            </a:extLst>
          </p:cNvPr>
          <p:cNvSpPr/>
          <p:nvPr/>
        </p:nvSpPr>
        <p:spPr>
          <a:xfrm>
            <a:off x="8407400" y="3670300"/>
            <a:ext cx="38100" cy="1778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5" name="CuadroTexto 34">
            <a:extLst>
              <a:ext uri="{FF2B5EF4-FFF2-40B4-BE49-F238E27FC236}">
                <a16:creationId xmlns:a16="http://schemas.microsoft.com/office/drawing/2014/main" id="{837E45DE-128D-726A-1B3B-BBC7A2C897A9}"/>
              </a:ext>
            </a:extLst>
          </p:cNvPr>
          <p:cNvSpPr txBox="1"/>
          <p:nvPr/>
        </p:nvSpPr>
        <p:spPr>
          <a:xfrm>
            <a:off x="8509000" y="3670300"/>
            <a:ext cx="1879600" cy="165100"/>
          </a:xfrm>
          <a:prstGeom prst="rect">
            <a:avLst/>
          </a:prstGeom>
          <a:noFill/>
        </p:spPr>
        <p:txBody>
          <a:bodyPr vert="horz" wrap="square" lIns="0" tIns="0" rIns="0" bIns="0" rtlCol="0" anchor="t">
            <a:noAutofit/>
          </a:bodyPr>
          <a:lstStyle/>
          <a:p>
            <a:pPr algn="l"/>
            <a:r>
              <a:rPr lang="es-BO" sz="650">
                <a:solidFill>
                  <a:srgbClr val="1C1813"/>
                </a:solidFill>
                <a:latin typeface="Segoe UI" panose="020B0502040204020203" pitchFamily="34" charset="0"/>
              </a:rPr>
              <a:t>Diámetro 75 mm</a:t>
            </a:r>
          </a:p>
        </p:txBody>
      </p:sp>
      <p:sp>
        <p:nvSpPr>
          <p:cNvPr id="36" name="CuadroTexto 35">
            <a:extLst>
              <a:ext uri="{FF2B5EF4-FFF2-40B4-BE49-F238E27FC236}">
                <a16:creationId xmlns:a16="http://schemas.microsoft.com/office/drawing/2014/main" id="{92B73023-BE62-F429-E73D-BA111C984EAB}"/>
              </a:ext>
            </a:extLst>
          </p:cNvPr>
          <p:cNvSpPr txBox="1"/>
          <p:nvPr/>
        </p:nvSpPr>
        <p:spPr>
          <a:xfrm>
            <a:off x="10414000" y="3670300"/>
            <a:ext cx="711200" cy="165100"/>
          </a:xfrm>
          <a:prstGeom prst="rect">
            <a:avLst/>
          </a:prstGeom>
          <a:noFill/>
        </p:spPr>
        <p:txBody>
          <a:bodyPr vert="horz" wrap="square" lIns="0" tIns="0" rIns="0" bIns="0" rtlCol="0" anchor="t">
            <a:noAutofit/>
          </a:bodyPr>
          <a:lstStyle/>
          <a:p>
            <a:r>
              <a:rPr lang="es-BO" sz="700">
                <a:solidFill>
                  <a:srgbClr val="4A5559"/>
                </a:solidFill>
                <a:latin typeface="Segoe UI Semibold" panose="020B0702040204020203" pitchFamily="34" charset="0"/>
              </a:rPr>
              <a:t>1,03</a:t>
            </a:r>
          </a:p>
        </p:txBody>
      </p:sp>
      <p:sp>
        <p:nvSpPr>
          <p:cNvPr id="37" name="Rectángulo 36">
            <a:extLst>
              <a:ext uri="{FF2B5EF4-FFF2-40B4-BE49-F238E27FC236}">
                <a16:creationId xmlns:a16="http://schemas.microsoft.com/office/drawing/2014/main" id="{6D9C590C-364B-0126-DE85-FDBFD475C686}"/>
              </a:ext>
            </a:extLst>
          </p:cNvPr>
          <p:cNvSpPr/>
          <p:nvPr/>
        </p:nvSpPr>
        <p:spPr>
          <a:xfrm>
            <a:off x="8407400" y="3886200"/>
            <a:ext cx="38100" cy="177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8" name="CuadroTexto 37">
            <a:extLst>
              <a:ext uri="{FF2B5EF4-FFF2-40B4-BE49-F238E27FC236}">
                <a16:creationId xmlns:a16="http://schemas.microsoft.com/office/drawing/2014/main" id="{D6968DF7-74EC-179A-2198-DD4BEB942A9B}"/>
              </a:ext>
            </a:extLst>
          </p:cNvPr>
          <p:cNvSpPr txBox="1"/>
          <p:nvPr/>
        </p:nvSpPr>
        <p:spPr>
          <a:xfrm>
            <a:off x="8509000" y="3886200"/>
            <a:ext cx="1879600" cy="165100"/>
          </a:xfrm>
          <a:prstGeom prst="rect">
            <a:avLst/>
          </a:prstGeom>
          <a:noFill/>
        </p:spPr>
        <p:txBody>
          <a:bodyPr vert="horz" wrap="square" lIns="0" tIns="0" rIns="0" bIns="0" rtlCol="0" anchor="t">
            <a:noAutofit/>
          </a:bodyPr>
          <a:lstStyle/>
          <a:p>
            <a:pPr algn="l"/>
            <a:r>
              <a:rPr lang="es-BO" sz="650">
                <a:solidFill>
                  <a:srgbClr val="1C1813"/>
                </a:solidFill>
                <a:latin typeface="Segoe UI" panose="020B0502040204020203" pitchFamily="34" charset="0"/>
              </a:rPr>
              <a:t>Saturado 48 h</a:t>
            </a:r>
          </a:p>
        </p:txBody>
      </p:sp>
      <p:sp>
        <p:nvSpPr>
          <p:cNvPr id="39" name="CuadroTexto 38">
            <a:extLst>
              <a:ext uri="{FF2B5EF4-FFF2-40B4-BE49-F238E27FC236}">
                <a16:creationId xmlns:a16="http://schemas.microsoft.com/office/drawing/2014/main" id="{41A89D0D-2EBE-A711-2F75-EE68CFA6E795}"/>
              </a:ext>
            </a:extLst>
          </p:cNvPr>
          <p:cNvSpPr txBox="1"/>
          <p:nvPr/>
        </p:nvSpPr>
        <p:spPr>
          <a:xfrm>
            <a:off x="10414000" y="3886200"/>
            <a:ext cx="711200" cy="165100"/>
          </a:xfrm>
          <a:prstGeom prst="rect">
            <a:avLst/>
          </a:prstGeom>
          <a:noFill/>
        </p:spPr>
        <p:txBody>
          <a:bodyPr vert="horz" wrap="square" lIns="0" tIns="0" rIns="0" bIns="0" rtlCol="0" anchor="t">
            <a:noAutofit/>
          </a:bodyPr>
          <a:lstStyle/>
          <a:p>
            <a:r>
              <a:rPr lang="es-BO" sz="700">
                <a:solidFill>
                  <a:srgbClr val="8A6A2F"/>
                </a:solidFill>
                <a:latin typeface="Segoe UI Semibold" panose="020B0702040204020203" pitchFamily="34" charset="0"/>
              </a:rPr>
              <a:t>1,09</a:t>
            </a:r>
          </a:p>
        </p:txBody>
      </p:sp>
      <p:sp>
        <p:nvSpPr>
          <p:cNvPr id="40" name="Rectángulo 39">
            <a:extLst>
              <a:ext uri="{FF2B5EF4-FFF2-40B4-BE49-F238E27FC236}">
                <a16:creationId xmlns:a16="http://schemas.microsoft.com/office/drawing/2014/main" id="{9B435101-64D3-C3AA-5EEC-7B1CF48EE738}"/>
              </a:ext>
            </a:extLst>
          </p:cNvPr>
          <p:cNvSpPr/>
          <p:nvPr/>
        </p:nvSpPr>
        <p:spPr>
          <a:xfrm>
            <a:off x="8407400" y="4102100"/>
            <a:ext cx="38100" cy="177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1" name="CuadroTexto 40">
            <a:extLst>
              <a:ext uri="{FF2B5EF4-FFF2-40B4-BE49-F238E27FC236}">
                <a16:creationId xmlns:a16="http://schemas.microsoft.com/office/drawing/2014/main" id="{4F79B482-5898-28DE-61F4-207587CFC4E6}"/>
              </a:ext>
            </a:extLst>
          </p:cNvPr>
          <p:cNvSpPr txBox="1"/>
          <p:nvPr/>
        </p:nvSpPr>
        <p:spPr>
          <a:xfrm>
            <a:off x="8509000" y="4102100"/>
            <a:ext cx="1879600" cy="165100"/>
          </a:xfrm>
          <a:prstGeom prst="rect">
            <a:avLst/>
          </a:prstGeom>
          <a:noFill/>
        </p:spPr>
        <p:txBody>
          <a:bodyPr vert="horz" wrap="square" lIns="0" tIns="0" rIns="0" bIns="0" rtlCol="0" anchor="t">
            <a:noAutofit/>
          </a:bodyPr>
          <a:lstStyle/>
          <a:p>
            <a:pPr algn="l"/>
            <a:r>
              <a:rPr lang="es-BO" sz="650">
                <a:solidFill>
                  <a:srgbClr val="1C1813"/>
                </a:solidFill>
                <a:latin typeface="Segoe UI" panose="020B0502040204020203" pitchFamily="34" charset="0"/>
              </a:rPr>
              <a:t>Daño de extracción</a:t>
            </a:r>
          </a:p>
        </p:txBody>
      </p:sp>
      <p:sp>
        <p:nvSpPr>
          <p:cNvPr id="42" name="CuadroTexto 41">
            <a:extLst>
              <a:ext uri="{FF2B5EF4-FFF2-40B4-BE49-F238E27FC236}">
                <a16:creationId xmlns:a16="http://schemas.microsoft.com/office/drawing/2014/main" id="{2BB25A4F-CCE5-A6DA-78E0-A2167565ABEF}"/>
              </a:ext>
            </a:extLst>
          </p:cNvPr>
          <p:cNvSpPr txBox="1"/>
          <p:nvPr/>
        </p:nvSpPr>
        <p:spPr>
          <a:xfrm>
            <a:off x="10414000" y="4102100"/>
            <a:ext cx="711200" cy="165100"/>
          </a:xfrm>
          <a:prstGeom prst="rect">
            <a:avLst/>
          </a:prstGeom>
          <a:noFill/>
        </p:spPr>
        <p:txBody>
          <a:bodyPr vert="horz" wrap="square" lIns="0" tIns="0" rIns="0" bIns="0" rtlCol="0" anchor="t">
            <a:noAutofit/>
          </a:bodyPr>
          <a:lstStyle/>
          <a:p>
            <a:r>
              <a:rPr lang="es-BO" sz="700">
                <a:solidFill>
                  <a:srgbClr val="8A6A2F"/>
                </a:solidFill>
                <a:latin typeface="Segoe UI Semibold" panose="020B0702040204020203" pitchFamily="34" charset="0"/>
              </a:rPr>
              <a:t>1,06</a:t>
            </a:r>
          </a:p>
        </p:txBody>
      </p:sp>
      <p:sp>
        <p:nvSpPr>
          <p:cNvPr id="43" name="CuadroTexto 42">
            <a:extLst>
              <a:ext uri="{FF2B5EF4-FFF2-40B4-BE49-F238E27FC236}">
                <a16:creationId xmlns:a16="http://schemas.microsoft.com/office/drawing/2014/main" id="{46064DFB-78FA-6B0B-6453-401A2EF0B3D6}"/>
              </a:ext>
            </a:extLst>
          </p:cNvPr>
          <p:cNvSpPr txBox="1"/>
          <p:nvPr/>
        </p:nvSpPr>
        <p:spPr>
          <a:xfrm>
            <a:off x="8407400" y="4356100"/>
            <a:ext cx="2997200" cy="381000"/>
          </a:xfrm>
          <a:prstGeom prst="rect">
            <a:avLst/>
          </a:prstGeom>
          <a:noFill/>
        </p:spPr>
        <p:txBody>
          <a:bodyPr vert="horz" wrap="square" lIns="0" tIns="0" rIns="0" bIns="0" rtlCol="0" anchor="t">
            <a:noAutofit/>
          </a:bodyPr>
          <a:lstStyle/>
          <a:p>
            <a:pPr algn="ctr"/>
            <a:r>
              <a:rPr lang="es-BO" sz="700">
                <a:solidFill>
                  <a:srgbClr val="6A4F20"/>
                </a:solidFill>
                <a:latin typeface="Segoe UI" panose="020B0502040204020203" pitchFamily="34" charset="0"/>
              </a:rPr>
              <a:t>producto = 1,1425  ·  14 % más</a:t>
            </a:r>
          </a:p>
        </p:txBody>
      </p:sp>
      <p:sp>
        <p:nvSpPr>
          <p:cNvPr id="45" name="CuadroTexto 44">
            <a:extLst>
              <a:ext uri="{FF2B5EF4-FFF2-40B4-BE49-F238E27FC236}">
                <a16:creationId xmlns:a16="http://schemas.microsoft.com/office/drawing/2014/main" id="{AB22B1BC-126F-3FBF-B835-379F33C6317B}"/>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6" name="CuadroTexto 45">
            <a:extLst>
              <a:ext uri="{FF2B5EF4-FFF2-40B4-BE49-F238E27FC236}">
                <a16:creationId xmlns:a16="http://schemas.microsoft.com/office/drawing/2014/main" id="{98B27D74-8269-0228-9245-03382E5ECCB1}"/>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Catorce por ciento que no es un ajuste de conveniencia: cada factor está tabulado y </a:t>
            </a:r>
            <a:r>
              <a:rPr lang="es-MX" sz="1050" b="1">
                <a:solidFill>
                  <a:srgbClr val="5A5248"/>
                </a:solidFill>
                <a:latin typeface="Segoe UI Semibold" panose="020B0702040204020203" pitchFamily="34" charset="0"/>
              </a:rPr>
              <a:t>debe declararse en el informe junto con la condición que lo justifica.</a:t>
            </a:r>
            <a:endParaRPr lang="es-BO" sz="1050" b="1">
              <a:solidFill>
                <a:srgbClr val="5A5248"/>
              </a:solidFill>
              <a:latin typeface="Segoe UI Semibold" panose="020B0702040204020203" pitchFamily="34" charset="0"/>
            </a:endParaRPr>
          </a:p>
        </p:txBody>
      </p:sp>
      <p:sp>
        <p:nvSpPr>
          <p:cNvPr id="47" name="Resultado_1">
            <a:extLst>
              <a:ext uri="{FF2B5EF4-FFF2-40B4-BE49-F238E27FC236}">
                <a16:creationId xmlns:a16="http://schemas.microsoft.com/office/drawing/2014/main" id="{F74E4509-89F3-CA1C-E450-CB6B70F516F4}"/>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600">
                <a:solidFill>
                  <a:srgbClr val="FFFFFF"/>
                </a:solidFill>
                <a:latin typeface="Bahnschrift SemiBold" panose="020B0502040204020203" pitchFamily="34" charset="0"/>
              </a:rPr>
              <a:t>F  =  1,1425  ·  corrección al alza del 14 %</a:t>
            </a:r>
            <a:endParaRPr lang="es-BO" sz="1600">
              <a:solidFill>
                <a:srgbClr val="FFFFFF"/>
              </a:solidFill>
              <a:latin typeface="Bahnschrift SemiBold" panose="020B0502040204020203" pitchFamily="34" charset="0"/>
            </a:endParaRPr>
          </a:p>
        </p:txBody>
      </p:sp>
      <p:sp>
        <p:nvSpPr>
          <p:cNvPr id="48" name="CuadroTexto 47">
            <a:extLst>
              <a:ext uri="{FF2B5EF4-FFF2-40B4-BE49-F238E27FC236}">
                <a16:creationId xmlns:a16="http://schemas.microsoft.com/office/drawing/2014/main" id="{B49E5E48-E54A-13E0-0286-648354C3764E}"/>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214.4R, Guide for Obtaining Cores and Interpreting Compressive Strength Results.</a:t>
            </a:r>
            <a:endParaRPr lang="es-BO" sz="700">
              <a:solidFill>
                <a:srgbClr val="938A7C"/>
              </a:solidFill>
              <a:latin typeface="Segoe UI" panose="020B0502040204020203" pitchFamily="34" charset="0"/>
            </a:endParaRPr>
          </a:p>
        </p:txBody>
      </p:sp>
      <p:cxnSp>
        <p:nvCxnSpPr>
          <p:cNvPr id="49" name="Conector recto 48">
            <a:extLst>
              <a:ext uri="{FF2B5EF4-FFF2-40B4-BE49-F238E27FC236}">
                <a16:creationId xmlns:a16="http://schemas.microsoft.com/office/drawing/2014/main" id="{A7E092AA-9DE5-FB9F-3EF7-51772FE235DE}"/>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50" name="CuadroTexto 49">
            <a:extLst>
              <a:ext uri="{FF2B5EF4-FFF2-40B4-BE49-F238E27FC236}">
                <a16:creationId xmlns:a16="http://schemas.microsoft.com/office/drawing/2014/main" id="{B116E234-85CD-703B-932E-A037A2165883}"/>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51" name="CuadroTexto 50">
            <a:extLst>
              <a:ext uri="{FF2B5EF4-FFF2-40B4-BE49-F238E27FC236}">
                <a16:creationId xmlns:a16="http://schemas.microsoft.com/office/drawing/2014/main" id="{CF0FDE4C-247F-02E5-3133-70AC938B65AA}"/>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52" name="PageNo">
            <a:extLst>
              <a:ext uri="{FF2B5EF4-FFF2-40B4-BE49-F238E27FC236}">
                <a16:creationId xmlns:a16="http://schemas.microsoft.com/office/drawing/2014/main" id="{ABB6081B-9CA3-4F2C-6739-9BD9E54DBDF7}"/>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32 / 39</a:t>
            </a:r>
          </a:p>
        </p:txBody>
      </p:sp>
    </p:spTree>
    <p:custDataLst>
      <p:tags r:id="rId1"/>
    </p:custDataLst>
    <p:extLst>
      <p:ext uri="{BB962C8B-B14F-4D97-AF65-F5344CB8AC3E}">
        <p14:creationId xmlns:p14="http://schemas.microsoft.com/office/powerpoint/2010/main" val="68665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B8F024A-4EE7-D109-B045-CF8FCCE36F15}"/>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PASO 4 DE 6</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0E4F8882-23FF-3DAE-B6B4-14083A4EE640}"/>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BO" sz="2700">
                <a:solidFill>
                  <a:srgbClr val="1C1813"/>
                </a:solidFill>
                <a:latin typeface="Bahnschrift SemiBold" panose="020B0502040204020203" pitchFamily="34" charset="0"/>
              </a:rPr>
              <a:t>Resistencia in situ equivalente</a:t>
            </a:r>
          </a:p>
        </p:txBody>
      </p:sp>
      <p:cxnSp>
        <p:nvCxnSpPr>
          <p:cNvPr id="4" name="Conector recto 3">
            <a:extLst>
              <a:ext uri="{FF2B5EF4-FFF2-40B4-BE49-F238E27FC236}">
                <a16:creationId xmlns:a16="http://schemas.microsoft.com/office/drawing/2014/main" id="{C1F2D933-2094-A470-272B-112250C4F40F}"/>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223C1D22-DF52-5B8E-8A04-C4C77C9CD7A5}"/>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¿Cuál es entonces la resistencia que sí se puede comparar con la de proyecto?</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6B52EABC-F236-A70F-EB4B-573933EA5DA4}"/>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700">
                <a:solidFill>
                  <a:srgbClr val="FFFFFF"/>
                </a:solidFill>
                <a:latin typeface="Bahnschrift SemiBold" panose="020B0502040204020203" pitchFamily="34" charset="0"/>
              </a:rPr>
              <a:t>f_c,in situ  =  f_bruta  ·  F</a:t>
            </a:r>
          </a:p>
        </p:txBody>
      </p:sp>
      <p:sp>
        <p:nvSpPr>
          <p:cNvPr id="9" name="CuadroTexto 8">
            <a:extLst>
              <a:ext uri="{FF2B5EF4-FFF2-40B4-BE49-F238E27FC236}">
                <a16:creationId xmlns:a16="http://schemas.microsoft.com/office/drawing/2014/main" id="{FE6C1D6D-53F3-FF19-3C3E-71D6F018C97D}"/>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AB2D994A-0276-0470-E087-4003C745BBAF}"/>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Producto de la media bruta por el factor total. El resultado es la resistencia equivalente a probeta normalizada, que es la única magnitud comparable con f′c especificada.</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117FC057-86A8-001C-08A7-2E96DDBB4AF4}"/>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A34F32D7-2ACC-5D2F-8538-C68908F42DE6}"/>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f_bruta = 16,2 MPa</a:t>
            </a:r>
          </a:p>
        </p:txBody>
      </p:sp>
      <p:sp>
        <p:nvSpPr>
          <p:cNvPr id="14" name="CuadroTexto 13">
            <a:extLst>
              <a:ext uri="{FF2B5EF4-FFF2-40B4-BE49-F238E27FC236}">
                <a16:creationId xmlns:a16="http://schemas.microsoft.com/office/drawing/2014/main" id="{332C1F7B-3F16-4B56-6D16-BEDF7B0B2A4B}"/>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BO" sz="850">
                <a:solidFill>
                  <a:srgbClr val="5A5248"/>
                </a:solidFill>
                <a:latin typeface="Segoe UI" panose="020B0502040204020203" pitchFamily="34" charset="0"/>
              </a:rPr>
              <a:t>Del paso 1.</a:t>
            </a:r>
          </a:p>
        </p:txBody>
      </p:sp>
      <p:sp>
        <p:nvSpPr>
          <p:cNvPr id="16" name="CuadroTexto 15">
            <a:extLst>
              <a:ext uri="{FF2B5EF4-FFF2-40B4-BE49-F238E27FC236}">
                <a16:creationId xmlns:a16="http://schemas.microsoft.com/office/drawing/2014/main" id="{C02B9052-DCAD-A16F-4350-60B8E7A0B88D}"/>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 = 1,1425</a:t>
            </a:r>
          </a:p>
        </p:txBody>
      </p:sp>
      <p:sp>
        <p:nvSpPr>
          <p:cNvPr id="17" name="CuadroTexto 16">
            <a:extLst>
              <a:ext uri="{FF2B5EF4-FFF2-40B4-BE49-F238E27FC236}">
                <a16:creationId xmlns:a16="http://schemas.microsoft.com/office/drawing/2014/main" id="{1D35D4DF-3AE5-BF13-D363-58561F4A1CB7}"/>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Del paso 3, con los cuatro factores declarados y justificados.</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C235E2D1-5AAE-F880-EF8C-C167C4B1EF24}"/>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Corrección individual</a:t>
            </a:r>
          </a:p>
        </p:txBody>
      </p:sp>
      <p:sp>
        <p:nvSpPr>
          <p:cNvPr id="20" name="CuadroTexto 19">
            <a:extLst>
              <a:ext uri="{FF2B5EF4-FFF2-40B4-BE49-F238E27FC236}">
                <a16:creationId xmlns:a16="http://schemas.microsoft.com/office/drawing/2014/main" id="{668C13F5-BA5B-5B17-9D3E-F73E7AE348DD}"/>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Cada testigo se corrige por separado: el criterio mira también el valor mínimo.</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69DF1434-7A2B-EF82-8EAA-AA171F8D3B6A}"/>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550FBEC2-9C09-2690-1E35-6B08A44D3FFD}"/>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5F660C4F-AE62-8079-3507-175DC412089B}"/>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it-IT" sz="1150">
                <a:solidFill>
                  <a:srgbClr val="241F18"/>
                </a:solidFill>
                <a:latin typeface="Segoe UI" panose="020B0502040204020203" pitchFamily="34" charset="0"/>
              </a:rPr>
              <a:t>f_insitu  =  16,2 × 1,1425  =  18,51 MPa</a:t>
            </a:r>
            <a:endParaRPr lang="es-BO" sz="1150">
              <a:solidFill>
                <a:srgbClr val="241F18"/>
              </a:solidFill>
              <a:latin typeface="Segoe UI" panose="020B0502040204020203" pitchFamily="34" charset="0"/>
            </a:endParaRPr>
          </a:p>
        </p:txBody>
      </p:sp>
      <p:sp>
        <p:nvSpPr>
          <p:cNvPr id="24" name="CuadroTexto 23">
            <a:extLst>
              <a:ext uri="{FF2B5EF4-FFF2-40B4-BE49-F238E27FC236}">
                <a16:creationId xmlns:a16="http://schemas.microsoft.com/office/drawing/2014/main" id="{3075C4CC-0B53-029C-2CD8-A072FB3E9C24}"/>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f_insitu  ≈  18,5 MPa</a:t>
            </a:r>
          </a:p>
        </p:txBody>
      </p:sp>
      <p:sp>
        <p:nvSpPr>
          <p:cNvPr id="25" name="CuadroTexto 24">
            <a:extLst>
              <a:ext uri="{FF2B5EF4-FFF2-40B4-BE49-F238E27FC236}">
                <a16:creationId xmlns:a16="http://schemas.microsoft.com/office/drawing/2014/main" id="{FA8E2372-5887-F24A-AAB7-04FF57896136}"/>
              </a:ext>
            </a:extLst>
          </p:cNvPr>
          <p:cNvSpPr txBox="1"/>
          <p:nvPr/>
        </p:nvSpPr>
        <p:spPr>
          <a:xfrm>
            <a:off x="4648200" y="37973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6" name="CuadroTexto 25">
            <a:extLst>
              <a:ext uri="{FF2B5EF4-FFF2-40B4-BE49-F238E27FC236}">
                <a16:creationId xmlns:a16="http://schemas.microsoft.com/office/drawing/2014/main" id="{97D729C3-9A1B-0682-2ABF-EC6283654251}"/>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por testigo:  15,1 → 17,25   ·   17,2 → 19,65</a:t>
            </a:r>
          </a:p>
        </p:txBody>
      </p:sp>
      <p:sp>
        <p:nvSpPr>
          <p:cNvPr id="27" name="CuadroTexto 26">
            <a:extLst>
              <a:ext uri="{FF2B5EF4-FFF2-40B4-BE49-F238E27FC236}">
                <a16:creationId xmlns:a16="http://schemas.microsoft.com/office/drawing/2014/main" id="{06788197-DA5D-835F-29B3-1D056915CB65}"/>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              16,3 → 18,62</a:t>
            </a:r>
          </a:p>
        </p:txBody>
      </p:sp>
      <p:sp>
        <p:nvSpPr>
          <p:cNvPr id="28" name="Rectángulo 27">
            <a:extLst>
              <a:ext uri="{FF2B5EF4-FFF2-40B4-BE49-F238E27FC236}">
                <a16:creationId xmlns:a16="http://schemas.microsoft.com/office/drawing/2014/main" id="{238EF47B-27BD-476B-8361-A3ED44AB1338}"/>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CCB560DB-B6B3-0B8D-5819-A0AF8ECD46E4}"/>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LA RESISTENCIA QUE ENTRA AL CÁLCULO</a:t>
            </a:r>
          </a:p>
        </p:txBody>
      </p:sp>
      <p:sp>
        <p:nvSpPr>
          <p:cNvPr id="31" name="Rectángulo 30">
            <a:extLst>
              <a:ext uri="{FF2B5EF4-FFF2-40B4-BE49-F238E27FC236}">
                <a16:creationId xmlns:a16="http://schemas.microsoft.com/office/drawing/2014/main" id="{460FAE60-E86A-487D-3A3A-303BB35A6E71}"/>
              </a:ext>
            </a:extLst>
          </p:cNvPr>
          <p:cNvSpPr/>
          <p:nvPr/>
        </p:nvSpPr>
        <p:spPr>
          <a:xfrm>
            <a:off x="9144000" y="34290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Rectángulo 31">
            <a:extLst>
              <a:ext uri="{FF2B5EF4-FFF2-40B4-BE49-F238E27FC236}">
                <a16:creationId xmlns:a16="http://schemas.microsoft.com/office/drawing/2014/main" id="{D5BCBCCD-AF9A-E32F-1FD9-1B11B38D9BE8}"/>
              </a:ext>
            </a:extLst>
          </p:cNvPr>
          <p:cNvSpPr/>
          <p:nvPr/>
        </p:nvSpPr>
        <p:spPr>
          <a:xfrm>
            <a:off x="9144000" y="3429000"/>
            <a:ext cx="1662430" cy="190500"/>
          </a:xfrm>
          <a:prstGeom prst="rect">
            <a:avLst/>
          </a:prstGeom>
          <a:solidFill>
            <a:srgbClr val="A69E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E68969F0-031C-63D8-3455-B209D7A09A22}"/>
              </a:ext>
            </a:extLst>
          </p:cNvPr>
          <p:cNvSpPr txBox="1"/>
          <p:nvPr/>
        </p:nvSpPr>
        <p:spPr>
          <a:xfrm>
            <a:off x="8356600" y="34290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bruta</a:t>
            </a:r>
          </a:p>
        </p:txBody>
      </p:sp>
      <p:sp>
        <p:nvSpPr>
          <p:cNvPr id="34" name="CuadroTexto 33">
            <a:extLst>
              <a:ext uri="{FF2B5EF4-FFF2-40B4-BE49-F238E27FC236}">
                <a16:creationId xmlns:a16="http://schemas.microsoft.com/office/drawing/2014/main" id="{30B1F8BC-48FB-8EB0-F33A-0766FF7396F6}"/>
              </a:ext>
            </a:extLst>
          </p:cNvPr>
          <p:cNvSpPr txBox="1"/>
          <p:nvPr/>
        </p:nvSpPr>
        <p:spPr>
          <a:xfrm>
            <a:off x="9194800" y="34290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16,2 MPa</a:t>
            </a:r>
          </a:p>
        </p:txBody>
      </p:sp>
      <p:sp>
        <p:nvSpPr>
          <p:cNvPr id="35" name="Rectángulo 34">
            <a:extLst>
              <a:ext uri="{FF2B5EF4-FFF2-40B4-BE49-F238E27FC236}">
                <a16:creationId xmlns:a16="http://schemas.microsoft.com/office/drawing/2014/main" id="{32D224E0-8F7F-4346-AB62-E9666C36DB53}"/>
              </a:ext>
            </a:extLst>
          </p:cNvPr>
          <p:cNvSpPr/>
          <p:nvPr/>
        </p:nvSpPr>
        <p:spPr>
          <a:xfrm>
            <a:off x="9144000" y="37084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Rectángulo 35">
            <a:extLst>
              <a:ext uri="{FF2B5EF4-FFF2-40B4-BE49-F238E27FC236}">
                <a16:creationId xmlns:a16="http://schemas.microsoft.com/office/drawing/2014/main" id="{229EBFE6-2360-6CFC-3675-33DFA212F9F8}"/>
              </a:ext>
            </a:extLst>
          </p:cNvPr>
          <p:cNvSpPr/>
          <p:nvPr/>
        </p:nvSpPr>
        <p:spPr>
          <a:xfrm>
            <a:off x="9144000" y="3708400"/>
            <a:ext cx="1899920" cy="1905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1CB638B9-4A43-D42F-D4DB-C191FA36D101}"/>
              </a:ext>
            </a:extLst>
          </p:cNvPr>
          <p:cNvSpPr txBox="1"/>
          <p:nvPr/>
        </p:nvSpPr>
        <p:spPr>
          <a:xfrm>
            <a:off x="8356600" y="37084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in situ</a:t>
            </a:r>
          </a:p>
        </p:txBody>
      </p:sp>
      <p:sp>
        <p:nvSpPr>
          <p:cNvPr id="38" name="CuadroTexto 37">
            <a:extLst>
              <a:ext uri="{FF2B5EF4-FFF2-40B4-BE49-F238E27FC236}">
                <a16:creationId xmlns:a16="http://schemas.microsoft.com/office/drawing/2014/main" id="{A27D46F4-3586-B92C-189C-D260488C8B2F}"/>
              </a:ext>
            </a:extLst>
          </p:cNvPr>
          <p:cNvSpPr txBox="1"/>
          <p:nvPr/>
        </p:nvSpPr>
        <p:spPr>
          <a:xfrm>
            <a:off x="9194800" y="37084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18,5 MPa</a:t>
            </a:r>
          </a:p>
        </p:txBody>
      </p:sp>
      <p:sp>
        <p:nvSpPr>
          <p:cNvPr id="39" name="Rectángulo 38">
            <a:extLst>
              <a:ext uri="{FF2B5EF4-FFF2-40B4-BE49-F238E27FC236}">
                <a16:creationId xmlns:a16="http://schemas.microsoft.com/office/drawing/2014/main" id="{FC112014-5551-5271-2BF2-92DF69A119CB}"/>
              </a:ext>
            </a:extLst>
          </p:cNvPr>
          <p:cNvSpPr/>
          <p:nvPr/>
        </p:nvSpPr>
        <p:spPr>
          <a:xfrm>
            <a:off x="9144000" y="39878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0" name="Rectángulo 39">
            <a:extLst>
              <a:ext uri="{FF2B5EF4-FFF2-40B4-BE49-F238E27FC236}">
                <a16:creationId xmlns:a16="http://schemas.microsoft.com/office/drawing/2014/main" id="{7AC7E2B3-9819-ADF1-08FD-C51B28483E03}"/>
              </a:ext>
            </a:extLst>
          </p:cNvPr>
          <p:cNvSpPr/>
          <p:nvPr/>
        </p:nvSpPr>
        <p:spPr>
          <a:xfrm>
            <a:off x="9144000" y="3987800"/>
            <a:ext cx="2159000" cy="1905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1" name="CuadroTexto 40">
            <a:extLst>
              <a:ext uri="{FF2B5EF4-FFF2-40B4-BE49-F238E27FC236}">
                <a16:creationId xmlns:a16="http://schemas.microsoft.com/office/drawing/2014/main" id="{373E3F1E-1DBC-7103-E9B1-096A44FEE95A}"/>
              </a:ext>
            </a:extLst>
          </p:cNvPr>
          <p:cNvSpPr txBox="1"/>
          <p:nvPr/>
        </p:nvSpPr>
        <p:spPr>
          <a:xfrm>
            <a:off x="8356600" y="39878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f′c proyecto</a:t>
            </a:r>
          </a:p>
        </p:txBody>
      </p:sp>
      <p:sp>
        <p:nvSpPr>
          <p:cNvPr id="42" name="CuadroTexto 41">
            <a:extLst>
              <a:ext uri="{FF2B5EF4-FFF2-40B4-BE49-F238E27FC236}">
                <a16:creationId xmlns:a16="http://schemas.microsoft.com/office/drawing/2014/main" id="{C4935B22-E95A-6064-5578-7E741E6338AB}"/>
              </a:ext>
            </a:extLst>
          </p:cNvPr>
          <p:cNvSpPr txBox="1"/>
          <p:nvPr/>
        </p:nvSpPr>
        <p:spPr>
          <a:xfrm>
            <a:off x="9194800" y="39878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21,0 MPa</a:t>
            </a:r>
          </a:p>
        </p:txBody>
      </p:sp>
      <p:sp>
        <p:nvSpPr>
          <p:cNvPr id="44" name="CuadroTexto 43">
            <a:extLst>
              <a:ext uri="{FF2B5EF4-FFF2-40B4-BE49-F238E27FC236}">
                <a16:creationId xmlns:a16="http://schemas.microsoft.com/office/drawing/2014/main" id="{7387DA7F-6F84-C9A2-FD77-FA2BBB6ED636}"/>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5" name="CuadroTexto 44">
            <a:extLst>
              <a:ext uri="{FF2B5EF4-FFF2-40B4-BE49-F238E27FC236}">
                <a16:creationId xmlns:a16="http://schemas.microsoft.com/office/drawing/2014/main" id="{9CDD5204-56D1-85EC-3743-8FD5031FA061}"/>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Este valor es el que entra en el recálculo de capacidad de la clase 7 y el que figura en toda la documentación del caso.</a:t>
            </a:r>
            <a:endParaRPr lang="es-BO" sz="1050">
              <a:solidFill>
                <a:srgbClr val="5A5248"/>
              </a:solidFill>
              <a:latin typeface="Segoe UI" panose="020B0502040204020203" pitchFamily="34" charset="0"/>
            </a:endParaRPr>
          </a:p>
        </p:txBody>
      </p:sp>
      <p:sp>
        <p:nvSpPr>
          <p:cNvPr id="46" name="Resultado_1">
            <a:extLst>
              <a:ext uri="{FF2B5EF4-FFF2-40B4-BE49-F238E27FC236}">
                <a16:creationId xmlns:a16="http://schemas.microsoft.com/office/drawing/2014/main" id="{283A4137-31E5-6E9C-3935-A9C20BB48875}"/>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600">
                <a:solidFill>
                  <a:srgbClr val="FFFFFF"/>
                </a:solidFill>
                <a:latin typeface="Bahnschrift SemiBold" panose="020B0502040204020203" pitchFamily="34" charset="0"/>
              </a:rPr>
              <a:t>f_c,in situ  =  18,5 MPa  ·  mínimo individual 17,25</a:t>
            </a:r>
          </a:p>
        </p:txBody>
      </p:sp>
      <p:sp>
        <p:nvSpPr>
          <p:cNvPr id="47" name="CuadroTexto 46">
            <a:extLst>
              <a:ext uri="{FF2B5EF4-FFF2-40B4-BE49-F238E27FC236}">
                <a16:creationId xmlns:a16="http://schemas.microsoft.com/office/drawing/2014/main" id="{442D34E9-C5B3-CCD8-AC8B-3EDA80F3FFF0}"/>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214.4R §6; ACI 562 §6 para evaluación con propiedades medidas.</a:t>
            </a:r>
            <a:endParaRPr lang="es-BO" sz="700">
              <a:solidFill>
                <a:srgbClr val="938A7C"/>
              </a:solidFill>
              <a:latin typeface="Segoe UI" panose="020B0502040204020203" pitchFamily="34" charset="0"/>
            </a:endParaRPr>
          </a:p>
        </p:txBody>
      </p:sp>
      <p:cxnSp>
        <p:nvCxnSpPr>
          <p:cNvPr id="48" name="Conector recto 47">
            <a:extLst>
              <a:ext uri="{FF2B5EF4-FFF2-40B4-BE49-F238E27FC236}">
                <a16:creationId xmlns:a16="http://schemas.microsoft.com/office/drawing/2014/main" id="{BE4131EE-B3ED-6178-C442-D7172FCCA5FC}"/>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9" name="CuadroTexto 48">
            <a:extLst>
              <a:ext uri="{FF2B5EF4-FFF2-40B4-BE49-F238E27FC236}">
                <a16:creationId xmlns:a16="http://schemas.microsoft.com/office/drawing/2014/main" id="{302D845D-A69E-9007-E539-6E5BD1178F9B}"/>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50" name="CuadroTexto 49">
            <a:extLst>
              <a:ext uri="{FF2B5EF4-FFF2-40B4-BE49-F238E27FC236}">
                <a16:creationId xmlns:a16="http://schemas.microsoft.com/office/drawing/2014/main" id="{3B154F4F-43DD-CC35-F2AD-6E3183C4600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51" name="PageNo">
            <a:extLst>
              <a:ext uri="{FF2B5EF4-FFF2-40B4-BE49-F238E27FC236}">
                <a16:creationId xmlns:a16="http://schemas.microsoft.com/office/drawing/2014/main" id="{44B62A27-86E2-4E93-AA4D-6F48AA17A1C2}"/>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33 / 39</a:t>
            </a:r>
          </a:p>
        </p:txBody>
      </p:sp>
    </p:spTree>
    <p:custDataLst>
      <p:tags r:id="rId1"/>
    </p:custDataLst>
    <p:extLst>
      <p:ext uri="{BB962C8B-B14F-4D97-AF65-F5344CB8AC3E}">
        <p14:creationId xmlns:p14="http://schemas.microsoft.com/office/powerpoint/2010/main" val="303274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695BE34-419F-7D01-76A1-402B201D7EE9}"/>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PASO 5 DE 6</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E67C71E7-40F2-29BF-E81E-EFF9D2DF04ED}"/>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Criterio de aceptación de ACI 318-19 §26.12.4</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F5131E7C-3CA5-CB00-36A4-945F5034C6E7}"/>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1FD553AC-A0A0-B84A-9A6B-808DB5645042}"/>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¿Cumple o no cumple? La norma pide dos cosas a la vez: la media y el valor más bajo.</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3CA29F96-0CE6-65EC-2B13-848A5AAB51D3}"/>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media de 3  ≥  0,85 f′c            y            cada testigo  ≥  0,75 f′c</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25839FC8-83AC-BD72-E719-1FFE32D6D4DF}"/>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4BF44445-2555-94E1-E277-D82D29851DE0}"/>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ACI 318-19 §26.12.4.1. El código no exige que los testigos alcancen f′c: reconoce que el hormigón en el elemento es más variable que la probeta y fija dos umbrales, uno sobre la media y otro sobre el valor individual.</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4425BCE7-B73B-8C10-38F9-FFDC3FC086F6}"/>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BB21184B-A490-1A9C-DB89-7D9495B65E0E}"/>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0,85 f′c = 17,85 MPa</a:t>
            </a:r>
          </a:p>
        </p:txBody>
      </p:sp>
      <p:sp>
        <p:nvSpPr>
          <p:cNvPr id="14" name="CuadroTexto 13">
            <a:extLst>
              <a:ext uri="{FF2B5EF4-FFF2-40B4-BE49-F238E27FC236}">
                <a16:creationId xmlns:a16="http://schemas.microsoft.com/office/drawing/2014/main" id="{7F22B489-E942-87CC-421B-DB690D6D53B0}"/>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Umbral sobre la media de los tres testigos corregidos.</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ADF75069-B986-ED4D-9F7D-02F8C7BB6590}"/>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0,75 f′c = 15,75 MPa</a:t>
            </a:r>
          </a:p>
        </p:txBody>
      </p:sp>
      <p:sp>
        <p:nvSpPr>
          <p:cNvPr id="17" name="CuadroTexto 16">
            <a:extLst>
              <a:ext uri="{FF2B5EF4-FFF2-40B4-BE49-F238E27FC236}">
                <a16:creationId xmlns:a16="http://schemas.microsoft.com/office/drawing/2014/main" id="{D6135987-D6A1-3410-2D33-285274D247EC}"/>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Umbral sobre el valor individual más bajo. Protege frente a una zona puntualmente mala.</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95C39969-701D-5582-E50C-391A1F938A80}"/>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Ambos, simultáneamente</a:t>
            </a:r>
          </a:p>
        </p:txBody>
      </p:sp>
      <p:sp>
        <p:nvSpPr>
          <p:cNvPr id="20" name="CuadroTexto 19">
            <a:extLst>
              <a:ext uri="{FF2B5EF4-FFF2-40B4-BE49-F238E27FC236}">
                <a16:creationId xmlns:a16="http://schemas.microsoft.com/office/drawing/2014/main" id="{56082C1C-1078-4E81-BD2E-A50E2088BA11}"/>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El criterio exige cumplir los dos. Uno solo no basta.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DD1EF6A8-6455-E016-1593-C8D59B5E0D32}"/>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5E2DC01E-7BCC-5F22-C932-52B31A26C4EF}"/>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9A2AD763-5EF9-8526-96C0-EBCF9BE35102}"/>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media:   18,5   ≥   17,85      ✓</a:t>
            </a:r>
          </a:p>
        </p:txBody>
      </p:sp>
      <p:sp>
        <p:nvSpPr>
          <p:cNvPr id="24" name="CuadroTexto 23">
            <a:extLst>
              <a:ext uri="{FF2B5EF4-FFF2-40B4-BE49-F238E27FC236}">
                <a16:creationId xmlns:a16="http://schemas.microsoft.com/office/drawing/2014/main" id="{DCAAFB0D-308A-0A72-73D5-6765ADE9CCA8}"/>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mínimo:  17,25  ≥   15,75      ✓</a:t>
            </a:r>
          </a:p>
        </p:txBody>
      </p:sp>
      <p:sp>
        <p:nvSpPr>
          <p:cNvPr id="25" name="CuadroTexto 24">
            <a:extLst>
              <a:ext uri="{FF2B5EF4-FFF2-40B4-BE49-F238E27FC236}">
                <a16:creationId xmlns:a16="http://schemas.microsoft.com/office/drawing/2014/main" id="{B630E34B-BAD5-68EE-9C8D-ECAB2A986F21}"/>
              </a:ext>
            </a:extLst>
          </p:cNvPr>
          <p:cNvSpPr txBox="1"/>
          <p:nvPr/>
        </p:nvSpPr>
        <p:spPr>
          <a:xfrm>
            <a:off x="4648200" y="37973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6" name="CuadroTexto 25">
            <a:extLst>
              <a:ext uri="{FF2B5EF4-FFF2-40B4-BE49-F238E27FC236}">
                <a16:creationId xmlns:a16="http://schemas.microsoft.com/office/drawing/2014/main" id="{11AFEF99-B2CC-AE4D-BF93-1B7390D506E2}"/>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cumple los dos criterios</a:t>
            </a:r>
          </a:p>
        </p:txBody>
      </p:sp>
      <p:sp>
        <p:nvSpPr>
          <p:cNvPr id="27" name="CuadroTexto 26">
            <a:extLst>
              <a:ext uri="{FF2B5EF4-FFF2-40B4-BE49-F238E27FC236}">
                <a16:creationId xmlns:a16="http://schemas.microsoft.com/office/drawing/2014/main" id="{075ABA47-DB06-2343-DDE8-8BAD8294A223}"/>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margen sobre la media:  +3,6 %</a:t>
            </a:r>
            <a:endParaRPr lang="es-BO" sz="1150">
              <a:solidFill>
                <a:srgbClr val="241F18"/>
              </a:solidFill>
              <a:latin typeface="Segoe UI" panose="020B0502040204020203" pitchFamily="34" charset="0"/>
            </a:endParaRPr>
          </a:p>
        </p:txBody>
      </p:sp>
      <p:sp>
        <p:nvSpPr>
          <p:cNvPr id="28" name="Rectángulo 27">
            <a:extLst>
              <a:ext uri="{FF2B5EF4-FFF2-40B4-BE49-F238E27FC236}">
                <a16:creationId xmlns:a16="http://schemas.microsoft.com/office/drawing/2014/main" id="{AD141CBA-BCD7-BC62-3A61-70BD1427FE47}"/>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AF05100A-040C-3592-BDFB-64300EF0C17D}"/>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LOS DOS CRITERIOS DE ACI 318-19</a:t>
            </a:r>
          </a:p>
        </p:txBody>
      </p:sp>
      <p:sp>
        <p:nvSpPr>
          <p:cNvPr id="31" name="Rectángulo 30">
            <a:extLst>
              <a:ext uri="{FF2B5EF4-FFF2-40B4-BE49-F238E27FC236}">
                <a16:creationId xmlns:a16="http://schemas.microsoft.com/office/drawing/2014/main" id="{D2850B08-1D8C-838B-D008-9B5F009B4124}"/>
              </a:ext>
            </a:extLst>
          </p:cNvPr>
          <p:cNvSpPr/>
          <p:nvPr/>
        </p:nvSpPr>
        <p:spPr>
          <a:xfrm>
            <a:off x="9144000" y="34290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Rectángulo 31">
            <a:extLst>
              <a:ext uri="{FF2B5EF4-FFF2-40B4-BE49-F238E27FC236}">
                <a16:creationId xmlns:a16="http://schemas.microsoft.com/office/drawing/2014/main" id="{B9564F9D-E53C-C7E7-69B4-32334D575704}"/>
              </a:ext>
            </a:extLst>
          </p:cNvPr>
          <p:cNvSpPr/>
          <p:nvPr/>
        </p:nvSpPr>
        <p:spPr>
          <a:xfrm>
            <a:off x="9144000" y="3429000"/>
            <a:ext cx="1835150" cy="1270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FB8EAF00-5A34-070E-6D9C-45A6975C0995}"/>
              </a:ext>
            </a:extLst>
          </p:cNvPr>
          <p:cNvSpPr txBox="1"/>
          <p:nvPr/>
        </p:nvSpPr>
        <p:spPr>
          <a:xfrm>
            <a:off x="8356600" y="34290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exige la media</a:t>
            </a:r>
          </a:p>
        </p:txBody>
      </p:sp>
      <p:sp>
        <p:nvSpPr>
          <p:cNvPr id="34" name="CuadroTexto 33">
            <a:extLst>
              <a:ext uri="{FF2B5EF4-FFF2-40B4-BE49-F238E27FC236}">
                <a16:creationId xmlns:a16="http://schemas.microsoft.com/office/drawing/2014/main" id="{EA31B88D-9B36-05DB-1966-95847CB15062}"/>
              </a:ext>
            </a:extLst>
          </p:cNvPr>
          <p:cNvSpPr txBox="1"/>
          <p:nvPr/>
        </p:nvSpPr>
        <p:spPr>
          <a:xfrm>
            <a:off x="9194800" y="34290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0,85 f′c = 17,85</a:t>
            </a:r>
          </a:p>
        </p:txBody>
      </p:sp>
      <p:sp>
        <p:nvSpPr>
          <p:cNvPr id="35" name="Rectángulo 34">
            <a:extLst>
              <a:ext uri="{FF2B5EF4-FFF2-40B4-BE49-F238E27FC236}">
                <a16:creationId xmlns:a16="http://schemas.microsoft.com/office/drawing/2014/main" id="{42218C8C-2071-CDC2-E558-687A79D424CC}"/>
              </a:ext>
            </a:extLst>
          </p:cNvPr>
          <p:cNvSpPr/>
          <p:nvPr/>
        </p:nvSpPr>
        <p:spPr>
          <a:xfrm>
            <a:off x="9144000" y="36449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Rectángulo 35">
            <a:extLst>
              <a:ext uri="{FF2B5EF4-FFF2-40B4-BE49-F238E27FC236}">
                <a16:creationId xmlns:a16="http://schemas.microsoft.com/office/drawing/2014/main" id="{55DA3C40-A20E-37F8-720C-FA930B1B5117}"/>
              </a:ext>
            </a:extLst>
          </p:cNvPr>
          <p:cNvSpPr/>
          <p:nvPr/>
        </p:nvSpPr>
        <p:spPr>
          <a:xfrm>
            <a:off x="9144000" y="3644900"/>
            <a:ext cx="1899920" cy="1270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024508CD-F195-0C21-4957-24D96223AA09}"/>
              </a:ext>
            </a:extLst>
          </p:cNvPr>
          <p:cNvSpPr txBox="1"/>
          <p:nvPr/>
        </p:nvSpPr>
        <p:spPr>
          <a:xfrm>
            <a:off x="8356600" y="36449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se tiene</a:t>
            </a:r>
          </a:p>
        </p:txBody>
      </p:sp>
      <p:sp>
        <p:nvSpPr>
          <p:cNvPr id="38" name="CuadroTexto 37">
            <a:extLst>
              <a:ext uri="{FF2B5EF4-FFF2-40B4-BE49-F238E27FC236}">
                <a16:creationId xmlns:a16="http://schemas.microsoft.com/office/drawing/2014/main" id="{E6A59015-29B1-5EF5-B771-283A2BCE66AA}"/>
              </a:ext>
            </a:extLst>
          </p:cNvPr>
          <p:cNvSpPr txBox="1"/>
          <p:nvPr/>
        </p:nvSpPr>
        <p:spPr>
          <a:xfrm>
            <a:off x="9194800" y="36449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18,5  ·  cumple</a:t>
            </a:r>
          </a:p>
        </p:txBody>
      </p:sp>
      <p:sp>
        <p:nvSpPr>
          <p:cNvPr id="39" name="Rectángulo 38">
            <a:extLst>
              <a:ext uri="{FF2B5EF4-FFF2-40B4-BE49-F238E27FC236}">
                <a16:creationId xmlns:a16="http://schemas.microsoft.com/office/drawing/2014/main" id="{DCF8DC4E-7FA6-26F8-CF19-41C31D143F9F}"/>
              </a:ext>
            </a:extLst>
          </p:cNvPr>
          <p:cNvSpPr/>
          <p:nvPr/>
        </p:nvSpPr>
        <p:spPr>
          <a:xfrm>
            <a:off x="9144000" y="38608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0" name="Rectángulo 39">
            <a:extLst>
              <a:ext uri="{FF2B5EF4-FFF2-40B4-BE49-F238E27FC236}">
                <a16:creationId xmlns:a16="http://schemas.microsoft.com/office/drawing/2014/main" id="{EC20554D-3FCC-BB9B-5F0E-4AD0C3BB8CA1}"/>
              </a:ext>
            </a:extLst>
          </p:cNvPr>
          <p:cNvSpPr/>
          <p:nvPr/>
        </p:nvSpPr>
        <p:spPr>
          <a:xfrm>
            <a:off x="9144000" y="3860800"/>
            <a:ext cx="1619250" cy="1270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1" name="CuadroTexto 40">
            <a:extLst>
              <a:ext uri="{FF2B5EF4-FFF2-40B4-BE49-F238E27FC236}">
                <a16:creationId xmlns:a16="http://schemas.microsoft.com/office/drawing/2014/main" id="{CD1A5CF9-E965-DC32-D54A-0428C920D2FC}"/>
              </a:ext>
            </a:extLst>
          </p:cNvPr>
          <p:cNvSpPr txBox="1"/>
          <p:nvPr/>
        </p:nvSpPr>
        <p:spPr>
          <a:xfrm>
            <a:off x="8356600" y="38608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exige el mínimo</a:t>
            </a:r>
          </a:p>
        </p:txBody>
      </p:sp>
      <p:sp>
        <p:nvSpPr>
          <p:cNvPr id="42" name="CuadroTexto 41">
            <a:extLst>
              <a:ext uri="{FF2B5EF4-FFF2-40B4-BE49-F238E27FC236}">
                <a16:creationId xmlns:a16="http://schemas.microsoft.com/office/drawing/2014/main" id="{8B2021B8-6FC8-D616-9149-5A2E97C888C5}"/>
              </a:ext>
            </a:extLst>
          </p:cNvPr>
          <p:cNvSpPr txBox="1"/>
          <p:nvPr/>
        </p:nvSpPr>
        <p:spPr>
          <a:xfrm>
            <a:off x="9194800" y="38608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0,75 f′c = 15,75</a:t>
            </a:r>
          </a:p>
        </p:txBody>
      </p:sp>
      <p:sp>
        <p:nvSpPr>
          <p:cNvPr id="43" name="Rectángulo 42">
            <a:extLst>
              <a:ext uri="{FF2B5EF4-FFF2-40B4-BE49-F238E27FC236}">
                <a16:creationId xmlns:a16="http://schemas.microsoft.com/office/drawing/2014/main" id="{BA5A31EA-1A6A-704C-F45C-83C39F5FAE4D}"/>
              </a:ext>
            </a:extLst>
          </p:cNvPr>
          <p:cNvSpPr/>
          <p:nvPr/>
        </p:nvSpPr>
        <p:spPr>
          <a:xfrm>
            <a:off x="9144000" y="40767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4" name="Rectángulo 43">
            <a:extLst>
              <a:ext uri="{FF2B5EF4-FFF2-40B4-BE49-F238E27FC236}">
                <a16:creationId xmlns:a16="http://schemas.microsoft.com/office/drawing/2014/main" id="{13AC9125-0728-23A0-E11F-E97F0FFFBCAA}"/>
              </a:ext>
            </a:extLst>
          </p:cNvPr>
          <p:cNvSpPr/>
          <p:nvPr/>
        </p:nvSpPr>
        <p:spPr>
          <a:xfrm>
            <a:off x="9144000" y="4076700"/>
            <a:ext cx="1770380" cy="1270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5" name="CuadroTexto 44">
            <a:extLst>
              <a:ext uri="{FF2B5EF4-FFF2-40B4-BE49-F238E27FC236}">
                <a16:creationId xmlns:a16="http://schemas.microsoft.com/office/drawing/2014/main" id="{19532D14-9959-5F70-7F9F-55A1751096CC}"/>
              </a:ext>
            </a:extLst>
          </p:cNvPr>
          <p:cNvSpPr txBox="1"/>
          <p:nvPr/>
        </p:nvSpPr>
        <p:spPr>
          <a:xfrm>
            <a:off x="8356600" y="40767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se tiene</a:t>
            </a:r>
          </a:p>
        </p:txBody>
      </p:sp>
      <p:sp>
        <p:nvSpPr>
          <p:cNvPr id="46" name="CuadroTexto 45">
            <a:extLst>
              <a:ext uri="{FF2B5EF4-FFF2-40B4-BE49-F238E27FC236}">
                <a16:creationId xmlns:a16="http://schemas.microsoft.com/office/drawing/2014/main" id="{C456DF9F-412F-6D11-1DA5-D4AB9D539881}"/>
              </a:ext>
            </a:extLst>
          </p:cNvPr>
          <p:cNvSpPr txBox="1"/>
          <p:nvPr/>
        </p:nvSpPr>
        <p:spPr>
          <a:xfrm>
            <a:off x="9194800" y="40767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17,25  ·  cumple</a:t>
            </a:r>
          </a:p>
        </p:txBody>
      </p:sp>
      <p:sp>
        <p:nvSpPr>
          <p:cNvPr id="48" name="CuadroTexto 47">
            <a:extLst>
              <a:ext uri="{FF2B5EF4-FFF2-40B4-BE49-F238E27FC236}">
                <a16:creationId xmlns:a16="http://schemas.microsoft.com/office/drawing/2014/main" id="{E77568B5-ADF7-162F-D3BB-A004E1C25D2A}"/>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9" name="CuadroTexto 48">
            <a:extLst>
              <a:ext uri="{FF2B5EF4-FFF2-40B4-BE49-F238E27FC236}">
                <a16:creationId xmlns:a16="http://schemas.microsoft.com/office/drawing/2014/main" id="{3CE724E9-4461-831F-0B0D-6F991EBEDEC6}"/>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La conclusión del acta preliminar se invierte. No procedía demoler, ni reforzar, ni reclamar: procedía corregir y aplicar el criterio correcto.</a:t>
            </a:r>
            <a:endParaRPr lang="es-BO" sz="1050">
              <a:solidFill>
                <a:srgbClr val="5A5248"/>
              </a:solidFill>
              <a:latin typeface="Segoe UI" panose="020B0502040204020203" pitchFamily="34" charset="0"/>
            </a:endParaRPr>
          </a:p>
        </p:txBody>
      </p:sp>
      <p:sp>
        <p:nvSpPr>
          <p:cNvPr id="50" name="Resultado_1">
            <a:extLst>
              <a:ext uri="{FF2B5EF4-FFF2-40B4-BE49-F238E27FC236}">
                <a16:creationId xmlns:a16="http://schemas.microsoft.com/office/drawing/2014/main" id="{ABC9236E-0086-81ED-D518-AA7B8DE17438}"/>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600">
                <a:solidFill>
                  <a:srgbClr val="FFFFFF"/>
                </a:solidFill>
                <a:latin typeface="Bahnschrift SemiBold" panose="020B0502040204020203" pitchFamily="34" charset="0"/>
              </a:rPr>
              <a:t>Cumple los dos criterios  ·  margen sobre la media 3,6 %</a:t>
            </a:r>
            <a:endParaRPr lang="es-BO" sz="1600">
              <a:solidFill>
                <a:srgbClr val="FFFFFF"/>
              </a:solidFill>
              <a:latin typeface="Bahnschrift SemiBold" panose="020B0502040204020203" pitchFamily="34" charset="0"/>
            </a:endParaRPr>
          </a:p>
        </p:txBody>
      </p:sp>
      <p:sp>
        <p:nvSpPr>
          <p:cNvPr id="51" name="CuadroTexto 50">
            <a:extLst>
              <a:ext uri="{FF2B5EF4-FFF2-40B4-BE49-F238E27FC236}">
                <a16:creationId xmlns:a16="http://schemas.microsoft.com/office/drawing/2014/main" id="{48FB5B14-F505-A407-24BB-08323AC1F856}"/>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it-IT" sz="700">
                <a:solidFill>
                  <a:srgbClr val="938A7C"/>
                </a:solidFill>
                <a:latin typeface="Segoe UI" panose="020B0502040204020203" pitchFamily="34" charset="0"/>
              </a:rPr>
              <a:t>Fuente: ACI 318-19 §26.12.4.1; ACI 562 §6.3.</a:t>
            </a:r>
            <a:endParaRPr lang="es-BO" sz="700">
              <a:solidFill>
                <a:srgbClr val="938A7C"/>
              </a:solidFill>
              <a:latin typeface="Segoe UI" panose="020B0502040204020203" pitchFamily="34" charset="0"/>
            </a:endParaRPr>
          </a:p>
        </p:txBody>
      </p:sp>
      <p:cxnSp>
        <p:nvCxnSpPr>
          <p:cNvPr id="52" name="Conector recto 51">
            <a:extLst>
              <a:ext uri="{FF2B5EF4-FFF2-40B4-BE49-F238E27FC236}">
                <a16:creationId xmlns:a16="http://schemas.microsoft.com/office/drawing/2014/main" id="{DBBD2B3E-62C7-4D5F-D656-03DC0748A9B9}"/>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8A51980C-DB4A-C420-5F83-F7D0B02D7643}"/>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54" name="CuadroTexto 53">
            <a:extLst>
              <a:ext uri="{FF2B5EF4-FFF2-40B4-BE49-F238E27FC236}">
                <a16:creationId xmlns:a16="http://schemas.microsoft.com/office/drawing/2014/main" id="{9AE98B66-7EF1-37B3-91DB-A9FEDEFE31C0}"/>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55" name="PageNo">
            <a:extLst>
              <a:ext uri="{FF2B5EF4-FFF2-40B4-BE49-F238E27FC236}">
                <a16:creationId xmlns:a16="http://schemas.microsoft.com/office/drawing/2014/main" id="{7A9505BE-8A1D-6E23-FBD6-4F250A5CBD16}"/>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34 / 39</a:t>
            </a:r>
          </a:p>
        </p:txBody>
      </p:sp>
    </p:spTree>
    <p:custDataLst>
      <p:tags r:id="rId1"/>
    </p:custDataLst>
    <p:extLst>
      <p:ext uri="{BB962C8B-B14F-4D97-AF65-F5344CB8AC3E}">
        <p14:creationId xmlns:p14="http://schemas.microsoft.com/office/powerpoint/2010/main" val="309286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BC3B81A-0BED-1B9A-F1BE-75925C2080FB}"/>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5  ·  PASO 6 DE 6</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AE61A9C3-2280-8C1B-D233-79A92C65F82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Correlación propia para el esclerómetro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42EA0DD2-1A70-C7CC-0D63-0923B246114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E819221A-C40C-305F-36BA-B025B2DA4ABC}"/>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¿Podemos aprovechar el esclerómetro en las otras veintitrés columnas, sin perforarlas?</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54A59CF0-B266-894A-F555-BC5D53F5D518}"/>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sobreestimación  =  f_esclerómetro  /  f_in situ              F_obra  =  1 / sobreestimación</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E0C69CC4-80E5-D5B5-CEFA-1A13C1779F94}"/>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963ACCBC-0A65-108A-2C26-D48A744A7625}"/>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El esclerómetro mide dureza superficial en los primeros 30 mm. En obra antigua esos milímetros están carbonatados, y la carbonatación densifica y endurece la piel: el aparato lee correctamente una capa que no representa el núcleo.</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4C002A6B-7141-DD5E-A1BA-A39E68E71616}"/>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2DE7D640-0EEE-0857-21C2-9817B7C0F896}"/>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Índice de rebote 32</a:t>
            </a:r>
          </a:p>
        </p:txBody>
      </p:sp>
      <p:sp>
        <p:nvSpPr>
          <p:cNvPr id="14" name="CuadroTexto 13">
            <a:extLst>
              <a:ext uri="{FF2B5EF4-FFF2-40B4-BE49-F238E27FC236}">
                <a16:creationId xmlns:a16="http://schemas.microsoft.com/office/drawing/2014/main" id="{F405F37E-28EC-7312-5D49-A18E0BD37EE9}"/>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Media de diez lecturas sobre la columna, según procedimiento del fabricante y ASTM C805.</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4C01D2F6-6CF7-AA1A-9A99-069930DBC7B4}"/>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28 MPa</a:t>
            </a:r>
          </a:p>
        </p:txBody>
      </p:sp>
      <p:sp>
        <p:nvSpPr>
          <p:cNvPr id="17" name="CuadroTexto 16">
            <a:extLst>
              <a:ext uri="{FF2B5EF4-FFF2-40B4-BE49-F238E27FC236}">
                <a16:creationId xmlns:a16="http://schemas.microsoft.com/office/drawing/2014/main" id="{C5BB1012-A8D5-CC9A-AFD5-C28F014DACF2}"/>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Valor que da la curva del fabricante para ese índice.</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349C2885-5F22-A347-D3BA-588333906D6F}"/>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Frente de carbonatación 22 mm</a:t>
            </a:r>
          </a:p>
        </p:txBody>
      </p:sp>
      <p:sp>
        <p:nvSpPr>
          <p:cNvPr id="20" name="CuadroTexto 19">
            <a:extLst>
              <a:ext uri="{FF2B5EF4-FFF2-40B4-BE49-F238E27FC236}">
                <a16:creationId xmlns:a16="http://schemas.microsoft.com/office/drawing/2014/main" id="{3F39C556-D0E7-87D4-D1F9-43CBCA0CA00E}"/>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De la clase 1. Queda dentro de los 30 mm que el aparato interroga.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73BC497E-66C4-6AF4-5798-1552ADD323A5}"/>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F6C81F76-EEC6-C84D-02C0-98FCB8657E05}"/>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6668084A-3CB3-177E-ED93-5129B4B416E6}"/>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28 / 18,5  =  1,514</a:t>
            </a:r>
          </a:p>
        </p:txBody>
      </p:sp>
      <p:sp>
        <p:nvSpPr>
          <p:cNvPr id="24" name="CuadroTexto 23">
            <a:extLst>
              <a:ext uri="{FF2B5EF4-FFF2-40B4-BE49-F238E27FC236}">
                <a16:creationId xmlns:a16="http://schemas.microsoft.com/office/drawing/2014/main" id="{8A33938E-32DC-4946-AE07-57BCCEE6F1D7}"/>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  51 % de sobreestimación</a:t>
            </a:r>
          </a:p>
        </p:txBody>
      </p:sp>
      <p:sp>
        <p:nvSpPr>
          <p:cNvPr id="25" name="CuadroTexto 24">
            <a:extLst>
              <a:ext uri="{FF2B5EF4-FFF2-40B4-BE49-F238E27FC236}">
                <a16:creationId xmlns:a16="http://schemas.microsoft.com/office/drawing/2014/main" id="{303A5721-82A4-8244-0962-8F637D134359}"/>
              </a:ext>
            </a:extLst>
          </p:cNvPr>
          <p:cNvSpPr txBox="1"/>
          <p:nvPr/>
        </p:nvSpPr>
        <p:spPr>
          <a:xfrm>
            <a:off x="4648200" y="37973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6" name="CuadroTexto 25">
            <a:extLst>
              <a:ext uri="{FF2B5EF4-FFF2-40B4-BE49-F238E27FC236}">
                <a16:creationId xmlns:a16="http://schemas.microsoft.com/office/drawing/2014/main" id="{7033D20D-A35A-69A7-0C85-B4585D0A17E0}"/>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factor propio de esta obra:</a:t>
            </a:r>
          </a:p>
        </p:txBody>
      </p:sp>
      <p:sp>
        <p:nvSpPr>
          <p:cNvPr id="27" name="CuadroTexto 26">
            <a:extLst>
              <a:ext uri="{FF2B5EF4-FFF2-40B4-BE49-F238E27FC236}">
                <a16:creationId xmlns:a16="http://schemas.microsoft.com/office/drawing/2014/main" id="{C794E016-9E56-3754-B6AD-D9F4A56D1D3D}"/>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F_obra  =  18,5 / 28  =  0,66</a:t>
            </a:r>
          </a:p>
        </p:txBody>
      </p:sp>
      <p:sp>
        <p:nvSpPr>
          <p:cNvPr id="28" name="Rectángulo 27">
            <a:extLst>
              <a:ext uri="{FF2B5EF4-FFF2-40B4-BE49-F238E27FC236}">
                <a16:creationId xmlns:a16="http://schemas.microsoft.com/office/drawing/2014/main" id="{E6452EBE-F09E-DDD6-E562-0F6D0A57E7B3}"/>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D5117320-B344-8871-85B9-C405C7455A4B}"/>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LO QUE DECÍA EL ESCLERÓMETRO</a:t>
            </a:r>
            <a:endParaRPr lang="es-BO" sz="750" spc="160">
              <a:solidFill>
                <a:srgbClr val="6A4F20"/>
              </a:solidFill>
              <a:latin typeface="Segoe UI Semibold" panose="020B0702040204020203" pitchFamily="34" charset="0"/>
            </a:endParaRPr>
          </a:p>
        </p:txBody>
      </p:sp>
      <p:sp>
        <p:nvSpPr>
          <p:cNvPr id="31" name="Rectángulo 30">
            <a:extLst>
              <a:ext uri="{FF2B5EF4-FFF2-40B4-BE49-F238E27FC236}">
                <a16:creationId xmlns:a16="http://schemas.microsoft.com/office/drawing/2014/main" id="{EF1D4809-DF93-B6B3-2904-7751521DF534}"/>
              </a:ext>
            </a:extLst>
          </p:cNvPr>
          <p:cNvSpPr/>
          <p:nvPr/>
        </p:nvSpPr>
        <p:spPr>
          <a:xfrm>
            <a:off x="9144000" y="34290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Rectángulo 31">
            <a:extLst>
              <a:ext uri="{FF2B5EF4-FFF2-40B4-BE49-F238E27FC236}">
                <a16:creationId xmlns:a16="http://schemas.microsoft.com/office/drawing/2014/main" id="{573B1AA6-FEEA-DC39-F6A3-4792704A3DEB}"/>
              </a:ext>
            </a:extLst>
          </p:cNvPr>
          <p:cNvSpPr/>
          <p:nvPr/>
        </p:nvSpPr>
        <p:spPr>
          <a:xfrm>
            <a:off x="9144000" y="3429000"/>
            <a:ext cx="2159000" cy="1905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75D924DB-908D-60DA-742E-35B3D6A67867}"/>
              </a:ext>
            </a:extLst>
          </p:cNvPr>
          <p:cNvSpPr txBox="1"/>
          <p:nvPr/>
        </p:nvSpPr>
        <p:spPr>
          <a:xfrm>
            <a:off x="8356600" y="34290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esclerómetro</a:t>
            </a:r>
          </a:p>
        </p:txBody>
      </p:sp>
      <p:sp>
        <p:nvSpPr>
          <p:cNvPr id="34" name="CuadroTexto 33">
            <a:extLst>
              <a:ext uri="{FF2B5EF4-FFF2-40B4-BE49-F238E27FC236}">
                <a16:creationId xmlns:a16="http://schemas.microsoft.com/office/drawing/2014/main" id="{3E867A57-B9B7-5EEB-3F30-74786762F409}"/>
              </a:ext>
            </a:extLst>
          </p:cNvPr>
          <p:cNvSpPr txBox="1"/>
          <p:nvPr/>
        </p:nvSpPr>
        <p:spPr>
          <a:xfrm>
            <a:off x="9194800" y="34290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28 MPa</a:t>
            </a:r>
          </a:p>
        </p:txBody>
      </p:sp>
      <p:sp>
        <p:nvSpPr>
          <p:cNvPr id="35" name="Rectángulo 34">
            <a:extLst>
              <a:ext uri="{FF2B5EF4-FFF2-40B4-BE49-F238E27FC236}">
                <a16:creationId xmlns:a16="http://schemas.microsoft.com/office/drawing/2014/main" id="{A73BB002-BDF0-95BE-3F83-A9754E8A8CA1}"/>
              </a:ext>
            </a:extLst>
          </p:cNvPr>
          <p:cNvSpPr/>
          <p:nvPr/>
        </p:nvSpPr>
        <p:spPr>
          <a:xfrm>
            <a:off x="9144000" y="3708400"/>
            <a:ext cx="2159000" cy="1905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Rectángulo 35">
            <a:extLst>
              <a:ext uri="{FF2B5EF4-FFF2-40B4-BE49-F238E27FC236}">
                <a16:creationId xmlns:a16="http://schemas.microsoft.com/office/drawing/2014/main" id="{B1C726FE-680F-035F-0920-DAE02ADBDD5F}"/>
              </a:ext>
            </a:extLst>
          </p:cNvPr>
          <p:cNvSpPr/>
          <p:nvPr/>
        </p:nvSpPr>
        <p:spPr>
          <a:xfrm>
            <a:off x="9144000" y="3708400"/>
            <a:ext cx="1424940" cy="1905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EB20A9B3-6729-A2C9-CC85-306D300800F6}"/>
              </a:ext>
            </a:extLst>
          </p:cNvPr>
          <p:cNvSpPr txBox="1"/>
          <p:nvPr/>
        </p:nvSpPr>
        <p:spPr>
          <a:xfrm>
            <a:off x="8356600" y="37084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testigos</a:t>
            </a:r>
          </a:p>
        </p:txBody>
      </p:sp>
      <p:sp>
        <p:nvSpPr>
          <p:cNvPr id="38" name="CuadroTexto 37">
            <a:extLst>
              <a:ext uri="{FF2B5EF4-FFF2-40B4-BE49-F238E27FC236}">
                <a16:creationId xmlns:a16="http://schemas.microsoft.com/office/drawing/2014/main" id="{5CADEE07-67C6-E1FC-2E32-F6EB70D80768}"/>
              </a:ext>
            </a:extLst>
          </p:cNvPr>
          <p:cNvSpPr txBox="1"/>
          <p:nvPr/>
        </p:nvSpPr>
        <p:spPr>
          <a:xfrm>
            <a:off x="9194800" y="37084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18,5 MPa</a:t>
            </a:r>
          </a:p>
        </p:txBody>
      </p:sp>
      <p:sp>
        <p:nvSpPr>
          <p:cNvPr id="40" name="CuadroTexto 39">
            <a:extLst>
              <a:ext uri="{FF2B5EF4-FFF2-40B4-BE49-F238E27FC236}">
                <a16:creationId xmlns:a16="http://schemas.microsoft.com/office/drawing/2014/main" id="{52883ADA-D7E1-A8C6-69BC-E112CCD347BB}"/>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1" name="CuadroTexto 40">
            <a:extLst>
              <a:ext uri="{FF2B5EF4-FFF2-40B4-BE49-F238E27FC236}">
                <a16:creationId xmlns:a16="http://schemas.microsoft.com/office/drawing/2014/main" id="{A13950A1-8B28-F2D8-6473-46C8F700A9E0}"/>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El aparato no está descalibrado: traduce el rebote con una curva ajena a este hormigón. </a:t>
            </a:r>
            <a:r>
              <a:rPr lang="es-MX" sz="1050" b="1">
                <a:solidFill>
                  <a:srgbClr val="5A5248"/>
                </a:solidFill>
                <a:latin typeface="Segoe UI Semibold" panose="020B0702040204020203" pitchFamily="34" charset="0"/>
              </a:rPr>
              <a:t>Sirve para mapear uniformidad, no para estimar resistencia absoluta.</a:t>
            </a:r>
            <a:endParaRPr lang="es-BO" sz="1050" b="1">
              <a:solidFill>
                <a:srgbClr val="5A5248"/>
              </a:solidFill>
              <a:latin typeface="Segoe UI Semibold" panose="020B0702040204020203" pitchFamily="34" charset="0"/>
            </a:endParaRPr>
          </a:p>
        </p:txBody>
      </p:sp>
      <p:sp>
        <p:nvSpPr>
          <p:cNvPr id="42" name="Resultado_1">
            <a:extLst>
              <a:ext uri="{FF2B5EF4-FFF2-40B4-BE49-F238E27FC236}">
                <a16:creationId xmlns:a16="http://schemas.microsoft.com/office/drawing/2014/main" id="{12994233-69C6-0E90-E0C1-2ED242A6A655}"/>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600">
                <a:solidFill>
                  <a:srgbClr val="FFFFFF"/>
                </a:solidFill>
                <a:latin typeface="Bahnschrift SemiBold" panose="020B0502040204020203" pitchFamily="34" charset="0"/>
              </a:rPr>
              <a:t>Sobreestima un 51 %  ·  factor propio de obra 0,66</a:t>
            </a:r>
          </a:p>
        </p:txBody>
      </p:sp>
      <p:sp>
        <p:nvSpPr>
          <p:cNvPr id="43" name="CuadroTexto 42">
            <a:extLst>
              <a:ext uri="{FF2B5EF4-FFF2-40B4-BE49-F238E27FC236}">
                <a16:creationId xmlns:a16="http://schemas.microsoft.com/office/drawing/2014/main" id="{A9F53145-3EB6-7359-F5DA-03171C9581F4}"/>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ASTM C805; ACI 228.1R, In-Place Methods to Estimate Concrete Strength.</a:t>
            </a:r>
            <a:endParaRPr lang="es-BO" sz="700">
              <a:solidFill>
                <a:srgbClr val="938A7C"/>
              </a:solidFill>
              <a:latin typeface="Segoe UI" panose="020B0502040204020203" pitchFamily="34" charset="0"/>
            </a:endParaRPr>
          </a:p>
        </p:txBody>
      </p:sp>
      <p:cxnSp>
        <p:nvCxnSpPr>
          <p:cNvPr id="44" name="Conector recto 43">
            <a:extLst>
              <a:ext uri="{FF2B5EF4-FFF2-40B4-BE49-F238E27FC236}">
                <a16:creationId xmlns:a16="http://schemas.microsoft.com/office/drawing/2014/main" id="{1761247B-BDBC-0A64-4B4C-1F84B9C76E8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2370DCA5-18A1-B7E7-8BCF-E2E1963DF12B}"/>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6" name="CuadroTexto 45">
            <a:extLst>
              <a:ext uri="{FF2B5EF4-FFF2-40B4-BE49-F238E27FC236}">
                <a16:creationId xmlns:a16="http://schemas.microsoft.com/office/drawing/2014/main" id="{E97F3ED5-E3EF-D4D3-7AE4-BE815D53812E}"/>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47" name="PageNo">
            <a:extLst>
              <a:ext uri="{FF2B5EF4-FFF2-40B4-BE49-F238E27FC236}">
                <a16:creationId xmlns:a16="http://schemas.microsoft.com/office/drawing/2014/main" id="{F3C07822-6C93-64C4-4CC5-EC39252A1A2A}"/>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35 / 39</a:t>
            </a:r>
          </a:p>
        </p:txBody>
      </p:sp>
    </p:spTree>
    <p:custDataLst>
      <p:tags r:id="rId1"/>
    </p:custDataLst>
    <p:extLst>
      <p:ext uri="{BB962C8B-B14F-4D97-AF65-F5344CB8AC3E}">
        <p14:creationId xmlns:p14="http://schemas.microsoft.com/office/powerpoint/2010/main" val="102372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B2784B-4B84-0B47-BE7E-5D3D3AFBF2F0}"/>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CASO 5  ·  CIERRE</a:t>
            </a:r>
          </a:p>
        </p:txBody>
      </p:sp>
      <p:sp>
        <p:nvSpPr>
          <p:cNvPr id="3" name="Title">
            <a:extLst>
              <a:ext uri="{FF2B5EF4-FFF2-40B4-BE49-F238E27FC236}">
                <a16:creationId xmlns:a16="http://schemas.microsoft.com/office/drawing/2014/main" id="{DB7E5CBC-16C6-A6BE-BD1E-395B477E9EE2}"/>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Resultados, trazabilidad y limitaciones declaradas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03B2D9A7-EF1C-E59A-601F-A36970B53CB1}"/>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954CE626-2070-B569-341A-1FB3376E7915}"/>
              </a:ext>
            </a:extLst>
          </p:cNvPr>
          <p:cNvGraphicFramePr>
            <a:graphicFrameLocks noGrp="1"/>
          </p:cNvGraphicFramePr>
          <p:nvPr>
            <p:extLst>
              <p:ext uri="{D42A27DB-BD31-4B8C-83A1-F6EECF244321}">
                <p14:modId xmlns:p14="http://schemas.microsoft.com/office/powerpoint/2010/main" val="2289195243"/>
              </p:ext>
            </p:extLst>
          </p:nvPr>
        </p:nvGraphicFramePr>
        <p:xfrm>
          <a:off x="609600" y="1422400"/>
          <a:ext cx="6604000" cy="304800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3030658279"/>
                    </a:ext>
                  </a:extLst>
                </a:gridCol>
                <a:gridCol w="1930400">
                  <a:extLst>
                    <a:ext uri="{9D8B030D-6E8A-4147-A177-3AD203B41FA5}">
                      <a16:colId xmlns:a16="http://schemas.microsoft.com/office/drawing/2014/main" val="3939159575"/>
                    </a:ext>
                  </a:extLst>
                </a:gridCol>
                <a:gridCol w="3200400">
                  <a:extLst>
                    <a:ext uri="{9D8B030D-6E8A-4147-A177-3AD203B41FA5}">
                      <a16:colId xmlns:a16="http://schemas.microsoft.com/office/drawing/2014/main" val="635879583"/>
                    </a:ext>
                  </a:extLst>
                </a:gridCol>
              </a:tblGrid>
              <a:tr h="435429">
                <a:tc>
                  <a:txBody>
                    <a:bodyPr/>
                    <a:lstStyle/>
                    <a:p>
                      <a:pPr algn="ctr"/>
                      <a:r>
                        <a:rPr lang="es-BO" sz="900" b="0">
                          <a:solidFill>
                            <a:srgbClr val="FFFFFF"/>
                          </a:solidFill>
                          <a:latin typeface="Segoe UI Semibold" panose="020B0702040204020203" pitchFamily="34" charset="0"/>
                        </a:rPr>
                        <a:t>Paso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Resultado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Qué decide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3745978303"/>
                  </a:ext>
                </a:extLst>
              </a:tr>
              <a:tr h="435429">
                <a:tc>
                  <a:txBody>
                    <a:bodyPr/>
                    <a:lstStyle/>
                    <a:p>
                      <a:pPr algn="ctr"/>
                      <a:r>
                        <a:rPr lang="es-BO" sz="950" b="0">
                          <a:solidFill>
                            <a:srgbClr val="1C1813"/>
                          </a:solidFill>
                          <a:latin typeface="Segoe UI Semibold" panose="020B0702040204020203" pitchFamily="34" charset="0"/>
                        </a:rPr>
                        <a:t>1 · Media bruta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16,2 MPa  ·  CV 6,5 %</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Lo que entrega el laboratorio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625741750"/>
                  </a:ext>
                </a:extLst>
              </a:tr>
              <a:tr h="435429">
                <a:tc>
                  <a:txBody>
                    <a:bodyPr/>
                    <a:lstStyle/>
                    <a:p>
                      <a:pPr algn="ctr"/>
                      <a:r>
                        <a:rPr lang="es-BO" sz="950" b="0">
                          <a:solidFill>
                            <a:srgbClr val="1C1813"/>
                          </a:solidFill>
                          <a:latin typeface="Segoe UI Semibold" panose="020B0702040204020203" pitchFamily="34" charset="0"/>
                        </a:rPr>
                        <a:t>2 · Comparación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−23 %  ·  sin respaldo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Magnitudes de poblaciones distintas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593809495"/>
                  </a:ext>
                </a:extLst>
              </a:tr>
              <a:tr h="435429">
                <a:tc>
                  <a:txBody>
                    <a:bodyPr/>
                    <a:lstStyle/>
                    <a:p>
                      <a:pPr algn="ctr"/>
                      <a:r>
                        <a:rPr lang="es-BO" sz="950" b="0">
                          <a:solidFill>
                            <a:srgbClr val="1C1813"/>
                          </a:solidFill>
                          <a:latin typeface="Segoe UI Semibold" panose="020B0702040204020203" pitchFamily="34" charset="0"/>
                        </a:rPr>
                        <a:t>3 · Factores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F = 1,1425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Cuatro, tabulados y declarados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192153192"/>
                  </a:ext>
                </a:extLst>
              </a:tr>
              <a:tr h="435429">
                <a:tc>
                  <a:txBody>
                    <a:bodyPr/>
                    <a:lstStyle/>
                    <a:p>
                      <a:pPr algn="ctr"/>
                      <a:r>
                        <a:rPr lang="es-BO" sz="950" b="0">
                          <a:solidFill>
                            <a:srgbClr val="1C1813"/>
                          </a:solidFill>
                          <a:latin typeface="Segoe UI Semibold" panose="020B0702040204020203" pitchFamily="34" charset="0"/>
                        </a:rPr>
                        <a:t>4 · In situ</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18,5 MPa  ·  mínimo 17,25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Entra en el recálculo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493981281"/>
                  </a:ext>
                </a:extLst>
              </a:tr>
              <a:tr h="435429">
                <a:tc>
                  <a:txBody>
                    <a:bodyPr/>
                    <a:lstStyle/>
                    <a:p>
                      <a:pPr algn="ctr"/>
                      <a:r>
                        <a:rPr lang="es-BO" sz="950" b="0">
                          <a:solidFill>
                            <a:srgbClr val="1C1813"/>
                          </a:solidFill>
                          <a:latin typeface="Segoe UI Semibold" panose="020B0702040204020203" pitchFamily="34" charset="0"/>
                        </a:rPr>
                        <a:t>5 · Criterio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17,85 y 15,75  ·  cumple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Margen 3,6 %, declarado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437774973"/>
                  </a:ext>
                </a:extLst>
              </a:tr>
              <a:tr h="435429">
                <a:tc>
                  <a:txBody>
                    <a:bodyPr/>
                    <a:lstStyle/>
                    <a:p>
                      <a:pPr algn="ctr"/>
                      <a:r>
                        <a:rPr lang="es-BO" sz="950" b="0">
                          <a:solidFill>
                            <a:srgbClr val="1C1813"/>
                          </a:solidFill>
                          <a:latin typeface="Segoe UI Semibold" panose="020B0702040204020203" pitchFamily="34" charset="0"/>
                        </a:rPr>
                        <a:t>6 · Esclerómetro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+51 %  ·  F_obra 0,66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Uniformidad, no resistencia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065666672"/>
                  </a:ext>
                </a:extLst>
              </a:tr>
            </a:tbl>
          </a:graphicData>
        </a:graphic>
      </p:graphicFrame>
      <p:sp>
        <p:nvSpPr>
          <p:cNvPr id="8" name="CuadroTexto 7">
            <a:extLst>
              <a:ext uri="{FF2B5EF4-FFF2-40B4-BE49-F238E27FC236}">
                <a16:creationId xmlns:a16="http://schemas.microsoft.com/office/drawing/2014/main" id="{A4BB8441-B057-B87B-A92E-38F6D9DA4472}"/>
              </a:ext>
            </a:extLst>
          </p:cNvPr>
          <p:cNvSpPr txBox="1"/>
          <p:nvPr/>
        </p:nvSpPr>
        <p:spPr>
          <a:xfrm>
            <a:off x="7696200" y="1422400"/>
            <a:ext cx="3886200" cy="1905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Procedencia de las expresiones</a:t>
            </a:r>
          </a:p>
        </p:txBody>
      </p:sp>
      <p:sp>
        <p:nvSpPr>
          <p:cNvPr id="9" name="CuadroTexto 8">
            <a:extLst>
              <a:ext uri="{FF2B5EF4-FFF2-40B4-BE49-F238E27FC236}">
                <a16:creationId xmlns:a16="http://schemas.microsoft.com/office/drawing/2014/main" id="{12804FAE-2983-D82F-F55D-25C367358C9A}"/>
              </a:ext>
            </a:extLst>
          </p:cNvPr>
          <p:cNvSpPr txBox="1"/>
          <p:nvPr/>
        </p:nvSpPr>
        <p:spPr>
          <a:xfrm>
            <a:off x="7696200" y="1638300"/>
            <a:ext cx="3886200" cy="685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Media aritmética, producto de cuatro factores tabulados en ACI 214.4R y dos desigualdades de ACI 318-19 §26.12.4.1. Ninguna se adopta ni se estima.</a:t>
            </a:r>
            <a:endParaRPr lang="es-BO" sz="105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F0FD8182-C377-258C-DF83-EF665E012A80}"/>
              </a:ext>
            </a:extLst>
          </p:cNvPr>
          <p:cNvSpPr txBox="1"/>
          <p:nvPr/>
        </p:nvSpPr>
        <p:spPr>
          <a:xfrm>
            <a:off x="7696200" y="2463800"/>
            <a:ext cx="3886200" cy="1905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Trazabilidad de los datos</a:t>
            </a:r>
          </a:p>
        </p:txBody>
      </p:sp>
      <p:sp>
        <p:nvSpPr>
          <p:cNvPr id="12" name="CuadroTexto 11">
            <a:extLst>
              <a:ext uri="{FF2B5EF4-FFF2-40B4-BE49-F238E27FC236}">
                <a16:creationId xmlns:a16="http://schemas.microsoft.com/office/drawing/2014/main" id="{169B308C-E337-63E6-C5AB-62E2758CE63D}"/>
              </a:ext>
            </a:extLst>
          </p:cNvPr>
          <p:cNvSpPr txBox="1"/>
          <p:nvPr/>
        </p:nvSpPr>
        <p:spPr>
          <a:xfrm>
            <a:off x="7696200" y="2679700"/>
            <a:ext cx="3886200" cy="685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Acta del laboratorio con geometría y condición de ensayo declaradas, diez lecturas de esclerómetro según ASTM C805 y el frente de carbonatación de la clase 1.</a:t>
            </a:r>
            <a:endParaRPr lang="es-BO" sz="1050">
              <a:solidFill>
                <a:srgbClr val="5A5248"/>
              </a:solidFill>
              <a:latin typeface="Segoe UI" panose="020B0502040204020203" pitchFamily="34" charset="0"/>
            </a:endParaRPr>
          </a:p>
        </p:txBody>
      </p:sp>
      <p:sp>
        <p:nvSpPr>
          <p:cNvPr id="14" name="CuadroTexto 13">
            <a:extLst>
              <a:ext uri="{FF2B5EF4-FFF2-40B4-BE49-F238E27FC236}">
                <a16:creationId xmlns:a16="http://schemas.microsoft.com/office/drawing/2014/main" id="{53ACCECF-E91C-1E1A-DCAD-BA6B4DC0E537}"/>
              </a:ext>
            </a:extLst>
          </p:cNvPr>
          <p:cNvSpPr txBox="1"/>
          <p:nvPr/>
        </p:nvSpPr>
        <p:spPr>
          <a:xfrm>
            <a:off x="7696200" y="3505200"/>
            <a:ext cx="3886200" cy="1905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Limitaciones declaradas</a:t>
            </a:r>
          </a:p>
        </p:txBody>
      </p:sp>
      <p:sp>
        <p:nvSpPr>
          <p:cNvPr id="15" name="CuadroTexto 14">
            <a:extLst>
              <a:ext uri="{FF2B5EF4-FFF2-40B4-BE49-F238E27FC236}">
                <a16:creationId xmlns:a16="http://schemas.microsoft.com/office/drawing/2014/main" id="{A88C6433-81F0-9691-137F-2F1458AA1EEE}"/>
              </a:ext>
            </a:extLst>
          </p:cNvPr>
          <p:cNvSpPr txBox="1"/>
          <p:nvPr/>
        </p:nvSpPr>
        <p:spPr>
          <a:xfrm>
            <a:off x="7696200" y="3721100"/>
            <a:ext cx="3886200" cy="685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El margen sobre la media es del 3,6 %. El factor del esclerómetro se apoya en solo tres pares; ACI 228.1R pide seis. El criterio es de aceptación, no de evaluación.</a:t>
            </a:r>
            <a:endParaRPr lang="es-BO" sz="105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B9D51A3A-1E8B-C29D-0931-F7D9DB05B1F0}"/>
              </a:ext>
            </a:extLst>
          </p:cNvPr>
          <p:cNvSpPr/>
          <p:nvPr/>
        </p:nvSpPr>
        <p:spPr>
          <a:xfrm>
            <a:off x="609600" y="46990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DD52CE09-1078-3D0A-C92E-FC407952F8EB}"/>
              </a:ext>
            </a:extLst>
          </p:cNvPr>
          <p:cNvSpPr txBox="1"/>
          <p:nvPr/>
        </p:nvSpPr>
        <p:spPr>
          <a:xfrm>
            <a:off x="838200" y="47498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Comparar la resistencia bruta de un testigo contra f′c </a:t>
            </a:r>
            <a:r>
              <a:rPr lang="es-MX" sz="1200" b="1">
                <a:solidFill>
                  <a:srgbClr val="FFFFFF"/>
                </a:solidFill>
                <a:latin typeface="Segoe UI Semibold" panose="020B0702040204020203" pitchFamily="34" charset="0"/>
              </a:rPr>
              <a:t>enfrenta dos poblaciones distintas y perjudica sistemáticamente a la estructura.</a:t>
            </a:r>
            <a:r>
              <a:rPr lang="es-MX" sz="1200">
                <a:solidFill>
                  <a:srgbClr val="FFFFFF"/>
                </a:solidFill>
                <a:latin typeface="Segoe UI" panose="020B0502040204020203" pitchFamily="34" charset="0"/>
              </a:rPr>
              <a:t> Catorce por ciento de corrección tabulada invirtieron aquí la conclusión.</a:t>
            </a:r>
            <a:endParaRPr lang="es-BO" sz="1200">
              <a:solidFill>
                <a:srgbClr val="FFFFFF"/>
              </a:solidFill>
              <a:latin typeface="Segoe UI" panose="020B0502040204020203" pitchFamily="34" charset="0"/>
            </a:endParaRPr>
          </a:p>
        </p:txBody>
      </p:sp>
      <p:sp>
        <p:nvSpPr>
          <p:cNvPr id="19" name="CuadroTexto 18">
            <a:extLst>
              <a:ext uri="{FF2B5EF4-FFF2-40B4-BE49-F238E27FC236}">
                <a16:creationId xmlns:a16="http://schemas.microsoft.com/office/drawing/2014/main" id="{2C918F65-783E-EA0C-CB1B-66E9680CD7D8}"/>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ACI 214.4R; ACI 318-19 §26.12.4; ASTM C42; ASTM C805; ACI 228.1R.</a:t>
            </a:r>
            <a:endParaRPr lang="es-BO" sz="700">
              <a:solidFill>
                <a:srgbClr val="938A7C"/>
              </a:solidFill>
              <a:latin typeface="Segoe UI" panose="020B0502040204020203" pitchFamily="34" charset="0"/>
            </a:endParaRPr>
          </a:p>
        </p:txBody>
      </p:sp>
      <p:cxnSp>
        <p:nvCxnSpPr>
          <p:cNvPr id="20" name="Conector recto 19">
            <a:extLst>
              <a:ext uri="{FF2B5EF4-FFF2-40B4-BE49-F238E27FC236}">
                <a16:creationId xmlns:a16="http://schemas.microsoft.com/office/drawing/2014/main" id="{1B56813A-94E2-E75A-3E0D-C551A85E5C98}"/>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5FACC8FC-BCC9-0ECA-0F0D-7F522A2C966E}"/>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2" name="CuadroTexto 21">
            <a:extLst>
              <a:ext uri="{FF2B5EF4-FFF2-40B4-BE49-F238E27FC236}">
                <a16:creationId xmlns:a16="http://schemas.microsoft.com/office/drawing/2014/main" id="{1572CB4D-EB0B-D1C6-2842-A436B6180C2A}"/>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23" name="PageNo">
            <a:extLst>
              <a:ext uri="{FF2B5EF4-FFF2-40B4-BE49-F238E27FC236}">
                <a16:creationId xmlns:a16="http://schemas.microsoft.com/office/drawing/2014/main" id="{B5768E33-53B7-2A4C-3841-589C5351BBB1}"/>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36 / 39</a:t>
            </a:r>
          </a:p>
        </p:txBody>
      </p:sp>
    </p:spTree>
    <p:custDataLst>
      <p:tags r:id="rId1"/>
    </p:custDataLst>
    <p:extLst>
      <p:ext uri="{BB962C8B-B14F-4D97-AF65-F5344CB8AC3E}">
        <p14:creationId xmlns:p14="http://schemas.microsoft.com/office/powerpoint/2010/main" val="1650716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BFBD3AE-0D84-1395-CBD2-3324B26F40C7}"/>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HERRAMIENTAS DE LA CLASE  ·  CLASE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3BCE9659-3909-CCBD-10CB-9CFBB3BC60E7}"/>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planilla de testigos y el informe que se defiende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A348D835-B74F-EA03-3F85-D871A09E690C}"/>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59A67627-D2E9-2778-256E-D24AC23BE830}"/>
              </a:ext>
            </a:extLst>
          </p:cNvPr>
          <p:cNvSpPr/>
          <p:nvPr/>
        </p:nvSpPr>
        <p:spPr>
          <a:xfrm>
            <a:off x="609600" y="1371600"/>
            <a:ext cx="6858000" cy="2895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pic>
        <p:nvPicPr>
          <p:cNvPr id="8" name="Imagen 7" descr="Hoja 6 · Corrección de testigos, ACI 214.4R">
            <a:extLst>
              <a:ext uri="{FF2B5EF4-FFF2-40B4-BE49-F238E27FC236}">
                <a16:creationId xmlns:a16="http://schemas.microsoft.com/office/drawing/2014/main" id="{6B52E149-D780-7F4E-BCE7-A47BA374CC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255486" y="1498600"/>
            <a:ext cx="5566228" cy="2641600"/>
          </a:xfrm>
          <a:prstGeom prst="rect">
            <a:avLst/>
          </a:prstGeom>
          <a:ln w="9525">
            <a:solidFill>
              <a:srgbClr val="DCD5C7"/>
            </a:solidFill>
          </a:ln>
          <a:effectLst>
            <a:outerShdw blurRad="152400" dist="38100" dir="5400000" rotWithShape="0">
              <a:srgbClr val="1C1813">
                <a:alpha val="28000"/>
              </a:srgbClr>
            </a:outerShdw>
          </a:effectLst>
        </p:spPr>
      </p:pic>
      <p:sp>
        <p:nvSpPr>
          <p:cNvPr id="9" name="Rectángulo 8">
            <a:extLst>
              <a:ext uri="{FF2B5EF4-FFF2-40B4-BE49-F238E27FC236}">
                <a16:creationId xmlns:a16="http://schemas.microsoft.com/office/drawing/2014/main" id="{9B8113E5-2D19-389C-67CB-18535310A4DB}"/>
              </a:ext>
            </a:extLst>
          </p:cNvPr>
          <p:cNvSpPr/>
          <p:nvPr/>
        </p:nvSpPr>
        <p:spPr>
          <a:xfrm>
            <a:off x="7670800" y="1371600"/>
            <a:ext cx="3911600" cy="28956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0" name="CuadroTexto 9">
            <a:extLst>
              <a:ext uri="{FF2B5EF4-FFF2-40B4-BE49-F238E27FC236}">
                <a16:creationId xmlns:a16="http://schemas.microsoft.com/office/drawing/2014/main" id="{85C59E8C-2AB2-2698-FC8F-DAFF38197886}"/>
              </a:ext>
            </a:extLst>
          </p:cNvPr>
          <p:cNvSpPr txBox="1"/>
          <p:nvPr/>
        </p:nvSpPr>
        <p:spPr>
          <a:xfrm>
            <a:off x="7823200" y="1524000"/>
            <a:ext cx="2164080" cy="139700"/>
          </a:xfrm>
          <a:prstGeom prst="rect">
            <a:avLst/>
          </a:prstGeom>
          <a:noFill/>
        </p:spPr>
        <p:txBody>
          <a:bodyPr vert="horz" wrap="square" lIns="0" tIns="0" rIns="0" bIns="0" rtlCol="0" anchor="t">
            <a:noAutofit/>
          </a:bodyPr>
          <a:lstStyle/>
          <a:p>
            <a:pPr algn="l"/>
            <a:r>
              <a:rPr lang="es-BO" sz="650">
                <a:solidFill>
                  <a:srgbClr val="938A7C"/>
                </a:solidFill>
                <a:latin typeface="Segoe UI" panose="020B0502040204020203" pitchFamily="34" charset="0"/>
              </a:rPr>
              <a:t>Informe de evaluación patológica</a:t>
            </a:r>
          </a:p>
        </p:txBody>
      </p:sp>
      <p:sp>
        <p:nvSpPr>
          <p:cNvPr id="11" name="CuadroTexto 10">
            <a:extLst>
              <a:ext uri="{FF2B5EF4-FFF2-40B4-BE49-F238E27FC236}">
                <a16:creationId xmlns:a16="http://schemas.microsoft.com/office/drawing/2014/main" id="{3E98000C-DD39-8DFC-A292-437AB54A93DB}"/>
              </a:ext>
            </a:extLst>
          </p:cNvPr>
          <p:cNvSpPr txBox="1"/>
          <p:nvPr/>
        </p:nvSpPr>
        <p:spPr>
          <a:xfrm>
            <a:off x="9987280" y="1524000"/>
            <a:ext cx="1442720" cy="139700"/>
          </a:xfrm>
          <a:prstGeom prst="rect">
            <a:avLst/>
          </a:prstGeom>
          <a:noFill/>
        </p:spPr>
        <p:txBody>
          <a:bodyPr vert="horz" wrap="square" lIns="0" tIns="0" rIns="0" bIns="0" rtlCol="0" anchor="t">
            <a:noAutofit/>
          </a:bodyPr>
          <a:lstStyle/>
          <a:p>
            <a:pPr algn="r"/>
            <a:r>
              <a:rPr lang="es-BO" sz="650">
                <a:solidFill>
                  <a:srgbClr val="938A7C"/>
                </a:solidFill>
                <a:latin typeface="Segoe UI" panose="020B0502040204020203" pitchFamily="34" charset="0"/>
              </a:rPr>
              <a:t>PH-INF-001</a:t>
            </a:r>
          </a:p>
        </p:txBody>
      </p:sp>
      <p:cxnSp>
        <p:nvCxnSpPr>
          <p:cNvPr id="12" name="Conector recto 11">
            <a:extLst>
              <a:ext uri="{FF2B5EF4-FFF2-40B4-BE49-F238E27FC236}">
                <a16:creationId xmlns:a16="http://schemas.microsoft.com/office/drawing/2014/main" id="{B5921B7C-3CF6-A7BC-FF02-74F7A4E592BC}"/>
              </a:ext>
            </a:extLst>
          </p:cNvPr>
          <p:cNvCxnSpPr/>
          <p:nvPr/>
        </p:nvCxnSpPr>
        <p:spPr>
          <a:xfrm>
            <a:off x="7823200" y="1676400"/>
            <a:ext cx="3606800" cy="0"/>
          </a:xfrm>
          <a:prstGeom prst="line">
            <a:avLst/>
          </a:prstGeom>
          <a:ln w="9525">
            <a:solidFill>
              <a:srgbClr val="8A6A2F"/>
            </a:solidFill>
            <a:prstDash val="solid"/>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0E37496E-6E57-4A3C-DE94-4B7DD4E91153}"/>
              </a:ext>
            </a:extLst>
          </p:cNvPr>
          <p:cNvCxnSpPr/>
          <p:nvPr/>
        </p:nvCxnSpPr>
        <p:spPr>
          <a:xfrm>
            <a:off x="7823200" y="1803400"/>
            <a:ext cx="3606800" cy="0"/>
          </a:xfrm>
          <a:prstGeom prst="line">
            <a:avLst/>
          </a:prstGeom>
          <a:ln w="12700">
            <a:solidFill>
              <a:srgbClr val="8A6A2F"/>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25928F53-4E8F-581F-3175-8788A1CB2C61}"/>
              </a:ext>
            </a:extLst>
          </p:cNvPr>
          <p:cNvSpPr txBox="1"/>
          <p:nvPr/>
        </p:nvSpPr>
        <p:spPr>
          <a:xfrm>
            <a:off x="7823200" y="1828800"/>
            <a:ext cx="3606800" cy="177800"/>
          </a:xfrm>
          <a:prstGeom prst="rect">
            <a:avLst/>
          </a:prstGeom>
          <a:noFill/>
        </p:spPr>
        <p:txBody>
          <a:bodyPr vert="horz" wrap="square" lIns="0" tIns="0" rIns="0" bIns="0" rtlCol="0" anchor="t">
            <a:noAutofit/>
          </a:bodyPr>
          <a:lstStyle/>
          <a:p>
            <a:pPr algn="l"/>
            <a:r>
              <a:rPr lang="es-BO" sz="950">
                <a:solidFill>
                  <a:srgbClr val="1C1813"/>
                </a:solidFill>
                <a:latin typeface="Bahnschrift SemiBold" panose="020B0502040204020203" pitchFamily="34" charset="0"/>
              </a:rPr>
              <a:t>3 · Hechos observados</a:t>
            </a:r>
          </a:p>
        </p:txBody>
      </p:sp>
      <p:sp>
        <p:nvSpPr>
          <p:cNvPr id="15" name="CuadroTexto 14">
            <a:extLst>
              <a:ext uri="{FF2B5EF4-FFF2-40B4-BE49-F238E27FC236}">
                <a16:creationId xmlns:a16="http://schemas.microsoft.com/office/drawing/2014/main" id="{1F4BF63D-6B0D-6228-492A-E5AE95A58E68}"/>
              </a:ext>
            </a:extLst>
          </p:cNvPr>
          <p:cNvSpPr txBox="1"/>
          <p:nvPr/>
        </p:nvSpPr>
        <p:spPr>
          <a:xfrm>
            <a:off x="7899400" y="2032000"/>
            <a:ext cx="3530600" cy="139700"/>
          </a:xfrm>
          <a:prstGeom prst="rect">
            <a:avLst/>
          </a:prstGeom>
          <a:noFill/>
        </p:spPr>
        <p:txBody>
          <a:bodyPr vert="horz" wrap="square" lIns="0" tIns="0" rIns="0" bIns="0" rtlCol="0" anchor="t">
            <a:noAutofit/>
          </a:bodyPr>
          <a:lstStyle/>
          <a:p>
            <a:pPr algn="l"/>
            <a:r>
              <a:rPr lang="es-MX" sz="650" i="1">
                <a:solidFill>
                  <a:srgbClr val="6A4F20"/>
                </a:solidFill>
                <a:latin typeface="Segoe UI" panose="020B0502040204020203" pitchFamily="34" charset="0"/>
              </a:rPr>
              <a:t>→  Lo visto y lo medido. Las causas van en el apartado 4.</a:t>
            </a:r>
            <a:endParaRPr lang="es-BO" sz="650" i="1">
              <a:solidFill>
                <a:srgbClr val="6A4F20"/>
              </a:solidFill>
              <a:latin typeface="Segoe UI" panose="020B0502040204020203" pitchFamily="34" charset="0"/>
            </a:endParaRPr>
          </a:p>
        </p:txBody>
      </p:sp>
      <p:sp>
        <p:nvSpPr>
          <p:cNvPr id="16" name="Rectángulo 15">
            <a:extLst>
              <a:ext uri="{FF2B5EF4-FFF2-40B4-BE49-F238E27FC236}">
                <a16:creationId xmlns:a16="http://schemas.microsoft.com/office/drawing/2014/main" id="{3431B110-8B6D-11AB-BA3C-EF3918313FEE}"/>
              </a:ext>
            </a:extLst>
          </p:cNvPr>
          <p:cNvSpPr/>
          <p:nvPr/>
        </p:nvSpPr>
        <p:spPr>
          <a:xfrm>
            <a:off x="7823200" y="2235200"/>
            <a:ext cx="1659128" cy="228600"/>
          </a:xfrm>
          <a:prstGeom prst="rect">
            <a:avLst/>
          </a:prstGeom>
          <a:solidFill>
            <a:srgbClr val="EAE4D6"/>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7" name="Rectángulo 16">
            <a:extLst>
              <a:ext uri="{FF2B5EF4-FFF2-40B4-BE49-F238E27FC236}">
                <a16:creationId xmlns:a16="http://schemas.microsoft.com/office/drawing/2014/main" id="{A9F54A98-9E0E-FFBE-F73E-6DA619CFD1FD}"/>
              </a:ext>
            </a:extLst>
          </p:cNvPr>
          <p:cNvSpPr/>
          <p:nvPr/>
        </p:nvSpPr>
        <p:spPr>
          <a:xfrm>
            <a:off x="9482328" y="2235200"/>
            <a:ext cx="1947672" cy="2286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C864D705-F72A-6972-9088-56CAECD33670}"/>
              </a:ext>
            </a:extLst>
          </p:cNvPr>
          <p:cNvSpPr txBox="1"/>
          <p:nvPr/>
        </p:nvSpPr>
        <p:spPr>
          <a:xfrm>
            <a:off x="7886700" y="2260600"/>
            <a:ext cx="1557528" cy="177800"/>
          </a:xfrm>
          <a:prstGeom prst="rect">
            <a:avLst/>
          </a:prstGeom>
          <a:noFill/>
        </p:spPr>
        <p:txBody>
          <a:bodyPr vert="horz" wrap="square" lIns="0" tIns="0" rIns="0" bIns="0" rtlCol="0" anchor="t">
            <a:noAutofit/>
          </a:bodyPr>
          <a:lstStyle/>
          <a:p>
            <a:pPr algn="l"/>
            <a:r>
              <a:rPr lang="es-MX" sz="700">
                <a:solidFill>
                  <a:srgbClr val="1C1813"/>
                </a:solidFill>
                <a:latin typeface="Segoe UI Semibold" panose="020B0702040204020203" pitchFamily="34" charset="0"/>
              </a:rPr>
              <a:t>Fechas de visita y condiciones</a:t>
            </a:r>
            <a:endParaRPr lang="es-BO" sz="700">
              <a:solidFill>
                <a:srgbClr val="1C1813"/>
              </a:solidFill>
              <a:latin typeface="Segoe UI Semibold" panose="020B0702040204020203" pitchFamily="34" charset="0"/>
            </a:endParaRPr>
          </a:p>
        </p:txBody>
      </p:sp>
      <p:sp>
        <p:nvSpPr>
          <p:cNvPr id="19" name="Rectángulo 18">
            <a:extLst>
              <a:ext uri="{FF2B5EF4-FFF2-40B4-BE49-F238E27FC236}">
                <a16:creationId xmlns:a16="http://schemas.microsoft.com/office/drawing/2014/main" id="{571C8E30-4DFE-065A-4FFA-73F521764055}"/>
              </a:ext>
            </a:extLst>
          </p:cNvPr>
          <p:cNvSpPr/>
          <p:nvPr/>
        </p:nvSpPr>
        <p:spPr>
          <a:xfrm>
            <a:off x="7823200" y="2463800"/>
            <a:ext cx="1659128" cy="228600"/>
          </a:xfrm>
          <a:prstGeom prst="rect">
            <a:avLst/>
          </a:prstGeom>
          <a:solidFill>
            <a:srgbClr val="EAE4D6"/>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Rectángulo 19">
            <a:extLst>
              <a:ext uri="{FF2B5EF4-FFF2-40B4-BE49-F238E27FC236}">
                <a16:creationId xmlns:a16="http://schemas.microsoft.com/office/drawing/2014/main" id="{DD216564-56C2-3AC9-9EE7-16E83B2910B0}"/>
              </a:ext>
            </a:extLst>
          </p:cNvPr>
          <p:cNvSpPr/>
          <p:nvPr/>
        </p:nvSpPr>
        <p:spPr>
          <a:xfrm>
            <a:off x="9482328" y="2463800"/>
            <a:ext cx="1947672" cy="2286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1" name="CuadroTexto 20">
            <a:extLst>
              <a:ext uri="{FF2B5EF4-FFF2-40B4-BE49-F238E27FC236}">
                <a16:creationId xmlns:a16="http://schemas.microsoft.com/office/drawing/2014/main" id="{51BE7059-68E6-95EE-2DDF-D5975BC9E5B1}"/>
              </a:ext>
            </a:extLst>
          </p:cNvPr>
          <p:cNvSpPr txBox="1"/>
          <p:nvPr/>
        </p:nvSpPr>
        <p:spPr>
          <a:xfrm>
            <a:off x="7886700" y="2489200"/>
            <a:ext cx="1557528" cy="177800"/>
          </a:xfrm>
          <a:prstGeom prst="rect">
            <a:avLst/>
          </a:prstGeom>
          <a:noFill/>
        </p:spPr>
        <p:txBody>
          <a:bodyPr vert="horz" wrap="square" lIns="0" tIns="0" rIns="0" bIns="0" rtlCol="0" anchor="t">
            <a:noAutofit/>
          </a:bodyPr>
          <a:lstStyle/>
          <a:p>
            <a:pPr algn="l"/>
            <a:r>
              <a:rPr lang="es-BO" sz="700">
                <a:solidFill>
                  <a:srgbClr val="1C1813"/>
                </a:solidFill>
                <a:latin typeface="Segoe UI Semibold" panose="020B0702040204020203" pitchFamily="34" charset="0"/>
              </a:rPr>
              <a:t>Recorrido realizado y criterio</a:t>
            </a:r>
          </a:p>
        </p:txBody>
      </p:sp>
      <p:sp>
        <p:nvSpPr>
          <p:cNvPr id="22" name="Rectángulo 21">
            <a:extLst>
              <a:ext uri="{FF2B5EF4-FFF2-40B4-BE49-F238E27FC236}">
                <a16:creationId xmlns:a16="http://schemas.microsoft.com/office/drawing/2014/main" id="{A7AF5A9C-2EF5-CAE4-68E6-8EE07FC88AC6}"/>
              </a:ext>
            </a:extLst>
          </p:cNvPr>
          <p:cNvSpPr/>
          <p:nvPr/>
        </p:nvSpPr>
        <p:spPr>
          <a:xfrm>
            <a:off x="7823200" y="2768600"/>
            <a:ext cx="901700"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29082024-5B03-FC6C-A4C9-55465037A6E3}"/>
              </a:ext>
            </a:extLst>
          </p:cNvPr>
          <p:cNvSpPr txBox="1"/>
          <p:nvPr/>
        </p:nvSpPr>
        <p:spPr>
          <a:xfrm>
            <a:off x="7874000" y="2781300"/>
            <a:ext cx="825500"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Ensayo</a:t>
            </a:r>
          </a:p>
        </p:txBody>
      </p:sp>
      <p:sp>
        <p:nvSpPr>
          <p:cNvPr id="24" name="Rectángulo 23">
            <a:extLst>
              <a:ext uri="{FF2B5EF4-FFF2-40B4-BE49-F238E27FC236}">
                <a16:creationId xmlns:a16="http://schemas.microsoft.com/office/drawing/2014/main" id="{C74EF725-A879-90E1-1DEE-D9B2B172FDB9}"/>
              </a:ext>
            </a:extLst>
          </p:cNvPr>
          <p:cNvSpPr/>
          <p:nvPr/>
        </p:nvSpPr>
        <p:spPr>
          <a:xfrm>
            <a:off x="8724900" y="2768600"/>
            <a:ext cx="901700"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3B89E552-5C12-DBDC-2E31-BEAF35740BE9}"/>
              </a:ext>
            </a:extLst>
          </p:cNvPr>
          <p:cNvSpPr txBox="1"/>
          <p:nvPr/>
        </p:nvSpPr>
        <p:spPr>
          <a:xfrm>
            <a:off x="8775700" y="2781300"/>
            <a:ext cx="825500"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Norma</a:t>
            </a:r>
          </a:p>
        </p:txBody>
      </p:sp>
      <p:sp>
        <p:nvSpPr>
          <p:cNvPr id="26" name="Rectángulo 25">
            <a:extLst>
              <a:ext uri="{FF2B5EF4-FFF2-40B4-BE49-F238E27FC236}">
                <a16:creationId xmlns:a16="http://schemas.microsoft.com/office/drawing/2014/main" id="{571993A4-BBA0-EAFB-82ED-862D5B9F4409}"/>
              </a:ext>
            </a:extLst>
          </p:cNvPr>
          <p:cNvSpPr/>
          <p:nvPr/>
        </p:nvSpPr>
        <p:spPr>
          <a:xfrm>
            <a:off x="9626600" y="2768600"/>
            <a:ext cx="901700"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7" name="CuadroTexto 26">
            <a:extLst>
              <a:ext uri="{FF2B5EF4-FFF2-40B4-BE49-F238E27FC236}">
                <a16:creationId xmlns:a16="http://schemas.microsoft.com/office/drawing/2014/main" id="{30EBC073-2AEA-23F1-69A9-F3FA9D76CDAE}"/>
              </a:ext>
            </a:extLst>
          </p:cNvPr>
          <p:cNvSpPr txBox="1"/>
          <p:nvPr/>
        </p:nvSpPr>
        <p:spPr>
          <a:xfrm>
            <a:off x="9677400" y="2781300"/>
            <a:ext cx="825500"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Puntos</a:t>
            </a:r>
          </a:p>
        </p:txBody>
      </p:sp>
      <p:sp>
        <p:nvSpPr>
          <p:cNvPr id="28" name="Rectángulo 27">
            <a:extLst>
              <a:ext uri="{FF2B5EF4-FFF2-40B4-BE49-F238E27FC236}">
                <a16:creationId xmlns:a16="http://schemas.microsoft.com/office/drawing/2014/main" id="{64A90E89-D3EC-AB8F-0106-948EB57ACF9A}"/>
              </a:ext>
            </a:extLst>
          </p:cNvPr>
          <p:cNvSpPr/>
          <p:nvPr/>
        </p:nvSpPr>
        <p:spPr>
          <a:xfrm>
            <a:off x="10528300" y="2768600"/>
            <a:ext cx="901700"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9" name="CuadroTexto 28">
            <a:extLst>
              <a:ext uri="{FF2B5EF4-FFF2-40B4-BE49-F238E27FC236}">
                <a16:creationId xmlns:a16="http://schemas.microsoft.com/office/drawing/2014/main" id="{1ED73299-8B18-5F3F-91D8-974244C3EB6A}"/>
              </a:ext>
            </a:extLst>
          </p:cNvPr>
          <p:cNvSpPr txBox="1"/>
          <p:nvPr/>
        </p:nvSpPr>
        <p:spPr>
          <a:xfrm>
            <a:off x="10579100" y="2781300"/>
            <a:ext cx="825500"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Resultado</a:t>
            </a:r>
          </a:p>
        </p:txBody>
      </p:sp>
      <p:sp>
        <p:nvSpPr>
          <p:cNvPr id="30" name="Rectángulo 29">
            <a:extLst>
              <a:ext uri="{FF2B5EF4-FFF2-40B4-BE49-F238E27FC236}">
                <a16:creationId xmlns:a16="http://schemas.microsoft.com/office/drawing/2014/main" id="{8B33D679-8252-4A2B-6992-1532E47188AA}"/>
              </a:ext>
            </a:extLst>
          </p:cNvPr>
          <p:cNvSpPr/>
          <p:nvPr/>
        </p:nvSpPr>
        <p:spPr>
          <a:xfrm>
            <a:off x="7823200" y="2946400"/>
            <a:ext cx="901700"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1" name="CuadroTexto 30">
            <a:extLst>
              <a:ext uri="{FF2B5EF4-FFF2-40B4-BE49-F238E27FC236}">
                <a16:creationId xmlns:a16="http://schemas.microsoft.com/office/drawing/2014/main" id="{98150BC2-5CE8-770A-A959-171DE78B5AFC}"/>
              </a:ext>
            </a:extLst>
          </p:cNvPr>
          <p:cNvSpPr txBox="1"/>
          <p:nvPr/>
        </p:nvSpPr>
        <p:spPr>
          <a:xfrm>
            <a:off x="7874000" y="29591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32" name="Rectángulo 31">
            <a:extLst>
              <a:ext uri="{FF2B5EF4-FFF2-40B4-BE49-F238E27FC236}">
                <a16:creationId xmlns:a16="http://schemas.microsoft.com/office/drawing/2014/main" id="{8FDE385E-26A0-A25C-1B5E-F327BB315A21}"/>
              </a:ext>
            </a:extLst>
          </p:cNvPr>
          <p:cNvSpPr/>
          <p:nvPr/>
        </p:nvSpPr>
        <p:spPr>
          <a:xfrm>
            <a:off x="8724900" y="2946400"/>
            <a:ext cx="901700"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64375C75-EEAD-C52F-56DF-3591F54C078F}"/>
              </a:ext>
            </a:extLst>
          </p:cNvPr>
          <p:cNvSpPr txBox="1"/>
          <p:nvPr/>
        </p:nvSpPr>
        <p:spPr>
          <a:xfrm>
            <a:off x="8775700" y="29591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34" name="Rectángulo 33">
            <a:extLst>
              <a:ext uri="{FF2B5EF4-FFF2-40B4-BE49-F238E27FC236}">
                <a16:creationId xmlns:a16="http://schemas.microsoft.com/office/drawing/2014/main" id="{F88A9B36-4267-6AB8-CBEB-B0FA671E383F}"/>
              </a:ext>
            </a:extLst>
          </p:cNvPr>
          <p:cNvSpPr/>
          <p:nvPr/>
        </p:nvSpPr>
        <p:spPr>
          <a:xfrm>
            <a:off x="9626600" y="2946400"/>
            <a:ext cx="901700"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5" name="CuadroTexto 34">
            <a:extLst>
              <a:ext uri="{FF2B5EF4-FFF2-40B4-BE49-F238E27FC236}">
                <a16:creationId xmlns:a16="http://schemas.microsoft.com/office/drawing/2014/main" id="{3D1BD0A5-08F5-384E-2B7D-A1A1D8F0B665}"/>
              </a:ext>
            </a:extLst>
          </p:cNvPr>
          <p:cNvSpPr txBox="1"/>
          <p:nvPr/>
        </p:nvSpPr>
        <p:spPr>
          <a:xfrm>
            <a:off x="9677400" y="29591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36" name="Rectángulo 35">
            <a:extLst>
              <a:ext uri="{FF2B5EF4-FFF2-40B4-BE49-F238E27FC236}">
                <a16:creationId xmlns:a16="http://schemas.microsoft.com/office/drawing/2014/main" id="{18064F6B-8031-804F-0C73-55CC5CB79F38}"/>
              </a:ext>
            </a:extLst>
          </p:cNvPr>
          <p:cNvSpPr/>
          <p:nvPr/>
        </p:nvSpPr>
        <p:spPr>
          <a:xfrm>
            <a:off x="10528300" y="2946400"/>
            <a:ext cx="901700"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134F8AF1-2AA5-AC99-DD22-071F0FD94B77}"/>
              </a:ext>
            </a:extLst>
          </p:cNvPr>
          <p:cNvSpPr txBox="1"/>
          <p:nvPr/>
        </p:nvSpPr>
        <p:spPr>
          <a:xfrm>
            <a:off x="10579100" y="29591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38" name="Rectángulo 37">
            <a:extLst>
              <a:ext uri="{FF2B5EF4-FFF2-40B4-BE49-F238E27FC236}">
                <a16:creationId xmlns:a16="http://schemas.microsoft.com/office/drawing/2014/main" id="{7CB73CBA-1503-3F4D-E964-4D6FCA85097B}"/>
              </a:ext>
            </a:extLst>
          </p:cNvPr>
          <p:cNvSpPr/>
          <p:nvPr/>
        </p:nvSpPr>
        <p:spPr>
          <a:xfrm>
            <a:off x="7823200" y="3136900"/>
            <a:ext cx="901700"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9" name="CuadroTexto 38">
            <a:extLst>
              <a:ext uri="{FF2B5EF4-FFF2-40B4-BE49-F238E27FC236}">
                <a16:creationId xmlns:a16="http://schemas.microsoft.com/office/drawing/2014/main" id="{BF14F3B2-211E-54F1-9CFA-371865690D84}"/>
              </a:ext>
            </a:extLst>
          </p:cNvPr>
          <p:cNvSpPr txBox="1"/>
          <p:nvPr/>
        </p:nvSpPr>
        <p:spPr>
          <a:xfrm>
            <a:off x="7874000" y="31496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40" name="Rectángulo 39">
            <a:extLst>
              <a:ext uri="{FF2B5EF4-FFF2-40B4-BE49-F238E27FC236}">
                <a16:creationId xmlns:a16="http://schemas.microsoft.com/office/drawing/2014/main" id="{04ABC9F5-16E6-031C-912F-489D98B9D10A}"/>
              </a:ext>
            </a:extLst>
          </p:cNvPr>
          <p:cNvSpPr/>
          <p:nvPr/>
        </p:nvSpPr>
        <p:spPr>
          <a:xfrm>
            <a:off x="8724900" y="3136900"/>
            <a:ext cx="901700"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1" name="CuadroTexto 40">
            <a:extLst>
              <a:ext uri="{FF2B5EF4-FFF2-40B4-BE49-F238E27FC236}">
                <a16:creationId xmlns:a16="http://schemas.microsoft.com/office/drawing/2014/main" id="{3BB698EC-DB0E-7EBE-2E2D-2300637BDB06}"/>
              </a:ext>
            </a:extLst>
          </p:cNvPr>
          <p:cNvSpPr txBox="1"/>
          <p:nvPr/>
        </p:nvSpPr>
        <p:spPr>
          <a:xfrm>
            <a:off x="8775700" y="31496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42" name="Rectángulo 41">
            <a:extLst>
              <a:ext uri="{FF2B5EF4-FFF2-40B4-BE49-F238E27FC236}">
                <a16:creationId xmlns:a16="http://schemas.microsoft.com/office/drawing/2014/main" id="{4B72B7BD-4BDB-4C9A-2B46-74E564CB806F}"/>
              </a:ext>
            </a:extLst>
          </p:cNvPr>
          <p:cNvSpPr/>
          <p:nvPr/>
        </p:nvSpPr>
        <p:spPr>
          <a:xfrm>
            <a:off x="9626600" y="3136900"/>
            <a:ext cx="901700"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3" name="CuadroTexto 42">
            <a:extLst>
              <a:ext uri="{FF2B5EF4-FFF2-40B4-BE49-F238E27FC236}">
                <a16:creationId xmlns:a16="http://schemas.microsoft.com/office/drawing/2014/main" id="{9A89A0EE-A14D-0077-87C1-0F1F8EA44C15}"/>
              </a:ext>
            </a:extLst>
          </p:cNvPr>
          <p:cNvSpPr txBox="1"/>
          <p:nvPr/>
        </p:nvSpPr>
        <p:spPr>
          <a:xfrm>
            <a:off x="9677400" y="31496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44" name="Rectángulo 43">
            <a:extLst>
              <a:ext uri="{FF2B5EF4-FFF2-40B4-BE49-F238E27FC236}">
                <a16:creationId xmlns:a16="http://schemas.microsoft.com/office/drawing/2014/main" id="{84900884-AA99-9495-0279-7B16CEE2B23A}"/>
              </a:ext>
            </a:extLst>
          </p:cNvPr>
          <p:cNvSpPr/>
          <p:nvPr/>
        </p:nvSpPr>
        <p:spPr>
          <a:xfrm>
            <a:off x="10528300" y="3136900"/>
            <a:ext cx="901700"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5" name="CuadroTexto 44">
            <a:extLst>
              <a:ext uri="{FF2B5EF4-FFF2-40B4-BE49-F238E27FC236}">
                <a16:creationId xmlns:a16="http://schemas.microsoft.com/office/drawing/2014/main" id="{1595B73B-993E-99B6-4737-E016D4C3FA4D}"/>
              </a:ext>
            </a:extLst>
          </p:cNvPr>
          <p:cNvSpPr txBox="1"/>
          <p:nvPr/>
        </p:nvSpPr>
        <p:spPr>
          <a:xfrm>
            <a:off x="10579100" y="3149600"/>
            <a:ext cx="825500" cy="152400"/>
          </a:xfrm>
          <a:prstGeom prst="rect">
            <a:avLst/>
          </a:prstGeom>
          <a:noFill/>
        </p:spPr>
        <p:txBody>
          <a:bodyPr vert="horz" wrap="square" lIns="0" tIns="0" rIns="0" bIns="0" rtlCol="0" anchor="t">
            <a:noAutofit/>
          </a:bodyPr>
          <a:lstStyle/>
          <a:p>
            <a:endParaRPr lang="es-BO" sz="700">
              <a:solidFill>
                <a:srgbClr val="5A5248"/>
              </a:solidFill>
              <a:latin typeface="Segoe UI" panose="020B0502040204020203" pitchFamily="34" charset="0"/>
            </a:endParaRPr>
          </a:p>
        </p:txBody>
      </p:sp>
      <p:sp>
        <p:nvSpPr>
          <p:cNvPr id="46" name="Rectángulo: esquinas redondeadas 45">
            <a:extLst>
              <a:ext uri="{FF2B5EF4-FFF2-40B4-BE49-F238E27FC236}">
                <a16:creationId xmlns:a16="http://schemas.microsoft.com/office/drawing/2014/main" id="{265E53F6-525E-8A92-F33B-03032D931857}"/>
              </a:ext>
            </a:extLst>
          </p:cNvPr>
          <p:cNvSpPr/>
          <p:nvPr/>
        </p:nvSpPr>
        <p:spPr>
          <a:xfrm>
            <a:off x="609600" y="4343400"/>
            <a:ext cx="6858000" cy="279400"/>
          </a:xfrm>
          <a:prstGeom prst="roundRect">
            <a:avLst>
              <a:gd name="adj" fmla="val 6000"/>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38100" rIns="101600" bIns="38100" rtlCol="0" anchor="ctr"/>
          <a:lstStyle/>
          <a:p>
            <a:pPr algn="l"/>
            <a:r>
              <a:rPr lang="es-BO" sz="850">
                <a:solidFill>
                  <a:srgbClr val="C9A66B"/>
                </a:solidFill>
                <a:latin typeface="Segoe UI Semibold" panose="020B0702040204020203" pitchFamily="34" charset="0"/>
              </a:rPr>
              <a:t>Planilla  ·  Hoja 6 · Corrección de testigos, ACI 214.4R</a:t>
            </a:r>
          </a:p>
        </p:txBody>
      </p:sp>
      <p:sp>
        <p:nvSpPr>
          <p:cNvPr id="47" name="Rectángulo: esquinas redondeadas 46">
            <a:extLst>
              <a:ext uri="{FF2B5EF4-FFF2-40B4-BE49-F238E27FC236}">
                <a16:creationId xmlns:a16="http://schemas.microsoft.com/office/drawing/2014/main" id="{8B1496B3-C244-E6FE-9079-2FAEF307BF66}"/>
              </a:ext>
            </a:extLst>
          </p:cNvPr>
          <p:cNvSpPr/>
          <p:nvPr/>
        </p:nvSpPr>
        <p:spPr>
          <a:xfrm>
            <a:off x="7670800" y="4343400"/>
            <a:ext cx="3911600" cy="279400"/>
          </a:xfrm>
          <a:prstGeom prst="roundRect">
            <a:avLst>
              <a:gd name="adj" fmla="val 6000"/>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38100" rIns="101600" bIns="38100" rtlCol="0" anchor="ctr"/>
          <a:lstStyle/>
          <a:p>
            <a:pPr algn="l"/>
            <a:r>
              <a:rPr lang="es-BO" sz="850">
                <a:solidFill>
                  <a:srgbClr val="C9A66B"/>
                </a:solidFill>
                <a:latin typeface="Segoe UI Semibold" panose="020B0702040204020203" pitchFamily="34" charset="0"/>
              </a:rPr>
              <a:t>Formato  ·  PH_Informe-de-evaluacion-patologica.docx</a:t>
            </a:r>
          </a:p>
        </p:txBody>
      </p:sp>
      <p:sp>
        <p:nvSpPr>
          <p:cNvPr id="48" name="Rectángulo 47">
            <a:extLst>
              <a:ext uri="{FF2B5EF4-FFF2-40B4-BE49-F238E27FC236}">
                <a16:creationId xmlns:a16="http://schemas.microsoft.com/office/drawing/2014/main" id="{0B984AE7-2C93-79CA-31A7-1B56B93EE6CB}"/>
              </a:ext>
            </a:extLst>
          </p:cNvPr>
          <p:cNvSpPr/>
          <p:nvPr/>
        </p:nvSpPr>
        <p:spPr>
          <a:xfrm>
            <a:off x="6096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9" name="Rectángulo 48">
            <a:extLst>
              <a:ext uri="{FF2B5EF4-FFF2-40B4-BE49-F238E27FC236}">
                <a16:creationId xmlns:a16="http://schemas.microsoft.com/office/drawing/2014/main" id="{F51ED1BE-8B6C-4235-EC2F-9D545D31BD29}"/>
              </a:ext>
            </a:extLst>
          </p:cNvPr>
          <p:cNvSpPr/>
          <p:nvPr/>
        </p:nvSpPr>
        <p:spPr>
          <a:xfrm>
            <a:off x="6096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0" name="CuadroTexto 49">
            <a:extLst>
              <a:ext uri="{FF2B5EF4-FFF2-40B4-BE49-F238E27FC236}">
                <a16:creationId xmlns:a16="http://schemas.microsoft.com/office/drawing/2014/main" id="{0B1B0CFE-2EC7-E59E-74D2-CDB599D9F2AF}"/>
              </a:ext>
            </a:extLst>
          </p:cNvPr>
          <p:cNvSpPr txBox="1"/>
          <p:nvPr/>
        </p:nvSpPr>
        <p:spPr>
          <a:xfrm>
            <a:off x="7620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Qué pone usted</a:t>
            </a:r>
          </a:p>
        </p:txBody>
      </p:sp>
      <p:sp>
        <p:nvSpPr>
          <p:cNvPr id="51" name="CuadroTexto 50">
            <a:extLst>
              <a:ext uri="{FF2B5EF4-FFF2-40B4-BE49-F238E27FC236}">
                <a16:creationId xmlns:a16="http://schemas.microsoft.com/office/drawing/2014/main" id="{601AF080-6FAF-8CDC-3BA5-F879623FA6B1}"/>
              </a:ext>
            </a:extLst>
          </p:cNvPr>
          <p:cNvSpPr txBox="1"/>
          <p:nvPr/>
        </p:nvSpPr>
        <p:spPr>
          <a:xfrm>
            <a:off x="7620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Los tres resultados brutos del laboratorio, la relación longitud entre diámetro, el diámetro del testigo y la condición de ensayo.</a:t>
            </a:r>
            <a:endParaRPr lang="es-BO" sz="900">
              <a:solidFill>
                <a:srgbClr val="5A5248"/>
              </a:solidFill>
              <a:latin typeface="Segoe UI" panose="020B0502040204020203" pitchFamily="34" charset="0"/>
            </a:endParaRPr>
          </a:p>
        </p:txBody>
      </p:sp>
      <p:sp>
        <p:nvSpPr>
          <p:cNvPr id="52" name="Rectángulo 51">
            <a:extLst>
              <a:ext uri="{FF2B5EF4-FFF2-40B4-BE49-F238E27FC236}">
                <a16:creationId xmlns:a16="http://schemas.microsoft.com/office/drawing/2014/main" id="{0883946D-8119-1611-17DB-74413B760933}"/>
              </a:ext>
            </a:extLst>
          </p:cNvPr>
          <p:cNvSpPr/>
          <p:nvPr/>
        </p:nvSpPr>
        <p:spPr>
          <a:xfrm>
            <a:off x="33909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3" name="Rectángulo 52">
            <a:extLst>
              <a:ext uri="{FF2B5EF4-FFF2-40B4-BE49-F238E27FC236}">
                <a16:creationId xmlns:a16="http://schemas.microsoft.com/office/drawing/2014/main" id="{07732B87-DE05-C4EC-921E-DF7FB3A9F5FA}"/>
              </a:ext>
            </a:extLst>
          </p:cNvPr>
          <p:cNvSpPr/>
          <p:nvPr/>
        </p:nvSpPr>
        <p:spPr>
          <a:xfrm>
            <a:off x="33909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4" name="CuadroTexto 53">
            <a:extLst>
              <a:ext uri="{FF2B5EF4-FFF2-40B4-BE49-F238E27FC236}">
                <a16:creationId xmlns:a16="http://schemas.microsoft.com/office/drawing/2014/main" id="{040C5DCE-3D35-E898-DA3B-4B61D9D35F8A}"/>
              </a:ext>
            </a:extLst>
          </p:cNvPr>
          <p:cNvSpPr txBox="1"/>
          <p:nvPr/>
        </p:nvSpPr>
        <p:spPr>
          <a:xfrm>
            <a:off x="35433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Qué sale</a:t>
            </a:r>
          </a:p>
        </p:txBody>
      </p:sp>
      <p:sp>
        <p:nvSpPr>
          <p:cNvPr id="55" name="CuadroTexto 54">
            <a:extLst>
              <a:ext uri="{FF2B5EF4-FFF2-40B4-BE49-F238E27FC236}">
                <a16:creationId xmlns:a16="http://schemas.microsoft.com/office/drawing/2014/main" id="{5EB14A6A-0D3E-0012-D99C-FFD6CD07E605}"/>
              </a:ext>
            </a:extLst>
          </p:cNvPr>
          <p:cNvSpPr txBox="1"/>
          <p:nvPr/>
        </p:nvSpPr>
        <p:spPr>
          <a:xfrm>
            <a:off x="35433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El factor total de corrección y la resistencia equivalente in situ, que es la que entra en las hojas 7 y 8.</a:t>
            </a:r>
            <a:endParaRPr lang="es-BO" sz="900">
              <a:solidFill>
                <a:srgbClr val="5A5248"/>
              </a:solidFill>
              <a:latin typeface="Segoe UI" panose="020B0502040204020203" pitchFamily="34" charset="0"/>
            </a:endParaRPr>
          </a:p>
        </p:txBody>
      </p:sp>
      <p:sp>
        <p:nvSpPr>
          <p:cNvPr id="56" name="Rectángulo 55">
            <a:extLst>
              <a:ext uri="{FF2B5EF4-FFF2-40B4-BE49-F238E27FC236}">
                <a16:creationId xmlns:a16="http://schemas.microsoft.com/office/drawing/2014/main" id="{F66A4B96-000A-1F28-A530-4057CAC77D32}"/>
              </a:ext>
            </a:extLst>
          </p:cNvPr>
          <p:cNvSpPr/>
          <p:nvPr/>
        </p:nvSpPr>
        <p:spPr>
          <a:xfrm>
            <a:off x="61722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7" name="Rectángulo 56">
            <a:extLst>
              <a:ext uri="{FF2B5EF4-FFF2-40B4-BE49-F238E27FC236}">
                <a16:creationId xmlns:a16="http://schemas.microsoft.com/office/drawing/2014/main" id="{CBBFE068-671B-6592-6E2A-7306871F41E2}"/>
              </a:ext>
            </a:extLst>
          </p:cNvPr>
          <p:cNvSpPr/>
          <p:nvPr/>
        </p:nvSpPr>
        <p:spPr>
          <a:xfrm>
            <a:off x="61722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8" name="CuadroTexto 57">
            <a:extLst>
              <a:ext uri="{FF2B5EF4-FFF2-40B4-BE49-F238E27FC236}">
                <a16:creationId xmlns:a16="http://schemas.microsoft.com/office/drawing/2014/main" id="{B9A6CBEF-6712-3331-F928-3D51CEAEED85}"/>
              </a:ext>
            </a:extLst>
          </p:cNvPr>
          <p:cNvSpPr txBox="1"/>
          <p:nvPr/>
        </p:nvSpPr>
        <p:spPr>
          <a:xfrm>
            <a:off x="63246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El criterio</a:t>
            </a:r>
          </a:p>
        </p:txBody>
      </p:sp>
      <p:sp>
        <p:nvSpPr>
          <p:cNvPr id="59" name="CuadroTexto 58">
            <a:extLst>
              <a:ext uri="{FF2B5EF4-FFF2-40B4-BE49-F238E27FC236}">
                <a16:creationId xmlns:a16="http://schemas.microsoft.com/office/drawing/2014/main" id="{82360327-6765-052F-4F4B-1DD2547C70D3}"/>
              </a:ext>
            </a:extLst>
          </p:cNvPr>
          <p:cNvSpPr txBox="1"/>
          <p:nvPr/>
        </p:nvSpPr>
        <p:spPr>
          <a:xfrm>
            <a:off x="63246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Compara contra 0,85 de la resistencia de proyecto en media y 0,75 en valor individual, y escribe CUMPLE o NO CUMPLE.</a:t>
            </a:r>
            <a:endParaRPr lang="es-BO" sz="900">
              <a:solidFill>
                <a:srgbClr val="5A5248"/>
              </a:solidFill>
              <a:latin typeface="Segoe UI" panose="020B0502040204020203" pitchFamily="34" charset="0"/>
            </a:endParaRPr>
          </a:p>
        </p:txBody>
      </p:sp>
      <p:sp>
        <p:nvSpPr>
          <p:cNvPr id="60" name="Rectángulo 59">
            <a:extLst>
              <a:ext uri="{FF2B5EF4-FFF2-40B4-BE49-F238E27FC236}">
                <a16:creationId xmlns:a16="http://schemas.microsoft.com/office/drawing/2014/main" id="{C1C748ED-C9FA-B227-B139-34234EDDF498}"/>
              </a:ext>
            </a:extLst>
          </p:cNvPr>
          <p:cNvSpPr/>
          <p:nvPr/>
        </p:nvSpPr>
        <p:spPr>
          <a:xfrm>
            <a:off x="89535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1" name="Rectángulo 60">
            <a:extLst>
              <a:ext uri="{FF2B5EF4-FFF2-40B4-BE49-F238E27FC236}">
                <a16:creationId xmlns:a16="http://schemas.microsoft.com/office/drawing/2014/main" id="{619FB859-7202-57A8-42E8-70A1802B65A7}"/>
              </a:ext>
            </a:extLst>
          </p:cNvPr>
          <p:cNvSpPr/>
          <p:nvPr/>
        </p:nvSpPr>
        <p:spPr>
          <a:xfrm>
            <a:off x="89535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2" name="CuadroTexto 61">
            <a:extLst>
              <a:ext uri="{FF2B5EF4-FFF2-40B4-BE49-F238E27FC236}">
                <a16:creationId xmlns:a16="http://schemas.microsoft.com/office/drawing/2014/main" id="{905E2D17-09D8-1563-CA78-B46675BCE887}"/>
              </a:ext>
            </a:extLst>
          </p:cNvPr>
          <p:cNvSpPr txBox="1"/>
          <p:nvPr/>
        </p:nvSpPr>
        <p:spPr>
          <a:xfrm>
            <a:off x="91059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El informe</a:t>
            </a:r>
          </a:p>
        </p:txBody>
      </p:sp>
      <p:sp>
        <p:nvSpPr>
          <p:cNvPr id="63" name="CuadroTexto 62">
            <a:extLst>
              <a:ext uri="{FF2B5EF4-FFF2-40B4-BE49-F238E27FC236}">
                <a16:creationId xmlns:a16="http://schemas.microsoft.com/office/drawing/2014/main" id="{8CF1EBA5-56DA-4576-8DCA-01FBABF523AC}"/>
              </a:ext>
            </a:extLst>
          </p:cNvPr>
          <p:cNvSpPr txBox="1"/>
          <p:nvPr/>
        </p:nvSpPr>
        <p:spPr>
          <a:xfrm>
            <a:off x="91059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Seis apartados en el orden de ACI 562, índice automático, control de revisiones, firmas y lista de anexos.</a:t>
            </a:r>
            <a:endParaRPr lang="es-BO" sz="900">
              <a:solidFill>
                <a:srgbClr val="5A5248"/>
              </a:solidFill>
              <a:latin typeface="Segoe UI" panose="020B0502040204020203" pitchFamily="34" charset="0"/>
            </a:endParaRPr>
          </a:p>
        </p:txBody>
      </p:sp>
      <p:sp>
        <p:nvSpPr>
          <p:cNvPr id="64" name="CuadroTexto 63">
            <a:extLst>
              <a:ext uri="{FF2B5EF4-FFF2-40B4-BE49-F238E27FC236}">
                <a16:creationId xmlns:a16="http://schemas.microsoft.com/office/drawing/2014/main" id="{0D001A60-D68F-BEBA-1017-EF0CABE8FC2C}"/>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Plantillas_y_formatos del curso. Los valores cargados son los del caso ejemplo, la nave Sector 4.</a:t>
            </a:r>
            <a:endParaRPr lang="es-BO" sz="700">
              <a:solidFill>
                <a:srgbClr val="938A7C"/>
              </a:solidFill>
              <a:latin typeface="Segoe UI" panose="020B0502040204020203" pitchFamily="34" charset="0"/>
            </a:endParaRPr>
          </a:p>
        </p:txBody>
      </p:sp>
      <p:cxnSp>
        <p:nvCxnSpPr>
          <p:cNvPr id="65" name="Conector recto 64">
            <a:extLst>
              <a:ext uri="{FF2B5EF4-FFF2-40B4-BE49-F238E27FC236}">
                <a16:creationId xmlns:a16="http://schemas.microsoft.com/office/drawing/2014/main" id="{E089433C-0F4D-B98A-E1A0-C05F1470248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6" name="CuadroTexto 65">
            <a:extLst>
              <a:ext uri="{FF2B5EF4-FFF2-40B4-BE49-F238E27FC236}">
                <a16:creationId xmlns:a16="http://schemas.microsoft.com/office/drawing/2014/main" id="{30B4F2A8-494F-E188-9A1C-184B5F3455D5}"/>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67" name="CuadroTexto 66">
            <a:extLst>
              <a:ext uri="{FF2B5EF4-FFF2-40B4-BE49-F238E27FC236}">
                <a16:creationId xmlns:a16="http://schemas.microsoft.com/office/drawing/2014/main" id="{AACD4905-3016-46D0-2391-3787C0E37CB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5 · DIAGNÓSTICO</a:t>
            </a:r>
          </a:p>
        </p:txBody>
      </p:sp>
      <p:sp>
        <p:nvSpPr>
          <p:cNvPr id="68" name="PageNo">
            <a:extLst>
              <a:ext uri="{FF2B5EF4-FFF2-40B4-BE49-F238E27FC236}">
                <a16:creationId xmlns:a16="http://schemas.microsoft.com/office/drawing/2014/main" id="{EC7BD61A-2A17-192E-5872-A361265876B6}"/>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37 / 39</a:t>
            </a:r>
          </a:p>
        </p:txBody>
      </p:sp>
    </p:spTree>
    <p:custDataLst>
      <p:tags r:id="rId1"/>
    </p:custDataLst>
    <p:extLst>
      <p:ext uri="{BB962C8B-B14F-4D97-AF65-F5344CB8AC3E}">
        <p14:creationId xmlns:p14="http://schemas.microsoft.com/office/powerpoint/2010/main" val="2224211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45AB15D-1217-4865-160C-82D44D74D8AF}"/>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8A6A2F"/>
                </a:solidFill>
                <a:latin typeface="Segoe UI Semibold" panose="020B0702040204020203" pitchFamily="34" charset="0"/>
              </a:rPr>
              <a:t>SÍNTESIS</a:t>
            </a:r>
          </a:p>
        </p:txBody>
      </p:sp>
      <p:sp>
        <p:nvSpPr>
          <p:cNvPr id="3" name="Title">
            <a:extLst>
              <a:ext uri="{FF2B5EF4-FFF2-40B4-BE49-F238E27FC236}">
                <a16:creationId xmlns:a16="http://schemas.microsoft.com/office/drawing/2014/main" id="{F7CB0BDE-40EF-7C2B-E085-B519967C8B61}"/>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BO" sz="2700">
                <a:solidFill>
                  <a:srgbClr val="FFFFFF"/>
                </a:solidFill>
                <a:latin typeface="Bahnschrift SemiBold" panose="020B0502040204020203" pitchFamily="34" charset="0"/>
              </a:rPr>
              <a:t>Ideas para llevarse</a:t>
            </a:r>
          </a:p>
        </p:txBody>
      </p:sp>
      <p:cxnSp>
        <p:nvCxnSpPr>
          <p:cNvPr id="4" name="Conector recto 3">
            <a:extLst>
              <a:ext uri="{FF2B5EF4-FFF2-40B4-BE49-F238E27FC236}">
                <a16:creationId xmlns:a16="http://schemas.microsoft.com/office/drawing/2014/main" id="{C52CF400-F580-DE46-9094-47FB3AD3BEB7}"/>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FA86CEA6-D58E-037E-63DF-588F975AEB0F}"/>
              </a:ext>
            </a:extLst>
          </p:cNvPr>
          <p:cNvSpPr/>
          <p:nvPr/>
        </p:nvSpPr>
        <p:spPr>
          <a:xfrm>
            <a:off x="609600" y="14986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9A43140A-C0D5-84AE-CCF4-D8C6EF9A7B7C}"/>
              </a:ext>
            </a:extLst>
          </p:cNvPr>
          <p:cNvSpPr txBox="1"/>
          <p:nvPr/>
        </p:nvSpPr>
        <p:spPr>
          <a:xfrm>
            <a:off x="863600" y="16764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01</a:t>
            </a:r>
          </a:p>
        </p:txBody>
      </p:sp>
      <p:sp>
        <p:nvSpPr>
          <p:cNvPr id="8" name="CuadroTexto 7">
            <a:extLst>
              <a:ext uri="{FF2B5EF4-FFF2-40B4-BE49-F238E27FC236}">
                <a16:creationId xmlns:a16="http://schemas.microsoft.com/office/drawing/2014/main" id="{84098DA1-9B67-8CA2-6A59-8856D1864369}"/>
              </a:ext>
            </a:extLst>
          </p:cNvPr>
          <p:cNvSpPr txBox="1"/>
          <p:nvPr/>
        </p:nvSpPr>
        <p:spPr>
          <a:xfrm>
            <a:off x="1625600" y="16764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La campaña va de lo barato a lo caro: los no destructivos deciden dónde van los destructivos, nunca al revés.</a:t>
            </a:r>
            <a:endParaRPr lang="es-BO" sz="1250">
              <a:solidFill>
                <a:srgbClr val="FFFFFF"/>
              </a:solidFill>
              <a:latin typeface="Segoe UI" panose="020B0502040204020203" pitchFamily="34" charset="0"/>
            </a:endParaRPr>
          </a:p>
        </p:txBody>
      </p:sp>
      <p:sp>
        <p:nvSpPr>
          <p:cNvPr id="9" name="Rectángulo 8">
            <a:extLst>
              <a:ext uri="{FF2B5EF4-FFF2-40B4-BE49-F238E27FC236}">
                <a16:creationId xmlns:a16="http://schemas.microsoft.com/office/drawing/2014/main" id="{7E48144D-75A0-6390-4427-B2072E4810DD}"/>
              </a:ext>
            </a:extLst>
          </p:cNvPr>
          <p:cNvSpPr/>
          <p:nvPr/>
        </p:nvSpPr>
        <p:spPr>
          <a:xfrm>
            <a:off x="6248400" y="14986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0" name="CuadroTexto 9">
            <a:extLst>
              <a:ext uri="{FF2B5EF4-FFF2-40B4-BE49-F238E27FC236}">
                <a16:creationId xmlns:a16="http://schemas.microsoft.com/office/drawing/2014/main" id="{FD279AA1-D0B5-40FF-A19D-42FC41F44950}"/>
              </a:ext>
            </a:extLst>
          </p:cNvPr>
          <p:cNvSpPr txBox="1"/>
          <p:nvPr/>
        </p:nvSpPr>
        <p:spPr>
          <a:xfrm>
            <a:off x="6502400" y="16764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02</a:t>
            </a:r>
          </a:p>
        </p:txBody>
      </p:sp>
      <p:sp>
        <p:nvSpPr>
          <p:cNvPr id="11" name="CuadroTexto 10">
            <a:extLst>
              <a:ext uri="{FF2B5EF4-FFF2-40B4-BE49-F238E27FC236}">
                <a16:creationId xmlns:a16="http://schemas.microsoft.com/office/drawing/2014/main" id="{A8F63322-F051-C6C2-B15A-B80CB8ACDDD7}"/>
              </a:ext>
            </a:extLst>
          </p:cNvPr>
          <p:cNvSpPr txBox="1"/>
          <p:nvPr/>
        </p:nvSpPr>
        <p:spPr>
          <a:xfrm>
            <a:off x="7264400" y="16764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Cada ensayo tiene una columna de «qué NO mide», y casi todos los errores de interpretación salen de ahí.</a:t>
            </a:r>
            <a:endParaRPr lang="es-BO" sz="1250">
              <a:solidFill>
                <a:srgbClr val="FFFFFF"/>
              </a:solidFill>
              <a:latin typeface="Segoe UI" panose="020B0502040204020203" pitchFamily="34" charset="0"/>
            </a:endParaRPr>
          </a:p>
        </p:txBody>
      </p:sp>
      <p:sp>
        <p:nvSpPr>
          <p:cNvPr id="12" name="Rectángulo 11">
            <a:extLst>
              <a:ext uri="{FF2B5EF4-FFF2-40B4-BE49-F238E27FC236}">
                <a16:creationId xmlns:a16="http://schemas.microsoft.com/office/drawing/2014/main" id="{7F53C161-BA6B-4EB1-2D28-DFE8BFEE0B23}"/>
              </a:ext>
            </a:extLst>
          </p:cNvPr>
          <p:cNvSpPr/>
          <p:nvPr/>
        </p:nvSpPr>
        <p:spPr>
          <a:xfrm>
            <a:off x="609600" y="29718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3D2590AE-16A0-5280-6B15-41C980099F63}"/>
              </a:ext>
            </a:extLst>
          </p:cNvPr>
          <p:cNvSpPr txBox="1"/>
          <p:nvPr/>
        </p:nvSpPr>
        <p:spPr>
          <a:xfrm>
            <a:off x="863600" y="31496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03</a:t>
            </a:r>
          </a:p>
        </p:txBody>
      </p:sp>
      <p:sp>
        <p:nvSpPr>
          <p:cNvPr id="14" name="CuadroTexto 13">
            <a:extLst>
              <a:ext uri="{FF2B5EF4-FFF2-40B4-BE49-F238E27FC236}">
                <a16:creationId xmlns:a16="http://schemas.microsoft.com/office/drawing/2014/main" id="{5ABD4451-034D-FD37-C6BD-CBD3E55FF298}"/>
              </a:ext>
            </a:extLst>
          </p:cNvPr>
          <p:cNvSpPr txBox="1"/>
          <p:nvPr/>
        </p:nvSpPr>
        <p:spPr>
          <a:xfrm>
            <a:off x="1625600" y="31496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El esclerómetro mide la dureza de los primeros 30 mm, y en una obra vieja esa piel está carbonatada y miente.</a:t>
            </a:r>
            <a:endParaRPr lang="es-BO" sz="1250">
              <a:solidFill>
                <a:srgbClr val="FFFFFF"/>
              </a:solidFill>
              <a:latin typeface="Segoe UI" panose="020B0502040204020203" pitchFamily="34" charset="0"/>
            </a:endParaRPr>
          </a:p>
        </p:txBody>
      </p:sp>
      <p:sp>
        <p:nvSpPr>
          <p:cNvPr id="15" name="Rectángulo 14">
            <a:extLst>
              <a:ext uri="{FF2B5EF4-FFF2-40B4-BE49-F238E27FC236}">
                <a16:creationId xmlns:a16="http://schemas.microsoft.com/office/drawing/2014/main" id="{1F6BFFA6-E035-EA30-58CE-2C2376D7DECC}"/>
              </a:ext>
            </a:extLst>
          </p:cNvPr>
          <p:cNvSpPr/>
          <p:nvPr/>
        </p:nvSpPr>
        <p:spPr>
          <a:xfrm>
            <a:off x="6248400" y="29718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6" name="CuadroTexto 15">
            <a:extLst>
              <a:ext uri="{FF2B5EF4-FFF2-40B4-BE49-F238E27FC236}">
                <a16:creationId xmlns:a16="http://schemas.microsoft.com/office/drawing/2014/main" id="{119CC76B-E585-D867-9986-19D2A301608C}"/>
              </a:ext>
            </a:extLst>
          </p:cNvPr>
          <p:cNvSpPr txBox="1"/>
          <p:nvPr/>
        </p:nvSpPr>
        <p:spPr>
          <a:xfrm>
            <a:off x="6502400" y="31496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04</a:t>
            </a:r>
          </a:p>
        </p:txBody>
      </p:sp>
      <p:sp>
        <p:nvSpPr>
          <p:cNvPr id="17" name="CuadroTexto 16">
            <a:extLst>
              <a:ext uri="{FF2B5EF4-FFF2-40B4-BE49-F238E27FC236}">
                <a16:creationId xmlns:a16="http://schemas.microsoft.com/office/drawing/2014/main" id="{E0691897-0B0A-3B88-3FF6-EC24A297C241}"/>
              </a:ext>
            </a:extLst>
          </p:cNvPr>
          <p:cNvSpPr txBox="1"/>
          <p:nvPr/>
        </p:nvSpPr>
        <p:spPr>
          <a:xfrm>
            <a:off x="7264400" y="31496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La resistencia bruta de un testigo no es la resistencia in situ: los factores de ACI 214.4R pueden valer más del 14 %.</a:t>
            </a:r>
            <a:endParaRPr lang="es-BO" sz="1250">
              <a:solidFill>
                <a:srgbClr val="FFFFFF"/>
              </a:solidFill>
              <a:latin typeface="Segoe UI" panose="020B0502040204020203" pitchFamily="34" charset="0"/>
            </a:endParaRPr>
          </a:p>
        </p:txBody>
      </p:sp>
      <p:sp>
        <p:nvSpPr>
          <p:cNvPr id="18" name="Rectángulo 17">
            <a:extLst>
              <a:ext uri="{FF2B5EF4-FFF2-40B4-BE49-F238E27FC236}">
                <a16:creationId xmlns:a16="http://schemas.microsoft.com/office/drawing/2014/main" id="{DFB68A12-99DA-4BA2-F568-037745694078}"/>
              </a:ext>
            </a:extLst>
          </p:cNvPr>
          <p:cNvSpPr/>
          <p:nvPr/>
        </p:nvSpPr>
        <p:spPr>
          <a:xfrm>
            <a:off x="609600" y="44450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D9EB83F1-EE26-4B83-B411-B191D8D4F0A7}"/>
              </a:ext>
            </a:extLst>
          </p:cNvPr>
          <p:cNvSpPr txBox="1"/>
          <p:nvPr/>
        </p:nvSpPr>
        <p:spPr>
          <a:xfrm>
            <a:off x="863600" y="46228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05</a:t>
            </a:r>
          </a:p>
        </p:txBody>
      </p:sp>
      <p:sp>
        <p:nvSpPr>
          <p:cNvPr id="20" name="CuadroTexto 19">
            <a:extLst>
              <a:ext uri="{FF2B5EF4-FFF2-40B4-BE49-F238E27FC236}">
                <a16:creationId xmlns:a16="http://schemas.microsoft.com/office/drawing/2014/main" id="{133F16CD-E6AD-27BA-54D4-4D620825A6FB}"/>
              </a:ext>
            </a:extLst>
          </p:cNvPr>
          <p:cNvSpPr txBox="1"/>
          <p:nvPr/>
        </p:nvSpPr>
        <p:spPr>
          <a:xfrm>
            <a:off x="1625600" y="46228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Hacen falta tres testigos por resultado, y el criterio es 0,85 de f′c en media y 0,75 en el valor individual.</a:t>
            </a:r>
            <a:endParaRPr lang="es-BO" sz="1250">
              <a:solidFill>
                <a:srgbClr val="FFFFFF"/>
              </a:solidFill>
              <a:latin typeface="Segoe UI" panose="020B0502040204020203" pitchFamily="34" charset="0"/>
            </a:endParaRPr>
          </a:p>
        </p:txBody>
      </p:sp>
      <p:sp>
        <p:nvSpPr>
          <p:cNvPr id="21" name="Rectángulo 20">
            <a:extLst>
              <a:ext uri="{FF2B5EF4-FFF2-40B4-BE49-F238E27FC236}">
                <a16:creationId xmlns:a16="http://schemas.microsoft.com/office/drawing/2014/main" id="{22858D8D-FCFA-F091-FD6C-6857444BD327}"/>
              </a:ext>
            </a:extLst>
          </p:cNvPr>
          <p:cNvSpPr/>
          <p:nvPr/>
        </p:nvSpPr>
        <p:spPr>
          <a:xfrm>
            <a:off x="6248400" y="44450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C1C6C74B-7DC6-C2BA-E6A0-008D65CAE487}"/>
              </a:ext>
            </a:extLst>
          </p:cNvPr>
          <p:cNvSpPr txBox="1"/>
          <p:nvPr/>
        </p:nvSpPr>
        <p:spPr>
          <a:xfrm>
            <a:off x="6502400" y="46228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06</a:t>
            </a:r>
          </a:p>
        </p:txBody>
      </p:sp>
      <p:sp>
        <p:nvSpPr>
          <p:cNvPr id="23" name="CuadroTexto 22">
            <a:extLst>
              <a:ext uri="{FF2B5EF4-FFF2-40B4-BE49-F238E27FC236}">
                <a16:creationId xmlns:a16="http://schemas.microsoft.com/office/drawing/2014/main" id="{87E4A062-8CCE-BEC9-D0BE-716887CECC41}"/>
              </a:ext>
            </a:extLst>
          </p:cNvPr>
          <p:cNvSpPr txBox="1"/>
          <p:nvPr/>
        </p:nvSpPr>
        <p:spPr>
          <a:xfrm>
            <a:off x="7264400" y="46228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Un informe se defiende por sus hechos separados de su interpretación y por sus limitaciones declaradas.</a:t>
            </a:r>
            <a:endParaRPr lang="es-BO" sz="1250">
              <a:solidFill>
                <a:srgbClr val="FFFFFF"/>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C7A5A825-B841-C8B1-F2F4-33CECB6A2B05}"/>
              </a:ext>
            </a:extLst>
          </p:cNvPr>
          <p:cNvCxnSpPr/>
          <p:nvPr/>
        </p:nvCxnSpPr>
        <p:spPr>
          <a:xfrm>
            <a:off x="609600" y="6527800"/>
            <a:ext cx="10972800" cy="0"/>
          </a:xfrm>
          <a:prstGeom prst="line">
            <a:avLst/>
          </a:prstGeom>
          <a:ln w="6350">
            <a:solidFill>
              <a:srgbClr val="3A322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75F1C42E-BEA9-D770-C10E-0184DDD51A7E}"/>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C9284"/>
                </a:solidFill>
                <a:latin typeface="Segoe UI Semibold" panose="020B0702040204020203" pitchFamily="34" charset="0"/>
              </a:rPr>
              <a:t>DIAGNÓSTICO DE PATOLOGÍAS, RECUPERACIÓN Y REHABILITACIÓN DEL HORMIGÓN</a:t>
            </a:r>
            <a:endParaRPr lang="es-BO" sz="700" spc="160">
              <a:solidFill>
                <a:srgbClr val="9C9284"/>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5B0CC235-294A-22E2-EA4C-D2AF0D2564A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C9284"/>
                </a:solidFill>
                <a:latin typeface="Segoe UI" panose="020B0502040204020203" pitchFamily="34" charset="0"/>
              </a:rPr>
              <a:t>CLASE 5 · DIAGNÓSTICO</a:t>
            </a:r>
          </a:p>
        </p:txBody>
      </p:sp>
      <p:sp>
        <p:nvSpPr>
          <p:cNvPr id="27" name="PageNo">
            <a:extLst>
              <a:ext uri="{FF2B5EF4-FFF2-40B4-BE49-F238E27FC236}">
                <a16:creationId xmlns:a16="http://schemas.microsoft.com/office/drawing/2014/main" id="{0A903F00-5446-9905-C8E8-C50006A04D5A}"/>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C9A66B"/>
                </a:solidFill>
                <a:latin typeface="Bahnschrift SemiBold" panose="020B0502040204020203" pitchFamily="34" charset="0"/>
              </a:rPr>
              <a:t>38 / 39</a:t>
            </a:r>
          </a:p>
        </p:txBody>
      </p:sp>
    </p:spTree>
    <p:extLst>
      <p:ext uri="{BB962C8B-B14F-4D97-AF65-F5344CB8AC3E}">
        <p14:creationId xmlns:p14="http://schemas.microsoft.com/office/powerpoint/2010/main" val="886860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descr="Corte de una reparación con saneo por detrás de la armadura y ensayo de arrancamiento">
            <a:extLst>
              <a:ext uri="{FF2B5EF4-FFF2-40B4-BE49-F238E27FC236}">
                <a16:creationId xmlns:a16="http://schemas.microsoft.com/office/drawing/2014/main" id="{1231BB36-003F-7081-72D7-02EB030965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D77D6165-C3D9-3A0F-107A-4D2422B1A9F4}"/>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41A2B9E8-121E-FE7C-E6D6-B3B91B512C0B}"/>
              </a:ext>
            </a:extLst>
          </p:cNvPr>
          <p:cNvSpPr/>
          <p:nvPr/>
        </p:nvSpPr>
        <p:spPr>
          <a:xfrm>
            <a:off x="0" y="0"/>
            <a:ext cx="12192000" cy="6858000"/>
          </a:xfrm>
          <a:prstGeom prst="rect">
            <a:avLst/>
          </a:prstGeom>
          <a:solidFill>
            <a:srgbClr val="1C1813">
              <a:alpha val="4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Rectángulo 5">
            <a:extLst>
              <a:ext uri="{FF2B5EF4-FFF2-40B4-BE49-F238E27FC236}">
                <a16:creationId xmlns:a16="http://schemas.microsoft.com/office/drawing/2014/main" id="{7DDAA4D4-E013-F59E-3A85-3BC79A28BE55}"/>
              </a:ext>
            </a:extLst>
          </p:cNvPr>
          <p:cNvSpPr/>
          <p:nvPr/>
        </p:nvSpPr>
        <p:spPr>
          <a:xfrm>
            <a:off x="609600" y="1905000"/>
            <a:ext cx="3302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49C75062-FF56-4503-4299-494DEB96C92A}"/>
              </a:ext>
            </a:extLst>
          </p:cNvPr>
          <p:cNvSpPr txBox="1"/>
          <p:nvPr/>
        </p:nvSpPr>
        <p:spPr>
          <a:xfrm>
            <a:off x="1066800" y="1828800"/>
            <a:ext cx="6350000" cy="177800"/>
          </a:xfrm>
          <a:prstGeom prst="rect">
            <a:avLst/>
          </a:prstGeom>
          <a:noFill/>
        </p:spPr>
        <p:txBody>
          <a:bodyPr vert="horz" wrap="square" lIns="0" tIns="0" rIns="0" bIns="0" rtlCol="0" anchor="t">
            <a:noAutofit/>
          </a:bodyPr>
          <a:lstStyle/>
          <a:p>
            <a:r>
              <a:rPr lang="es-MX" sz="1000" spc="180">
                <a:solidFill>
                  <a:srgbClr val="C9A66B"/>
                </a:solidFill>
                <a:latin typeface="Segoe UI Semibold" panose="020B0702040204020203" pitchFamily="34" charset="0"/>
              </a:rPr>
              <a:t>FIN DE LA CLASE 5</a:t>
            </a:r>
            <a:endParaRPr lang="es-BO" sz="1000" spc="180">
              <a:solidFill>
                <a:srgbClr val="C9A66B"/>
              </a:solidFill>
              <a:latin typeface="Segoe UI Semibold" panose="020B0702040204020203" pitchFamily="34" charset="0"/>
            </a:endParaRPr>
          </a:p>
        </p:txBody>
      </p:sp>
      <p:sp>
        <p:nvSpPr>
          <p:cNvPr id="8" name="Title">
            <a:extLst>
              <a:ext uri="{FF2B5EF4-FFF2-40B4-BE49-F238E27FC236}">
                <a16:creationId xmlns:a16="http://schemas.microsoft.com/office/drawing/2014/main" id="{CBD96057-1470-0996-866D-65BA8DD6CC5F}"/>
              </a:ext>
            </a:extLst>
          </p:cNvPr>
          <p:cNvSpPr txBox="1"/>
          <p:nvPr/>
        </p:nvSpPr>
        <p:spPr>
          <a:xfrm>
            <a:off x="584200" y="2184400"/>
            <a:ext cx="7620000" cy="889000"/>
          </a:xfrm>
          <a:prstGeom prst="rect">
            <a:avLst/>
          </a:prstGeom>
          <a:noFill/>
        </p:spPr>
        <p:txBody>
          <a:bodyPr vert="horz" wrap="square" lIns="0" tIns="0" rIns="0" bIns="0" rtlCol="0" anchor="t">
            <a:noAutofit/>
          </a:bodyPr>
          <a:lstStyle/>
          <a:p>
            <a:r>
              <a:rPr lang="es-BO" sz="4400">
                <a:solidFill>
                  <a:srgbClr val="FFFFFF"/>
                </a:solidFill>
                <a:latin typeface="Bahnschrift SemiBold" panose="020B0502040204020203" pitchFamily="34" charset="0"/>
              </a:rPr>
              <a:t>Gracias. ¿Preguntas?</a:t>
            </a:r>
          </a:p>
        </p:txBody>
      </p:sp>
      <p:sp>
        <p:nvSpPr>
          <p:cNvPr id="9" name="CuadroTexto 8">
            <a:extLst>
              <a:ext uri="{FF2B5EF4-FFF2-40B4-BE49-F238E27FC236}">
                <a16:creationId xmlns:a16="http://schemas.microsoft.com/office/drawing/2014/main" id="{21AC1327-41E8-EE6E-1D80-5F94C819D92E}"/>
              </a:ext>
            </a:extLst>
          </p:cNvPr>
          <p:cNvSpPr txBox="1"/>
          <p:nvPr/>
        </p:nvSpPr>
        <p:spPr>
          <a:xfrm>
            <a:off x="609600" y="3327400"/>
            <a:ext cx="6350000" cy="203200"/>
          </a:xfrm>
          <a:prstGeom prst="rect">
            <a:avLst/>
          </a:prstGeom>
          <a:noFill/>
        </p:spPr>
        <p:txBody>
          <a:bodyPr vert="horz" wrap="square" lIns="0" tIns="0" rIns="0" bIns="0" rtlCol="0" anchor="t">
            <a:noAutofit/>
          </a:bodyPr>
          <a:lstStyle/>
          <a:p>
            <a:r>
              <a:rPr lang="es-BO" sz="900" spc="180">
                <a:solidFill>
                  <a:srgbClr val="CFC7B8"/>
                </a:solidFill>
                <a:latin typeface="Segoe UI Semibold" panose="020B0702040204020203" pitchFamily="34" charset="0"/>
              </a:rPr>
              <a:t>PRÓXIMA CLASE</a:t>
            </a:r>
          </a:p>
        </p:txBody>
      </p:sp>
      <p:sp>
        <p:nvSpPr>
          <p:cNvPr id="10" name="CuadroTexto 9">
            <a:extLst>
              <a:ext uri="{FF2B5EF4-FFF2-40B4-BE49-F238E27FC236}">
                <a16:creationId xmlns:a16="http://schemas.microsoft.com/office/drawing/2014/main" id="{B3E892D0-83CD-8EB3-9037-92758E162F2A}"/>
              </a:ext>
            </a:extLst>
          </p:cNvPr>
          <p:cNvSpPr txBox="1"/>
          <p:nvPr/>
        </p:nvSpPr>
        <p:spPr>
          <a:xfrm>
            <a:off x="609600" y="3581400"/>
            <a:ext cx="7112000" cy="762000"/>
          </a:xfrm>
          <a:prstGeom prst="rect">
            <a:avLst/>
          </a:prstGeom>
          <a:noFill/>
        </p:spPr>
        <p:txBody>
          <a:bodyPr vert="horz" wrap="square" lIns="0" tIns="0" rIns="0" bIns="0" rtlCol="0" anchor="t">
            <a:noAutofit/>
          </a:bodyPr>
          <a:lstStyle/>
          <a:p>
            <a:pPr algn="l"/>
            <a:r>
              <a:rPr lang="es-MX" sz="2000" i="1">
                <a:solidFill>
                  <a:srgbClr val="C9A66B"/>
                </a:solidFill>
                <a:latin typeface="Constantia" panose="02030602050306030303" pitchFamily="18" charset="0"/>
              </a:rPr>
              <a:t>Reparación: los once principios de EN 1504, el saneo, los morteros y cómo se recibe una reparación</a:t>
            </a:r>
            <a:endParaRPr lang="es-BO" sz="2000" i="1">
              <a:solidFill>
                <a:srgbClr val="C9A66B"/>
              </a:solidFill>
              <a:latin typeface="Constantia" panose="02030602050306030303" pitchFamily="18" charset="0"/>
            </a:endParaRPr>
          </a:p>
        </p:txBody>
      </p:sp>
      <p:sp>
        <p:nvSpPr>
          <p:cNvPr id="11" name="CuadroTexto 10">
            <a:extLst>
              <a:ext uri="{FF2B5EF4-FFF2-40B4-BE49-F238E27FC236}">
                <a16:creationId xmlns:a16="http://schemas.microsoft.com/office/drawing/2014/main" id="{843A4398-277F-91BB-6DDC-6AAD1CA36A76}"/>
              </a:ext>
            </a:extLst>
          </p:cNvPr>
          <p:cNvSpPr txBox="1"/>
          <p:nvPr/>
        </p:nvSpPr>
        <p:spPr>
          <a:xfrm>
            <a:off x="609600" y="5435600"/>
            <a:ext cx="6604000" cy="203200"/>
          </a:xfrm>
          <a:prstGeom prst="rect">
            <a:avLst/>
          </a:prstGeom>
          <a:noFill/>
        </p:spPr>
        <p:txBody>
          <a:bodyPr vert="horz" wrap="square" lIns="0" tIns="0" rIns="0" bIns="0" rtlCol="0" anchor="t">
            <a:noAutofit/>
          </a:bodyPr>
          <a:lstStyle/>
          <a:p>
            <a:pPr algn="l"/>
            <a:r>
              <a:rPr lang="nn-NO" sz="1300">
                <a:solidFill>
                  <a:srgbClr val="FFFFFF"/>
                </a:solidFill>
                <a:latin typeface="Bahnschrift SemiBold" panose="020B0502040204020203" pitchFamily="34" charset="0"/>
              </a:rPr>
              <a:t>Ing. Kevin Yerko Vera Careaga</a:t>
            </a:r>
            <a:endParaRPr lang="es-BO" sz="1300">
              <a:solidFill>
                <a:srgbClr val="FFFFFF"/>
              </a:solidFill>
              <a:latin typeface="Bahnschrift SemiBold" panose="020B0502040204020203" pitchFamily="34" charset="0"/>
            </a:endParaRPr>
          </a:p>
        </p:txBody>
      </p:sp>
      <p:sp>
        <p:nvSpPr>
          <p:cNvPr id="12" name="CuadroTexto 11">
            <a:extLst>
              <a:ext uri="{FF2B5EF4-FFF2-40B4-BE49-F238E27FC236}">
                <a16:creationId xmlns:a16="http://schemas.microsoft.com/office/drawing/2014/main" id="{E42E90E7-8330-7802-C89B-0CE6A779DAA5}"/>
              </a:ext>
            </a:extLst>
          </p:cNvPr>
          <p:cNvSpPr txBox="1"/>
          <p:nvPr/>
        </p:nvSpPr>
        <p:spPr>
          <a:xfrm>
            <a:off x="609600" y="5676900"/>
            <a:ext cx="7620000" cy="3810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Ingeniero Civil · NRI 57148</a:t>
            </a:r>
          </a:p>
          <a:p>
            <a:pPr algn="l"/>
            <a:r>
              <a:rPr lang="es-MX" sz="1050">
                <a:solidFill>
                  <a:srgbClr val="CFC7B8"/>
                </a:solidFill>
                <a:latin typeface="Segoe UI" panose="020B0502040204020203" pitchFamily="34" charset="0"/>
              </a:rPr>
              <a:t>kevin.yerko.vc@gmail.com  ·  +591 78406014  ·  La Paz, Bolivia</a:t>
            </a:r>
            <a:endParaRPr lang="es-BO" sz="1050">
              <a:solidFill>
                <a:srgbClr val="CFC7B8"/>
              </a:solidFill>
              <a:latin typeface="Segoe UI" panose="020B0502040204020203" pitchFamily="34" charset="0"/>
            </a:endParaRPr>
          </a:p>
        </p:txBody>
      </p:sp>
      <p:sp>
        <p:nvSpPr>
          <p:cNvPr id="13" name="Monograma">
            <a:extLst>
              <a:ext uri="{FF2B5EF4-FFF2-40B4-BE49-F238E27FC236}">
                <a16:creationId xmlns:a16="http://schemas.microsoft.com/office/drawing/2014/main" id="{F24B60A3-0AD2-43C7-25A5-B15BC93D63E9}"/>
              </a:ext>
            </a:extLst>
          </p:cNvPr>
          <p:cNvSpPr/>
          <p:nvPr/>
        </p:nvSpPr>
        <p:spPr>
          <a:xfrm>
            <a:off x="10998200" y="508000"/>
            <a:ext cx="584200" cy="584200"/>
          </a:xfrm>
          <a:prstGeom prst="ellipse">
            <a:avLst/>
          </a:prstGeom>
          <a:noFill/>
          <a:ln w="15875">
            <a:solidFill>
              <a:srgbClr val="8A6A2F"/>
            </a:solidFill>
          </a:ln>
          <a:extLst>
            <a:ext uri="{909E8E84-426E-40DD-AFC4-6F175D3DCCD1}">
              <a14:hiddenFill xmlns:a14="http://schemas.microsoft.com/office/drawing/2010/main">
                <a:solidFill>
                  <a:srgbClr val="1C181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pPr>
            <a:r>
              <a:rPr lang="es-BO" sz="1104">
                <a:solidFill>
                  <a:srgbClr val="8A6A2F"/>
                </a:solidFill>
                <a:latin typeface="Bahnschrift SemiBold" panose="020B0502040204020203" pitchFamily="34" charset="0"/>
              </a:rPr>
              <a:t>KY</a:t>
            </a:r>
          </a:p>
          <a:p>
            <a:pPr algn="ctr">
              <a:lnSpc>
                <a:spcPct val="80000"/>
              </a:lnSpc>
            </a:pPr>
            <a:r>
              <a:rPr lang="es-BO" sz="1104">
                <a:solidFill>
                  <a:srgbClr val="8A6A2F"/>
                </a:solidFill>
                <a:latin typeface="Bahnschrift SemiBold" panose="020B0502040204020203" pitchFamily="34" charset="0"/>
              </a:rPr>
              <a:t>VC</a:t>
            </a:r>
          </a:p>
        </p:txBody>
      </p:sp>
    </p:spTree>
    <p:extLst>
      <p:ext uri="{BB962C8B-B14F-4D97-AF65-F5344CB8AC3E}">
        <p14:creationId xmlns:p14="http://schemas.microsoft.com/office/powerpoint/2010/main" val="13752258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RSO" val="problem"/>
</p:tagLst>
</file>

<file path=ppt/tags/tag2.xml><?xml version="1.0" encoding="utf-8"?>
<p:tagLst xmlns:a="http://schemas.openxmlformats.org/drawingml/2006/main" xmlns:r="http://schemas.openxmlformats.org/officeDocument/2006/relationships" xmlns:p="http://schemas.openxmlformats.org/presentationml/2006/main">
  <p:tag name="CURSO" val="solution"/>
</p:tagLst>
</file>

<file path=ppt/tags/tag3.xml><?xml version="1.0" encoding="utf-8"?>
<p:tagLst xmlns:a="http://schemas.openxmlformats.org/drawingml/2006/main" xmlns:r="http://schemas.openxmlformats.org/officeDocument/2006/relationships" xmlns:p="http://schemas.openxmlformats.org/presentationml/2006/main">
  <p:tag name="CURSO" val="solution"/>
</p:tagLst>
</file>

<file path=ppt/tags/tag4.xml><?xml version="1.0" encoding="utf-8"?>
<p:tagLst xmlns:a="http://schemas.openxmlformats.org/drawingml/2006/main" xmlns:r="http://schemas.openxmlformats.org/officeDocument/2006/relationships" xmlns:p="http://schemas.openxmlformats.org/presentationml/2006/main">
  <p:tag name="CURSO" val="solution"/>
</p:tagLst>
</file>

<file path=ppt/tags/tag5.xml><?xml version="1.0" encoding="utf-8"?>
<p:tagLst xmlns:a="http://schemas.openxmlformats.org/drawingml/2006/main" xmlns:r="http://schemas.openxmlformats.org/officeDocument/2006/relationships" xmlns:p="http://schemas.openxmlformats.org/presentationml/2006/main">
  <p:tag name="CURSO" val="solution"/>
</p:tagLst>
</file>

<file path=ppt/tags/tag6.xml><?xml version="1.0" encoding="utf-8"?>
<p:tagLst xmlns:a="http://schemas.openxmlformats.org/drawingml/2006/main" xmlns:r="http://schemas.openxmlformats.org/officeDocument/2006/relationships" xmlns:p="http://schemas.openxmlformats.org/presentationml/2006/main">
  <p:tag name="CURSO" val="solution"/>
</p:tagLst>
</file>

<file path=ppt/tags/tag7.xml><?xml version="1.0" encoding="utf-8"?>
<p:tagLst xmlns:a="http://schemas.openxmlformats.org/drawingml/2006/main" xmlns:r="http://schemas.openxmlformats.org/officeDocument/2006/relationships" xmlns:p="http://schemas.openxmlformats.org/presentationml/2006/main">
  <p:tag name="CURSO" val="solution"/>
</p:tagLst>
</file>

<file path=ppt/tags/tag8.xml><?xml version="1.0" encoding="utf-8"?>
<p:tagLst xmlns:a="http://schemas.openxmlformats.org/drawingml/2006/main" xmlns:r="http://schemas.openxmlformats.org/officeDocument/2006/relationships" xmlns:p="http://schemas.openxmlformats.org/presentationml/2006/main">
  <p:tag name="CURSO" val="solution"/>
</p:tagLst>
</file>

<file path=ppt/tags/tag9.xml><?xml version="1.0" encoding="utf-8"?>
<p:tagLst xmlns:a="http://schemas.openxmlformats.org/drawingml/2006/main" xmlns:r="http://schemas.openxmlformats.org/officeDocument/2006/relationships" xmlns:p="http://schemas.openxmlformats.org/presentationml/2006/main">
  <p:tag name="CURSO" val="tool"/>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8478</Words>
  <Application>Microsoft Office PowerPoint</Application>
  <PresentationFormat>Personalizado</PresentationFormat>
  <Paragraphs>1001</Paragraphs>
  <Slides>39</Slides>
  <Notes>39</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39</vt:i4>
      </vt:variant>
    </vt:vector>
  </HeadingPairs>
  <TitlesOfParts>
    <vt:vector size="48" baseType="lpstr">
      <vt:lpstr>Arial</vt:lpstr>
      <vt:lpstr>Bahnschrift Light</vt:lpstr>
      <vt:lpstr>Bahnschrift SemiBold</vt:lpstr>
      <vt:lpstr>Calibri</vt:lpstr>
      <vt:lpstr>Calibri Light</vt:lpstr>
      <vt:lpstr>Constantia</vt:lpstr>
      <vt:lpstr>Segoe UI</vt:lpstr>
      <vt:lpstr>Segoe UI Semibold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1</cp:revision>
  <dcterms:created xsi:type="dcterms:W3CDTF">2026-10-21T04:43:17Z</dcterms:created>
  <dcterms:modified xsi:type="dcterms:W3CDTF">2026-10-21T04:43:17Z</dcterms:modified>
</cp:coreProperties>
</file>