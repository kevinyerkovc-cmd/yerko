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xml" ContentType="application/vnd.openxmlformats-officedocument.presentationml.tags+xml"/>
  <Override PartName="/ppt/notesSlides/notesSlide26.xml" ContentType="application/vnd.openxmlformats-officedocument.presentationml.notesSlide+xml"/>
  <Override PartName="/ppt/tags/tag2.xml" ContentType="application/vnd.openxmlformats-officedocument.presentationml.tags+xml"/>
  <Override PartName="/ppt/notesSlides/notesSlide27.xml" ContentType="application/vnd.openxmlformats-officedocument.presentationml.notesSlide+xml"/>
  <Override PartName="/ppt/tags/tag3.xml" ContentType="application/vnd.openxmlformats-officedocument.presentationml.tags+xml"/>
  <Override PartName="/ppt/notesSlides/notesSlide28.xml" ContentType="application/vnd.openxmlformats-officedocument.presentationml.notesSlide+xml"/>
  <Override PartName="/ppt/tags/tag4.xml" ContentType="application/vnd.openxmlformats-officedocument.presentationml.tags+xml"/>
  <Override PartName="/ppt/notesSlides/notesSlide29.xml" ContentType="application/vnd.openxmlformats-officedocument.presentationml.notesSlide+xml"/>
  <Override PartName="/ppt/tags/tag5.xml" ContentType="application/vnd.openxmlformats-officedocument.presentationml.tags+xml"/>
  <Override PartName="/ppt/notesSlides/notesSlide30.xml" ContentType="application/vnd.openxmlformats-officedocument.presentationml.notesSlide+xml"/>
  <Override PartName="/ppt/tags/tag6.xml" ContentType="application/vnd.openxmlformats-officedocument.presentationml.tags+xml"/>
  <Override PartName="/ppt/notesSlides/notesSlide31.xml" ContentType="application/vnd.openxmlformats-officedocument.presentationml.notesSlide+xml"/>
  <Override PartName="/ppt/tags/tag7.xml" ContentType="application/vnd.openxmlformats-officedocument.presentationml.tags+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B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3AEEE-E78E-42FA-8728-EB76756917E6}" type="datetimeFigureOut">
              <a:rPr lang="es-BO" smtClean="0"/>
              <a:t>22/10/2026</a:t>
            </a:fld>
            <a:endParaRPr lang="es-B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B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B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EDFB99-ADF9-408E-B7FD-FDBA22D2D79F}" type="slidenum">
              <a:rPr lang="es-BO" smtClean="0"/>
              <a:t>‹Nº›</a:t>
            </a:fld>
            <a:endParaRPr lang="es-BO"/>
          </a:p>
        </p:txBody>
      </p:sp>
    </p:spTree>
    <p:extLst>
      <p:ext uri="{BB962C8B-B14F-4D97-AF65-F5344CB8AC3E}">
        <p14:creationId xmlns:p14="http://schemas.microsoft.com/office/powerpoint/2010/main" val="3578365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Idea fuerza: hasta hoy el hormigón era el escenario y el acero la víctima. En el ataque químico la víctima es el hormigón.</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a:t>
            </a:fld>
            <a:endParaRPr lang="es-BO"/>
          </a:p>
        </p:txBody>
      </p:sp>
    </p:spTree>
    <p:extLst>
      <p:ext uri="{BB962C8B-B14F-4D97-AF65-F5344CB8AC3E}">
        <p14:creationId xmlns:p14="http://schemas.microsoft.com/office/powerpoint/2010/main" val="409028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Clase con menos cálculo y más criterio. El mensaje transversal: en ataque químico casi nunca se arregla el hormigón, se corta el agente.</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a:t>
            </a:fld>
            <a:endParaRPr lang="es-BO"/>
          </a:p>
        </p:txBody>
      </p:sp>
    </p:spTree>
    <p:extLst>
      <p:ext uri="{BB962C8B-B14F-4D97-AF65-F5344CB8AC3E}">
        <p14:creationId xmlns:p14="http://schemas.microsoft.com/office/powerpoint/2010/main" val="1483975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Repaso en tres minutos. Pregunta de apertura: ¿han visto alguna vez hormigón que se deshaga con la mano?</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3</a:t>
            </a:fld>
            <a:endParaRPr lang="es-BO"/>
          </a:p>
        </p:txBody>
      </p:sp>
    </p:spTree>
    <p:extLst>
      <p:ext uri="{BB962C8B-B14F-4D97-AF65-F5344CB8AC3E}">
        <p14:creationId xmlns:p14="http://schemas.microsoft.com/office/powerpoint/2010/main" val="3803722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Decirlo al principio evita media hora de discusión sobre productos milagrosos en la parte 3.</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4</a:t>
            </a:fld>
            <a:endParaRPr lang="es-BO"/>
          </a:p>
        </p:txBody>
      </p:sp>
    </p:spTree>
    <p:extLst>
      <p:ext uri="{BB962C8B-B14F-4D97-AF65-F5344CB8AC3E}">
        <p14:creationId xmlns:p14="http://schemas.microsoft.com/office/powerpoint/2010/main" val="2584485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Presentación de la parte 1.</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5</a:t>
            </a:fld>
            <a:endParaRPr lang="es-BO"/>
          </a:p>
        </p:txBody>
      </p:sp>
    </p:spTree>
    <p:extLst>
      <p:ext uri="{BB962C8B-B14F-4D97-AF65-F5344CB8AC3E}">
        <p14:creationId xmlns:p14="http://schemas.microsoft.com/office/powerpoint/2010/main" val="2540798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Que retengan la pareja disolución-superficie y expansión-fisura. Con eso clasifican el 80 % de los casos.</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6</a:t>
            </a:fld>
            <a:endParaRPr lang="es-BO"/>
          </a:p>
        </p:txBody>
      </p:sp>
    </p:spTree>
    <p:extLst>
      <p:ext uri="{BB962C8B-B14F-4D97-AF65-F5344CB8AC3E}">
        <p14:creationId xmlns:p14="http://schemas.microsoft.com/office/powerpoint/2010/main" val="723737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 la tabla de referencia de la clase. La fila del biogénico se desarrolla en la parte 3.</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7</a:t>
            </a:fld>
            <a:endParaRPr lang="es-BO"/>
          </a:p>
        </p:txBody>
      </p:sp>
    </p:spTree>
    <p:extLst>
      <p:ext uri="{BB962C8B-B14F-4D97-AF65-F5344CB8AC3E}">
        <p14:creationId xmlns:p14="http://schemas.microsoft.com/office/powerpoint/2010/main" val="290030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El punto 1 es contraintuitivo y conviene detenerse: el goteo continuo es peor que la inmersión.</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8</a:t>
            </a:fld>
            <a:endParaRPr lang="es-BO"/>
          </a:p>
        </p:txBody>
      </p:sp>
    </p:spTree>
    <p:extLst>
      <p:ext uri="{BB962C8B-B14F-4D97-AF65-F5344CB8AC3E}">
        <p14:creationId xmlns:p14="http://schemas.microsoft.com/office/powerpoint/2010/main" val="3184394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Distinguir eflorescencia (sal que viene del propio hormigón) de la que viene del terreno. Se resuelve con análisis.</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9</a:t>
            </a:fld>
            <a:endParaRPr lang="es-BO"/>
          </a:p>
        </p:txBody>
      </p:sp>
    </p:spTree>
    <p:extLst>
      <p:ext uri="{BB962C8B-B14F-4D97-AF65-F5344CB8AC3E}">
        <p14:creationId xmlns:p14="http://schemas.microsoft.com/office/powerpoint/2010/main" val="359417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Presentación de la parte 2.</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10</a:t>
            </a:fld>
            <a:endParaRPr lang="es-BO"/>
          </a:p>
        </p:txBody>
      </p:sp>
    </p:spTree>
    <p:extLst>
      <p:ext uri="{BB962C8B-B14F-4D97-AF65-F5344CB8AC3E}">
        <p14:creationId xmlns:p14="http://schemas.microsoft.com/office/powerpoint/2010/main" val="3171797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No entrar en la química más allá de esto. Lo que tienen que retener es la cadena: agua, aluminato, expansión.</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11</a:t>
            </a:fld>
            <a:endParaRPr lang="es-BO"/>
          </a:p>
        </p:txBody>
      </p:sp>
    </p:spTree>
    <p:extLst>
      <p:ext uri="{BB962C8B-B14F-4D97-AF65-F5344CB8AC3E}">
        <p14:creationId xmlns:p14="http://schemas.microsoft.com/office/powerpoint/2010/main" val="2887395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Que fotografíen esta tabla. Es la que hay que llevar a la primera reunión de cualquier proyecto con cimentación enterrada.</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12</a:t>
            </a:fld>
            <a:endParaRPr lang="es-BO"/>
          </a:p>
        </p:txBody>
      </p:sp>
    </p:spTree>
    <p:extLst>
      <p:ext uri="{BB962C8B-B14F-4D97-AF65-F5344CB8AC3E}">
        <p14:creationId xmlns:p14="http://schemas.microsoft.com/office/powerpoint/2010/main" val="3403702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tarjeta 4 es la que hay que decir despacio: los asistentes la escucharán del comercial contraria.</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13</a:t>
            </a:fld>
            <a:endParaRPr lang="es-BO"/>
          </a:p>
        </p:txBody>
      </p:sp>
    </p:spTree>
    <p:extLst>
      <p:ext uri="{BB962C8B-B14F-4D97-AF65-F5344CB8AC3E}">
        <p14:creationId xmlns:p14="http://schemas.microsoft.com/office/powerpoint/2010/main" val="4167087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Preguntar cuántos han visto un ensayo de sulfatos del terreno en un estudio de suelos boliviano. Suelen ser muy pocos.</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14</a:t>
            </a:fld>
            <a:endParaRPr lang="es-BO"/>
          </a:p>
        </p:txBody>
      </p:sp>
    </p:spTree>
    <p:extLst>
      <p:ext uri="{BB962C8B-B14F-4D97-AF65-F5344CB8AC3E}">
        <p14:creationId xmlns:p14="http://schemas.microsoft.com/office/powerpoint/2010/main" val="4241254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Presentación de la parte 3.</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15</a:t>
            </a:fld>
            <a:endParaRPr lang="es-BO"/>
          </a:p>
        </p:txBody>
      </p:sp>
    </p:spTree>
    <p:extLst>
      <p:ext uri="{BB962C8B-B14F-4D97-AF65-F5344CB8AC3E}">
        <p14:creationId xmlns:p14="http://schemas.microsoft.com/office/powerpoint/2010/main" val="3732197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Recordar que cada unidad de pH es un factor diez. De 4,5 a 2,5 hay cien veces más acidez.</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16</a:t>
            </a:fld>
            <a:endParaRPr lang="es-BO"/>
          </a:p>
        </p:txBody>
      </p:sp>
    </p:spTree>
    <p:extLst>
      <p:ext uri="{BB962C8B-B14F-4D97-AF65-F5344CB8AC3E}">
        <p14:creationId xmlns:p14="http://schemas.microsoft.com/office/powerpoint/2010/main" val="3544539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Dato muy vendible: el daño en la bóveda y no en el fondo sorprende a casi todo el mundo.</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17</a:t>
            </a:fld>
            <a:endParaRPr lang="es-BO"/>
          </a:p>
        </p:txBody>
      </p:sp>
    </p:spTree>
    <p:extLst>
      <p:ext uri="{BB962C8B-B14F-4D97-AF65-F5344CB8AC3E}">
        <p14:creationId xmlns:p14="http://schemas.microsoft.com/office/powerpoint/2010/main" val="913553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En Bolivia esto afecta a presas, canales de riego y tanques de agua potable. Preguntar quién trabaja en eso.</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18</a:t>
            </a:fld>
            <a:endParaRPr lang="es-BO"/>
          </a:p>
        </p:txBody>
      </p:sp>
    </p:spTree>
    <p:extLst>
      <p:ext uri="{BB962C8B-B14F-4D97-AF65-F5344CB8AC3E}">
        <p14:creationId xmlns:p14="http://schemas.microsoft.com/office/powerpoint/2010/main" val="33638224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Insistir: la eflorescencia no es el daño, es el testigo. Tratarla sin cortar el agua es pintar sobre el síntoma.</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19</a:t>
            </a:fld>
            <a:endParaRPr lang="es-BO"/>
          </a:p>
        </p:txBody>
      </p:sp>
    </p:spTree>
    <p:extLst>
      <p:ext uri="{BB962C8B-B14F-4D97-AF65-F5344CB8AC3E}">
        <p14:creationId xmlns:p14="http://schemas.microsoft.com/office/powerpoint/2010/main" val="32050271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Presentación de la parte 4.</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20</a:t>
            </a:fld>
            <a:endParaRPr lang="es-BO"/>
          </a:p>
        </p:txBody>
      </p:sp>
    </p:spTree>
    <p:extLst>
      <p:ext uri="{BB962C8B-B14F-4D97-AF65-F5344CB8AC3E}">
        <p14:creationId xmlns:p14="http://schemas.microsoft.com/office/powerpoint/2010/main" val="893672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Subrayar el punto 3: es la única puerta que queda abierta sobre una obra ya construida.</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21</a:t>
            </a:fld>
            <a:endParaRPr lang="es-BO"/>
          </a:p>
        </p:txBody>
      </p:sp>
    </p:spTree>
    <p:extLst>
      <p:ext uri="{BB962C8B-B14F-4D97-AF65-F5344CB8AC3E}">
        <p14:creationId xmlns:p14="http://schemas.microsoft.com/office/powerpoint/2010/main" val="4103345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 la lámina que prepara el caso 5.3. Dejar claro que la confirmación es de laboratorio, no de obra.</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22</a:t>
            </a:fld>
            <a:endParaRPr lang="es-BO"/>
          </a:p>
        </p:txBody>
      </p:sp>
    </p:spTree>
    <p:extLst>
      <p:ext uri="{BB962C8B-B14F-4D97-AF65-F5344CB8AC3E}">
        <p14:creationId xmlns:p14="http://schemas.microsoft.com/office/powerpoint/2010/main" val="163410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Cerrar la parte 4 diciendo que es el único mecanismo donde la respuesta honesta a veces es «sustituir».</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23</a:t>
            </a:fld>
            <a:endParaRPr lang="es-BO"/>
          </a:p>
        </p:txBody>
      </p:sp>
    </p:spTree>
    <p:extLst>
      <p:ext uri="{BB962C8B-B14F-4D97-AF65-F5344CB8AC3E}">
        <p14:creationId xmlns:p14="http://schemas.microsoft.com/office/powerpoint/2010/main" val="24555965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BO"/>
              <a:t>Presentación de los casos.</a:t>
            </a:r>
          </a:p>
        </p:txBody>
      </p:sp>
      <p:sp>
        <p:nvSpPr>
          <p:cNvPr id="4" name="Marcador de número de diapositiva 3"/>
          <p:cNvSpPr>
            <a:spLocks noGrp="1"/>
          </p:cNvSpPr>
          <p:nvPr>
            <p:ph type="sldNum" sz="quarter" idx="5"/>
          </p:nvPr>
        </p:nvSpPr>
        <p:spPr/>
        <p:txBody>
          <a:bodyPr/>
          <a:lstStyle/>
          <a:p>
            <a:fld id="{1EEDFB99-ADF9-408E-B7FD-FDBA22D2D79F}" type="slidenum">
              <a:rPr lang="es-BO" smtClean="0"/>
              <a:t>24</a:t>
            </a:fld>
            <a:endParaRPr lang="es-BO"/>
          </a:p>
        </p:txBody>
      </p:sp>
    </p:spTree>
    <p:extLst>
      <p:ext uri="{BB962C8B-B14F-4D97-AF65-F5344CB8AC3E}">
        <p14:creationId xmlns:p14="http://schemas.microsoft.com/office/powerpoint/2010/main" val="3886927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Señalar los dos hitos: 1998 decidió el hormigón y 2012 trajo el agua. Sin agua, el sulfato del terreno habría seguido ahí sin hacer nada.</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25</a:t>
            </a:fld>
            <a:endParaRPr lang="es-BO"/>
          </a:p>
        </p:txBody>
      </p:sp>
    </p:spTree>
    <p:extLst>
      <p:ext uri="{BB962C8B-B14F-4D97-AF65-F5344CB8AC3E}">
        <p14:creationId xmlns:p14="http://schemas.microsoft.com/office/powerpoint/2010/main" val="22624828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Avisar: aquí el valor no está en calcular, está en saber qué tabla se consulta y con qué dato se entra.</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26</a:t>
            </a:fld>
            <a:endParaRPr lang="es-BO"/>
          </a:p>
        </p:txBody>
      </p:sp>
    </p:spTree>
    <p:extLst>
      <p:ext uri="{BB962C8B-B14F-4D97-AF65-F5344CB8AC3E}">
        <p14:creationId xmlns:p14="http://schemas.microsoft.com/office/powerpoint/2010/main" val="34280462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Preguntar quién ha pedido alguna vez sulfatos en un estudio de suelos. Casi nadie levanta la mano.</a:t>
            </a:r>
          </a:p>
          <a:p>
            <a:endParaRPr lang="es-MX"/>
          </a:p>
          <a:p>
            <a:r>
              <a:rPr lang="es-MX"/>
              <a:t>HIPÓTESIS Y LÍMITES DE VALIDEZ</a:t>
            </a:r>
          </a:p>
          <a:p>
            <a:r>
              <a:rPr lang="es-MX"/>
              <a:t>La tabla entra con sulfatos SOLUBLES EN AGUA, no con sulfatos totales: son ensayos distintos y los totales dan valores mayores. La muestra debe tomarse a cota de apoyo; una muestra superficial no representa el entorno de la zapata.</a:t>
            </a:r>
          </a:p>
          <a:p>
            <a:endParaRPr lang="es-MX"/>
          </a:p>
          <a:p>
            <a:r>
              <a:rPr lang="es-MX"/>
              <a:t>INTERPRETACIÓN, RESTO</a:t>
            </a:r>
          </a:p>
          <a:p>
            <a:r>
              <a:rPr lang="es-MX"/>
              <a:t>El ensayo cuesta lo que una muestra de suelo. Si se hubiera pedido en el estudio geotécnico de 1998, el caso no existiría.</a:t>
            </a:r>
          </a:p>
          <a:p>
            <a:endParaRPr lang="es-MX"/>
          </a:p>
          <a:p>
            <a:r>
              <a:rPr lang="es-MX"/>
              <a:t>DE DÓNDE SALE CADA DATO</a:t>
            </a:r>
          </a:p>
          <a:p>
            <a:r>
              <a:rPr lang="es-MX"/>
              <a:t>· 0,35 % en peso: Sulfatos solubles en agua sobre muestra de suelo a cota de apoyo, ASTM C1580. Una muestra compuesta de tres puntos.</a:t>
            </a:r>
          </a:p>
          <a:p>
            <a:r>
              <a:rPr lang="es-MX"/>
              <a:t>· Punto de toma: A la cota de apoyo y en época húmeda. En época seca el contenido lixiviado puede resultar menor y clasificar por debajo.</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27</a:t>
            </a:fld>
            <a:endParaRPr lang="es-BO"/>
          </a:p>
        </p:txBody>
      </p:sp>
    </p:spTree>
    <p:extLst>
      <p:ext uri="{BB962C8B-B14F-4D97-AF65-F5344CB8AC3E}">
        <p14:creationId xmlns:p14="http://schemas.microsoft.com/office/powerpoint/2010/main" val="40265963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Insistir en que la f'c de durabilidad puede ser mayor que la estructural, y entonces manda la de durabilidad.</a:t>
            </a:r>
          </a:p>
          <a:p>
            <a:endParaRPr lang="es-MX"/>
          </a:p>
          <a:p>
            <a:r>
              <a:rPr lang="es-MX"/>
              <a:t>HIPÓTESIS Y LÍMITES DE VALIDEZ</a:t>
            </a:r>
          </a:p>
          <a:p>
            <a:r>
              <a:rPr lang="es-MX"/>
              <a:t>ACI 318-19 admite sustituir el cemento tipo V por tipo II con adición puzolánica certificada, acreditando el comportamiento con ensayo. Debe documentarse: no basta con declararlo en el pliego.</a:t>
            </a:r>
          </a:p>
          <a:p>
            <a:endParaRPr lang="es-MX"/>
          </a:p>
          <a:p>
            <a:r>
              <a:rPr lang="es-MX"/>
              <a:t>INTERPRETACIÓN, RESTO</a:t>
            </a:r>
          </a:p>
          <a:p>
            <a:r>
              <a:rPr lang="es-MX"/>
              <a:t>No se compensan entre sí. Cumplir dos de tres no reduce el riesgo proporcionalmente: el sulfato entra por la vía que quede abierta.</a:t>
            </a:r>
          </a:p>
          <a:p>
            <a:endParaRPr lang="es-MX"/>
          </a:p>
          <a:p>
            <a:r>
              <a:rPr lang="es-MX"/>
              <a:t>DE DÓNDE SALE CADA DATO</a:t>
            </a:r>
          </a:p>
          <a:p>
            <a:r>
              <a:rPr lang="es-MX"/>
              <a:t>· f′c ≥ 31 MPa: Resistencia mínima especificada para S2. Es un requisito de durabilidad, no estructural: puede ser mayor que el estructural y entonces gobierna.</a:t>
            </a:r>
          </a:p>
          <a:p>
            <a:r>
              <a:rPr lang="es-MX"/>
              <a:t>· a/c ≤ 0,45: Relación agua-cemento máxima. Es el parámetro que cierra la red de poros capilares al transporte del ion.</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28</a:t>
            </a:fld>
            <a:endParaRPr lang="es-BO"/>
          </a:p>
        </p:txBody>
      </p:sp>
    </p:spTree>
    <p:extLst>
      <p:ext uri="{BB962C8B-B14F-4D97-AF65-F5344CB8AC3E}">
        <p14:creationId xmlns:p14="http://schemas.microsoft.com/office/powerpoint/2010/main" val="628092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Aquí cae la propuesta del contratista. Decirlo con los tres cocientes delante.</a:t>
            </a:r>
          </a:p>
          <a:p>
            <a:endParaRPr lang="es-MX"/>
          </a:p>
          <a:p>
            <a:r>
              <a:rPr lang="es-MX"/>
              <a:t>HIPÓTESIS Y LÍMITES DE VALIDEZ</a:t>
            </a:r>
          </a:p>
          <a:p>
            <a:r>
              <a:rPr lang="es-MX"/>
              <a:t>La a/c estimada tiene dispersión alta: entre 0,55 y 0,65 según el método. El incumplimiento se sostiene en todo ese rango. La f′c es in situ corregida, comparable con f′c especificada pero no con resistencia de probeta a 28 días.</a:t>
            </a:r>
          </a:p>
          <a:p>
            <a:endParaRPr lang="es-MX"/>
          </a:p>
          <a:p>
            <a:r>
              <a:rPr lang="es-MX"/>
              <a:t>INTERPRETACIÓN, RESTO</a:t>
            </a:r>
          </a:p>
          <a:p>
            <a:r>
              <a:rPr lang="es-MX"/>
              <a:t>Un impermeabilizante de penetración no modifica la a/c, ni la f′c, ni el tipo de cemento. No actúa sobre ninguno de los tres requisitos incumplidos.</a:t>
            </a:r>
          </a:p>
          <a:p>
            <a:endParaRPr lang="es-MX"/>
          </a:p>
          <a:p>
            <a:r>
              <a:rPr lang="es-MX"/>
              <a:t>DE DÓNDE SALE CADA DATO</a:t>
            </a:r>
          </a:p>
          <a:p>
            <a:r>
              <a:rPr lang="es-MX"/>
              <a:t>· f′c in situ = 18,5 MPa: Testigos corregidos según ACI 214.4R, de la clase 5. Es la resistencia que el elemento tiene, no la que se especificó.</a:t>
            </a:r>
          </a:p>
          <a:p>
            <a:r>
              <a:rPr lang="es-MX"/>
              <a:t>· a/c ≈ 0,60: Estimada de la dosificación de 1998 y contrastada con los testigos. Estimación con dispersión alta.</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29</a:t>
            </a:fld>
            <a:endParaRPr lang="es-BO"/>
          </a:p>
        </p:txBody>
      </p:sp>
    </p:spTree>
    <p:extLst>
      <p:ext uri="{BB962C8B-B14F-4D97-AF65-F5344CB8AC3E}">
        <p14:creationId xmlns:p14="http://schemas.microsoft.com/office/powerpoint/2010/main" val="25240005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Recordar que el daño está en la bóveda y en la franja sobre el agua, no en el fondo sumergido.</a:t>
            </a:r>
          </a:p>
          <a:p>
            <a:endParaRPr lang="es-MX"/>
          </a:p>
          <a:p>
            <a:r>
              <a:rPr lang="es-MX"/>
              <a:t>HIPÓTESIS Y LÍMITES DE VALIDEZ</a:t>
            </a:r>
          </a:p>
          <a:p>
            <a:r>
              <a:rPr lang="es-MX"/>
              <a:t>La linealidad es válida mientras el aporte de ácido sea continuo y los productos de reacción no formen capa protectora. Si se forma yeso adherente la velocidad baja; si el flujo lo lava, se mantiene. Dos puntos de medida en el tiempo darían una estimación mejor que uno.</a:t>
            </a:r>
          </a:p>
          <a:p>
            <a:endParaRPr lang="es-MX"/>
          </a:p>
          <a:p>
            <a:r>
              <a:rPr lang="es-MX"/>
              <a:t>INTERPRETACIÓN, RESTO</a:t>
            </a:r>
          </a:p>
          <a:p>
            <a:r>
              <a:rPr lang="es-MX"/>
              <a:t>Ningún hormigón resiste un ácido a pH 2,5. La respuesta no es un hormigón mejor: es una barrera física y el control del aporte de H₂S mediante ventilación.</a:t>
            </a:r>
          </a:p>
          <a:p>
            <a:endParaRPr lang="es-MX"/>
          </a:p>
          <a:p>
            <a:r>
              <a:rPr lang="es-MX"/>
              <a:t>DE DÓNDE SALE CADA DATO</a:t>
            </a:r>
          </a:p>
          <a:p>
            <a:r>
              <a:rPr lang="es-MX"/>
              <a:t>· pH 2,5: Medido con papel sobre la pared húmeda. El ácido sulfúrico lo generan bacterias a partir del H₂S del agua residual.</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30</a:t>
            </a:fld>
            <a:endParaRPr lang="es-BO"/>
          </a:p>
        </p:txBody>
      </p:sp>
    </p:spTree>
    <p:extLst>
      <p:ext uri="{BB962C8B-B14F-4D97-AF65-F5344CB8AC3E}">
        <p14:creationId xmlns:p14="http://schemas.microsoft.com/office/powerpoint/2010/main" val="35822097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Cerrar con la decisión: revestimiento antiácido, no impermeabilizante de penetración. Y ventilación del vertido.</a:t>
            </a:r>
          </a:p>
          <a:p>
            <a:endParaRPr lang="es-MX"/>
          </a:p>
          <a:p>
            <a:r>
              <a:rPr lang="es-MX"/>
              <a:t>HIPÓTESIS Y LÍMITES DE VALIDEZ</a:t>
            </a:r>
          </a:p>
          <a:p>
            <a:r>
              <a:rPr lang="es-MX"/>
              <a:t>Extrapolación lineal a 21 años desde una medida tomada a 14. No considera que la pérdida de sección mejora la ventilación y puede alterar el aporte de H₂S. Conviene reponer la medida a los cinco años para confirmar la pendiente.</a:t>
            </a:r>
          </a:p>
          <a:p>
            <a:endParaRPr lang="es-MX"/>
          </a:p>
          <a:p>
            <a:r>
              <a:rPr lang="es-MX"/>
              <a:t>INTERPRETACIÓN, RESTO</a:t>
            </a:r>
          </a:p>
          <a:p>
            <a:r>
              <a:rPr lang="es-MX"/>
              <a:t>Y la cámara debe durar lo que dure la nave. La solución es revestimiento antiácido según EN 1504-2 más ventilación del vertido, no un impermeabilizante de penetración.</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31</a:t>
            </a:fld>
            <a:endParaRPr lang="es-BO"/>
          </a:p>
        </p:txBody>
      </p:sp>
    </p:spTree>
    <p:extLst>
      <p:ext uri="{BB962C8B-B14F-4D97-AF65-F5344CB8AC3E}">
        <p14:creationId xmlns:p14="http://schemas.microsoft.com/office/powerpoint/2010/main" val="13973948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Cerrar el caso. Los números están en la hoja 5 del libro de Excel del curso.</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32</a:t>
            </a:fld>
            <a:endParaRPr lang="es-BO"/>
          </a:p>
        </p:txBody>
      </p:sp>
    </p:spTree>
    <p:extLst>
      <p:ext uri="{BB962C8B-B14F-4D97-AF65-F5344CB8AC3E}">
        <p14:creationId xmlns:p14="http://schemas.microsoft.com/office/powerpoint/2010/main" val="33273228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hoja escribe sola la clase de exposición. Lo que no puede escribir sola es el renglón de cumplimiento: ese es el que se copia al informe.</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33</a:t>
            </a:fld>
            <a:endParaRPr lang="es-BO"/>
          </a:p>
        </p:txBody>
      </p:sp>
    </p:spTree>
    <p:extLst>
      <p:ext uri="{BB962C8B-B14F-4D97-AF65-F5344CB8AC3E}">
        <p14:creationId xmlns:p14="http://schemas.microsoft.com/office/powerpoint/2010/main" val="21405830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Seis ideas. La sexta es la que se repite en los tres casos de hoy.</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34</a:t>
            </a:fld>
            <a:endParaRPr lang="es-BO"/>
          </a:p>
        </p:txBody>
      </p:sp>
    </p:spTree>
    <p:extLst>
      <p:ext uri="{BB962C8B-B14F-4D97-AF65-F5344CB8AC3E}">
        <p14:creationId xmlns:p14="http://schemas.microsoft.com/office/powerpoint/2010/main" val="11068905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Cierre. Anticipar que en la clase 5 se arma la campaña completa de la nave Sector 4 con su presupuesto y su orden.</a:t>
            </a:r>
            <a:endParaRPr lang="es-BO"/>
          </a:p>
        </p:txBody>
      </p:sp>
      <p:sp>
        <p:nvSpPr>
          <p:cNvPr id="4" name="Marcador de número de diapositiva 3"/>
          <p:cNvSpPr>
            <a:spLocks noGrp="1"/>
          </p:cNvSpPr>
          <p:nvPr>
            <p:ph type="sldNum" sz="quarter" idx="5"/>
          </p:nvPr>
        </p:nvSpPr>
        <p:spPr/>
        <p:txBody>
          <a:bodyPr/>
          <a:lstStyle/>
          <a:p>
            <a:fld id="{1EEDFB99-ADF9-408E-B7FD-FDBA22D2D79F}" type="slidenum">
              <a:rPr lang="es-BO" smtClean="0"/>
              <a:t>35</a:t>
            </a:fld>
            <a:endParaRPr lang="es-BO"/>
          </a:p>
        </p:txBody>
      </p:sp>
    </p:spTree>
    <p:extLst>
      <p:ext uri="{BB962C8B-B14F-4D97-AF65-F5344CB8AC3E}">
        <p14:creationId xmlns:p14="http://schemas.microsoft.com/office/powerpoint/2010/main" val="3656073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C718EB-9D63-B3DC-3DEB-5DCA617C89E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BO"/>
          </a:p>
        </p:txBody>
      </p:sp>
      <p:sp>
        <p:nvSpPr>
          <p:cNvPr id="3" name="Subtítulo 2">
            <a:extLst>
              <a:ext uri="{FF2B5EF4-FFF2-40B4-BE49-F238E27FC236}">
                <a16:creationId xmlns:a16="http://schemas.microsoft.com/office/drawing/2014/main" id="{FF12FA47-4C3F-FDA5-75E0-38B610859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BO"/>
          </a:p>
        </p:txBody>
      </p:sp>
      <p:sp>
        <p:nvSpPr>
          <p:cNvPr id="4" name="Marcador de fecha 3">
            <a:extLst>
              <a:ext uri="{FF2B5EF4-FFF2-40B4-BE49-F238E27FC236}">
                <a16:creationId xmlns:a16="http://schemas.microsoft.com/office/drawing/2014/main" id="{8ACCC596-4A86-A29D-B30D-E1FDE68F4ACF}"/>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5" name="Marcador de pie de página 4">
            <a:extLst>
              <a:ext uri="{FF2B5EF4-FFF2-40B4-BE49-F238E27FC236}">
                <a16:creationId xmlns:a16="http://schemas.microsoft.com/office/drawing/2014/main" id="{296DA7D6-D431-8728-31ED-8949B421243C}"/>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3B11AB8C-15C2-C170-94EE-BC1ED6BAFB3D}"/>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3410296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1F59D3-D88B-38C0-75DE-D98B50FBEA5E}"/>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D1CDEC85-5608-4205-53F9-D68CA803BF0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C7D0D065-2C51-E6CC-B25F-2C68B7ACCD59}"/>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5" name="Marcador de pie de página 4">
            <a:extLst>
              <a:ext uri="{FF2B5EF4-FFF2-40B4-BE49-F238E27FC236}">
                <a16:creationId xmlns:a16="http://schemas.microsoft.com/office/drawing/2014/main" id="{ECD8766F-087A-7DB3-6E15-D7C5B3C95A48}"/>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C4FD2694-978F-1357-C247-CF603CA0F465}"/>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110106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09DEB7-4379-3913-1345-839ED3C0DFF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00B16737-8CCF-887F-8A64-8E79DD2748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E0B561E-BCAD-64E1-E5EA-18427C079C15}"/>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5" name="Marcador de pie de página 4">
            <a:extLst>
              <a:ext uri="{FF2B5EF4-FFF2-40B4-BE49-F238E27FC236}">
                <a16:creationId xmlns:a16="http://schemas.microsoft.com/office/drawing/2014/main" id="{02C460C3-B965-ABAF-CFD6-CA77579EAAD0}"/>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DFB3358A-8F65-59A1-E1EF-E55826BA5661}"/>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2444258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51A09-30E4-4001-50BD-B3C350A4F63B}"/>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ED2F675F-8724-154F-1402-BC26B25216D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contenido 3">
            <a:extLst>
              <a:ext uri="{FF2B5EF4-FFF2-40B4-BE49-F238E27FC236}">
                <a16:creationId xmlns:a16="http://schemas.microsoft.com/office/drawing/2014/main" id="{F286ED09-52BB-30D2-2436-67F849D3FDF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fecha 4">
            <a:extLst>
              <a:ext uri="{FF2B5EF4-FFF2-40B4-BE49-F238E27FC236}">
                <a16:creationId xmlns:a16="http://schemas.microsoft.com/office/drawing/2014/main" id="{0C65D3EB-0C4E-A106-5942-6C85890C7EA3}"/>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6" name="Marcador de pie de página 5">
            <a:extLst>
              <a:ext uri="{FF2B5EF4-FFF2-40B4-BE49-F238E27FC236}">
                <a16:creationId xmlns:a16="http://schemas.microsoft.com/office/drawing/2014/main" id="{58FB76CC-CE1B-0FBB-0E3A-A08C8D59854F}"/>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D841B44A-821C-A336-4C80-5DBA150E0E3D}"/>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1243201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00B4D9-29AF-DF3D-3CEE-864EB5565BF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216BAAFC-732E-2B98-3B84-C389AADE7D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84B3160-4DC5-003C-C3BD-E4846439405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texto 4">
            <a:extLst>
              <a:ext uri="{FF2B5EF4-FFF2-40B4-BE49-F238E27FC236}">
                <a16:creationId xmlns:a16="http://schemas.microsoft.com/office/drawing/2014/main" id="{A44A9983-E21B-F252-9A71-AA9A45BC8F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38DCA4E-B2EA-5931-DBF0-175C43189FF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7" name="Marcador de fecha 6">
            <a:extLst>
              <a:ext uri="{FF2B5EF4-FFF2-40B4-BE49-F238E27FC236}">
                <a16:creationId xmlns:a16="http://schemas.microsoft.com/office/drawing/2014/main" id="{86B2B8A3-50C6-A11E-F87C-2DEFF3B97A17}"/>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8" name="Marcador de pie de página 7">
            <a:extLst>
              <a:ext uri="{FF2B5EF4-FFF2-40B4-BE49-F238E27FC236}">
                <a16:creationId xmlns:a16="http://schemas.microsoft.com/office/drawing/2014/main" id="{6C31ADAE-2A6E-6C50-F1CF-9E2D62AFB063}"/>
              </a:ext>
            </a:extLst>
          </p:cNvPr>
          <p:cNvSpPr>
            <a:spLocks noGrp="1"/>
          </p:cNvSpPr>
          <p:nvPr>
            <p:ph type="ftr" sz="quarter" idx="11"/>
          </p:nvPr>
        </p:nvSpPr>
        <p:spPr/>
        <p:txBody>
          <a:bodyPr/>
          <a:lstStyle/>
          <a:p>
            <a:endParaRPr lang="es-BO"/>
          </a:p>
        </p:txBody>
      </p:sp>
      <p:sp>
        <p:nvSpPr>
          <p:cNvPr id="9" name="Marcador de número de diapositiva 8">
            <a:extLst>
              <a:ext uri="{FF2B5EF4-FFF2-40B4-BE49-F238E27FC236}">
                <a16:creationId xmlns:a16="http://schemas.microsoft.com/office/drawing/2014/main" id="{A58F3D75-3A1F-178A-5239-EBBA43EE168A}"/>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246780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F45939-D0E6-C8A2-5D83-129D7865FE05}"/>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fecha 2">
            <a:extLst>
              <a:ext uri="{FF2B5EF4-FFF2-40B4-BE49-F238E27FC236}">
                <a16:creationId xmlns:a16="http://schemas.microsoft.com/office/drawing/2014/main" id="{F8C9FADE-42C8-1944-B570-8E1EDD926DF1}"/>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4" name="Marcador de pie de página 3">
            <a:extLst>
              <a:ext uri="{FF2B5EF4-FFF2-40B4-BE49-F238E27FC236}">
                <a16:creationId xmlns:a16="http://schemas.microsoft.com/office/drawing/2014/main" id="{27C67331-E0B6-CA57-E809-513377DD4910}"/>
              </a:ext>
            </a:extLst>
          </p:cNvPr>
          <p:cNvSpPr>
            <a:spLocks noGrp="1"/>
          </p:cNvSpPr>
          <p:nvPr>
            <p:ph type="ftr" sz="quarter" idx="11"/>
          </p:nvPr>
        </p:nvSpPr>
        <p:spPr/>
        <p:txBody>
          <a:bodyPr/>
          <a:lstStyle/>
          <a:p>
            <a:endParaRPr lang="es-BO"/>
          </a:p>
        </p:txBody>
      </p:sp>
      <p:sp>
        <p:nvSpPr>
          <p:cNvPr id="5" name="Marcador de número de diapositiva 4">
            <a:extLst>
              <a:ext uri="{FF2B5EF4-FFF2-40B4-BE49-F238E27FC236}">
                <a16:creationId xmlns:a16="http://schemas.microsoft.com/office/drawing/2014/main" id="{49A2A9D5-2332-CE0D-A72C-2572A8E8392A}"/>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3225562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37E794B-6D38-AD0E-3DCE-573F82A60C4B}"/>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3" name="Marcador de pie de página 2">
            <a:extLst>
              <a:ext uri="{FF2B5EF4-FFF2-40B4-BE49-F238E27FC236}">
                <a16:creationId xmlns:a16="http://schemas.microsoft.com/office/drawing/2014/main" id="{1D881EB8-1B05-2F5B-F6CF-C41E07F209B1}"/>
              </a:ext>
            </a:extLst>
          </p:cNvPr>
          <p:cNvSpPr>
            <a:spLocks noGrp="1"/>
          </p:cNvSpPr>
          <p:nvPr>
            <p:ph type="ftr" sz="quarter" idx="11"/>
          </p:nvPr>
        </p:nvSpPr>
        <p:spPr/>
        <p:txBody>
          <a:bodyPr/>
          <a:lstStyle/>
          <a:p>
            <a:endParaRPr lang="es-BO"/>
          </a:p>
        </p:txBody>
      </p:sp>
      <p:sp>
        <p:nvSpPr>
          <p:cNvPr id="4" name="Marcador de número de diapositiva 3">
            <a:extLst>
              <a:ext uri="{FF2B5EF4-FFF2-40B4-BE49-F238E27FC236}">
                <a16:creationId xmlns:a16="http://schemas.microsoft.com/office/drawing/2014/main" id="{DE2457E0-A96B-99BA-69E7-79BC422F687A}"/>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3038428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811D9D-446D-F9CB-5CC8-E648453D5DF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E61C4C39-F081-C6B3-42D6-F124639A9D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texto 3">
            <a:extLst>
              <a:ext uri="{FF2B5EF4-FFF2-40B4-BE49-F238E27FC236}">
                <a16:creationId xmlns:a16="http://schemas.microsoft.com/office/drawing/2014/main" id="{E5292ADA-59A7-EFE8-78C9-66643BBDD0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4086018-FE4F-8511-C72B-D8B7F705CE85}"/>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6" name="Marcador de pie de página 5">
            <a:extLst>
              <a:ext uri="{FF2B5EF4-FFF2-40B4-BE49-F238E27FC236}">
                <a16:creationId xmlns:a16="http://schemas.microsoft.com/office/drawing/2014/main" id="{3CEB3777-C857-04CE-5EC9-516EB47F8E36}"/>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9B60B7B9-8C78-86BF-3F72-6AE426B295A8}"/>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4180037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26A6B5-F65A-722F-2A71-F5D08625660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posición de imagen 2">
            <a:extLst>
              <a:ext uri="{FF2B5EF4-FFF2-40B4-BE49-F238E27FC236}">
                <a16:creationId xmlns:a16="http://schemas.microsoft.com/office/drawing/2014/main" id="{2F011AAA-72BE-558F-0196-FFE98326B33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BO"/>
          </a:p>
        </p:txBody>
      </p:sp>
      <p:sp>
        <p:nvSpPr>
          <p:cNvPr id="4" name="Marcador de texto 3">
            <a:extLst>
              <a:ext uri="{FF2B5EF4-FFF2-40B4-BE49-F238E27FC236}">
                <a16:creationId xmlns:a16="http://schemas.microsoft.com/office/drawing/2014/main" id="{09174A15-9D4D-AA28-32A9-72E68122C0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335DC8-95ED-D5E0-2CD7-CABAC089F49A}"/>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6" name="Marcador de pie de página 5">
            <a:extLst>
              <a:ext uri="{FF2B5EF4-FFF2-40B4-BE49-F238E27FC236}">
                <a16:creationId xmlns:a16="http://schemas.microsoft.com/office/drawing/2014/main" id="{A088CCA1-DECE-DBF1-C6DF-315661458DBE}"/>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B10EBF2D-9CAF-86E4-79BD-756A2629B713}"/>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4072694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9FA48-5D31-809B-CE9A-2F7F8ABB5BC4}"/>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3701C5ED-9710-022F-ECB2-34A8504E0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AE9D1F25-7626-37C3-211C-753573858E43}"/>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5" name="Marcador de pie de página 4">
            <a:extLst>
              <a:ext uri="{FF2B5EF4-FFF2-40B4-BE49-F238E27FC236}">
                <a16:creationId xmlns:a16="http://schemas.microsoft.com/office/drawing/2014/main" id="{8ECEE1D2-9498-11EF-B0E0-CAF2150CEA80}"/>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DD2CC187-8C26-0C12-F6B4-8AF8F224CCB7}"/>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1637284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AF964F9-5419-26DA-FB60-A4C3F634D0F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46FAD812-298F-D379-41D7-B04937BB565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6F071C33-A716-B75D-3075-10D0A92D0C7E}"/>
              </a:ext>
            </a:extLst>
          </p:cNvPr>
          <p:cNvSpPr>
            <a:spLocks noGrp="1"/>
          </p:cNvSpPr>
          <p:nvPr>
            <p:ph type="dt" sz="half" idx="10"/>
          </p:nvPr>
        </p:nvSpPr>
        <p:spPr/>
        <p:txBody>
          <a:bodyPr/>
          <a:lstStyle/>
          <a:p>
            <a:fld id="{78A7F6EE-5670-499B-BC13-15B721275A49}" type="datetimeFigureOut">
              <a:rPr lang="es-BO" smtClean="0"/>
              <a:t>22/10/2026</a:t>
            </a:fld>
            <a:endParaRPr lang="es-BO"/>
          </a:p>
        </p:txBody>
      </p:sp>
      <p:sp>
        <p:nvSpPr>
          <p:cNvPr id="5" name="Marcador de pie de página 4">
            <a:extLst>
              <a:ext uri="{FF2B5EF4-FFF2-40B4-BE49-F238E27FC236}">
                <a16:creationId xmlns:a16="http://schemas.microsoft.com/office/drawing/2014/main" id="{78D1C73B-8FD6-46DF-81D8-EC565B4636E1}"/>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E8C71796-AF99-3DC0-8710-E96044A5A36C}"/>
              </a:ext>
            </a:extLst>
          </p:cNvPr>
          <p:cNvSpPr>
            <a:spLocks noGrp="1"/>
          </p:cNvSpPr>
          <p:nvPr>
            <p:ph type="sldNum" sz="quarter" idx="12"/>
          </p:nvPr>
        </p:nvSpPr>
        <p:spPr/>
        <p:txBody>
          <a:bodyPr/>
          <a:lstStyle/>
          <a:p>
            <a:fld id="{66591497-13CA-4396-A6B8-3966C8E89242}" type="slidenum">
              <a:rPr lang="es-BO" smtClean="0"/>
              <a:t>‹Nº›</a:t>
            </a:fld>
            <a:endParaRPr lang="es-BO"/>
          </a:p>
        </p:txBody>
      </p:sp>
    </p:spTree>
    <p:extLst>
      <p:ext uri="{BB962C8B-B14F-4D97-AF65-F5344CB8AC3E}">
        <p14:creationId xmlns:p14="http://schemas.microsoft.com/office/powerpoint/2010/main" val="314587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4060D5C-1768-4540-750E-4002CBA203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AE48397B-B3AF-226F-EE97-0BB42ADD6C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DCEF6C28-AC57-B5CA-322C-44E313DFFF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A7F6EE-5670-499B-BC13-15B721275A49}" type="datetimeFigureOut">
              <a:rPr lang="es-BO" smtClean="0"/>
              <a:t>22/10/2026</a:t>
            </a:fld>
            <a:endParaRPr lang="es-BO"/>
          </a:p>
        </p:txBody>
      </p:sp>
      <p:sp>
        <p:nvSpPr>
          <p:cNvPr id="5" name="Marcador de pie de página 4">
            <a:extLst>
              <a:ext uri="{FF2B5EF4-FFF2-40B4-BE49-F238E27FC236}">
                <a16:creationId xmlns:a16="http://schemas.microsoft.com/office/drawing/2014/main" id="{ECF1AEB2-FCD4-6E2D-60E8-89967D070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BO"/>
          </a:p>
        </p:txBody>
      </p:sp>
      <p:sp>
        <p:nvSpPr>
          <p:cNvPr id="6" name="Marcador de número de diapositiva 5">
            <a:extLst>
              <a:ext uri="{FF2B5EF4-FFF2-40B4-BE49-F238E27FC236}">
                <a16:creationId xmlns:a16="http://schemas.microsoft.com/office/drawing/2014/main" id="{CBBD7E25-3E1F-1796-C42E-1452412EAD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591497-13CA-4396-A6B8-3966C8E89242}" type="slidenum">
              <a:rPr lang="es-BO" smtClean="0"/>
              <a:t>‹Nº›</a:t>
            </a:fld>
            <a:endParaRPr lang="es-BO"/>
          </a:p>
        </p:txBody>
      </p:sp>
    </p:spTree>
    <p:extLst>
      <p:ext uri="{BB962C8B-B14F-4D97-AF65-F5344CB8AC3E}">
        <p14:creationId xmlns:p14="http://schemas.microsoft.com/office/powerpoint/2010/main" val="547264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 Id="rId100" Type="http://schemas.openxmlformats.org/officeDocument/2006/relationships/image" Target="../media/kyvc_s3a_pila.png"/><Relationship Id="rId101" Type="http://schemas.openxmlformats.org/officeDocument/2006/relationships/image" Target="../media/kyvc_s3b_micras.png"/><Relationship Id="rId102" Type="http://schemas.openxmlformats.org/officeDocument/2006/relationships/image" Target="../media/kyvc_s3c_47veces.png"/></Relationships>
</file>

<file path=ppt/slides/_rels/slide4.xml.rels><?xml version='1.0' encoding='UTF-8' standalone='yes'?>
<Relationships xmlns="http://schemas.openxmlformats.org/package/2006/relationships"><Relationship Id="rId3" Type="http://schemas.openxmlformats.org/officeDocument/2006/relationships/image" Target="../media/kyvc_s4_cinco.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kyvc_s6_modos.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kyvc_s7_firmas.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kyvc_s8_agresividad.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9.jp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kyvc_s11_sulfato.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kyvc_s12_zapata.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kyvc_s13_cemento.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kyvc_s14_bolivia.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kyvc_s17_colector.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kyvc_s18_lixiviacion.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kyvc_s19a_junta.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kyvc_s19c_conducto.png"/><Relationship Id="rId4" Type="http://schemas.openxmlformats.org/officeDocument/2006/relationships/image" Target="../media/kyvc_s19b_costra.png"/></Relationships>
</file>

<file path=ppt/slides/_rels/slide2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kyvc_s21_raa.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kyvc_s22_diferencial.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kyvc_s23_medidas.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kyvc_s25_nave.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kyvc_s35_testigos.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33FC72A-B314-B0AF-644C-6F0CE842DE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1750EFCC-2013-C249-9C30-DA8DEEB8AE60}"/>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FB57FE30-5D2F-84C6-8D63-0183794CA480}"/>
              </a:ext>
            </a:extLst>
          </p:cNvPr>
          <p:cNvSpPr/>
          <p:nvPr/>
        </p:nvSpPr>
        <p:spPr>
          <a:xfrm>
            <a:off x="0" y="0"/>
            <a:ext cx="12192000" cy="6858000"/>
          </a:xfrm>
          <a:prstGeom prst="rect">
            <a:avLst/>
          </a:prstGeom>
          <a:solidFill>
            <a:srgbClr val="1C1813">
              <a:alpha val="42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Rectángulo 5">
            <a:extLst>
              <a:ext uri="{FF2B5EF4-FFF2-40B4-BE49-F238E27FC236}">
                <a16:creationId xmlns:a16="http://schemas.microsoft.com/office/drawing/2014/main" id="{65639CFF-B96B-24D6-8C7B-90DD53E07920}"/>
              </a:ext>
            </a:extLst>
          </p:cNvPr>
          <p:cNvSpPr/>
          <p:nvPr/>
        </p:nvSpPr>
        <p:spPr>
          <a:xfrm>
            <a:off x="609600" y="685800"/>
            <a:ext cx="330200" cy="254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CuadroTexto 6">
            <a:extLst>
              <a:ext uri="{FF2B5EF4-FFF2-40B4-BE49-F238E27FC236}">
                <a16:creationId xmlns:a16="http://schemas.microsoft.com/office/drawing/2014/main" id="{8D3F4264-5685-4885-4640-377C7785E48F}"/>
              </a:ext>
            </a:extLst>
          </p:cNvPr>
          <p:cNvSpPr txBox="1"/>
          <p:nvPr/>
        </p:nvSpPr>
        <p:spPr>
          <a:xfrm>
            <a:off x="1066800" y="609600"/>
            <a:ext cx="9652000" cy="177800"/>
          </a:xfrm>
          <a:prstGeom prst="rect">
            <a:avLst/>
          </a:prstGeom>
          <a:noFill/>
        </p:spPr>
        <p:txBody>
          <a:bodyPr vert="horz" wrap="square" lIns="0" tIns="0" rIns="0" bIns="0" rtlCol="0" anchor="t">
            <a:noAutofit/>
          </a:bodyPr>
          <a:lstStyle/>
          <a:p>
            <a:r>
              <a:rPr lang="es-MX" sz="900" spc="180">
                <a:solidFill>
                  <a:srgbClr val="C9A66B"/>
                </a:solidFill>
                <a:latin typeface="Segoe UI Semibold" panose="020B0702040204020203" pitchFamily="34" charset="0"/>
              </a:rPr>
              <a:t>DIAGNÓSTICO DE PATOLOGÍAS, RECUPERACIÓN Y REHABILITACIÓN DEL HORMIGÓN</a:t>
            </a:r>
            <a:endParaRPr lang="es-BO" sz="900" spc="180">
              <a:solidFill>
                <a:srgbClr val="C9A66B"/>
              </a:solidFill>
              <a:latin typeface="Segoe UI Semibold" panose="020B0702040204020203" pitchFamily="34" charset="0"/>
            </a:endParaRPr>
          </a:p>
        </p:txBody>
      </p:sp>
      <p:sp>
        <p:nvSpPr>
          <p:cNvPr id="8" name="CuadroTexto 7">
            <a:extLst>
              <a:ext uri="{FF2B5EF4-FFF2-40B4-BE49-F238E27FC236}">
                <a16:creationId xmlns:a16="http://schemas.microsoft.com/office/drawing/2014/main" id="{8EF81E44-69E2-065C-A712-B94D06407976}"/>
              </a:ext>
            </a:extLst>
          </p:cNvPr>
          <p:cNvSpPr txBox="1"/>
          <p:nvPr/>
        </p:nvSpPr>
        <p:spPr>
          <a:xfrm>
            <a:off x="584200" y="1498600"/>
            <a:ext cx="5080000" cy="762000"/>
          </a:xfrm>
          <a:prstGeom prst="rect">
            <a:avLst/>
          </a:prstGeom>
          <a:noFill/>
        </p:spPr>
        <p:txBody>
          <a:bodyPr vert="horz" wrap="square" lIns="0" tIns="0" rIns="0" bIns="0" rtlCol="0" anchor="t">
            <a:noAutofit/>
          </a:bodyPr>
          <a:lstStyle/>
          <a:p>
            <a:r>
              <a:rPr lang="es-BO" sz="3000" i="1">
                <a:solidFill>
                  <a:srgbClr val="C9A66B"/>
                </a:solidFill>
                <a:latin typeface="Constantia" panose="02030602050306030303" pitchFamily="18" charset="0"/>
              </a:rPr>
              <a:t>Clase 04</a:t>
            </a:r>
          </a:p>
        </p:txBody>
      </p:sp>
      <p:sp>
        <p:nvSpPr>
          <p:cNvPr id="9" name="Title">
            <a:extLst>
              <a:ext uri="{FF2B5EF4-FFF2-40B4-BE49-F238E27FC236}">
                <a16:creationId xmlns:a16="http://schemas.microsoft.com/office/drawing/2014/main" id="{910A5D67-151D-0B21-BF4D-8F7E063118E2}"/>
              </a:ext>
            </a:extLst>
          </p:cNvPr>
          <p:cNvSpPr txBox="1"/>
          <p:nvPr/>
        </p:nvSpPr>
        <p:spPr>
          <a:xfrm>
            <a:off x="584200" y="2108200"/>
            <a:ext cx="8128000" cy="1905000"/>
          </a:xfrm>
          <a:prstGeom prst="rect">
            <a:avLst/>
          </a:prstGeom>
          <a:noFill/>
        </p:spPr>
        <p:txBody>
          <a:bodyPr vert="horz" wrap="square" lIns="0" tIns="0" rIns="0" bIns="0" rtlCol="0" anchor="t">
            <a:noAutofit/>
          </a:bodyPr>
          <a:lstStyle/>
          <a:p>
            <a:pPr>
              <a:lnSpc>
                <a:spcPct val="90000"/>
              </a:lnSpc>
            </a:pPr>
            <a:r>
              <a:rPr lang="es-BO" sz="4400">
                <a:solidFill>
                  <a:srgbClr val="FFFFFF"/>
                </a:solidFill>
                <a:latin typeface="Bahnschrift SemiBold" panose="020B0502040204020203" pitchFamily="34" charset="0"/>
              </a:rPr>
              <a:t>Ataque</a:t>
            </a:r>
          </a:p>
          <a:p>
            <a:pPr>
              <a:lnSpc>
                <a:spcPct val="90000"/>
              </a:lnSpc>
            </a:pPr>
            <a:r>
              <a:rPr lang="es-BO" sz="4400">
                <a:solidFill>
                  <a:srgbClr val="FFFFFF"/>
                </a:solidFill>
                <a:latin typeface="Bahnschrift SemiBold" panose="020B0502040204020203" pitchFamily="34" charset="0"/>
              </a:rPr>
              <a:t>químico</a:t>
            </a:r>
          </a:p>
        </p:txBody>
      </p:sp>
      <p:sp>
        <p:nvSpPr>
          <p:cNvPr id="10" name="Rectángulo 9">
            <a:extLst>
              <a:ext uri="{FF2B5EF4-FFF2-40B4-BE49-F238E27FC236}">
                <a16:creationId xmlns:a16="http://schemas.microsoft.com/office/drawing/2014/main" id="{6E992260-AD49-19CE-E421-A14E8DD62006}"/>
              </a:ext>
            </a:extLst>
          </p:cNvPr>
          <p:cNvSpPr/>
          <p:nvPr/>
        </p:nvSpPr>
        <p:spPr>
          <a:xfrm>
            <a:off x="609600" y="4191000"/>
            <a:ext cx="8128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6010A715-46F6-18D2-BDC0-244165295F68}"/>
              </a:ext>
            </a:extLst>
          </p:cNvPr>
          <p:cNvSpPr txBox="1"/>
          <p:nvPr/>
        </p:nvSpPr>
        <p:spPr>
          <a:xfrm>
            <a:off x="609600" y="4394200"/>
            <a:ext cx="7620000" cy="635000"/>
          </a:xfrm>
          <a:prstGeom prst="rect">
            <a:avLst/>
          </a:prstGeom>
          <a:noFill/>
        </p:spPr>
        <p:txBody>
          <a:bodyPr vert="horz" wrap="square" lIns="0" tIns="0" rIns="0" bIns="0" rtlCol="0" anchor="t">
            <a:noAutofit/>
          </a:bodyPr>
          <a:lstStyle/>
          <a:p>
            <a:pPr algn="l"/>
            <a:r>
              <a:rPr lang="es-MX" sz="1500">
                <a:solidFill>
                  <a:srgbClr val="E6DFD2"/>
                </a:solidFill>
                <a:latin typeface="Bahnschrift Light" panose="020B0502040204020203" pitchFamily="34" charset="0"/>
              </a:rPr>
              <a:t>El único mecanismo que destruye la pasta de cemento en sí misma</a:t>
            </a:r>
            <a:endParaRPr lang="es-BO" sz="1500">
              <a:solidFill>
                <a:srgbClr val="E6DFD2"/>
              </a:solidFill>
              <a:latin typeface="Bahnschrift Light" panose="020B0502040204020203" pitchFamily="34" charset="0"/>
            </a:endParaRPr>
          </a:p>
        </p:txBody>
      </p:sp>
      <p:sp>
        <p:nvSpPr>
          <p:cNvPr id="12" name="CuadroTexto 11">
            <a:extLst>
              <a:ext uri="{FF2B5EF4-FFF2-40B4-BE49-F238E27FC236}">
                <a16:creationId xmlns:a16="http://schemas.microsoft.com/office/drawing/2014/main" id="{9CAACDC5-41F9-2F39-FD38-9CB96754289D}"/>
              </a:ext>
            </a:extLst>
          </p:cNvPr>
          <p:cNvSpPr txBox="1"/>
          <p:nvPr/>
        </p:nvSpPr>
        <p:spPr>
          <a:xfrm>
            <a:off x="609600" y="5740400"/>
            <a:ext cx="5080000" cy="203200"/>
          </a:xfrm>
          <a:prstGeom prst="rect">
            <a:avLst/>
          </a:prstGeom>
          <a:noFill/>
        </p:spPr>
        <p:txBody>
          <a:bodyPr vert="horz" wrap="square" lIns="0" tIns="0" rIns="0" bIns="0" rtlCol="0" anchor="t">
            <a:noAutofit/>
          </a:bodyPr>
          <a:lstStyle/>
          <a:p>
            <a:pPr algn="l"/>
            <a:r>
              <a:rPr lang="nn-NO" sz="1300">
                <a:solidFill>
                  <a:srgbClr val="FFFFFF"/>
                </a:solidFill>
                <a:latin typeface="Bahnschrift SemiBold" panose="020B0502040204020203" pitchFamily="34" charset="0"/>
              </a:rPr>
              <a:t>Ing. Kevin Yerko Vera Careaga</a:t>
            </a:r>
            <a:endParaRPr lang="es-BO" sz="1300">
              <a:solidFill>
                <a:srgbClr val="FFFFFF"/>
              </a:solidFill>
              <a:latin typeface="Bahnschrift SemiBold" panose="020B0502040204020203" pitchFamily="34" charset="0"/>
            </a:endParaRPr>
          </a:p>
        </p:txBody>
      </p:sp>
      <p:sp>
        <p:nvSpPr>
          <p:cNvPr id="13" name="CuadroTexto 12">
            <a:extLst>
              <a:ext uri="{FF2B5EF4-FFF2-40B4-BE49-F238E27FC236}">
                <a16:creationId xmlns:a16="http://schemas.microsoft.com/office/drawing/2014/main" id="{59DFFC32-22A8-C874-88FA-B67672BBB278}"/>
              </a:ext>
            </a:extLst>
          </p:cNvPr>
          <p:cNvSpPr txBox="1"/>
          <p:nvPr/>
        </p:nvSpPr>
        <p:spPr>
          <a:xfrm>
            <a:off x="609600" y="5969000"/>
            <a:ext cx="5588000" cy="177800"/>
          </a:xfrm>
          <a:prstGeom prst="rect">
            <a:avLst/>
          </a:prstGeom>
          <a:noFill/>
        </p:spPr>
        <p:txBody>
          <a:bodyPr vert="horz" wrap="square" lIns="0" tIns="0" rIns="0" bIns="0" rtlCol="0" anchor="t">
            <a:noAutofit/>
          </a:bodyPr>
          <a:lstStyle/>
          <a:p>
            <a:pPr algn="l"/>
            <a:r>
              <a:rPr lang="es-MX" sz="950">
                <a:solidFill>
                  <a:srgbClr val="CFC7B8"/>
                </a:solidFill>
                <a:latin typeface="Segoe UI" panose="020B0502040204020203" pitchFamily="34" charset="0"/>
              </a:rPr>
              <a:t>Ingeniero Civil  ·  NRI 57148  ·  La Paz, Bolivia</a:t>
            </a:r>
            <a:endParaRPr lang="es-BO" sz="950">
              <a:solidFill>
                <a:srgbClr val="CFC7B8"/>
              </a:solidFill>
              <a:latin typeface="Segoe UI" panose="020B0502040204020203" pitchFamily="34" charset="0"/>
            </a:endParaRPr>
          </a:p>
        </p:txBody>
      </p:sp>
      <p:sp>
        <p:nvSpPr>
          <p:cNvPr id="14" name="Rectángulo 13">
            <a:extLst>
              <a:ext uri="{FF2B5EF4-FFF2-40B4-BE49-F238E27FC236}">
                <a16:creationId xmlns:a16="http://schemas.microsoft.com/office/drawing/2014/main" id="{FC051189-D019-41EB-0AF8-86C662908DF5}"/>
              </a:ext>
            </a:extLst>
          </p:cNvPr>
          <p:cNvSpPr/>
          <p:nvPr/>
        </p:nvSpPr>
        <p:spPr>
          <a:xfrm>
            <a:off x="8483600" y="5918200"/>
            <a:ext cx="342900" cy="38100"/>
          </a:xfrm>
          <a:prstGeom prst="rect">
            <a:avLst/>
          </a:prstGeom>
          <a:solidFill>
            <a:srgbClr val="CFC7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E20BA007-9B3D-7F5A-608E-F587E369E323}"/>
              </a:ext>
            </a:extLst>
          </p:cNvPr>
          <p:cNvSpPr txBox="1"/>
          <p:nvPr/>
        </p:nvSpPr>
        <p:spPr>
          <a:xfrm>
            <a:off x="8483600" y="6019800"/>
            <a:ext cx="342900" cy="152400"/>
          </a:xfrm>
          <a:prstGeom prst="rect">
            <a:avLst/>
          </a:prstGeom>
          <a:noFill/>
        </p:spPr>
        <p:txBody>
          <a:bodyPr vert="horz" wrap="square" lIns="0" tIns="0" rIns="0" bIns="0" rtlCol="0" anchor="t">
            <a:noAutofit/>
          </a:bodyPr>
          <a:lstStyle/>
          <a:p>
            <a:r>
              <a:rPr lang="es-BO" sz="800" spc="100">
                <a:solidFill>
                  <a:srgbClr val="CFC7B8"/>
                </a:solidFill>
                <a:latin typeface="Segoe UI Semibold" panose="020B0702040204020203" pitchFamily="34" charset="0"/>
              </a:rPr>
              <a:t>S1</a:t>
            </a:r>
          </a:p>
        </p:txBody>
      </p:sp>
      <p:sp>
        <p:nvSpPr>
          <p:cNvPr id="16" name="Rectángulo 15">
            <a:extLst>
              <a:ext uri="{FF2B5EF4-FFF2-40B4-BE49-F238E27FC236}">
                <a16:creationId xmlns:a16="http://schemas.microsoft.com/office/drawing/2014/main" id="{46225C6A-12C4-9707-C7D9-DD9908496E63}"/>
              </a:ext>
            </a:extLst>
          </p:cNvPr>
          <p:cNvSpPr/>
          <p:nvPr/>
        </p:nvSpPr>
        <p:spPr>
          <a:xfrm>
            <a:off x="8940800" y="5918200"/>
            <a:ext cx="342900" cy="38100"/>
          </a:xfrm>
          <a:prstGeom prst="rect">
            <a:avLst/>
          </a:prstGeom>
          <a:solidFill>
            <a:srgbClr val="CFC7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7" name="CuadroTexto 16">
            <a:extLst>
              <a:ext uri="{FF2B5EF4-FFF2-40B4-BE49-F238E27FC236}">
                <a16:creationId xmlns:a16="http://schemas.microsoft.com/office/drawing/2014/main" id="{DB6C6734-89A5-25CC-051B-7201FC0E3570}"/>
              </a:ext>
            </a:extLst>
          </p:cNvPr>
          <p:cNvSpPr txBox="1"/>
          <p:nvPr/>
        </p:nvSpPr>
        <p:spPr>
          <a:xfrm>
            <a:off x="8940800" y="6019800"/>
            <a:ext cx="342900" cy="152400"/>
          </a:xfrm>
          <a:prstGeom prst="rect">
            <a:avLst/>
          </a:prstGeom>
          <a:noFill/>
        </p:spPr>
        <p:txBody>
          <a:bodyPr vert="horz" wrap="square" lIns="0" tIns="0" rIns="0" bIns="0" rtlCol="0" anchor="t">
            <a:noAutofit/>
          </a:bodyPr>
          <a:lstStyle/>
          <a:p>
            <a:r>
              <a:rPr lang="es-BO" sz="800" spc="100">
                <a:solidFill>
                  <a:srgbClr val="CFC7B8"/>
                </a:solidFill>
                <a:latin typeface="Segoe UI Semibold" panose="020B0702040204020203" pitchFamily="34" charset="0"/>
              </a:rPr>
              <a:t>S2</a:t>
            </a:r>
          </a:p>
        </p:txBody>
      </p:sp>
      <p:sp>
        <p:nvSpPr>
          <p:cNvPr id="18" name="Rectángulo 17">
            <a:extLst>
              <a:ext uri="{FF2B5EF4-FFF2-40B4-BE49-F238E27FC236}">
                <a16:creationId xmlns:a16="http://schemas.microsoft.com/office/drawing/2014/main" id="{7950C27A-A9AC-F05D-7F2E-0C0EE2A1E099}"/>
              </a:ext>
            </a:extLst>
          </p:cNvPr>
          <p:cNvSpPr/>
          <p:nvPr/>
        </p:nvSpPr>
        <p:spPr>
          <a:xfrm>
            <a:off x="9398000" y="5918200"/>
            <a:ext cx="342900" cy="38100"/>
          </a:xfrm>
          <a:prstGeom prst="rect">
            <a:avLst/>
          </a:prstGeom>
          <a:solidFill>
            <a:srgbClr val="CFC7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9" name="CuadroTexto 18">
            <a:extLst>
              <a:ext uri="{FF2B5EF4-FFF2-40B4-BE49-F238E27FC236}">
                <a16:creationId xmlns:a16="http://schemas.microsoft.com/office/drawing/2014/main" id="{A563263C-9B2F-8C89-87EE-CFDBE1E7502C}"/>
              </a:ext>
            </a:extLst>
          </p:cNvPr>
          <p:cNvSpPr txBox="1"/>
          <p:nvPr/>
        </p:nvSpPr>
        <p:spPr>
          <a:xfrm>
            <a:off x="9398000" y="6019800"/>
            <a:ext cx="342900" cy="152400"/>
          </a:xfrm>
          <a:prstGeom prst="rect">
            <a:avLst/>
          </a:prstGeom>
          <a:noFill/>
        </p:spPr>
        <p:txBody>
          <a:bodyPr vert="horz" wrap="square" lIns="0" tIns="0" rIns="0" bIns="0" rtlCol="0" anchor="t">
            <a:noAutofit/>
          </a:bodyPr>
          <a:lstStyle/>
          <a:p>
            <a:r>
              <a:rPr lang="es-BO" sz="800" spc="100">
                <a:solidFill>
                  <a:srgbClr val="CFC7B8"/>
                </a:solidFill>
                <a:latin typeface="Segoe UI Semibold" panose="020B0702040204020203" pitchFamily="34" charset="0"/>
              </a:rPr>
              <a:t>S3</a:t>
            </a:r>
          </a:p>
        </p:txBody>
      </p:sp>
      <p:sp>
        <p:nvSpPr>
          <p:cNvPr id="20" name="Rectángulo 19">
            <a:extLst>
              <a:ext uri="{FF2B5EF4-FFF2-40B4-BE49-F238E27FC236}">
                <a16:creationId xmlns:a16="http://schemas.microsoft.com/office/drawing/2014/main" id="{CCCB42CD-7A00-B499-208A-A43E71A7C976}"/>
              </a:ext>
            </a:extLst>
          </p:cNvPr>
          <p:cNvSpPr/>
          <p:nvPr/>
        </p:nvSpPr>
        <p:spPr>
          <a:xfrm>
            <a:off x="9855200" y="5918200"/>
            <a:ext cx="342900" cy="38100"/>
          </a:xfrm>
          <a:prstGeom prst="rect">
            <a:avLst/>
          </a:prstGeom>
          <a:solidFill>
            <a:srgbClr val="C9A6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1" name="CuadroTexto 20">
            <a:extLst>
              <a:ext uri="{FF2B5EF4-FFF2-40B4-BE49-F238E27FC236}">
                <a16:creationId xmlns:a16="http://schemas.microsoft.com/office/drawing/2014/main" id="{3247DAF5-6CD5-1A02-39B8-D57D57025B74}"/>
              </a:ext>
            </a:extLst>
          </p:cNvPr>
          <p:cNvSpPr txBox="1"/>
          <p:nvPr/>
        </p:nvSpPr>
        <p:spPr>
          <a:xfrm>
            <a:off x="9855200" y="6019800"/>
            <a:ext cx="342900" cy="152400"/>
          </a:xfrm>
          <a:prstGeom prst="rect">
            <a:avLst/>
          </a:prstGeom>
          <a:noFill/>
        </p:spPr>
        <p:txBody>
          <a:bodyPr vert="horz" wrap="square" lIns="0" tIns="0" rIns="0" bIns="0" rtlCol="0" anchor="t">
            <a:noAutofit/>
          </a:bodyPr>
          <a:lstStyle/>
          <a:p>
            <a:r>
              <a:rPr lang="es-BO" sz="800" spc="100">
                <a:solidFill>
                  <a:srgbClr val="C9A66B"/>
                </a:solidFill>
                <a:latin typeface="Segoe UI Semibold" panose="020B0702040204020203" pitchFamily="34" charset="0"/>
              </a:rPr>
              <a:t>S4</a:t>
            </a:r>
          </a:p>
        </p:txBody>
      </p:sp>
      <p:sp>
        <p:nvSpPr>
          <p:cNvPr id="22" name="Rectángulo 21">
            <a:extLst>
              <a:ext uri="{FF2B5EF4-FFF2-40B4-BE49-F238E27FC236}">
                <a16:creationId xmlns:a16="http://schemas.microsoft.com/office/drawing/2014/main" id="{C54E177C-FEB3-BB7F-CEDA-ACB5BA008E45}"/>
              </a:ext>
            </a:extLst>
          </p:cNvPr>
          <p:cNvSpPr/>
          <p:nvPr/>
        </p:nvSpPr>
        <p:spPr>
          <a:xfrm>
            <a:off x="10312400" y="5918200"/>
            <a:ext cx="342900" cy="38100"/>
          </a:xfrm>
          <a:prstGeom prst="rect">
            <a:avLst/>
          </a:prstGeom>
          <a:solidFill>
            <a:srgbClr val="3A32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D7728068-A0E4-A2FB-85AD-3E1CD0D792D5}"/>
              </a:ext>
            </a:extLst>
          </p:cNvPr>
          <p:cNvSpPr txBox="1"/>
          <p:nvPr/>
        </p:nvSpPr>
        <p:spPr>
          <a:xfrm>
            <a:off x="10312400" y="6019800"/>
            <a:ext cx="342900" cy="152400"/>
          </a:xfrm>
          <a:prstGeom prst="rect">
            <a:avLst/>
          </a:prstGeom>
          <a:noFill/>
        </p:spPr>
        <p:txBody>
          <a:bodyPr vert="horz" wrap="square" lIns="0" tIns="0" rIns="0" bIns="0" rtlCol="0" anchor="t">
            <a:noAutofit/>
          </a:bodyPr>
          <a:lstStyle/>
          <a:p>
            <a:r>
              <a:rPr lang="es-BO" sz="800" spc="100">
                <a:solidFill>
                  <a:srgbClr val="9C9284"/>
                </a:solidFill>
                <a:latin typeface="Segoe UI Semibold" panose="020B0702040204020203" pitchFamily="34" charset="0"/>
              </a:rPr>
              <a:t>S5</a:t>
            </a:r>
          </a:p>
        </p:txBody>
      </p:sp>
      <p:sp>
        <p:nvSpPr>
          <p:cNvPr id="24" name="Rectángulo 23">
            <a:extLst>
              <a:ext uri="{FF2B5EF4-FFF2-40B4-BE49-F238E27FC236}">
                <a16:creationId xmlns:a16="http://schemas.microsoft.com/office/drawing/2014/main" id="{C8B91D40-EE3B-EF73-6401-20EE5122615C}"/>
              </a:ext>
            </a:extLst>
          </p:cNvPr>
          <p:cNvSpPr/>
          <p:nvPr/>
        </p:nvSpPr>
        <p:spPr>
          <a:xfrm>
            <a:off x="10769600" y="5918200"/>
            <a:ext cx="342900" cy="38100"/>
          </a:xfrm>
          <a:prstGeom prst="rect">
            <a:avLst/>
          </a:prstGeom>
          <a:solidFill>
            <a:srgbClr val="3A32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5" name="CuadroTexto 24">
            <a:extLst>
              <a:ext uri="{FF2B5EF4-FFF2-40B4-BE49-F238E27FC236}">
                <a16:creationId xmlns:a16="http://schemas.microsoft.com/office/drawing/2014/main" id="{A1527372-BC08-38B1-5C0D-67ED2B75E9DD}"/>
              </a:ext>
            </a:extLst>
          </p:cNvPr>
          <p:cNvSpPr txBox="1"/>
          <p:nvPr/>
        </p:nvSpPr>
        <p:spPr>
          <a:xfrm>
            <a:off x="10769600" y="6019800"/>
            <a:ext cx="342900" cy="152400"/>
          </a:xfrm>
          <a:prstGeom prst="rect">
            <a:avLst/>
          </a:prstGeom>
          <a:noFill/>
        </p:spPr>
        <p:txBody>
          <a:bodyPr vert="horz" wrap="square" lIns="0" tIns="0" rIns="0" bIns="0" rtlCol="0" anchor="t">
            <a:noAutofit/>
          </a:bodyPr>
          <a:lstStyle/>
          <a:p>
            <a:r>
              <a:rPr lang="es-BO" sz="800" spc="100">
                <a:solidFill>
                  <a:srgbClr val="9C9284"/>
                </a:solidFill>
                <a:latin typeface="Segoe UI Semibold" panose="020B0702040204020203" pitchFamily="34" charset="0"/>
              </a:rPr>
              <a:t>S6</a:t>
            </a:r>
          </a:p>
        </p:txBody>
      </p:sp>
      <p:sp>
        <p:nvSpPr>
          <p:cNvPr id="26" name="Rectángulo 25">
            <a:extLst>
              <a:ext uri="{FF2B5EF4-FFF2-40B4-BE49-F238E27FC236}">
                <a16:creationId xmlns:a16="http://schemas.microsoft.com/office/drawing/2014/main" id="{AE60E3C6-0F3F-DEF6-62F9-328EDBF01C46}"/>
              </a:ext>
            </a:extLst>
          </p:cNvPr>
          <p:cNvSpPr/>
          <p:nvPr/>
        </p:nvSpPr>
        <p:spPr>
          <a:xfrm>
            <a:off x="11226800" y="5918200"/>
            <a:ext cx="342900" cy="38100"/>
          </a:xfrm>
          <a:prstGeom prst="rect">
            <a:avLst/>
          </a:prstGeom>
          <a:solidFill>
            <a:srgbClr val="3A322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7" name="CuadroTexto 26">
            <a:extLst>
              <a:ext uri="{FF2B5EF4-FFF2-40B4-BE49-F238E27FC236}">
                <a16:creationId xmlns:a16="http://schemas.microsoft.com/office/drawing/2014/main" id="{AB68A10D-74E2-B71E-5BDD-373A41C766B3}"/>
              </a:ext>
            </a:extLst>
          </p:cNvPr>
          <p:cNvSpPr txBox="1"/>
          <p:nvPr/>
        </p:nvSpPr>
        <p:spPr>
          <a:xfrm>
            <a:off x="11226800" y="6019800"/>
            <a:ext cx="342900" cy="152400"/>
          </a:xfrm>
          <a:prstGeom prst="rect">
            <a:avLst/>
          </a:prstGeom>
          <a:noFill/>
        </p:spPr>
        <p:txBody>
          <a:bodyPr vert="horz" wrap="square" lIns="0" tIns="0" rIns="0" bIns="0" rtlCol="0" anchor="t">
            <a:noAutofit/>
          </a:bodyPr>
          <a:lstStyle/>
          <a:p>
            <a:r>
              <a:rPr lang="es-BO" sz="800" spc="100">
                <a:solidFill>
                  <a:srgbClr val="9C9284"/>
                </a:solidFill>
                <a:latin typeface="Segoe UI Semibold" panose="020B0702040204020203" pitchFamily="34" charset="0"/>
              </a:rPr>
              <a:t>S7</a:t>
            </a:r>
          </a:p>
        </p:txBody>
      </p:sp>
      <p:sp>
        <p:nvSpPr>
          <p:cNvPr id="28" name="CuadroTexto 27">
            <a:extLst>
              <a:ext uri="{FF2B5EF4-FFF2-40B4-BE49-F238E27FC236}">
                <a16:creationId xmlns:a16="http://schemas.microsoft.com/office/drawing/2014/main" id="{A5C8B4D4-EF56-E618-DBCC-14DC4FBC754A}"/>
              </a:ext>
            </a:extLst>
          </p:cNvPr>
          <p:cNvSpPr txBox="1"/>
          <p:nvPr/>
        </p:nvSpPr>
        <p:spPr>
          <a:xfrm>
            <a:off x="8483600" y="5664200"/>
            <a:ext cx="3098800" cy="177800"/>
          </a:xfrm>
          <a:prstGeom prst="rect">
            <a:avLst/>
          </a:prstGeom>
          <a:noFill/>
        </p:spPr>
        <p:txBody>
          <a:bodyPr vert="horz" wrap="square" lIns="0" tIns="0" rIns="0" bIns="0" rtlCol="0" anchor="t">
            <a:noAutofit/>
          </a:bodyPr>
          <a:lstStyle/>
          <a:p>
            <a:r>
              <a:rPr lang="es-MX" sz="800" spc="140">
                <a:solidFill>
                  <a:srgbClr val="CFC7B8"/>
                </a:solidFill>
                <a:latin typeface="Segoe UI Semibold" panose="020B0702040204020203" pitchFamily="34" charset="0"/>
              </a:rPr>
              <a:t>CLASE 4 DE 7  ·  MODALIDAD VIRTUAL</a:t>
            </a:r>
            <a:endParaRPr lang="es-BO" sz="800" spc="140">
              <a:solidFill>
                <a:srgbClr val="CFC7B8"/>
              </a:solidFill>
              <a:latin typeface="Segoe UI Semibold" panose="020B0702040204020203" pitchFamily="34" charset="0"/>
            </a:endParaRPr>
          </a:p>
        </p:txBody>
      </p:sp>
      <p:sp>
        <p:nvSpPr>
          <p:cNvPr id="29" name="Monograma">
            <a:extLst>
              <a:ext uri="{FF2B5EF4-FFF2-40B4-BE49-F238E27FC236}">
                <a16:creationId xmlns:a16="http://schemas.microsoft.com/office/drawing/2014/main" id="{DB0B9DFF-C61C-0252-4AD2-E56EC9DA069A}"/>
              </a:ext>
            </a:extLst>
          </p:cNvPr>
          <p:cNvSpPr/>
          <p:nvPr/>
        </p:nvSpPr>
        <p:spPr>
          <a:xfrm>
            <a:off x="10998200" y="508000"/>
            <a:ext cx="584200" cy="584200"/>
          </a:xfrm>
          <a:prstGeom prst="ellipse">
            <a:avLst/>
          </a:prstGeom>
          <a:noFill/>
          <a:ln w="15875">
            <a:solidFill>
              <a:srgbClr val="8A6A2F"/>
            </a:solidFill>
          </a:ln>
          <a:extLst>
            <a:ext uri="{909E8E84-426E-40DD-AFC4-6F175D3DCCD1}">
              <a14:hiddenFill xmlns:a14="http://schemas.microsoft.com/office/drawing/2010/main">
                <a:solidFill>
                  <a:srgbClr val="1C181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pPr>
            <a:r>
              <a:rPr lang="es-BO" sz="1104">
                <a:solidFill>
                  <a:srgbClr val="8A6A2F"/>
                </a:solidFill>
                <a:latin typeface="Bahnschrift SemiBold" panose="020B0502040204020203" pitchFamily="34" charset="0"/>
              </a:rPr>
              <a:t>KY</a:t>
            </a:r>
          </a:p>
          <a:p>
            <a:pPr algn="ctr">
              <a:lnSpc>
                <a:spcPct val="80000"/>
              </a:lnSpc>
            </a:pPr>
            <a:r>
              <a:rPr lang="es-BO" sz="1104">
                <a:solidFill>
                  <a:srgbClr val="8A6A2F"/>
                </a:solidFill>
                <a:latin typeface="Bahnschrift SemiBold" panose="020B0502040204020203" pitchFamily="34" charset="0"/>
              </a:rPr>
              <a:t>VC</a:t>
            </a:r>
          </a:p>
        </p:txBody>
      </p:sp>
    </p:spTree>
    <p:extLst>
      <p:ext uri="{BB962C8B-B14F-4D97-AF65-F5344CB8AC3E}">
        <p14:creationId xmlns:p14="http://schemas.microsoft.com/office/powerpoint/2010/main" val="3117290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A01F1C5-6ED2-CE88-196E-93DFFFD416BC}"/>
              </a:ext>
            </a:extLst>
          </p:cNvPr>
          <p:cNvSpPr/>
          <p:nvPr/>
        </p:nvSpPr>
        <p:spPr>
          <a:xfrm>
            <a:off x="0" y="0"/>
            <a:ext cx="4572000" cy="68580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 name="Rectángulo 2">
            <a:extLst>
              <a:ext uri="{FF2B5EF4-FFF2-40B4-BE49-F238E27FC236}">
                <a16:creationId xmlns:a16="http://schemas.microsoft.com/office/drawing/2014/main" id="{0D82F244-C540-423A-0A34-17E43AD7CFB7}"/>
              </a:ext>
            </a:extLst>
          </p:cNvPr>
          <p:cNvSpPr/>
          <p:nvPr/>
        </p:nvSpPr>
        <p:spPr>
          <a:xfrm>
            <a:off x="609600" y="508000"/>
            <a:ext cx="228600" cy="254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 name="CuadroTexto 3">
            <a:extLst>
              <a:ext uri="{FF2B5EF4-FFF2-40B4-BE49-F238E27FC236}">
                <a16:creationId xmlns:a16="http://schemas.microsoft.com/office/drawing/2014/main" id="{F494ACD1-C7B2-9DCF-0E20-8332E9157B34}"/>
              </a:ext>
            </a:extLst>
          </p:cNvPr>
          <p:cNvSpPr txBox="1"/>
          <p:nvPr/>
        </p:nvSpPr>
        <p:spPr>
          <a:xfrm>
            <a:off x="939800" y="431800"/>
            <a:ext cx="3302000" cy="177800"/>
          </a:xfrm>
          <a:prstGeom prst="rect">
            <a:avLst/>
          </a:prstGeom>
          <a:noFill/>
        </p:spPr>
        <p:txBody>
          <a:bodyPr vert="horz" wrap="square" lIns="0" tIns="0" rIns="0" bIns="0" rtlCol="0" anchor="t">
            <a:noAutofit/>
          </a:bodyPr>
          <a:lstStyle/>
          <a:p>
            <a:r>
              <a:rPr lang="es-BO" sz="900" spc="180">
                <a:solidFill>
                  <a:srgbClr val="8A6A2F"/>
                </a:solidFill>
                <a:latin typeface="Segoe UI Semibold" panose="020B0702040204020203" pitchFamily="34" charset="0"/>
              </a:rPr>
              <a:t>OBJETIVOS DE LA CLASE</a:t>
            </a:r>
          </a:p>
        </p:txBody>
      </p:sp>
      <p:sp>
        <p:nvSpPr>
          <p:cNvPr id="5" name="Title">
            <a:extLst>
              <a:ext uri="{FF2B5EF4-FFF2-40B4-BE49-F238E27FC236}">
                <a16:creationId xmlns:a16="http://schemas.microsoft.com/office/drawing/2014/main" id="{C655A1C2-9CF7-D477-007D-6759078B2D08}"/>
              </a:ext>
            </a:extLst>
          </p:cNvPr>
          <p:cNvSpPr txBox="1"/>
          <p:nvPr/>
        </p:nvSpPr>
        <p:spPr>
          <a:xfrm>
            <a:off x="609600" y="660400"/>
            <a:ext cx="3683000" cy="889000"/>
          </a:xfrm>
          <a:prstGeom prst="rect">
            <a:avLst/>
          </a:prstGeom>
          <a:noFill/>
        </p:spPr>
        <p:txBody>
          <a:bodyPr vert="horz" wrap="square" lIns="0" tIns="0" rIns="0" bIns="0" rtlCol="0" anchor="t">
            <a:noAutofit/>
          </a:bodyPr>
          <a:lstStyle/>
          <a:p>
            <a:r>
              <a:rPr lang="es-MX" sz="2200">
                <a:solidFill>
                  <a:srgbClr val="FFFFFF"/>
                </a:solidFill>
                <a:latin typeface="Bahnschrift SemiBold" panose="020B0502040204020203" pitchFamily="34" charset="0"/>
              </a:rPr>
              <a:t>Al terminar esta clase podrás…</a:t>
            </a:r>
            <a:endParaRPr lang="es-BO" sz="2200">
              <a:solidFill>
                <a:srgbClr val="FFFFFF"/>
              </a:solidFill>
              <a:latin typeface="Bahnschrift SemiBold" panose="020B0502040204020203" pitchFamily="34" charset="0"/>
            </a:endParaRPr>
          </a:p>
        </p:txBody>
      </p:sp>
      <p:sp>
        <p:nvSpPr>
          <p:cNvPr id="6" name="CuadroTexto 5">
            <a:extLst>
              <a:ext uri="{FF2B5EF4-FFF2-40B4-BE49-F238E27FC236}">
                <a16:creationId xmlns:a16="http://schemas.microsoft.com/office/drawing/2014/main" id="{7E8CD136-2B0B-E986-6CDA-46F2245F826E}"/>
              </a:ext>
            </a:extLst>
          </p:cNvPr>
          <p:cNvSpPr txBox="1"/>
          <p:nvPr/>
        </p:nvSpPr>
        <p:spPr>
          <a:xfrm>
            <a:off x="609600" y="1778000"/>
            <a:ext cx="508000" cy="3556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7" name="CuadroTexto 6">
            <a:extLst>
              <a:ext uri="{FF2B5EF4-FFF2-40B4-BE49-F238E27FC236}">
                <a16:creationId xmlns:a16="http://schemas.microsoft.com/office/drawing/2014/main" id="{0A6DB456-8DF7-4706-D6C8-C825D37CEEDD}"/>
              </a:ext>
            </a:extLst>
          </p:cNvPr>
          <p:cNvSpPr txBox="1"/>
          <p:nvPr/>
        </p:nvSpPr>
        <p:spPr>
          <a:xfrm>
            <a:off x="1117600" y="1816100"/>
            <a:ext cx="3048000" cy="812800"/>
          </a:xfrm>
          <a:prstGeom prst="rect">
            <a:avLst/>
          </a:prstGeom>
          <a:noFill/>
        </p:spPr>
        <p:txBody>
          <a:bodyPr vert="horz" wrap="square" lIns="0" tIns="0" rIns="0" bIns="0" rtlCol="0" anchor="t">
            <a:noAutofit/>
          </a:bodyPr>
          <a:lstStyle/>
          <a:p>
            <a:pPr algn="l"/>
            <a:r>
              <a:rPr lang="es-MX" sz="1150">
                <a:solidFill>
                  <a:srgbClr val="DCE3EC"/>
                </a:solidFill>
                <a:latin typeface="Segoe UI" panose="020B0502040204020203" pitchFamily="34" charset="0"/>
              </a:rPr>
              <a:t>Separar los tres modos de ataque químico: disolución, expansión y sustitución.</a:t>
            </a:r>
            <a:endParaRPr lang="es-BO" sz="1150">
              <a:solidFill>
                <a:srgbClr val="DCE3EC"/>
              </a:solidFill>
              <a:latin typeface="Segoe UI" panose="020B0502040204020203" pitchFamily="34" charset="0"/>
            </a:endParaRPr>
          </a:p>
        </p:txBody>
      </p:sp>
      <p:sp>
        <p:nvSpPr>
          <p:cNvPr id="8" name="CuadroTexto 7">
            <a:extLst>
              <a:ext uri="{FF2B5EF4-FFF2-40B4-BE49-F238E27FC236}">
                <a16:creationId xmlns:a16="http://schemas.microsoft.com/office/drawing/2014/main" id="{A57BAF6C-A389-2638-E491-E40C8379A2FE}"/>
              </a:ext>
            </a:extLst>
          </p:cNvPr>
          <p:cNvSpPr txBox="1"/>
          <p:nvPr/>
        </p:nvSpPr>
        <p:spPr>
          <a:xfrm>
            <a:off x="609600" y="2717800"/>
            <a:ext cx="508000" cy="3556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9" name="CuadroTexto 8">
            <a:extLst>
              <a:ext uri="{FF2B5EF4-FFF2-40B4-BE49-F238E27FC236}">
                <a16:creationId xmlns:a16="http://schemas.microsoft.com/office/drawing/2014/main" id="{D3FA2973-3E82-C606-1F2D-6A44D9C1C2AC}"/>
              </a:ext>
            </a:extLst>
          </p:cNvPr>
          <p:cNvSpPr txBox="1"/>
          <p:nvPr/>
        </p:nvSpPr>
        <p:spPr>
          <a:xfrm>
            <a:off x="1117600" y="2755900"/>
            <a:ext cx="3048000" cy="812800"/>
          </a:xfrm>
          <a:prstGeom prst="rect">
            <a:avLst/>
          </a:prstGeom>
          <a:noFill/>
        </p:spPr>
        <p:txBody>
          <a:bodyPr vert="horz" wrap="square" lIns="0" tIns="0" rIns="0" bIns="0" rtlCol="0" anchor="t">
            <a:noAutofit/>
          </a:bodyPr>
          <a:lstStyle/>
          <a:p>
            <a:pPr algn="l"/>
            <a:r>
              <a:rPr lang="es-MX" sz="1150">
                <a:solidFill>
                  <a:srgbClr val="DCE3EC"/>
                </a:solidFill>
                <a:latin typeface="Segoe UI" panose="020B0502040204020203" pitchFamily="34" charset="0"/>
              </a:rPr>
              <a:t>Clasificar una exposición a sulfatos con ACI 318-19 y leer qué exige.</a:t>
            </a:r>
            <a:endParaRPr lang="es-BO" sz="1150">
              <a:solidFill>
                <a:srgbClr val="DCE3EC"/>
              </a:solidFill>
              <a:latin typeface="Segoe UI" panose="020B0502040204020203" pitchFamily="34" charset="0"/>
            </a:endParaRPr>
          </a:p>
        </p:txBody>
      </p:sp>
      <p:sp>
        <p:nvSpPr>
          <p:cNvPr id="10" name="CuadroTexto 9">
            <a:extLst>
              <a:ext uri="{FF2B5EF4-FFF2-40B4-BE49-F238E27FC236}">
                <a16:creationId xmlns:a16="http://schemas.microsoft.com/office/drawing/2014/main" id="{7E7A3D31-0186-8340-6804-E62D8A8FB52D}"/>
              </a:ext>
            </a:extLst>
          </p:cNvPr>
          <p:cNvSpPr txBox="1"/>
          <p:nvPr/>
        </p:nvSpPr>
        <p:spPr>
          <a:xfrm>
            <a:off x="609600" y="3657600"/>
            <a:ext cx="508000" cy="3556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1" name="CuadroTexto 10">
            <a:extLst>
              <a:ext uri="{FF2B5EF4-FFF2-40B4-BE49-F238E27FC236}">
                <a16:creationId xmlns:a16="http://schemas.microsoft.com/office/drawing/2014/main" id="{A1A10533-3A77-8161-9253-73EA50086CA2}"/>
              </a:ext>
            </a:extLst>
          </p:cNvPr>
          <p:cNvSpPr txBox="1"/>
          <p:nvPr/>
        </p:nvSpPr>
        <p:spPr>
          <a:xfrm>
            <a:off x="1117600" y="3695700"/>
            <a:ext cx="3048000" cy="812800"/>
          </a:xfrm>
          <a:prstGeom prst="rect">
            <a:avLst/>
          </a:prstGeom>
          <a:noFill/>
        </p:spPr>
        <p:txBody>
          <a:bodyPr vert="horz" wrap="square" lIns="0" tIns="0" rIns="0" bIns="0" rtlCol="0" anchor="t">
            <a:noAutofit/>
          </a:bodyPr>
          <a:lstStyle/>
          <a:p>
            <a:pPr algn="l"/>
            <a:r>
              <a:rPr lang="es-MX" sz="1150">
                <a:solidFill>
                  <a:srgbClr val="DCE3EC"/>
                </a:solidFill>
                <a:latin typeface="Segoe UI" panose="020B0502040204020203" pitchFamily="34" charset="0"/>
              </a:rPr>
              <a:t>Explicar por qué ningún hormigón resiste un ácido, y qué se hace entonces.</a:t>
            </a:r>
            <a:endParaRPr lang="es-BO" sz="1150">
              <a:solidFill>
                <a:srgbClr val="DCE3EC"/>
              </a:solidFill>
              <a:latin typeface="Segoe UI" panose="020B0502040204020203" pitchFamily="34" charset="0"/>
            </a:endParaRPr>
          </a:p>
        </p:txBody>
      </p:sp>
      <p:sp>
        <p:nvSpPr>
          <p:cNvPr id="12" name="CuadroTexto 11">
            <a:extLst>
              <a:ext uri="{FF2B5EF4-FFF2-40B4-BE49-F238E27FC236}">
                <a16:creationId xmlns:a16="http://schemas.microsoft.com/office/drawing/2014/main" id="{8A97030C-B48C-1E11-FCFB-88B8DC1A1C58}"/>
              </a:ext>
            </a:extLst>
          </p:cNvPr>
          <p:cNvSpPr txBox="1"/>
          <p:nvPr/>
        </p:nvSpPr>
        <p:spPr>
          <a:xfrm>
            <a:off x="609600" y="4597400"/>
            <a:ext cx="508000" cy="3556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04</a:t>
            </a:r>
          </a:p>
        </p:txBody>
      </p:sp>
      <p:sp>
        <p:nvSpPr>
          <p:cNvPr id="13" name="CuadroTexto 12">
            <a:extLst>
              <a:ext uri="{FF2B5EF4-FFF2-40B4-BE49-F238E27FC236}">
                <a16:creationId xmlns:a16="http://schemas.microsoft.com/office/drawing/2014/main" id="{B06EDD21-2483-661A-AFB0-F132592303A4}"/>
              </a:ext>
            </a:extLst>
          </p:cNvPr>
          <p:cNvSpPr txBox="1"/>
          <p:nvPr/>
        </p:nvSpPr>
        <p:spPr>
          <a:xfrm>
            <a:off x="1117600" y="4635500"/>
            <a:ext cx="3048000" cy="812800"/>
          </a:xfrm>
          <a:prstGeom prst="rect">
            <a:avLst/>
          </a:prstGeom>
          <a:noFill/>
        </p:spPr>
        <p:txBody>
          <a:bodyPr vert="horz" wrap="square" lIns="0" tIns="0" rIns="0" bIns="0" rtlCol="0" anchor="t">
            <a:noAutofit/>
          </a:bodyPr>
          <a:lstStyle/>
          <a:p>
            <a:pPr algn="l"/>
            <a:r>
              <a:rPr lang="es-MX" sz="1150">
                <a:solidFill>
                  <a:srgbClr val="DCE3EC"/>
                </a:solidFill>
                <a:latin typeface="Segoe UI" panose="020B0502040204020203" pitchFamily="34" charset="0"/>
              </a:rPr>
              <a:t>Distinguir fisuración por retracción de reacción árido-álcali, y confirmarla.</a:t>
            </a:r>
            <a:endParaRPr lang="es-BO" sz="1150">
              <a:solidFill>
                <a:srgbClr val="DCE3EC"/>
              </a:solidFill>
              <a:latin typeface="Segoe UI" panose="020B0502040204020203" pitchFamily="34" charset="0"/>
            </a:endParaRPr>
          </a:p>
        </p:txBody>
      </p:sp>
      <p:sp>
        <p:nvSpPr>
          <p:cNvPr id="14" name="Rectángulo 13">
            <a:extLst>
              <a:ext uri="{FF2B5EF4-FFF2-40B4-BE49-F238E27FC236}">
                <a16:creationId xmlns:a16="http://schemas.microsoft.com/office/drawing/2014/main" id="{BD5B15BD-5392-5026-D764-7B01A1DC2865}"/>
              </a:ext>
            </a:extLst>
          </p:cNvPr>
          <p:cNvSpPr/>
          <p:nvPr/>
        </p:nvSpPr>
        <p:spPr>
          <a:xfrm>
            <a:off x="5080000" y="508000"/>
            <a:ext cx="228600" cy="254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B26CB6D6-4845-FED7-D122-4AABE06502A4}"/>
              </a:ext>
            </a:extLst>
          </p:cNvPr>
          <p:cNvSpPr txBox="1"/>
          <p:nvPr/>
        </p:nvSpPr>
        <p:spPr>
          <a:xfrm>
            <a:off x="5410200" y="431800"/>
            <a:ext cx="38100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RUTA DE LA CLASE</a:t>
            </a:r>
          </a:p>
        </p:txBody>
      </p:sp>
      <p:cxnSp>
        <p:nvCxnSpPr>
          <p:cNvPr id="16" name="Conector recto 15">
            <a:extLst>
              <a:ext uri="{FF2B5EF4-FFF2-40B4-BE49-F238E27FC236}">
                <a16:creationId xmlns:a16="http://schemas.microsoft.com/office/drawing/2014/main" id="{D2F5802C-51D7-A692-7888-3C990A4AE271}"/>
              </a:ext>
            </a:extLst>
          </p:cNvPr>
          <p:cNvCxnSpPr/>
          <p:nvPr/>
        </p:nvCxnSpPr>
        <p:spPr>
          <a:xfrm>
            <a:off x="5257800" y="1219200"/>
            <a:ext cx="0" cy="4622800"/>
          </a:xfrm>
          <a:prstGeom prst="line">
            <a:avLst/>
          </a:prstGeom>
          <a:ln w="190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7" name="Elipse 16">
            <a:extLst>
              <a:ext uri="{FF2B5EF4-FFF2-40B4-BE49-F238E27FC236}">
                <a16:creationId xmlns:a16="http://schemas.microsoft.com/office/drawing/2014/main" id="{C1EF9B6E-807F-E0D9-6201-1533006296F9}"/>
              </a:ext>
            </a:extLst>
          </p:cNvPr>
          <p:cNvSpPr/>
          <p:nvPr/>
        </p:nvSpPr>
        <p:spPr>
          <a:xfrm>
            <a:off x="5105400" y="10668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1</a:t>
            </a:r>
          </a:p>
        </p:txBody>
      </p:sp>
      <p:sp>
        <p:nvSpPr>
          <p:cNvPr id="18" name="CuadroTexto 17">
            <a:extLst>
              <a:ext uri="{FF2B5EF4-FFF2-40B4-BE49-F238E27FC236}">
                <a16:creationId xmlns:a16="http://schemas.microsoft.com/office/drawing/2014/main" id="{053220A1-1B3E-EC45-AB86-669FB6F7F19A}"/>
              </a:ext>
            </a:extLst>
          </p:cNvPr>
          <p:cNvSpPr txBox="1"/>
          <p:nvPr/>
        </p:nvSpPr>
        <p:spPr>
          <a:xfrm>
            <a:off x="5715000" y="10287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APERTURA</a:t>
            </a:r>
          </a:p>
        </p:txBody>
      </p:sp>
      <p:sp>
        <p:nvSpPr>
          <p:cNvPr id="19" name="CuadroTexto 18">
            <a:extLst>
              <a:ext uri="{FF2B5EF4-FFF2-40B4-BE49-F238E27FC236}">
                <a16:creationId xmlns:a16="http://schemas.microsoft.com/office/drawing/2014/main" id="{20ECB708-96C7-DC9C-C375-F923661E2EEC}"/>
              </a:ext>
            </a:extLst>
          </p:cNvPr>
          <p:cNvSpPr txBox="1"/>
          <p:nvPr/>
        </p:nvSpPr>
        <p:spPr>
          <a:xfrm>
            <a:off x="5715000" y="11938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Repaso de la clase anterior y pregunta</a:t>
            </a:r>
            <a:endParaRPr lang="es-BO" sz="1200">
              <a:solidFill>
                <a:srgbClr val="1C1813"/>
              </a:solidFill>
              <a:latin typeface="Bahnschrift SemiBold" panose="020B0502040204020203" pitchFamily="34" charset="0"/>
            </a:endParaRPr>
          </a:p>
        </p:txBody>
      </p:sp>
      <p:sp>
        <p:nvSpPr>
          <p:cNvPr id="20" name="Elipse 19">
            <a:extLst>
              <a:ext uri="{FF2B5EF4-FFF2-40B4-BE49-F238E27FC236}">
                <a16:creationId xmlns:a16="http://schemas.microsoft.com/office/drawing/2014/main" id="{0E51992B-6233-8C78-7132-2009D2E036D5}"/>
              </a:ext>
            </a:extLst>
          </p:cNvPr>
          <p:cNvSpPr/>
          <p:nvPr/>
        </p:nvSpPr>
        <p:spPr>
          <a:xfrm>
            <a:off x="5105400" y="17272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2</a:t>
            </a:r>
          </a:p>
        </p:txBody>
      </p:sp>
      <p:sp>
        <p:nvSpPr>
          <p:cNvPr id="21" name="CuadroTexto 20">
            <a:extLst>
              <a:ext uri="{FF2B5EF4-FFF2-40B4-BE49-F238E27FC236}">
                <a16:creationId xmlns:a16="http://schemas.microsoft.com/office/drawing/2014/main" id="{1D0E04CD-23FA-CA60-32A1-12260045131A}"/>
              </a:ext>
            </a:extLst>
          </p:cNvPr>
          <p:cNvSpPr txBox="1"/>
          <p:nvPr/>
        </p:nvSpPr>
        <p:spPr>
          <a:xfrm>
            <a:off x="5715000" y="16891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PARTE 1</a:t>
            </a:r>
          </a:p>
        </p:txBody>
      </p:sp>
      <p:sp>
        <p:nvSpPr>
          <p:cNvPr id="22" name="CuadroTexto 21">
            <a:extLst>
              <a:ext uri="{FF2B5EF4-FFF2-40B4-BE49-F238E27FC236}">
                <a16:creationId xmlns:a16="http://schemas.microsoft.com/office/drawing/2014/main" id="{61C2E09E-BE62-4EE9-D8CB-03F44487956C}"/>
              </a:ext>
            </a:extLst>
          </p:cNvPr>
          <p:cNvSpPr txBox="1"/>
          <p:nvPr/>
        </p:nvSpPr>
        <p:spPr>
          <a:xfrm>
            <a:off x="5715000" y="18542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Qué ataca a la pasta y cómo</a:t>
            </a:r>
            <a:endParaRPr lang="es-BO" sz="1200">
              <a:solidFill>
                <a:srgbClr val="1C1813"/>
              </a:solidFill>
              <a:latin typeface="Bahnschrift SemiBold" panose="020B0502040204020203" pitchFamily="34" charset="0"/>
            </a:endParaRPr>
          </a:p>
        </p:txBody>
      </p:sp>
      <p:sp>
        <p:nvSpPr>
          <p:cNvPr id="23" name="Elipse 22">
            <a:extLst>
              <a:ext uri="{FF2B5EF4-FFF2-40B4-BE49-F238E27FC236}">
                <a16:creationId xmlns:a16="http://schemas.microsoft.com/office/drawing/2014/main" id="{BD61FDB4-F057-43F7-ECC0-11FF0B41B858}"/>
              </a:ext>
            </a:extLst>
          </p:cNvPr>
          <p:cNvSpPr/>
          <p:nvPr/>
        </p:nvSpPr>
        <p:spPr>
          <a:xfrm>
            <a:off x="5105400" y="23876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3</a:t>
            </a:r>
          </a:p>
        </p:txBody>
      </p:sp>
      <p:sp>
        <p:nvSpPr>
          <p:cNvPr id="24" name="CuadroTexto 23">
            <a:extLst>
              <a:ext uri="{FF2B5EF4-FFF2-40B4-BE49-F238E27FC236}">
                <a16:creationId xmlns:a16="http://schemas.microsoft.com/office/drawing/2014/main" id="{2DBE3C58-C3E8-C8C1-C2EE-27A527E4144B}"/>
              </a:ext>
            </a:extLst>
          </p:cNvPr>
          <p:cNvSpPr txBox="1"/>
          <p:nvPr/>
        </p:nvSpPr>
        <p:spPr>
          <a:xfrm>
            <a:off x="5715000" y="23495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PARTE 2</a:t>
            </a:r>
          </a:p>
        </p:txBody>
      </p:sp>
      <p:sp>
        <p:nvSpPr>
          <p:cNvPr id="25" name="CuadroTexto 24">
            <a:extLst>
              <a:ext uri="{FF2B5EF4-FFF2-40B4-BE49-F238E27FC236}">
                <a16:creationId xmlns:a16="http://schemas.microsoft.com/office/drawing/2014/main" id="{D599080A-FD3B-C747-4AA7-9BFA4E74E4E7}"/>
              </a:ext>
            </a:extLst>
          </p:cNvPr>
          <p:cNvSpPr txBox="1"/>
          <p:nvPr/>
        </p:nvSpPr>
        <p:spPr>
          <a:xfrm>
            <a:off x="5715000" y="25146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Sulfatos y clases de exposición</a:t>
            </a:r>
            <a:endParaRPr lang="es-BO" sz="1200">
              <a:solidFill>
                <a:srgbClr val="1C1813"/>
              </a:solidFill>
              <a:latin typeface="Bahnschrift SemiBold" panose="020B0502040204020203" pitchFamily="34" charset="0"/>
            </a:endParaRPr>
          </a:p>
        </p:txBody>
      </p:sp>
      <p:sp>
        <p:nvSpPr>
          <p:cNvPr id="26" name="Elipse 25">
            <a:extLst>
              <a:ext uri="{FF2B5EF4-FFF2-40B4-BE49-F238E27FC236}">
                <a16:creationId xmlns:a16="http://schemas.microsoft.com/office/drawing/2014/main" id="{CB5D7E2A-CB03-8E52-281F-ED4D2DE11F3D}"/>
              </a:ext>
            </a:extLst>
          </p:cNvPr>
          <p:cNvSpPr/>
          <p:nvPr/>
        </p:nvSpPr>
        <p:spPr>
          <a:xfrm>
            <a:off x="5105400" y="30480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4</a:t>
            </a:r>
          </a:p>
        </p:txBody>
      </p:sp>
      <p:sp>
        <p:nvSpPr>
          <p:cNvPr id="27" name="CuadroTexto 26">
            <a:extLst>
              <a:ext uri="{FF2B5EF4-FFF2-40B4-BE49-F238E27FC236}">
                <a16:creationId xmlns:a16="http://schemas.microsoft.com/office/drawing/2014/main" id="{E19E8639-9B91-87A5-ABF3-71917C90ED72}"/>
              </a:ext>
            </a:extLst>
          </p:cNvPr>
          <p:cNvSpPr txBox="1"/>
          <p:nvPr/>
        </p:nvSpPr>
        <p:spPr>
          <a:xfrm>
            <a:off x="5715000" y="30099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PARTE 3</a:t>
            </a:r>
          </a:p>
        </p:txBody>
      </p:sp>
      <p:sp>
        <p:nvSpPr>
          <p:cNvPr id="28" name="CuadroTexto 27">
            <a:extLst>
              <a:ext uri="{FF2B5EF4-FFF2-40B4-BE49-F238E27FC236}">
                <a16:creationId xmlns:a16="http://schemas.microsoft.com/office/drawing/2014/main" id="{4635B944-461B-840B-B598-2E3927CD86AE}"/>
              </a:ext>
            </a:extLst>
          </p:cNvPr>
          <p:cNvSpPr txBox="1"/>
          <p:nvPr/>
        </p:nvSpPr>
        <p:spPr>
          <a:xfrm>
            <a:off x="5715000" y="31750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Ácidos, ácido biogénico y lixiviación</a:t>
            </a:r>
            <a:endParaRPr lang="es-BO" sz="1200">
              <a:solidFill>
                <a:srgbClr val="1C1813"/>
              </a:solidFill>
              <a:latin typeface="Bahnschrift SemiBold" panose="020B0502040204020203" pitchFamily="34" charset="0"/>
            </a:endParaRPr>
          </a:p>
        </p:txBody>
      </p:sp>
      <p:sp>
        <p:nvSpPr>
          <p:cNvPr id="29" name="Elipse 28">
            <a:extLst>
              <a:ext uri="{FF2B5EF4-FFF2-40B4-BE49-F238E27FC236}">
                <a16:creationId xmlns:a16="http://schemas.microsoft.com/office/drawing/2014/main" id="{0D5D1C61-D81A-9D7E-8476-F5AEE545A0B9}"/>
              </a:ext>
            </a:extLst>
          </p:cNvPr>
          <p:cNvSpPr/>
          <p:nvPr/>
        </p:nvSpPr>
        <p:spPr>
          <a:xfrm>
            <a:off x="5105400" y="37084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5</a:t>
            </a:r>
          </a:p>
        </p:txBody>
      </p:sp>
      <p:sp>
        <p:nvSpPr>
          <p:cNvPr id="30" name="CuadroTexto 29">
            <a:extLst>
              <a:ext uri="{FF2B5EF4-FFF2-40B4-BE49-F238E27FC236}">
                <a16:creationId xmlns:a16="http://schemas.microsoft.com/office/drawing/2014/main" id="{3F83E551-A20C-92DE-770A-8DDB692A9621}"/>
              </a:ext>
            </a:extLst>
          </p:cNvPr>
          <p:cNvSpPr txBox="1"/>
          <p:nvPr/>
        </p:nvSpPr>
        <p:spPr>
          <a:xfrm>
            <a:off x="5715000" y="36703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PARTE 4</a:t>
            </a:r>
          </a:p>
        </p:txBody>
      </p:sp>
      <p:sp>
        <p:nvSpPr>
          <p:cNvPr id="31" name="CuadroTexto 30">
            <a:extLst>
              <a:ext uri="{FF2B5EF4-FFF2-40B4-BE49-F238E27FC236}">
                <a16:creationId xmlns:a16="http://schemas.microsoft.com/office/drawing/2014/main" id="{0B78E6CE-FA53-A0FA-0758-4905FAF6DE62}"/>
              </a:ext>
            </a:extLst>
          </p:cNvPr>
          <p:cNvSpPr txBox="1"/>
          <p:nvPr/>
        </p:nvSpPr>
        <p:spPr>
          <a:xfrm>
            <a:off x="5715000" y="3835400"/>
            <a:ext cx="5715000" cy="228600"/>
          </a:xfrm>
          <a:prstGeom prst="rect">
            <a:avLst/>
          </a:prstGeom>
          <a:noFill/>
        </p:spPr>
        <p:txBody>
          <a:bodyPr vert="horz" wrap="square" lIns="0" tIns="0" rIns="0" bIns="0" rtlCol="0" anchor="t">
            <a:noAutofit/>
          </a:bodyPr>
          <a:lstStyle/>
          <a:p>
            <a:pPr algn="l"/>
            <a:r>
              <a:rPr lang="es-BO" sz="1200">
                <a:solidFill>
                  <a:srgbClr val="1C1813"/>
                </a:solidFill>
                <a:latin typeface="Bahnschrift SemiBold" panose="020B0502040204020203" pitchFamily="34" charset="0"/>
              </a:rPr>
              <a:t>Reacción árido-álcali</a:t>
            </a:r>
          </a:p>
        </p:txBody>
      </p:sp>
      <p:sp>
        <p:nvSpPr>
          <p:cNvPr id="32" name="Rectángulo 31">
            <a:extLst>
              <a:ext uri="{FF2B5EF4-FFF2-40B4-BE49-F238E27FC236}">
                <a16:creationId xmlns:a16="http://schemas.microsoft.com/office/drawing/2014/main" id="{65A559F7-95B5-0703-6655-A6F64AFE0D9C}"/>
              </a:ext>
            </a:extLst>
          </p:cNvPr>
          <p:cNvSpPr/>
          <p:nvPr/>
        </p:nvSpPr>
        <p:spPr>
          <a:xfrm>
            <a:off x="5537200" y="4229100"/>
            <a:ext cx="6045200" cy="584200"/>
          </a:xfrm>
          <a:prstGeom prst="rect">
            <a:avLst/>
          </a:prstGeom>
          <a:solidFill>
            <a:srgbClr val="F0E7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Elipse 32">
            <a:extLst>
              <a:ext uri="{FF2B5EF4-FFF2-40B4-BE49-F238E27FC236}">
                <a16:creationId xmlns:a16="http://schemas.microsoft.com/office/drawing/2014/main" id="{AEBEE0BA-1CAA-0222-9520-1038407A0227}"/>
              </a:ext>
            </a:extLst>
          </p:cNvPr>
          <p:cNvSpPr/>
          <p:nvPr/>
        </p:nvSpPr>
        <p:spPr>
          <a:xfrm>
            <a:off x="5105400" y="4368800"/>
            <a:ext cx="304800" cy="304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1C1813"/>
                </a:solidFill>
                <a:latin typeface="Bahnschrift SemiBold" panose="020B0502040204020203" pitchFamily="34" charset="0"/>
              </a:rPr>
              <a:t>6</a:t>
            </a:r>
          </a:p>
        </p:txBody>
      </p:sp>
      <p:sp>
        <p:nvSpPr>
          <p:cNvPr id="34" name="CuadroTexto 33">
            <a:extLst>
              <a:ext uri="{FF2B5EF4-FFF2-40B4-BE49-F238E27FC236}">
                <a16:creationId xmlns:a16="http://schemas.microsoft.com/office/drawing/2014/main" id="{FC44B713-3C96-C357-56BB-658EDBD05B45}"/>
              </a:ext>
            </a:extLst>
          </p:cNvPr>
          <p:cNvSpPr txBox="1"/>
          <p:nvPr/>
        </p:nvSpPr>
        <p:spPr>
          <a:xfrm>
            <a:off x="5715000" y="43307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CASO RESUELTO</a:t>
            </a:r>
          </a:p>
        </p:txBody>
      </p:sp>
      <p:sp>
        <p:nvSpPr>
          <p:cNvPr id="35" name="CuadroTexto 34">
            <a:extLst>
              <a:ext uri="{FF2B5EF4-FFF2-40B4-BE49-F238E27FC236}">
                <a16:creationId xmlns:a16="http://schemas.microsoft.com/office/drawing/2014/main" id="{7DBE5A07-035F-9462-EBC9-DF840786AC1F}"/>
              </a:ext>
            </a:extLst>
          </p:cNvPr>
          <p:cNvSpPr txBox="1"/>
          <p:nvPr/>
        </p:nvSpPr>
        <p:spPr>
          <a:xfrm>
            <a:off x="5715000" y="44958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Sulfatos bajo la zapata y ácido en la cámara</a:t>
            </a:r>
            <a:endParaRPr lang="es-BO" sz="1200">
              <a:solidFill>
                <a:srgbClr val="1C1813"/>
              </a:solidFill>
              <a:latin typeface="Bahnschrift SemiBold" panose="020B0502040204020203" pitchFamily="34" charset="0"/>
            </a:endParaRPr>
          </a:p>
        </p:txBody>
      </p:sp>
      <p:sp>
        <p:nvSpPr>
          <p:cNvPr id="36" name="Elipse 35">
            <a:extLst>
              <a:ext uri="{FF2B5EF4-FFF2-40B4-BE49-F238E27FC236}">
                <a16:creationId xmlns:a16="http://schemas.microsoft.com/office/drawing/2014/main" id="{F2DE3621-361D-3799-F27E-815F82B61F98}"/>
              </a:ext>
            </a:extLst>
          </p:cNvPr>
          <p:cNvSpPr/>
          <p:nvPr/>
        </p:nvSpPr>
        <p:spPr>
          <a:xfrm>
            <a:off x="5105400" y="50292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7</a:t>
            </a:r>
          </a:p>
        </p:txBody>
      </p:sp>
      <p:sp>
        <p:nvSpPr>
          <p:cNvPr id="37" name="CuadroTexto 36">
            <a:extLst>
              <a:ext uri="{FF2B5EF4-FFF2-40B4-BE49-F238E27FC236}">
                <a16:creationId xmlns:a16="http://schemas.microsoft.com/office/drawing/2014/main" id="{593F618A-F736-D659-61BE-61F519D2FE74}"/>
              </a:ext>
            </a:extLst>
          </p:cNvPr>
          <p:cNvSpPr txBox="1"/>
          <p:nvPr/>
        </p:nvSpPr>
        <p:spPr>
          <a:xfrm>
            <a:off x="5715000" y="49911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HERRAMIENTAS</a:t>
            </a:r>
          </a:p>
        </p:txBody>
      </p:sp>
      <p:sp>
        <p:nvSpPr>
          <p:cNvPr id="38" name="CuadroTexto 37">
            <a:extLst>
              <a:ext uri="{FF2B5EF4-FFF2-40B4-BE49-F238E27FC236}">
                <a16:creationId xmlns:a16="http://schemas.microsoft.com/office/drawing/2014/main" id="{04ACF8CE-DAF9-CBF6-E09D-C2453DA4AA08}"/>
              </a:ext>
            </a:extLst>
          </p:cNvPr>
          <p:cNvSpPr txBox="1"/>
          <p:nvPr/>
        </p:nvSpPr>
        <p:spPr>
          <a:xfrm>
            <a:off x="5715000" y="5156200"/>
            <a:ext cx="5715000" cy="228600"/>
          </a:xfrm>
          <a:prstGeom prst="rect">
            <a:avLst/>
          </a:prstGeom>
          <a:noFill/>
        </p:spPr>
        <p:txBody>
          <a:bodyPr vert="horz" wrap="square" lIns="0" tIns="0" rIns="0" bIns="0" rtlCol="0" anchor="t">
            <a:noAutofit/>
          </a:bodyPr>
          <a:lstStyle/>
          <a:p>
            <a:pPr algn="l"/>
            <a:r>
              <a:rPr lang="es-MX" sz="1200">
                <a:solidFill>
                  <a:srgbClr val="1C1813"/>
                </a:solidFill>
                <a:latin typeface="Bahnschrift SemiBold" panose="020B0502040204020203" pitchFamily="34" charset="0"/>
              </a:rPr>
              <a:t>La planilla y el formato de esta clase</a:t>
            </a:r>
            <a:endParaRPr lang="es-BO" sz="1200">
              <a:solidFill>
                <a:srgbClr val="1C1813"/>
              </a:solidFill>
              <a:latin typeface="Bahnschrift SemiBold" panose="020B0502040204020203" pitchFamily="34" charset="0"/>
            </a:endParaRPr>
          </a:p>
        </p:txBody>
      </p:sp>
      <p:sp>
        <p:nvSpPr>
          <p:cNvPr id="39" name="Elipse 38">
            <a:extLst>
              <a:ext uri="{FF2B5EF4-FFF2-40B4-BE49-F238E27FC236}">
                <a16:creationId xmlns:a16="http://schemas.microsoft.com/office/drawing/2014/main" id="{E0A95B40-CDBA-F6AC-10FE-556ADEFAA7C3}"/>
              </a:ext>
            </a:extLst>
          </p:cNvPr>
          <p:cNvSpPr/>
          <p:nvPr/>
        </p:nvSpPr>
        <p:spPr>
          <a:xfrm>
            <a:off x="5105400" y="5689600"/>
            <a:ext cx="304800" cy="3048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000">
                <a:solidFill>
                  <a:srgbClr val="8A6A2F"/>
                </a:solidFill>
                <a:latin typeface="Bahnschrift SemiBold" panose="020B0502040204020203" pitchFamily="34" charset="0"/>
              </a:rPr>
              <a:t>8</a:t>
            </a:r>
          </a:p>
        </p:txBody>
      </p:sp>
      <p:sp>
        <p:nvSpPr>
          <p:cNvPr id="40" name="CuadroTexto 39">
            <a:extLst>
              <a:ext uri="{FF2B5EF4-FFF2-40B4-BE49-F238E27FC236}">
                <a16:creationId xmlns:a16="http://schemas.microsoft.com/office/drawing/2014/main" id="{6D25C5B9-9195-D0CC-A39B-53D03B49CC31}"/>
              </a:ext>
            </a:extLst>
          </p:cNvPr>
          <p:cNvSpPr txBox="1"/>
          <p:nvPr/>
        </p:nvSpPr>
        <p:spPr>
          <a:xfrm>
            <a:off x="5715000" y="5651500"/>
            <a:ext cx="5715000" cy="152400"/>
          </a:xfrm>
          <a:prstGeom prst="rect">
            <a:avLst/>
          </a:prstGeom>
          <a:noFill/>
        </p:spPr>
        <p:txBody>
          <a:bodyPr vert="horz" wrap="square" lIns="0" tIns="0" rIns="0" bIns="0" rtlCol="0" anchor="t">
            <a:noAutofit/>
          </a:bodyPr>
          <a:lstStyle/>
          <a:p>
            <a:r>
              <a:rPr lang="es-BO" sz="750" spc="160">
                <a:solidFill>
                  <a:srgbClr val="6A4F20"/>
                </a:solidFill>
                <a:latin typeface="Segoe UI Semibold" panose="020B0702040204020203" pitchFamily="34" charset="0"/>
              </a:rPr>
              <a:t>CIERRE</a:t>
            </a:r>
          </a:p>
        </p:txBody>
      </p:sp>
      <p:sp>
        <p:nvSpPr>
          <p:cNvPr id="41" name="CuadroTexto 40">
            <a:extLst>
              <a:ext uri="{FF2B5EF4-FFF2-40B4-BE49-F238E27FC236}">
                <a16:creationId xmlns:a16="http://schemas.microsoft.com/office/drawing/2014/main" id="{F4BEDECA-4E2D-D87B-09C7-AD3B0340609D}"/>
              </a:ext>
            </a:extLst>
          </p:cNvPr>
          <p:cNvSpPr txBox="1"/>
          <p:nvPr/>
        </p:nvSpPr>
        <p:spPr>
          <a:xfrm>
            <a:off x="5715000" y="5816600"/>
            <a:ext cx="5715000" cy="228600"/>
          </a:xfrm>
          <a:prstGeom prst="rect">
            <a:avLst/>
          </a:prstGeom>
          <a:noFill/>
        </p:spPr>
        <p:txBody>
          <a:bodyPr vert="horz" wrap="square" lIns="0" tIns="0" rIns="0" bIns="0" rtlCol="0" anchor="t">
            <a:noAutofit/>
          </a:bodyPr>
          <a:lstStyle/>
          <a:p>
            <a:pPr algn="l"/>
            <a:r>
              <a:rPr lang="es-BO" sz="1200">
                <a:solidFill>
                  <a:srgbClr val="1C1813"/>
                </a:solidFill>
                <a:latin typeface="Bahnschrift SemiBold" panose="020B0502040204020203" pitchFamily="34" charset="0"/>
              </a:rPr>
              <a:t>Seis ideas para llevarse</a:t>
            </a:r>
          </a:p>
        </p:txBody>
      </p:sp>
      <p:cxnSp>
        <p:nvCxnSpPr>
          <p:cNvPr id="42" name="Conector recto 41">
            <a:extLst>
              <a:ext uri="{FF2B5EF4-FFF2-40B4-BE49-F238E27FC236}">
                <a16:creationId xmlns:a16="http://schemas.microsoft.com/office/drawing/2014/main" id="{CF61059F-0D9F-42C8-3651-E23E4C5CA695}"/>
              </a:ext>
            </a:extLst>
          </p:cNvPr>
          <p:cNvCxnSpPr/>
          <p:nvPr/>
        </p:nvCxnSpPr>
        <p:spPr>
          <a:xfrm>
            <a:off x="5080000" y="6527800"/>
            <a:ext cx="65024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43" name="CuadroTexto 42">
            <a:extLst>
              <a:ext uri="{FF2B5EF4-FFF2-40B4-BE49-F238E27FC236}">
                <a16:creationId xmlns:a16="http://schemas.microsoft.com/office/drawing/2014/main" id="{DBA771E0-D020-7CA5-05CF-11A3AD492B49}"/>
              </a:ext>
            </a:extLst>
          </p:cNvPr>
          <p:cNvSpPr txBox="1"/>
          <p:nvPr/>
        </p:nvSpPr>
        <p:spPr>
          <a:xfrm>
            <a:off x="50800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44" name="PageNo">
            <a:extLst>
              <a:ext uri="{FF2B5EF4-FFF2-40B4-BE49-F238E27FC236}">
                <a16:creationId xmlns:a16="http://schemas.microsoft.com/office/drawing/2014/main" id="{C1246724-EE52-0788-27EA-7D55F6766D17}"/>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02 / 35</a:t>
            </a:r>
          </a:p>
        </p:txBody>
      </p:sp>
    </p:spTree>
    <p:extLst>
      <p:ext uri="{BB962C8B-B14F-4D97-AF65-F5344CB8AC3E}">
        <p14:creationId xmlns:p14="http://schemas.microsoft.com/office/powerpoint/2010/main" val="3567268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CEE176C-B672-C9ED-A800-F4F73FD472B2}"/>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REPASO DE LA CLASE 3</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C458D929-A419-BF99-BA67-BFBA98EDB052}"/>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Tres ideas que traemos de la clase anterior</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2F7986D8-0469-D343-9A21-4AD20E8EA634}"/>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0CD154E1-A199-C938-EB66-28C275E53184}"/>
              </a:ext>
            </a:extLst>
          </p:cNvPr>
          <p:cNvSpPr/>
          <p:nvPr/>
        </p:nvSpPr>
        <p:spPr>
          <a:xfrm>
            <a:off x="609600" y="1498600"/>
            <a:ext cx="3454400" cy="381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CuadroTexto 6">
            <a:extLst>
              <a:ext uri="{FF2B5EF4-FFF2-40B4-BE49-F238E27FC236}">
                <a16:creationId xmlns:a16="http://schemas.microsoft.com/office/drawing/2014/main" id="{3DCC7CF6-6F9A-FA33-4EA2-14694898B3E3}"/>
              </a:ext>
            </a:extLst>
          </p:cNvPr>
          <p:cNvSpPr txBox="1"/>
          <p:nvPr/>
        </p:nvSpPr>
        <p:spPr>
          <a:xfrm>
            <a:off x="863600" y="1727200"/>
            <a:ext cx="1016000" cy="508000"/>
          </a:xfrm>
          <a:prstGeom prst="rect">
            <a:avLst/>
          </a:prstGeom>
          <a:noFill/>
        </p:spPr>
        <p:txBody>
          <a:bodyPr vert="horz" wrap="square" lIns="0" tIns="0" rIns="0" bIns="0" rtlCol="0" anchor="t">
            <a:noAutofit/>
          </a:bodyPr>
          <a:lstStyle/>
          <a:p>
            <a:r>
              <a:rPr lang="es-BO" sz="3400">
                <a:solidFill>
                  <a:srgbClr val="8A6A2F"/>
                </a:solidFill>
                <a:latin typeface="Bahnschrift Light" panose="020B0502040204020203" pitchFamily="34" charset="0"/>
              </a:rPr>
              <a:t>01</a:t>
            </a:r>
          </a:p>
        </p:txBody>
      </p:sp>
      <p:sp>
        <p:nvSpPr>
          <p:cNvPr id="8" name="CuadroTexto 7">
            <a:extLst>
              <a:ext uri="{FF2B5EF4-FFF2-40B4-BE49-F238E27FC236}">
                <a16:creationId xmlns:a16="http://schemas.microsoft.com/office/drawing/2014/main" id="{490D6174-7546-23DC-9EE1-BB4176A8567E}"/>
              </a:ext>
            </a:extLst>
          </p:cNvPr>
          <p:cNvSpPr txBox="1"/>
          <p:nvPr/>
        </p:nvSpPr>
        <p:spPr>
          <a:xfrm>
            <a:off x="863600" y="2413000"/>
            <a:ext cx="2946400" cy="762000"/>
          </a:xfrm>
          <a:prstGeom prst="rect">
            <a:avLst/>
          </a:prstGeom>
          <a:noFill/>
        </p:spPr>
        <p:txBody>
          <a:bodyPr vert="horz" wrap="square" lIns="0" tIns="0" rIns="0" bIns="0" rtlCol="0" anchor="t">
            <a:noAutofit/>
          </a:bodyPr>
          <a:lstStyle/>
          <a:p>
            <a:r>
              <a:rPr lang="es-BO" sz="1600">
                <a:solidFill>
                  <a:srgbClr val="1C1813"/>
                </a:solidFill>
                <a:latin typeface="Bahnschrift SemiBold" panose="020B0502040204020203" pitchFamily="34" charset="0"/>
              </a:rPr>
              <a:t>La pila</a:t>
            </a:r>
          </a:p>
        </p:txBody>
      </p:sp>
      <p:sp>
        <p:nvSpPr>
          <p:cNvPr id="9" name="CuadroTexto 8">
            <a:extLst>
              <a:ext uri="{FF2B5EF4-FFF2-40B4-BE49-F238E27FC236}">
                <a16:creationId xmlns:a16="http://schemas.microsoft.com/office/drawing/2014/main" id="{86131C1F-1CEE-271F-FADB-690A86B81726}"/>
              </a:ext>
            </a:extLst>
          </p:cNvPr>
          <p:cNvSpPr txBox="1"/>
          <p:nvPr/>
        </p:nvSpPr>
        <p:spPr>
          <a:xfrm>
            <a:off x="863600" y="3251200"/>
            <a:ext cx="2946400" cy="713232"/>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Ánodo, cátodo, electrolito y conductor. Quitar una pieza es la base de toda la protección.</a:t>
            </a:r>
            <a:endParaRPr lang="es-BO" sz="1100">
              <a:solidFill>
                <a:srgbClr val="5A5248"/>
              </a:solidFill>
              <a:latin typeface="Segoe UI" panose="020B0502040204020203" pitchFamily="34" charset="0"/>
            </a:endParaRPr>
          </a:p>
        </p:txBody>
      </p:sp>
      <p:sp>
        <p:nvSpPr>
          <p:cNvPr id="10" name="Rectángulo 9">
            <a:extLst>
              <a:ext uri="{FF2B5EF4-FFF2-40B4-BE49-F238E27FC236}">
                <a16:creationId xmlns:a16="http://schemas.microsoft.com/office/drawing/2014/main" id="{CF51ECDE-62BF-43AE-2E80-9EA39C578DC9}"/>
              </a:ext>
            </a:extLst>
          </p:cNvPr>
          <p:cNvSpPr/>
          <p:nvPr/>
        </p:nvSpPr>
        <p:spPr>
          <a:xfrm>
            <a:off x="4368800" y="1498600"/>
            <a:ext cx="3454400" cy="381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901F6B47-51C8-F6D3-B7B2-306F1740BF57}"/>
              </a:ext>
            </a:extLst>
          </p:cNvPr>
          <p:cNvSpPr txBox="1"/>
          <p:nvPr/>
        </p:nvSpPr>
        <p:spPr>
          <a:xfrm>
            <a:off x="4622800" y="1727200"/>
            <a:ext cx="1016000" cy="508000"/>
          </a:xfrm>
          <a:prstGeom prst="rect">
            <a:avLst/>
          </a:prstGeom>
          <a:noFill/>
        </p:spPr>
        <p:txBody>
          <a:bodyPr vert="horz" wrap="square" lIns="0" tIns="0" rIns="0" bIns="0" rtlCol="0" anchor="t">
            <a:noAutofit/>
          </a:bodyPr>
          <a:lstStyle/>
          <a:p>
            <a:r>
              <a:rPr lang="es-BO" sz="3400">
                <a:solidFill>
                  <a:srgbClr val="8A6A2F"/>
                </a:solidFill>
                <a:latin typeface="Bahnschrift Light" panose="020B0502040204020203" pitchFamily="34" charset="0"/>
              </a:rPr>
              <a:t>02</a:t>
            </a:r>
          </a:p>
        </p:txBody>
      </p:sp>
      <p:sp>
        <p:nvSpPr>
          <p:cNvPr id="12" name="CuadroTexto 11">
            <a:extLst>
              <a:ext uri="{FF2B5EF4-FFF2-40B4-BE49-F238E27FC236}">
                <a16:creationId xmlns:a16="http://schemas.microsoft.com/office/drawing/2014/main" id="{177ED8AB-7F82-83D9-37F8-F7AD8DF1913B}"/>
              </a:ext>
            </a:extLst>
          </p:cNvPr>
          <p:cNvSpPr txBox="1"/>
          <p:nvPr/>
        </p:nvSpPr>
        <p:spPr>
          <a:xfrm>
            <a:off x="4622800" y="2413000"/>
            <a:ext cx="2946400" cy="762000"/>
          </a:xfrm>
          <a:prstGeom prst="rect">
            <a:avLst/>
          </a:prstGeom>
          <a:noFill/>
        </p:spPr>
        <p:txBody>
          <a:bodyPr vert="horz" wrap="square" lIns="0" tIns="0" rIns="0" bIns="0" rtlCol="0" anchor="t">
            <a:noAutofit/>
          </a:bodyPr>
          <a:lstStyle/>
          <a:p>
            <a:r>
              <a:rPr lang="es-BO" sz="1600">
                <a:solidFill>
                  <a:srgbClr val="1C1813"/>
                </a:solidFill>
                <a:latin typeface="Bahnschrift SemiBold" panose="020B0502040204020203" pitchFamily="34" charset="0"/>
              </a:rPr>
              <a:t>11,6 micras</a:t>
            </a:r>
          </a:p>
        </p:txBody>
      </p:sp>
      <p:sp>
        <p:nvSpPr>
          <p:cNvPr id="13" name="CuadroTexto 12">
            <a:extLst>
              <a:ext uri="{FF2B5EF4-FFF2-40B4-BE49-F238E27FC236}">
                <a16:creationId xmlns:a16="http://schemas.microsoft.com/office/drawing/2014/main" id="{F8E23CD3-717F-0DA4-0F0A-31AB58A8E6EC}"/>
              </a:ext>
            </a:extLst>
          </p:cNvPr>
          <p:cNvSpPr txBox="1"/>
          <p:nvPr/>
        </p:nvSpPr>
        <p:spPr>
          <a:xfrm>
            <a:off x="4622800" y="3251200"/>
            <a:ext cx="2946400" cy="713232"/>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Un microamperio por centímetro cuadrado son 11,6 µm de radio al año. Con eso se calcula el diámetro residual.</a:t>
            </a:r>
            <a:endParaRPr lang="es-BO" sz="1100">
              <a:solidFill>
                <a:srgbClr val="5A5248"/>
              </a:solidFill>
              <a:latin typeface="Segoe UI" panose="020B0502040204020203" pitchFamily="34" charset="0"/>
            </a:endParaRPr>
          </a:p>
        </p:txBody>
      </p:sp>
      <p:sp>
        <p:nvSpPr>
          <p:cNvPr id="14" name="Rectángulo 13">
            <a:extLst>
              <a:ext uri="{FF2B5EF4-FFF2-40B4-BE49-F238E27FC236}">
                <a16:creationId xmlns:a16="http://schemas.microsoft.com/office/drawing/2014/main" id="{B85DD07B-9DE3-9A02-E463-E0703B9376DB}"/>
              </a:ext>
            </a:extLst>
          </p:cNvPr>
          <p:cNvSpPr/>
          <p:nvPr/>
        </p:nvSpPr>
        <p:spPr>
          <a:xfrm>
            <a:off x="8128000" y="1498600"/>
            <a:ext cx="3454400" cy="381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7A63FFBA-06E7-12BA-1509-A17C8264C1B6}"/>
              </a:ext>
            </a:extLst>
          </p:cNvPr>
          <p:cNvSpPr txBox="1"/>
          <p:nvPr/>
        </p:nvSpPr>
        <p:spPr>
          <a:xfrm>
            <a:off x="8382000" y="1727200"/>
            <a:ext cx="1016000" cy="508000"/>
          </a:xfrm>
          <a:prstGeom prst="rect">
            <a:avLst/>
          </a:prstGeom>
          <a:noFill/>
        </p:spPr>
        <p:txBody>
          <a:bodyPr vert="horz" wrap="square" lIns="0" tIns="0" rIns="0" bIns="0" rtlCol="0" anchor="t">
            <a:noAutofit/>
          </a:bodyPr>
          <a:lstStyle/>
          <a:p>
            <a:r>
              <a:rPr lang="es-BO" sz="3400">
                <a:solidFill>
                  <a:srgbClr val="8A6A2F"/>
                </a:solidFill>
                <a:latin typeface="Bahnschrift Light" panose="020B0502040204020203" pitchFamily="34" charset="0"/>
              </a:rPr>
              <a:t>03</a:t>
            </a:r>
          </a:p>
        </p:txBody>
      </p:sp>
      <p:sp>
        <p:nvSpPr>
          <p:cNvPr id="16" name="CuadroTexto 15">
            <a:extLst>
              <a:ext uri="{FF2B5EF4-FFF2-40B4-BE49-F238E27FC236}">
                <a16:creationId xmlns:a16="http://schemas.microsoft.com/office/drawing/2014/main" id="{23EF59F4-9FAB-D2DC-794C-C4B8CE016668}"/>
              </a:ext>
            </a:extLst>
          </p:cNvPr>
          <p:cNvSpPr txBox="1"/>
          <p:nvPr/>
        </p:nvSpPr>
        <p:spPr>
          <a:xfrm>
            <a:off x="8382000" y="2413000"/>
            <a:ext cx="2946400" cy="762000"/>
          </a:xfrm>
          <a:prstGeom prst="rect">
            <a:avLst/>
          </a:prstGeom>
          <a:noFill/>
        </p:spPr>
        <p:txBody>
          <a:bodyPr vert="horz" wrap="square" lIns="0" tIns="0" rIns="0" bIns="0" rtlCol="0" anchor="t">
            <a:noAutofit/>
          </a:bodyPr>
          <a:lstStyle/>
          <a:p>
            <a:r>
              <a:rPr lang="es-BO" sz="1600">
                <a:solidFill>
                  <a:srgbClr val="1C1813"/>
                </a:solidFill>
                <a:latin typeface="Bahnschrift SemiBold" panose="020B0502040204020203" pitchFamily="34" charset="0"/>
              </a:rPr>
              <a:t>Cuarenta y siete veces</a:t>
            </a:r>
          </a:p>
        </p:txBody>
      </p:sp>
      <p:sp>
        <p:nvSpPr>
          <p:cNvPr id="17" name="CuadroTexto 16">
            <a:extLst>
              <a:ext uri="{FF2B5EF4-FFF2-40B4-BE49-F238E27FC236}">
                <a16:creationId xmlns:a16="http://schemas.microsoft.com/office/drawing/2014/main" id="{75DDB421-CC67-0191-2C35-CB4985A5D4C6}"/>
              </a:ext>
            </a:extLst>
          </p:cNvPr>
          <p:cNvSpPr txBox="1"/>
          <p:nvPr/>
        </p:nvSpPr>
        <p:spPr>
          <a:xfrm>
            <a:off x="8382000" y="3251200"/>
            <a:ext cx="2946400" cy="713232"/>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En la columna C-4 el recubrimiento desprendido costó cuarenta y siete veces más capacidad que la pérdida de sección.</a:t>
            </a:r>
            <a:endParaRPr lang="es-BO" sz="1100">
              <a:solidFill>
                <a:srgbClr val="5A5248"/>
              </a:solidFill>
              <a:latin typeface="Segoe UI" panose="020B0502040204020203" pitchFamily="34" charset="0"/>
            </a:endParaRPr>
          </a:p>
        </p:txBody>
      </p:sp>
      <p:pic>
        <p:nvPicPr>
          <p:cNvPr id="25" name="Ilustración 1" descr="Pila de corrosión en la armadura: ánodo, cátodo, electrones y electrolito"/>
          <p:cNvPicPr>
            <a:picLocks noChangeAspect="1"/>
          </p:cNvPicPr>
          <p:nvPr/>
        </p:nvPicPr>
        <p:blipFill>
          <a:blip r:embed="rId100"/>
          <a:stretch>
            <a:fillRect/>
          </a:stretch>
        </p:blipFill>
        <p:spPr>
          <a:xfrm>
            <a:off x="868680" y="4005072"/>
            <a:ext cx="2944368" cy="1143000"/>
          </a:xfrm>
          <a:prstGeom prst="rect">
            <a:avLst/>
          </a:prstGeom>
        </p:spPr>
      </p:pic>
      <p:pic>
        <p:nvPicPr>
          <p:cNvPr id="26" name="Ilustración 2" descr="Pérdida de radio de la barra: 11,6 micras por año por cada microamperio por centímetro cuadrado"/>
          <p:cNvPicPr>
            <a:picLocks noChangeAspect="1"/>
          </p:cNvPicPr>
          <p:nvPr/>
        </p:nvPicPr>
        <p:blipFill>
          <a:blip r:embed="rId101"/>
          <a:stretch>
            <a:fillRect/>
          </a:stretch>
        </p:blipFill>
        <p:spPr>
          <a:xfrm>
            <a:off x="4626864" y="4005072"/>
            <a:ext cx="2944368" cy="1143000"/>
          </a:xfrm>
          <a:prstGeom prst="rect">
            <a:avLst/>
          </a:prstGeom>
        </p:spPr>
      </p:pic>
      <p:pic>
        <p:nvPicPr>
          <p:cNvPr id="27" name="Ilustración 3" descr="Columna C-4: recubrimiento desprendido frente a acero perdido, 47 veces"/>
          <p:cNvPicPr>
            <a:picLocks noChangeAspect="1"/>
          </p:cNvPicPr>
          <p:nvPr/>
        </p:nvPicPr>
        <p:blipFill>
          <a:blip r:embed="rId102"/>
          <a:stretch>
            <a:fillRect/>
          </a:stretch>
        </p:blipFill>
        <p:spPr>
          <a:xfrm>
            <a:off x="8385048" y="4005072"/>
            <a:ext cx="2944368" cy="1143000"/>
          </a:xfrm>
          <a:prstGeom prst="rect">
            <a:avLst/>
          </a:prstGeom>
        </p:spPr>
      </p:pic>
      <p:cxnSp>
        <p:nvCxnSpPr>
          <p:cNvPr id="21" name="Conector recto 20">
            <a:extLst>
              <a:ext uri="{FF2B5EF4-FFF2-40B4-BE49-F238E27FC236}">
                <a16:creationId xmlns:a16="http://schemas.microsoft.com/office/drawing/2014/main" id="{39F285EB-440D-BE63-61A2-F064FB6F59E1}"/>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FF8B41AC-28BF-AEB1-B625-049CB77BDF3A}"/>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3" name="CuadroTexto 22">
            <a:extLst>
              <a:ext uri="{FF2B5EF4-FFF2-40B4-BE49-F238E27FC236}">
                <a16:creationId xmlns:a16="http://schemas.microsoft.com/office/drawing/2014/main" id="{04D284B3-A98C-DE3F-8797-1464024EC6B0}"/>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24" name="PageNo">
            <a:extLst>
              <a:ext uri="{FF2B5EF4-FFF2-40B4-BE49-F238E27FC236}">
                <a16:creationId xmlns:a16="http://schemas.microsoft.com/office/drawing/2014/main" id="{441FCCCC-31E8-D98A-B9F1-C2486BBE9F4F}"/>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03 / 35</a:t>
            </a:r>
          </a:p>
        </p:txBody>
      </p:sp>
    </p:spTree>
    <p:extLst>
      <p:ext uri="{BB962C8B-B14F-4D97-AF65-F5344CB8AC3E}">
        <p14:creationId xmlns:p14="http://schemas.microsoft.com/office/powerpoint/2010/main" val="2812559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219881D-AC5B-CFDF-E16A-6104496238C3}"/>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MAPA DE LA CLASE</a:t>
            </a:r>
          </a:p>
        </p:txBody>
      </p:sp>
      <p:sp>
        <p:nvSpPr>
          <p:cNvPr id="3" name="Title">
            <a:extLst>
              <a:ext uri="{FF2B5EF4-FFF2-40B4-BE49-F238E27FC236}">
                <a16:creationId xmlns:a16="http://schemas.microsoft.com/office/drawing/2014/main" id="{19BE2F68-7580-CBF6-43D5-A84FD91978F4}"/>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Cinco preguntas que ordenan cualquier ataque químico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F4D2C778-13AA-A3E9-DA6B-C8EED57CD898}"/>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A4BA43E9-D208-6CB5-0095-D3B9A9FBCDFB}"/>
              </a:ext>
            </a:extLst>
          </p:cNvPr>
          <p:cNvCxnSpPr/>
          <p:nvPr/>
        </p:nvCxnSpPr>
        <p:spPr>
          <a:xfrm>
            <a:off x="1917700" y="1841500"/>
            <a:ext cx="1625600" cy="0"/>
          </a:xfrm>
          <a:prstGeom prst="line">
            <a:avLst/>
          </a:prstGeom>
          <a:ln w="12700">
            <a:solidFill>
              <a:srgbClr val="DCD5C7"/>
            </a:solidFill>
            <a:prstDash val="solid"/>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CAC9AA39-262E-22DF-CB71-5E932A1156EA}"/>
              </a:ext>
            </a:extLst>
          </p:cNvPr>
          <p:cNvCxnSpPr/>
          <p:nvPr/>
        </p:nvCxnSpPr>
        <p:spPr>
          <a:xfrm>
            <a:off x="4152900" y="1841500"/>
            <a:ext cx="1625600" cy="0"/>
          </a:xfrm>
          <a:prstGeom prst="line">
            <a:avLst/>
          </a:prstGeom>
          <a:ln w="12700">
            <a:solidFill>
              <a:srgbClr val="DCD5C7"/>
            </a:solidFill>
            <a:prstDash val="solid"/>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F4F07884-0892-70A4-152D-FB221618B027}"/>
              </a:ext>
            </a:extLst>
          </p:cNvPr>
          <p:cNvCxnSpPr/>
          <p:nvPr/>
        </p:nvCxnSpPr>
        <p:spPr>
          <a:xfrm>
            <a:off x="6388100" y="1841500"/>
            <a:ext cx="1625600" cy="0"/>
          </a:xfrm>
          <a:prstGeom prst="line">
            <a:avLst/>
          </a:prstGeom>
          <a:ln w="12700">
            <a:solidFill>
              <a:srgbClr val="DCD5C7"/>
            </a:solidFill>
            <a:prstDash val="solid"/>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1F61194D-FC0C-58D9-2F84-3DE5F6450F23}"/>
              </a:ext>
            </a:extLst>
          </p:cNvPr>
          <p:cNvCxnSpPr/>
          <p:nvPr/>
        </p:nvCxnSpPr>
        <p:spPr>
          <a:xfrm>
            <a:off x="8623300" y="1841500"/>
            <a:ext cx="1625600" cy="0"/>
          </a:xfrm>
          <a:prstGeom prst="line">
            <a:avLst/>
          </a:prstGeom>
          <a:ln w="1270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37F7268E-4F1F-E044-B9AD-79581B134863}"/>
              </a:ext>
            </a:extLst>
          </p:cNvPr>
          <p:cNvSpPr/>
          <p:nvPr/>
        </p:nvSpPr>
        <p:spPr>
          <a:xfrm>
            <a:off x="13970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01</a:t>
            </a:r>
          </a:p>
        </p:txBody>
      </p:sp>
      <p:sp>
        <p:nvSpPr>
          <p:cNvPr id="11" name="CuadroTexto 10">
            <a:extLst>
              <a:ext uri="{FF2B5EF4-FFF2-40B4-BE49-F238E27FC236}">
                <a16:creationId xmlns:a16="http://schemas.microsoft.com/office/drawing/2014/main" id="{253FD330-C51F-FD09-E18C-2AB4D2668B30}"/>
              </a:ext>
            </a:extLst>
          </p:cNvPr>
          <p:cNvSpPr txBox="1"/>
          <p:nvPr/>
        </p:nvSpPr>
        <p:spPr>
          <a:xfrm>
            <a:off x="6096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Qué agente</a:t>
            </a:r>
          </a:p>
        </p:txBody>
      </p:sp>
      <p:sp>
        <p:nvSpPr>
          <p:cNvPr id="12" name="CuadroTexto 11">
            <a:extLst>
              <a:ext uri="{FF2B5EF4-FFF2-40B4-BE49-F238E27FC236}">
                <a16:creationId xmlns:a16="http://schemas.microsoft.com/office/drawing/2014/main" id="{82446AC9-9E2C-70FD-9680-F2C8BCB455B7}"/>
              </a:ext>
            </a:extLst>
          </p:cNvPr>
          <p:cNvSpPr txBox="1"/>
          <p:nvPr/>
        </p:nvSpPr>
        <p:spPr>
          <a:xfrm>
            <a:off x="609600" y="2819400"/>
            <a:ext cx="1981200" cy="1219200"/>
          </a:xfrm>
          <a:prstGeom prst="rect">
            <a:avLst/>
          </a:prstGeom>
          <a:noFill/>
        </p:spPr>
        <p:txBody>
          <a:bodyPr vert="horz" wrap="square" lIns="0" tIns="0" rIns="0" bIns="0" rtlCol="0" anchor="t">
            <a:noAutofit/>
          </a:bodyPr>
          <a:lstStyle/>
          <a:p>
            <a:pPr algn="ctr"/>
            <a:r>
              <a:rPr lang="es-BO" sz="1100">
                <a:solidFill>
                  <a:srgbClr val="5A5248"/>
                </a:solidFill>
                <a:latin typeface="Segoe UI" panose="020B0502040204020203" pitchFamily="34" charset="0"/>
              </a:rPr>
              <a:t>Ácido, sulfato, álcali, agua blanda o sal. Cada uno deja una firma distinta.</a:t>
            </a:r>
          </a:p>
        </p:txBody>
      </p:sp>
      <p:sp>
        <p:nvSpPr>
          <p:cNvPr id="13" name="Elipse 12">
            <a:extLst>
              <a:ext uri="{FF2B5EF4-FFF2-40B4-BE49-F238E27FC236}">
                <a16:creationId xmlns:a16="http://schemas.microsoft.com/office/drawing/2014/main" id="{20589CB9-55FC-2873-EC44-A7DD707BFED3}"/>
              </a:ext>
            </a:extLst>
          </p:cNvPr>
          <p:cNvSpPr/>
          <p:nvPr/>
        </p:nvSpPr>
        <p:spPr>
          <a:xfrm>
            <a:off x="36322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02</a:t>
            </a:r>
          </a:p>
        </p:txBody>
      </p:sp>
      <p:sp>
        <p:nvSpPr>
          <p:cNvPr id="14" name="CuadroTexto 13">
            <a:extLst>
              <a:ext uri="{FF2B5EF4-FFF2-40B4-BE49-F238E27FC236}">
                <a16:creationId xmlns:a16="http://schemas.microsoft.com/office/drawing/2014/main" id="{704A7048-6032-D53A-3188-0F11B5D69185}"/>
              </a:ext>
            </a:extLst>
          </p:cNvPr>
          <p:cNvSpPr txBox="1"/>
          <p:nvPr/>
        </p:nvSpPr>
        <p:spPr>
          <a:xfrm>
            <a:off x="28448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Qué modo</a:t>
            </a:r>
          </a:p>
        </p:txBody>
      </p:sp>
      <p:sp>
        <p:nvSpPr>
          <p:cNvPr id="15" name="CuadroTexto 14">
            <a:extLst>
              <a:ext uri="{FF2B5EF4-FFF2-40B4-BE49-F238E27FC236}">
                <a16:creationId xmlns:a16="http://schemas.microsoft.com/office/drawing/2014/main" id="{681EB42E-FABD-850A-A435-919AE4931B10}"/>
              </a:ext>
            </a:extLst>
          </p:cNvPr>
          <p:cNvSpPr txBox="1"/>
          <p:nvPr/>
        </p:nvSpPr>
        <p:spPr>
          <a:xfrm>
            <a:off x="2844800" y="2819400"/>
            <a:ext cx="1981200" cy="12192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Disuelve la pasta, la expande desde dentro o sustituye sus compuestos por otros.</a:t>
            </a:r>
            <a:endParaRPr lang="es-BO" sz="1100">
              <a:solidFill>
                <a:srgbClr val="5A5248"/>
              </a:solidFill>
              <a:latin typeface="Segoe UI" panose="020B0502040204020203" pitchFamily="34" charset="0"/>
            </a:endParaRPr>
          </a:p>
        </p:txBody>
      </p:sp>
      <p:sp>
        <p:nvSpPr>
          <p:cNvPr id="16" name="Elipse 15">
            <a:extLst>
              <a:ext uri="{FF2B5EF4-FFF2-40B4-BE49-F238E27FC236}">
                <a16:creationId xmlns:a16="http://schemas.microsoft.com/office/drawing/2014/main" id="{A5447029-EF03-CB84-4DE3-0AFD29F13251}"/>
              </a:ext>
            </a:extLst>
          </p:cNvPr>
          <p:cNvSpPr/>
          <p:nvPr/>
        </p:nvSpPr>
        <p:spPr>
          <a:xfrm>
            <a:off x="58674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03</a:t>
            </a:r>
          </a:p>
        </p:txBody>
      </p:sp>
      <p:sp>
        <p:nvSpPr>
          <p:cNvPr id="17" name="CuadroTexto 16">
            <a:extLst>
              <a:ext uri="{FF2B5EF4-FFF2-40B4-BE49-F238E27FC236}">
                <a16:creationId xmlns:a16="http://schemas.microsoft.com/office/drawing/2014/main" id="{AD060334-CC12-89D6-247C-328D5B126761}"/>
              </a:ext>
            </a:extLst>
          </p:cNvPr>
          <p:cNvSpPr txBox="1"/>
          <p:nvPr/>
        </p:nvSpPr>
        <p:spPr>
          <a:xfrm>
            <a:off x="50800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Cuánta agua</a:t>
            </a:r>
          </a:p>
        </p:txBody>
      </p:sp>
      <p:sp>
        <p:nvSpPr>
          <p:cNvPr id="18" name="CuadroTexto 17">
            <a:extLst>
              <a:ext uri="{FF2B5EF4-FFF2-40B4-BE49-F238E27FC236}">
                <a16:creationId xmlns:a16="http://schemas.microsoft.com/office/drawing/2014/main" id="{103856C3-C420-7FAA-83A7-5B89FEFD53B6}"/>
              </a:ext>
            </a:extLst>
          </p:cNvPr>
          <p:cNvSpPr txBox="1"/>
          <p:nvPr/>
        </p:nvSpPr>
        <p:spPr>
          <a:xfrm>
            <a:off x="5080000" y="2819400"/>
            <a:ext cx="1981200" cy="12192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Sin agua no hay transporte. La renovación del agua decide la velocidad más que la concentración.</a:t>
            </a:r>
            <a:endParaRPr lang="es-BO" sz="1100">
              <a:solidFill>
                <a:srgbClr val="5A5248"/>
              </a:solidFill>
              <a:latin typeface="Segoe UI" panose="020B0502040204020203" pitchFamily="34" charset="0"/>
            </a:endParaRPr>
          </a:p>
        </p:txBody>
      </p:sp>
      <p:sp>
        <p:nvSpPr>
          <p:cNvPr id="19" name="Elipse 18">
            <a:extLst>
              <a:ext uri="{FF2B5EF4-FFF2-40B4-BE49-F238E27FC236}">
                <a16:creationId xmlns:a16="http://schemas.microsoft.com/office/drawing/2014/main" id="{ABEE06A9-FD71-88A7-2050-3068A7655EAE}"/>
              </a:ext>
            </a:extLst>
          </p:cNvPr>
          <p:cNvSpPr/>
          <p:nvPr/>
        </p:nvSpPr>
        <p:spPr>
          <a:xfrm>
            <a:off x="81026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04</a:t>
            </a:r>
          </a:p>
        </p:txBody>
      </p:sp>
      <p:sp>
        <p:nvSpPr>
          <p:cNvPr id="20" name="CuadroTexto 19">
            <a:extLst>
              <a:ext uri="{FF2B5EF4-FFF2-40B4-BE49-F238E27FC236}">
                <a16:creationId xmlns:a16="http://schemas.microsoft.com/office/drawing/2014/main" id="{031273EC-48CC-2044-0536-50997E08F546}"/>
              </a:ext>
            </a:extLst>
          </p:cNvPr>
          <p:cNvSpPr txBox="1"/>
          <p:nvPr/>
        </p:nvSpPr>
        <p:spPr>
          <a:xfrm>
            <a:off x="73152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Qué exigía</a:t>
            </a:r>
          </a:p>
        </p:txBody>
      </p:sp>
      <p:sp>
        <p:nvSpPr>
          <p:cNvPr id="21" name="CuadroTexto 20">
            <a:extLst>
              <a:ext uri="{FF2B5EF4-FFF2-40B4-BE49-F238E27FC236}">
                <a16:creationId xmlns:a16="http://schemas.microsoft.com/office/drawing/2014/main" id="{10B3280E-B9C4-C0B7-267B-AD864631DE56}"/>
              </a:ext>
            </a:extLst>
          </p:cNvPr>
          <p:cNvSpPr txBox="1"/>
          <p:nvPr/>
        </p:nvSpPr>
        <p:spPr>
          <a:xfrm>
            <a:off x="7315200" y="2819400"/>
            <a:ext cx="1981200" cy="12192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La clase de exposición fija resistencia, a/c y tipo de cemento. Casi nadie la comprueba.</a:t>
            </a:r>
            <a:endParaRPr lang="es-BO" sz="1100">
              <a:solidFill>
                <a:srgbClr val="5A5248"/>
              </a:solidFill>
              <a:latin typeface="Segoe UI" panose="020B0502040204020203" pitchFamily="34" charset="0"/>
            </a:endParaRPr>
          </a:p>
        </p:txBody>
      </p:sp>
      <p:sp>
        <p:nvSpPr>
          <p:cNvPr id="22" name="Elipse 21">
            <a:extLst>
              <a:ext uri="{FF2B5EF4-FFF2-40B4-BE49-F238E27FC236}">
                <a16:creationId xmlns:a16="http://schemas.microsoft.com/office/drawing/2014/main" id="{4BB0D4EF-E0AC-086E-6456-CB22EAED8CA9}"/>
              </a:ext>
            </a:extLst>
          </p:cNvPr>
          <p:cNvSpPr/>
          <p:nvPr/>
        </p:nvSpPr>
        <p:spPr>
          <a:xfrm>
            <a:off x="10337800" y="1625600"/>
            <a:ext cx="431800" cy="4318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300">
                <a:solidFill>
                  <a:srgbClr val="FFFFFF"/>
                </a:solidFill>
                <a:latin typeface="Bahnschrift SemiBold" panose="020B0502040204020203" pitchFamily="34" charset="0"/>
              </a:rPr>
              <a:t>05</a:t>
            </a:r>
          </a:p>
        </p:txBody>
      </p:sp>
      <p:sp>
        <p:nvSpPr>
          <p:cNvPr id="23" name="CuadroTexto 22">
            <a:extLst>
              <a:ext uri="{FF2B5EF4-FFF2-40B4-BE49-F238E27FC236}">
                <a16:creationId xmlns:a16="http://schemas.microsoft.com/office/drawing/2014/main" id="{90B67580-2BC5-63AD-A183-6CF769DD529C}"/>
              </a:ext>
            </a:extLst>
          </p:cNvPr>
          <p:cNvSpPr txBox="1"/>
          <p:nvPr/>
        </p:nvSpPr>
        <p:spPr>
          <a:xfrm>
            <a:off x="9550400" y="2260600"/>
            <a:ext cx="1981200" cy="508000"/>
          </a:xfrm>
          <a:prstGeom prst="rect">
            <a:avLst/>
          </a:prstGeom>
          <a:noFill/>
        </p:spPr>
        <p:txBody>
          <a:bodyPr vert="horz" wrap="square" lIns="0" tIns="0" rIns="0" bIns="0" rtlCol="0" anchor="t">
            <a:noAutofit/>
          </a:bodyPr>
          <a:lstStyle/>
          <a:p>
            <a:pPr algn="ctr"/>
            <a:r>
              <a:rPr lang="es-BO" sz="1250">
                <a:solidFill>
                  <a:srgbClr val="1C1813"/>
                </a:solidFill>
                <a:latin typeface="Bahnschrift SemiBold" panose="020B0502040204020203" pitchFamily="34" charset="0"/>
              </a:rPr>
              <a:t>Qué queda</a:t>
            </a:r>
          </a:p>
        </p:txBody>
      </p:sp>
      <p:sp>
        <p:nvSpPr>
          <p:cNvPr id="24" name="CuadroTexto 23">
            <a:extLst>
              <a:ext uri="{FF2B5EF4-FFF2-40B4-BE49-F238E27FC236}">
                <a16:creationId xmlns:a16="http://schemas.microsoft.com/office/drawing/2014/main" id="{3A3EE0F9-F373-6449-2C9C-CBC717E957A4}"/>
              </a:ext>
            </a:extLst>
          </p:cNvPr>
          <p:cNvSpPr txBox="1"/>
          <p:nvPr/>
        </p:nvSpPr>
        <p:spPr>
          <a:xfrm>
            <a:off x="9550400" y="2819400"/>
            <a:ext cx="1981200" cy="1219200"/>
          </a:xfrm>
          <a:prstGeom prst="rect">
            <a:avLst/>
          </a:prstGeom>
          <a:noFill/>
        </p:spPr>
        <p:txBody>
          <a:bodyPr vert="horz" wrap="square" lIns="0" tIns="0" rIns="0" bIns="0" rtlCol="0" anchor="t">
            <a:noAutofit/>
          </a:bodyPr>
          <a:lstStyle/>
          <a:p>
            <a:pPr algn="ctr"/>
            <a:r>
              <a:rPr lang="es-MX" sz="1100">
                <a:solidFill>
                  <a:srgbClr val="5A5248"/>
                </a:solidFill>
                <a:latin typeface="Segoe UI" panose="020B0502040204020203" pitchFamily="34" charset="0"/>
              </a:rPr>
              <a:t>Sobre lo construido no se cambia el cemento. Solo se puede cortar el agente.</a:t>
            </a:r>
            <a:endParaRPr lang="es-BO" sz="1100">
              <a:solidFill>
                <a:srgbClr val="5A5248"/>
              </a:solidFill>
              <a:latin typeface="Segoe UI" panose="020B0502040204020203" pitchFamily="34" charset="0"/>
            </a:endParaRPr>
          </a:p>
        </p:txBody>
      </p:sp>
      <p:pic>
        <p:nvPicPr>
          <p:cNvPr id="26" name="Imagen 25" descr="Esquema de las cinco preguntas sobre un paramento de hormigón: agente, modo, agua, exigencia y barrera">
            <a:extLst>
              <a:ext uri="{FF2B5EF4-FFF2-40B4-BE49-F238E27FC236}">
                <a16:creationId xmlns:a16="http://schemas.microsoft.com/office/drawing/2014/main" id="{9C8790DF-AD9C-D63E-2EF7-B6BA76BE151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394200"/>
            <a:ext cx="10972800" cy="1320800"/>
          </a:xfrm>
          <a:prstGeom prst="rect">
            <a:avLst/>
          </a:prstGeom>
        </p:spPr>
      </p:pic>
      <p:sp>
        <p:nvSpPr>
          <p:cNvPr id="27" name="Rectángulo 26">
            <a:extLst>
              <a:ext uri="{FF2B5EF4-FFF2-40B4-BE49-F238E27FC236}">
                <a16:creationId xmlns:a16="http://schemas.microsoft.com/office/drawing/2014/main" id="{FAD66F3B-3ED3-8E91-3E1D-95C88E5181DE}"/>
              </a:ext>
            </a:extLst>
          </p:cNvPr>
          <p:cNvSpPr/>
          <p:nvPr/>
        </p:nvSpPr>
        <p:spPr>
          <a:xfrm>
            <a:off x="609600" y="5537200"/>
            <a:ext cx="10972800" cy="6350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9" name="CuadroTexto 28">
            <a:extLst>
              <a:ext uri="{FF2B5EF4-FFF2-40B4-BE49-F238E27FC236}">
                <a16:creationId xmlns:a16="http://schemas.microsoft.com/office/drawing/2014/main" id="{F25F1477-8EEB-2097-AD91-48C030637B7A}"/>
              </a:ext>
            </a:extLst>
          </p:cNvPr>
          <p:cNvSpPr txBox="1"/>
          <p:nvPr/>
        </p:nvSpPr>
        <p:spPr>
          <a:xfrm>
            <a:off x="838200" y="5588000"/>
            <a:ext cx="10566400" cy="5334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El paso 5 es el que cambia la conversación con el cliente. </a:t>
            </a:r>
            <a:r>
              <a:rPr lang="es-MX" sz="1200" b="1">
                <a:solidFill>
                  <a:srgbClr val="FFFFFF"/>
                </a:solidFill>
                <a:latin typeface="Segoe UI Semibold" panose="020B0702040204020203" pitchFamily="34" charset="0"/>
              </a:rPr>
              <a:t>Sobre una estructura construida no se mejora el hormigón</a:t>
            </a:r>
            <a:r>
              <a:rPr lang="es-MX" sz="1200">
                <a:solidFill>
                  <a:srgbClr val="FFFFFF"/>
                </a:solidFill>
                <a:latin typeface="Segoe UI" panose="020B0502040204020203" pitchFamily="34" charset="0"/>
              </a:rPr>
              <a:t>: se corta el agua, se interpone una barrera o se sustituye el elemento.</a:t>
            </a:r>
            <a:endParaRPr lang="es-BO" sz="1200">
              <a:solidFill>
                <a:srgbClr val="FFFFFF"/>
              </a:solidFill>
              <a:latin typeface="Segoe UI" panose="020B0502040204020203" pitchFamily="34" charset="0"/>
            </a:endParaRPr>
          </a:p>
        </p:txBody>
      </p:sp>
      <p:cxnSp>
        <p:nvCxnSpPr>
          <p:cNvPr id="30" name="Conector recto 29">
            <a:extLst>
              <a:ext uri="{FF2B5EF4-FFF2-40B4-BE49-F238E27FC236}">
                <a16:creationId xmlns:a16="http://schemas.microsoft.com/office/drawing/2014/main" id="{1A1A179B-E3FF-3BAA-B3FB-A4499E9B6603}"/>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3A6F10FD-FC23-8EE8-606C-216D41C83CB1}"/>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2" name="CuadroTexto 31">
            <a:extLst>
              <a:ext uri="{FF2B5EF4-FFF2-40B4-BE49-F238E27FC236}">
                <a16:creationId xmlns:a16="http://schemas.microsoft.com/office/drawing/2014/main" id="{92562DA7-CB6D-B0E3-6325-F9330F92CEDC}"/>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33" name="PageNo">
            <a:extLst>
              <a:ext uri="{FF2B5EF4-FFF2-40B4-BE49-F238E27FC236}">
                <a16:creationId xmlns:a16="http://schemas.microsoft.com/office/drawing/2014/main" id="{0C5ACFB8-7304-A257-5A6F-FAC4CFD3BFB2}"/>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04 / 35</a:t>
            </a:r>
          </a:p>
        </p:txBody>
      </p:sp>
    </p:spTree>
    <p:extLst>
      <p:ext uri="{BB962C8B-B14F-4D97-AF65-F5344CB8AC3E}">
        <p14:creationId xmlns:p14="http://schemas.microsoft.com/office/powerpoint/2010/main" val="2689459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69DDA50-22DB-0FBC-B4D6-71F6DFBB2D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7682D61C-040E-1F91-B827-F4F9577CD92A}"/>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E5FE2F07-11F4-844C-3DE0-5752B86D4305}"/>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3F9CE873-4C5C-0325-D48E-BBBCA0D081BF}"/>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PARTE 1</a:t>
            </a:r>
          </a:p>
        </p:txBody>
      </p:sp>
      <p:sp>
        <p:nvSpPr>
          <p:cNvPr id="7" name="Title">
            <a:extLst>
              <a:ext uri="{FF2B5EF4-FFF2-40B4-BE49-F238E27FC236}">
                <a16:creationId xmlns:a16="http://schemas.microsoft.com/office/drawing/2014/main" id="{3AC1E825-725F-46D1-41A9-64DFF4EA7C93}"/>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MX" sz="3800">
                <a:solidFill>
                  <a:srgbClr val="FFFFFF"/>
                </a:solidFill>
                <a:latin typeface="Bahnschrift SemiBold" panose="020B0502040204020203" pitchFamily="34" charset="0"/>
              </a:rPr>
              <a:t>Qué ataca a la pasta y cómo</a:t>
            </a:r>
            <a:endParaRPr lang="es-BO" sz="3800">
              <a:solidFill>
                <a:srgbClr val="FFFFFF"/>
              </a:solidFill>
              <a:latin typeface="Bahnschrift SemiBold" panose="020B0502040204020203" pitchFamily="34" charset="0"/>
            </a:endParaRPr>
          </a:p>
        </p:txBody>
      </p:sp>
      <p:sp>
        <p:nvSpPr>
          <p:cNvPr id="8" name="Rectángulo 7">
            <a:extLst>
              <a:ext uri="{FF2B5EF4-FFF2-40B4-BE49-F238E27FC236}">
                <a16:creationId xmlns:a16="http://schemas.microsoft.com/office/drawing/2014/main" id="{810AA816-98E7-0863-70C8-7E74837CF7D9}"/>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6B510628-7BCC-4E9E-6432-EA19A2FC865C}"/>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El cemento hidratado es alcalino y poroso. Las dos cosas son su defensa y su debilidad.</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EAEB2577-8D19-A759-CD64-A37515925EE5}"/>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E38DC8B1-F1B3-6B85-EA8B-16882948945D}"/>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Tres modos de ataque</a:t>
            </a:r>
          </a:p>
        </p:txBody>
      </p:sp>
      <p:sp>
        <p:nvSpPr>
          <p:cNvPr id="12" name="Rectángulo 11">
            <a:extLst>
              <a:ext uri="{FF2B5EF4-FFF2-40B4-BE49-F238E27FC236}">
                <a16:creationId xmlns:a16="http://schemas.microsoft.com/office/drawing/2014/main" id="{43C5C1CF-DFC3-C533-0CFD-0400122247B8}"/>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30FC7C08-9CF1-A279-A468-BDF74BEB6F94}"/>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Los agentes y su firma</a:t>
            </a:r>
            <a:endParaRPr lang="es-BO" sz="1050">
              <a:solidFill>
                <a:srgbClr val="CFC7B8"/>
              </a:solidFill>
              <a:latin typeface="Segoe UI" panose="020B0502040204020203" pitchFamily="34" charset="0"/>
            </a:endParaRPr>
          </a:p>
        </p:txBody>
      </p:sp>
      <p:sp>
        <p:nvSpPr>
          <p:cNvPr id="14" name="Rectángulo 13">
            <a:extLst>
              <a:ext uri="{FF2B5EF4-FFF2-40B4-BE49-F238E27FC236}">
                <a16:creationId xmlns:a16="http://schemas.microsoft.com/office/drawing/2014/main" id="{71077712-26C0-9145-D880-B9007EF90E49}"/>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E065ED3E-BBBA-EDEA-2142-DA0C6D003B36}"/>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Qué decide la agresividad</a:t>
            </a:r>
          </a:p>
        </p:txBody>
      </p:sp>
      <p:sp>
        <p:nvSpPr>
          <p:cNvPr id="16" name="CuadroTexto 15">
            <a:extLst>
              <a:ext uri="{FF2B5EF4-FFF2-40B4-BE49-F238E27FC236}">
                <a16:creationId xmlns:a16="http://schemas.microsoft.com/office/drawing/2014/main" id="{83DFDC45-0EA8-175A-53F5-864FCA9EE6BC}"/>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4 · ATAQUE QUÍMICO</a:t>
            </a:r>
          </a:p>
        </p:txBody>
      </p:sp>
    </p:spTree>
    <p:extLst>
      <p:ext uri="{BB962C8B-B14F-4D97-AF65-F5344CB8AC3E}">
        <p14:creationId xmlns:p14="http://schemas.microsoft.com/office/powerpoint/2010/main" val="4175578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415D072-FC76-72F7-E75D-BC536AC0A191}"/>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1 · TRES MODOS</a:t>
            </a:r>
          </a:p>
        </p:txBody>
      </p:sp>
      <p:sp>
        <p:nvSpPr>
          <p:cNvPr id="3" name="Title">
            <a:extLst>
              <a:ext uri="{FF2B5EF4-FFF2-40B4-BE49-F238E27FC236}">
                <a16:creationId xmlns:a16="http://schemas.microsoft.com/office/drawing/2014/main" id="{7738DB99-B92C-09C6-7B66-366EB6D820AE}"/>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BO" sz="2700">
                <a:solidFill>
                  <a:srgbClr val="1C1813"/>
                </a:solidFill>
                <a:latin typeface="Bahnschrift SemiBold" panose="020B0502040204020203" pitchFamily="34" charset="0"/>
              </a:rPr>
              <a:t>Disolver, expandir o sustituir: tres formas de perder la pasta</a:t>
            </a:r>
          </a:p>
        </p:txBody>
      </p:sp>
      <p:cxnSp>
        <p:nvCxnSpPr>
          <p:cNvPr id="4" name="Conector recto 3">
            <a:extLst>
              <a:ext uri="{FF2B5EF4-FFF2-40B4-BE49-F238E27FC236}">
                <a16:creationId xmlns:a16="http://schemas.microsoft.com/office/drawing/2014/main" id="{FA6F4015-1DBA-C8AB-F2EC-2CF3204EBA9F}"/>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300B9121-0637-AA2F-12E9-9D1D8647E772}"/>
              </a:ext>
            </a:extLst>
          </p:cNvPr>
          <p:cNvSpPr/>
          <p:nvPr/>
        </p:nvSpPr>
        <p:spPr>
          <a:xfrm>
            <a:off x="609600" y="1422400"/>
            <a:ext cx="3454400" cy="2641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 name="CuadroTexto 7">
            <a:extLst>
              <a:ext uri="{FF2B5EF4-FFF2-40B4-BE49-F238E27FC236}">
                <a16:creationId xmlns:a16="http://schemas.microsoft.com/office/drawing/2014/main" id="{4BBC431B-AB35-8E91-9D67-2C0F810705B0}"/>
              </a:ext>
            </a:extLst>
          </p:cNvPr>
          <p:cNvSpPr txBox="1"/>
          <p:nvPr/>
        </p:nvSpPr>
        <p:spPr>
          <a:xfrm>
            <a:off x="812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9" name="CuadroTexto 8">
            <a:extLst>
              <a:ext uri="{FF2B5EF4-FFF2-40B4-BE49-F238E27FC236}">
                <a16:creationId xmlns:a16="http://schemas.microsoft.com/office/drawing/2014/main" id="{9F526929-9E75-87A8-28B9-5095A3931FC2}"/>
              </a:ext>
            </a:extLst>
          </p:cNvPr>
          <p:cNvSpPr txBox="1"/>
          <p:nvPr/>
        </p:nvSpPr>
        <p:spPr>
          <a:xfrm>
            <a:off x="812800" y="1981200"/>
            <a:ext cx="3073400" cy="279400"/>
          </a:xfrm>
          <a:prstGeom prst="rect">
            <a:avLst/>
          </a:prstGeom>
          <a:noFill/>
        </p:spPr>
        <p:txBody>
          <a:bodyPr vert="horz" wrap="square" lIns="0" tIns="0" rIns="0" bIns="0" rtlCol="0" anchor="t">
            <a:noAutofit/>
          </a:bodyPr>
          <a:lstStyle/>
          <a:p>
            <a:pPr algn="l"/>
            <a:r>
              <a:rPr lang="es-BO" sz="1400">
                <a:solidFill>
                  <a:srgbClr val="1C1813"/>
                </a:solidFill>
                <a:latin typeface="Bahnschrift SemiBold" panose="020B0502040204020203" pitchFamily="34" charset="0"/>
              </a:rPr>
              <a:t>Disolución</a:t>
            </a:r>
          </a:p>
        </p:txBody>
      </p:sp>
      <p:sp>
        <p:nvSpPr>
          <p:cNvPr id="10" name="CuadroTexto 9">
            <a:extLst>
              <a:ext uri="{FF2B5EF4-FFF2-40B4-BE49-F238E27FC236}">
                <a16:creationId xmlns:a16="http://schemas.microsoft.com/office/drawing/2014/main" id="{446ECD3B-DD60-F96E-C2F6-C2112DD1DF5B}"/>
              </a:ext>
            </a:extLst>
          </p:cNvPr>
          <p:cNvSpPr txBox="1"/>
          <p:nvPr/>
        </p:nvSpPr>
        <p:spPr>
          <a:xfrm>
            <a:off x="812800" y="2273300"/>
            <a:ext cx="3048000" cy="17018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agente se lleva material. Los ácidos y el agua muy blanda disuelven el hidróxido de calcio y después los silicatos. La superficie retrocede y queda el árido a la vista.</a:t>
            </a:r>
            <a:endParaRPr lang="es-BO" sz="1150">
              <a:solidFill>
                <a:srgbClr val="5A5248"/>
              </a:solidFill>
              <a:latin typeface="Segoe UI" panose="020B0502040204020203" pitchFamily="34" charset="0"/>
            </a:endParaRPr>
          </a:p>
        </p:txBody>
      </p:sp>
      <p:sp>
        <p:nvSpPr>
          <p:cNvPr id="11" name="Rectángulo 10">
            <a:extLst>
              <a:ext uri="{FF2B5EF4-FFF2-40B4-BE49-F238E27FC236}">
                <a16:creationId xmlns:a16="http://schemas.microsoft.com/office/drawing/2014/main" id="{BDE379AC-E6FC-4283-B27D-7492F235A5FA}"/>
              </a:ext>
            </a:extLst>
          </p:cNvPr>
          <p:cNvSpPr/>
          <p:nvPr/>
        </p:nvSpPr>
        <p:spPr>
          <a:xfrm>
            <a:off x="4368800" y="1422400"/>
            <a:ext cx="3454400" cy="2641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56741AAD-26B1-E31B-FC4F-846625E2688B}"/>
              </a:ext>
            </a:extLst>
          </p:cNvPr>
          <p:cNvSpPr txBox="1"/>
          <p:nvPr/>
        </p:nvSpPr>
        <p:spPr>
          <a:xfrm>
            <a:off x="45720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14" name="CuadroTexto 13">
            <a:extLst>
              <a:ext uri="{FF2B5EF4-FFF2-40B4-BE49-F238E27FC236}">
                <a16:creationId xmlns:a16="http://schemas.microsoft.com/office/drawing/2014/main" id="{42467D23-75C1-B428-1C2D-FBCC6CAF0743}"/>
              </a:ext>
            </a:extLst>
          </p:cNvPr>
          <p:cNvSpPr txBox="1"/>
          <p:nvPr/>
        </p:nvSpPr>
        <p:spPr>
          <a:xfrm>
            <a:off x="4572000" y="1981200"/>
            <a:ext cx="3073400" cy="279400"/>
          </a:xfrm>
          <a:prstGeom prst="rect">
            <a:avLst/>
          </a:prstGeom>
          <a:noFill/>
        </p:spPr>
        <p:txBody>
          <a:bodyPr vert="horz" wrap="square" lIns="0" tIns="0" rIns="0" bIns="0" rtlCol="0" anchor="t">
            <a:noAutofit/>
          </a:bodyPr>
          <a:lstStyle/>
          <a:p>
            <a:pPr algn="l"/>
            <a:r>
              <a:rPr lang="es-BO" sz="1400">
                <a:solidFill>
                  <a:srgbClr val="1C1813"/>
                </a:solidFill>
                <a:latin typeface="Bahnschrift SemiBold" panose="020B0502040204020203" pitchFamily="34" charset="0"/>
              </a:rPr>
              <a:t>Expansión</a:t>
            </a:r>
          </a:p>
        </p:txBody>
      </p:sp>
      <p:sp>
        <p:nvSpPr>
          <p:cNvPr id="15" name="CuadroTexto 14">
            <a:extLst>
              <a:ext uri="{FF2B5EF4-FFF2-40B4-BE49-F238E27FC236}">
                <a16:creationId xmlns:a16="http://schemas.microsoft.com/office/drawing/2014/main" id="{D9C64380-AC1E-3F81-CB0E-5C271DAD6752}"/>
              </a:ext>
            </a:extLst>
          </p:cNvPr>
          <p:cNvSpPr txBox="1"/>
          <p:nvPr/>
        </p:nvSpPr>
        <p:spPr>
          <a:xfrm>
            <a:off x="4572000" y="2273300"/>
            <a:ext cx="3048000" cy="17018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agente reacciona y forma un compuesto que ocupa más sitio. Sulfatos y reacción árido-álcali. </a:t>
            </a:r>
            <a:r>
              <a:rPr lang="es-MX" sz="1150" b="1">
                <a:solidFill>
                  <a:srgbClr val="5A5248"/>
                </a:solidFill>
                <a:latin typeface="Segoe UI Semibold" panose="020B0702040204020203" pitchFamily="34" charset="0"/>
              </a:rPr>
              <a:t>No se pierde material: se rompe desde dentro.</a:t>
            </a:r>
            <a:endParaRPr lang="es-BO" sz="1150" b="1">
              <a:solidFill>
                <a:srgbClr val="5A5248"/>
              </a:solidFill>
              <a:latin typeface="Segoe UI Semibold" panose="020B0702040204020203" pitchFamily="34" charset="0"/>
            </a:endParaRPr>
          </a:p>
        </p:txBody>
      </p:sp>
      <p:sp>
        <p:nvSpPr>
          <p:cNvPr id="16" name="Rectángulo 15">
            <a:extLst>
              <a:ext uri="{FF2B5EF4-FFF2-40B4-BE49-F238E27FC236}">
                <a16:creationId xmlns:a16="http://schemas.microsoft.com/office/drawing/2014/main" id="{EF90E809-D52A-5214-8631-D2121DC70B62}"/>
              </a:ext>
            </a:extLst>
          </p:cNvPr>
          <p:cNvSpPr/>
          <p:nvPr/>
        </p:nvSpPr>
        <p:spPr>
          <a:xfrm>
            <a:off x="8128000" y="1422400"/>
            <a:ext cx="3454400" cy="2641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C524B392-5B3C-B930-CF80-A2B2B90BD734}"/>
              </a:ext>
            </a:extLst>
          </p:cNvPr>
          <p:cNvSpPr txBox="1"/>
          <p:nvPr/>
        </p:nvSpPr>
        <p:spPr>
          <a:xfrm>
            <a:off x="83312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9" name="CuadroTexto 18">
            <a:extLst>
              <a:ext uri="{FF2B5EF4-FFF2-40B4-BE49-F238E27FC236}">
                <a16:creationId xmlns:a16="http://schemas.microsoft.com/office/drawing/2014/main" id="{5131D3DB-F372-CB33-5379-4370C028DECC}"/>
              </a:ext>
            </a:extLst>
          </p:cNvPr>
          <p:cNvSpPr txBox="1"/>
          <p:nvPr/>
        </p:nvSpPr>
        <p:spPr>
          <a:xfrm>
            <a:off x="8331200" y="1981200"/>
            <a:ext cx="3073400" cy="279400"/>
          </a:xfrm>
          <a:prstGeom prst="rect">
            <a:avLst/>
          </a:prstGeom>
          <a:noFill/>
        </p:spPr>
        <p:txBody>
          <a:bodyPr vert="horz" wrap="square" lIns="0" tIns="0" rIns="0" bIns="0" rtlCol="0" anchor="t">
            <a:noAutofit/>
          </a:bodyPr>
          <a:lstStyle/>
          <a:p>
            <a:pPr algn="l"/>
            <a:r>
              <a:rPr lang="es-BO" sz="1400">
                <a:solidFill>
                  <a:srgbClr val="1C1813"/>
                </a:solidFill>
                <a:latin typeface="Bahnschrift SemiBold" panose="020B0502040204020203" pitchFamily="34" charset="0"/>
              </a:rPr>
              <a:t>Sustitución</a:t>
            </a:r>
          </a:p>
        </p:txBody>
      </p:sp>
      <p:sp>
        <p:nvSpPr>
          <p:cNvPr id="20" name="CuadroTexto 19">
            <a:extLst>
              <a:ext uri="{FF2B5EF4-FFF2-40B4-BE49-F238E27FC236}">
                <a16:creationId xmlns:a16="http://schemas.microsoft.com/office/drawing/2014/main" id="{AE4E0A87-247C-6BB1-D58A-74F34A399F7C}"/>
              </a:ext>
            </a:extLst>
          </p:cNvPr>
          <p:cNvSpPr txBox="1"/>
          <p:nvPr/>
        </p:nvSpPr>
        <p:spPr>
          <a:xfrm>
            <a:off x="8331200" y="2273300"/>
            <a:ext cx="3048000" cy="17018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agente cambia un compuesto por otro de peor comportamiento. Las sales de magnesio sustituyen el calcio del gel y lo dejan sin capacidad resistente.</a:t>
            </a:r>
            <a:endParaRPr lang="es-BO" sz="1150">
              <a:solidFill>
                <a:srgbClr val="5A5248"/>
              </a:solidFill>
              <a:latin typeface="Segoe UI" panose="020B0502040204020203" pitchFamily="34" charset="0"/>
            </a:endParaRPr>
          </a:p>
        </p:txBody>
      </p:sp>
      <p:pic>
        <p:nvPicPr>
          <p:cNvPr id="22" name="Imagen 21" descr="Cortes esquemáticos de disolución, expansión y sustitución de la pasta de cemento">
            <a:extLst>
              <a:ext uri="{FF2B5EF4-FFF2-40B4-BE49-F238E27FC236}">
                <a16:creationId xmlns:a16="http://schemas.microsoft.com/office/drawing/2014/main" id="{AF4D4922-2C9D-7054-4D7F-F8A21BE30D4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267200"/>
            <a:ext cx="10972800" cy="1320800"/>
          </a:xfrm>
          <a:prstGeom prst="rect">
            <a:avLst/>
          </a:prstGeom>
        </p:spPr>
      </p:pic>
      <p:sp>
        <p:nvSpPr>
          <p:cNvPr id="23" name="Rectángulo 22">
            <a:extLst>
              <a:ext uri="{FF2B5EF4-FFF2-40B4-BE49-F238E27FC236}">
                <a16:creationId xmlns:a16="http://schemas.microsoft.com/office/drawing/2014/main" id="{8A66EA7C-F703-A0AF-45A6-2EA7463D5173}"/>
              </a:ext>
            </a:extLst>
          </p:cNvPr>
          <p:cNvSpPr/>
          <p:nvPr/>
        </p:nvSpPr>
        <p:spPr>
          <a:xfrm>
            <a:off x="609600" y="5715000"/>
            <a:ext cx="10972800" cy="457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5" name="CuadroTexto 24">
            <a:extLst>
              <a:ext uri="{FF2B5EF4-FFF2-40B4-BE49-F238E27FC236}">
                <a16:creationId xmlns:a16="http://schemas.microsoft.com/office/drawing/2014/main" id="{500C0196-5619-DADD-83EE-7CD0FF6118AF}"/>
              </a:ext>
            </a:extLst>
          </p:cNvPr>
          <p:cNvSpPr txBox="1"/>
          <p:nvPr/>
        </p:nvSpPr>
        <p:spPr>
          <a:xfrm>
            <a:off x="838200" y="5765800"/>
            <a:ext cx="10566400" cy="355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 diferencia práctica: lo que </a:t>
            </a:r>
            <a:r>
              <a:rPr lang="es-MX" sz="1200" b="1">
                <a:solidFill>
                  <a:srgbClr val="FFFFFF"/>
                </a:solidFill>
                <a:latin typeface="Segoe UI Semibold" panose="020B0702040204020203" pitchFamily="34" charset="0"/>
              </a:rPr>
              <a:t>disuelve</a:t>
            </a:r>
            <a:r>
              <a:rPr lang="es-MX" sz="1200">
                <a:solidFill>
                  <a:srgbClr val="FFFFFF"/>
                </a:solidFill>
                <a:latin typeface="Segoe UI" panose="020B0502040204020203" pitchFamily="34" charset="0"/>
              </a:rPr>
              <a:t> se ve en la superficie y se mide con una regla; lo que </a:t>
            </a:r>
            <a:r>
              <a:rPr lang="es-MX" sz="1200" b="1">
                <a:solidFill>
                  <a:srgbClr val="FFFFFF"/>
                </a:solidFill>
                <a:latin typeface="Segoe UI Semibold" panose="020B0702040204020203" pitchFamily="34" charset="0"/>
              </a:rPr>
              <a:t>expande</a:t>
            </a:r>
            <a:r>
              <a:rPr lang="es-MX" sz="1200">
                <a:solidFill>
                  <a:srgbClr val="FFFFFF"/>
                </a:solidFill>
                <a:latin typeface="Segoe UI" panose="020B0502040204020203" pitchFamily="34" charset="0"/>
              </a:rPr>
              <a:t> se ve como fisuras y no se mide hasta que ya rompió. El segundo siempre se diagnostica tarde.</a:t>
            </a:r>
            <a:endParaRPr lang="es-BO" sz="1200">
              <a:solidFill>
                <a:srgbClr val="FFFFFF"/>
              </a:solidFill>
              <a:latin typeface="Segoe UI" panose="020B0502040204020203" pitchFamily="34" charset="0"/>
            </a:endParaRPr>
          </a:p>
        </p:txBody>
      </p:sp>
      <p:sp>
        <p:nvSpPr>
          <p:cNvPr id="26" name="CuadroTexto 25">
            <a:extLst>
              <a:ext uri="{FF2B5EF4-FFF2-40B4-BE49-F238E27FC236}">
                <a16:creationId xmlns:a16="http://schemas.microsoft.com/office/drawing/2014/main" id="{B8FF7B82-A228-74AB-656A-025E03582D90}"/>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BO" sz="700">
                <a:solidFill>
                  <a:srgbClr val="938A7C"/>
                </a:solidFill>
                <a:latin typeface="Segoe UI" panose="020B0502040204020203" pitchFamily="34" charset="0"/>
              </a:rPr>
              <a:t>Fuente: ACI 201.2R, Guide to Durable Concrete.</a:t>
            </a:r>
          </a:p>
        </p:txBody>
      </p:sp>
      <p:cxnSp>
        <p:nvCxnSpPr>
          <p:cNvPr id="27" name="Conector recto 26">
            <a:extLst>
              <a:ext uri="{FF2B5EF4-FFF2-40B4-BE49-F238E27FC236}">
                <a16:creationId xmlns:a16="http://schemas.microsoft.com/office/drawing/2014/main" id="{7C255244-498D-CC30-AF30-65FCCE852043}"/>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7788AE2A-8C51-94BF-E9BE-82CAE0BAF95D}"/>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9" name="CuadroTexto 28">
            <a:extLst>
              <a:ext uri="{FF2B5EF4-FFF2-40B4-BE49-F238E27FC236}">
                <a16:creationId xmlns:a16="http://schemas.microsoft.com/office/drawing/2014/main" id="{846C5D86-21B9-1450-1C70-9C4B0A265E17}"/>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30" name="PageNo">
            <a:extLst>
              <a:ext uri="{FF2B5EF4-FFF2-40B4-BE49-F238E27FC236}">
                <a16:creationId xmlns:a16="http://schemas.microsoft.com/office/drawing/2014/main" id="{5C57392A-DEE5-2ED8-9EF8-027E3DDE7FB6}"/>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06 / 35</a:t>
            </a:r>
          </a:p>
        </p:txBody>
      </p:sp>
    </p:spTree>
    <p:extLst>
      <p:ext uri="{BB962C8B-B14F-4D97-AF65-F5344CB8AC3E}">
        <p14:creationId xmlns:p14="http://schemas.microsoft.com/office/powerpoint/2010/main" val="1165835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8C90C53-6B64-B97A-BA1B-9CDEC645CD73}"/>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1 · LOS AGENTES</a:t>
            </a:r>
          </a:p>
        </p:txBody>
      </p:sp>
      <p:sp>
        <p:nvSpPr>
          <p:cNvPr id="3" name="Title">
            <a:extLst>
              <a:ext uri="{FF2B5EF4-FFF2-40B4-BE49-F238E27FC236}">
                <a16:creationId xmlns:a16="http://schemas.microsoft.com/office/drawing/2014/main" id="{37F9B568-1ECA-370B-EDE1-FBBC53FB1DEA}"/>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Cada uno deja una firma, y la firma es casi todo el diagnóstico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46095E9E-FC33-4C02-42BA-730C29E85BFD}"/>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4A9534DF-2281-0088-EC6E-7BE62B29679C}"/>
              </a:ext>
            </a:extLst>
          </p:cNvPr>
          <p:cNvGraphicFramePr>
            <a:graphicFrameLocks noGrp="1"/>
          </p:cNvGraphicFramePr>
          <p:nvPr>
            <p:extLst>
              <p:ext uri="{D42A27DB-BD31-4B8C-83A1-F6EECF244321}">
                <p14:modId xmlns:p14="http://schemas.microsoft.com/office/powerpoint/2010/main" val="1053762034"/>
              </p:ext>
            </p:extLst>
          </p:nvPr>
        </p:nvGraphicFramePr>
        <p:xfrm>
          <a:off x="609600" y="1422400"/>
          <a:ext cx="6299200" cy="3403603"/>
        </p:xfrm>
        <a:graphic>
          <a:graphicData uri="http://schemas.openxmlformats.org/drawingml/2006/table">
            <a:tbl>
              <a:tblPr firstRow="1" bandRow="1">
                <a:tableStyleId>{5C22544A-7EE6-4342-B048-85BDC9FD1C3A}</a:tableStyleId>
              </a:tblPr>
              <a:tblGrid>
                <a:gridCol w="1574800">
                  <a:extLst>
                    <a:ext uri="{9D8B030D-6E8A-4147-A177-3AD203B41FA5}">
                      <a16:colId xmlns:a16="http://schemas.microsoft.com/office/drawing/2014/main" val="4292044929"/>
                    </a:ext>
                  </a:extLst>
                </a:gridCol>
                <a:gridCol w="749300">
                  <a:extLst>
                    <a:ext uri="{9D8B030D-6E8A-4147-A177-3AD203B41FA5}">
                      <a16:colId xmlns:a16="http://schemas.microsoft.com/office/drawing/2014/main" val="1053702536"/>
                    </a:ext>
                  </a:extLst>
                </a:gridCol>
                <a:gridCol w="1905000">
                  <a:extLst>
                    <a:ext uri="{9D8B030D-6E8A-4147-A177-3AD203B41FA5}">
                      <a16:colId xmlns:a16="http://schemas.microsoft.com/office/drawing/2014/main" val="2218359219"/>
                    </a:ext>
                  </a:extLst>
                </a:gridCol>
                <a:gridCol w="2070100">
                  <a:extLst>
                    <a:ext uri="{9D8B030D-6E8A-4147-A177-3AD203B41FA5}">
                      <a16:colId xmlns:a16="http://schemas.microsoft.com/office/drawing/2014/main" val="2950344893"/>
                    </a:ext>
                  </a:extLst>
                </a:gridCol>
              </a:tblGrid>
              <a:tr h="486229">
                <a:tc>
                  <a:txBody>
                    <a:bodyPr/>
                    <a:lstStyle/>
                    <a:p>
                      <a:pPr algn="ctr"/>
                      <a:r>
                        <a:rPr lang="es-BO" sz="900" b="0">
                          <a:solidFill>
                            <a:srgbClr val="FFFFFF"/>
                          </a:solidFill>
                          <a:latin typeface="Segoe UI Semibold" panose="020B0702040204020203" pitchFamily="34" charset="0"/>
                        </a:rPr>
                        <a:t>Agente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Modo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Dónde aparece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Firma en obra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335207010"/>
                  </a:ext>
                </a:extLst>
              </a:tr>
              <a:tr h="486229">
                <a:tc>
                  <a:txBody>
                    <a:bodyPr/>
                    <a:lstStyle/>
                    <a:p>
                      <a:pPr algn="ctr"/>
                      <a:r>
                        <a:rPr lang="es-BO" sz="950" b="0">
                          <a:solidFill>
                            <a:srgbClr val="1C1813"/>
                          </a:solidFill>
                          <a:latin typeface="Segoe UI Semibold" panose="020B0702040204020203" pitchFamily="34" charset="0"/>
                        </a:rPr>
                        <a:t>Ácidos  (industriales, orgánicos)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Disolución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Industria alimentaria, agrícola, minería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Superficie retrocedida, árido a la vista, pasta blanda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739736497"/>
                  </a:ext>
                </a:extLst>
              </a:tr>
              <a:tr h="486229">
                <a:tc>
                  <a:txBody>
                    <a:bodyPr/>
                    <a:lstStyle/>
                    <a:p>
                      <a:pPr algn="ctr"/>
                      <a:r>
                        <a:rPr lang="es-BO" sz="950" b="0">
                          <a:solidFill>
                            <a:srgbClr val="1C1813"/>
                          </a:solidFill>
                          <a:latin typeface="Segoe UI Semibold" panose="020B0702040204020203" pitchFamily="34" charset="0"/>
                        </a:rPr>
                        <a:t>Ácido sulfúrico biogénico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Disolución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Colectores, cámaras de bombeo, plantas de tratamiento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Daño en la bóveda y en la franja sobre la lámina de agua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701427695"/>
                  </a:ext>
                </a:extLst>
              </a:tr>
              <a:tr h="486229">
                <a:tc>
                  <a:txBody>
                    <a:bodyPr/>
                    <a:lstStyle/>
                    <a:p>
                      <a:pPr algn="ctr"/>
                      <a:r>
                        <a:rPr lang="es-BO" sz="950" b="0">
                          <a:solidFill>
                            <a:srgbClr val="1C1813"/>
                          </a:solidFill>
                          <a:latin typeface="Segoe UI Semibold" panose="020B0702040204020203" pitchFamily="34" charset="0"/>
                        </a:rPr>
                        <a:t>Sulfatos  (terreno, agua freática)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Expansión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Suelos selenitosos, aguas del altiplano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Fisuración, disgregación y reblandecimiento de la cara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922260781"/>
                  </a:ext>
                </a:extLst>
              </a:tr>
              <a:tr h="486229">
                <a:tc>
                  <a:txBody>
                    <a:bodyPr/>
                    <a:lstStyle/>
                    <a:p>
                      <a:pPr algn="ctr"/>
                      <a:r>
                        <a:rPr lang="es-MX" sz="950" b="0">
                          <a:solidFill>
                            <a:srgbClr val="1C1813"/>
                          </a:solidFill>
                          <a:latin typeface="Segoe UI Semibold" panose="020B0702040204020203" pitchFamily="34" charset="0"/>
                        </a:rPr>
                        <a:t>Agua muy blanda  (lluvia, deshielo)</a:t>
                      </a:r>
                      <a:endParaRPr lang="es-BO" sz="950" b="0">
                        <a:solidFill>
                          <a:srgbClr val="1C1813"/>
                        </a:solidFill>
                        <a:latin typeface="Segoe UI Semibold" panose="020B07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Disolución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Canales, cubiertas, obras hidráulicas de montaña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Lixiviación, estalactitas y superficie lavada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2559061011"/>
                  </a:ext>
                </a:extLst>
              </a:tr>
              <a:tr h="486229">
                <a:tc>
                  <a:txBody>
                    <a:bodyPr/>
                    <a:lstStyle/>
                    <a:p>
                      <a:pPr algn="ctr"/>
                      <a:r>
                        <a:rPr lang="es-BO" sz="950" b="0">
                          <a:solidFill>
                            <a:srgbClr val="1C1813"/>
                          </a:solidFill>
                          <a:latin typeface="Segoe UI Semibold" panose="020B0702040204020203" pitchFamily="34" charset="0"/>
                        </a:rPr>
                        <a:t>Reacción árido-álcali</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Expansión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Áridos reactivos con humedad permanente</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Fisuración en mapa tardía, con gel en el labio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370473802"/>
                  </a:ext>
                </a:extLst>
              </a:tr>
              <a:tr h="486229">
                <a:tc>
                  <a:txBody>
                    <a:bodyPr/>
                    <a:lstStyle/>
                    <a:p>
                      <a:pPr algn="ctr"/>
                      <a:r>
                        <a:rPr lang="es-MX" sz="950" b="0">
                          <a:solidFill>
                            <a:srgbClr val="1C1813"/>
                          </a:solidFill>
                          <a:latin typeface="Segoe UI Semibold" panose="020B0702040204020203" pitchFamily="34" charset="0"/>
                        </a:rPr>
                        <a:t>Sales de magnesio y amonio</a:t>
                      </a:r>
                      <a:endParaRPr lang="es-BO" sz="950" b="0">
                        <a:solidFill>
                          <a:srgbClr val="1C1813"/>
                        </a:solidFill>
                        <a:latin typeface="Segoe UI Semibold" panose="020B07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Sustitución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Fertilizantes, efluentes ganaderos, agua de mar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Pasta blanca y blanda sin pérdida aparente de forma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2450108979"/>
                  </a:ext>
                </a:extLst>
              </a:tr>
            </a:tbl>
          </a:graphicData>
        </a:graphic>
      </p:graphicFrame>
      <p:pic>
        <p:nvPicPr>
          <p:cNvPr id="8" name="Imagen 7" descr="Seis bocetos de la firma en obra de cada agente químico">
            <a:extLst>
              <a:ext uri="{FF2B5EF4-FFF2-40B4-BE49-F238E27FC236}">
                <a16:creationId xmlns:a16="http://schemas.microsoft.com/office/drawing/2014/main" id="{F3772CAE-59A5-679C-CCFE-D43C761F588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0" y="1422400"/>
            <a:ext cx="4470400" cy="3403600"/>
          </a:xfrm>
          <a:prstGeom prst="rect">
            <a:avLst/>
          </a:prstGeom>
        </p:spPr>
      </p:pic>
      <p:sp>
        <p:nvSpPr>
          <p:cNvPr id="9" name="Rectángulo 8">
            <a:extLst>
              <a:ext uri="{FF2B5EF4-FFF2-40B4-BE49-F238E27FC236}">
                <a16:creationId xmlns:a16="http://schemas.microsoft.com/office/drawing/2014/main" id="{7252C785-C6B6-6AEF-691C-38492364F9FA}"/>
              </a:ext>
            </a:extLst>
          </p:cNvPr>
          <p:cNvSpPr/>
          <p:nvPr/>
        </p:nvSpPr>
        <p:spPr>
          <a:xfrm>
            <a:off x="609600" y="50292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446F1D25-6C9E-227D-ED65-AC9C3058008B}"/>
              </a:ext>
            </a:extLst>
          </p:cNvPr>
          <p:cNvSpPr txBox="1"/>
          <p:nvPr/>
        </p:nvSpPr>
        <p:spPr>
          <a:xfrm>
            <a:off x="838200" y="50800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Las dos primeras filas son el mismo ácido con dos orígenes distintos. </a:t>
            </a:r>
            <a:r>
              <a:rPr lang="es-MX" sz="1200" b="1">
                <a:solidFill>
                  <a:srgbClr val="FFFFFF"/>
                </a:solidFill>
                <a:latin typeface="Segoe UI Semibold" panose="020B0702040204020203" pitchFamily="34" charset="0"/>
              </a:rPr>
              <a:t>La diferencia importa</a:t>
            </a:r>
            <a:r>
              <a:rPr lang="es-MX" sz="1200">
                <a:solidFill>
                  <a:srgbClr val="FFFFFF"/>
                </a:solidFill>
                <a:latin typeface="Segoe UI" panose="020B0502040204020203" pitchFamily="34" charset="0"/>
              </a:rPr>
              <a:t>, porque una se corta cerrando un vertido y la otra ventilando una cámara.</a:t>
            </a:r>
            <a:endParaRPr lang="es-BO" sz="1200">
              <a:solidFill>
                <a:srgbClr val="FFFFFF"/>
              </a:solidFill>
              <a:latin typeface="Segoe UI" panose="020B0502040204020203" pitchFamily="34" charset="0"/>
            </a:endParaRPr>
          </a:p>
        </p:txBody>
      </p:sp>
      <p:sp>
        <p:nvSpPr>
          <p:cNvPr id="12" name="CuadroTexto 11">
            <a:extLst>
              <a:ext uri="{FF2B5EF4-FFF2-40B4-BE49-F238E27FC236}">
                <a16:creationId xmlns:a16="http://schemas.microsoft.com/office/drawing/2014/main" id="{0DC077B9-563A-28AA-6ACE-F6DD33155C7E}"/>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201.2R; EN 206, clases de exposición química XA1 a XA3.</a:t>
            </a:r>
            <a:endParaRPr lang="es-BO" sz="700">
              <a:solidFill>
                <a:srgbClr val="938A7C"/>
              </a:solidFill>
              <a:latin typeface="Segoe UI" panose="020B0502040204020203" pitchFamily="34" charset="0"/>
            </a:endParaRPr>
          </a:p>
        </p:txBody>
      </p:sp>
      <p:cxnSp>
        <p:nvCxnSpPr>
          <p:cNvPr id="13" name="Conector recto 12">
            <a:extLst>
              <a:ext uri="{FF2B5EF4-FFF2-40B4-BE49-F238E27FC236}">
                <a16:creationId xmlns:a16="http://schemas.microsoft.com/office/drawing/2014/main" id="{ABB289F6-A2DF-5655-BFE7-A4FE083B127C}"/>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7DD5B8B4-34E5-EFAA-0B70-C43E51260CFC}"/>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15" name="CuadroTexto 14">
            <a:extLst>
              <a:ext uri="{FF2B5EF4-FFF2-40B4-BE49-F238E27FC236}">
                <a16:creationId xmlns:a16="http://schemas.microsoft.com/office/drawing/2014/main" id="{A2D34169-B62F-814F-82D0-0041BD8FBD6D}"/>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16" name="PageNo">
            <a:extLst>
              <a:ext uri="{FF2B5EF4-FFF2-40B4-BE49-F238E27FC236}">
                <a16:creationId xmlns:a16="http://schemas.microsoft.com/office/drawing/2014/main" id="{A1A8711D-D338-2D1B-AEBB-89BF3295501C}"/>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07 / 35</a:t>
            </a:r>
          </a:p>
        </p:txBody>
      </p:sp>
    </p:spTree>
    <p:extLst>
      <p:ext uri="{BB962C8B-B14F-4D97-AF65-F5344CB8AC3E}">
        <p14:creationId xmlns:p14="http://schemas.microsoft.com/office/powerpoint/2010/main" val="3716475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16B1E2D-6984-1285-2BC2-DA0C3D71E304}"/>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1 · QUÉ DECIDE LA AGRESIVIDAD</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10C1DAE2-F2CD-FB1E-A783-423818CA3265}"/>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La concentración importa menos de lo que parece</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B1722900-3D23-9332-26D9-961624FE174D}"/>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A5A71B23-5595-4599-11E8-872BD485C088}"/>
              </a:ext>
            </a:extLst>
          </p:cNvPr>
          <p:cNvSpPr/>
          <p:nvPr/>
        </p:nvSpPr>
        <p:spPr>
          <a:xfrm>
            <a:off x="609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 name="CuadroTexto 7">
            <a:extLst>
              <a:ext uri="{FF2B5EF4-FFF2-40B4-BE49-F238E27FC236}">
                <a16:creationId xmlns:a16="http://schemas.microsoft.com/office/drawing/2014/main" id="{E6CB20C3-A7AD-AE81-3A99-F622ED8D7CB2}"/>
              </a:ext>
            </a:extLst>
          </p:cNvPr>
          <p:cNvSpPr txBox="1"/>
          <p:nvPr/>
        </p:nvSpPr>
        <p:spPr>
          <a:xfrm>
            <a:off x="812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9" name="CuadroTexto 8">
            <a:extLst>
              <a:ext uri="{FF2B5EF4-FFF2-40B4-BE49-F238E27FC236}">
                <a16:creationId xmlns:a16="http://schemas.microsoft.com/office/drawing/2014/main" id="{2537C283-5F6B-CDE3-01F9-7B894AE47556}"/>
              </a:ext>
            </a:extLst>
          </p:cNvPr>
          <p:cNvSpPr txBox="1"/>
          <p:nvPr/>
        </p:nvSpPr>
        <p:spPr>
          <a:xfrm>
            <a:off x="812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La renovación</a:t>
            </a:r>
          </a:p>
        </p:txBody>
      </p:sp>
      <p:sp>
        <p:nvSpPr>
          <p:cNvPr id="10" name="CuadroTexto 9">
            <a:extLst>
              <a:ext uri="{FF2B5EF4-FFF2-40B4-BE49-F238E27FC236}">
                <a16:creationId xmlns:a16="http://schemas.microsoft.com/office/drawing/2014/main" id="{E459B255-B43D-C752-065F-BA77674B26CB}"/>
              </a:ext>
            </a:extLst>
          </p:cNvPr>
          <p:cNvSpPr txBox="1"/>
          <p:nvPr/>
        </p:nvSpPr>
        <p:spPr>
          <a:xfrm>
            <a:off x="812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Agua estancada se satura de calcio y deja de atacar. Agua que corre se lleva el producto y empieza de nuevo. </a:t>
            </a:r>
            <a:r>
              <a:rPr lang="es-MX" sz="1100" b="1">
                <a:solidFill>
                  <a:srgbClr val="5A5248"/>
                </a:solidFill>
                <a:latin typeface="Segoe UI Semibold" panose="020B0702040204020203" pitchFamily="34" charset="0"/>
              </a:rPr>
              <a:t>Un goteo continuo ataca más que una balsa.</a:t>
            </a:r>
            <a:endParaRPr lang="es-BO" sz="1100" b="1">
              <a:solidFill>
                <a:srgbClr val="5A5248"/>
              </a:solidFill>
              <a:latin typeface="Segoe UI Semibold" panose="020B0702040204020203" pitchFamily="34" charset="0"/>
            </a:endParaRPr>
          </a:p>
        </p:txBody>
      </p:sp>
      <p:sp>
        <p:nvSpPr>
          <p:cNvPr id="11" name="Rectángulo 10">
            <a:extLst>
              <a:ext uri="{FF2B5EF4-FFF2-40B4-BE49-F238E27FC236}">
                <a16:creationId xmlns:a16="http://schemas.microsoft.com/office/drawing/2014/main" id="{4E4DACF3-4095-B00C-0377-7F3924197FBA}"/>
              </a:ext>
            </a:extLst>
          </p:cNvPr>
          <p:cNvSpPr/>
          <p:nvPr/>
        </p:nvSpPr>
        <p:spPr>
          <a:xfrm>
            <a:off x="3403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7F96B2F5-82FB-5F1A-F266-2CF18E6DD64F}"/>
              </a:ext>
            </a:extLst>
          </p:cNvPr>
          <p:cNvSpPr txBox="1"/>
          <p:nvPr/>
        </p:nvSpPr>
        <p:spPr>
          <a:xfrm>
            <a:off x="3606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14" name="CuadroTexto 13">
            <a:extLst>
              <a:ext uri="{FF2B5EF4-FFF2-40B4-BE49-F238E27FC236}">
                <a16:creationId xmlns:a16="http://schemas.microsoft.com/office/drawing/2014/main" id="{7BA3261A-57DD-F2D4-EA6B-801D5F5C52E7}"/>
              </a:ext>
            </a:extLst>
          </p:cNvPr>
          <p:cNvSpPr txBox="1"/>
          <p:nvPr/>
        </p:nvSpPr>
        <p:spPr>
          <a:xfrm>
            <a:off x="3606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El pH</a:t>
            </a:r>
          </a:p>
        </p:txBody>
      </p:sp>
      <p:sp>
        <p:nvSpPr>
          <p:cNvPr id="15" name="CuadroTexto 14">
            <a:extLst>
              <a:ext uri="{FF2B5EF4-FFF2-40B4-BE49-F238E27FC236}">
                <a16:creationId xmlns:a16="http://schemas.microsoft.com/office/drawing/2014/main" id="{E268F82B-0867-414D-DD4F-A0556B7BECDB}"/>
              </a:ext>
            </a:extLst>
          </p:cNvPr>
          <p:cNvSpPr txBox="1"/>
          <p:nvPr/>
        </p:nvSpPr>
        <p:spPr>
          <a:xfrm>
            <a:off x="3606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Por debajo de 6,5 el ataque empieza; por debajo de 4,5 es rápido; por debajo de 3 es muy rápido. La escala no es lineal: cada unidad es diez veces más ácido.</a:t>
            </a:r>
            <a:endParaRPr lang="es-BO" sz="110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83C89BC5-1915-3AEC-ACB5-23AA126F7EE5}"/>
              </a:ext>
            </a:extLst>
          </p:cNvPr>
          <p:cNvSpPr/>
          <p:nvPr/>
        </p:nvSpPr>
        <p:spPr>
          <a:xfrm>
            <a:off x="6197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668F29BC-31BE-2D99-08EA-9F885084518F}"/>
              </a:ext>
            </a:extLst>
          </p:cNvPr>
          <p:cNvSpPr txBox="1"/>
          <p:nvPr/>
        </p:nvSpPr>
        <p:spPr>
          <a:xfrm>
            <a:off x="6400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9" name="CuadroTexto 18">
            <a:extLst>
              <a:ext uri="{FF2B5EF4-FFF2-40B4-BE49-F238E27FC236}">
                <a16:creationId xmlns:a16="http://schemas.microsoft.com/office/drawing/2014/main" id="{307F6A58-E52B-EDF8-67C0-62010A850143}"/>
              </a:ext>
            </a:extLst>
          </p:cNvPr>
          <p:cNvSpPr txBox="1"/>
          <p:nvPr/>
        </p:nvSpPr>
        <p:spPr>
          <a:xfrm>
            <a:off x="6400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La porosidad</a:t>
            </a:r>
          </a:p>
        </p:txBody>
      </p:sp>
      <p:sp>
        <p:nvSpPr>
          <p:cNvPr id="20" name="CuadroTexto 19">
            <a:extLst>
              <a:ext uri="{FF2B5EF4-FFF2-40B4-BE49-F238E27FC236}">
                <a16:creationId xmlns:a16="http://schemas.microsoft.com/office/drawing/2014/main" id="{299352B6-8DC8-0991-AF8C-698BD5AF26D9}"/>
              </a:ext>
            </a:extLst>
          </p:cNvPr>
          <p:cNvSpPr txBox="1"/>
          <p:nvPr/>
        </p:nvSpPr>
        <p:spPr>
          <a:xfrm>
            <a:off x="6400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El mismo agente sobre un hormigón de a/c 0,45 y sobre otro de 0,65 no da el mismo resultado. Es el mismo parámetro de la clase 1.</a:t>
            </a:r>
            <a:endParaRPr lang="es-BO" sz="1100">
              <a:solidFill>
                <a:srgbClr val="5A5248"/>
              </a:solidFill>
              <a:latin typeface="Segoe UI" panose="020B0502040204020203" pitchFamily="34" charset="0"/>
            </a:endParaRPr>
          </a:p>
        </p:txBody>
      </p:sp>
      <p:sp>
        <p:nvSpPr>
          <p:cNvPr id="21" name="Rectángulo 20">
            <a:extLst>
              <a:ext uri="{FF2B5EF4-FFF2-40B4-BE49-F238E27FC236}">
                <a16:creationId xmlns:a16="http://schemas.microsoft.com/office/drawing/2014/main" id="{9D754DDB-B25F-2528-6CE8-E6FCBDD529FF}"/>
              </a:ext>
            </a:extLst>
          </p:cNvPr>
          <p:cNvSpPr/>
          <p:nvPr/>
        </p:nvSpPr>
        <p:spPr>
          <a:xfrm>
            <a:off x="8991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3DEAEDAA-3F7B-69A5-9092-8A928A03D70D}"/>
              </a:ext>
            </a:extLst>
          </p:cNvPr>
          <p:cNvSpPr txBox="1"/>
          <p:nvPr/>
        </p:nvSpPr>
        <p:spPr>
          <a:xfrm>
            <a:off x="9194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04</a:t>
            </a:r>
          </a:p>
        </p:txBody>
      </p:sp>
      <p:sp>
        <p:nvSpPr>
          <p:cNvPr id="24" name="CuadroTexto 23">
            <a:extLst>
              <a:ext uri="{FF2B5EF4-FFF2-40B4-BE49-F238E27FC236}">
                <a16:creationId xmlns:a16="http://schemas.microsoft.com/office/drawing/2014/main" id="{7A610DE5-9C29-7AC2-1064-40E500610C1C}"/>
              </a:ext>
            </a:extLst>
          </p:cNvPr>
          <p:cNvSpPr txBox="1"/>
          <p:nvPr/>
        </p:nvSpPr>
        <p:spPr>
          <a:xfrm>
            <a:off x="9194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La temperatura</a:t>
            </a:r>
          </a:p>
        </p:txBody>
      </p:sp>
      <p:sp>
        <p:nvSpPr>
          <p:cNvPr id="25" name="CuadroTexto 24">
            <a:extLst>
              <a:ext uri="{FF2B5EF4-FFF2-40B4-BE49-F238E27FC236}">
                <a16:creationId xmlns:a16="http://schemas.microsoft.com/office/drawing/2014/main" id="{25CC920D-7DF2-6CD0-8DD1-51F6B5F1775C}"/>
              </a:ext>
            </a:extLst>
          </p:cNvPr>
          <p:cNvSpPr txBox="1"/>
          <p:nvPr/>
        </p:nvSpPr>
        <p:spPr>
          <a:xfrm>
            <a:off x="9194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Más temperatura, más velocidad de reacción. En el altiplano juega a favor: las reacciones químicas van despacio a 10 °C de media.</a:t>
            </a:r>
            <a:endParaRPr lang="es-BO" sz="1100">
              <a:solidFill>
                <a:srgbClr val="5A5248"/>
              </a:solidFill>
              <a:latin typeface="Segoe UI" panose="020B0502040204020203" pitchFamily="34" charset="0"/>
            </a:endParaRPr>
          </a:p>
        </p:txBody>
      </p:sp>
      <p:pic>
        <p:nvPicPr>
          <p:cNvPr id="27" name="Imagen 26" descr="Renovación del agua, escala de pH, porosidad según a/c y efecto de la temperatura">
            <a:extLst>
              <a:ext uri="{FF2B5EF4-FFF2-40B4-BE49-F238E27FC236}">
                <a16:creationId xmlns:a16="http://schemas.microsoft.com/office/drawing/2014/main" id="{6B2C7EDD-CA9C-0811-381F-A7B65B334A3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318000"/>
            <a:ext cx="10972800" cy="1320800"/>
          </a:xfrm>
          <a:prstGeom prst="rect">
            <a:avLst/>
          </a:prstGeom>
        </p:spPr>
      </p:pic>
      <p:sp>
        <p:nvSpPr>
          <p:cNvPr id="28" name="Rectángulo 27">
            <a:extLst>
              <a:ext uri="{FF2B5EF4-FFF2-40B4-BE49-F238E27FC236}">
                <a16:creationId xmlns:a16="http://schemas.microsoft.com/office/drawing/2014/main" id="{E549BB23-F1DE-949A-2163-7DF40B7DCCE6}"/>
              </a:ext>
            </a:extLst>
          </p:cNvPr>
          <p:cNvSpPr/>
          <p:nvPr/>
        </p:nvSpPr>
        <p:spPr>
          <a:xfrm>
            <a:off x="609600" y="5765800"/>
            <a:ext cx="10972800" cy="406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2C0BBD1E-62FA-5453-563B-9EF5402DC3B7}"/>
              </a:ext>
            </a:extLst>
          </p:cNvPr>
          <p:cNvSpPr txBox="1"/>
          <p:nvPr/>
        </p:nvSpPr>
        <p:spPr>
          <a:xfrm>
            <a:off x="838200" y="5816600"/>
            <a:ext cx="10566400" cy="304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Por eso una clase de exposición no se decide con un solo análisis de agua: hay que decir también </a:t>
            </a:r>
            <a:r>
              <a:rPr lang="es-MX" sz="1200" b="1">
                <a:solidFill>
                  <a:srgbClr val="FFFFFF"/>
                </a:solidFill>
                <a:latin typeface="Segoe UI Semibold" panose="020B0702040204020203" pitchFamily="34" charset="0"/>
              </a:rPr>
              <a:t>si el agua se renueva, si llega a presión y si moja de forma continua o alterna</a:t>
            </a:r>
            <a:r>
              <a:rPr lang="es-MX" sz="1200">
                <a:solidFill>
                  <a:srgbClr val="FFFFFF"/>
                </a:solidFill>
                <a:latin typeface="Segoe UI" panose="020B0502040204020203" pitchFamily="34" charset="0"/>
              </a:rPr>
              <a:t>.</a:t>
            </a:r>
            <a:endParaRPr lang="es-BO" sz="1200">
              <a:solidFill>
                <a:srgbClr val="FFFFFF"/>
              </a:solidFill>
              <a:latin typeface="Segoe UI" panose="020B0502040204020203" pitchFamily="34" charset="0"/>
            </a:endParaRPr>
          </a:p>
        </p:txBody>
      </p:sp>
      <p:sp>
        <p:nvSpPr>
          <p:cNvPr id="31" name="CuadroTexto 30">
            <a:extLst>
              <a:ext uri="{FF2B5EF4-FFF2-40B4-BE49-F238E27FC236}">
                <a16:creationId xmlns:a16="http://schemas.microsoft.com/office/drawing/2014/main" id="{3B9F31D6-6896-A264-E2C2-393F84C63DFE}"/>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EN 206 §4.1; ACI 201.2R.</a:t>
            </a:r>
            <a:endParaRPr lang="es-BO" sz="700">
              <a:solidFill>
                <a:srgbClr val="938A7C"/>
              </a:solidFill>
              <a:latin typeface="Segoe UI" panose="020B0502040204020203" pitchFamily="34" charset="0"/>
            </a:endParaRPr>
          </a:p>
        </p:txBody>
      </p:sp>
      <p:cxnSp>
        <p:nvCxnSpPr>
          <p:cNvPr id="32" name="Conector recto 31">
            <a:extLst>
              <a:ext uri="{FF2B5EF4-FFF2-40B4-BE49-F238E27FC236}">
                <a16:creationId xmlns:a16="http://schemas.microsoft.com/office/drawing/2014/main" id="{080E4517-43B8-4B6D-9319-DC22CE3FA423}"/>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83245BBA-5221-0B0A-4ADC-946956116738}"/>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4" name="CuadroTexto 33">
            <a:extLst>
              <a:ext uri="{FF2B5EF4-FFF2-40B4-BE49-F238E27FC236}">
                <a16:creationId xmlns:a16="http://schemas.microsoft.com/office/drawing/2014/main" id="{1963D350-726E-AB7E-4C1B-A720713F3235}"/>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35" name="PageNo">
            <a:extLst>
              <a:ext uri="{FF2B5EF4-FFF2-40B4-BE49-F238E27FC236}">
                <a16:creationId xmlns:a16="http://schemas.microsoft.com/office/drawing/2014/main" id="{E29C9941-8497-AAD9-0F79-BB6AEE395B39}"/>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08 / 35</a:t>
            </a:r>
          </a:p>
        </p:txBody>
      </p:sp>
    </p:spTree>
    <p:extLst>
      <p:ext uri="{BB962C8B-B14F-4D97-AF65-F5344CB8AC3E}">
        <p14:creationId xmlns:p14="http://schemas.microsoft.com/office/powerpoint/2010/main" val="3423304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ECE71A9-9905-AECC-F8EA-E10A66048C14}"/>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1 · LA FIRMA EN OBRA</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59BA4A4D-46AC-CD20-4B6E-7F361641F6B9}"/>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Tres superficies que cuentan tres historias químicas distintas</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3F3136BF-6DC0-2499-4D20-D232D8AA3E5B}"/>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pic>
        <p:nvPicPr>
          <p:cNvPr id="7" name="Imagen 6" descr="Depósito blanco de sales sobre un paramento de hormigón">
            <a:extLst>
              <a:ext uri="{FF2B5EF4-FFF2-40B4-BE49-F238E27FC236}">
                <a16:creationId xmlns:a16="http://schemas.microsoft.com/office/drawing/2014/main" id="{F56F9A5E-9C73-5618-ECAB-8B3CE964D32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524000"/>
            <a:ext cx="3454400" cy="2336800"/>
          </a:xfrm>
          <a:prstGeom prst="rect">
            <a:avLst/>
          </a:prstGeom>
        </p:spPr>
      </p:pic>
      <p:sp>
        <p:nvSpPr>
          <p:cNvPr id="8" name="CuadroTexto 7">
            <a:extLst>
              <a:ext uri="{FF2B5EF4-FFF2-40B4-BE49-F238E27FC236}">
                <a16:creationId xmlns:a16="http://schemas.microsoft.com/office/drawing/2014/main" id="{1FA31B8E-0ED4-D61E-D668-5D13E8FD311E}"/>
              </a:ext>
            </a:extLst>
          </p:cNvPr>
          <p:cNvSpPr txBox="1"/>
          <p:nvPr/>
        </p:nvSpPr>
        <p:spPr>
          <a:xfrm>
            <a:off x="6096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Eflorescencia</a:t>
            </a:r>
          </a:p>
        </p:txBody>
      </p:sp>
      <p:sp>
        <p:nvSpPr>
          <p:cNvPr id="9" name="CuadroTexto 8">
            <a:extLst>
              <a:ext uri="{FF2B5EF4-FFF2-40B4-BE49-F238E27FC236}">
                <a16:creationId xmlns:a16="http://schemas.microsoft.com/office/drawing/2014/main" id="{8C742238-AF3E-448D-5AD2-FAAD5A390A8A}"/>
              </a:ext>
            </a:extLst>
          </p:cNvPr>
          <p:cNvSpPr txBox="1"/>
          <p:nvPr/>
        </p:nvSpPr>
        <p:spPr>
          <a:xfrm>
            <a:off x="6096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Sal que cristaliza al evaporarse el agua. No es el daño: es la prueba de que hay agua atravesando el elemento.</a:t>
            </a:r>
            <a:endParaRPr lang="es-BO" sz="1150">
              <a:solidFill>
                <a:srgbClr val="5A5248"/>
              </a:solidFill>
              <a:latin typeface="Segoe UI" panose="020B0502040204020203" pitchFamily="34" charset="0"/>
            </a:endParaRPr>
          </a:p>
        </p:txBody>
      </p:sp>
      <p:pic>
        <p:nvPicPr>
          <p:cNvPr id="11" name="Imagen 10">
            <a:extLst>
              <a:ext uri="{FF2B5EF4-FFF2-40B4-BE49-F238E27FC236}">
                <a16:creationId xmlns:a16="http://schemas.microsoft.com/office/drawing/2014/main" id="{99930A3A-35E0-FE4D-4147-EA949D2D505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368800" y="1524000"/>
            <a:ext cx="3454400" cy="2336800"/>
          </a:xfrm>
          <a:prstGeom prst="rect">
            <a:avLst/>
          </a:prstGeom>
        </p:spPr>
      </p:pic>
      <p:sp>
        <p:nvSpPr>
          <p:cNvPr id="12" name="CuadroTexto 11">
            <a:extLst>
              <a:ext uri="{FF2B5EF4-FFF2-40B4-BE49-F238E27FC236}">
                <a16:creationId xmlns:a16="http://schemas.microsoft.com/office/drawing/2014/main" id="{AF5F0E30-DF5E-C1BB-2D41-10C24B42CB14}"/>
              </a:ext>
            </a:extLst>
          </p:cNvPr>
          <p:cNvSpPr txBox="1"/>
          <p:nvPr/>
        </p:nvSpPr>
        <p:spPr>
          <a:xfrm>
            <a:off x="43688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Lixiviación</a:t>
            </a:r>
          </a:p>
        </p:txBody>
      </p:sp>
      <p:sp>
        <p:nvSpPr>
          <p:cNvPr id="13" name="CuadroTexto 12">
            <a:extLst>
              <a:ext uri="{FF2B5EF4-FFF2-40B4-BE49-F238E27FC236}">
                <a16:creationId xmlns:a16="http://schemas.microsoft.com/office/drawing/2014/main" id="{527370B2-5686-2A46-3FD1-6C841D9A0DD4}"/>
              </a:ext>
            </a:extLst>
          </p:cNvPr>
          <p:cNvSpPr txBox="1"/>
          <p:nvPr/>
        </p:nvSpPr>
        <p:spPr>
          <a:xfrm>
            <a:off x="43688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Carbonato de calcio depositado en el labio de una fisura. El agua se llevó calcio de dentro y lo dejó fuera.</a:t>
            </a:r>
            <a:endParaRPr lang="es-BO" sz="1150">
              <a:solidFill>
                <a:srgbClr val="5A5248"/>
              </a:solidFill>
              <a:latin typeface="Segoe UI" panose="020B0502040204020203" pitchFamily="34" charset="0"/>
            </a:endParaRPr>
          </a:p>
        </p:txBody>
      </p:sp>
      <p:pic>
        <p:nvPicPr>
          <p:cNvPr id="15" name="Imagen 14">
            <a:extLst>
              <a:ext uri="{FF2B5EF4-FFF2-40B4-BE49-F238E27FC236}">
                <a16:creationId xmlns:a16="http://schemas.microsoft.com/office/drawing/2014/main" id="{C761A2EA-A862-128C-E2F7-D60DEA27393E}"/>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128000" y="1524000"/>
            <a:ext cx="3454400" cy="2336800"/>
          </a:xfrm>
          <a:prstGeom prst="rect">
            <a:avLst/>
          </a:prstGeom>
        </p:spPr>
      </p:pic>
      <p:sp>
        <p:nvSpPr>
          <p:cNvPr id="16" name="CuadroTexto 15">
            <a:extLst>
              <a:ext uri="{FF2B5EF4-FFF2-40B4-BE49-F238E27FC236}">
                <a16:creationId xmlns:a16="http://schemas.microsoft.com/office/drawing/2014/main" id="{D3FAF76B-95D2-AE8B-457B-7FBA6518E5DF}"/>
              </a:ext>
            </a:extLst>
          </p:cNvPr>
          <p:cNvSpPr txBox="1"/>
          <p:nvPr/>
        </p:nvSpPr>
        <p:spPr>
          <a:xfrm>
            <a:off x="81280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Humedad persistente</a:t>
            </a:r>
          </a:p>
        </p:txBody>
      </p:sp>
      <p:sp>
        <p:nvSpPr>
          <p:cNvPr id="17" name="CuadroTexto 16">
            <a:extLst>
              <a:ext uri="{FF2B5EF4-FFF2-40B4-BE49-F238E27FC236}">
                <a16:creationId xmlns:a16="http://schemas.microsoft.com/office/drawing/2014/main" id="{BCDBBDE5-B68B-BF4D-715A-3B1199E22CC8}"/>
              </a:ext>
            </a:extLst>
          </p:cNvPr>
          <p:cNvSpPr txBox="1"/>
          <p:nvPr/>
        </p:nvSpPr>
        <p:spPr>
          <a:xfrm>
            <a:off x="81280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Sin agua no hay ataque químico. Un reguero verde dice dónde buscar antes de abrir ningún ensayo.</a:t>
            </a:r>
            <a:endParaRPr lang="es-BO" sz="1150">
              <a:solidFill>
                <a:srgbClr val="5A5248"/>
              </a:solidFill>
              <a:latin typeface="Segoe UI" panose="020B0502040204020203" pitchFamily="34" charset="0"/>
            </a:endParaRPr>
          </a:p>
        </p:txBody>
      </p:sp>
      <p:sp>
        <p:nvSpPr>
          <p:cNvPr id="18" name="Rectángulo 17">
            <a:extLst>
              <a:ext uri="{FF2B5EF4-FFF2-40B4-BE49-F238E27FC236}">
                <a16:creationId xmlns:a16="http://schemas.microsoft.com/office/drawing/2014/main" id="{C59573A6-7EAB-A8B7-2988-03BA28AB40B0}"/>
              </a:ext>
            </a:extLst>
          </p:cNvPr>
          <p:cNvSpPr/>
          <p:nvPr/>
        </p:nvSpPr>
        <p:spPr>
          <a:xfrm>
            <a:off x="609600" y="5410200"/>
            <a:ext cx="109728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0" name="CuadroTexto 19">
            <a:extLst>
              <a:ext uri="{FF2B5EF4-FFF2-40B4-BE49-F238E27FC236}">
                <a16:creationId xmlns:a16="http://schemas.microsoft.com/office/drawing/2014/main" id="{9A690DAA-781B-4AF8-E83F-98939D4D1FF1}"/>
              </a:ext>
            </a:extLst>
          </p:cNvPr>
          <p:cNvSpPr txBox="1"/>
          <p:nvPr/>
        </p:nvSpPr>
        <p:spPr>
          <a:xfrm>
            <a:off x="838200" y="5461000"/>
            <a:ext cx="10566400" cy="558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Las tres son </a:t>
            </a:r>
            <a:r>
              <a:rPr lang="es-MX" sz="1200" b="1">
                <a:solidFill>
                  <a:srgbClr val="FFFFFF"/>
                </a:solidFill>
                <a:latin typeface="Segoe UI Semibold" panose="020B0702040204020203" pitchFamily="34" charset="0"/>
              </a:rPr>
              <a:t>síntomas de transporte de agua</a:t>
            </a:r>
            <a:r>
              <a:rPr lang="es-MX" sz="1200">
                <a:solidFill>
                  <a:srgbClr val="FFFFFF"/>
                </a:solidFill>
                <a:latin typeface="Segoe UI" panose="020B0502040204020203" pitchFamily="34" charset="0"/>
              </a:rPr>
              <a:t>, no de ataque. Pero sin ellas no hay ataque químico posible: son el primer filtro del diagnóstico.</a:t>
            </a:r>
            <a:endParaRPr lang="es-BO" sz="1200">
              <a:solidFill>
                <a:srgbClr val="FFFFFF"/>
              </a:solidFill>
              <a:latin typeface="Segoe UI" panose="020B0502040204020203" pitchFamily="34" charset="0"/>
            </a:endParaRPr>
          </a:p>
        </p:txBody>
      </p:sp>
      <p:cxnSp>
        <p:nvCxnSpPr>
          <p:cNvPr id="21" name="Conector recto 20">
            <a:extLst>
              <a:ext uri="{FF2B5EF4-FFF2-40B4-BE49-F238E27FC236}">
                <a16:creationId xmlns:a16="http://schemas.microsoft.com/office/drawing/2014/main" id="{852482EA-B94D-D9BE-A9AA-385A054F9CB7}"/>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6643E11A-0A20-90C9-0784-9CACD8D6C2D4}"/>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3" name="CuadroTexto 22">
            <a:extLst>
              <a:ext uri="{FF2B5EF4-FFF2-40B4-BE49-F238E27FC236}">
                <a16:creationId xmlns:a16="http://schemas.microsoft.com/office/drawing/2014/main" id="{FE202E31-56F0-0FC5-2886-42232FB0E226}"/>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24" name="PageNo">
            <a:extLst>
              <a:ext uri="{FF2B5EF4-FFF2-40B4-BE49-F238E27FC236}">
                <a16:creationId xmlns:a16="http://schemas.microsoft.com/office/drawing/2014/main" id="{02E9B9F4-954E-C985-28E6-E8A174183AE3}"/>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09 / 35</a:t>
            </a:r>
          </a:p>
        </p:txBody>
      </p:sp>
    </p:spTree>
    <p:extLst>
      <p:ext uri="{BB962C8B-B14F-4D97-AF65-F5344CB8AC3E}">
        <p14:creationId xmlns:p14="http://schemas.microsoft.com/office/powerpoint/2010/main" val="2434107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AD025B8-BD7A-E024-3DE6-840F99BA79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911706F2-D4A6-61C2-5DA0-1BF1E24F311B}"/>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FF0D2B77-55D4-6296-64C9-8F808771A24E}"/>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CECD14B5-F54A-3F79-99B9-32517CB5845E}"/>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PARTE 2</a:t>
            </a:r>
          </a:p>
        </p:txBody>
      </p:sp>
      <p:sp>
        <p:nvSpPr>
          <p:cNvPr id="7" name="Title">
            <a:extLst>
              <a:ext uri="{FF2B5EF4-FFF2-40B4-BE49-F238E27FC236}">
                <a16:creationId xmlns:a16="http://schemas.microsoft.com/office/drawing/2014/main" id="{43ECA196-21CC-27E0-F505-1305E0681A2A}"/>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MX" sz="3800">
                <a:solidFill>
                  <a:srgbClr val="FFFFFF"/>
                </a:solidFill>
                <a:latin typeface="Bahnschrift SemiBold" panose="020B0502040204020203" pitchFamily="34" charset="0"/>
              </a:rPr>
              <a:t>Sulfatos y clases de exposición</a:t>
            </a:r>
            <a:endParaRPr lang="es-BO" sz="3800">
              <a:solidFill>
                <a:srgbClr val="FFFFFF"/>
              </a:solidFill>
              <a:latin typeface="Bahnschrift SemiBold" panose="020B0502040204020203" pitchFamily="34" charset="0"/>
            </a:endParaRPr>
          </a:p>
        </p:txBody>
      </p:sp>
      <p:sp>
        <p:nvSpPr>
          <p:cNvPr id="8" name="Rectángulo 7">
            <a:extLst>
              <a:ext uri="{FF2B5EF4-FFF2-40B4-BE49-F238E27FC236}">
                <a16:creationId xmlns:a16="http://schemas.microsoft.com/office/drawing/2014/main" id="{B644BDBF-77BE-279B-7D61-5E6153721323}"/>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116D8ABF-20CD-8ACD-8DDD-4B5053CD8D1A}"/>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El ataque que más cimentaciones arruina en el altiplano, y el que más fácil era prevenir.</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E896277F-92D0-DFE6-1E0A-3760323B002F}"/>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F9AC4470-B793-C0A3-45AB-61FC6071E917}"/>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El mecanismo</a:t>
            </a:r>
          </a:p>
        </p:txBody>
      </p:sp>
      <p:sp>
        <p:nvSpPr>
          <p:cNvPr id="12" name="Rectángulo 11">
            <a:extLst>
              <a:ext uri="{FF2B5EF4-FFF2-40B4-BE49-F238E27FC236}">
                <a16:creationId xmlns:a16="http://schemas.microsoft.com/office/drawing/2014/main" id="{D106532F-3809-964A-2567-8252151F459F}"/>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E6EE689A-5709-0C6C-A375-400FE5DCD1E7}"/>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Las clases de ACI 318-19</a:t>
            </a:r>
            <a:endParaRPr lang="es-BO" sz="1050">
              <a:solidFill>
                <a:srgbClr val="CFC7B8"/>
              </a:solidFill>
              <a:latin typeface="Segoe UI" panose="020B0502040204020203" pitchFamily="34" charset="0"/>
            </a:endParaRPr>
          </a:p>
        </p:txBody>
      </p:sp>
      <p:sp>
        <p:nvSpPr>
          <p:cNvPr id="14" name="Rectángulo 13">
            <a:extLst>
              <a:ext uri="{FF2B5EF4-FFF2-40B4-BE49-F238E27FC236}">
                <a16:creationId xmlns:a16="http://schemas.microsoft.com/office/drawing/2014/main" id="{7FB2799E-5C3D-7780-A4DF-12ADBC3F01DE}"/>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9F673522-A117-DB98-34D7-FBA37B35C45D}"/>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El papel del cemento</a:t>
            </a:r>
          </a:p>
        </p:txBody>
      </p:sp>
      <p:sp>
        <p:nvSpPr>
          <p:cNvPr id="16" name="CuadroTexto 15">
            <a:extLst>
              <a:ext uri="{FF2B5EF4-FFF2-40B4-BE49-F238E27FC236}">
                <a16:creationId xmlns:a16="http://schemas.microsoft.com/office/drawing/2014/main" id="{F9BB4635-F2EB-7206-ABE3-4E8006DF1CD6}"/>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4 · ATAQUE QUÍMICO</a:t>
            </a:r>
          </a:p>
        </p:txBody>
      </p:sp>
    </p:spTree>
    <p:extLst>
      <p:ext uri="{BB962C8B-B14F-4D97-AF65-F5344CB8AC3E}">
        <p14:creationId xmlns:p14="http://schemas.microsoft.com/office/powerpoint/2010/main" val="420793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57BAA15-BA24-F933-DDDD-D392DA47082E}"/>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PARTE 2 · EL MECANISMO</a:t>
            </a:r>
          </a:p>
        </p:txBody>
      </p:sp>
      <p:sp>
        <p:nvSpPr>
          <p:cNvPr id="3" name="Title">
            <a:extLst>
              <a:ext uri="{FF2B5EF4-FFF2-40B4-BE49-F238E27FC236}">
                <a16:creationId xmlns:a16="http://schemas.microsoft.com/office/drawing/2014/main" id="{C104109F-EC7B-51DE-7758-6C74B6A53140}"/>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BO" sz="2700">
                <a:solidFill>
                  <a:srgbClr val="1C1813"/>
                </a:solidFill>
                <a:latin typeface="Bahnschrift SemiBold" panose="020B0502040204020203" pitchFamily="34" charset="0"/>
              </a:rPr>
              <a:t>El sulfato no disuelve nada: forma cristales que no caben</a:t>
            </a:r>
          </a:p>
        </p:txBody>
      </p:sp>
      <p:cxnSp>
        <p:nvCxnSpPr>
          <p:cNvPr id="4" name="Conector recto 3">
            <a:extLst>
              <a:ext uri="{FF2B5EF4-FFF2-40B4-BE49-F238E27FC236}">
                <a16:creationId xmlns:a16="http://schemas.microsoft.com/office/drawing/2014/main" id="{8A8E0D98-7319-6B2D-D18B-BB2E5C796150}"/>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11CF88C0-A46C-59E4-6E0C-7F9152E3BB40}"/>
              </a:ext>
            </a:extLst>
          </p:cNvPr>
          <p:cNvSpPr/>
          <p:nvPr/>
        </p:nvSpPr>
        <p:spPr>
          <a:xfrm>
            <a:off x="609600" y="14224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1</a:t>
            </a:r>
          </a:p>
        </p:txBody>
      </p:sp>
      <p:sp>
        <p:nvSpPr>
          <p:cNvPr id="7" name="CuadroTexto 6">
            <a:extLst>
              <a:ext uri="{FF2B5EF4-FFF2-40B4-BE49-F238E27FC236}">
                <a16:creationId xmlns:a16="http://schemas.microsoft.com/office/drawing/2014/main" id="{279E44FF-EF87-FF79-E0C6-E677506C4EE7}"/>
              </a:ext>
            </a:extLst>
          </p:cNvPr>
          <p:cNvSpPr txBox="1"/>
          <p:nvPr/>
        </p:nvSpPr>
        <p:spPr>
          <a:xfrm>
            <a:off x="1143000" y="1435100"/>
            <a:ext cx="5334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Entra disuelto</a:t>
            </a:r>
          </a:p>
        </p:txBody>
      </p:sp>
      <p:sp>
        <p:nvSpPr>
          <p:cNvPr id="8" name="CuadroTexto 7">
            <a:extLst>
              <a:ext uri="{FF2B5EF4-FFF2-40B4-BE49-F238E27FC236}">
                <a16:creationId xmlns:a16="http://schemas.microsoft.com/office/drawing/2014/main" id="{E373B5CD-3B6B-C4E4-5D2C-DD6BD0A67633}"/>
              </a:ext>
            </a:extLst>
          </p:cNvPr>
          <p:cNvSpPr txBox="1"/>
          <p:nvPr/>
        </p:nvSpPr>
        <p:spPr>
          <a:xfrm>
            <a:off x="1143000" y="1689100"/>
            <a:ext cx="6350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sulfato del terreno o del agua freática llega al hormigón disuelto y se difunde por los poros. Hace falta agua: en un terreno seco, un suelo con sulfatos no ataca nada.</a:t>
            </a:r>
            <a:endParaRPr lang="es-BO" sz="1150">
              <a:solidFill>
                <a:srgbClr val="5A5248"/>
              </a:solidFill>
              <a:latin typeface="Segoe UI" panose="020B0502040204020203" pitchFamily="34" charset="0"/>
            </a:endParaRPr>
          </a:p>
        </p:txBody>
      </p:sp>
      <p:sp>
        <p:nvSpPr>
          <p:cNvPr id="9" name="Elipse 8">
            <a:extLst>
              <a:ext uri="{FF2B5EF4-FFF2-40B4-BE49-F238E27FC236}">
                <a16:creationId xmlns:a16="http://schemas.microsoft.com/office/drawing/2014/main" id="{C666738B-B0E6-EE25-D281-A92FB03C6319}"/>
              </a:ext>
            </a:extLst>
          </p:cNvPr>
          <p:cNvSpPr/>
          <p:nvPr/>
        </p:nvSpPr>
        <p:spPr>
          <a:xfrm>
            <a:off x="609600" y="23876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CAB48B28-68B0-40EA-067E-8E4A2C6E3B62}"/>
              </a:ext>
            </a:extLst>
          </p:cNvPr>
          <p:cNvSpPr txBox="1"/>
          <p:nvPr/>
        </p:nvSpPr>
        <p:spPr>
          <a:xfrm>
            <a:off x="1143000" y="2400300"/>
            <a:ext cx="5334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Reacciona con el aluminato</a:t>
            </a:r>
          </a:p>
        </p:txBody>
      </p:sp>
      <p:sp>
        <p:nvSpPr>
          <p:cNvPr id="11" name="CuadroTexto 10">
            <a:extLst>
              <a:ext uri="{FF2B5EF4-FFF2-40B4-BE49-F238E27FC236}">
                <a16:creationId xmlns:a16="http://schemas.microsoft.com/office/drawing/2014/main" id="{FDD3FE6C-CBFC-39C8-B028-725A3703975D}"/>
              </a:ext>
            </a:extLst>
          </p:cNvPr>
          <p:cNvSpPr txBox="1"/>
          <p:nvPr/>
        </p:nvSpPr>
        <p:spPr>
          <a:xfrm>
            <a:off x="1143000" y="2654300"/>
            <a:ext cx="6350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Se combina con el aluminato tricálcico del cemento y forma </a:t>
            </a:r>
            <a:r>
              <a:rPr lang="es-MX" sz="1150" b="1">
                <a:solidFill>
                  <a:srgbClr val="5A5248"/>
                </a:solidFill>
                <a:latin typeface="Segoe UI Semibold" panose="020B0702040204020203" pitchFamily="34" charset="0"/>
              </a:rPr>
              <a:t>etringita secundaria</a:t>
            </a:r>
            <a:r>
              <a:rPr lang="es-MX" sz="1150">
                <a:solidFill>
                  <a:srgbClr val="5A5248"/>
                </a:solidFill>
                <a:latin typeface="Segoe UI" panose="020B0502040204020203" pitchFamily="34" charset="0"/>
              </a:rPr>
              <a:t>, un cristal que ocupa bastante más volumen que los compuestos de los que nace.</a:t>
            </a:r>
            <a:endParaRPr lang="es-BO" sz="1150">
              <a:solidFill>
                <a:srgbClr val="5A5248"/>
              </a:solidFill>
              <a:latin typeface="Segoe UI" panose="020B0502040204020203" pitchFamily="34" charset="0"/>
            </a:endParaRPr>
          </a:p>
        </p:txBody>
      </p:sp>
      <p:sp>
        <p:nvSpPr>
          <p:cNvPr id="12" name="Elipse 11">
            <a:extLst>
              <a:ext uri="{FF2B5EF4-FFF2-40B4-BE49-F238E27FC236}">
                <a16:creationId xmlns:a16="http://schemas.microsoft.com/office/drawing/2014/main" id="{5B3737B2-C511-D873-C4D5-AA8F9D74589E}"/>
              </a:ext>
            </a:extLst>
          </p:cNvPr>
          <p:cNvSpPr/>
          <p:nvPr/>
        </p:nvSpPr>
        <p:spPr>
          <a:xfrm>
            <a:off x="609600" y="33528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3</a:t>
            </a:r>
          </a:p>
        </p:txBody>
      </p:sp>
      <p:sp>
        <p:nvSpPr>
          <p:cNvPr id="13" name="CuadroTexto 12">
            <a:extLst>
              <a:ext uri="{FF2B5EF4-FFF2-40B4-BE49-F238E27FC236}">
                <a16:creationId xmlns:a16="http://schemas.microsoft.com/office/drawing/2014/main" id="{FE3B2BD8-E76E-FA44-707F-7D4CA51CBFEE}"/>
              </a:ext>
            </a:extLst>
          </p:cNvPr>
          <p:cNvSpPr txBox="1"/>
          <p:nvPr/>
        </p:nvSpPr>
        <p:spPr>
          <a:xfrm>
            <a:off x="1143000" y="3365500"/>
            <a:ext cx="5334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Y con el hidróxido de calcio</a:t>
            </a:r>
            <a:endParaRPr lang="es-BO" sz="1350">
              <a:solidFill>
                <a:srgbClr val="1C1813"/>
              </a:solidFill>
              <a:latin typeface="Bahnschrift SemiBold" panose="020B0502040204020203" pitchFamily="34" charset="0"/>
            </a:endParaRPr>
          </a:p>
        </p:txBody>
      </p:sp>
      <p:sp>
        <p:nvSpPr>
          <p:cNvPr id="14" name="CuadroTexto 13">
            <a:extLst>
              <a:ext uri="{FF2B5EF4-FFF2-40B4-BE49-F238E27FC236}">
                <a16:creationId xmlns:a16="http://schemas.microsoft.com/office/drawing/2014/main" id="{0350D205-3613-535D-C7D6-958C21991421}"/>
              </a:ext>
            </a:extLst>
          </p:cNvPr>
          <p:cNvSpPr txBox="1"/>
          <p:nvPr/>
        </p:nvSpPr>
        <p:spPr>
          <a:xfrm>
            <a:off x="1143000" y="3619500"/>
            <a:ext cx="6350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Forma además yeso, que ocupa más que el hidróxido del que procede y, de paso, deja la pasta sin su reserva alcalina.</a:t>
            </a:r>
            <a:endParaRPr lang="es-BO" sz="1150">
              <a:solidFill>
                <a:srgbClr val="5A5248"/>
              </a:solidFill>
              <a:latin typeface="Segoe UI" panose="020B0502040204020203" pitchFamily="34" charset="0"/>
            </a:endParaRPr>
          </a:p>
        </p:txBody>
      </p:sp>
      <p:sp>
        <p:nvSpPr>
          <p:cNvPr id="15" name="Elipse 14">
            <a:extLst>
              <a:ext uri="{FF2B5EF4-FFF2-40B4-BE49-F238E27FC236}">
                <a16:creationId xmlns:a16="http://schemas.microsoft.com/office/drawing/2014/main" id="{D101CA2D-4407-E512-1037-E12A4B1475A7}"/>
              </a:ext>
            </a:extLst>
          </p:cNvPr>
          <p:cNvSpPr/>
          <p:nvPr/>
        </p:nvSpPr>
        <p:spPr>
          <a:xfrm>
            <a:off x="609600" y="43180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4</a:t>
            </a:r>
          </a:p>
        </p:txBody>
      </p:sp>
      <p:sp>
        <p:nvSpPr>
          <p:cNvPr id="16" name="CuadroTexto 15">
            <a:extLst>
              <a:ext uri="{FF2B5EF4-FFF2-40B4-BE49-F238E27FC236}">
                <a16:creationId xmlns:a16="http://schemas.microsoft.com/office/drawing/2014/main" id="{BEE1029A-D7F1-3C73-32F0-EAFF32D31EC6}"/>
              </a:ext>
            </a:extLst>
          </p:cNvPr>
          <p:cNvSpPr txBox="1"/>
          <p:nvPr/>
        </p:nvSpPr>
        <p:spPr>
          <a:xfrm>
            <a:off x="1143000" y="4330700"/>
            <a:ext cx="5334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Rompe desde dentro</a:t>
            </a:r>
          </a:p>
        </p:txBody>
      </p:sp>
      <p:sp>
        <p:nvSpPr>
          <p:cNvPr id="17" name="CuadroTexto 16">
            <a:extLst>
              <a:ext uri="{FF2B5EF4-FFF2-40B4-BE49-F238E27FC236}">
                <a16:creationId xmlns:a16="http://schemas.microsoft.com/office/drawing/2014/main" id="{BCCF5EE5-5296-3F45-A4C4-E379D43FAE6C}"/>
              </a:ext>
            </a:extLst>
          </p:cNvPr>
          <p:cNvSpPr txBox="1"/>
          <p:nvPr/>
        </p:nvSpPr>
        <p:spPr>
          <a:xfrm>
            <a:off x="1143000" y="4584700"/>
            <a:ext cx="6350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La expansión se desarrolla dentro de un material rígido: fisura, disgrega y deja la cara exterior blanda, con aspecto de material que se puede rascar con un punzón.</a:t>
            </a:r>
            <a:endParaRPr lang="es-BO" sz="1150">
              <a:solidFill>
                <a:srgbClr val="5A5248"/>
              </a:solidFill>
              <a:latin typeface="Segoe UI" panose="020B0502040204020203" pitchFamily="34" charset="0"/>
            </a:endParaRPr>
          </a:p>
        </p:txBody>
      </p:sp>
      <p:pic>
        <p:nvPicPr>
          <p:cNvPr id="19" name="Imagen 18" descr="Secuencia microestructural del ataque por sulfatos: difusión, etringita, yeso y fisuración">
            <a:extLst>
              <a:ext uri="{FF2B5EF4-FFF2-40B4-BE49-F238E27FC236}">
                <a16:creationId xmlns:a16="http://schemas.microsoft.com/office/drawing/2014/main" id="{5A0F2C1D-04AB-A349-CD09-33C0A8E78E2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26400" y="1422400"/>
            <a:ext cx="3556000" cy="3759200"/>
          </a:xfrm>
          <a:prstGeom prst="rect">
            <a:avLst/>
          </a:prstGeom>
        </p:spPr>
      </p:pic>
      <p:sp>
        <p:nvSpPr>
          <p:cNvPr id="20" name="Rectángulo 19">
            <a:extLst>
              <a:ext uri="{FF2B5EF4-FFF2-40B4-BE49-F238E27FC236}">
                <a16:creationId xmlns:a16="http://schemas.microsoft.com/office/drawing/2014/main" id="{D56A1845-8324-C6D7-2759-1080D822B721}"/>
              </a:ext>
            </a:extLst>
          </p:cNvPr>
          <p:cNvSpPr/>
          <p:nvPr/>
        </p:nvSpPr>
        <p:spPr>
          <a:xfrm>
            <a:off x="609600" y="5384800"/>
            <a:ext cx="71120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DBD57298-F012-51A6-1C79-F109ABE5420E}"/>
              </a:ext>
            </a:extLst>
          </p:cNvPr>
          <p:cNvSpPr txBox="1"/>
          <p:nvPr/>
        </p:nvSpPr>
        <p:spPr>
          <a:xfrm>
            <a:off x="838200" y="5435600"/>
            <a:ext cx="6705600" cy="5588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El punto 2 es la clave de la prevención: </a:t>
            </a:r>
            <a:r>
              <a:rPr lang="es-MX" sz="1150" b="1">
                <a:solidFill>
                  <a:srgbClr val="FFFFFF"/>
                </a:solidFill>
                <a:latin typeface="Segoe UI Semibold" panose="020B0702040204020203" pitchFamily="34" charset="0"/>
              </a:rPr>
              <a:t>si el cemento tiene poco aluminato, el sulfato tiene poco con qué reaccionar</a:t>
            </a:r>
            <a:r>
              <a:rPr lang="es-MX" sz="1150">
                <a:solidFill>
                  <a:srgbClr val="FFFFFF"/>
                </a:solidFill>
                <a:latin typeface="Segoe UI" panose="020B0502040204020203" pitchFamily="34" charset="0"/>
              </a:rPr>
              <a:t>.</a:t>
            </a:r>
            <a:endParaRPr lang="es-BO" sz="1150">
              <a:solidFill>
                <a:srgbClr val="FFFFFF"/>
              </a:solidFill>
              <a:latin typeface="Segoe UI" panose="020B0502040204020203" pitchFamily="34" charset="0"/>
            </a:endParaRPr>
          </a:p>
        </p:txBody>
      </p:sp>
      <p:sp>
        <p:nvSpPr>
          <p:cNvPr id="23" name="CuadroTexto 22">
            <a:extLst>
              <a:ext uri="{FF2B5EF4-FFF2-40B4-BE49-F238E27FC236}">
                <a16:creationId xmlns:a16="http://schemas.microsoft.com/office/drawing/2014/main" id="{EE9FFE11-E54B-0A2A-23CA-6D7670E4A956}"/>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pt-BR" sz="700">
                <a:solidFill>
                  <a:srgbClr val="938A7C"/>
                </a:solidFill>
                <a:latin typeface="Segoe UI" panose="020B0502040204020203" pitchFamily="34" charset="0"/>
              </a:rPr>
              <a:t>Fuente: ACI 201.2R §2.4; ACI 318-19 §19.3.</a:t>
            </a:r>
            <a:endParaRPr lang="es-BO" sz="700">
              <a:solidFill>
                <a:srgbClr val="938A7C"/>
              </a:solidFill>
              <a:latin typeface="Segoe UI" panose="020B0502040204020203" pitchFamily="34" charset="0"/>
            </a:endParaRPr>
          </a:p>
        </p:txBody>
      </p:sp>
      <p:cxnSp>
        <p:nvCxnSpPr>
          <p:cNvPr id="24" name="Conector recto 23">
            <a:extLst>
              <a:ext uri="{FF2B5EF4-FFF2-40B4-BE49-F238E27FC236}">
                <a16:creationId xmlns:a16="http://schemas.microsoft.com/office/drawing/2014/main" id="{10797B28-70FA-9773-1AB8-10D32B8A0656}"/>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6AA19C15-CB76-BE8F-C351-07D3E1AA964D}"/>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6" name="CuadroTexto 25">
            <a:extLst>
              <a:ext uri="{FF2B5EF4-FFF2-40B4-BE49-F238E27FC236}">
                <a16:creationId xmlns:a16="http://schemas.microsoft.com/office/drawing/2014/main" id="{299490CC-4D12-4E6D-8E7D-64A64317DFA8}"/>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27" name="PageNo">
            <a:extLst>
              <a:ext uri="{FF2B5EF4-FFF2-40B4-BE49-F238E27FC236}">
                <a16:creationId xmlns:a16="http://schemas.microsoft.com/office/drawing/2014/main" id="{D1B7A59A-A50F-DD12-EC8B-D317D9EA1B9C}"/>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11 / 35</a:t>
            </a:r>
          </a:p>
        </p:txBody>
      </p:sp>
    </p:spTree>
    <p:extLst>
      <p:ext uri="{BB962C8B-B14F-4D97-AF65-F5344CB8AC3E}">
        <p14:creationId xmlns:p14="http://schemas.microsoft.com/office/powerpoint/2010/main" val="1199942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0F9DF4B-9C08-1276-83CE-19A1E002FD3B}"/>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2 · LAS CLASES DE EXPOSICIÓN</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C2491CC5-9CCB-7249-48CC-4D3C266B220F}"/>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La tabla que decide el hormigón antes de calcular nada</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FA452815-EEDD-EBA4-31F7-52BF08488B81}"/>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774EC39E-794A-A794-B711-4C74E3EA5F37}"/>
              </a:ext>
            </a:extLst>
          </p:cNvPr>
          <p:cNvGraphicFramePr>
            <a:graphicFrameLocks noGrp="1"/>
          </p:cNvGraphicFramePr>
          <p:nvPr>
            <p:extLst>
              <p:ext uri="{D42A27DB-BD31-4B8C-83A1-F6EECF244321}">
                <p14:modId xmlns:p14="http://schemas.microsoft.com/office/powerpoint/2010/main" val="2960291130"/>
              </p:ext>
            </p:extLst>
          </p:nvPr>
        </p:nvGraphicFramePr>
        <p:xfrm>
          <a:off x="609600" y="1422400"/>
          <a:ext cx="6299200" cy="2946400"/>
        </p:xfrm>
        <a:graphic>
          <a:graphicData uri="http://schemas.openxmlformats.org/drawingml/2006/table">
            <a:tbl>
              <a:tblPr firstRow="1" bandRow="1">
                <a:tableStyleId>{5C22544A-7EE6-4342-B048-85BDC9FD1C3A}</a:tableStyleId>
              </a:tblPr>
              <a:tblGrid>
                <a:gridCol w="584200">
                  <a:extLst>
                    <a:ext uri="{9D8B030D-6E8A-4147-A177-3AD203B41FA5}">
                      <a16:colId xmlns:a16="http://schemas.microsoft.com/office/drawing/2014/main" val="1239646256"/>
                    </a:ext>
                  </a:extLst>
                </a:gridCol>
                <a:gridCol w="1549400">
                  <a:extLst>
                    <a:ext uri="{9D8B030D-6E8A-4147-A177-3AD203B41FA5}">
                      <a16:colId xmlns:a16="http://schemas.microsoft.com/office/drawing/2014/main" val="2963167575"/>
                    </a:ext>
                  </a:extLst>
                </a:gridCol>
                <a:gridCol w="1384300">
                  <a:extLst>
                    <a:ext uri="{9D8B030D-6E8A-4147-A177-3AD203B41FA5}">
                      <a16:colId xmlns:a16="http://schemas.microsoft.com/office/drawing/2014/main" val="502357079"/>
                    </a:ext>
                  </a:extLst>
                </a:gridCol>
                <a:gridCol w="952500">
                  <a:extLst>
                    <a:ext uri="{9D8B030D-6E8A-4147-A177-3AD203B41FA5}">
                      <a16:colId xmlns:a16="http://schemas.microsoft.com/office/drawing/2014/main" val="1814223690"/>
                    </a:ext>
                  </a:extLst>
                </a:gridCol>
                <a:gridCol w="812800">
                  <a:extLst>
                    <a:ext uri="{9D8B030D-6E8A-4147-A177-3AD203B41FA5}">
                      <a16:colId xmlns:a16="http://schemas.microsoft.com/office/drawing/2014/main" val="3067660366"/>
                    </a:ext>
                  </a:extLst>
                </a:gridCol>
                <a:gridCol w="1016000">
                  <a:extLst>
                    <a:ext uri="{9D8B030D-6E8A-4147-A177-3AD203B41FA5}">
                      <a16:colId xmlns:a16="http://schemas.microsoft.com/office/drawing/2014/main" val="3841755002"/>
                    </a:ext>
                  </a:extLst>
                </a:gridCol>
              </a:tblGrid>
              <a:tr h="589280">
                <a:tc>
                  <a:txBody>
                    <a:bodyPr/>
                    <a:lstStyle/>
                    <a:p>
                      <a:pPr algn="ctr"/>
                      <a:r>
                        <a:rPr lang="es-BO" sz="900" b="0">
                          <a:solidFill>
                            <a:srgbClr val="FFFFFF"/>
                          </a:solidFill>
                          <a:latin typeface="Segoe UI Semibold" panose="020B0702040204020203" pitchFamily="34" charset="0"/>
                        </a:rPr>
                        <a:t>Clase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MX" sz="900" b="0">
                          <a:solidFill>
                            <a:srgbClr val="FFFFFF"/>
                          </a:solidFill>
                          <a:latin typeface="Segoe UI Semibold" panose="020B0702040204020203" pitchFamily="34" charset="0"/>
                        </a:rPr>
                        <a:t>SO₄ en suelo  (% en peso)</a:t>
                      </a:r>
                      <a:endParaRPr lang="es-BO" sz="900" b="0">
                        <a:solidFill>
                          <a:srgbClr val="FFFFFF"/>
                        </a:solidFill>
                        <a:latin typeface="Segoe UI Semibold" panose="020B07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SO₄ en agua  (ppm)</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a/c máxima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f′c mínima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Cemento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2096633728"/>
                  </a:ext>
                </a:extLst>
              </a:tr>
              <a:tr h="589280">
                <a:tc>
                  <a:txBody>
                    <a:bodyPr/>
                    <a:lstStyle/>
                    <a:p>
                      <a:pPr algn="ctr"/>
                      <a:r>
                        <a:rPr lang="es-BO" sz="950" b="0">
                          <a:solidFill>
                            <a:srgbClr val="1C1813"/>
                          </a:solidFill>
                          <a:latin typeface="Segoe UI Semibold" panose="020B0702040204020203" pitchFamily="34" charset="0"/>
                        </a:rPr>
                        <a:t>S0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Menos de 0,10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Menos de 150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Sin requisito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17 MPa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Sin requisito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869043716"/>
                  </a:ext>
                </a:extLst>
              </a:tr>
              <a:tr h="589280">
                <a:tc>
                  <a:txBody>
                    <a:bodyPr/>
                    <a:lstStyle/>
                    <a:p>
                      <a:pPr algn="ctr"/>
                      <a:r>
                        <a:rPr lang="es-BO" sz="950" b="0">
                          <a:solidFill>
                            <a:srgbClr val="1C1813"/>
                          </a:solidFill>
                          <a:latin typeface="Segoe UI Semibold" panose="020B0702040204020203" pitchFamily="34" charset="0"/>
                        </a:rPr>
                        <a:t>S1</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0,10  a  0,20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150  a  1 500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0,50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28 MPa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Tipo II  (moderado)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2501173917"/>
                  </a:ext>
                </a:extLst>
              </a:tr>
              <a:tr h="589280">
                <a:tc>
                  <a:txBody>
                    <a:bodyPr/>
                    <a:lstStyle/>
                    <a:p>
                      <a:pPr algn="ctr"/>
                      <a:r>
                        <a:rPr lang="es-BO" sz="950" b="0">
                          <a:solidFill>
                            <a:srgbClr val="1C1813"/>
                          </a:solidFill>
                          <a:latin typeface="Segoe UI Semibold" panose="020B0702040204020203" pitchFamily="34" charset="0"/>
                        </a:rPr>
                        <a:t>S2</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0,20  a  2,00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pt-BR" sz="950" b="0">
                          <a:solidFill>
                            <a:srgbClr val="241F18"/>
                          </a:solidFill>
                          <a:latin typeface="Segoe UI" panose="020B0502040204020203" pitchFamily="34" charset="0"/>
                        </a:rPr>
                        <a:t>1 500  a  10 000</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0,45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31 MPa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Tipo V  (alta resistencia)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043858510"/>
                  </a:ext>
                </a:extLst>
              </a:tr>
              <a:tr h="589280">
                <a:tc>
                  <a:txBody>
                    <a:bodyPr/>
                    <a:lstStyle/>
                    <a:p>
                      <a:pPr algn="ctr"/>
                      <a:r>
                        <a:rPr lang="es-BO" sz="950" b="0">
                          <a:solidFill>
                            <a:srgbClr val="1C1813"/>
                          </a:solidFill>
                          <a:latin typeface="Segoe UI Semibold" panose="020B0702040204020203" pitchFamily="34" charset="0"/>
                        </a:rPr>
                        <a:t>S3</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Más de 2,00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Más de 10 000</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0,45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31 MPa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pt-BR" sz="950" b="0">
                          <a:solidFill>
                            <a:srgbClr val="241F18"/>
                          </a:solidFill>
                          <a:latin typeface="Segoe UI" panose="020B0502040204020203" pitchFamily="34" charset="0"/>
                        </a:rPr>
                        <a:t>Tipo V + puzolana o escoria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88944237"/>
                  </a:ext>
                </a:extLst>
              </a:tr>
            </a:tbl>
          </a:graphicData>
        </a:graphic>
      </p:graphicFrame>
      <p:pic>
        <p:nvPicPr>
          <p:cNvPr id="8" name="Imagen 7" descr="Zapata en terreno con sulfatos, muestra a cota de apoyo y clase de exposición S2">
            <a:extLst>
              <a:ext uri="{FF2B5EF4-FFF2-40B4-BE49-F238E27FC236}">
                <a16:creationId xmlns:a16="http://schemas.microsoft.com/office/drawing/2014/main" id="{E23B9F0B-450D-D799-D0A8-2A1ADF27C3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0" y="1422400"/>
            <a:ext cx="4470400" cy="2946400"/>
          </a:xfrm>
          <a:prstGeom prst="rect">
            <a:avLst/>
          </a:prstGeom>
        </p:spPr>
      </p:pic>
      <p:sp>
        <p:nvSpPr>
          <p:cNvPr id="9" name="Rectángulo 8">
            <a:extLst>
              <a:ext uri="{FF2B5EF4-FFF2-40B4-BE49-F238E27FC236}">
                <a16:creationId xmlns:a16="http://schemas.microsoft.com/office/drawing/2014/main" id="{CF875579-E21B-14D4-7002-ADBB75C2AD87}"/>
              </a:ext>
            </a:extLst>
          </p:cNvPr>
          <p:cNvSpPr/>
          <p:nvPr/>
        </p:nvSpPr>
        <p:spPr>
          <a:xfrm>
            <a:off x="609600" y="45720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48C80014-D7B9-7F23-7781-38158CC7D4CD}"/>
              </a:ext>
            </a:extLst>
          </p:cNvPr>
          <p:cNvSpPr txBox="1"/>
          <p:nvPr/>
        </p:nvSpPr>
        <p:spPr>
          <a:xfrm>
            <a:off x="838200" y="46228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El terreno de la nave Sector 4 dio </a:t>
            </a:r>
            <a:r>
              <a:rPr lang="es-MX" sz="1200" b="1">
                <a:solidFill>
                  <a:srgbClr val="FFFFFF"/>
                </a:solidFill>
                <a:latin typeface="Segoe UI Semibold" panose="020B0702040204020203" pitchFamily="34" charset="0"/>
              </a:rPr>
              <a:t>0.35 % de sulfatos</a:t>
            </a:r>
            <a:r>
              <a:rPr lang="es-MX" sz="1200">
                <a:solidFill>
                  <a:srgbClr val="FFFFFF"/>
                </a:solidFill>
                <a:latin typeface="Segoe UI" panose="020B0502040204020203" pitchFamily="34" charset="0"/>
              </a:rPr>
              <a:t>: clase </a:t>
            </a:r>
            <a:r>
              <a:rPr lang="es-MX" sz="1200" b="1">
                <a:solidFill>
                  <a:srgbClr val="FFFFFF"/>
                </a:solidFill>
                <a:latin typeface="Segoe UI Semibold" panose="020B0702040204020203" pitchFamily="34" charset="0"/>
              </a:rPr>
              <a:t>S2</a:t>
            </a:r>
            <a:r>
              <a:rPr lang="es-MX" sz="1200">
                <a:solidFill>
                  <a:srgbClr val="FFFFFF"/>
                </a:solidFill>
                <a:latin typeface="Segoe UI" panose="020B0502040204020203" pitchFamily="34" charset="0"/>
              </a:rPr>
              <a:t>, que exige 31 MPa y a/c de 0,45. Se ejecutó con 21,0 MPa de proyecto. Se calcula en el caso 5.1.</a:t>
            </a:r>
            <a:endParaRPr lang="es-BO" sz="1200">
              <a:solidFill>
                <a:srgbClr val="FFFFFF"/>
              </a:solidFill>
              <a:latin typeface="Segoe UI" panose="020B0502040204020203" pitchFamily="34" charset="0"/>
            </a:endParaRPr>
          </a:p>
        </p:txBody>
      </p:sp>
      <p:sp>
        <p:nvSpPr>
          <p:cNvPr id="12" name="CuadroTexto 11">
            <a:extLst>
              <a:ext uri="{FF2B5EF4-FFF2-40B4-BE49-F238E27FC236}">
                <a16:creationId xmlns:a16="http://schemas.microsoft.com/office/drawing/2014/main" id="{627FDA84-BBF4-9C7E-238A-969637D3C10D}"/>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318-19, Tabla 19.3.1.1 y Tabla 19.3.2.1.</a:t>
            </a:r>
            <a:endParaRPr lang="es-BO" sz="700">
              <a:solidFill>
                <a:srgbClr val="938A7C"/>
              </a:solidFill>
              <a:latin typeface="Segoe UI" panose="020B0502040204020203" pitchFamily="34" charset="0"/>
            </a:endParaRPr>
          </a:p>
        </p:txBody>
      </p:sp>
      <p:cxnSp>
        <p:nvCxnSpPr>
          <p:cNvPr id="13" name="Conector recto 12">
            <a:extLst>
              <a:ext uri="{FF2B5EF4-FFF2-40B4-BE49-F238E27FC236}">
                <a16:creationId xmlns:a16="http://schemas.microsoft.com/office/drawing/2014/main" id="{3C12EA41-B2DE-0F47-E39C-719C254C75E4}"/>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D8916F05-B4F7-DC4F-2C4C-C78AE01CC9E3}"/>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15" name="CuadroTexto 14">
            <a:extLst>
              <a:ext uri="{FF2B5EF4-FFF2-40B4-BE49-F238E27FC236}">
                <a16:creationId xmlns:a16="http://schemas.microsoft.com/office/drawing/2014/main" id="{92BB7FE6-45AC-2A3D-5203-854CBC98590F}"/>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16" name="PageNo">
            <a:extLst>
              <a:ext uri="{FF2B5EF4-FFF2-40B4-BE49-F238E27FC236}">
                <a16:creationId xmlns:a16="http://schemas.microsoft.com/office/drawing/2014/main" id="{55D9E199-AE10-7468-1EB2-DE56BF9CD43A}"/>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12 / 35</a:t>
            </a:r>
          </a:p>
        </p:txBody>
      </p:sp>
    </p:spTree>
    <p:extLst>
      <p:ext uri="{BB962C8B-B14F-4D97-AF65-F5344CB8AC3E}">
        <p14:creationId xmlns:p14="http://schemas.microsoft.com/office/powerpoint/2010/main" val="1211797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79C6BEF-039D-A2E0-919A-9EE221DF09B0}"/>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2 · EL PAPEL DEL CEMENTO</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95E1E555-D994-751E-F90F-A494FFD58627}"/>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La prevención se decide eligiendo un sobre, no un aditivo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B11EA4CE-CBBB-433E-ADDF-49099F7316C5}"/>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54A8E72B-F166-207D-09FA-67BD6C7F76AD}"/>
              </a:ext>
            </a:extLst>
          </p:cNvPr>
          <p:cNvSpPr/>
          <p:nvPr/>
        </p:nvSpPr>
        <p:spPr>
          <a:xfrm>
            <a:off x="609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 name="CuadroTexto 7">
            <a:extLst>
              <a:ext uri="{FF2B5EF4-FFF2-40B4-BE49-F238E27FC236}">
                <a16:creationId xmlns:a16="http://schemas.microsoft.com/office/drawing/2014/main" id="{1AC0AA1E-A19E-6CB3-65A3-5E970CC10656}"/>
              </a:ext>
            </a:extLst>
          </p:cNvPr>
          <p:cNvSpPr txBox="1"/>
          <p:nvPr/>
        </p:nvSpPr>
        <p:spPr>
          <a:xfrm>
            <a:off x="812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C₃A</a:t>
            </a:r>
          </a:p>
        </p:txBody>
      </p:sp>
      <p:sp>
        <p:nvSpPr>
          <p:cNvPr id="9" name="CuadroTexto 8">
            <a:extLst>
              <a:ext uri="{FF2B5EF4-FFF2-40B4-BE49-F238E27FC236}">
                <a16:creationId xmlns:a16="http://schemas.microsoft.com/office/drawing/2014/main" id="{2FC412A3-9CCA-8697-38C6-4CC343CB12A7}"/>
              </a:ext>
            </a:extLst>
          </p:cNvPr>
          <p:cNvSpPr txBox="1"/>
          <p:nvPr/>
        </p:nvSpPr>
        <p:spPr>
          <a:xfrm>
            <a:off x="812800" y="1981200"/>
            <a:ext cx="2260600" cy="279400"/>
          </a:xfrm>
          <a:prstGeom prst="rect">
            <a:avLst/>
          </a:prstGeom>
          <a:noFill/>
        </p:spPr>
        <p:txBody>
          <a:bodyPr vert="horz" wrap="square" lIns="0" tIns="0" rIns="0" bIns="0" rtlCol="0" anchor="t">
            <a:noAutofit/>
          </a:bodyPr>
          <a:lstStyle/>
          <a:p>
            <a:r>
              <a:rPr lang="es-BO" sz="1500">
                <a:solidFill>
                  <a:srgbClr val="1C1813"/>
                </a:solidFill>
                <a:latin typeface="Bahnschrift SemiBold" panose="020B0502040204020203" pitchFamily="34" charset="0"/>
              </a:rPr>
              <a:t>El compuesto culpable</a:t>
            </a:r>
          </a:p>
        </p:txBody>
      </p:sp>
      <p:sp>
        <p:nvSpPr>
          <p:cNvPr id="10" name="CuadroTexto 9">
            <a:extLst>
              <a:ext uri="{FF2B5EF4-FFF2-40B4-BE49-F238E27FC236}">
                <a16:creationId xmlns:a16="http://schemas.microsoft.com/office/drawing/2014/main" id="{3AD8F656-A2C2-D70F-6CB9-D531F2D80050}"/>
              </a:ext>
            </a:extLst>
          </p:cNvPr>
          <p:cNvSpPr txBox="1"/>
          <p:nvPr/>
        </p:nvSpPr>
        <p:spPr>
          <a:xfrm>
            <a:off x="812800" y="22860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El aluminato tricálcico es con lo que reacciona el sulfato. Los cementos resistentes a sulfatos lo limitan: por debajo del 5 % para alta resistencia.</a:t>
            </a:r>
            <a:endParaRPr lang="es-BO" sz="1100">
              <a:solidFill>
                <a:srgbClr val="5A5248"/>
              </a:solidFill>
              <a:latin typeface="Segoe UI" panose="020B0502040204020203" pitchFamily="34" charset="0"/>
            </a:endParaRPr>
          </a:p>
        </p:txBody>
      </p:sp>
      <p:sp>
        <p:nvSpPr>
          <p:cNvPr id="11" name="Rectángulo 10">
            <a:extLst>
              <a:ext uri="{FF2B5EF4-FFF2-40B4-BE49-F238E27FC236}">
                <a16:creationId xmlns:a16="http://schemas.microsoft.com/office/drawing/2014/main" id="{EFCDC81B-4351-36B8-A31F-5F6586D0BB51}"/>
              </a:ext>
            </a:extLst>
          </p:cNvPr>
          <p:cNvSpPr/>
          <p:nvPr/>
        </p:nvSpPr>
        <p:spPr>
          <a:xfrm>
            <a:off x="3403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3B206724-D38C-9945-875B-FEF89C1597B0}"/>
              </a:ext>
            </a:extLst>
          </p:cNvPr>
          <p:cNvSpPr txBox="1"/>
          <p:nvPr/>
        </p:nvSpPr>
        <p:spPr>
          <a:xfrm>
            <a:off x="3606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IP</a:t>
            </a:r>
          </a:p>
        </p:txBody>
      </p:sp>
      <p:sp>
        <p:nvSpPr>
          <p:cNvPr id="14" name="CuadroTexto 13">
            <a:extLst>
              <a:ext uri="{FF2B5EF4-FFF2-40B4-BE49-F238E27FC236}">
                <a16:creationId xmlns:a16="http://schemas.microsoft.com/office/drawing/2014/main" id="{5ED26FAA-E262-9D0F-4F49-27639A039C91}"/>
              </a:ext>
            </a:extLst>
          </p:cNvPr>
          <p:cNvSpPr txBox="1"/>
          <p:nvPr/>
        </p:nvSpPr>
        <p:spPr>
          <a:xfrm>
            <a:off x="3606800" y="1981200"/>
            <a:ext cx="2260600" cy="279400"/>
          </a:xfrm>
          <a:prstGeom prst="rect">
            <a:avLst/>
          </a:prstGeom>
          <a:noFill/>
        </p:spPr>
        <p:txBody>
          <a:bodyPr vert="horz" wrap="square" lIns="0" tIns="0" rIns="0" bIns="0" rtlCol="0" anchor="t">
            <a:noAutofit/>
          </a:bodyPr>
          <a:lstStyle/>
          <a:p>
            <a:r>
              <a:rPr lang="es-BO" sz="1500">
                <a:solidFill>
                  <a:srgbClr val="1C1813"/>
                </a:solidFill>
                <a:latin typeface="Bahnschrift SemiBold" panose="020B0502040204020203" pitchFamily="34" charset="0"/>
              </a:rPr>
              <a:t>Puzolanas y escoria</a:t>
            </a:r>
          </a:p>
        </p:txBody>
      </p:sp>
      <p:sp>
        <p:nvSpPr>
          <p:cNvPr id="15" name="CuadroTexto 14">
            <a:extLst>
              <a:ext uri="{FF2B5EF4-FFF2-40B4-BE49-F238E27FC236}">
                <a16:creationId xmlns:a16="http://schemas.microsoft.com/office/drawing/2014/main" id="{2155962F-C2F8-B525-CC85-29B3E7267990}"/>
              </a:ext>
            </a:extLst>
          </p:cNvPr>
          <p:cNvSpPr txBox="1"/>
          <p:nvPr/>
        </p:nvSpPr>
        <p:spPr>
          <a:xfrm>
            <a:off x="3606800" y="22860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Consumen el hidróxido de calcio sobrante y densifican la pasta. Bajan la permeabilidad y quitan al sulfato parte de su materia prima.</a:t>
            </a:r>
            <a:endParaRPr lang="es-BO" sz="110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429EDE82-506D-0924-A0AF-BBF2010A8471}"/>
              </a:ext>
            </a:extLst>
          </p:cNvPr>
          <p:cNvSpPr/>
          <p:nvPr/>
        </p:nvSpPr>
        <p:spPr>
          <a:xfrm>
            <a:off x="6197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86D470F2-5B47-76E8-0436-D0DB8B44358F}"/>
              </a:ext>
            </a:extLst>
          </p:cNvPr>
          <p:cNvSpPr txBox="1"/>
          <p:nvPr/>
        </p:nvSpPr>
        <p:spPr>
          <a:xfrm>
            <a:off x="6400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a/c</a:t>
            </a:r>
          </a:p>
        </p:txBody>
      </p:sp>
      <p:sp>
        <p:nvSpPr>
          <p:cNvPr id="19" name="CuadroTexto 18">
            <a:extLst>
              <a:ext uri="{FF2B5EF4-FFF2-40B4-BE49-F238E27FC236}">
                <a16:creationId xmlns:a16="http://schemas.microsoft.com/office/drawing/2014/main" id="{CEC2A8F3-844E-6D27-22F3-1D1122BB3410}"/>
              </a:ext>
            </a:extLst>
          </p:cNvPr>
          <p:cNvSpPr txBox="1"/>
          <p:nvPr/>
        </p:nvSpPr>
        <p:spPr>
          <a:xfrm>
            <a:off x="6400800" y="1981200"/>
            <a:ext cx="2260600" cy="279400"/>
          </a:xfrm>
          <a:prstGeom prst="rect">
            <a:avLst/>
          </a:prstGeom>
          <a:noFill/>
        </p:spPr>
        <p:txBody>
          <a:bodyPr vert="horz" wrap="square" lIns="0" tIns="0" rIns="0" bIns="0" rtlCol="0" anchor="t">
            <a:noAutofit/>
          </a:bodyPr>
          <a:lstStyle/>
          <a:p>
            <a:r>
              <a:rPr lang="es-BO" sz="1500">
                <a:solidFill>
                  <a:srgbClr val="1C1813"/>
                </a:solidFill>
                <a:latin typeface="Bahnschrift SemiBold" panose="020B0502040204020203" pitchFamily="34" charset="0"/>
              </a:rPr>
              <a:t>La barrera física</a:t>
            </a:r>
          </a:p>
        </p:txBody>
      </p:sp>
      <p:sp>
        <p:nvSpPr>
          <p:cNvPr id="20" name="CuadroTexto 19">
            <a:extLst>
              <a:ext uri="{FF2B5EF4-FFF2-40B4-BE49-F238E27FC236}">
                <a16:creationId xmlns:a16="http://schemas.microsoft.com/office/drawing/2014/main" id="{2B5B5508-A55E-5651-1303-E9E1AF154DF2}"/>
              </a:ext>
            </a:extLst>
          </p:cNvPr>
          <p:cNvSpPr txBox="1"/>
          <p:nvPr/>
        </p:nvSpPr>
        <p:spPr>
          <a:xfrm>
            <a:off x="6400800" y="22860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Un hormigón de a/c 0,45 deja entrar mucho menos sulfato que uno de 0,60, con el mismo cemento. Es la misma lección de la clase 1.</a:t>
            </a:r>
            <a:endParaRPr lang="es-BO" sz="1100">
              <a:solidFill>
                <a:srgbClr val="5A5248"/>
              </a:solidFill>
              <a:latin typeface="Segoe UI" panose="020B0502040204020203" pitchFamily="34" charset="0"/>
            </a:endParaRPr>
          </a:p>
        </p:txBody>
      </p:sp>
      <p:sp>
        <p:nvSpPr>
          <p:cNvPr id="21" name="Rectángulo 20">
            <a:extLst>
              <a:ext uri="{FF2B5EF4-FFF2-40B4-BE49-F238E27FC236}">
                <a16:creationId xmlns:a16="http://schemas.microsoft.com/office/drawing/2014/main" id="{44EB4223-43F0-FD9C-8D61-740BAE766D12}"/>
              </a:ext>
            </a:extLst>
          </p:cNvPr>
          <p:cNvSpPr/>
          <p:nvPr/>
        </p:nvSpPr>
        <p:spPr>
          <a:xfrm>
            <a:off x="8991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998BFE59-FD90-4FBD-1E31-DD68C299D602}"/>
              </a:ext>
            </a:extLst>
          </p:cNvPr>
          <p:cNvSpPr txBox="1"/>
          <p:nvPr/>
        </p:nvSpPr>
        <p:spPr>
          <a:xfrm>
            <a:off x="9194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a:t>
            </a:r>
          </a:p>
        </p:txBody>
      </p:sp>
      <p:sp>
        <p:nvSpPr>
          <p:cNvPr id="24" name="CuadroTexto 23">
            <a:extLst>
              <a:ext uri="{FF2B5EF4-FFF2-40B4-BE49-F238E27FC236}">
                <a16:creationId xmlns:a16="http://schemas.microsoft.com/office/drawing/2014/main" id="{EBB192D1-D882-64C8-9818-555C89CFB359}"/>
              </a:ext>
            </a:extLst>
          </p:cNvPr>
          <p:cNvSpPr txBox="1"/>
          <p:nvPr/>
        </p:nvSpPr>
        <p:spPr>
          <a:xfrm>
            <a:off x="9194800" y="1981200"/>
            <a:ext cx="2260600" cy="279400"/>
          </a:xfrm>
          <a:prstGeom prst="rect">
            <a:avLst/>
          </a:prstGeom>
          <a:noFill/>
        </p:spPr>
        <p:txBody>
          <a:bodyPr vert="horz" wrap="square" lIns="0" tIns="0" rIns="0" bIns="0" rtlCol="0" anchor="t">
            <a:noAutofit/>
          </a:bodyPr>
          <a:lstStyle/>
          <a:p>
            <a:r>
              <a:rPr lang="es-BO" sz="1500">
                <a:solidFill>
                  <a:srgbClr val="1C1813"/>
                </a:solidFill>
                <a:latin typeface="Bahnschrift SemiBold" panose="020B0502040204020203" pitchFamily="34" charset="0"/>
              </a:rPr>
              <a:t>Lo que no sirve</a:t>
            </a:r>
          </a:p>
        </p:txBody>
      </p:sp>
      <p:sp>
        <p:nvSpPr>
          <p:cNvPr id="25" name="CuadroTexto 24">
            <a:extLst>
              <a:ext uri="{FF2B5EF4-FFF2-40B4-BE49-F238E27FC236}">
                <a16:creationId xmlns:a16="http://schemas.microsoft.com/office/drawing/2014/main" id="{D70C0B27-4873-179A-E150-C6041039E280}"/>
              </a:ext>
            </a:extLst>
          </p:cNvPr>
          <p:cNvSpPr txBox="1"/>
          <p:nvPr/>
        </p:nvSpPr>
        <p:spPr>
          <a:xfrm>
            <a:off x="9194800" y="22860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Ningún aditivo añadido después, ninguna pintura sobre hormigón húmedo y ningún mortero de reparación convierten en resistente a sulfatos lo que no lo era.</a:t>
            </a:r>
            <a:endParaRPr lang="es-BO" sz="1100">
              <a:solidFill>
                <a:srgbClr val="5A5248"/>
              </a:solidFill>
              <a:latin typeface="Segoe UI" panose="020B0502040204020203" pitchFamily="34" charset="0"/>
            </a:endParaRPr>
          </a:p>
        </p:txBody>
      </p:sp>
      <p:pic>
        <p:nvPicPr>
          <p:cNvPr id="27" name="Imagen 26" descr="Contenido de C3A por tipo de cemento, efecto de la puzolana, penetración según a/c y pintura ampollada">
            <a:extLst>
              <a:ext uri="{FF2B5EF4-FFF2-40B4-BE49-F238E27FC236}">
                <a16:creationId xmlns:a16="http://schemas.microsoft.com/office/drawing/2014/main" id="{325C4ABE-0B18-6BD2-DD6C-F706FA41C72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318000"/>
            <a:ext cx="10972800" cy="1320800"/>
          </a:xfrm>
          <a:prstGeom prst="rect">
            <a:avLst/>
          </a:prstGeom>
        </p:spPr>
      </p:pic>
      <p:sp>
        <p:nvSpPr>
          <p:cNvPr id="28" name="Rectángulo 27">
            <a:extLst>
              <a:ext uri="{FF2B5EF4-FFF2-40B4-BE49-F238E27FC236}">
                <a16:creationId xmlns:a16="http://schemas.microsoft.com/office/drawing/2014/main" id="{ECE2B036-E495-1EA1-D6B6-7F409078F2A7}"/>
              </a:ext>
            </a:extLst>
          </p:cNvPr>
          <p:cNvSpPr/>
          <p:nvPr/>
        </p:nvSpPr>
        <p:spPr>
          <a:xfrm>
            <a:off x="609600" y="5765800"/>
            <a:ext cx="10972800" cy="406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F9313C08-1E93-E7F7-D068-0C3543EC2BEE}"/>
              </a:ext>
            </a:extLst>
          </p:cNvPr>
          <p:cNvSpPr txBox="1"/>
          <p:nvPr/>
        </p:nvSpPr>
        <p:spPr>
          <a:xfrm>
            <a:off x="838200" y="5816600"/>
            <a:ext cx="10566400" cy="304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Las tres primeras tarjetas se deciden en el proyecto y cuestan muy poco. </a:t>
            </a:r>
            <a:r>
              <a:rPr lang="es-MX" sz="1200" b="1">
                <a:solidFill>
                  <a:srgbClr val="FFFFFF"/>
                </a:solidFill>
                <a:latin typeface="Segoe UI Semibold" panose="020B0702040204020203" pitchFamily="34" charset="0"/>
              </a:rPr>
              <a:t>La cuarta es la que explica por qué este curso insiste tanto en la prevención</a:t>
            </a:r>
            <a:r>
              <a:rPr lang="es-MX" sz="1200">
                <a:solidFill>
                  <a:srgbClr val="FFFFFF"/>
                </a:solidFill>
                <a:latin typeface="Segoe UI" panose="020B0502040204020203" pitchFamily="34" charset="0"/>
              </a:rPr>
              <a:t>: después solo quedan medidas caras e indirectas.</a:t>
            </a:r>
            <a:endParaRPr lang="es-BO" sz="1200">
              <a:solidFill>
                <a:srgbClr val="FFFFFF"/>
              </a:solidFill>
              <a:latin typeface="Segoe UI" panose="020B0502040204020203" pitchFamily="34" charset="0"/>
            </a:endParaRPr>
          </a:p>
        </p:txBody>
      </p:sp>
      <p:sp>
        <p:nvSpPr>
          <p:cNvPr id="31" name="CuadroTexto 30">
            <a:extLst>
              <a:ext uri="{FF2B5EF4-FFF2-40B4-BE49-F238E27FC236}">
                <a16:creationId xmlns:a16="http://schemas.microsoft.com/office/drawing/2014/main" id="{75126417-2F71-5596-CD3C-D14286CD080B}"/>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201.2R; NB 011 y la serie de cementos de IBNORCA.</a:t>
            </a:r>
            <a:endParaRPr lang="es-BO" sz="700">
              <a:solidFill>
                <a:srgbClr val="938A7C"/>
              </a:solidFill>
              <a:latin typeface="Segoe UI" panose="020B0502040204020203" pitchFamily="34" charset="0"/>
            </a:endParaRPr>
          </a:p>
        </p:txBody>
      </p:sp>
      <p:cxnSp>
        <p:nvCxnSpPr>
          <p:cNvPr id="32" name="Conector recto 31">
            <a:extLst>
              <a:ext uri="{FF2B5EF4-FFF2-40B4-BE49-F238E27FC236}">
                <a16:creationId xmlns:a16="http://schemas.microsoft.com/office/drawing/2014/main" id="{7A76BB56-64E9-4B49-A397-EBDC89ADEBE6}"/>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6B0A35D8-02DA-C716-1E7F-B154BEB8F9E6}"/>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4" name="CuadroTexto 33">
            <a:extLst>
              <a:ext uri="{FF2B5EF4-FFF2-40B4-BE49-F238E27FC236}">
                <a16:creationId xmlns:a16="http://schemas.microsoft.com/office/drawing/2014/main" id="{D75DB381-AB55-172B-D50F-B771B1D0F28D}"/>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35" name="PageNo">
            <a:extLst>
              <a:ext uri="{FF2B5EF4-FFF2-40B4-BE49-F238E27FC236}">
                <a16:creationId xmlns:a16="http://schemas.microsoft.com/office/drawing/2014/main" id="{F8CE56A3-2086-5011-9E39-C987C2E46853}"/>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13 / 35</a:t>
            </a:r>
          </a:p>
        </p:txBody>
      </p:sp>
    </p:spTree>
    <p:extLst>
      <p:ext uri="{BB962C8B-B14F-4D97-AF65-F5344CB8AC3E}">
        <p14:creationId xmlns:p14="http://schemas.microsoft.com/office/powerpoint/2010/main" val="4244983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FA2FB50-3B00-6929-79AC-B501627E5607}"/>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2 · DÓNDE PASA ESTO EN BOLIVIA</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1CB92E12-3E82-5349-ACA3-1807001381C9}"/>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Suelos y aguas que ya se sabe que traen sulfatos</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C7A9E65C-CB1B-831D-6F08-ED2814D4D665}"/>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8C0B486D-1276-6468-B607-B630E27B9FC2}"/>
              </a:ext>
            </a:extLst>
          </p:cNvPr>
          <p:cNvSpPr/>
          <p:nvPr/>
        </p:nvSpPr>
        <p:spPr>
          <a:xfrm>
            <a:off x="609600" y="14224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1</a:t>
            </a:r>
          </a:p>
        </p:txBody>
      </p:sp>
      <p:sp>
        <p:nvSpPr>
          <p:cNvPr id="7" name="CuadroTexto 6">
            <a:extLst>
              <a:ext uri="{FF2B5EF4-FFF2-40B4-BE49-F238E27FC236}">
                <a16:creationId xmlns:a16="http://schemas.microsoft.com/office/drawing/2014/main" id="{418099A1-1045-07AE-E973-BD36AA3E5487}"/>
              </a:ext>
            </a:extLst>
          </p:cNvPr>
          <p:cNvSpPr txBox="1"/>
          <p:nvPr/>
        </p:nvSpPr>
        <p:spPr>
          <a:xfrm>
            <a:off x="1143000" y="1435100"/>
            <a:ext cx="5588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Suelos del altiplano con yeso</a:t>
            </a:r>
            <a:endParaRPr lang="es-BO" sz="1350">
              <a:solidFill>
                <a:srgbClr val="1C1813"/>
              </a:solidFill>
              <a:latin typeface="Bahnschrift SemiBold" panose="020B0502040204020203" pitchFamily="34" charset="0"/>
            </a:endParaRPr>
          </a:p>
        </p:txBody>
      </p:sp>
      <p:sp>
        <p:nvSpPr>
          <p:cNvPr id="8" name="CuadroTexto 7">
            <a:extLst>
              <a:ext uri="{FF2B5EF4-FFF2-40B4-BE49-F238E27FC236}">
                <a16:creationId xmlns:a16="http://schemas.microsoft.com/office/drawing/2014/main" id="{EDDD3819-E249-85F2-22F5-69054453A7D5}"/>
              </a:ext>
            </a:extLst>
          </p:cNvPr>
          <p:cNvSpPr txBox="1"/>
          <p:nvPr/>
        </p:nvSpPr>
        <p:spPr>
          <a:xfrm>
            <a:off x="1143000" y="16891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Formaciones evaporíticas con sulfato de calcio. El agua de lluvia lo disuelve y lo pone en circulación justo a la cota de las zapatas.</a:t>
            </a:r>
            <a:endParaRPr lang="es-BO" sz="1150">
              <a:solidFill>
                <a:srgbClr val="5A5248"/>
              </a:solidFill>
              <a:latin typeface="Segoe UI" panose="020B0502040204020203" pitchFamily="34" charset="0"/>
            </a:endParaRPr>
          </a:p>
        </p:txBody>
      </p:sp>
      <p:sp>
        <p:nvSpPr>
          <p:cNvPr id="9" name="Elipse 8">
            <a:extLst>
              <a:ext uri="{FF2B5EF4-FFF2-40B4-BE49-F238E27FC236}">
                <a16:creationId xmlns:a16="http://schemas.microsoft.com/office/drawing/2014/main" id="{9C609957-0191-0AE2-5D73-53B42B115AC5}"/>
              </a:ext>
            </a:extLst>
          </p:cNvPr>
          <p:cNvSpPr/>
          <p:nvPr/>
        </p:nvSpPr>
        <p:spPr>
          <a:xfrm>
            <a:off x="609600" y="23876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03045075-A562-9206-F963-FAACDD3E3A0D}"/>
              </a:ext>
            </a:extLst>
          </p:cNvPr>
          <p:cNvSpPr txBox="1"/>
          <p:nvPr/>
        </p:nvSpPr>
        <p:spPr>
          <a:xfrm>
            <a:off x="1143000" y="2400300"/>
            <a:ext cx="5588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Zonas con nivel freático alto</a:t>
            </a:r>
            <a:endParaRPr lang="es-BO" sz="1350">
              <a:solidFill>
                <a:srgbClr val="1C1813"/>
              </a:solidFill>
              <a:latin typeface="Bahnschrift SemiBold" panose="020B0502040204020203" pitchFamily="34" charset="0"/>
            </a:endParaRPr>
          </a:p>
        </p:txBody>
      </p:sp>
      <p:sp>
        <p:nvSpPr>
          <p:cNvPr id="11" name="CuadroTexto 10">
            <a:extLst>
              <a:ext uri="{FF2B5EF4-FFF2-40B4-BE49-F238E27FC236}">
                <a16:creationId xmlns:a16="http://schemas.microsoft.com/office/drawing/2014/main" id="{FCA276D6-AB52-C885-F86A-2F11B557E388}"/>
              </a:ext>
            </a:extLst>
          </p:cNvPr>
          <p:cNvSpPr txBox="1"/>
          <p:nvPr/>
        </p:nvSpPr>
        <p:spPr>
          <a:xfrm>
            <a:off x="1143000" y="26543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agua que sube y baja renueva el sulfato en contacto con el hormigón. Es la condición que más acelera el ataque.</a:t>
            </a:r>
            <a:endParaRPr lang="es-BO" sz="1150">
              <a:solidFill>
                <a:srgbClr val="5A5248"/>
              </a:solidFill>
              <a:latin typeface="Segoe UI" panose="020B0502040204020203" pitchFamily="34" charset="0"/>
            </a:endParaRPr>
          </a:p>
        </p:txBody>
      </p:sp>
      <p:sp>
        <p:nvSpPr>
          <p:cNvPr id="12" name="Elipse 11">
            <a:extLst>
              <a:ext uri="{FF2B5EF4-FFF2-40B4-BE49-F238E27FC236}">
                <a16:creationId xmlns:a16="http://schemas.microsoft.com/office/drawing/2014/main" id="{36F0D865-BF85-BEBE-38D3-8A915E373778}"/>
              </a:ext>
            </a:extLst>
          </p:cNvPr>
          <p:cNvSpPr/>
          <p:nvPr/>
        </p:nvSpPr>
        <p:spPr>
          <a:xfrm>
            <a:off x="609600" y="33528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3</a:t>
            </a:r>
          </a:p>
        </p:txBody>
      </p:sp>
      <p:sp>
        <p:nvSpPr>
          <p:cNvPr id="13" name="CuadroTexto 12">
            <a:extLst>
              <a:ext uri="{FF2B5EF4-FFF2-40B4-BE49-F238E27FC236}">
                <a16:creationId xmlns:a16="http://schemas.microsoft.com/office/drawing/2014/main" id="{557ECE97-4E5A-4F80-4711-84BEB82B4CF4}"/>
              </a:ext>
            </a:extLst>
          </p:cNvPr>
          <p:cNvSpPr txBox="1"/>
          <p:nvPr/>
        </p:nvSpPr>
        <p:spPr>
          <a:xfrm>
            <a:off x="1143000" y="33655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Rellenos con escombro o ceniza</a:t>
            </a:r>
          </a:p>
        </p:txBody>
      </p:sp>
      <p:sp>
        <p:nvSpPr>
          <p:cNvPr id="14" name="CuadroTexto 13">
            <a:extLst>
              <a:ext uri="{FF2B5EF4-FFF2-40B4-BE49-F238E27FC236}">
                <a16:creationId xmlns:a16="http://schemas.microsoft.com/office/drawing/2014/main" id="{13B00913-87B5-24B7-480B-275373DFC229}"/>
              </a:ext>
            </a:extLst>
          </p:cNvPr>
          <p:cNvSpPr txBox="1"/>
          <p:nvPr/>
        </p:nvSpPr>
        <p:spPr>
          <a:xfrm>
            <a:off x="1143000" y="36195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Un relleno de obra mal controlado puede tener más sulfatos que el terreno natural, y nadie lo ensaya porque «es relleno».</a:t>
            </a:r>
            <a:endParaRPr lang="es-BO" sz="1150">
              <a:solidFill>
                <a:srgbClr val="5A5248"/>
              </a:solidFill>
              <a:latin typeface="Segoe UI" panose="020B0502040204020203" pitchFamily="34" charset="0"/>
            </a:endParaRPr>
          </a:p>
        </p:txBody>
      </p:sp>
      <p:sp>
        <p:nvSpPr>
          <p:cNvPr id="15" name="Elipse 14">
            <a:extLst>
              <a:ext uri="{FF2B5EF4-FFF2-40B4-BE49-F238E27FC236}">
                <a16:creationId xmlns:a16="http://schemas.microsoft.com/office/drawing/2014/main" id="{8FC7D59B-2610-7670-56FB-2AFA5B54E6AD}"/>
              </a:ext>
            </a:extLst>
          </p:cNvPr>
          <p:cNvSpPr/>
          <p:nvPr/>
        </p:nvSpPr>
        <p:spPr>
          <a:xfrm>
            <a:off x="609600" y="43180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4</a:t>
            </a:r>
          </a:p>
        </p:txBody>
      </p:sp>
      <p:sp>
        <p:nvSpPr>
          <p:cNvPr id="16" name="CuadroTexto 15">
            <a:extLst>
              <a:ext uri="{FF2B5EF4-FFF2-40B4-BE49-F238E27FC236}">
                <a16:creationId xmlns:a16="http://schemas.microsoft.com/office/drawing/2014/main" id="{B48E6F3F-5B65-7104-6C08-D83588B95A00}"/>
              </a:ext>
            </a:extLst>
          </p:cNvPr>
          <p:cNvSpPr txBox="1"/>
          <p:nvPr/>
        </p:nvSpPr>
        <p:spPr>
          <a:xfrm>
            <a:off x="1143000" y="4330700"/>
            <a:ext cx="5588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Efluentes industriales infiltrados</a:t>
            </a:r>
          </a:p>
        </p:txBody>
      </p:sp>
      <p:sp>
        <p:nvSpPr>
          <p:cNvPr id="17" name="CuadroTexto 16">
            <a:extLst>
              <a:ext uri="{FF2B5EF4-FFF2-40B4-BE49-F238E27FC236}">
                <a16:creationId xmlns:a16="http://schemas.microsoft.com/office/drawing/2014/main" id="{FEA4DD85-0820-01E2-5A94-26552D1FDD33}"/>
              </a:ext>
            </a:extLst>
          </p:cNvPr>
          <p:cNvSpPr txBox="1"/>
          <p:nvPr/>
        </p:nvSpPr>
        <p:spPr>
          <a:xfrm>
            <a:off x="1143000" y="4584700"/>
            <a:ext cx="6604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Vertidos sin control que llegan a la cimentación por el propio terreno. Es el caso de la zona de lavado de la nave.</a:t>
            </a:r>
            <a:endParaRPr lang="es-BO" sz="1150">
              <a:solidFill>
                <a:srgbClr val="5A5248"/>
              </a:solidFill>
              <a:latin typeface="Segoe UI" panose="020B0502040204020203" pitchFamily="34" charset="0"/>
            </a:endParaRPr>
          </a:p>
        </p:txBody>
      </p:sp>
      <p:pic>
        <p:nvPicPr>
          <p:cNvPr id="19" name="Imagen 18" descr="Perfil de suelo con yeso, nivel freático variable, relleno con escombro y vertido industrial">
            <a:extLst>
              <a:ext uri="{FF2B5EF4-FFF2-40B4-BE49-F238E27FC236}">
                <a16:creationId xmlns:a16="http://schemas.microsoft.com/office/drawing/2014/main" id="{1A763F36-FA76-B36E-D37D-6E918B98D2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26400" y="1422400"/>
            <a:ext cx="3556000" cy="3759200"/>
          </a:xfrm>
          <a:prstGeom prst="rect">
            <a:avLst/>
          </a:prstGeom>
        </p:spPr>
      </p:pic>
      <p:sp>
        <p:nvSpPr>
          <p:cNvPr id="20" name="Rectángulo 19">
            <a:extLst>
              <a:ext uri="{FF2B5EF4-FFF2-40B4-BE49-F238E27FC236}">
                <a16:creationId xmlns:a16="http://schemas.microsoft.com/office/drawing/2014/main" id="{E7C9A828-5498-FDF7-6D04-B68279DCF5D1}"/>
              </a:ext>
            </a:extLst>
          </p:cNvPr>
          <p:cNvSpPr/>
          <p:nvPr/>
        </p:nvSpPr>
        <p:spPr>
          <a:xfrm>
            <a:off x="609600" y="5384800"/>
            <a:ext cx="71120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9F1A32AD-CB50-A2CD-F1A3-C82A77E116D0}"/>
              </a:ext>
            </a:extLst>
          </p:cNvPr>
          <p:cNvSpPr txBox="1"/>
          <p:nvPr/>
        </p:nvSpPr>
        <p:spPr>
          <a:xfrm>
            <a:off x="838200" y="5435600"/>
            <a:ext cx="6705600" cy="5588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El ensayo de sulfatos del terreno cuesta menos que un metro cúbico de hormigón. </a:t>
            </a:r>
            <a:r>
              <a:rPr lang="es-MX" sz="1150" b="1">
                <a:solidFill>
                  <a:srgbClr val="FFFFFF"/>
                </a:solidFill>
                <a:latin typeface="Segoe UI Semibold" panose="020B0702040204020203" pitchFamily="34" charset="0"/>
              </a:rPr>
              <a:t>No pedirlo es la decisión peor pagada de todo el proyecto.</a:t>
            </a:r>
            <a:endParaRPr lang="es-BO" sz="1150" b="1">
              <a:solidFill>
                <a:srgbClr val="FFFFFF"/>
              </a:solidFill>
              <a:latin typeface="Segoe UI Semibold" panose="020B0702040204020203" pitchFamily="34" charset="0"/>
            </a:endParaRPr>
          </a:p>
        </p:txBody>
      </p:sp>
      <p:cxnSp>
        <p:nvCxnSpPr>
          <p:cNvPr id="23" name="Conector recto 22">
            <a:extLst>
              <a:ext uri="{FF2B5EF4-FFF2-40B4-BE49-F238E27FC236}">
                <a16:creationId xmlns:a16="http://schemas.microsoft.com/office/drawing/2014/main" id="{36B35A42-A478-72B2-CEF3-0542C360F445}"/>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A50E4009-015D-A8E7-9FA9-8B36BB54063F}"/>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5" name="CuadroTexto 24">
            <a:extLst>
              <a:ext uri="{FF2B5EF4-FFF2-40B4-BE49-F238E27FC236}">
                <a16:creationId xmlns:a16="http://schemas.microsoft.com/office/drawing/2014/main" id="{55E8B2EC-04E9-6146-F1ED-273FC688093B}"/>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26" name="PageNo">
            <a:extLst>
              <a:ext uri="{FF2B5EF4-FFF2-40B4-BE49-F238E27FC236}">
                <a16:creationId xmlns:a16="http://schemas.microsoft.com/office/drawing/2014/main" id="{02A80802-56D8-B5D5-89CE-B8E2519310CA}"/>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14 / 35</a:t>
            </a:r>
          </a:p>
        </p:txBody>
      </p:sp>
    </p:spTree>
    <p:extLst>
      <p:ext uri="{BB962C8B-B14F-4D97-AF65-F5344CB8AC3E}">
        <p14:creationId xmlns:p14="http://schemas.microsoft.com/office/powerpoint/2010/main" val="2081356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24BD5D4-52F6-FD97-1ED7-2C5B8774F6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4E946619-5732-5B55-A62E-4AC7F4F2B41E}"/>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6A9188ED-FD7F-7C02-6FC6-6684AA17E7CE}"/>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DB5BDAA6-AA37-83F8-515D-8D1CC0039FAA}"/>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PARTE 3</a:t>
            </a:r>
          </a:p>
        </p:txBody>
      </p:sp>
      <p:sp>
        <p:nvSpPr>
          <p:cNvPr id="7" name="Title">
            <a:extLst>
              <a:ext uri="{FF2B5EF4-FFF2-40B4-BE49-F238E27FC236}">
                <a16:creationId xmlns:a16="http://schemas.microsoft.com/office/drawing/2014/main" id="{5F62D1DA-CC83-F1A6-FF85-4D12DDE58F19}"/>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MX" sz="3800">
                <a:solidFill>
                  <a:srgbClr val="FFFFFF"/>
                </a:solidFill>
                <a:latin typeface="Bahnschrift SemiBold" panose="020B0502040204020203" pitchFamily="34" charset="0"/>
              </a:rPr>
              <a:t>Ácidos, ácido biogénico y lixiviación</a:t>
            </a:r>
            <a:endParaRPr lang="es-BO" sz="3800">
              <a:solidFill>
                <a:srgbClr val="FFFFFF"/>
              </a:solidFill>
              <a:latin typeface="Bahnschrift SemiBold" panose="020B0502040204020203" pitchFamily="34" charset="0"/>
            </a:endParaRPr>
          </a:p>
        </p:txBody>
      </p:sp>
      <p:sp>
        <p:nvSpPr>
          <p:cNvPr id="8" name="Rectángulo 7">
            <a:extLst>
              <a:ext uri="{FF2B5EF4-FFF2-40B4-BE49-F238E27FC236}">
                <a16:creationId xmlns:a16="http://schemas.microsoft.com/office/drawing/2014/main" id="{BA07E54A-CFF8-42A0-7C94-1D5677DB37DE}"/>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85204AF6-C3E4-898E-9D32-F54A823E6508}"/>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Aquí no hay hormigón que aguante. Lo único que se discute es cuánto tarda.</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0576A6F0-FA05-F0A3-DB85-C099DD9FA84A}"/>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51E6EC4E-DCB4-5BAB-EF58-56058DE7C0AA}"/>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Por qué ningún hormigón resiste</a:t>
            </a:r>
            <a:endParaRPr lang="es-BO" sz="1050">
              <a:solidFill>
                <a:srgbClr val="CFC7B8"/>
              </a:solidFill>
              <a:latin typeface="Segoe UI" panose="020B0502040204020203" pitchFamily="34" charset="0"/>
            </a:endParaRPr>
          </a:p>
        </p:txBody>
      </p:sp>
      <p:sp>
        <p:nvSpPr>
          <p:cNvPr id="12" name="Rectángulo 11">
            <a:extLst>
              <a:ext uri="{FF2B5EF4-FFF2-40B4-BE49-F238E27FC236}">
                <a16:creationId xmlns:a16="http://schemas.microsoft.com/office/drawing/2014/main" id="{BDB859B0-CF2D-32B5-7B48-B6CE86B471A1}"/>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51589CC2-D411-9B91-6257-E88A83199196}"/>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El ácido que fabrica la obra</a:t>
            </a:r>
            <a:endParaRPr lang="es-BO" sz="1050">
              <a:solidFill>
                <a:srgbClr val="CFC7B8"/>
              </a:solidFill>
              <a:latin typeface="Segoe UI" panose="020B0502040204020203" pitchFamily="34" charset="0"/>
            </a:endParaRPr>
          </a:p>
        </p:txBody>
      </p:sp>
      <p:sp>
        <p:nvSpPr>
          <p:cNvPr id="14" name="Rectángulo 13">
            <a:extLst>
              <a:ext uri="{FF2B5EF4-FFF2-40B4-BE49-F238E27FC236}">
                <a16:creationId xmlns:a16="http://schemas.microsoft.com/office/drawing/2014/main" id="{1182837F-B517-C245-087D-512554FDF315}"/>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FFA5C3C3-A8BD-BA83-20BA-7F84BC8E017B}"/>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Lixiviación y agua blanda</a:t>
            </a:r>
          </a:p>
        </p:txBody>
      </p:sp>
      <p:sp>
        <p:nvSpPr>
          <p:cNvPr id="16" name="CuadroTexto 15">
            <a:extLst>
              <a:ext uri="{FF2B5EF4-FFF2-40B4-BE49-F238E27FC236}">
                <a16:creationId xmlns:a16="http://schemas.microsoft.com/office/drawing/2014/main" id="{6DEE75BE-2682-09FB-7909-15BD90DF3024}"/>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4 · ATAQUE QUÍMICO</a:t>
            </a:r>
          </a:p>
        </p:txBody>
      </p:sp>
    </p:spTree>
    <p:extLst>
      <p:ext uri="{BB962C8B-B14F-4D97-AF65-F5344CB8AC3E}">
        <p14:creationId xmlns:p14="http://schemas.microsoft.com/office/powerpoint/2010/main" val="314691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F3AD8E9-0FCF-66EC-A291-7E63590780B5}"/>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3 · NINGÚN HORMIGÓN RESISTE UN ÁCIDO</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6DD3ED91-3A62-53D9-E9BB-1BDB34214B83}"/>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La pasta de cemento es alcalina por definición</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815DD46B-1EDC-9C3A-F772-84B6C3D234A5}"/>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A76EFD23-4D08-466F-9512-BD58754150DD}"/>
              </a:ext>
            </a:extLst>
          </p:cNvPr>
          <p:cNvGraphicFramePr>
            <a:graphicFrameLocks noGrp="1"/>
          </p:cNvGraphicFramePr>
          <p:nvPr>
            <p:extLst>
              <p:ext uri="{D42A27DB-BD31-4B8C-83A1-F6EECF244321}">
                <p14:modId xmlns:p14="http://schemas.microsoft.com/office/powerpoint/2010/main" val="2833958026"/>
              </p:ext>
            </p:extLst>
          </p:nvPr>
        </p:nvGraphicFramePr>
        <p:xfrm>
          <a:off x="609600" y="1422400"/>
          <a:ext cx="6604000" cy="2489200"/>
        </p:xfrm>
        <a:graphic>
          <a:graphicData uri="http://schemas.openxmlformats.org/drawingml/2006/table">
            <a:tbl>
              <a:tblPr firstRow="1" bandRow="1">
                <a:tableStyleId>{5C22544A-7EE6-4342-B048-85BDC9FD1C3A}</a:tableStyleId>
              </a:tblPr>
              <a:tblGrid>
                <a:gridCol w="2159000">
                  <a:extLst>
                    <a:ext uri="{9D8B030D-6E8A-4147-A177-3AD203B41FA5}">
                      <a16:colId xmlns:a16="http://schemas.microsoft.com/office/drawing/2014/main" val="3374890125"/>
                    </a:ext>
                  </a:extLst>
                </a:gridCol>
                <a:gridCol w="4445000">
                  <a:extLst>
                    <a:ext uri="{9D8B030D-6E8A-4147-A177-3AD203B41FA5}">
                      <a16:colId xmlns:a16="http://schemas.microsoft.com/office/drawing/2014/main" val="2963584392"/>
                    </a:ext>
                  </a:extLst>
                </a:gridCol>
              </a:tblGrid>
              <a:tr h="497840">
                <a:tc>
                  <a:txBody>
                    <a:bodyPr/>
                    <a:lstStyle/>
                    <a:p>
                      <a:pPr algn="ctr"/>
                      <a:r>
                        <a:rPr lang="es-BO" sz="1000" b="0">
                          <a:solidFill>
                            <a:srgbClr val="FFFFFF"/>
                          </a:solidFill>
                          <a:latin typeface="Segoe UI Semibold" panose="020B0702040204020203" pitchFamily="34" charset="0"/>
                        </a:rPr>
                        <a:t>pH del agente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1000" b="0">
                          <a:solidFill>
                            <a:srgbClr val="FFFFFF"/>
                          </a:solidFill>
                          <a:latin typeface="Segoe UI Semibold" panose="020B0702040204020203" pitchFamily="34" charset="0"/>
                        </a:rPr>
                        <a:t>Comportamiento del hormigón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1532201258"/>
                  </a:ext>
                </a:extLst>
              </a:tr>
              <a:tr h="497840">
                <a:tc>
                  <a:txBody>
                    <a:bodyPr/>
                    <a:lstStyle/>
                    <a:p>
                      <a:pPr algn="ctr"/>
                      <a:r>
                        <a:rPr lang="es-BO" sz="1050" b="0">
                          <a:solidFill>
                            <a:srgbClr val="1C1813"/>
                          </a:solidFill>
                          <a:latin typeface="Segoe UI Semibold" panose="020B0702040204020203" pitchFamily="34" charset="0"/>
                        </a:rPr>
                        <a:t>Más de 6,5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1050" b="0">
                          <a:solidFill>
                            <a:srgbClr val="241F18"/>
                          </a:solidFill>
                          <a:latin typeface="Segoe UI" panose="020B0502040204020203" pitchFamily="34" charset="0"/>
                        </a:rPr>
                        <a:t>Sin ataque apreciable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3900764097"/>
                  </a:ext>
                </a:extLst>
              </a:tr>
              <a:tr h="497840">
                <a:tc>
                  <a:txBody>
                    <a:bodyPr/>
                    <a:lstStyle/>
                    <a:p>
                      <a:pPr algn="ctr"/>
                      <a:r>
                        <a:rPr lang="es-BO" sz="1050" b="0">
                          <a:solidFill>
                            <a:srgbClr val="1C1813"/>
                          </a:solidFill>
                          <a:latin typeface="Segoe UI Semibold" panose="020B0702040204020203" pitchFamily="34" charset="0"/>
                        </a:rPr>
                        <a:t>6,5  a  5,5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1050" b="0">
                          <a:solidFill>
                            <a:srgbClr val="241F18"/>
                          </a:solidFill>
                          <a:latin typeface="Segoe UI" panose="020B0502040204020203" pitchFamily="34" charset="0"/>
                        </a:rPr>
                        <a:t>Ataque leve y lento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94127294"/>
                  </a:ext>
                </a:extLst>
              </a:tr>
              <a:tr h="497840">
                <a:tc>
                  <a:txBody>
                    <a:bodyPr/>
                    <a:lstStyle/>
                    <a:p>
                      <a:pPr algn="ctr"/>
                      <a:r>
                        <a:rPr lang="es-BO" sz="1050" b="0">
                          <a:solidFill>
                            <a:srgbClr val="1C1813"/>
                          </a:solidFill>
                          <a:latin typeface="Segoe UI Semibold" panose="020B0702040204020203" pitchFamily="34" charset="0"/>
                        </a:rPr>
                        <a:t>5,5  a  4,5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1050" b="0">
                          <a:solidFill>
                            <a:srgbClr val="241F18"/>
                          </a:solidFill>
                          <a:latin typeface="Segoe UI" panose="020B0502040204020203" pitchFamily="34" charset="0"/>
                        </a:rPr>
                        <a:t>Ataque apreciable: hay que proteger</a:t>
                      </a:r>
                      <a:endParaRPr lang="es-BO" sz="10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336238484"/>
                  </a:ext>
                </a:extLst>
              </a:tr>
              <a:tr h="497840">
                <a:tc>
                  <a:txBody>
                    <a:bodyPr/>
                    <a:lstStyle/>
                    <a:p>
                      <a:pPr algn="ctr"/>
                      <a:r>
                        <a:rPr lang="es-BO" sz="1050" b="0">
                          <a:solidFill>
                            <a:srgbClr val="1C1813"/>
                          </a:solidFill>
                          <a:latin typeface="Segoe UI Semibold" panose="020B0702040204020203" pitchFamily="34" charset="0"/>
                        </a:rPr>
                        <a:t>Menos de 4,5</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1050" b="0">
                          <a:solidFill>
                            <a:srgbClr val="241F18"/>
                          </a:solidFill>
                          <a:latin typeface="Segoe UI" panose="020B0502040204020203" pitchFamily="34" charset="0"/>
                        </a:rPr>
                        <a:t>Ataque rápido: el hormigón no es la barrera</a:t>
                      </a:r>
                      <a:endParaRPr lang="es-BO" sz="10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4038360221"/>
                  </a:ext>
                </a:extLst>
              </a:tr>
            </a:tbl>
          </a:graphicData>
        </a:graphic>
      </p:graphicFrame>
      <p:sp>
        <p:nvSpPr>
          <p:cNvPr id="7" name="CuadroTexto 6">
            <a:extLst>
              <a:ext uri="{FF2B5EF4-FFF2-40B4-BE49-F238E27FC236}">
                <a16:creationId xmlns:a16="http://schemas.microsoft.com/office/drawing/2014/main" id="{00E494E7-BE03-2D88-9FE9-1377754DDC0F}"/>
              </a:ext>
            </a:extLst>
          </p:cNvPr>
          <p:cNvSpPr txBox="1"/>
          <p:nvPr/>
        </p:nvSpPr>
        <p:spPr>
          <a:xfrm>
            <a:off x="7569200" y="1422400"/>
            <a:ext cx="40132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Por qué es inevitable</a:t>
            </a:r>
          </a:p>
        </p:txBody>
      </p:sp>
      <p:sp>
        <p:nvSpPr>
          <p:cNvPr id="8" name="CuadroTexto 7">
            <a:extLst>
              <a:ext uri="{FF2B5EF4-FFF2-40B4-BE49-F238E27FC236}">
                <a16:creationId xmlns:a16="http://schemas.microsoft.com/office/drawing/2014/main" id="{25AA7FC1-47C2-9D37-7751-CC6057A0918B}"/>
              </a:ext>
            </a:extLst>
          </p:cNvPr>
          <p:cNvSpPr txBox="1"/>
          <p:nvPr/>
        </p:nvSpPr>
        <p:spPr>
          <a:xfrm>
            <a:off x="7569200" y="1752600"/>
            <a:ext cx="4013200" cy="1092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El cemento hidratado está hecho de compuestos de calcio en medio alcalino. Cualquier ácido los neutraliza y los disuelve. No hay formulación que lo evite: solo hormigones que se disuelven más despacio.</a:t>
            </a:r>
            <a:endParaRPr lang="es-BO" sz="1100">
              <a:solidFill>
                <a:srgbClr val="5A5248"/>
              </a:solidFill>
              <a:latin typeface="Segoe UI" panose="020B0502040204020203" pitchFamily="34" charset="0"/>
            </a:endParaRPr>
          </a:p>
        </p:txBody>
      </p:sp>
      <p:sp>
        <p:nvSpPr>
          <p:cNvPr id="9" name="CuadroTexto 8">
            <a:extLst>
              <a:ext uri="{FF2B5EF4-FFF2-40B4-BE49-F238E27FC236}">
                <a16:creationId xmlns:a16="http://schemas.microsoft.com/office/drawing/2014/main" id="{BD6B3F5F-751C-B564-E034-54180D8E830D}"/>
              </a:ext>
            </a:extLst>
          </p:cNvPr>
          <p:cNvSpPr txBox="1"/>
          <p:nvPr/>
        </p:nvSpPr>
        <p:spPr>
          <a:xfrm>
            <a:off x="7569200" y="2971800"/>
            <a:ext cx="40132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Qué sí funciona</a:t>
            </a:r>
          </a:p>
        </p:txBody>
      </p:sp>
      <p:sp>
        <p:nvSpPr>
          <p:cNvPr id="10" name="CuadroTexto 9">
            <a:extLst>
              <a:ext uri="{FF2B5EF4-FFF2-40B4-BE49-F238E27FC236}">
                <a16:creationId xmlns:a16="http://schemas.microsoft.com/office/drawing/2014/main" id="{D7BF8FB3-597E-8C72-ADB1-D706573CEB67}"/>
              </a:ext>
            </a:extLst>
          </p:cNvPr>
          <p:cNvSpPr txBox="1"/>
          <p:nvPr/>
        </p:nvSpPr>
        <p:spPr>
          <a:xfrm>
            <a:off x="7569200" y="3302000"/>
            <a:ext cx="4013200" cy="762000"/>
          </a:xfrm>
          <a:prstGeom prst="rect">
            <a:avLst/>
          </a:prstGeom>
          <a:noFill/>
        </p:spPr>
        <p:txBody>
          <a:bodyPr vert="horz" wrap="square" lIns="0" tIns="0" rIns="0" bIns="0" rtlCol="0" anchor="t">
            <a:noAutofit/>
          </a:bodyPr>
          <a:lstStyle/>
          <a:p>
            <a:pPr algn="l"/>
            <a:r>
              <a:rPr lang="es-BO" sz="1100">
                <a:solidFill>
                  <a:srgbClr val="5A5248"/>
                </a:solidFill>
                <a:latin typeface="Segoe UI" panose="020B0502040204020203" pitchFamily="34" charset="0"/>
              </a:rPr>
              <a:t>Interponer una barrera que no sea de base cemento: resina epoxi o poliuretano, lámina de PEAD, gres antiácido o ladrillo antiácido tomado con resina.</a:t>
            </a:r>
          </a:p>
        </p:txBody>
      </p:sp>
      <p:sp>
        <p:nvSpPr>
          <p:cNvPr id="11" name="Rectángulo 10">
            <a:extLst>
              <a:ext uri="{FF2B5EF4-FFF2-40B4-BE49-F238E27FC236}">
                <a16:creationId xmlns:a16="http://schemas.microsoft.com/office/drawing/2014/main" id="{96465E51-DBF3-BB93-F757-6E51CFE79A8B}"/>
              </a:ext>
            </a:extLst>
          </p:cNvPr>
          <p:cNvSpPr/>
          <p:nvPr/>
        </p:nvSpPr>
        <p:spPr>
          <a:xfrm>
            <a:off x="609600" y="41402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18618275-1AA7-AA7F-9C6A-A6FAA54DF53B}"/>
              </a:ext>
            </a:extLst>
          </p:cNvPr>
          <p:cNvSpPr txBox="1"/>
          <p:nvPr/>
        </p:nvSpPr>
        <p:spPr>
          <a:xfrm>
            <a:off x="838200" y="41910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Cuando un comercial ofrezca «hormigón resistente a ácidos», pregunte a qué pH y durante cuántos años. </a:t>
            </a:r>
            <a:r>
              <a:rPr lang="es-MX" sz="1200" b="1">
                <a:solidFill>
                  <a:srgbClr val="FFFFFF"/>
                </a:solidFill>
                <a:latin typeface="Segoe UI Semibold" panose="020B0702040204020203" pitchFamily="34" charset="0"/>
              </a:rPr>
              <a:t>La respuesta honesta es siempre un plazo, nunca una inmunidad.</a:t>
            </a:r>
            <a:endParaRPr lang="es-BO" sz="1200" b="1">
              <a:solidFill>
                <a:srgbClr val="FFFFFF"/>
              </a:solidFill>
              <a:latin typeface="Segoe UI Semibold" panose="020B0702040204020203" pitchFamily="34" charset="0"/>
            </a:endParaRPr>
          </a:p>
        </p:txBody>
      </p:sp>
      <p:sp>
        <p:nvSpPr>
          <p:cNvPr id="14" name="CuadroTexto 13">
            <a:extLst>
              <a:ext uri="{FF2B5EF4-FFF2-40B4-BE49-F238E27FC236}">
                <a16:creationId xmlns:a16="http://schemas.microsoft.com/office/drawing/2014/main" id="{8B0C2DF1-3693-542E-81B6-3D9A7A4F0FBD}"/>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201.2R §2.5; EN 206, clases XA.</a:t>
            </a:r>
            <a:endParaRPr lang="es-BO" sz="700">
              <a:solidFill>
                <a:srgbClr val="938A7C"/>
              </a:solidFill>
              <a:latin typeface="Segoe UI" panose="020B0502040204020203" pitchFamily="34" charset="0"/>
            </a:endParaRPr>
          </a:p>
        </p:txBody>
      </p:sp>
      <p:cxnSp>
        <p:nvCxnSpPr>
          <p:cNvPr id="15" name="Conector recto 14">
            <a:extLst>
              <a:ext uri="{FF2B5EF4-FFF2-40B4-BE49-F238E27FC236}">
                <a16:creationId xmlns:a16="http://schemas.microsoft.com/office/drawing/2014/main" id="{54A3013A-B888-6189-F8D1-B97FA7B3A566}"/>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D339BD90-E499-2C10-AAEC-254473B058BF}"/>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17" name="CuadroTexto 16">
            <a:extLst>
              <a:ext uri="{FF2B5EF4-FFF2-40B4-BE49-F238E27FC236}">
                <a16:creationId xmlns:a16="http://schemas.microsoft.com/office/drawing/2014/main" id="{DEC5D3A1-82FA-3302-9B2D-CC7F295494EA}"/>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18" name="PageNo">
            <a:extLst>
              <a:ext uri="{FF2B5EF4-FFF2-40B4-BE49-F238E27FC236}">
                <a16:creationId xmlns:a16="http://schemas.microsoft.com/office/drawing/2014/main" id="{ACA68509-E983-142A-E988-77746BCF435F}"/>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16 / 35</a:t>
            </a:r>
          </a:p>
        </p:txBody>
      </p:sp>
    </p:spTree>
    <p:extLst>
      <p:ext uri="{BB962C8B-B14F-4D97-AF65-F5344CB8AC3E}">
        <p14:creationId xmlns:p14="http://schemas.microsoft.com/office/powerpoint/2010/main" val="3387725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3C2AAC6-AC55-B1E8-3F69-1F3718C9E9BE}"/>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3 · EL ÁCIDO QUE FABRICA LA PROPIA OBRA</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5CF02D61-0203-5012-C432-1ABF1D7CAF9A}"/>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En un colector, el ácido no viene en el agua: nace en la pared</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F7AA4903-A0CE-DAA9-CD5D-9F68727E8BC0}"/>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734198B8-0461-A12C-48BC-52464D86CF90}"/>
              </a:ext>
            </a:extLst>
          </p:cNvPr>
          <p:cNvSpPr/>
          <p:nvPr/>
        </p:nvSpPr>
        <p:spPr>
          <a:xfrm>
            <a:off x="609600" y="14224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1</a:t>
            </a:r>
          </a:p>
        </p:txBody>
      </p:sp>
      <p:sp>
        <p:nvSpPr>
          <p:cNvPr id="7" name="CuadroTexto 6">
            <a:extLst>
              <a:ext uri="{FF2B5EF4-FFF2-40B4-BE49-F238E27FC236}">
                <a16:creationId xmlns:a16="http://schemas.microsoft.com/office/drawing/2014/main" id="{8A773AEF-DAF6-CC8C-3AF4-94D6891E2849}"/>
              </a:ext>
            </a:extLst>
          </p:cNvPr>
          <p:cNvSpPr txBox="1"/>
          <p:nvPr/>
        </p:nvSpPr>
        <p:spPr>
          <a:xfrm>
            <a:off x="1143000" y="1435100"/>
            <a:ext cx="5334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El agua desprende sulfuro</a:t>
            </a:r>
          </a:p>
        </p:txBody>
      </p:sp>
      <p:sp>
        <p:nvSpPr>
          <p:cNvPr id="8" name="CuadroTexto 7">
            <a:extLst>
              <a:ext uri="{FF2B5EF4-FFF2-40B4-BE49-F238E27FC236}">
                <a16:creationId xmlns:a16="http://schemas.microsoft.com/office/drawing/2014/main" id="{75CF210A-7737-5411-2EC3-25C266128F70}"/>
              </a:ext>
            </a:extLst>
          </p:cNvPr>
          <p:cNvSpPr txBox="1"/>
          <p:nvPr/>
        </p:nvSpPr>
        <p:spPr>
          <a:xfrm>
            <a:off x="1143000" y="1689100"/>
            <a:ext cx="6350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agua residual sin oxígeno genera sulfuro de hidrógeno, que pasa al aire del conducto. Es el olor característico, y es el principio del problema.</a:t>
            </a:r>
            <a:endParaRPr lang="es-BO" sz="1150">
              <a:solidFill>
                <a:srgbClr val="5A5248"/>
              </a:solidFill>
              <a:latin typeface="Segoe UI" panose="020B0502040204020203" pitchFamily="34" charset="0"/>
            </a:endParaRPr>
          </a:p>
        </p:txBody>
      </p:sp>
      <p:sp>
        <p:nvSpPr>
          <p:cNvPr id="9" name="Elipse 8">
            <a:extLst>
              <a:ext uri="{FF2B5EF4-FFF2-40B4-BE49-F238E27FC236}">
                <a16:creationId xmlns:a16="http://schemas.microsoft.com/office/drawing/2014/main" id="{3A2BF43B-2798-D2CA-BE60-74A4B8D805D6}"/>
              </a:ext>
            </a:extLst>
          </p:cNvPr>
          <p:cNvSpPr/>
          <p:nvPr/>
        </p:nvSpPr>
        <p:spPr>
          <a:xfrm>
            <a:off x="609600" y="23876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5DBBD92F-2FAA-398D-79D6-75D6FCFD57A0}"/>
              </a:ext>
            </a:extLst>
          </p:cNvPr>
          <p:cNvSpPr txBox="1"/>
          <p:nvPr/>
        </p:nvSpPr>
        <p:spPr>
          <a:xfrm>
            <a:off x="1143000" y="2400300"/>
            <a:ext cx="5334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La bacteria lo oxida</a:t>
            </a:r>
          </a:p>
        </p:txBody>
      </p:sp>
      <p:sp>
        <p:nvSpPr>
          <p:cNvPr id="11" name="CuadroTexto 10">
            <a:extLst>
              <a:ext uri="{FF2B5EF4-FFF2-40B4-BE49-F238E27FC236}">
                <a16:creationId xmlns:a16="http://schemas.microsoft.com/office/drawing/2014/main" id="{F9B83933-2311-9ED2-0B7C-12FABB8C5AE4}"/>
              </a:ext>
            </a:extLst>
          </p:cNvPr>
          <p:cNvSpPr txBox="1"/>
          <p:nvPr/>
        </p:nvSpPr>
        <p:spPr>
          <a:xfrm>
            <a:off x="1143000" y="2654300"/>
            <a:ext cx="6350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Sobre la pared húmeda </a:t>
            </a:r>
            <a:r>
              <a:rPr lang="es-MX" sz="1150" b="1">
                <a:solidFill>
                  <a:srgbClr val="5A5248"/>
                </a:solidFill>
                <a:latin typeface="Segoe UI Semibold" panose="020B0702040204020203" pitchFamily="34" charset="0"/>
              </a:rPr>
              <a:t>por encima de la lámina de agua</a:t>
            </a:r>
            <a:r>
              <a:rPr lang="es-MX" sz="1150">
                <a:solidFill>
                  <a:srgbClr val="5A5248"/>
                </a:solidFill>
                <a:latin typeface="Segoe UI" panose="020B0502040204020203" pitchFamily="34" charset="0"/>
              </a:rPr>
              <a:t> vive una bacteria que oxida ese sulfuro y lo convierte en ácido sulfúrico concentrado.</a:t>
            </a:r>
            <a:endParaRPr lang="es-BO" sz="1150">
              <a:solidFill>
                <a:srgbClr val="5A5248"/>
              </a:solidFill>
              <a:latin typeface="Segoe UI" panose="020B0502040204020203" pitchFamily="34" charset="0"/>
            </a:endParaRPr>
          </a:p>
        </p:txBody>
      </p:sp>
      <p:sp>
        <p:nvSpPr>
          <p:cNvPr id="12" name="Elipse 11">
            <a:extLst>
              <a:ext uri="{FF2B5EF4-FFF2-40B4-BE49-F238E27FC236}">
                <a16:creationId xmlns:a16="http://schemas.microsoft.com/office/drawing/2014/main" id="{871B0CF3-E76C-1AD1-C6AC-EFDDC5F08FFD}"/>
              </a:ext>
            </a:extLst>
          </p:cNvPr>
          <p:cNvSpPr/>
          <p:nvPr/>
        </p:nvSpPr>
        <p:spPr>
          <a:xfrm>
            <a:off x="609600" y="33528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3</a:t>
            </a:r>
          </a:p>
        </p:txBody>
      </p:sp>
      <p:sp>
        <p:nvSpPr>
          <p:cNvPr id="13" name="CuadroTexto 12">
            <a:extLst>
              <a:ext uri="{FF2B5EF4-FFF2-40B4-BE49-F238E27FC236}">
                <a16:creationId xmlns:a16="http://schemas.microsoft.com/office/drawing/2014/main" id="{404F4AF2-49F5-89E6-9782-B0F51FB89629}"/>
              </a:ext>
            </a:extLst>
          </p:cNvPr>
          <p:cNvSpPr txBox="1"/>
          <p:nvPr/>
        </p:nvSpPr>
        <p:spPr>
          <a:xfrm>
            <a:off x="1143000" y="3365500"/>
            <a:ext cx="5334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El ácido ataca el hormigón</a:t>
            </a:r>
            <a:endParaRPr lang="es-BO" sz="1350">
              <a:solidFill>
                <a:srgbClr val="1C1813"/>
              </a:solidFill>
              <a:latin typeface="Bahnschrift SemiBold" panose="020B0502040204020203" pitchFamily="34" charset="0"/>
            </a:endParaRPr>
          </a:p>
        </p:txBody>
      </p:sp>
      <p:sp>
        <p:nvSpPr>
          <p:cNvPr id="14" name="CuadroTexto 13">
            <a:extLst>
              <a:ext uri="{FF2B5EF4-FFF2-40B4-BE49-F238E27FC236}">
                <a16:creationId xmlns:a16="http://schemas.microsoft.com/office/drawing/2014/main" id="{8777F318-B923-E3A3-86AC-0178FF3DC554}"/>
              </a:ext>
            </a:extLst>
          </p:cNvPr>
          <p:cNvSpPr txBox="1"/>
          <p:nvPr/>
        </p:nvSpPr>
        <p:spPr>
          <a:xfrm>
            <a:off x="1143000" y="3619500"/>
            <a:ext cx="6350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Un pH de 2 a 3 sobre la pared disuelve la pasta a velocidades del orden de un milímetro al año, y a veces bastante más.</a:t>
            </a:r>
            <a:endParaRPr lang="es-BO" sz="1150">
              <a:solidFill>
                <a:srgbClr val="5A5248"/>
              </a:solidFill>
              <a:latin typeface="Segoe UI" panose="020B0502040204020203" pitchFamily="34" charset="0"/>
            </a:endParaRPr>
          </a:p>
        </p:txBody>
      </p:sp>
      <p:sp>
        <p:nvSpPr>
          <p:cNvPr id="15" name="Elipse 14">
            <a:extLst>
              <a:ext uri="{FF2B5EF4-FFF2-40B4-BE49-F238E27FC236}">
                <a16:creationId xmlns:a16="http://schemas.microsoft.com/office/drawing/2014/main" id="{C0E140A6-6C73-0454-1964-1B518DE43680}"/>
              </a:ext>
            </a:extLst>
          </p:cNvPr>
          <p:cNvSpPr/>
          <p:nvPr/>
        </p:nvSpPr>
        <p:spPr>
          <a:xfrm>
            <a:off x="609600" y="43180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4</a:t>
            </a:r>
          </a:p>
        </p:txBody>
      </p:sp>
      <p:sp>
        <p:nvSpPr>
          <p:cNvPr id="16" name="CuadroTexto 15">
            <a:extLst>
              <a:ext uri="{FF2B5EF4-FFF2-40B4-BE49-F238E27FC236}">
                <a16:creationId xmlns:a16="http://schemas.microsoft.com/office/drawing/2014/main" id="{13EA1AF4-3307-E53E-177F-F632A496C763}"/>
              </a:ext>
            </a:extLst>
          </p:cNvPr>
          <p:cNvSpPr txBox="1"/>
          <p:nvPr/>
        </p:nvSpPr>
        <p:spPr>
          <a:xfrm>
            <a:off x="1143000" y="4330700"/>
            <a:ext cx="5334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Por eso el daño está arriba</a:t>
            </a:r>
            <a:endParaRPr lang="es-BO" sz="1350">
              <a:solidFill>
                <a:srgbClr val="1C1813"/>
              </a:solidFill>
              <a:latin typeface="Bahnschrift SemiBold" panose="020B0502040204020203" pitchFamily="34" charset="0"/>
            </a:endParaRPr>
          </a:p>
        </p:txBody>
      </p:sp>
      <p:sp>
        <p:nvSpPr>
          <p:cNvPr id="17" name="CuadroTexto 16">
            <a:extLst>
              <a:ext uri="{FF2B5EF4-FFF2-40B4-BE49-F238E27FC236}">
                <a16:creationId xmlns:a16="http://schemas.microsoft.com/office/drawing/2014/main" id="{3DE2C2BA-43BB-B555-6D40-9EACEB3CD70F}"/>
              </a:ext>
            </a:extLst>
          </p:cNvPr>
          <p:cNvSpPr txBox="1"/>
          <p:nvPr/>
        </p:nvSpPr>
        <p:spPr>
          <a:xfrm>
            <a:off x="1143000" y="4584700"/>
            <a:ext cx="6350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La bóveda y la franja justo sobre el agua son las zonas destruidas; el fondo, siempre sumergido, suele estar casi intacto. </a:t>
            </a:r>
            <a:r>
              <a:rPr lang="es-MX" sz="1150" b="1">
                <a:solidFill>
                  <a:srgbClr val="5A5248"/>
                </a:solidFill>
                <a:latin typeface="Segoe UI Semibold" panose="020B0702040204020203" pitchFamily="34" charset="0"/>
              </a:rPr>
              <a:t>Es el diagnóstico diferencial de un colector.</a:t>
            </a:r>
            <a:endParaRPr lang="es-BO" sz="1150" b="1">
              <a:solidFill>
                <a:srgbClr val="5A5248"/>
              </a:solidFill>
              <a:latin typeface="Segoe UI Semibold" panose="020B0702040204020203" pitchFamily="34" charset="0"/>
            </a:endParaRPr>
          </a:p>
        </p:txBody>
      </p:sp>
      <p:pic>
        <p:nvPicPr>
          <p:cNvPr id="19" name="Imagen 18" descr="Corte de colector con H2S, película bacteriana y pérdida de espesor en la bóveda">
            <a:extLst>
              <a:ext uri="{FF2B5EF4-FFF2-40B4-BE49-F238E27FC236}">
                <a16:creationId xmlns:a16="http://schemas.microsoft.com/office/drawing/2014/main" id="{C3A8FD30-D3C3-EF45-120A-5D0753FEE55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26400" y="1422400"/>
            <a:ext cx="3556000" cy="3759200"/>
          </a:xfrm>
          <a:prstGeom prst="rect">
            <a:avLst/>
          </a:prstGeom>
        </p:spPr>
      </p:pic>
      <p:sp>
        <p:nvSpPr>
          <p:cNvPr id="20" name="Rectángulo 19">
            <a:extLst>
              <a:ext uri="{FF2B5EF4-FFF2-40B4-BE49-F238E27FC236}">
                <a16:creationId xmlns:a16="http://schemas.microsoft.com/office/drawing/2014/main" id="{6A42634B-066C-CDA8-2445-5BBFC53BE48F}"/>
              </a:ext>
            </a:extLst>
          </p:cNvPr>
          <p:cNvSpPr/>
          <p:nvPr/>
        </p:nvSpPr>
        <p:spPr>
          <a:xfrm>
            <a:off x="609600" y="5384800"/>
            <a:ext cx="71120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9919E7BB-7DC6-FE1E-5921-82B32EAD62F9}"/>
              </a:ext>
            </a:extLst>
          </p:cNvPr>
          <p:cNvSpPr txBox="1"/>
          <p:nvPr/>
        </p:nvSpPr>
        <p:spPr>
          <a:xfrm>
            <a:off x="838200" y="5435600"/>
            <a:ext cx="6705600" cy="5588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Y por eso </a:t>
            </a:r>
            <a:r>
              <a:rPr lang="es-MX" sz="1150" b="1">
                <a:solidFill>
                  <a:srgbClr val="FFFFFF"/>
                </a:solidFill>
                <a:latin typeface="Segoe UI Semibold" panose="020B0702040204020203" pitchFamily="34" charset="0"/>
              </a:rPr>
              <a:t>la primera medida es ventilar</a:t>
            </a:r>
            <a:r>
              <a:rPr lang="es-MX" sz="1150">
                <a:solidFill>
                  <a:srgbClr val="FFFFFF"/>
                </a:solidFill>
                <a:latin typeface="Segoe UI" panose="020B0502040204020203" pitchFamily="34" charset="0"/>
              </a:rPr>
              <a:t>: sin sulfuro en el aire no hay bacteria, y sin bacteria no hay ácido. Cuesta mucho menos que revestir.</a:t>
            </a:r>
            <a:endParaRPr lang="es-BO" sz="1150">
              <a:solidFill>
                <a:srgbClr val="FFFFFF"/>
              </a:solidFill>
              <a:latin typeface="Segoe UI" panose="020B0502040204020203" pitchFamily="34" charset="0"/>
            </a:endParaRPr>
          </a:p>
        </p:txBody>
      </p:sp>
      <p:sp>
        <p:nvSpPr>
          <p:cNvPr id="23" name="CuadroTexto 22">
            <a:extLst>
              <a:ext uri="{FF2B5EF4-FFF2-40B4-BE49-F238E27FC236}">
                <a16:creationId xmlns:a16="http://schemas.microsoft.com/office/drawing/2014/main" id="{6D437389-3774-600F-B340-52EB429CAAF5}"/>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ACI 201.2R; ASCE, Sulfide in Wastewater Collection and Treatment Systems.</a:t>
            </a:r>
            <a:endParaRPr lang="es-BO" sz="700">
              <a:solidFill>
                <a:srgbClr val="938A7C"/>
              </a:solidFill>
              <a:latin typeface="Segoe UI" panose="020B0502040204020203" pitchFamily="34" charset="0"/>
            </a:endParaRPr>
          </a:p>
        </p:txBody>
      </p:sp>
      <p:cxnSp>
        <p:nvCxnSpPr>
          <p:cNvPr id="24" name="Conector recto 23">
            <a:extLst>
              <a:ext uri="{FF2B5EF4-FFF2-40B4-BE49-F238E27FC236}">
                <a16:creationId xmlns:a16="http://schemas.microsoft.com/office/drawing/2014/main" id="{46C4B4F0-5191-A43E-27F1-797337BAA3FE}"/>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3F8F020B-93FE-8DB7-6F8E-7889BFD3C5C1}"/>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6" name="CuadroTexto 25">
            <a:extLst>
              <a:ext uri="{FF2B5EF4-FFF2-40B4-BE49-F238E27FC236}">
                <a16:creationId xmlns:a16="http://schemas.microsoft.com/office/drawing/2014/main" id="{DB1B1D3D-188F-B778-A1EF-2D6954F5A84B}"/>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27" name="PageNo">
            <a:extLst>
              <a:ext uri="{FF2B5EF4-FFF2-40B4-BE49-F238E27FC236}">
                <a16:creationId xmlns:a16="http://schemas.microsoft.com/office/drawing/2014/main" id="{A9AF5F5F-4826-AB87-3C35-47AF13B7145A}"/>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17 / 35</a:t>
            </a:r>
          </a:p>
        </p:txBody>
      </p:sp>
    </p:spTree>
    <p:extLst>
      <p:ext uri="{BB962C8B-B14F-4D97-AF65-F5344CB8AC3E}">
        <p14:creationId xmlns:p14="http://schemas.microsoft.com/office/powerpoint/2010/main" val="2602163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CC7A486-1D76-C599-4333-B1DEF4075231}"/>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3 · LIXIVIACIÓN Y AGUA BLANDA</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D6F42ECE-F43E-996D-F4FD-371EEB7CB29F}"/>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El agua de deshielo es agua destilada, y el hormigón se le disuelve</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178C0F99-3E69-7478-0313-F313985B5F67}"/>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C0AFC0ED-A12C-690F-6BCF-127C60733F8B}"/>
              </a:ext>
            </a:extLst>
          </p:cNvPr>
          <p:cNvSpPr/>
          <p:nvPr/>
        </p:nvSpPr>
        <p:spPr>
          <a:xfrm>
            <a:off x="609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 name="CuadroTexto 7">
            <a:extLst>
              <a:ext uri="{FF2B5EF4-FFF2-40B4-BE49-F238E27FC236}">
                <a16:creationId xmlns:a16="http://schemas.microsoft.com/office/drawing/2014/main" id="{F13CF20B-7ED1-0A5E-D9EE-1676518D48CB}"/>
              </a:ext>
            </a:extLst>
          </p:cNvPr>
          <p:cNvSpPr txBox="1"/>
          <p:nvPr/>
        </p:nvSpPr>
        <p:spPr>
          <a:xfrm>
            <a:off x="812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9" name="CuadroTexto 8">
            <a:extLst>
              <a:ext uri="{FF2B5EF4-FFF2-40B4-BE49-F238E27FC236}">
                <a16:creationId xmlns:a16="http://schemas.microsoft.com/office/drawing/2014/main" id="{03EB62ED-3236-8510-0F57-974631C7136D}"/>
              </a:ext>
            </a:extLst>
          </p:cNvPr>
          <p:cNvSpPr txBox="1"/>
          <p:nvPr/>
        </p:nvSpPr>
        <p:spPr>
          <a:xfrm>
            <a:off x="812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Qué es agua blanda</a:t>
            </a:r>
          </a:p>
        </p:txBody>
      </p:sp>
      <p:sp>
        <p:nvSpPr>
          <p:cNvPr id="10" name="CuadroTexto 9">
            <a:extLst>
              <a:ext uri="{FF2B5EF4-FFF2-40B4-BE49-F238E27FC236}">
                <a16:creationId xmlns:a16="http://schemas.microsoft.com/office/drawing/2014/main" id="{73666BE3-E961-3CDD-ED31-C68686D0E056}"/>
              </a:ext>
            </a:extLst>
          </p:cNvPr>
          <p:cNvSpPr txBox="1"/>
          <p:nvPr/>
        </p:nvSpPr>
        <p:spPr>
          <a:xfrm>
            <a:off x="812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Agua con muy poco calcio y magnesio disueltos: lluvia, nieve derretida, agua de alta montaña. Busca disolver calcio allí donde lo encuentre.</a:t>
            </a:r>
            <a:endParaRPr lang="es-BO" sz="1100">
              <a:solidFill>
                <a:srgbClr val="5A5248"/>
              </a:solidFill>
              <a:latin typeface="Segoe UI" panose="020B0502040204020203" pitchFamily="34" charset="0"/>
            </a:endParaRPr>
          </a:p>
        </p:txBody>
      </p:sp>
      <p:sp>
        <p:nvSpPr>
          <p:cNvPr id="11" name="Rectángulo 10">
            <a:extLst>
              <a:ext uri="{FF2B5EF4-FFF2-40B4-BE49-F238E27FC236}">
                <a16:creationId xmlns:a16="http://schemas.microsoft.com/office/drawing/2014/main" id="{3BCE45E0-1EFE-54FA-2CC8-3E09D037EEA6}"/>
              </a:ext>
            </a:extLst>
          </p:cNvPr>
          <p:cNvSpPr/>
          <p:nvPr/>
        </p:nvSpPr>
        <p:spPr>
          <a:xfrm>
            <a:off x="3403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55DA248D-6231-E3F9-02E0-B0CC7B9A35A2}"/>
              </a:ext>
            </a:extLst>
          </p:cNvPr>
          <p:cNvSpPr txBox="1"/>
          <p:nvPr/>
        </p:nvSpPr>
        <p:spPr>
          <a:xfrm>
            <a:off x="3606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14" name="CuadroTexto 13">
            <a:extLst>
              <a:ext uri="{FF2B5EF4-FFF2-40B4-BE49-F238E27FC236}">
                <a16:creationId xmlns:a16="http://schemas.microsoft.com/office/drawing/2014/main" id="{A4DC8C9C-F0A3-AC63-98EB-97969347393A}"/>
              </a:ext>
            </a:extLst>
          </p:cNvPr>
          <p:cNvSpPr txBox="1"/>
          <p:nvPr/>
        </p:nvSpPr>
        <p:spPr>
          <a:xfrm>
            <a:off x="3606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Qué se lleva</a:t>
            </a:r>
          </a:p>
        </p:txBody>
      </p:sp>
      <p:sp>
        <p:nvSpPr>
          <p:cNvPr id="15" name="CuadroTexto 14">
            <a:extLst>
              <a:ext uri="{FF2B5EF4-FFF2-40B4-BE49-F238E27FC236}">
                <a16:creationId xmlns:a16="http://schemas.microsoft.com/office/drawing/2014/main" id="{CE0BCDB6-5521-4203-4710-DF2FD9C14B03}"/>
              </a:ext>
            </a:extLst>
          </p:cNvPr>
          <p:cNvSpPr txBox="1"/>
          <p:nvPr/>
        </p:nvSpPr>
        <p:spPr>
          <a:xfrm>
            <a:off x="3606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Primero el hidróxido de calcio libre, que es el más soluble. Después empieza a descalcificar el gel que da la resistencia.</a:t>
            </a:r>
            <a:endParaRPr lang="es-BO" sz="110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80E63B74-A041-E240-CAAE-D187BF5DCA5B}"/>
              </a:ext>
            </a:extLst>
          </p:cNvPr>
          <p:cNvSpPr/>
          <p:nvPr/>
        </p:nvSpPr>
        <p:spPr>
          <a:xfrm>
            <a:off x="6197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31EBFAB0-E162-AD52-FE8D-B71E10A0714F}"/>
              </a:ext>
            </a:extLst>
          </p:cNvPr>
          <p:cNvSpPr txBox="1"/>
          <p:nvPr/>
        </p:nvSpPr>
        <p:spPr>
          <a:xfrm>
            <a:off x="6400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9" name="CuadroTexto 18">
            <a:extLst>
              <a:ext uri="{FF2B5EF4-FFF2-40B4-BE49-F238E27FC236}">
                <a16:creationId xmlns:a16="http://schemas.microsoft.com/office/drawing/2014/main" id="{5793E49F-7DA5-821D-5BEF-B7F916CB711F}"/>
              </a:ext>
            </a:extLst>
          </p:cNvPr>
          <p:cNvSpPr txBox="1"/>
          <p:nvPr/>
        </p:nvSpPr>
        <p:spPr>
          <a:xfrm>
            <a:off x="6400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Cómo se ve</a:t>
            </a:r>
          </a:p>
        </p:txBody>
      </p:sp>
      <p:sp>
        <p:nvSpPr>
          <p:cNvPr id="20" name="CuadroTexto 19">
            <a:extLst>
              <a:ext uri="{FF2B5EF4-FFF2-40B4-BE49-F238E27FC236}">
                <a16:creationId xmlns:a16="http://schemas.microsoft.com/office/drawing/2014/main" id="{EDFA80AD-1D67-2B42-1487-7DE35B31C550}"/>
              </a:ext>
            </a:extLst>
          </p:cNvPr>
          <p:cNvSpPr txBox="1"/>
          <p:nvPr/>
        </p:nvSpPr>
        <p:spPr>
          <a:xfrm>
            <a:off x="6400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Superficie lavada con el árido en relieve, y depósitos blancos de carbonato: eflorescencias, costras y estalactitas bajo las juntas.</a:t>
            </a:r>
            <a:endParaRPr lang="es-BO" sz="1100">
              <a:solidFill>
                <a:srgbClr val="5A5248"/>
              </a:solidFill>
              <a:latin typeface="Segoe UI" panose="020B0502040204020203" pitchFamily="34" charset="0"/>
            </a:endParaRPr>
          </a:p>
        </p:txBody>
      </p:sp>
      <p:sp>
        <p:nvSpPr>
          <p:cNvPr id="21" name="Rectángulo 20">
            <a:extLst>
              <a:ext uri="{FF2B5EF4-FFF2-40B4-BE49-F238E27FC236}">
                <a16:creationId xmlns:a16="http://schemas.microsoft.com/office/drawing/2014/main" id="{06CCDBF2-67DA-6A06-993F-5D6E01C51802}"/>
              </a:ext>
            </a:extLst>
          </p:cNvPr>
          <p:cNvSpPr/>
          <p:nvPr/>
        </p:nvSpPr>
        <p:spPr>
          <a:xfrm>
            <a:off x="8991600" y="1422400"/>
            <a:ext cx="2641600" cy="27940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14C0CA22-F0D7-73A4-0783-3F7792006FFF}"/>
              </a:ext>
            </a:extLst>
          </p:cNvPr>
          <p:cNvSpPr txBox="1"/>
          <p:nvPr/>
        </p:nvSpPr>
        <p:spPr>
          <a:xfrm>
            <a:off x="9194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04</a:t>
            </a:r>
          </a:p>
        </p:txBody>
      </p:sp>
      <p:sp>
        <p:nvSpPr>
          <p:cNvPr id="24" name="CuadroTexto 23">
            <a:extLst>
              <a:ext uri="{FF2B5EF4-FFF2-40B4-BE49-F238E27FC236}">
                <a16:creationId xmlns:a16="http://schemas.microsoft.com/office/drawing/2014/main" id="{A296D651-0F5B-CB7F-9936-33F5F811A3DF}"/>
              </a:ext>
            </a:extLst>
          </p:cNvPr>
          <p:cNvSpPr txBox="1"/>
          <p:nvPr/>
        </p:nvSpPr>
        <p:spPr>
          <a:xfrm>
            <a:off x="9194800" y="1981200"/>
            <a:ext cx="2260600" cy="279400"/>
          </a:xfrm>
          <a:prstGeom prst="rect">
            <a:avLst/>
          </a:prstGeom>
          <a:noFill/>
        </p:spPr>
        <p:txBody>
          <a:bodyPr vert="horz" wrap="square" lIns="0" tIns="0" rIns="0" bIns="0" rtlCol="0" anchor="t">
            <a:noAutofit/>
          </a:bodyPr>
          <a:lstStyle/>
          <a:p>
            <a:r>
              <a:rPr lang="es-BO" sz="1300">
                <a:solidFill>
                  <a:srgbClr val="1C1813"/>
                </a:solidFill>
                <a:latin typeface="Bahnschrift SemiBold" panose="020B0502040204020203" pitchFamily="34" charset="0"/>
              </a:rPr>
              <a:t>Dónde importa</a:t>
            </a:r>
          </a:p>
        </p:txBody>
      </p:sp>
      <p:sp>
        <p:nvSpPr>
          <p:cNvPr id="25" name="CuadroTexto 24">
            <a:extLst>
              <a:ext uri="{FF2B5EF4-FFF2-40B4-BE49-F238E27FC236}">
                <a16:creationId xmlns:a16="http://schemas.microsoft.com/office/drawing/2014/main" id="{EDA122AD-27B4-C0F7-7EBB-8683A3F9597B}"/>
              </a:ext>
            </a:extLst>
          </p:cNvPr>
          <p:cNvSpPr txBox="1"/>
          <p:nvPr/>
        </p:nvSpPr>
        <p:spPr>
          <a:xfrm>
            <a:off x="9194800" y="2247900"/>
            <a:ext cx="2235200" cy="1854200"/>
          </a:xfrm>
          <a:prstGeom prst="rect">
            <a:avLst/>
          </a:prstGeom>
          <a:noFill/>
        </p:spPr>
        <p:txBody>
          <a:bodyPr vert="horz" wrap="square" lIns="0" tIns="0" rIns="0" bIns="0" rtlCol="0" anchor="t">
            <a:noAutofit/>
          </a:bodyPr>
          <a:lstStyle/>
          <a:p>
            <a:pPr algn="l"/>
            <a:r>
              <a:rPr lang="es-MX" sz="1100">
                <a:solidFill>
                  <a:srgbClr val="5A5248"/>
                </a:solidFill>
                <a:latin typeface="Segoe UI" panose="020B0502040204020203" pitchFamily="34" charset="0"/>
              </a:rPr>
              <a:t>Obras hidráulicas de montaña, canales de riego, depósitos de agua potable y cualquier junta por la que gotee agua de deshielo.</a:t>
            </a:r>
            <a:endParaRPr lang="es-BO" sz="1100">
              <a:solidFill>
                <a:srgbClr val="5A5248"/>
              </a:solidFill>
              <a:latin typeface="Segoe UI" panose="020B0502040204020203" pitchFamily="34" charset="0"/>
            </a:endParaRPr>
          </a:p>
        </p:txBody>
      </p:sp>
      <p:pic>
        <p:nvPicPr>
          <p:cNvPr id="27" name="Imagen 26" descr="Losa con juntas por las que pasa agua de deshielo y forma estalactitas de carbonato">
            <a:extLst>
              <a:ext uri="{FF2B5EF4-FFF2-40B4-BE49-F238E27FC236}">
                <a16:creationId xmlns:a16="http://schemas.microsoft.com/office/drawing/2014/main" id="{E99D4448-6EFF-AA87-DDCB-1577A63BDD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368800"/>
            <a:ext cx="5334000" cy="1625600"/>
          </a:xfrm>
          <a:prstGeom prst="rect">
            <a:avLst/>
          </a:prstGeom>
        </p:spPr>
      </p:pic>
      <p:sp>
        <p:nvSpPr>
          <p:cNvPr id="28" name="Rectángulo 27">
            <a:extLst>
              <a:ext uri="{FF2B5EF4-FFF2-40B4-BE49-F238E27FC236}">
                <a16:creationId xmlns:a16="http://schemas.microsoft.com/office/drawing/2014/main" id="{BCC921C9-744C-87F2-2DFB-D0D7E47295D3}"/>
              </a:ext>
            </a:extLst>
          </p:cNvPr>
          <p:cNvSpPr/>
          <p:nvPr/>
        </p:nvSpPr>
        <p:spPr>
          <a:xfrm>
            <a:off x="6248400" y="4368800"/>
            <a:ext cx="5334000" cy="16256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17D673AB-C1A0-51B4-ADEB-27C5A9BEBC1B}"/>
              </a:ext>
            </a:extLst>
          </p:cNvPr>
          <p:cNvSpPr txBox="1"/>
          <p:nvPr/>
        </p:nvSpPr>
        <p:spPr>
          <a:xfrm>
            <a:off x="6477000" y="4546600"/>
            <a:ext cx="4927600" cy="1320800"/>
          </a:xfrm>
          <a:prstGeom prst="rect">
            <a:avLst/>
          </a:prstGeom>
          <a:noFill/>
        </p:spPr>
        <p:txBody>
          <a:bodyPr vert="horz" wrap="square" lIns="0" tIns="0" rIns="0" bIns="0" rtlCol="0" anchor="t">
            <a:noAutofit/>
          </a:bodyPr>
          <a:lstStyle/>
          <a:p>
            <a:pPr algn="l"/>
            <a:r>
              <a:rPr lang="es-MX" sz="1150">
                <a:solidFill>
                  <a:srgbClr val="FFFFFF"/>
                </a:solidFill>
                <a:latin typeface="Segoe UI" panose="020B0502040204020203" pitchFamily="34" charset="0"/>
              </a:rPr>
              <a:t>La estalactita bajo una junta es un dato cuantitativo disfrazado de curiosidad: </a:t>
            </a:r>
            <a:r>
              <a:rPr lang="es-MX" sz="1150" b="1">
                <a:solidFill>
                  <a:srgbClr val="FFFFFF"/>
                </a:solidFill>
                <a:latin typeface="Segoe UI Semibold" panose="020B0702040204020203" pitchFamily="34" charset="0"/>
              </a:rPr>
              <a:t>todo ese carbonato salió de dentro del hormigón</a:t>
            </a:r>
            <a:r>
              <a:rPr lang="es-MX" sz="1150">
                <a:solidFill>
                  <a:srgbClr val="FFFFFF"/>
                </a:solidFill>
                <a:latin typeface="Segoe UI" panose="020B0502040204020203" pitchFamily="34" charset="0"/>
              </a:rPr>
              <a:t>. Cuanto mayor es el depósito, más pasta ha perdido el elemento por encima.</a:t>
            </a:r>
            <a:endParaRPr lang="es-BO" sz="1150">
              <a:solidFill>
                <a:srgbClr val="FFFFFF"/>
              </a:solidFill>
              <a:latin typeface="Segoe UI" panose="020B0502040204020203" pitchFamily="34" charset="0"/>
            </a:endParaRPr>
          </a:p>
        </p:txBody>
      </p:sp>
      <p:sp>
        <p:nvSpPr>
          <p:cNvPr id="31" name="CuadroTexto 30">
            <a:extLst>
              <a:ext uri="{FF2B5EF4-FFF2-40B4-BE49-F238E27FC236}">
                <a16:creationId xmlns:a16="http://schemas.microsoft.com/office/drawing/2014/main" id="{639044BF-E1E8-D81A-D48F-46A658FA0D3D}"/>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BO" sz="700">
                <a:solidFill>
                  <a:srgbClr val="938A7C"/>
                </a:solidFill>
                <a:latin typeface="Segoe UI" panose="020B0502040204020203" pitchFamily="34" charset="0"/>
              </a:rPr>
              <a:t>Fuente: ACI 201.2R; ACI 350, estructuras de contención de líquidos.</a:t>
            </a:r>
          </a:p>
        </p:txBody>
      </p:sp>
      <p:cxnSp>
        <p:nvCxnSpPr>
          <p:cNvPr id="32" name="Conector recto 31">
            <a:extLst>
              <a:ext uri="{FF2B5EF4-FFF2-40B4-BE49-F238E27FC236}">
                <a16:creationId xmlns:a16="http://schemas.microsoft.com/office/drawing/2014/main" id="{B2BAD260-5214-FB81-B559-ABBDA2289BCB}"/>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9904E0A6-E251-0814-28A8-1E4CA7ECC808}"/>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4" name="CuadroTexto 33">
            <a:extLst>
              <a:ext uri="{FF2B5EF4-FFF2-40B4-BE49-F238E27FC236}">
                <a16:creationId xmlns:a16="http://schemas.microsoft.com/office/drawing/2014/main" id="{96FD7634-1D37-E434-2D73-CF823D2916B9}"/>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35" name="PageNo">
            <a:extLst>
              <a:ext uri="{FF2B5EF4-FFF2-40B4-BE49-F238E27FC236}">
                <a16:creationId xmlns:a16="http://schemas.microsoft.com/office/drawing/2014/main" id="{AFA838D1-C123-789C-0B45-3C19B7340907}"/>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18 / 35</a:t>
            </a:r>
          </a:p>
        </p:txBody>
      </p:sp>
    </p:spTree>
    <p:extLst>
      <p:ext uri="{BB962C8B-B14F-4D97-AF65-F5344CB8AC3E}">
        <p14:creationId xmlns:p14="http://schemas.microsoft.com/office/powerpoint/2010/main" val="3037944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CFED975-A4CC-7D73-0689-3C6695BB3DED}"/>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3 · LO QUE SE VE EN OBRA</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7B323C0D-F972-A9FD-7E23-96878670AB8C}"/>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Tres depósitos blancos que no significan lo mismo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A947F982-07EB-F03B-3DC4-1DB66143BC3C}"/>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pic>
        <p:nvPicPr>
          <p:cNvPr id="7" name="Imagen 6" descr="Eflorescencia bajo una junta de hormigonado">
            <a:extLst>
              <a:ext uri="{FF2B5EF4-FFF2-40B4-BE49-F238E27FC236}">
                <a16:creationId xmlns:a16="http://schemas.microsoft.com/office/drawing/2014/main" id="{ECC29E98-E182-BDA6-75A3-0E0FA35E97B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524000"/>
            <a:ext cx="3454400" cy="2336800"/>
          </a:xfrm>
          <a:prstGeom prst="rect">
            <a:avLst/>
          </a:prstGeom>
        </p:spPr>
      </p:pic>
      <p:sp>
        <p:nvSpPr>
          <p:cNvPr id="8" name="CuadroTexto 7">
            <a:extLst>
              <a:ext uri="{FF2B5EF4-FFF2-40B4-BE49-F238E27FC236}">
                <a16:creationId xmlns:a16="http://schemas.microsoft.com/office/drawing/2014/main" id="{B0AB09F9-5803-FA63-E1BE-BA6F9A9E4B99}"/>
              </a:ext>
            </a:extLst>
          </p:cNvPr>
          <p:cNvSpPr txBox="1"/>
          <p:nvPr/>
        </p:nvSpPr>
        <p:spPr>
          <a:xfrm>
            <a:off x="6096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Eflorescencia en junta</a:t>
            </a:r>
          </a:p>
        </p:txBody>
      </p:sp>
      <p:sp>
        <p:nvSpPr>
          <p:cNvPr id="9" name="CuadroTexto 8">
            <a:extLst>
              <a:ext uri="{FF2B5EF4-FFF2-40B4-BE49-F238E27FC236}">
                <a16:creationId xmlns:a16="http://schemas.microsoft.com/office/drawing/2014/main" id="{3392DB59-1F44-A61F-32AF-C5E8E04D00C2}"/>
              </a:ext>
            </a:extLst>
          </p:cNvPr>
          <p:cNvSpPr txBox="1"/>
          <p:nvPr/>
        </p:nvSpPr>
        <p:spPr>
          <a:xfrm>
            <a:off x="6096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Sal cristalizada en la salida del agua. Indica la ruta, pero por sí sola no mide ninguna pérdida.</a:t>
            </a:r>
            <a:endParaRPr lang="es-BO" sz="1150">
              <a:solidFill>
                <a:srgbClr val="5A5248"/>
              </a:solidFill>
              <a:latin typeface="Segoe UI" panose="020B0502040204020203" pitchFamily="34" charset="0"/>
            </a:endParaRPr>
          </a:p>
        </p:txBody>
      </p:sp>
      <p:pic>
        <p:nvPicPr>
          <p:cNvPr id="11" name="Imagen 10" descr="Costra de carbonato en la cara vista de un muro con agua en el trasdós">
            <a:extLst>
              <a:ext uri="{FF2B5EF4-FFF2-40B4-BE49-F238E27FC236}">
                <a16:creationId xmlns:a16="http://schemas.microsoft.com/office/drawing/2014/main" id="{CDD3CF62-E89B-F77A-E0B8-BEC95C9E943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368800" y="1524000"/>
            <a:ext cx="3454400" cy="2336800"/>
          </a:xfrm>
          <a:prstGeom prst="rect">
            <a:avLst/>
          </a:prstGeom>
        </p:spPr>
      </p:pic>
      <p:sp>
        <p:nvSpPr>
          <p:cNvPr id="12" name="CuadroTexto 11">
            <a:extLst>
              <a:ext uri="{FF2B5EF4-FFF2-40B4-BE49-F238E27FC236}">
                <a16:creationId xmlns:a16="http://schemas.microsoft.com/office/drawing/2014/main" id="{00BBC9A1-34A4-A695-3315-0929A7E218B5}"/>
              </a:ext>
            </a:extLst>
          </p:cNvPr>
          <p:cNvSpPr txBox="1"/>
          <p:nvPr/>
        </p:nvSpPr>
        <p:spPr>
          <a:xfrm>
            <a:off x="43688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Costra sobre el paramento</a:t>
            </a:r>
          </a:p>
        </p:txBody>
      </p:sp>
      <p:sp>
        <p:nvSpPr>
          <p:cNvPr id="13" name="CuadroTexto 12">
            <a:extLst>
              <a:ext uri="{FF2B5EF4-FFF2-40B4-BE49-F238E27FC236}">
                <a16:creationId xmlns:a16="http://schemas.microsoft.com/office/drawing/2014/main" id="{164CCC39-B50C-CEE2-B16B-F04EA75C02F0}"/>
              </a:ext>
            </a:extLst>
          </p:cNvPr>
          <p:cNvSpPr txBox="1"/>
          <p:nvPr/>
        </p:nvSpPr>
        <p:spPr>
          <a:xfrm>
            <a:off x="43688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Depósito continuo donde el agua atraviesa el elemento. Hay transporte sostenido, no un episodio aislado.</a:t>
            </a:r>
            <a:endParaRPr lang="es-BO" sz="1150">
              <a:solidFill>
                <a:srgbClr val="5A5248"/>
              </a:solidFill>
              <a:latin typeface="Segoe UI" panose="020B0502040204020203" pitchFamily="34" charset="0"/>
            </a:endParaRPr>
          </a:p>
        </p:txBody>
      </p:sp>
      <p:pic>
        <p:nvPicPr>
          <p:cNvPr id="15" name="Imagen 14" descr="Canal con la franja de oscilación del nivel de agua marcada">
            <a:extLst>
              <a:ext uri="{FF2B5EF4-FFF2-40B4-BE49-F238E27FC236}">
                <a16:creationId xmlns:a16="http://schemas.microsoft.com/office/drawing/2014/main" id="{79F58BE5-AB52-B461-EF75-472F884B9B6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128000" y="1524000"/>
            <a:ext cx="3454400" cy="2336800"/>
          </a:xfrm>
          <a:prstGeom prst="rect">
            <a:avLst/>
          </a:prstGeom>
        </p:spPr>
      </p:pic>
      <p:sp>
        <p:nvSpPr>
          <p:cNvPr id="16" name="CuadroTexto 15">
            <a:extLst>
              <a:ext uri="{FF2B5EF4-FFF2-40B4-BE49-F238E27FC236}">
                <a16:creationId xmlns:a16="http://schemas.microsoft.com/office/drawing/2014/main" id="{939A67C7-71D2-C548-8168-93445A28CE32}"/>
              </a:ext>
            </a:extLst>
          </p:cNvPr>
          <p:cNvSpPr txBox="1"/>
          <p:nvPr/>
        </p:nvSpPr>
        <p:spPr>
          <a:xfrm>
            <a:off x="8128000" y="3987800"/>
            <a:ext cx="3454400" cy="2794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Conducto en servicio</a:t>
            </a:r>
          </a:p>
        </p:txBody>
      </p:sp>
      <p:sp>
        <p:nvSpPr>
          <p:cNvPr id="17" name="CuadroTexto 16">
            <a:extLst>
              <a:ext uri="{FF2B5EF4-FFF2-40B4-BE49-F238E27FC236}">
                <a16:creationId xmlns:a16="http://schemas.microsoft.com/office/drawing/2014/main" id="{561B2153-62F6-DC68-0B0E-6BFB0C810108}"/>
              </a:ext>
            </a:extLst>
          </p:cNvPr>
          <p:cNvSpPr txBox="1"/>
          <p:nvPr/>
        </p:nvSpPr>
        <p:spPr>
          <a:xfrm>
            <a:off x="8128000" y="4292600"/>
            <a:ext cx="3454400" cy="965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Donde hay agua corriente permanente hay que mirar la franja de oscilación, no la zona sumergida.</a:t>
            </a:r>
            <a:endParaRPr lang="es-BO" sz="1150">
              <a:solidFill>
                <a:srgbClr val="5A5248"/>
              </a:solidFill>
              <a:latin typeface="Segoe UI" panose="020B0502040204020203" pitchFamily="34" charset="0"/>
            </a:endParaRPr>
          </a:p>
        </p:txBody>
      </p:sp>
      <p:sp>
        <p:nvSpPr>
          <p:cNvPr id="18" name="Rectángulo 17">
            <a:extLst>
              <a:ext uri="{FF2B5EF4-FFF2-40B4-BE49-F238E27FC236}">
                <a16:creationId xmlns:a16="http://schemas.microsoft.com/office/drawing/2014/main" id="{1132EAB6-5FA4-919D-233D-9484E542F9B2}"/>
              </a:ext>
            </a:extLst>
          </p:cNvPr>
          <p:cNvSpPr/>
          <p:nvPr/>
        </p:nvSpPr>
        <p:spPr>
          <a:xfrm>
            <a:off x="609600" y="5410200"/>
            <a:ext cx="109728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0" name="CuadroTexto 19">
            <a:extLst>
              <a:ext uri="{FF2B5EF4-FFF2-40B4-BE49-F238E27FC236}">
                <a16:creationId xmlns:a16="http://schemas.microsoft.com/office/drawing/2014/main" id="{F87AF600-A319-DA2A-A896-BC1859D7D1A3}"/>
              </a:ext>
            </a:extLst>
          </p:cNvPr>
          <p:cNvSpPr txBox="1"/>
          <p:nvPr/>
        </p:nvSpPr>
        <p:spPr>
          <a:xfrm>
            <a:off x="838200" y="5461000"/>
            <a:ext cx="10566400" cy="5588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Un depósito blanco siempre dice lo mismo: </a:t>
            </a:r>
            <a:r>
              <a:rPr lang="es-MX" sz="1200" b="1">
                <a:solidFill>
                  <a:srgbClr val="FFFFFF"/>
                </a:solidFill>
                <a:latin typeface="Segoe UI Semibold" panose="020B0702040204020203" pitchFamily="34" charset="0"/>
              </a:rPr>
              <a:t>hay agua atravesando el hormigón</a:t>
            </a:r>
            <a:r>
              <a:rPr lang="es-MX" sz="1200">
                <a:solidFill>
                  <a:srgbClr val="FFFFFF"/>
                </a:solidFill>
                <a:latin typeface="Segoe UI" panose="020B0502040204020203" pitchFamily="34" charset="0"/>
              </a:rPr>
              <a:t>. Lo que cambia de un caso a otro es de dónde sale y qué se lleva por el camino.</a:t>
            </a:r>
            <a:endParaRPr lang="es-BO" sz="1200">
              <a:solidFill>
                <a:srgbClr val="FFFFFF"/>
              </a:solidFill>
              <a:latin typeface="Segoe UI" panose="020B0502040204020203" pitchFamily="34" charset="0"/>
            </a:endParaRPr>
          </a:p>
        </p:txBody>
      </p:sp>
      <p:cxnSp>
        <p:nvCxnSpPr>
          <p:cNvPr id="21" name="Conector recto 20">
            <a:extLst>
              <a:ext uri="{FF2B5EF4-FFF2-40B4-BE49-F238E27FC236}">
                <a16:creationId xmlns:a16="http://schemas.microsoft.com/office/drawing/2014/main" id="{6D2A01A5-2AD1-C0CD-3985-2472A988D938}"/>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3D806DE9-DC95-E211-ACAA-1C7BB347CA47}"/>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3" name="CuadroTexto 22">
            <a:extLst>
              <a:ext uri="{FF2B5EF4-FFF2-40B4-BE49-F238E27FC236}">
                <a16:creationId xmlns:a16="http://schemas.microsoft.com/office/drawing/2014/main" id="{29C94BE0-F66D-B199-2191-E2BDA1EB1B7B}"/>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24" name="PageNo">
            <a:extLst>
              <a:ext uri="{FF2B5EF4-FFF2-40B4-BE49-F238E27FC236}">
                <a16:creationId xmlns:a16="http://schemas.microsoft.com/office/drawing/2014/main" id="{EE3952F9-0702-BA32-A091-0EC356A965BF}"/>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19 / 35</a:t>
            </a:r>
          </a:p>
        </p:txBody>
      </p:sp>
    </p:spTree>
    <p:extLst>
      <p:ext uri="{BB962C8B-B14F-4D97-AF65-F5344CB8AC3E}">
        <p14:creationId xmlns:p14="http://schemas.microsoft.com/office/powerpoint/2010/main" val="2793725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C3A9575-CCC5-4016-7B14-6A45E7C0056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920EF0D5-EEDD-9090-3CAC-F7A733611BE9}"/>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D52C0FC5-44E5-DA61-6DB4-898D05DE40FF}"/>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26FCFF7C-A851-3D31-9BE7-7F264B905B0F}"/>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PARTE 4</a:t>
            </a:r>
          </a:p>
        </p:txBody>
      </p:sp>
      <p:sp>
        <p:nvSpPr>
          <p:cNvPr id="7" name="Title">
            <a:extLst>
              <a:ext uri="{FF2B5EF4-FFF2-40B4-BE49-F238E27FC236}">
                <a16:creationId xmlns:a16="http://schemas.microsoft.com/office/drawing/2014/main" id="{3CDC3A8E-F3EF-2BD4-2635-BAA09B916883}"/>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BO" sz="3800">
                <a:solidFill>
                  <a:srgbClr val="FFFFFF"/>
                </a:solidFill>
                <a:latin typeface="Bahnschrift SemiBold" panose="020B0502040204020203" pitchFamily="34" charset="0"/>
              </a:rPr>
              <a:t>Reacción árido-álcali</a:t>
            </a:r>
          </a:p>
        </p:txBody>
      </p:sp>
      <p:sp>
        <p:nvSpPr>
          <p:cNvPr id="8" name="Rectángulo 7">
            <a:extLst>
              <a:ext uri="{FF2B5EF4-FFF2-40B4-BE49-F238E27FC236}">
                <a16:creationId xmlns:a16="http://schemas.microsoft.com/office/drawing/2014/main" id="{CED9031A-448B-8155-B379-5260D5A062D0}"/>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1278A42B-E70B-A36E-6F6B-DA67F35D9D8F}"/>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Un ataque que viene de dentro del propio hormigón y tarda quince años en aparecer.</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0A66BBB4-BE0D-87A8-DB0E-47DFC4B67569}"/>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7C50771D-AE40-2E78-ECEB-B35C24DD84DB}"/>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Los tres requisitos</a:t>
            </a:r>
          </a:p>
        </p:txBody>
      </p:sp>
      <p:sp>
        <p:nvSpPr>
          <p:cNvPr id="12" name="Rectángulo 11">
            <a:extLst>
              <a:ext uri="{FF2B5EF4-FFF2-40B4-BE49-F238E27FC236}">
                <a16:creationId xmlns:a16="http://schemas.microsoft.com/office/drawing/2014/main" id="{F431080F-1173-7240-A7BE-B225969012B6}"/>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D7269DF5-CB38-0B01-971C-0979FA934B6F}"/>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Cómo se confirma</a:t>
            </a:r>
          </a:p>
        </p:txBody>
      </p:sp>
      <p:sp>
        <p:nvSpPr>
          <p:cNvPr id="14" name="Rectángulo 13">
            <a:extLst>
              <a:ext uri="{FF2B5EF4-FFF2-40B4-BE49-F238E27FC236}">
                <a16:creationId xmlns:a16="http://schemas.microsoft.com/office/drawing/2014/main" id="{DEA93D23-06A9-A23C-8973-F191389438F6}"/>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2DD3D00E-D75D-BFF1-8ADF-5043E3110AFD}"/>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BO" sz="1050">
                <a:solidFill>
                  <a:srgbClr val="CFC7B8"/>
                </a:solidFill>
                <a:latin typeface="Segoe UI" panose="020B0502040204020203" pitchFamily="34" charset="0"/>
              </a:rPr>
              <a:t>Qué se puede hacer</a:t>
            </a:r>
          </a:p>
        </p:txBody>
      </p:sp>
      <p:sp>
        <p:nvSpPr>
          <p:cNvPr id="16" name="CuadroTexto 15">
            <a:extLst>
              <a:ext uri="{FF2B5EF4-FFF2-40B4-BE49-F238E27FC236}">
                <a16:creationId xmlns:a16="http://schemas.microsoft.com/office/drawing/2014/main" id="{7C0C160A-75D2-250A-92AE-59EE00C22FB1}"/>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4 · ATAQUE QUÍMICO</a:t>
            </a:r>
          </a:p>
        </p:txBody>
      </p:sp>
    </p:spTree>
    <p:extLst>
      <p:ext uri="{BB962C8B-B14F-4D97-AF65-F5344CB8AC3E}">
        <p14:creationId xmlns:p14="http://schemas.microsoft.com/office/powerpoint/2010/main" val="733321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F057908-0558-60B8-69C0-E96BE6293DDF}"/>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4 · LOS TRES REQUISITOS</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223350EA-7738-A9B2-ED10-4B8C757EDD8E}"/>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Faltando uno, no hay reacción</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11BF76CD-2471-0949-5DE6-62B204CA8B39}"/>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4BA0AA0C-505E-7D61-21EC-F6B18C632698}"/>
              </a:ext>
            </a:extLst>
          </p:cNvPr>
          <p:cNvSpPr/>
          <p:nvPr/>
        </p:nvSpPr>
        <p:spPr>
          <a:xfrm>
            <a:off x="609600" y="1422400"/>
            <a:ext cx="3048000" cy="2641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8" name="CuadroTexto 7">
            <a:extLst>
              <a:ext uri="{FF2B5EF4-FFF2-40B4-BE49-F238E27FC236}">
                <a16:creationId xmlns:a16="http://schemas.microsoft.com/office/drawing/2014/main" id="{AC6244B8-34DC-3E11-BF30-1292688B91BE}"/>
              </a:ext>
            </a:extLst>
          </p:cNvPr>
          <p:cNvSpPr txBox="1"/>
          <p:nvPr/>
        </p:nvSpPr>
        <p:spPr>
          <a:xfrm>
            <a:off x="8128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01</a:t>
            </a:r>
          </a:p>
        </p:txBody>
      </p:sp>
      <p:sp>
        <p:nvSpPr>
          <p:cNvPr id="9" name="CuadroTexto 8">
            <a:extLst>
              <a:ext uri="{FF2B5EF4-FFF2-40B4-BE49-F238E27FC236}">
                <a16:creationId xmlns:a16="http://schemas.microsoft.com/office/drawing/2014/main" id="{8592CF73-8A51-8E6C-9B8B-0EB80DBCACC6}"/>
              </a:ext>
            </a:extLst>
          </p:cNvPr>
          <p:cNvSpPr txBox="1"/>
          <p:nvPr/>
        </p:nvSpPr>
        <p:spPr>
          <a:xfrm>
            <a:off x="812800" y="1981200"/>
            <a:ext cx="2667000" cy="279400"/>
          </a:xfrm>
          <a:prstGeom prst="rect">
            <a:avLst/>
          </a:prstGeom>
          <a:noFill/>
        </p:spPr>
        <p:txBody>
          <a:bodyPr vert="horz" wrap="square" lIns="0" tIns="0" rIns="0" bIns="0" rtlCol="0" anchor="t">
            <a:noAutofit/>
          </a:bodyPr>
          <a:lstStyle/>
          <a:p>
            <a:pPr algn="l"/>
            <a:r>
              <a:rPr lang="es-BO" sz="1400">
                <a:solidFill>
                  <a:srgbClr val="1C1813"/>
                </a:solidFill>
                <a:latin typeface="Bahnschrift SemiBold" panose="020B0502040204020203" pitchFamily="34" charset="0"/>
              </a:rPr>
              <a:t>Árido reactivo</a:t>
            </a:r>
          </a:p>
        </p:txBody>
      </p:sp>
      <p:sp>
        <p:nvSpPr>
          <p:cNvPr id="10" name="CuadroTexto 9">
            <a:extLst>
              <a:ext uri="{FF2B5EF4-FFF2-40B4-BE49-F238E27FC236}">
                <a16:creationId xmlns:a16="http://schemas.microsoft.com/office/drawing/2014/main" id="{84CC7AB9-9D3F-76E0-3525-BFBA5A6CE41A}"/>
              </a:ext>
            </a:extLst>
          </p:cNvPr>
          <p:cNvSpPr txBox="1"/>
          <p:nvPr/>
        </p:nvSpPr>
        <p:spPr>
          <a:xfrm>
            <a:off x="812800" y="2273300"/>
            <a:ext cx="2641600" cy="17018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Áridos con sílice amorfa o mal cristalizada: ópalo, vidrio volcánico, cuarzo deformado. En zonas volcánicas conviene ensayarlo siempre.</a:t>
            </a:r>
            <a:endParaRPr lang="es-BO" sz="1150">
              <a:solidFill>
                <a:srgbClr val="5A5248"/>
              </a:solidFill>
              <a:latin typeface="Segoe UI" panose="020B0502040204020203" pitchFamily="34" charset="0"/>
            </a:endParaRPr>
          </a:p>
        </p:txBody>
      </p:sp>
      <p:sp>
        <p:nvSpPr>
          <p:cNvPr id="11" name="Rectángulo 10">
            <a:extLst>
              <a:ext uri="{FF2B5EF4-FFF2-40B4-BE49-F238E27FC236}">
                <a16:creationId xmlns:a16="http://schemas.microsoft.com/office/drawing/2014/main" id="{AB986291-4A3C-88BA-2CAF-4965E0451DA6}"/>
              </a:ext>
            </a:extLst>
          </p:cNvPr>
          <p:cNvSpPr/>
          <p:nvPr/>
        </p:nvSpPr>
        <p:spPr>
          <a:xfrm>
            <a:off x="4368800" y="1422400"/>
            <a:ext cx="3048000" cy="2641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EFB650B2-E7FA-0D60-6331-78F295260FC7}"/>
              </a:ext>
            </a:extLst>
          </p:cNvPr>
          <p:cNvSpPr txBox="1"/>
          <p:nvPr/>
        </p:nvSpPr>
        <p:spPr>
          <a:xfrm>
            <a:off x="45720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02</a:t>
            </a:r>
          </a:p>
        </p:txBody>
      </p:sp>
      <p:sp>
        <p:nvSpPr>
          <p:cNvPr id="14" name="CuadroTexto 13">
            <a:extLst>
              <a:ext uri="{FF2B5EF4-FFF2-40B4-BE49-F238E27FC236}">
                <a16:creationId xmlns:a16="http://schemas.microsoft.com/office/drawing/2014/main" id="{C0D83EBA-5232-49D2-0090-283893BB3772}"/>
              </a:ext>
            </a:extLst>
          </p:cNvPr>
          <p:cNvSpPr txBox="1"/>
          <p:nvPr/>
        </p:nvSpPr>
        <p:spPr>
          <a:xfrm>
            <a:off x="4572000" y="1981200"/>
            <a:ext cx="2667000" cy="279400"/>
          </a:xfrm>
          <a:prstGeom prst="rect">
            <a:avLst/>
          </a:prstGeom>
          <a:noFill/>
        </p:spPr>
        <p:txBody>
          <a:bodyPr vert="horz" wrap="square" lIns="0" tIns="0" rIns="0" bIns="0" rtlCol="0" anchor="t">
            <a:noAutofit/>
          </a:bodyPr>
          <a:lstStyle/>
          <a:p>
            <a:pPr algn="l"/>
            <a:r>
              <a:rPr lang="es-BO" sz="1400">
                <a:solidFill>
                  <a:srgbClr val="1C1813"/>
                </a:solidFill>
                <a:latin typeface="Bahnschrift SemiBold" panose="020B0502040204020203" pitchFamily="34" charset="0"/>
              </a:rPr>
              <a:t>Álcalis disponibles</a:t>
            </a:r>
          </a:p>
        </p:txBody>
      </p:sp>
      <p:sp>
        <p:nvSpPr>
          <p:cNvPr id="15" name="CuadroTexto 14">
            <a:extLst>
              <a:ext uri="{FF2B5EF4-FFF2-40B4-BE49-F238E27FC236}">
                <a16:creationId xmlns:a16="http://schemas.microsoft.com/office/drawing/2014/main" id="{57E191A1-9F9C-3F33-0888-015ABA3B036C}"/>
              </a:ext>
            </a:extLst>
          </p:cNvPr>
          <p:cNvSpPr txBox="1"/>
          <p:nvPr/>
        </p:nvSpPr>
        <p:spPr>
          <a:xfrm>
            <a:off x="4572000" y="2273300"/>
            <a:ext cx="2641600" cy="17018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Sodio y potasio del propio cemento, disueltos en el agua del poro. Se controla limitando el contenido equivalente de álcalis del cemento.</a:t>
            </a:r>
            <a:endParaRPr lang="es-BO" sz="115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366920D9-09BD-6E7F-A771-6F76924DE112}"/>
              </a:ext>
            </a:extLst>
          </p:cNvPr>
          <p:cNvSpPr/>
          <p:nvPr/>
        </p:nvSpPr>
        <p:spPr>
          <a:xfrm>
            <a:off x="8128000" y="1422400"/>
            <a:ext cx="3048000" cy="2641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182E5D04-BDDD-297A-975F-ACE81C202AE4}"/>
              </a:ext>
            </a:extLst>
          </p:cNvPr>
          <p:cNvSpPr txBox="1"/>
          <p:nvPr/>
        </p:nvSpPr>
        <p:spPr>
          <a:xfrm>
            <a:off x="8331200" y="1600200"/>
            <a:ext cx="1016000" cy="304800"/>
          </a:xfrm>
          <a:prstGeom prst="rect">
            <a:avLst/>
          </a:prstGeom>
          <a:noFill/>
        </p:spPr>
        <p:txBody>
          <a:bodyPr vert="horz" wrap="square" lIns="0" tIns="0" rIns="0" bIns="0" rtlCol="0" anchor="t">
            <a:noAutofit/>
          </a:bodyPr>
          <a:lstStyle/>
          <a:p>
            <a:r>
              <a:rPr lang="es-BO" sz="2000">
                <a:solidFill>
                  <a:srgbClr val="8A6A2F"/>
                </a:solidFill>
                <a:latin typeface="Bahnschrift Light" panose="020B0502040204020203" pitchFamily="34" charset="0"/>
              </a:rPr>
              <a:t>03</a:t>
            </a:r>
          </a:p>
        </p:txBody>
      </p:sp>
      <p:sp>
        <p:nvSpPr>
          <p:cNvPr id="19" name="CuadroTexto 18">
            <a:extLst>
              <a:ext uri="{FF2B5EF4-FFF2-40B4-BE49-F238E27FC236}">
                <a16:creationId xmlns:a16="http://schemas.microsoft.com/office/drawing/2014/main" id="{56ABEF68-E19B-B07C-6CEE-48302C8DFF6E}"/>
              </a:ext>
            </a:extLst>
          </p:cNvPr>
          <p:cNvSpPr txBox="1"/>
          <p:nvPr/>
        </p:nvSpPr>
        <p:spPr>
          <a:xfrm>
            <a:off x="8331200" y="1981200"/>
            <a:ext cx="2667000" cy="279400"/>
          </a:xfrm>
          <a:prstGeom prst="rect">
            <a:avLst/>
          </a:prstGeom>
          <a:noFill/>
        </p:spPr>
        <p:txBody>
          <a:bodyPr vert="horz" wrap="square" lIns="0" tIns="0" rIns="0" bIns="0" rtlCol="0" anchor="t">
            <a:noAutofit/>
          </a:bodyPr>
          <a:lstStyle/>
          <a:p>
            <a:pPr algn="l"/>
            <a:r>
              <a:rPr lang="es-BO" sz="1400">
                <a:solidFill>
                  <a:srgbClr val="1C1813"/>
                </a:solidFill>
                <a:latin typeface="Bahnschrift SemiBold" panose="020B0502040204020203" pitchFamily="34" charset="0"/>
              </a:rPr>
              <a:t>Humedad</a:t>
            </a:r>
          </a:p>
        </p:txBody>
      </p:sp>
      <p:sp>
        <p:nvSpPr>
          <p:cNvPr id="20" name="CuadroTexto 19">
            <a:extLst>
              <a:ext uri="{FF2B5EF4-FFF2-40B4-BE49-F238E27FC236}">
                <a16:creationId xmlns:a16="http://schemas.microsoft.com/office/drawing/2014/main" id="{76C96EBD-C7E9-3ECF-BD67-26DD03F681B7}"/>
              </a:ext>
            </a:extLst>
          </p:cNvPr>
          <p:cNvSpPr txBox="1"/>
          <p:nvPr/>
        </p:nvSpPr>
        <p:spPr>
          <a:xfrm>
            <a:off x="8331200" y="2273300"/>
            <a:ext cx="2641600" cy="17018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Por encima del 80 % de humedad relativa dentro del hormigón. </a:t>
            </a:r>
            <a:r>
              <a:rPr lang="es-MX" sz="1150" b="1">
                <a:solidFill>
                  <a:srgbClr val="5A5248"/>
                </a:solidFill>
                <a:latin typeface="Segoe UI Semibold" panose="020B0702040204020203" pitchFamily="34" charset="0"/>
              </a:rPr>
              <a:t>Este es el único de los tres que se puede tocar después de construido.</a:t>
            </a:r>
            <a:endParaRPr lang="es-BO" sz="1150" b="1">
              <a:solidFill>
                <a:srgbClr val="5A5248"/>
              </a:solidFill>
              <a:latin typeface="Segoe UI Semibold" panose="020B0702040204020203" pitchFamily="34" charset="0"/>
            </a:endParaRPr>
          </a:p>
        </p:txBody>
      </p:sp>
      <p:pic>
        <p:nvPicPr>
          <p:cNvPr id="22" name="Imagen 21" descr="Los tres requisitos de la reacción árido-álcali y un árido con borde de gel">
            <a:extLst>
              <a:ext uri="{FF2B5EF4-FFF2-40B4-BE49-F238E27FC236}">
                <a16:creationId xmlns:a16="http://schemas.microsoft.com/office/drawing/2014/main" id="{B973A5C6-C41F-81AE-5B03-EE579825E6E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4724400"/>
            <a:ext cx="5334000" cy="1270000"/>
          </a:xfrm>
          <a:prstGeom prst="rect">
            <a:avLst/>
          </a:prstGeom>
        </p:spPr>
      </p:pic>
      <p:sp>
        <p:nvSpPr>
          <p:cNvPr id="23" name="Rectángulo 22">
            <a:extLst>
              <a:ext uri="{FF2B5EF4-FFF2-40B4-BE49-F238E27FC236}">
                <a16:creationId xmlns:a16="http://schemas.microsoft.com/office/drawing/2014/main" id="{96E65895-61A3-330F-5EAF-5C50FB8382F2}"/>
              </a:ext>
            </a:extLst>
          </p:cNvPr>
          <p:cNvSpPr/>
          <p:nvPr/>
        </p:nvSpPr>
        <p:spPr>
          <a:xfrm>
            <a:off x="6248400" y="4724400"/>
            <a:ext cx="5334000" cy="12700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5" name="CuadroTexto 24">
            <a:extLst>
              <a:ext uri="{FF2B5EF4-FFF2-40B4-BE49-F238E27FC236}">
                <a16:creationId xmlns:a16="http://schemas.microsoft.com/office/drawing/2014/main" id="{289F80D3-C500-2506-DFB0-0AF68BA836D4}"/>
              </a:ext>
            </a:extLst>
          </p:cNvPr>
          <p:cNvSpPr txBox="1"/>
          <p:nvPr/>
        </p:nvSpPr>
        <p:spPr>
          <a:xfrm>
            <a:off x="6477000" y="4902200"/>
            <a:ext cx="4927600" cy="965200"/>
          </a:xfrm>
          <a:prstGeom prst="rect">
            <a:avLst/>
          </a:prstGeom>
          <a:noFill/>
        </p:spPr>
        <p:txBody>
          <a:bodyPr vert="horz" wrap="square" lIns="0" tIns="0" rIns="0" bIns="0" rtlCol="0" anchor="t">
            <a:noAutofit/>
          </a:bodyPr>
          <a:lstStyle/>
          <a:p>
            <a:pPr algn="l"/>
            <a:r>
              <a:rPr lang="es-MX" sz="1150">
                <a:solidFill>
                  <a:srgbClr val="FFFFFF"/>
                </a:solidFill>
                <a:latin typeface="Segoe UI" panose="020B0502040204020203" pitchFamily="34" charset="0"/>
              </a:rPr>
              <a:t>El gel que se forma absorbe agua, se hincha y revienta la masa desde el interior del árido. Por eso la fisuración es </a:t>
            </a:r>
            <a:r>
              <a:rPr lang="es-MX" sz="1150" b="1">
                <a:solidFill>
                  <a:srgbClr val="FFFFFF"/>
                </a:solidFill>
                <a:latin typeface="Segoe UI Semibold" panose="020B0702040204020203" pitchFamily="34" charset="0"/>
              </a:rPr>
              <a:t>en mapa y tardía</a:t>
            </a:r>
            <a:r>
              <a:rPr lang="es-MX" sz="1150">
                <a:solidFill>
                  <a:srgbClr val="FFFFFF"/>
                </a:solidFill>
                <a:latin typeface="Segoe UI" panose="020B0502040204020203" pitchFamily="34" charset="0"/>
              </a:rPr>
              <a:t>: aparece diez o quince años después de hormigonar.</a:t>
            </a:r>
            <a:endParaRPr lang="es-BO" sz="1150">
              <a:solidFill>
                <a:srgbClr val="FFFFFF"/>
              </a:solidFill>
              <a:latin typeface="Segoe UI" panose="020B0502040204020203" pitchFamily="34" charset="0"/>
            </a:endParaRPr>
          </a:p>
        </p:txBody>
      </p:sp>
      <p:sp>
        <p:nvSpPr>
          <p:cNvPr id="26" name="CuadroTexto 25">
            <a:extLst>
              <a:ext uri="{FF2B5EF4-FFF2-40B4-BE49-F238E27FC236}">
                <a16:creationId xmlns:a16="http://schemas.microsoft.com/office/drawing/2014/main" id="{3B9CADE6-B0EC-F495-7B12-A1C0B2F8963A}"/>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201.2R §2.6; ASTM C1778, guía de evaluación del riesgo de reacción árido-álcali.</a:t>
            </a:r>
            <a:endParaRPr lang="es-BO" sz="700">
              <a:solidFill>
                <a:srgbClr val="938A7C"/>
              </a:solidFill>
              <a:latin typeface="Segoe UI" panose="020B0502040204020203" pitchFamily="34" charset="0"/>
            </a:endParaRPr>
          </a:p>
        </p:txBody>
      </p:sp>
      <p:cxnSp>
        <p:nvCxnSpPr>
          <p:cNvPr id="27" name="Conector recto 26">
            <a:extLst>
              <a:ext uri="{FF2B5EF4-FFF2-40B4-BE49-F238E27FC236}">
                <a16:creationId xmlns:a16="http://schemas.microsoft.com/office/drawing/2014/main" id="{D97D2549-45CE-8EDA-AEEA-EC8CB0BDEF56}"/>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C1728198-5473-DC0A-8F95-783956007EB3}"/>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9" name="CuadroTexto 28">
            <a:extLst>
              <a:ext uri="{FF2B5EF4-FFF2-40B4-BE49-F238E27FC236}">
                <a16:creationId xmlns:a16="http://schemas.microsoft.com/office/drawing/2014/main" id="{7A51377F-E78C-9CE3-B650-5B84226F837F}"/>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30" name="PageNo">
            <a:extLst>
              <a:ext uri="{FF2B5EF4-FFF2-40B4-BE49-F238E27FC236}">
                <a16:creationId xmlns:a16="http://schemas.microsoft.com/office/drawing/2014/main" id="{6E6DF8E9-FC11-3A4E-AD91-EC89ABC39B00}"/>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21 / 35</a:t>
            </a:r>
          </a:p>
        </p:txBody>
      </p:sp>
    </p:spTree>
    <p:extLst>
      <p:ext uri="{BB962C8B-B14F-4D97-AF65-F5344CB8AC3E}">
        <p14:creationId xmlns:p14="http://schemas.microsoft.com/office/powerpoint/2010/main" val="3656259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A0E7719-A82D-0789-4253-4AC0C6521F88}"/>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4 · RETRACCIÓN O REACCIÓN: EL DIAGNÓSTICO DIFERENCIAL</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69F39785-3E3C-214A-F95E-E4A39C899958}"/>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Las dos dan fisuración en mapa, y no se parecen en nada más</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267DEEA2-A800-496C-ACD0-F21395164966}"/>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5A379B47-BCDE-4ED9-807C-2D3A9E6371D3}"/>
              </a:ext>
            </a:extLst>
          </p:cNvPr>
          <p:cNvGraphicFramePr>
            <a:graphicFrameLocks noGrp="1"/>
          </p:cNvGraphicFramePr>
          <p:nvPr>
            <p:extLst>
              <p:ext uri="{D42A27DB-BD31-4B8C-83A1-F6EECF244321}">
                <p14:modId xmlns:p14="http://schemas.microsoft.com/office/powerpoint/2010/main" val="141111223"/>
              </p:ext>
            </p:extLst>
          </p:nvPr>
        </p:nvGraphicFramePr>
        <p:xfrm>
          <a:off x="609600" y="1422400"/>
          <a:ext cx="6299200" cy="3149601"/>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705054249"/>
                    </a:ext>
                  </a:extLst>
                </a:gridCol>
                <a:gridCol w="2336800">
                  <a:extLst>
                    <a:ext uri="{9D8B030D-6E8A-4147-A177-3AD203B41FA5}">
                      <a16:colId xmlns:a16="http://schemas.microsoft.com/office/drawing/2014/main" val="4098985515"/>
                    </a:ext>
                  </a:extLst>
                </a:gridCol>
                <a:gridCol w="2743200">
                  <a:extLst>
                    <a:ext uri="{9D8B030D-6E8A-4147-A177-3AD203B41FA5}">
                      <a16:colId xmlns:a16="http://schemas.microsoft.com/office/drawing/2014/main" val="4276775482"/>
                    </a:ext>
                  </a:extLst>
                </a:gridCol>
              </a:tblGrid>
              <a:tr h="449943">
                <a:tc>
                  <a:txBody>
                    <a:bodyPr/>
                    <a:lstStyle/>
                    <a:p>
                      <a:pPr algn="ctr"/>
                      <a:r>
                        <a:rPr lang="es-BO" sz="900" b="0">
                          <a:solidFill>
                            <a:srgbClr val="FFFFFF"/>
                          </a:solidFill>
                          <a:latin typeface="Segoe UI Semibold" panose="020B0702040204020203" pitchFamily="34" charset="0"/>
                        </a:rPr>
                        <a:t>Criterio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Retracción  (clase 2)</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Reacción árido-álcali</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773259502"/>
                  </a:ext>
                </a:extLst>
              </a:tr>
              <a:tr h="449943">
                <a:tc>
                  <a:txBody>
                    <a:bodyPr/>
                    <a:lstStyle/>
                    <a:p>
                      <a:pPr algn="ctr"/>
                      <a:r>
                        <a:rPr lang="es-BO" sz="950" b="0">
                          <a:solidFill>
                            <a:srgbClr val="1C1813"/>
                          </a:solidFill>
                          <a:latin typeface="Segoe UI Semibold" panose="020B0702040204020203" pitchFamily="34" charset="0"/>
                        </a:rPr>
                        <a:t>Cuándo aparece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Primeros meses tras hormigonar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Entre diez y veinte años después</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572336015"/>
                  </a:ext>
                </a:extLst>
              </a:tr>
              <a:tr h="449943">
                <a:tc>
                  <a:txBody>
                    <a:bodyPr/>
                    <a:lstStyle/>
                    <a:p>
                      <a:pPr algn="ctr"/>
                      <a:r>
                        <a:rPr lang="es-BO" sz="950" b="0">
                          <a:solidFill>
                            <a:srgbClr val="1C1813"/>
                          </a:solidFill>
                          <a:latin typeface="Segoe UI Semibold" panose="020B0702040204020203" pitchFamily="34" charset="0"/>
                        </a:rPr>
                        <a:t>Profundidad</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Superficial: no atraviesa el elemento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Afecta a toda la masa, no solo a la piel</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777430418"/>
                  </a:ext>
                </a:extLst>
              </a:tr>
              <a:tr h="449943">
                <a:tc>
                  <a:txBody>
                    <a:bodyPr/>
                    <a:lstStyle/>
                    <a:p>
                      <a:pPr algn="ctr"/>
                      <a:r>
                        <a:rPr lang="es-BO" sz="950" b="0">
                          <a:solidFill>
                            <a:srgbClr val="1C1813"/>
                          </a:solidFill>
                          <a:latin typeface="Segoe UI Semibold" panose="020B0702040204020203" pitchFamily="34" charset="0"/>
                        </a:rPr>
                        <a:t>Exudación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Ninguna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Gel translúcido o blanquecino en el labio de la fisura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1044186827"/>
                  </a:ext>
                </a:extLst>
              </a:tr>
              <a:tr h="449943">
                <a:tc>
                  <a:txBody>
                    <a:bodyPr/>
                    <a:lstStyle/>
                    <a:p>
                      <a:pPr algn="ctr"/>
                      <a:r>
                        <a:rPr lang="es-BO" sz="950" b="0">
                          <a:solidFill>
                            <a:srgbClr val="1C1813"/>
                          </a:solidFill>
                          <a:latin typeface="Segoe UI Semibold" panose="020B0702040204020203" pitchFamily="34" charset="0"/>
                        </a:rPr>
                        <a:t>Humedad</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Indiferente: puede darse en seco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Imprescindible y permanente, por encima del 80 % de HR</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1615952643"/>
                  </a:ext>
                </a:extLst>
              </a:tr>
              <a:tr h="449943">
                <a:tc>
                  <a:txBody>
                    <a:bodyPr/>
                    <a:lstStyle/>
                    <a:p>
                      <a:pPr algn="ctr"/>
                      <a:r>
                        <a:rPr lang="es-BO" sz="950" b="0">
                          <a:solidFill>
                            <a:srgbClr val="1C1813"/>
                          </a:solidFill>
                          <a:latin typeface="Segoe UI Semibold" panose="020B0702040204020203" pitchFamily="34" charset="0"/>
                        </a:rPr>
                        <a:t>Evolución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Se estabiliza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Progresiva: la expansión continúa mientras haya agua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3551244237"/>
                  </a:ext>
                </a:extLst>
              </a:tr>
              <a:tr h="449943">
                <a:tc>
                  <a:txBody>
                    <a:bodyPr/>
                    <a:lstStyle/>
                    <a:p>
                      <a:pPr algn="ctr"/>
                      <a:r>
                        <a:rPr lang="es-BO" sz="950" b="0">
                          <a:solidFill>
                            <a:srgbClr val="1C1813"/>
                          </a:solidFill>
                          <a:latin typeface="Segoe UI Semibold" panose="020B0702040204020203" pitchFamily="34" charset="0"/>
                        </a:rPr>
                        <a:t>Cómo se confirma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Con la edad y el patrón basta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Petrografía y sección delgada: sin eso no se declara</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450742770"/>
                  </a:ext>
                </a:extLst>
              </a:tr>
            </a:tbl>
          </a:graphicData>
        </a:graphic>
      </p:graphicFrame>
      <p:pic>
        <p:nvPicPr>
          <p:cNvPr id="8" name="Imagen 7" descr="Retracción frente a reacción árido-álcali, en planta y en corte">
            <a:extLst>
              <a:ext uri="{FF2B5EF4-FFF2-40B4-BE49-F238E27FC236}">
                <a16:creationId xmlns:a16="http://schemas.microsoft.com/office/drawing/2014/main" id="{06EA1D9C-9C8C-6D37-E1AF-CDAC525E1D1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0" y="1422400"/>
            <a:ext cx="4470400" cy="3149600"/>
          </a:xfrm>
          <a:prstGeom prst="rect">
            <a:avLst/>
          </a:prstGeom>
        </p:spPr>
      </p:pic>
      <p:sp>
        <p:nvSpPr>
          <p:cNvPr id="9" name="Rectángulo 8">
            <a:extLst>
              <a:ext uri="{FF2B5EF4-FFF2-40B4-BE49-F238E27FC236}">
                <a16:creationId xmlns:a16="http://schemas.microsoft.com/office/drawing/2014/main" id="{48CD577E-E4E7-FA0D-EB86-85F4026B3CD8}"/>
              </a:ext>
            </a:extLst>
          </p:cNvPr>
          <p:cNvSpPr/>
          <p:nvPr/>
        </p:nvSpPr>
        <p:spPr>
          <a:xfrm>
            <a:off x="609600" y="47752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389691FA-6A00-0499-2852-17719A56CF92}"/>
              </a:ext>
            </a:extLst>
          </p:cNvPr>
          <p:cNvSpPr txBox="1"/>
          <p:nvPr/>
        </p:nvSpPr>
        <p:spPr>
          <a:xfrm>
            <a:off x="838200" y="48260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Nunca declare reacción árido-álcali con una fotografía. </a:t>
            </a:r>
            <a:r>
              <a:rPr lang="es-MX" sz="1200" b="1">
                <a:solidFill>
                  <a:srgbClr val="FFFFFF"/>
                </a:solidFill>
                <a:latin typeface="Segoe UI Semibold" panose="020B0702040204020203" pitchFamily="34" charset="0"/>
              </a:rPr>
              <a:t>El dibujo es idéntico al de la retracción</a:t>
            </a:r>
            <a:r>
              <a:rPr lang="es-MX" sz="1200">
                <a:solidFill>
                  <a:srgbClr val="FFFFFF"/>
                </a:solidFill>
                <a:latin typeface="Segoe UI" panose="020B0502040204020203" pitchFamily="34" charset="0"/>
              </a:rPr>
              <a:t>, y la diferencia entre los dos informes son cientos de miles de bolivianos.</a:t>
            </a:r>
            <a:endParaRPr lang="es-BO" sz="1200">
              <a:solidFill>
                <a:srgbClr val="FFFFFF"/>
              </a:solidFill>
              <a:latin typeface="Segoe UI" panose="020B0502040204020203" pitchFamily="34" charset="0"/>
            </a:endParaRPr>
          </a:p>
        </p:txBody>
      </p:sp>
      <p:sp>
        <p:nvSpPr>
          <p:cNvPr id="12" name="CuadroTexto 11">
            <a:extLst>
              <a:ext uri="{FF2B5EF4-FFF2-40B4-BE49-F238E27FC236}">
                <a16:creationId xmlns:a16="http://schemas.microsoft.com/office/drawing/2014/main" id="{0D1D202F-C39C-E694-5C2B-053360A3FE38}"/>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ASTM C295 (petrografía); ASTM C1260 (barra de mortero acelerada); ASTM C856 (sección delgada).</a:t>
            </a:r>
            <a:endParaRPr lang="es-BO" sz="700">
              <a:solidFill>
                <a:srgbClr val="938A7C"/>
              </a:solidFill>
              <a:latin typeface="Segoe UI" panose="020B0502040204020203" pitchFamily="34" charset="0"/>
            </a:endParaRPr>
          </a:p>
        </p:txBody>
      </p:sp>
      <p:cxnSp>
        <p:nvCxnSpPr>
          <p:cNvPr id="13" name="Conector recto 12">
            <a:extLst>
              <a:ext uri="{FF2B5EF4-FFF2-40B4-BE49-F238E27FC236}">
                <a16:creationId xmlns:a16="http://schemas.microsoft.com/office/drawing/2014/main" id="{46C4BDE9-FDEE-135D-C1FC-671E2AD7712A}"/>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27F7DE8A-DF3B-D96B-33B0-D7FD2B569C10}"/>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15" name="CuadroTexto 14">
            <a:extLst>
              <a:ext uri="{FF2B5EF4-FFF2-40B4-BE49-F238E27FC236}">
                <a16:creationId xmlns:a16="http://schemas.microsoft.com/office/drawing/2014/main" id="{D86F88C8-864B-3F0F-7AC3-14204F403C7C}"/>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16" name="PageNo">
            <a:extLst>
              <a:ext uri="{FF2B5EF4-FFF2-40B4-BE49-F238E27FC236}">
                <a16:creationId xmlns:a16="http://schemas.microsoft.com/office/drawing/2014/main" id="{49E8D9C6-4A52-8AF7-705C-93C054133B98}"/>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22 / 35</a:t>
            </a:r>
          </a:p>
        </p:txBody>
      </p:sp>
    </p:spTree>
    <p:extLst>
      <p:ext uri="{BB962C8B-B14F-4D97-AF65-F5344CB8AC3E}">
        <p14:creationId xmlns:p14="http://schemas.microsoft.com/office/powerpoint/2010/main" val="1004989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6C60172-B7EB-FDA3-A40D-40F46A26178A}"/>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PARTE 4 · QUÉ SE PUEDE HACER</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6A573028-9892-24C9-8AE1-224B897FBC3A}"/>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Muy poco, y por eso esta parte termina hablando de obra nueva</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B85A769C-7CF0-32B5-B47F-03F967289CC4}"/>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CA67F0AC-29CF-24F2-2E0B-4E214B488B7D}"/>
              </a:ext>
            </a:extLst>
          </p:cNvPr>
          <p:cNvSpPr/>
          <p:nvPr/>
        </p:nvSpPr>
        <p:spPr>
          <a:xfrm>
            <a:off x="609600" y="14224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1</a:t>
            </a:r>
          </a:p>
        </p:txBody>
      </p:sp>
      <p:sp>
        <p:nvSpPr>
          <p:cNvPr id="7" name="CuadroTexto 6">
            <a:extLst>
              <a:ext uri="{FF2B5EF4-FFF2-40B4-BE49-F238E27FC236}">
                <a16:creationId xmlns:a16="http://schemas.microsoft.com/office/drawing/2014/main" id="{CBEB4FCD-41EF-922D-D660-72F6042840DB}"/>
              </a:ext>
            </a:extLst>
          </p:cNvPr>
          <p:cNvSpPr txBox="1"/>
          <p:nvPr/>
        </p:nvSpPr>
        <p:spPr>
          <a:xfrm>
            <a:off x="1143000" y="1435100"/>
            <a:ext cx="5842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Sobre lo construido: cortar el agua</a:t>
            </a:r>
            <a:endParaRPr lang="es-BO" sz="1350">
              <a:solidFill>
                <a:srgbClr val="1C1813"/>
              </a:solidFill>
              <a:latin typeface="Bahnschrift SemiBold" panose="020B0502040204020203" pitchFamily="34" charset="0"/>
            </a:endParaRPr>
          </a:p>
        </p:txBody>
      </p:sp>
      <p:sp>
        <p:nvSpPr>
          <p:cNvPr id="8" name="CuadroTexto 7">
            <a:extLst>
              <a:ext uri="{FF2B5EF4-FFF2-40B4-BE49-F238E27FC236}">
                <a16:creationId xmlns:a16="http://schemas.microsoft.com/office/drawing/2014/main" id="{4DAC0A8F-B78C-E598-0563-D28E29C89B98}"/>
              </a:ext>
            </a:extLst>
          </p:cNvPr>
          <p:cNvSpPr txBox="1"/>
          <p:nvPr/>
        </p:nvSpPr>
        <p:spPr>
          <a:xfrm>
            <a:off x="1143000" y="1689100"/>
            <a:ext cx="6858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Impermeabilizar, drenar y ventilar. Es lo único que detiene de verdad la reacción, porque le quita el tercer requisito. No hay producto que neutralice el gel.</a:t>
            </a:r>
            <a:endParaRPr lang="es-BO" sz="1150">
              <a:solidFill>
                <a:srgbClr val="5A5248"/>
              </a:solidFill>
              <a:latin typeface="Segoe UI" panose="020B0502040204020203" pitchFamily="34" charset="0"/>
            </a:endParaRPr>
          </a:p>
        </p:txBody>
      </p:sp>
      <p:sp>
        <p:nvSpPr>
          <p:cNvPr id="9" name="Elipse 8">
            <a:extLst>
              <a:ext uri="{FF2B5EF4-FFF2-40B4-BE49-F238E27FC236}">
                <a16:creationId xmlns:a16="http://schemas.microsoft.com/office/drawing/2014/main" id="{2088BD91-27CC-50DC-7BDD-334384112E77}"/>
              </a:ext>
            </a:extLst>
          </p:cNvPr>
          <p:cNvSpPr/>
          <p:nvPr/>
        </p:nvSpPr>
        <p:spPr>
          <a:xfrm>
            <a:off x="609600" y="23876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1B67E6B8-2FB3-7C26-143A-DD5F45A40F0A}"/>
              </a:ext>
            </a:extLst>
          </p:cNvPr>
          <p:cNvSpPr txBox="1"/>
          <p:nvPr/>
        </p:nvSpPr>
        <p:spPr>
          <a:xfrm>
            <a:off x="1143000" y="2400300"/>
            <a:ext cx="5842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Controlar, no reparar</a:t>
            </a:r>
          </a:p>
        </p:txBody>
      </p:sp>
      <p:sp>
        <p:nvSpPr>
          <p:cNvPr id="11" name="CuadroTexto 10">
            <a:extLst>
              <a:ext uri="{FF2B5EF4-FFF2-40B4-BE49-F238E27FC236}">
                <a16:creationId xmlns:a16="http://schemas.microsoft.com/office/drawing/2014/main" id="{0E05B74D-5F15-B07C-3BC0-F83E241A8813}"/>
              </a:ext>
            </a:extLst>
          </p:cNvPr>
          <p:cNvSpPr txBox="1"/>
          <p:nvPr/>
        </p:nvSpPr>
        <p:spPr>
          <a:xfrm>
            <a:off x="1143000" y="2654300"/>
            <a:ext cx="6858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Medir la expansión entre puntos fijos dos veces al año. Si se detiene, basta con mantener la impermeabilización; si sigue, hay que intervenir en la estructura.</a:t>
            </a:r>
            <a:endParaRPr lang="es-BO" sz="1150">
              <a:solidFill>
                <a:srgbClr val="5A5248"/>
              </a:solidFill>
              <a:latin typeface="Segoe UI" panose="020B0502040204020203" pitchFamily="34" charset="0"/>
            </a:endParaRPr>
          </a:p>
        </p:txBody>
      </p:sp>
      <p:sp>
        <p:nvSpPr>
          <p:cNvPr id="12" name="Elipse 11">
            <a:extLst>
              <a:ext uri="{FF2B5EF4-FFF2-40B4-BE49-F238E27FC236}">
                <a16:creationId xmlns:a16="http://schemas.microsoft.com/office/drawing/2014/main" id="{2B586588-3407-D7F4-ED9F-7CFD00CD9454}"/>
              </a:ext>
            </a:extLst>
          </p:cNvPr>
          <p:cNvSpPr/>
          <p:nvPr/>
        </p:nvSpPr>
        <p:spPr>
          <a:xfrm>
            <a:off x="609600" y="33528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3</a:t>
            </a:r>
          </a:p>
        </p:txBody>
      </p:sp>
      <p:sp>
        <p:nvSpPr>
          <p:cNvPr id="13" name="CuadroTexto 12">
            <a:extLst>
              <a:ext uri="{FF2B5EF4-FFF2-40B4-BE49-F238E27FC236}">
                <a16:creationId xmlns:a16="http://schemas.microsoft.com/office/drawing/2014/main" id="{75A6AB29-D375-5F3E-CB8B-5D49DE58069A}"/>
              </a:ext>
            </a:extLst>
          </p:cNvPr>
          <p:cNvSpPr txBox="1"/>
          <p:nvPr/>
        </p:nvSpPr>
        <p:spPr>
          <a:xfrm>
            <a:off x="1143000" y="3365500"/>
            <a:ext cx="5842000" cy="228600"/>
          </a:xfrm>
          <a:prstGeom prst="rect">
            <a:avLst/>
          </a:prstGeom>
          <a:noFill/>
        </p:spPr>
        <p:txBody>
          <a:bodyPr vert="horz" wrap="square" lIns="0" tIns="0" rIns="0" bIns="0" rtlCol="0" anchor="t">
            <a:noAutofit/>
          </a:bodyPr>
          <a:lstStyle/>
          <a:p>
            <a:pPr algn="l"/>
            <a:r>
              <a:rPr lang="es-BO" sz="1350">
                <a:solidFill>
                  <a:srgbClr val="1C1813"/>
                </a:solidFill>
                <a:latin typeface="Bahnschrift SemiBold" panose="020B0502040204020203" pitchFamily="34" charset="0"/>
              </a:rPr>
              <a:t>Confinar, en casos severos</a:t>
            </a:r>
          </a:p>
        </p:txBody>
      </p:sp>
      <p:sp>
        <p:nvSpPr>
          <p:cNvPr id="14" name="CuadroTexto 13">
            <a:extLst>
              <a:ext uri="{FF2B5EF4-FFF2-40B4-BE49-F238E27FC236}">
                <a16:creationId xmlns:a16="http://schemas.microsoft.com/office/drawing/2014/main" id="{768FDC4D-838C-356B-CFFB-AB1BE75DD51F}"/>
              </a:ext>
            </a:extLst>
          </p:cNvPr>
          <p:cNvSpPr txBox="1"/>
          <p:nvPr/>
        </p:nvSpPr>
        <p:spPr>
          <a:xfrm>
            <a:off x="1143000" y="3619500"/>
            <a:ext cx="6858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Postesado o zunchado para que la expansión trabaje contra una compresión impuesta. Es caro y se estudia en la clase 7.</a:t>
            </a:r>
            <a:endParaRPr lang="es-BO" sz="1150">
              <a:solidFill>
                <a:srgbClr val="5A5248"/>
              </a:solidFill>
              <a:latin typeface="Segoe UI" panose="020B0502040204020203" pitchFamily="34" charset="0"/>
            </a:endParaRPr>
          </a:p>
        </p:txBody>
      </p:sp>
      <p:sp>
        <p:nvSpPr>
          <p:cNvPr id="15" name="Elipse 14">
            <a:extLst>
              <a:ext uri="{FF2B5EF4-FFF2-40B4-BE49-F238E27FC236}">
                <a16:creationId xmlns:a16="http://schemas.microsoft.com/office/drawing/2014/main" id="{B7EA2A26-D533-8B22-CAE8-D808238B6ADE}"/>
              </a:ext>
            </a:extLst>
          </p:cNvPr>
          <p:cNvSpPr/>
          <p:nvPr/>
        </p:nvSpPr>
        <p:spPr>
          <a:xfrm>
            <a:off x="609600" y="4318000"/>
            <a:ext cx="355600" cy="3556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1250">
                <a:solidFill>
                  <a:srgbClr val="1C1813"/>
                </a:solidFill>
                <a:latin typeface="Bahnschrift SemiBold" panose="020B0502040204020203" pitchFamily="34" charset="0"/>
              </a:rPr>
              <a:t>4</a:t>
            </a:r>
          </a:p>
        </p:txBody>
      </p:sp>
      <p:sp>
        <p:nvSpPr>
          <p:cNvPr id="16" name="CuadroTexto 15">
            <a:extLst>
              <a:ext uri="{FF2B5EF4-FFF2-40B4-BE49-F238E27FC236}">
                <a16:creationId xmlns:a16="http://schemas.microsoft.com/office/drawing/2014/main" id="{34E7C9D2-6382-9C34-DC3F-2AD7505C98D5}"/>
              </a:ext>
            </a:extLst>
          </p:cNvPr>
          <p:cNvSpPr txBox="1"/>
          <p:nvPr/>
        </p:nvSpPr>
        <p:spPr>
          <a:xfrm>
            <a:off x="1143000" y="4330700"/>
            <a:ext cx="5842000" cy="228600"/>
          </a:xfrm>
          <a:prstGeom prst="rect">
            <a:avLst/>
          </a:prstGeom>
          <a:noFill/>
        </p:spPr>
        <p:txBody>
          <a:bodyPr vert="horz" wrap="square" lIns="0" tIns="0" rIns="0" bIns="0" rtlCol="0" anchor="t">
            <a:noAutofit/>
          </a:bodyPr>
          <a:lstStyle/>
          <a:p>
            <a:pPr algn="l"/>
            <a:r>
              <a:rPr lang="es-MX" sz="1350">
                <a:solidFill>
                  <a:srgbClr val="1C1813"/>
                </a:solidFill>
                <a:latin typeface="Bahnschrift SemiBold" panose="020B0502040204020203" pitchFamily="34" charset="0"/>
              </a:rPr>
              <a:t>En obra nueva: ensayar el árido</a:t>
            </a:r>
            <a:endParaRPr lang="es-BO" sz="1350">
              <a:solidFill>
                <a:srgbClr val="1C1813"/>
              </a:solidFill>
              <a:latin typeface="Bahnschrift SemiBold" panose="020B0502040204020203" pitchFamily="34" charset="0"/>
            </a:endParaRPr>
          </a:p>
        </p:txBody>
      </p:sp>
      <p:sp>
        <p:nvSpPr>
          <p:cNvPr id="17" name="CuadroTexto 16">
            <a:extLst>
              <a:ext uri="{FF2B5EF4-FFF2-40B4-BE49-F238E27FC236}">
                <a16:creationId xmlns:a16="http://schemas.microsoft.com/office/drawing/2014/main" id="{D7B1CACE-D961-7F1E-6086-6A7A3234734B}"/>
              </a:ext>
            </a:extLst>
          </p:cNvPr>
          <p:cNvSpPr txBox="1"/>
          <p:nvPr/>
        </p:nvSpPr>
        <p:spPr>
          <a:xfrm>
            <a:off x="1143000" y="4584700"/>
            <a:ext cx="6858000" cy="5842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Petrografía y barra acelerada antes de aceptar la cantera, y limitar el contenido de álcalis del cemento. Cuesta mucho menos que lo anterior.</a:t>
            </a:r>
            <a:endParaRPr lang="es-BO" sz="1150">
              <a:solidFill>
                <a:srgbClr val="5A5248"/>
              </a:solidFill>
              <a:latin typeface="Segoe UI" panose="020B0502040204020203" pitchFamily="34" charset="0"/>
            </a:endParaRPr>
          </a:p>
        </p:txBody>
      </p:sp>
      <p:pic>
        <p:nvPicPr>
          <p:cNvPr id="19" name="Imagen 18" descr="Medidas sobre lo construido: barrera y dren, control de expansión, confinamiento y ensayo del árido">
            <a:extLst>
              <a:ext uri="{FF2B5EF4-FFF2-40B4-BE49-F238E27FC236}">
                <a16:creationId xmlns:a16="http://schemas.microsoft.com/office/drawing/2014/main" id="{430174CE-1C48-ABB9-400E-2B3D284426E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29600" y="1422400"/>
            <a:ext cx="3352800" cy="3759200"/>
          </a:xfrm>
          <a:prstGeom prst="rect">
            <a:avLst/>
          </a:prstGeom>
        </p:spPr>
      </p:pic>
      <p:sp>
        <p:nvSpPr>
          <p:cNvPr id="20" name="Rectángulo 19">
            <a:extLst>
              <a:ext uri="{FF2B5EF4-FFF2-40B4-BE49-F238E27FC236}">
                <a16:creationId xmlns:a16="http://schemas.microsoft.com/office/drawing/2014/main" id="{9B11E615-FECC-7FFD-C5C1-A0524A473AF5}"/>
              </a:ext>
            </a:extLst>
          </p:cNvPr>
          <p:cNvSpPr/>
          <p:nvPr/>
        </p:nvSpPr>
        <p:spPr>
          <a:xfrm>
            <a:off x="609600" y="5384800"/>
            <a:ext cx="7366000" cy="6604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6ACD9845-38DB-327F-ABF8-BA3280C5E1BA}"/>
              </a:ext>
            </a:extLst>
          </p:cNvPr>
          <p:cNvSpPr txBox="1"/>
          <p:nvPr/>
        </p:nvSpPr>
        <p:spPr>
          <a:xfrm>
            <a:off x="838200" y="5435600"/>
            <a:ext cx="6959600" cy="5588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Es el mecanismo del curso con menos opciones de reparación. </a:t>
            </a:r>
            <a:r>
              <a:rPr lang="es-MX" sz="1150" b="1">
                <a:solidFill>
                  <a:srgbClr val="FFFFFF"/>
                </a:solidFill>
                <a:latin typeface="Segoe UI Semibold" panose="020B0702040204020203" pitchFamily="34" charset="0"/>
              </a:rPr>
              <a:t>Todo el valor está en no llegar aquí</a:t>
            </a:r>
            <a:r>
              <a:rPr lang="es-MX" sz="1150">
                <a:solidFill>
                  <a:srgbClr val="FFFFFF"/>
                </a:solidFill>
                <a:latin typeface="Segoe UI" panose="020B0502040204020203" pitchFamily="34" charset="0"/>
              </a:rPr>
              <a:t>, y eso se decide aceptando o rechazando una cantera.</a:t>
            </a:r>
            <a:endParaRPr lang="es-BO" sz="1150">
              <a:solidFill>
                <a:srgbClr val="FFFFFF"/>
              </a:solidFill>
              <a:latin typeface="Segoe UI" panose="020B0502040204020203" pitchFamily="34" charset="0"/>
            </a:endParaRPr>
          </a:p>
        </p:txBody>
      </p:sp>
      <p:sp>
        <p:nvSpPr>
          <p:cNvPr id="23" name="CuadroTexto 22">
            <a:extLst>
              <a:ext uri="{FF2B5EF4-FFF2-40B4-BE49-F238E27FC236}">
                <a16:creationId xmlns:a16="http://schemas.microsoft.com/office/drawing/2014/main" id="{E18F97C0-C372-EA18-1CA7-06CA88B9D5EF}"/>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pt-BR" sz="700">
                <a:solidFill>
                  <a:srgbClr val="938A7C"/>
                </a:solidFill>
                <a:latin typeface="Segoe UI" panose="020B0502040204020203" pitchFamily="34" charset="0"/>
              </a:rPr>
              <a:t>Fuente: ASTM C1778; ACI 201.2R.</a:t>
            </a:r>
            <a:endParaRPr lang="es-BO" sz="700">
              <a:solidFill>
                <a:srgbClr val="938A7C"/>
              </a:solidFill>
              <a:latin typeface="Segoe UI" panose="020B0502040204020203" pitchFamily="34" charset="0"/>
            </a:endParaRPr>
          </a:p>
        </p:txBody>
      </p:sp>
      <p:cxnSp>
        <p:nvCxnSpPr>
          <p:cNvPr id="24" name="Conector recto 23">
            <a:extLst>
              <a:ext uri="{FF2B5EF4-FFF2-40B4-BE49-F238E27FC236}">
                <a16:creationId xmlns:a16="http://schemas.microsoft.com/office/drawing/2014/main" id="{442F2DDB-98D0-0748-C783-22E790B6CEFE}"/>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793ACDC4-4F9E-9526-4081-9A6F9DD6F27C}"/>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6" name="CuadroTexto 25">
            <a:extLst>
              <a:ext uri="{FF2B5EF4-FFF2-40B4-BE49-F238E27FC236}">
                <a16:creationId xmlns:a16="http://schemas.microsoft.com/office/drawing/2014/main" id="{1B5EBA12-D1EA-8E4C-32FB-0932EF54B3E7}"/>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27" name="PageNo">
            <a:extLst>
              <a:ext uri="{FF2B5EF4-FFF2-40B4-BE49-F238E27FC236}">
                <a16:creationId xmlns:a16="http://schemas.microsoft.com/office/drawing/2014/main" id="{89E7FD00-D69F-7AE2-32B1-F9F5CE0C2C62}"/>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23 / 35</a:t>
            </a:r>
          </a:p>
        </p:txBody>
      </p:sp>
    </p:spTree>
    <p:extLst>
      <p:ext uri="{BB962C8B-B14F-4D97-AF65-F5344CB8AC3E}">
        <p14:creationId xmlns:p14="http://schemas.microsoft.com/office/powerpoint/2010/main" val="3251667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0873AE3-3764-F469-EFC0-4D6ADDE7C0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393BAB30-A472-1A01-EF53-3AED4FA82F67}"/>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371FC7D6-F67D-76CC-6419-B63F7C9BE574}"/>
              </a:ext>
            </a:extLst>
          </p:cNvPr>
          <p:cNvSpPr/>
          <p:nvPr/>
        </p:nvSpPr>
        <p:spPr>
          <a:xfrm>
            <a:off x="0" y="0"/>
            <a:ext cx="12192000" cy="6858000"/>
          </a:xfrm>
          <a:prstGeom prst="rect">
            <a:avLst/>
          </a:prstGeom>
          <a:solidFill>
            <a:srgbClr val="1C1813">
              <a:alpha val="58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CuadroTexto 5">
            <a:extLst>
              <a:ext uri="{FF2B5EF4-FFF2-40B4-BE49-F238E27FC236}">
                <a16:creationId xmlns:a16="http://schemas.microsoft.com/office/drawing/2014/main" id="{6602C65E-E17B-96E1-5E3C-A32C9977E2F6}"/>
              </a:ext>
            </a:extLst>
          </p:cNvPr>
          <p:cNvSpPr txBox="1"/>
          <p:nvPr/>
        </p:nvSpPr>
        <p:spPr>
          <a:xfrm>
            <a:off x="609600" y="1905000"/>
            <a:ext cx="3810000" cy="254000"/>
          </a:xfrm>
          <a:prstGeom prst="rect">
            <a:avLst/>
          </a:prstGeom>
          <a:noFill/>
        </p:spPr>
        <p:txBody>
          <a:bodyPr vert="horz" wrap="square" lIns="0" tIns="0" rIns="0" bIns="0" rtlCol="0" anchor="t">
            <a:noAutofit/>
          </a:bodyPr>
          <a:lstStyle/>
          <a:p>
            <a:r>
              <a:rPr lang="es-BO" sz="1100" spc="300">
                <a:solidFill>
                  <a:srgbClr val="C9A66B"/>
                </a:solidFill>
                <a:latin typeface="Segoe UI Semibold" panose="020B0702040204020203" pitchFamily="34" charset="0"/>
              </a:rPr>
              <a:t>CASO RESUELTO</a:t>
            </a:r>
          </a:p>
        </p:txBody>
      </p:sp>
      <p:sp>
        <p:nvSpPr>
          <p:cNvPr id="7" name="Title">
            <a:extLst>
              <a:ext uri="{FF2B5EF4-FFF2-40B4-BE49-F238E27FC236}">
                <a16:creationId xmlns:a16="http://schemas.microsoft.com/office/drawing/2014/main" id="{7F0A67F9-9A8E-4F78-1628-B2FD6EB28C05}"/>
              </a:ext>
            </a:extLst>
          </p:cNvPr>
          <p:cNvSpPr txBox="1"/>
          <p:nvPr/>
        </p:nvSpPr>
        <p:spPr>
          <a:xfrm>
            <a:off x="584200" y="2235200"/>
            <a:ext cx="7874000" cy="1397000"/>
          </a:xfrm>
          <a:prstGeom prst="rect">
            <a:avLst/>
          </a:prstGeom>
          <a:noFill/>
        </p:spPr>
        <p:txBody>
          <a:bodyPr vert="horz" wrap="square" lIns="0" tIns="0" rIns="0" bIns="0" rtlCol="0" anchor="t">
            <a:noAutofit/>
          </a:bodyPr>
          <a:lstStyle/>
          <a:p>
            <a:r>
              <a:rPr lang="es-MX" sz="3800">
                <a:solidFill>
                  <a:srgbClr val="FFFFFF"/>
                </a:solidFill>
                <a:latin typeface="Bahnschrift SemiBold" panose="020B0502040204020203" pitchFamily="34" charset="0"/>
              </a:rPr>
              <a:t>Sulfatos bajo la zapata y ácido en la cámara</a:t>
            </a:r>
            <a:endParaRPr lang="es-BO" sz="3800">
              <a:solidFill>
                <a:srgbClr val="FFFFFF"/>
              </a:solidFill>
              <a:latin typeface="Bahnschrift SemiBold" panose="020B0502040204020203" pitchFamily="34" charset="0"/>
            </a:endParaRPr>
          </a:p>
        </p:txBody>
      </p:sp>
      <p:sp>
        <p:nvSpPr>
          <p:cNvPr id="8" name="Rectángulo 7">
            <a:extLst>
              <a:ext uri="{FF2B5EF4-FFF2-40B4-BE49-F238E27FC236}">
                <a16:creationId xmlns:a16="http://schemas.microsoft.com/office/drawing/2014/main" id="{5256F41C-2F85-4ACB-1091-2A7EB4494D27}"/>
              </a:ext>
            </a:extLst>
          </p:cNvPr>
          <p:cNvSpPr/>
          <p:nvPr/>
        </p:nvSpPr>
        <p:spPr>
          <a:xfrm>
            <a:off x="609600" y="3810000"/>
            <a:ext cx="609600" cy="381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59D27089-A1F6-2D18-8D9B-22C34F5BB256}"/>
              </a:ext>
            </a:extLst>
          </p:cNvPr>
          <p:cNvSpPr txBox="1"/>
          <p:nvPr/>
        </p:nvSpPr>
        <p:spPr>
          <a:xfrm>
            <a:off x="609600" y="4013200"/>
            <a:ext cx="6604000" cy="762000"/>
          </a:xfrm>
          <a:prstGeom prst="rect">
            <a:avLst/>
          </a:prstGeom>
          <a:noFill/>
        </p:spPr>
        <p:txBody>
          <a:bodyPr vert="horz" wrap="square" lIns="0" tIns="0" rIns="0" bIns="0" rtlCol="0" anchor="t">
            <a:noAutofit/>
          </a:bodyPr>
          <a:lstStyle/>
          <a:p>
            <a:pPr algn="l"/>
            <a:r>
              <a:rPr lang="es-MX" sz="1400">
                <a:solidFill>
                  <a:srgbClr val="E6DFD2"/>
                </a:solidFill>
                <a:latin typeface="Bahnschrift Light" panose="020B0502040204020203" pitchFamily="34" charset="0"/>
              </a:rPr>
              <a:t>Un solo ejercicio, cinco pasos, una lámina por paso: del porcentaje de sulfatos a la vida que le queda al muro.</a:t>
            </a:r>
            <a:endParaRPr lang="es-BO" sz="1400">
              <a:solidFill>
                <a:srgbClr val="E6DFD2"/>
              </a:solidFill>
              <a:latin typeface="Bahnschrift Light" panose="020B0502040204020203" pitchFamily="34" charset="0"/>
            </a:endParaRPr>
          </a:p>
        </p:txBody>
      </p:sp>
      <p:sp>
        <p:nvSpPr>
          <p:cNvPr id="10" name="Rectángulo 9">
            <a:extLst>
              <a:ext uri="{FF2B5EF4-FFF2-40B4-BE49-F238E27FC236}">
                <a16:creationId xmlns:a16="http://schemas.microsoft.com/office/drawing/2014/main" id="{AB4A51E4-561E-0963-FA73-3505A51DE9A9}"/>
              </a:ext>
            </a:extLst>
          </p:cNvPr>
          <p:cNvSpPr/>
          <p:nvPr/>
        </p:nvSpPr>
        <p:spPr>
          <a:xfrm>
            <a:off x="609600" y="50546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CuadroTexto 10">
            <a:extLst>
              <a:ext uri="{FF2B5EF4-FFF2-40B4-BE49-F238E27FC236}">
                <a16:creationId xmlns:a16="http://schemas.microsoft.com/office/drawing/2014/main" id="{42BA4828-6CFA-6820-8362-2C12C0AFC249}"/>
              </a:ext>
            </a:extLst>
          </p:cNvPr>
          <p:cNvSpPr txBox="1"/>
          <p:nvPr/>
        </p:nvSpPr>
        <p:spPr>
          <a:xfrm>
            <a:off x="787400" y="49784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Caso 5.1 · Sulfatos en la cimentación</a:t>
            </a:r>
            <a:endParaRPr lang="es-BO" sz="1050">
              <a:solidFill>
                <a:srgbClr val="CFC7B8"/>
              </a:solidFill>
              <a:latin typeface="Segoe UI" panose="020B0502040204020203" pitchFamily="34" charset="0"/>
            </a:endParaRPr>
          </a:p>
        </p:txBody>
      </p:sp>
      <p:sp>
        <p:nvSpPr>
          <p:cNvPr id="12" name="Rectángulo 11">
            <a:extLst>
              <a:ext uri="{FF2B5EF4-FFF2-40B4-BE49-F238E27FC236}">
                <a16:creationId xmlns:a16="http://schemas.microsoft.com/office/drawing/2014/main" id="{7E47E0B4-E1E2-731D-6C97-BDB657FD6D78}"/>
              </a:ext>
            </a:extLst>
          </p:cNvPr>
          <p:cNvSpPr/>
          <p:nvPr/>
        </p:nvSpPr>
        <p:spPr>
          <a:xfrm>
            <a:off x="609600" y="52832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F10EAB92-1679-EEB6-04AA-2B003A669A6D}"/>
              </a:ext>
            </a:extLst>
          </p:cNvPr>
          <p:cNvSpPr txBox="1"/>
          <p:nvPr/>
        </p:nvSpPr>
        <p:spPr>
          <a:xfrm>
            <a:off x="787400" y="52070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Caso 5.2 · El ácido de la cámara</a:t>
            </a:r>
            <a:endParaRPr lang="es-BO" sz="1050">
              <a:solidFill>
                <a:srgbClr val="CFC7B8"/>
              </a:solidFill>
              <a:latin typeface="Segoe UI" panose="020B0502040204020203" pitchFamily="34" charset="0"/>
            </a:endParaRPr>
          </a:p>
        </p:txBody>
      </p:sp>
      <p:sp>
        <p:nvSpPr>
          <p:cNvPr id="14" name="Rectángulo 13">
            <a:extLst>
              <a:ext uri="{FF2B5EF4-FFF2-40B4-BE49-F238E27FC236}">
                <a16:creationId xmlns:a16="http://schemas.microsoft.com/office/drawing/2014/main" id="{FD627087-6236-2DBC-B21D-514F4C9AE277}"/>
              </a:ext>
            </a:extLst>
          </p:cNvPr>
          <p:cNvSpPr/>
          <p:nvPr/>
        </p:nvSpPr>
        <p:spPr>
          <a:xfrm>
            <a:off x="609600" y="5511800"/>
            <a:ext cx="76200" cy="1524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5" name="CuadroTexto 14">
            <a:extLst>
              <a:ext uri="{FF2B5EF4-FFF2-40B4-BE49-F238E27FC236}">
                <a16:creationId xmlns:a16="http://schemas.microsoft.com/office/drawing/2014/main" id="{34990A28-6C71-52A8-974E-12365567DD82}"/>
              </a:ext>
            </a:extLst>
          </p:cNvPr>
          <p:cNvSpPr txBox="1"/>
          <p:nvPr/>
        </p:nvSpPr>
        <p:spPr>
          <a:xfrm>
            <a:off x="787400" y="5435600"/>
            <a:ext cx="6350000" cy="1778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Caso 5.3 · ¿Retracción o reacción?</a:t>
            </a:r>
            <a:endParaRPr lang="es-BO" sz="1050">
              <a:solidFill>
                <a:srgbClr val="CFC7B8"/>
              </a:solidFill>
              <a:latin typeface="Segoe UI" panose="020B0502040204020203" pitchFamily="34" charset="0"/>
            </a:endParaRPr>
          </a:p>
        </p:txBody>
      </p:sp>
      <p:sp>
        <p:nvSpPr>
          <p:cNvPr id="16" name="CuadroTexto 15">
            <a:extLst>
              <a:ext uri="{FF2B5EF4-FFF2-40B4-BE49-F238E27FC236}">
                <a16:creationId xmlns:a16="http://schemas.microsoft.com/office/drawing/2014/main" id="{4CD71659-871F-4263-9DBE-30B764D293A5}"/>
              </a:ext>
            </a:extLst>
          </p:cNvPr>
          <p:cNvSpPr txBox="1"/>
          <p:nvPr/>
        </p:nvSpPr>
        <p:spPr>
          <a:xfrm>
            <a:off x="609600" y="6477000"/>
            <a:ext cx="5080000" cy="152400"/>
          </a:xfrm>
          <a:prstGeom prst="rect">
            <a:avLst/>
          </a:prstGeom>
          <a:noFill/>
        </p:spPr>
        <p:txBody>
          <a:bodyPr vert="horz" wrap="square" lIns="0" tIns="0" rIns="0" bIns="0" rtlCol="0" anchor="t">
            <a:noAutofit/>
          </a:bodyPr>
          <a:lstStyle/>
          <a:p>
            <a:r>
              <a:rPr lang="es-BO" sz="700" spc="130">
                <a:solidFill>
                  <a:srgbClr val="9C9284"/>
                </a:solidFill>
                <a:latin typeface="Segoe UI" panose="020B0502040204020203" pitchFamily="34" charset="0"/>
              </a:rPr>
              <a:t>CLASE 4 · ATAQUE QUÍMICO</a:t>
            </a:r>
          </a:p>
        </p:txBody>
      </p:sp>
    </p:spTree>
    <p:extLst>
      <p:ext uri="{BB962C8B-B14F-4D97-AF65-F5344CB8AC3E}">
        <p14:creationId xmlns:p14="http://schemas.microsoft.com/office/powerpoint/2010/main" val="3955100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69AC6B8-9D17-291A-19CF-1E91C9D11248}"/>
              </a:ext>
            </a:extLst>
          </p:cNvPr>
          <p:cNvSpPr txBox="1"/>
          <p:nvPr/>
        </p:nvSpPr>
        <p:spPr>
          <a:xfrm>
            <a:off x="609600" y="406400"/>
            <a:ext cx="66040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EJEMPLO DEL CURSO  ·  LOS DATOS DE LA CLASE 4</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0EF565F2-CC65-01FB-C413-7E7C7C7AEDB3}"/>
              </a:ext>
            </a:extLst>
          </p:cNvPr>
          <p:cNvSpPr txBox="1"/>
          <p:nvPr/>
        </p:nvSpPr>
        <p:spPr>
          <a:xfrm>
            <a:off x="609600" y="609600"/>
            <a:ext cx="6604000" cy="508000"/>
          </a:xfrm>
          <a:prstGeom prst="rect">
            <a:avLst/>
          </a:prstGeom>
          <a:noFill/>
        </p:spPr>
        <p:txBody>
          <a:bodyPr vert="horz" wrap="square" lIns="0" tIns="0" rIns="0" bIns="0" rtlCol="0" anchor="t">
            <a:noAutofit/>
          </a:bodyPr>
          <a:lstStyle/>
          <a:p>
            <a:r>
              <a:rPr lang="es-BO" sz="2700">
                <a:solidFill>
                  <a:srgbClr val="1C1813"/>
                </a:solidFill>
                <a:latin typeface="Bahnschrift SemiBold" panose="020B0502040204020203" pitchFamily="34" charset="0"/>
              </a:rPr>
              <a:t>Nave industrial Sector 4</a:t>
            </a:r>
          </a:p>
        </p:txBody>
      </p:sp>
      <p:cxnSp>
        <p:nvCxnSpPr>
          <p:cNvPr id="4" name="Conector recto 3">
            <a:extLst>
              <a:ext uri="{FF2B5EF4-FFF2-40B4-BE49-F238E27FC236}">
                <a16:creationId xmlns:a16="http://schemas.microsoft.com/office/drawing/2014/main" id="{1CAD1A36-27E8-50D1-02AF-4BB41E4A73B8}"/>
              </a:ext>
            </a:extLst>
          </p:cNvPr>
          <p:cNvCxnSpPr/>
          <p:nvPr/>
        </p:nvCxnSpPr>
        <p:spPr>
          <a:xfrm>
            <a:off x="609600" y="1206500"/>
            <a:ext cx="66040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D6B48761-56BB-216A-313E-D299DEF5A2CE}"/>
              </a:ext>
            </a:extLst>
          </p:cNvPr>
          <p:cNvGraphicFramePr>
            <a:graphicFrameLocks noGrp="1"/>
          </p:cNvGraphicFramePr>
          <p:nvPr>
            <p:extLst>
              <p:ext uri="{D42A27DB-BD31-4B8C-83A1-F6EECF244321}">
                <p14:modId xmlns:p14="http://schemas.microsoft.com/office/powerpoint/2010/main" val="242021428"/>
              </p:ext>
            </p:extLst>
          </p:nvPr>
        </p:nvGraphicFramePr>
        <p:xfrm>
          <a:off x="609600" y="1320800"/>
          <a:ext cx="6604000" cy="3810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826590115"/>
                    </a:ext>
                  </a:extLst>
                </a:gridCol>
                <a:gridCol w="4699000">
                  <a:extLst>
                    <a:ext uri="{9D8B030D-6E8A-4147-A177-3AD203B41FA5}">
                      <a16:colId xmlns:a16="http://schemas.microsoft.com/office/drawing/2014/main" val="2895261080"/>
                    </a:ext>
                  </a:extLst>
                </a:gridCol>
              </a:tblGrid>
              <a:tr h="476250">
                <a:tc>
                  <a:txBody>
                    <a:bodyPr/>
                    <a:lstStyle/>
                    <a:p>
                      <a:pPr algn="ctr"/>
                      <a:r>
                        <a:rPr lang="es-BO" sz="950" b="0">
                          <a:solidFill>
                            <a:srgbClr val="FFFFFF"/>
                          </a:solidFill>
                          <a:latin typeface="Segoe UI Semibold" panose="020B0702040204020203" pitchFamily="34" charset="0"/>
                        </a:rPr>
                        <a:t>Dato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50" b="0">
                          <a:solidFill>
                            <a:srgbClr val="FFFFFF"/>
                          </a:solidFill>
                          <a:latin typeface="Segoe UI Semibold" panose="020B0702040204020203" pitchFamily="34" charset="0"/>
                        </a:rPr>
                        <a:t>Valor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4170783685"/>
                  </a:ext>
                </a:extLst>
              </a:tr>
              <a:tr h="476250">
                <a:tc>
                  <a:txBody>
                    <a:bodyPr/>
                    <a:lstStyle/>
                    <a:p>
                      <a:pPr algn="ctr"/>
                      <a:r>
                        <a:rPr lang="es-BO" sz="1000" b="0">
                          <a:solidFill>
                            <a:srgbClr val="1C1813"/>
                          </a:solidFill>
                          <a:latin typeface="Segoe UI Semibold" panose="020B0702040204020203" pitchFamily="34" charset="0"/>
                        </a:rPr>
                        <a:t>Edad en la evaluación</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1000" b="0">
                          <a:solidFill>
                            <a:srgbClr val="241F18"/>
                          </a:solidFill>
                          <a:latin typeface="Segoe UI" panose="020B0502040204020203" pitchFamily="34" charset="0"/>
                        </a:rPr>
                        <a:t>28 años  (2026)</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777958340"/>
                  </a:ext>
                </a:extLst>
              </a:tr>
              <a:tr h="476250">
                <a:tc>
                  <a:txBody>
                    <a:bodyPr/>
                    <a:lstStyle/>
                    <a:p>
                      <a:pPr algn="ctr"/>
                      <a:r>
                        <a:rPr lang="es-BO" sz="1000" b="0">
                          <a:solidFill>
                            <a:srgbClr val="1C1813"/>
                          </a:solidFill>
                          <a:latin typeface="Segoe UI Semibold" panose="020B0702040204020203" pitchFamily="34" charset="0"/>
                        </a:rPr>
                        <a:t>Sulfatos en el terreno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1000" b="0">
                          <a:solidFill>
                            <a:srgbClr val="241F18"/>
                          </a:solidFill>
                          <a:latin typeface="Segoe UI" panose="020B0502040204020203" pitchFamily="34" charset="0"/>
                        </a:rPr>
                        <a:t>0,35 % en peso  ·  clase S2</a:t>
                      </a:r>
                      <a:endParaRPr lang="es-BO" sz="10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502385409"/>
                  </a:ext>
                </a:extLst>
              </a:tr>
              <a:tr h="476250">
                <a:tc>
                  <a:txBody>
                    <a:bodyPr/>
                    <a:lstStyle/>
                    <a:p>
                      <a:pPr algn="ctr"/>
                      <a:r>
                        <a:rPr lang="es-BO" sz="1000" b="0">
                          <a:solidFill>
                            <a:srgbClr val="1C1813"/>
                          </a:solidFill>
                          <a:latin typeface="Segoe UI Semibold" panose="020B0702040204020203" pitchFamily="34" charset="0"/>
                        </a:rPr>
                        <a:t>f′c proyecto / testigos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1000" b="0">
                          <a:solidFill>
                            <a:srgbClr val="241F18"/>
                          </a:solidFill>
                          <a:latin typeface="Segoe UI" panose="020B0502040204020203" pitchFamily="34" charset="0"/>
                        </a:rPr>
                        <a:t>21 MPa  /  18,5 MPa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2740573930"/>
                  </a:ext>
                </a:extLst>
              </a:tr>
              <a:tr h="476250">
                <a:tc>
                  <a:txBody>
                    <a:bodyPr/>
                    <a:lstStyle/>
                    <a:p>
                      <a:pPr algn="ctr"/>
                      <a:r>
                        <a:rPr lang="es-BO" sz="1000" b="0">
                          <a:solidFill>
                            <a:srgbClr val="1C1813"/>
                          </a:solidFill>
                          <a:latin typeface="Segoe UI Semibold" panose="020B0702040204020203" pitchFamily="34" charset="0"/>
                        </a:rPr>
                        <a:t>Recubrimiento de la zapata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1000" b="0">
                          <a:solidFill>
                            <a:srgbClr val="241F18"/>
                          </a:solidFill>
                          <a:latin typeface="Segoe UI" panose="020B0502040204020203" pitchFamily="34" charset="0"/>
                        </a:rPr>
                        <a:t>50 mm</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498521884"/>
                  </a:ext>
                </a:extLst>
              </a:tr>
              <a:tr h="476250">
                <a:tc>
                  <a:txBody>
                    <a:bodyPr/>
                    <a:lstStyle/>
                    <a:p>
                      <a:pPr algn="ctr"/>
                      <a:r>
                        <a:rPr lang="es-BO" sz="1000" b="0">
                          <a:solidFill>
                            <a:srgbClr val="1C1813"/>
                          </a:solidFill>
                          <a:latin typeface="Segoe UI Semibold" panose="020B0702040204020203" pitchFamily="34" charset="0"/>
                        </a:rPr>
                        <a:t>Cámara de bombeo  ·  pH</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1000" b="0">
                          <a:solidFill>
                            <a:srgbClr val="241F18"/>
                          </a:solidFill>
                          <a:latin typeface="Segoe UI" panose="020B0502040204020203" pitchFamily="34" charset="0"/>
                        </a:rPr>
                        <a:t>2,5  ·  en servicio desde 2012</a:t>
                      </a:r>
                      <a:endParaRPr lang="es-BO" sz="10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3820721387"/>
                  </a:ext>
                </a:extLst>
              </a:tr>
              <a:tr h="476250">
                <a:tc>
                  <a:txBody>
                    <a:bodyPr/>
                    <a:lstStyle/>
                    <a:p>
                      <a:pPr algn="ctr"/>
                      <a:r>
                        <a:rPr lang="es-BO" sz="1000" b="0">
                          <a:solidFill>
                            <a:srgbClr val="1C1813"/>
                          </a:solidFill>
                          <a:latin typeface="Segoe UI Semibold" panose="020B0702040204020203" pitchFamily="34" charset="0"/>
                        </a:rPr>
                        <a:t>Pérdida de espesor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1000" b="0">
                          <a:solidFill>
                            <a:srgbClr val="241F18"/>
                          </a:solidFill>
                          <a:latin typeface="Segoe UI" panose="020B0502040204020203" pitchFamily="34" charset="0"/>
                        </a:rPr>
                        <a:t>12 mm  ·  muro de 200 mm</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965302589"/>
                  </a:ext>
                </a:extLst>
              </a:tr>
              <a:tr h="476250">
                <a:tc>
                  <a:txBody>
                    <a:bodyPr/>
                    <a:lstStyle/>
                    <a:p>
                      <a:pPr algn="ctr"/>
                      <a:r>
                        <a:rPr lang="es-BO" sz="1000" b="0">
                          <a:solidFill>
                            <a:srgbClr val="1C1813"/>
                          </a:solidFill>
                          <a:latin typeface="Segoe UI Semibold" panose="020B0702040204020203" pitchFamily="34" charset="0"/>
                        </a:rPr>
                        <a:t>Muro perimetral</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1000" b="0">
                          <a:solidFill>
                            <a:srgbClr val="241F18"/>
                          </a:solidFill>
                          <a:latin typeface="Segoe UI" panose="020B0502040204020203" pitchFamily="34" charset="0"/>
                        </a:rPr>
                        <a:t>Fisuración en mapa desde 2015</a:t>
                      </a:r>
                      <a:endParaRPr lang="es-BO" sz="100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2102561779"/>
                  </a:ext>
                </a:extLst>
              </a:tr>
            </a:tbl>
          </a:graphicData>
        </a:graphic>
      </p:graphicFrame>
      <p:sp>
        <p:nvSpPr>
          <p:cNvPr id="7" name="Rectángulo 6">
            <a:extLst>
              <a:ext uri="{FF2B5EF4-FFF2-40B4-BE49-F238E27FC236}">
                <a16:creationId xmlns:a16="http://schemas.microsoft.com/office/drawing/2014/main" id="{43408F38-8AD5-50F9-EE1D-D31F3E582265}"/>
              </a:ext>
            </a:extLst>
          </p:cNvPr>
          <p:cNvSpPr/>
          <p:nvPr/>
        </p:nvSpPr>
        <p:spPr>
          <a:xfrm>
            <a:off x="609600" y="5334000"/>
            <a:ext cx="6604000" cy="812800"/>
          </a:xfrm>
          <a:prstGeom prst="rect">
            <a:avLst/>
          </a:prstGeom>
          <a:solidFill>
            <a:srgbClr val="F0E7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9" name="CuadroTexto 8">
            <a:extLst>
              <a:ext uri="{FF2B5EF4-FFF2-40B4-BE49-F238E27FC236}">
                <a16:creationId xmlns:a16="http://schemas.microsoft.com/office/drawing/2014/main" id="{ECDC870C-3EF9-19D7-0D8D-8476FE9348A3}"/>
              </a:ext>
            </a:extLst>
          </p:cNvPr>
          <p:cNvSpPr txBox="1"/>
          <p:nvPr/>
        </p:nvSpPr>
        <p:spPr>
          <a:xfrm>
            <a:off x="838200" y="5384800"/>
            <a:ext cx="6197600" cy="711200"/>
          </a:xfrm>
          <a:prstGeom prst="rect">
            <a:avLst/>
          </a:prstGeom>
          <a:noFill/>
        </p:spPr>
        <p:txBody>
          <a:bodyPr vert="horz" wrap="square" lIns="0" tIns="0" rIns="0" bIns="0" rtlCol="0" anchor="ctr">
            <a:noAutofit/>
          </a:bodyPr>
          <a:lstStyle/>
          <a:p>
            <a:pPr algn="l"/>
            <a:r>
              <a:rPr lang="es-MX" sz="1150">
                <a:solidFill>
                  <a:srgbClr val="1C1813"/>
                </a:solidFill>
                <a:latin typeface="Segoe UI" panose="020B0502040204020203" pitchFamily="34" charset="0"/>
              </a:rPr>
              <a:t>El ensayo de sulfatos del terreno es de 2026: en 1998 no se hizo, porque el CBH-87 no pedía clase de exposición.</a:t>
            </a:r>
            <a:endParaRPr lang="es-BO" sz="1150">
              <a:solidFill>
                <a:srgbClr val="1C1813"/>
              </a:solidFill>
              <a:latin typeface="Segoe UI" panose="020B0502040204020203" pitchFamily="34" charset="0"/>
            </a:endParaRPr>
          </a:p>
        </p:txBody>
      </p:sp>
      <p:pic>
        <p:nvPicPr>
          <p:cNvPr id="11" name="Imagen 10" descr="Corte esquemático de la nave Sector 4 con zapata C-4, zona de lavado y cámara de bombeo">
            <a:extLst>
              <a:ext uri="{FF2B5EF4-FFF2-40B4-BE49-F238E27FC236}">
                <a16:creationId xmlns:a16="http://schemas.microsoft.com/office/drawing/2014/main" id="{8AE9B4BB-ABB2-32AD-0A63-FABF644986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620000" y="0"/>
            <a:ext cx="4572000" cy="2540000"/>
          </a:xfrm>
          <a:prstGeom prst="rect">
            <a:avLst/>
          </a:prstGeom>
        </p:spPr>
      </p:pic>
      <p:sp>
        <p:nvSpPr>
          <p:cNvPr id="12" name="Rectángulo 11">
            <a:extLst>
              <a:ext uri="{FF2B5EF4-FFF2-40B4-BE49-F238E27FC236}">
                <a16:creationId xmlns:a16="http://schemas.microsoft.com/office/drawing/2014/main" id="{8F2042D3-2FF6-1A76-F432-E860D3476625}"/>
              </a:ext>
            </a:extLst>
          </p:cNvPr>
          <p:cNvSpPr/>
          <p:nvPr/>
        </p:nvSpPr>
        <p:spPr>
          <a:xfrm>
            <a:off x="7620000" y="2540000"/>
            <a:ext cx="4572000" cy="43180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E5E5CE08-2C9A-1C53-7B53-2170233321EB}"/>
              </a:ext>
            </a:extLst>
          </p:cNvPr>
          <p:cNvSpPr txBox="1"/>
          <p:nvPr/>
        </p:nvSpPr>
        <p:spPr>
          <a:xfrm>
            <a:off x="7874000" y="2717800"/>
            <a:ext cx="4064000" cy="177800"/>
          </a:xfrm>
          <a:prstGeom prst="rect">
            <a:avLst/>
          </a:prstGeom>
          <a:noFill/>
        </p:spPr>
        <p:txBody>
          <a:bodyPr vert="horz" wrap="square" lIns="0" tIns="0" rIns="0" bIns="0" rtlCol="0" anchor="t">
            <a:noAutofit/>
          </a:bodyPr>
          <a:lstStyle/>
          <a:p>
            <a:r>
              <a:rPr lang="es-BO" sz="900" spc="180">
                <a:solidFill>
                  <a:srgbClr val="8A6A2F"/>
                </a:solidFill>
                <a:latin typeface="Segoe UI Semibold" panose="020B0702040204020203" pitchFamily="34" charset="0"/>
              </a:rPr>
              <a:t>LÍNEA DE TIEMPO</a:t>
            </a:r>
          </a:p>
        </p:txBody>
      </p:sp>
      <p:cxnSp>
        <p:nvCxnSpPr>
          <p:cNvPr id="14" name="Conector recto 13">
            <a:extLst>
              <a:ext uri="{FF2B5EF4-FFF2-40B4-BE49-F238E27FC236}">
                <a16:creationId xmlns:a16="http://schemas.microsoft.com/office/drawing/2014/main" id="{D0235313-9698-2A21-B999-C434BE84821D}"/>
              </a:ext>
            </a:extLst>
          </p:cNvPr>
          <p:cNvCxnSpPr/>
          <p:nvPr/>
        </p:nvCxnSpPr>
        <p:spPr>
          <a:xfrm>
            <a:off x="7975600" y="3124200"/>
            <a:ext cx="0" cy="1828800"/>
          </a:xfrm>
          <a:prstGeom prst="line">
            <a:avLst/>
          </a:prstGeom>
          <a:ln w="19050">
            <a:solidFill>
              <a:srgbClr val="3A4D69"/>
            </a:solidFill>
            <a:prstDash val="solid"/>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80DDD219-D9D0-E52D-59FC-5F35AF0C4D75}"/>
              </a:ext>
            </a:extLst>
          </p:cNvPr>
          <p:cNvSpPr/>
          <p:nvPr/>
        </p:nvSpPr>
        <p:spPr>
          <a:xfrm>
            <a:off x="7899400" y="3048000"/>
            <a:ext cx="152400" cy="152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6" name="CuadroTexto 15">
            <a:extLst>
              <a:ext uri="{FF2B5EF4-FFF2-40B4-BE49-F238E27FC236}">
                <a16:creationId xmlns:a16="http://schemas.microsoft.com/office/drawing/2014/main" id="{C342E5A4-A5E7-EF52-EB70-A4D0B6787BFB}"/>
              </a:ext>
            </a:extLst>
          </p:cNvPr>
          <p:cNvSpPr txBox="1"/>
          <p:nvPr/>
        </p:nvSpPr>
        <p:spPr>
          <a:xfrm>
            <a:off x="8204200" y="30226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1998</a:t>
            </a:r>
          </a:p>
        </p:txBody>
      </p:sp>
      <p:sp>
        <p:nvSpPr>
          <p:cNvPr id="17" name="CuadroTexto 16">
            <a:extLst>
              <a:ext uri="{FF2B5EF4-FFF2-40B4-BE49-F238E27FC236}">
                <a16:creationId xmlns:a16="http://schemas.microsoft.com/office/drawing/2014/main" id="{55E0D128-F44B-4A14-15F6-86C1E36667A5}"/>
              </a:ext>
            </a:extLst>
          </p:cNvPr>
          <p:cNvSpPr txBox="1"/>
          <p:nvPr/>
        </p:nvSpPr>
        <p:spPr>
          <a:xfrm>
            <a:off x="9118600" y="3022600"/>
            <a:ext cx="2921000" cy="381000"/>
          </a:xfrm>
          <a:prstGeom prst="rect">
            <a:avLst/>
          </a:prstGeom>
          <a:noFill/>
        </p:spPr>
        <p:txBody>
          <a:bodyPr vert="horz" wrap="square" lIns="0" tIns="0" rIns="0" bIns="0" rtlCol="0" anchor="t">
            <a:noAutofit/>
          </a:bodyPr>
          <a:lstStyle/>
          <a:p>
            <a:pPr algn="l"/>
            <a:r>
              <a:rPr lang="es-MX" sz="1100">
                <a:solidFill>
                  <a:srgbClr val="FFFFFF"/>
                </a:solidFill>
                <a:latin typeface="Segoe UI" panose="020B0502040204020203" pitchFamily="34" charset="0"/>
              </a:rPr>
              <a:t>Proyecto y construcción bajo CBH-87</a:t>
            </a:r>
            <a:endParaRPr lang="es-BO" sz="1100">
              <a:solidFill>
                <a:srgbClr val="FFFFFF"/>
              </a:solidFill>
              <a:latin typeface="Segoe UI" panose="020B0502040204020203" pitchFamily="34" charset="0"/>
            </a:endParaRPr>
          </a:p>
        </p:txBody>
      </p:sp>
      <p:sp>
        <p:nvSpPr>
          <p:cNvPr id="18" name="Elipse 17">
            <a:extLst>
              <a:ext uri="{FF2B5EF4-FFF2-40B4-BE49-F238E27FC236}">
                <a16:creationId xmlns:a16="http://schemas.microsoft.com/office/drawing/2014/main" id="{47FB04AE-93CF-E342-85DF-C321C31DA512}"/>
              </a:ext>
            </a:extLst>
          </p:cNvPr>
          <p:cNvSpPr/>
          <p:nvPr/>
        </p:nvSpPr>
        <p:spPr>
          <a:xfrm>
            <a:off x="7899400" y="3505200"/>
            <a:ext cx="152400" cy="152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9" name="CuadroTexto 18">
            <a:extLst>
              <a:ext uri="{FF2B5EF4-FFF2-40B4-BE49-F238E27FC236}">
                <a16:creationId xmlns:a16="http://schemas.microsoft.com/office/drawing/2014/main" id="{20829D75-12E2-4DF2-8776-1FF3B1AB5D07}"/>
              </a:ext>
            </a:extLst>
          </p:cNvPr>
          <p:cNvSpPr txBox="1"/>
          <p:nvPr/>
        </p:nvSpPr>
        <p:spPr>
          <a:xfrm>
            <a:off x="8204200" y="34798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2012</a:t>
            </a:r>
          </a:p>
        </p:txBody>
      </p:sp>
      <p:sp>
        <p:nvSpPr>
          <p:cNvPr id="20" name="CuadroTexto 19">
            <a:extLst>
              <a:ext uri="{FF2B5EF4-FFF2-40B4-BE49-F238E27FC236}">
                <a16:creationId xmlns:a16="http://schemas.microsoft.com/office/drawing/2014/main" id="{EE9946AB-64CB-E05A-7002-A507AECAE8B7}"/>
              </a:ext>
            </a:extLst>
          </p:cNvPr>
          <p:cNvSpPr txBox="1"/>
          <p:nvPr/>
        </p:nvSpPr>
        <p:spPr>
          <a:xfrm>
            <a:off x="9118600" y="3479800"/>
            <a:ext cx="2921000" cy="381000"/>
          </a:xfrm>
          <a:prstGeom prst="rect">
            <a:avLst/>
          </a:prstGeom>
          <a:noFill/>
        </p:spPr>
        <p:txBody>
          <a:bodyPr vert="horz" wrap="square" lIns="0" tIns="0" rIns="0" bIns="0" rtlCol="0" anchor="t">
            <a:noAutofit/>
          </a:bodyPr>
          <a:lstStyle/>
          <a:p>
            <a:pPr algn="l"/>
            <a:r>
              <a:rPr lang="es-MX" sz="1100">
                <a:solidFill>
                  <a:srgbClr val="FFFFFF"/>
                </a:solidFill>
                <a:latin typeface="Segoe UI" panose="020B0502040204020203" pitchFamily="34" charset="0"/>
              </a:rPr>
              <a:t>Se habilita la zona de lavado: humedad permanente y cloruros</a:t>
            </a:r>
            <a:endParaRPr lang="es-BO" sz="1100">
              <a:solidFill>
                <a:srgbClr val="FFFFFF"/>
              </a:solidFill>
              <a:latin typeface="Segoe UI" panose="020B0502040204020203" pitchFamily="34" charset="0"/>
            </a:endParaRPr>
          </a:p>
        </p:txBody>
      </p:sp>
      <p:sp>
        <p:nvSpPr>
          <p:cNvPr id="21" name="Elipse 20">
            <a:extLst>
              <a:ext uri="{FF2B5EF4-FFF2-40B4-BE49-F238E27FC236}">
                <a16:creationId xmlns:a16="http://schemas.microsoft.com/office/drawing/2014/main" id="{85C6E458-7CDB-5201-D73C-6493357B2A90}"/>
              </a:ext>
            </a:extLst>
          </p:cNvPr>
          <p:cNvSpPr/>
          <p:nvPr/>
        </p:nvSpPr>
        <p:spPr>
          <a:xfrm>
            <a:off x="7899400" y="3962400"/>
            <a:ext cx="152400" cy="152400"/>
          </a:xfrm>
          <a:prstGeom prst="ellipse">
            <a:avLst/>
          </a:prstGeom>
          <a:solidFill>
            <a:srgbClr val="3A4D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2EA4C444-D427-5443-15E6-196137E2C0AB}"/>
              </a:ext>
            </a:extLst>
          </p:cNvPr>
          <p:cNvSpPr txBox="1"/>
          <p:nvPr/>
        </p:nvSpPr>
        <p:spPr>
          <a:xfrm>
            <a:off x="8204200" y="39370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2024</a:t>
            </a:r>
          </a:p>
        </p:txBody>
      </p:sp>
      <p:sp>
        <p:nvSpPr>
          <p:cNvPr id="23" name="CuadroTexto 22">
            <a:extLst>
              <a:ext uri="{FF2B5EF4-FFF2-40B4-BE49-F238E27FC236}">
                <a16:creationId xmlns:a16="http://schemas.microsoft.com/office/drawing/2014/main" id="{B5625DE9-7DBF-905A-5153-F92DA6BA3B42}"/>
              </a:ext>
            </a:extLst>
          </p:cNvPr>
          <p:cNvSpPr txBox="1"/>
          <p:nvPr/>
        </p:nvSpPr>
        <p:spPr>
          <a:xfrm>
            <a:off x="9118600" y="3937000"/>
            <a:ext cx="2921000" cy="381000"/>
          </a:xfrm>
          <a:prstGeom prst="rect">
            <a:avLst/>
          </a:prstGeom>
          <a:noFill/>
        </p:spPr>
        <p:txBody>
          <a:bodyPr vert="horz" wrap="square" lIns="0" tIns="0" rIns="0" bIns="0" rtlCol="0" anchor="t">
            <a:noAutofit/>
          </a:bodyPr>
          <a:lstStyle/>
          <a:p>
            <a:pPr algn="l"/>
            <a:r>
              <a:rPr lang="es-MX" sz="1100">
                <a:solidFill>
                  <a:srgbClr val="CFC7B8"/>
                </a:solidFill>
                <a:latin typeface="Segoe UI" panose="020B0502040204020203" pitchFamily="34" charset="0"/>
              </a:rPr>
              <a:t>Aparecen fisuras con óxido en la viga V-3 y en la base de C-4</a:t>
            </a:r>
            <a:endParaRPr lang="es-BO" sz="1100">
              <a:solidFill>
                <a:srgbClr val="CFC7B8"/>
              </a:solidFill>
              <a:latin typeface="Segoe UI" panose="020B0502040204020203" pitchFamily="34" charset="0"/>
            </a:endParaRPr>
          </a:p>
        </p:txBody>
      </p:sp>
      <p:sp>
        <p:nvSpPr>
          <p:cNvPr id="24" name="Elipse 23">
            <a:extLst>
              <a:ext uri="{FF2B5EF4-FFF2-40B4-BE49-F238E27FC236}">
                <a16:creationId xmlns:a16="http://schemas.microsoft.com/office/drawing/2014/main" id="{3EFC0D8B-A83D-9F14-BC90-879A59B231C1}"/>
              </a:ext>
            </a:extLst>
          </p:cNvPr>
          <p:cNvSpPr/>
          <p:nvPr/>
        </p:nvSpPr>
        <p:spPr>
          <a:xfrm>
            <a:off x="7899400" y="4419600"/>
            <a:ext cx="152400" cy="152400"/>
          </a:xfrm>
          <a:prstGeom prst="ellipse">
            <a:avLst/>
          </a:prstGeom>
          <a:solidFill>
            <a:srgbClr val="3A4D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5" name="CuadroTexto 24">
            <a:extLst>
              <a:ext uri="{FF2B5EF4-FFF2-40B4-BE49-F238E27FC236}">
                <a16:creationId xmlns:a16="http://schemas.microsoft.com/office/drawing/2014/main" id="{6C26B905-7356-A074-E9C6-39BD429F0846}"/>
              </a:ext>
            </a:extLst>
          </p:cNvPr>
          <p:cNvSpPr txBox="1"/>
          <p:nvPr/>
        </p:nvSpPr>
        <p:spPr>
          <a:xfrm>
            <a:off x="8204200" y="43942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2026</a:t>
            </a:r>
          </a:p>
        </p:txBody>
      </p:sp>
      <p:sp>
        <p:nvSpPr>
          <p:cNvPr id="26" name="CuadroTexto 25">
            <a:extLst>
              <a:ext uri="{FF2B5EF4-FFF2-40B4-BE49-F238E27FC236}">
                <a16:creationId xmlns:a16="http://schemas.microsoft.com/office/drawing/2014/main" id="{D1CAA66F-C512-27C7-E204-02F824D96169}"/>
              </a:ext>
            </a:extLst>
          </p:cNvPr>
          <p:cNvSpPr txBox="1"/>
          <p:nvPr/>
        </p:nvSpPr>
        <p:spPr>
          <a:xfrm>
            <a:off x="9118600" y="4394200"/>
            <a:ext cx="2921000" cy="381000"/>
          </a:xfrm>
          <a:prstGeom prst="rect">
            <a:avLst/>
          </a:prstGeom>
          <a:noFill/>
        </p:spPr>
        <p:txBody>
          <a:bodyPr vert="horz" wrap="square" lIns="0" tIns="0" rIns="0" bIns="0" rtlCol="0" anchor="t">
            <a:noAutofit/>
          </a:bodyPr>
          <a:lstStyle/>
          <a:p>
            <a:pPr algn="l"/>
            <a:r>
              <a:rPr lang="es-MX" sz="1100">
                <a:solidFill>
                  <a:srgbClr val="CFC7B8"/>
                </a:solidFill>
                <a:latin typeface="Segoe UI" panose="020B0502040204020203" pitchFamily="34" charset="0"/>
              </a:rPr>
              <a:t>Campaña de diagnóstico y propuesta de cambio de uso</a:t>
            </a:r>
            <a:endParaRPr lang="es-BO" sz="1100">
              <a:solidFill>
                <a:srgbClr val="CFC7B8"/>
              </a:solidFill>
              <a:latin typeface="Segoe UI" panose="020B0502040204020203" pitchFamily="34" charset="0"/>
            </a:endParaRPr>
          </a:p>
        </p:txBody>
      </p:sp>
      <p:sp>
        <p:nvSpPr>
          <p:cNvPr id="27" name="Elipse 26">
            <a:extLst>
              <a:ext uri="{FF2B5EF4-FFF2-40B4-BE49-F238E27FC236}">
                <a16:creationId xmlns:a16="http://schemas.microsoft.com/office/drawing/2014/main" id="{F98AAAA5-8CDE-5F1D-7050-4636AD723D3F}"/>
              </a:ext>
            </a:extLst>
          </p:cNvPr>
          <p:cNvSpPr/>
          <p:nvPr/>
        </p:nvSpPr>
        <p:spPr>
          <a:xfrm>
            <a:off x="7899400" y="4876800"/>
            <a:ext cx="152400" cy="152400"/>
          </a:xfrm>
          <a:prstGeom prst="ellipse">
            <a:avLst/>
          </a:prstGeom>
          <a:solidFill>
            <a:srgbClr val="3A4D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8" name="CuadroTexto 27">
            <a:extLst>
              <a:ext uri="{FF2B5EF4-FFF2-40B4-BE49-F238E27FC236}">
                <a16:creationId xmlns:a16="http://schemas.microsoft.com/office/drawing/2014/main" id="{811EDD0D-8B75-2E3E-320A-06A4BCE9A1A8}"/>
              </a:ext>
            </a:extLst>
          </p:cNvPr>
          <p:cNvSpPr txBox="1"/>
          <p:nvPr/>
        </p:nvSpPr>
        <p:spPr>
          <a:xfrm>
            <a:off x="8204200" y="4851400"/>
            <a:ext cx="889000" cy="203200"/>
          </a:xfrm>
          <a:prstGeom prst="rect">
            <a:avLst/>
          </a:prstGeom>
          <a:noFill/>
        </p:spPr>
        <p:txBody>
          <a:bodyPr vert="horz" wrap="square" lIns="0" tIns="0" rIns="0" bIns="0" rtlCol="0" anchor="t">
            <a:noAutofit/>
          </a:bodyPr>
          <a:lstStyle/>
          <a:p>
            <a:r>
              <a:rPr lang="es-BO" sz="1150">
                <a:solidFill>
                  <a:srgbClr val="8A6A2F"/>
                </a:solidFill>
                <a:latin typeface="Segoe UI Semibold" panose="020B0702040204020203" pitchFamily="34" charset="0"/>
              </a:rPr>
              <a:t>2026</a:t>
            </a:r>
          </a:p>
        </p:txBody>
      </p:sp>
      <p:sp>
        <p:nvSpPr>
          <p:cNvPr id="29" name="CuadroTexto 28">
            <a:extLst>
              <a:ext uri="{FF2B5EF4-FFF2-40B4-BE49-F238E27FC236}">
                <a16:creationId xmlns:a16="http://schemas.microsoft.com/office/drawing/2014/main" id="{654ABC54-BAEF-0D81-D810-218AEE58C833}"/>
              </a:ext>
            </a:extLst>
          </p:cNvPr>
          <p:cNvSpPr txBox="1"/>
          <p:nvPr/>
        </p:nvSpPr>
        <p:spPr>
          <a:xfrm>
            <a:off x="9118600" y="4851400"/>
            <a:ext cx="2921000" cy="381000"/>
          </a:xfrm>
          <a:prstGeom prst="rect">
            <a:avLst/>
          </a:prstGeom>
          <a:noFill/>
        </p:spPr>
        <p:txBody>
          <a:bodyPr vert="horz" wrap="square" lIns="0" tIns="0" rIns="0" bIns="0" rtlCol="0" anchor="t">
            <a:noAutofit/>
          </a:bodyPr>
          <a:lstStyle/>
          <a:p>
            <a:pPr algn="l"/>
            <a:r>
              <a:rPr lang="es-MX" sz="1100">
                <a:solidFill>
                  <a:srgbClr val="CFC7B8"/>
                </a:solidFill>
                <a:latin typeface="Segoe UI" panose="020B0502040204020203" pitchFamily="34" charset="0"/>
              </a:rPr>
              <a:t>Proyecto de reparación, refuerzo y recalce</a:t>
            </a:r>
            <a:endParaRPr lang="es-BO" sz="1100">
              <a:solidFill>
                <a:srgbClr val="CFC7B8"/>
              </a:solidFill>
              <a:latin typeface="Segoe UI" panose="020B0502040204020203" pitchFamily="34" charset="0"/>
            </a:endParaRPr>
          </a:p>
        </p:txBody>
      </p:sp>
      <p:cxnSp>
        <p:nvCxnSpPr>
          <p:cNvPr id="30" name="Conector recto 29">
            <a:extLst>
              <a:ext uri="{FF2B5EF4-FFF2-40B4-BE49-F238E27FC236}">
                <a16:creationId xmlns:a16="http://schemas.microsoft.com/office/drawing/2014/main" id="{6535D6E5-7581-C822-9DBB-68C0EE847CA7}"/>
              </a:ext>
            </a:extLst>
          </p:cNvPr>
          <p:cNvCxnSpPr/>
          <p:nvPr/>
        </p:nvCxnSpPr>
        <p:spPr>
          <a:xfrm>
            <a:off x="609600" y="6527800"/>
            <a:ext cx="66040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E1B1152A-AFDD-6D55-DD66-93A1AFED0B43}"/>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32" name="PageNo">
            <a:extLst>
              <a:ext uri="{FF2B5EF4-FFF2-40B4-BE49-F238E27FC236}">
                <a16:creationId xmlns:a16="http://schemas.microsoft.com/office/drawing/2014/main" id="{1ABC5813-E681-0168-856B-AD7EC6FDFABC}"/>
              </a:ext>
            </a:extLst>
          </p:cNvPr>
          <p:cNvSpPr txBox="1"/>
          <p:nvPr/>
        </p:nvSpPr>
        <p:spPr>
          <a:xfrm>
            <a:off x="60706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25 / 35</a:t>
            </a:r>
          </a:p>
        </p:txBody>
      </p:sp>
    </p:spTree>
    <p:extLst>
      <p:ext uri="{BB962C8B-B14F-4D97-AF65-F5344CB8AC3E}">
        <p14:creationId xmlns:p14="http://schemas.microsoft.com/office/powerpoint/2010/main" val="3904087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ED8B44E-66D9-2219-38BF-1CB6D840ECCA}"/>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4  ·  EXPLICADO PASO A PASO</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518660B1-DD96-6729-DD0F-7BAC77FC19AE}"/>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Ataque químico: lo exigido frente a lo ejecutado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59D5DA90-E65E-D5EF-3B28-DA3E5FADEEEE}"/>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ECE92D55-ECD8-3CB9-1F54-9448FA71FB57}"/>
              </a:ext>
            </a:extLst>
          </p:cNvPr>
          <p:cNvSpPr txBox="1"/>
          <p:nvPr/>
        </p:nvSpPr>
        <p:spPr>
          <a:xfrm>
            <a:off x="609600" y="1371600"/>
            <a:ext cx="6604000" cy="736600"/>
          </a:xfrm>
          <a:prstGeom prst="rect">
            <a:avLst/>
          </a:prstGeom>
          <a:noFill/>
        </p:spPr>
        <p:txBody>
          <a:bodyPr vert="horz" wrap="square" lIns="0" tIns="0" rIns="0" bIns="0" rtlCol="0" anchor="t">
            <a:noAutofit/>
          </a:bodyPr>
          <a:lstStyle/>
          <a:p>
            <a:pPr algn="l"/>
            <a:r>
              <a:rPr lang="es-MX" sz="1150">
                <a:solidFill>
                  <a:srgbClr val="5A5248"/>
                </a:solidFill>
                <a:latin typeface="Segoe UI" panose="020B0502040204020203" pitchFamily="34" charset="0"/>
              </a:rPr>
              <a:t>El ensayo de sulfatos del terreno da 0,35 % en peso bajo las zapatas y la cara descubierta de la zapata C-4 está reblandecida. En la cámara de bombeo, el muro ha perdido 12 mm de espesor en catorce años de servicio. El contratista propone un impermeabilizante de penetración para ambos. Hay que verificar si eso responde al mecanismo.</a:t>
            </a:r>
            <a:endParaRPr lang="es-BO" sz="1150">
              <a:solidFill>
                <a:srgbClr val="5A5248"/>
              </a:solidFill>
              <a:latin typeface="Segoe UI" panose="020B0502040204020203" pitchFamily="34" charset="0"/>
            </a:endParaRPr>
          </a:p>
        </p:txBody>
      </p:sp>
      <p:sp>
        <p:nvSpPr>
          <p:cNvPr id="7" name="Elipse 6">
            <a:extLst>
              <a:ext uri="{FF2B5EF4-FFF2-40B4-BE49-F238E27FC236}">
                <a16:creationId xmlns:a16="http://schemas.microsoft.com/office/drawing/2014/main" id="{C9A0A142-824A-0A91-151B-A331CDA4A806}"/>
              </a:ext>
            </a:extLst>
          </p:cNvPr>
          <p:cNvSpPr/>
          <p:nvPr/>
        </p:nvSpPr>
        <p:spPr>
          <a:xfrm>
            <a:off x="609600" y="2235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1</a:t>
            </a:r>
          </a:p>
        </p:txBody>
      </p:sp>
      <p:sp>
        <p:nvSpPr>
          <p:cNvPr id="8" name="CuadroTexto 7">
            <a:extLst>
              <a:ext uri="{FF2B5EF4-FFF2-40B4-BE49-F238E27FC236}">
                <a16:creationId xmlns:a16="http://schemas.microsoft.com/office/drawing/2014/main" id="{17D6F021-80E5-A99B-7E84-5D748AB059C7}"/>
              </a:ext>
            </a:extLst>
          </p:cNvPr>
          <p:cNvSpPr txBox="1"/>
          <p:nvPr/>
        </p:nvSpPr>
        <p:spPr>
          <a:xfrm>
            <a:off x="990600" y="2273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Clasificar la exposición con el dato del laboratorio</a:t>
            </a:r>
            <a:endParaRPr lang="es-BO" sz="1150">
              <a:solidFill>
                <a:srgbClr val="1C1813"/>
              </a:solidFill>
              <a:latin typeface="Segoe UI Semibold" panose="020B0702040204020203" pitchFamily="34" charset="0"/>
            </a:endParaRPr>
          </a:p>
        </p:txBody>
      </p:sp>
      <p:sp>
        <p:nvSpPr>
          <p:cNvPr id="9" name="Elipse 8">
            <a:extLst>
              <a:ext uri="{FF2B5EF4-FFF2-40B4-BE49-F238E27FC236}">
                <a16:creationId xmlns:a16="http://schemas.microsoft.com/office/drawing/2014/main" id="{077FB7C0-42B5-6E8E-5439-A51E1E3F9F88}"/>
              </a:ext>
            </a:extLst>
          </p:cNvPr>
          <p:cNvSpPr/>
          <p:nvPr/>
        </p:nvSpPr>
        <p:spPr>
          <a:xfrm>
            <a:off x="609600" y="2616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2</a:t>
            </a:r>
          </a:p>
        </p:txBody>
      </p:sp>
      <p:sp>
        <p:nvSpPr>
          <p:cNvPr id="10" name="CuadroTexto 9">
            <a:extLst>
              <a:ext uri="{FF2B5EF4-FFF2-40B4-BE49-F238E27FC236}">
                <a16:creationId xmlns:a16="http://schemas.microsoft.com/office/drawing/2014/main" id="{3F097F27-C4E6-4D2F-95C2-0FEB42501665}"/>
              </a:ext>
            </a:extLst>
          </p:cNvPr>
          <p:cNvSpPr txBox="1"/>
          <p:nvPr/>
        </p:nvSpPr>
        <p:spPr>
          <a:xfrm>
            <a:off x="990600" y="2654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Requisitos que esa clase de exposición impone</a:t>
            </a:r>
            <a:endParaRPr lang="es-BO" sz="1150">
              <a:solidFill>
                <a:srgbClr val="1C1813"/>
              </a:solidFill>
              <a:latin typeface="Segoe UI Semibold" panose="020B0702040204020203" pitchFamily="34" charset="0"/>
            </a:endParaRPr>
          </a:p>
        </p:txBody>
      </p:sp>
      <p:sp>
        <p:nvSpPr>
          <p:cNvPr id="11" name="Elipse 10">
            <a:extLst>
              <a:ext uri="{FF2B5EF4-FFF2-40B4-BE49-F238E27FC236}">
                <a16:creationId xmlns:a16="http://schemas.microsoft.com/office/drawing/2014/main" id="{A7B73001-F0C0-1FAF-7DAE-0F64D9EC8E96}"/>
              </a:ext>
            </a:extLst>
          </p:cNvPr>
          <p:cNvSpPr/>
          <p:nvPr/>
        </p:nvSpPr>
        <p:spPr>
          <a:xfrm>
            <a:off x="609600" y="2997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3</a:t>
            </a:r>
          </a:p>
        </p:txBody>
      </p:sp>
      <p:sp>
        <p:nvSpPr>
          <p:cNvPr id="12" name="CuadroTexto 11">
            <a:extLst>
              <a:ext uri="{FF2B5EF4-FFF2-40B4-BE49-F238E27FC236}">
                <a16:creationId xmlns:a16="http://schemas.microsoft.com/office/drawing/2014/main" id="{4B8B0182-88FE-A637-AAB4-25BC71BE457B}"/>
              </a:ext>
            </a:extLst>
          </p:cNvPr>
          <p:cNvSpPr txBox="1"/>
          <p:nvPr/>
        </p:nvSpPr>
        <p:spPr>
          <a:xfrm>
            <a:off x="990600" y="3035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Contraste entre lo exigido y lo ejecutado</a:t>
            </a:r>
            <a:endParaRPr lang="es-BO" sz="1150">
              <a:solidFill>
                <a:srgbClr val="1C1813"/>
              </a:solidFill>
              <a:latin typeface="Segoe UI Semibold" panose="020B0702040204020203" pitchFamily="34" charset="0"/>
            </a:endParaRPr>
          </a:p>
        </p:txBody>
      </p:sp>
      <p:sp>
        <p:nvSpPr>
          <p:cNvPr id="13" name="Elipse 12">
            <a:extLst>
              <a:ext uri="{FF2B5EF4-FFF2-40B4-BE49-F238E27FC236}">
                <a16:creationId xmlns:a16="http://schemas.microsoft.com/office/drawing/2014/main" id="{34E1A7F3-FF35-3C1F-9D99-14FCBCADBA50}"/>
              </a:ext>
            </a:extLst>
          </p:cNvPr>
          <p:cNvSpPr/>
          <p:nvPr/>
        </p:nvSpPr>
        <p:spPr>
          <a:xfrm>
            <a:off x="609600" y="3378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4</a:t>
            </a:r>
          </a:p>
        </p:txBody>
      </p:sp>
      <p:sp>
        <p:nvSpPr>
          <p:cNvPr id="14" name="CuadroTexto 13">
            <a:extLst>
              <a:ext uri="{FF2B5EF4-FFF2-40B4-BE49-F238E27FC236}">
                <a16:creationId xmlns:a16="http://schemas.microsoft.com/office/drawing/2014/main" id="{A669179F-5510-1A84-AD71-79FA78FA335E}"/>
              </a:ext>
            </a:extLst>
          </p:cNvPr>
          <p:cNvSpPr txBox="1"/>
          <p:nvPr/>
        </p:nvSpPr>
        <p:spPr>
          <a:xfrm>
            <a:off x="990600" y="3416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Velocidad de pérdida medida en la cámara</a:t>
            </a:r>
            <a:endParaRPr lang="es-BO" sz="1150">
              <a:solidFill>
                <a:srgbClr val="1C1813"/>
              </a:solidFill>
              <a:latin typeface="Segoe UI Semibold" panose="020B0702040204020203" pitchFamily="34" charset="0"/>
            </a:endParaRPr>
          </a:p>
        </p:txBody>
      </p:sp>
      <p:sp>
        <p:nvSpPr>
          <p:cNvPr id="15" name="Elipse 14">
            <a:extLst>
              <a:ext uri="{FF2B5EF4-FFF2-40B4-BE49-F238E27FC236}">
                <a16:creationId xmlns:a16="http://schemas.microsoft.com/office/drawing/2014/main" id="{D589C1BA-DBAB-5BB3-F3A8-BE5F015A7FF0}"/>
              </a:ext>
            </a:extLst>
          </p:cNvPr>
          <p:cNvSpPr/>
          <p:nvPr/>
        </p:nvSpPr>
        <p:spPr>
          <a:xfrm>
            <a:off x="609600" y="3759200"/>
            <a:ext cx="279400" cy="2794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BO" sz="900">
                <a:solidFill>
                  <a:srgbClr val="FFFFFF"/>
                </a:solidFill>
                <a:latin typeface="Bahnschrift SemiBold" panose="020B0502040204020203" pitchFamily="34" charset="0"/>
              </a:rPr>
              <a:t>5</a:t>
            </a:r>
          </a:p>
        </p:txBody>
      </p:sp>
      <p:sp>
        <p:nvSpPr>
          <p:cNvPr id="16" name="CuadroTexto 15">
            <a:extLst>
              <a:ext uri="{FF2B5EF4-FFF2-40B4-BE49-F238E27FC236}">
                <a16:creationId xmlns:a16="http://schemas.microsoft.com/office/drawing/2014/main" id="{34D7871F-651E-7935-3329-9297D6D4380A}"/>
              </a:ext>
            </a:extLst>
          </p:cNvPr>
          <p:cNvSpPr txBox="1"/>
          <p:nvPr/>
        </p:nvSpPr>
        <p:spPr>
          <a:xfrm>
            <a:off x="990600" y="3797300"/>
            <a:ext cx="6223000" cy="304800"/>
          </a:xfrm>
          <a:prstGeom prst="rect">
            <a:avLst/>
          </a:prstGeom>
          <a:noFill/>
        </p:spPr>
        <p:txBody>
          <a:bodyPr vert="horz" wrap="square" lIns="0" tIns="0" rIns="0" bIns="0" rtlCol="0" anchor="t">
            <a:noAutofit/>
          </a:bodyPr>
          <a:lstStyle/>
          <a:p>
            <a:pPr algn="l"/>
            <a:r>
              <a:rPr lang="es-MX" sz="1150">
                <a:solidFill>
                  <a:srgbClr val="1C1813"/>
                </a:solidFill>
                <a:latin typeface="Segoe UI Semibold" panose="020B0702040204020203" pitchFamily="34" charset="0"/>
              </a:rPr>
              <a:t>Vida residual del recubrimiento y del muro</a:t>
            </a:r>
            <a:endParaRPr lang="es-BO" sz="1150">
              <a:solidFill>
                <a:srgbClr val="1C1813"/>
              </a:solidFill>
              <a:latin typeface="Segoe UI Semibold" panose="020B0702040204020203" pitchFamily="34" charset="0"/>
            </a:endParaRPr>
          </a:p>
        </p:txBody>
      </p:sp>
      <p:sp>
        <p:nvSpPr>
          <p:cNvPr id="17" name="Rectángulo 16">
            <a:extLst>
              <a:ext uri="{FF2B5EF4-FFF2-40B4-BE49-F238E27FC236}">
                <a16:creationId xmlns:a16="http://schemas.microsoft.com/office/drawing/2014/main" id="{423EFE09-E8C4-B0B0-899F-A4C781F3F9BB}"/>
              </a:ext>
            </a:extLst>
          </p:cNvPr>
          <p:cNvSpPr/>
          <p:nvPr/>
        </p:nvSpPr>
        <p:spPr>
          <a:xfrm>
            <a:off x="7467600" y="1371600"/>
            <a:ext cx="4114800" cy="3987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9" name="CuadroTexto 18">
            <a:extLst>
              <a:ext uri="{FF2B5EF4-FFF2-40B4-BE49-F238E27FC236}">
                <a16:creationId xmlns:a16="http://schemas.microsoft.com/office/drawing/2014/main" id="{FD3856A2-AFFB-1492-50E4-473F1C3AB6E9}"/>
              </a:ext>
            </a:extLst>
          </p:cNvPr>
          <p:cNvSpPr txBox="1"/>
          <p:nvPr/>
        </p:nvSpPr>
        <p:spPr>
          <a:xfrm>
            <a:off x="7670800" y="1485900"/>
            <a:ext cx="3733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LA ZAPATA Y LA CÁMARA DE BOMBEO</a:t>
            </a:r>
            <a:endParaRPr lang="es-BO" sz="750" spc="160">
              <a:solidFill>
                <a:srgbClr val="6A4F20"/>
              </a:solidFill>
              <a:latin typeface="Segoe UI Semibold" panose="020B0702040204020203" pitchFamily="34" charset="0"/>
            </a:endParaRPr>
          </a:p>
        </p:txBody>
      </p:sp>
      <p:sp>
        <p:nvSpPr>
          <p:cNvPr id="20" name="Rectángulo 19">
            <a:extLst>
              <a:ext uri="{FF2B5EF4-FFF2-40B4-BE49-F238E27FC236}">
                <a16:creationId xmlns:a16="http://schemas.microsoft.com/office/drawing/2014/main" id="{466D282D-CE8B-B837-4476-8F7EC70FB7F8}"/>
              </a:ext>
            </a:extLst>
          </p:cNvPr>
          <p:cNvSpPr/>
          <p:nvPr/>
        </p:nvSpPr>
        <p:spPr>
          <a:xfrm>
            <a:off x="7797800" y="1955800"/>
            <a:ext cx="3454400" cy="1193800"/>
          </a:xfrm>
          <a:prstGeom prst="rect">
            <a:avLst/>
          </a:prstGeom>
          <a:solidFill>
            <a:srgbClr val="EAE4D6"/>
          </a:solidFill>
          <a:ln w="6350">
            <a:solidFill>
              <a:srgbClr val="A69E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cxnSp>
        <p:nvCxnSpPr>
          <p:cNvPr id="21" name="Conector recto 20">
            <a:extLst>
              <a:ext uri="{FF2B5EF4-FFF2-40B4-BE49-F238E27FC236}">
                <a16:creationId xmlns:a16="http://schemas.microsoft.com/office/drawing/2014/main" id="{C1FFF2BF-BEE1-A845-F79C-225EB978CD70}"/>
              </a:ext>
            </a:extLst>
          </p:cNvPr>
          <p:cNvCxnSpPr/>
          <p:nvPr/>
        </p:nvCxnSpPr>
        <p:spPr>
          <a:xfrm>
            <a:off x="7797800" y="1955800"/>
            <a:ext cx="0" cy="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B9BB4883-B762-27D1-E275-AE29A30DF8E3}"/>
              </a:ext>
            </a:extLst>
          </p:cNvPr>
          <p:cNvCxnSpPr/>
          <p:nvPr/>
        </p:nvCxnSpPr>
        <p:spPr>
          <a:xfrm flipH="1">
            <a:off x="7797800" y="1955800"/>
            <a:ext cx="165100" cy="1651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6A888DF1-89F9-93EC-F52C-A823B07BB376}"/>
              </a:ext>
            </a:extLst>
          </p:cNvPr>
          <p:cNvCxnSpPr/>
          <p:nvPr/>
        </p:nvCxnSpPr>
        <p:spPr>
          <a:xfrm flipH="1">
            <a:off x="7797800" y="1955800"/>
            <a:ext cx="330200" cy="330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C5F55C0D-DC1D-D31A-ECD4-449B4E00A882}"/>
              </a:ext>
            </a:extLst>
          </p:cNvPr>
          <p:cNvCxnSpPr/>
          <p:nvPr/>
        </p:nvCxnSpPr>
        <p:spPr>
          <a:xfrm flipH="1">
            <a:off x="7797800" y="1955800"/>
            <a:ext cx="495300" cy="4953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839E18BC-4EC4-6D99-EB48-1827B42DEE2A}"/>
              </a:ext>
            </a:extLst>
          </p:cNvPr>
          <p:cNvCxnSpPr/>
          <p:nvPr/>
        </p:nvCxnSpPr>
        <p:spPr>
          <a:xfrm flipH="1">
            <a:off x="7797800" y="1955800"/>
            <a:ext cx="660400" cy="6604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595E91E0-719E-5F28-E545-B5C67B273F17}"/>
              </a:ext>
            </a:extLst>
          </p:cNvPr>
          <p:cNvCxnSpPr/>
          <p:nvPr/>
        </p:nvCxnSpPr>
        <p:spPr>
          <a:xfrm flipH="1">
            <a:off x="7797800" y="1955800"/>
            <a:ext cx="825500" cy="8255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5E7420EF-755A-ACFE-D9D4-2070131A227E}"/>
              </a:ext>
            </a:extLst>
          </p:cNvPr>
          <p:cNvCxnSpPr/>
          <p:nvPr/>
        </p:nvCxnSpPr>
        <p:spPr>
          <a:xfrm flipH="1">
            <a:off x="7797800" y="1955800"/>
            <a:ext cx="990600" cy="9906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9963C90-DBC6-FD1E-D249-8B2D136673FB}"/>
              </a:ext>
            </a:extLst>
          </p:cNvPr>
          <p:cNvCxnSpPr/>
          <p:nvPr/>
        </p:nvCxnSpPr>
        <p:spPr>
          <a:xfrm flipH="1">
            <a:off x="7797800" y="1955800"/>
            <a:ext cx="1155700" cy="11557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E145D43C-AFAD-67E3-BEF3-AE905D785754}"/>
              </a:ext>
            </a:extLst>
          </p:cNvPr>
          <p:cNvCxnSpPr/>
          <p:nvPr/>
        </p:nvCxnSpPr>
        <p:spPr>
          <a:xfrm flipH="1">
            <a:off x="79248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2B04416E-0E41-2B44-A44F-A0A500A2B613}"/>
              </a:ext>
            </a:extLst>
          </p:cNvPr>
          <p:cNvCxnSpPr/>
          <p:nvPr/>
        </p:nvCxnSpPr>
        <p:spPr>
          <a:xfrm flipH="1">
            <a:off x="80899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E8E048D2-C784-491B-7EAD-978248F01E57}"/>
              </a:ext>
            </a:extLst>
          </p:cNvPr>
          <p:cNvCxnSpPr/>
          <p:nvPr/>
        </p:nvCxnSpPr>
        <p:spPr>
          <a:xfrm flipH="1">
            <a:off x="82550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AAA09FB9-5474-7176-1860-CA2E2DE23729}"/>
              </a:ext>
            </a:extLst>
          </p:cNvPr>
          <p:cNvCxnSpPr/>
          <p:nvPr/>
        </p:nvCxnSpPr>
        <p:spPr>
          <a:xfrm flipH="1">
            <a:off x="84201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B0D2051A-65C1-586D-F697-A99B413BAF46}"/>
              </a:ext>
            </a:extLst>
          </p:cNvPr>
          <p:cNvCxnSpPr/>
          <p:nvPr/>
        </p:nvCxnSpPr>
        <p:spPr>
          <a:xfrm flipH="1">
            <a:off x="85852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F0CDC919-2727-55F7-446D-557556450D44}"/>
              </a:ext>
            </a:extLst>
          </p:cNvPr>
          <p:cNvCxnSpPr/>
          <p:nvPr/>
        </p:nvCxnSpPr>
        <p:spPr>
          <a:xfrm flipH="1">
            <a:off x="87503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5D284E3F-95CE-44AA-AB3A-E7C5894F733B}"/>
              </a:ext>
            </a:extLst>
          </p:cNvPr>
          <p:cNvCxnSpPr/>
          <p:nvPr/>
        </p:nvCxnSpPr>
        <p:spPr>
          <a:xfrm flipH="1">
            <a:off x="89154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9E2928FB-0645-828F-C02C-1BCC6B2FF1F9}"/>
              </a:ext>
            </a:extLst>
          </p:cNvPr>
          <p:cNvCxnSpPr/>
          <p:nvPr/>
        </p:nvCxnSpPr>
        <p:spPr>
          <a:xfrm flipH="1">
            <a:off x="90805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34DD1A8A-E6AB-EE80-9CCE-4300D8725E90}"/>
              </a:ext>
            </a:extLst>
          </p:cNvPr>
          <p:cNvCxnSpPr/>
          <p:nvPr/>
        </p:nvCxnSpPr>
        <p:spPr>
          <a:xfrm flipH="1">
            <a:off x="92456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BD5A8A0E-EE66-9041-3FAB-5B61EB22DABB}"/>
              </a:ext>
            </a:extLst>
          </p:cNvPr>
          <p:cNvCxnSpPr/>
          <p:nvPr/>
        </p:nvCxnSpPr>
        <p:spPr>
          <a:xfrm flipH="1">
            <a:off x="94107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97B285EB-D24C-1AAB-9292-3CB5AD9BE60A}"/>
              </a:ext>
            </a:extLst>
          </p:cNvPr>
          <p:cNvCxnSpPr/>
          <p:nvPr/>
        </p:nvCxnSpPr>
        <p:spPr>
          <a:xfrm flipH="1">
            <a:off x="95758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47A5EF5E-00DF-9DC8-5EAA-05EBE422D20E}"/>
              </a:ext>
            </a:extLst>
          </p:cNvPr>
          <p:cNvCxnSpPr/>
          <p:nvPr/>
        </p:nvCxnSpPr>
        <p:spPr>
          <a:xfrm flipH="1">
            <a:off x="97409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EE00AA09-1A5B-81B5-A60A-1EF65684BFA8}"/>
              </a:ext>
            </a:extLst>
          </p:cNvPr>
          <p:cNvCxnSpPr/>
          <p:nvPr/>
        </p:nvCxnSpPr>
        <p:spPr>
          <a:xfrm flipH="1">
            <a:off x="9906000" y="1955800"/>
            <a:ext cx="1193800" cy="1193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263B3B95-E1EC-437A-3C16-4ADE952BB158}"/>
              </a:ext>
            </a:extLst>
          </p:cNvPr>
          <p:cNvCxnSpPr/>
          <p:nvPr/>
        </p:nvCxnSpPr>
        <p:spPr>
          <a:xfrm flipH="1">
            <a:off x="10071100" y="1968500"/>
            <a:ext cx="1181100" cy="11811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34774140-67F6-CEEA-F509-5A8AD55FBCC3}"/>
              </a:ext>
            </a:extLst>
          </p:cNvPr>
          <p:cNvCxnSpPr/>
          <p:nvPr/>
        </p:nvCxnSpPr>
        <p:spPr>
          <a:xfrm flipH="1">
            <a:off x="10236200" y="2133600"/>
            <a:ext cx="1016000" cy="10160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EFF6992B-A437-C681-F276-52522A56F92B}"/>
              </a:ext>
            </a:extLst>
          </p:cNvPr>
          <p:cNvCxnSpPr/>
          <p:nvPr/>
        </p:nvCxnSpPr>
        <p:spPr>
          <a:xfrm flipH="1">
            <a:off x="10401300" y="2298700"/>
            <a:ext cx="850900" cy="8509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F672505F-5287-CD38-D9CE-C56587C00368}"/>
              </a:ext>
            </a:extLst>
          </p:cNvPr>
          <p:cNvCxnSpPr/>
          <p:nvPr/>
        </p:nvCxnSpPr>
        <p:spPr>
          <a:xfrm flipH="1">
            <a:off x="10566400" y="2463800"/>
            <a:ext cx="685800" cy="6858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9639138B-EE8D-C066-3874-6E273331AD71}"/>
              </a:ext>
            </a:extLst>
          </p:cNvPr>
          <p:cNvCxnSpPr/>
          <p:nvPr/>
        </p:nvCxnSpPr>
        <p:spPr>
          <a:xfrm flipH="1">
            <a:off x="10731500" y="2628900"/>
            <a:ext cx="520700" cy="5207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ACB51253-5FD0-FF7C-2103-1F54A4964356}"/>
              </a:ext>
            </a:extLst>
          </p:cNvPr>
          <p:cNvCxnSpPr/>
          <p:nvPr/>
        </p:nvCxnSpPr>
        <p:spPr>
          <a:xfrm flipH="1">
            <a:off x="10896600" y="2794000"/>
            <a:ext cx="355600" cy="3556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D771C76C-5B4F-3E5F-F93B-90D553660C43}"/>
              </a:ext>
            </a:extLst>
          </p:cNvPr>
          <p:cNvCxnSpPr/>
          <p:nvPr/>
        </p:nvCxnSpPr>
        <p:spPr>
          <a:xfrm flipH="1">
            <a:off x="11061700" y="2959100"/>
            <a:ext cx="190500" cy="1905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sp>
        <p:nvSpPr>
          <p:cNvPr id="49" name="Rectángulo 48">
            <a:extLst>
              <a:ext uri="{FF2B5EF4-FFF2-40B4-BE49-F238E27FC236}">
                <a16:creationId xmlns:a16="http://schemas.microsoft.com/office/drawing/2014/main" id="{3B0F6B78-9C88-CE90-E8FF-3ADA2A40291C}"/>
              </a:ext>
            </a:extLst>
          </p:cNvPr>
          <p:cNvSpPr/>
          <p:nvPr/>
        </p:nvSpPr>
        <p:spPr>
          <a:xfrm>
            <a:off x="8834120" y="2552700"/>
            <a:ext cx="1381760" cy="203200"/>
          </a:xfrm>
          <a:prstGeom prst="rect">
            <a:avLst/>
          </a:prstGeom>
          <a:solidFill>
            <a:srgbClr val="C9C3B4"/>
          </a:solidFill>
          <a:ln w="9525">
            <a:solidFill>
              <a:srgbClr val="A69E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0" name="Rectángulo 49">
            <a:extLst>
              <a:ext uri="{FF2B5EF4-FFF2-40B4-BE49-F238E27FC236}">
                <a16:creationId xmlns:a16="http://schemas.microsoft.com/office/drawing/2014/main" id="{FD8A0885-FF99-9765-A3A1-3E84FC4ABCFE}"/>
              </a:ext>
            </a:extLst>
          </p:cNvPr>
          <p:cNvSpPr/>
          <p:nvPr/>
        </p:nvSpPr>
        <p:spPr>
          <a:xfrm>
            <a:off x="9317736" y="2108200"/>
            <a:ext cx="414528" cy="444500"/>
          </a:xfrm>
          <a:prstGeom prst="rect">
            <a:avLst/>
          </a:prstGeom>
          <a:solidFill>
            <a:srgbClr val="C9C3B4"/>
          </a:solidFill>
          <a:ln w="9525">
            <a:solidFill>
              <a:srgbClr val="A69E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1" name="Elipse 50">
            <a:extLst>
              <a:ext uri="{FF2B5EF4-FFF2-40B4-BE49-F238E27FC236}">
                <a16:creationId xmlns:a16="http://schemas.microsoft.com/office/drawing/2014/main" id="{D01AC3ED-CEC2-E868-DC17-1BA61AA6DA78}"/>
              </a:ext>
            </a:extLst>
          </p:cNvPr>
          <p:cNvSpPr/>
          <p:nvPr/>
        </p:nvSpPr>
        <p:spPr>
          <a:xfrm>
            <a:off x="8834120" y="2839212"/>
            <a:ext cx="88900" cy="889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BO" sz="500">
              <a:solidFill>
                <a:srgbClr val="FFFFFF"/>
              </a:solidFill>
              <a:latin typeface="Bahnschrift SemiBold" panose="020B0502040204020203" pitchFamily="34" charset="0"/>
            </a:endParaRPr>
          </a:p>
        </p:txBody>
      </p:sp>
      <p:sp>
        <p:nvSpPr>
          <p:cNvPr id="52" name="Elipse 51">
            <a:extLst>
              <a:ext uri="{FF2B5EF4-FFF2-40B4-BE49-F238E27FC236}">
                <a16:creationId xmlns:a16="http://schemas.microsoft.com/office/drawing/2014/main" id="{2AE751CA-368C-53B4-D989-09BBCC74A3FF}"/>
              </a:ext>
            </a:extLst>
          </p:cNvPr>
          <p:cNvSpPr/>
          <p:nvPr/>
        </p:nvSpPr>
        <p:spPr>
          <a:xfrm>
            <a:off x="9110472" y="2839212"/>
            <a:ext cx="88900" cy="889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BO" sz="500">
              <a:solidFill>
                <a:srgbClr val="FFFFFF"/>
              </a:solidFill>
              <a:latin typeface="Bahnschrift SemiBold" panose="020B0502040204020203" pitchFamily="34" charset="0"/>
            </a:endParaRPr>
          </a:p>
        </p:txBody>
      </p:sp>
      <p:sp>
        <p:nvSpPr>
          <p:cNvPr id="53" name="Elipse 52">
            <a:extLst>
              <a:ext uri="{FF2B5EF4-FFF2-40B4-BE49-F238E27FC236}">
                <a16:creationId xmlns:a16="http://schemas.microsoft.com/office/drawing/2014/main" id="{2325717E-5E96-1EF9-71E9-6BA56169E3EE}"/>
              </a:ext>
            </a:extLst>
          </p:cNvPr>
          <p:cNvSpPr/>
          <p:nvPr/>
        </p:nvSpPr>
        <p:spPr>
          <a:xfrm>
            <a:off x="9386824" y="2839212"/>
            <a:ext cx="88900" cy="889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BO" sz="500">
              <a:solidFill>
                <a:srgbClr val="FFFFFF"/>
              </a:solidFill>
              <a:latin typeface="Bahnschrift SemiBold" panose="020B0502040204020203" pitchFamily="34" charset="0"/>
            </a:endParaRPr>
          </a:p>
        </p:txBody>
      </p:sp>
      <p:sp>
        <p:nvSpPr>
          <p:cNvPr id="54" name="Elipse 53">
            <a:extLst>
              <a:ext uri="{FF2B5EF4-FFF2-40B4-BE49-F238E27FC236}">
                <a16:creationId xmlns:a16="http://schemas.microsoft.com/office/drawing/2014/main" id="{506776B1-1512-46CB-BB6E-EA5D306976A1}"/>
              </a:ext>
            </a:extLst>
          </p:cNvPr>
          <p:cNvSpPr/>
          <p:nvPr/>
        </p:nvSpPr>
        <p:spPr>
          <a:xfrm>
            <a:off x="9663176" y="2839212"/>
            <a:ext cx="88900" cy="889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BO" sz="500">
              <a:solidFill>
                <a:srgbClr val="FFFFFF"/>
              </a:solidFill>
              <a:latin typeface="Bahnschrift SemiBold" panose="020B0502040204020203" pitchFamily="34" charset="0"/>
            </a:endParaRPr>
          </a:p>
        </p:txBody>
      </p:sp>
      <p:sp>
        <p:nvSpPr>
          <p:cNvPr id="55" name="Elipse 54">
            <a:extLst>
              <a:ext uri="{FF2B5EF4-FFF2-40B4-BE49-F238E27FC236}">
                <a16:creationId xmlns:a16="http://schemas.microsoft.com/office/drawing/2014/main" id="{2151BC4E-758D-6657-004C-1C679E291408}"/>
              </a:ext>
            </a:extLst>
          </p:cNvPr>
          <p:cNvSpPr/>
          <p:nvPr/>
        </p:nvSpPr>
        <p:spPr>
          <a:xfrm>
            <a:off x="9939528" y="2839212"/>
            <a:ext cx="88900" cy="889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BO" sz="500">
              <a:solidFill>
                <a:srgbClr val="FFFFFF"/>
              </a:solidFill>
              <a:latin typeface="Bahnschrift SemiBold" panose="020B0502040204020203" pitchFamily="34" charset="0"/>
            </a:endParaRPr>
          </a:p>
        </p:txBody>
      </p:sp>
      <p:sp>
        <p:nvSpPr>
          <p:cNvPr id="56" name="Elipse 55">
            <a:extLst>
              <a:ext uri="{FF2B5EF4-FFF2-40B4-BE49-F238E27FC236}">
                <a16:creationId xmlns:a16="http://schemas.microsoft.com/office/drawing/2014/main" id="{7FB74BE3-D26F-5293-E558-AACD840854E1}"/>
              </a:ext>
            </a:extLst>
          </p:cNvPr>
          <p:cNvSpPr/>
          <p:nvPr/>
        </p:nvSpPr>
        <p:spPr>
          <a:xfrm>
            <a:off x="10215880" y="2839212"/>
            <a:ext cx="88900" cy="88900"/>
          </a:xfrm>
          <a:prstGeom prst="ellipse">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BO" sz="500">
              <a:solidFill>
                <a:srgbClr val="FFFFFF"/>
              </a:solidFill>
              <a:latin typeface="Bahnschrift SemiBold" panose="020B0502040204020203" pitchFamily="34" charset="0"/>
            </a:endParaRPr>
          </a:p>
        </p:txBody>
      </p:sp>
      <p:sp>
        <p:nvSpPr>
          <p:cNvPr id="57" name="CuadroTexto 56">
            <a:extLst>
              <a:ext uri="{FF2B5EF4-FFF2-40B4-BE49-F238E27FC236}">
                <a16:creationId xmlns:a16="http://schemas.microsoft.com/office/drawing/2014/main" id="{F66EE891-41D8-8F05-4D5C-E46F4CBC67E8}"/>
              </a:ext>
            </a:extLst>
          </p:cNvPr>
          <p:cNvSpPr txBox="1"/>
          <p:nvPr/>
        </p:nvSpPr>
        <p:spPr>
          <a:xfrm>
            <a:off x="7797800" y="2946400"/>
            <a:ext cx="3454400" cy="152400"/>
          </a:xfrm>
          <a:prstGeom prst="rect">
            <a:avLst/>
          </a:prstGeom>
          <a:noFill/>
        </p:spPr>
        <p:txBody>
          <a:bodyPr vert="horz" wrap="square" lIns="0" tIns="0" rIns="0" bIns="0" rtlCol="0" anchor="t">
            <a:noAutofit/>
          </a:bodyPr>
          <a:lstStyle/>
          <a:p>
            <a:pPr algn="ctr"/>
            <a:r>
              <a:rPr lang="es-MX" sz="600">
                <a:solidFill>
                  <a:srgbClr val="6A4F20"/>
                </a:solidFill>
                <a:latin typeface="Segoe UI Semibold" panose="020B0702040204020203" pitchFamily="34" charset="0"/>
              </a:rPr>
              <a:t>sulfatos atacando la cara de la zapata</a:t>
            </a:r>
            <a:endParaRPr lang="es-BO" sz="600">
              <a:solidFill>
                <a:srgbClr val="6A4F20"/>
              </a:solidFill>
              <a:latin typeface="Segoe UI Semibold" panose="020B0702040204020203" pitchFamily="34" charset="0"/>
            </a:endParaRPr>
          </a:p>
        </p:txBody>
      </p:sp>
      <p:sp>
        <p:nvSpPr>
          <p:cNvPr id="58" name="Rectángulo 57">
            <a:extLst>
              <a:ext uri="{FF2B5EF4-FFF2-40B4-BE49-F238E27FC236}">
                <a16:creationId xmlns:a16="http://schemas.microsoft.com/office/drawing/2014/main" id="{BF6CE202-F9F2-554C-9C4C-5ED3371C55F5}"/>
              </a:ext>
            </a:extLst>
          </p:cNvPr>
          <p:cNvSpPr/>
          <p:nvPr/>
        </p:nvSpPr>
        <p:spPr>
          <a:xfrm>
            <a:off x="7797800" y="34290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9" name="CuadroTexto 58">
            <a:extLst>
              <a:ext uri="{FF2B5EF4-FFF2-40B4-BE49-F238E27FC236}">
                <a16:creationId xmlns:a16="http://schemas.microsoft.com/office/drawing/2014/main" id="{47F80192-CA3A-FD17-D7B9-1D798F7E76B6}"/>
              </a:ext>
            </a:extLst>
          </p:cNvPr>
          <p:cNvSpPr txBox="1"/>
          <p:nvPr/>
        </p:nvSpPr>
        <p:spPr>
          <a:xfrm>
            <a:off x="7899400" y="3429000"/>
            <a:ext cx="11684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Sulfatos</a:t>
            </a:r>
          </a:p>
        </p:txBody>
      </p:sp>
      <p:sp>
        <p:nvSpPr>
          <p:cNvPr id="60" name="CuadroTexto 59">
            <a:extLst>
              <a:ext uri="{FF2B5EF4-FFF2-40B4-BE49-F238E27FC236}">
                <a16:creationId xmlns:a16="http://schemas.microsoft.com/office/drawing/2014/main" id="{37ACBCB0-1C1F-69CA-4312-200B97E732F1}"/>
              </a:ext>
            </a:extLst>
          </p:cNvPr>
          <p:cNvSpPr txBox="1"/>
          <p:nvPr/>
        </p:nvSpPr>
        <p:spPr>
          <a:xfrm>
            <a:off x="9093200" y="3429000"/>
            <a:ext cx="2133600" cy="190500"/>
          </a:xfrm>
          <a:prstGeom prst="rect">
            <a:avLst/>
          </a:prstGeom>
          <a:noFill/>
        </p:spPr>
        <p:txBody>
          <a:bodyPr vert="horz" wrap="square" lIns="0" tIns="0" rIns="0" bIns="0" rtlCol="0" anchor="t">
            <a:noAutofit/>
          </a:bodyPr>
          <a:lstStyle/>
          <a:p>
            <a:pPr algn="l"/>
            <a:r>
              <a:rPr lang="es-MX" sz="750">
                <a:solidFill>
                  <a:srgbClr val="5A5248"/>
                </a:solidFill>
                <a:latin typeface="Segoe UI" panose="020B0502040204020203" pitchFamily="34" charset="0"/>
              </a:rPr>
              <a:t>0,35 % en peso de suelo</a:t>
            </a:r>
            <a:endParaRPr lang="es-BO" sz="750">
              <a:solidFill>
                <a:srgbClr val="5A5248"/>
              </a:solidFill>
              <a:latin typeface="Segoe UI" panose="020B0502040204020203" pitchFamily="34" charset="0"/>
            </a:endParaRPr>
          </a:p>
        </p:txBody>
      </p:sp>
      <p:sp>
        <p:nvSpPr>
          <p:cNvPr id="61" name="Rectángulo 60">
            <a:extLst>
              <a:ext uri="{FF2B5EF4-FFF2-40B4-BE49-F238E27FC236}">
                <a16:creationId xmlns:a16="http://schemas.microsoft.com/office/drawing/2014/main" id="{A8A9444F-AB93-42D1-BD41-CDCF08D8C01C}"/>
              </a:ext>
            </a:extLst>
          </p:cNvPr>
          <p:cNvSpPr/>
          <p:nvPr/>
        </p:nvSpPr>
        <p:spPr>
          <a:xfrm>
            <a:off x="7797800" y="36703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2" name="CuadroTexto 61">
            <a:extLst>
              <a:ext uri="{FF2B5EF4-FFF2-40B4-BE49-F238E27FC236}">
                <a16:creationId xmlns:a16="http://schemas.microsoft.com/office/drawing/2014/main" id="{69533DC2-578B-A214-EBAE-CC306ED2A403}"/>
              </a:ext>
            </a:extLst>
          </p:cNvPr>
          <p:cNvSpPr txBox="1"/>
          <p:nvPr/>
        </p:nvSpPr>
        <p:spPr>
          <a:xfrm>
            <a:off x="7899400" y="3670300"/>
            <a:ext cx="11684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f′c proyecto</a:t>
            </a:r>
          </a:p>
        </p:txBody>
      </p:sp>
      <p:sp>
        <p:nvSpPr>
          <p:cNvPr id="63" name="CuadroTexto 62">
            <a:extLst>
              <a:ext uri="{FF2B5EF4-FFF2-40B4-BE49-F238E27FC236}">
                <a16:creationId xmlns:a16="http://schemas.microsoft.com/office/drawing/2014/main" id="{508AE68F-914E-700F-1643-08AD878E68BF}"/>
              </a:ext>
            </a:extLst>
          </p:cNvPr>
          <p:cNvSpPr txBox="1"/>
          <p:nvPr/>
        </p:nvSpPr>
        <p:spPr>
          <a:xfrm>
            <a:off x="9093200" y="3670300"/>
            <a:ext cx="2133600" cy="190500"/>
          </a:xfrm>
          <a:prstGeom prst="rect">
            <a:avLst/>
          </a:prstGeom>
          <a:noFill/>
        </p:spPr>
        <p:txBody>
          <a:bodyPr vert="horz" wrap="square" lIns="0" tIns="0" rIns="0" bIns="0" rtlCol="0" anchor="t">
            <a:noAutofit/>
          </a:bodyPr>
          <a:lstStyle/>
          <a:p>
            <a:pPr algn="l"/>
            <a:r>
              <a:rPr lang="es-BO" sz="750">
                <a:solidFill>
                  <a:srgbClr val="5A5248"/>
                </a:solidFill>
                <a:latin typeface="Segoe UI" panose="020B0502040204020203" pitchFamily="34" charset="0"/>
              </a:rPr>
              <a:t>21 MPa  ·  testigos 18,5</a:t>
            </a:r>
          </a:p>
        </p:txBody>
      </p:sp>
      <p:sp>
        <p:nvSpPr>
          <p:cNvPr id="64" name="Rectángulo 63">
            <a:extLst>
              <a:ext uri="{FF2B5EF4-FFF2-40B4-BE49-F238E27FC236}">
                <a16:creationId xmlns:a16="http://schemas.microsoft.com/office/drawing/2014/main" id="{3EC86B51-7382-A5B3-8818-A9BB6B5EF417}"/>
              </a:ext>
            </a:extLst>
          </p:cNvPr>
          <p:cNvSpPr/>
          <p:nvPr/>
        </p:nvSpPr>
        <p:spPr>
          <a:xfrm>
            <a:off x="7797800" y="39116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5" name="CuadroTexto 64">
            <a:extLst>
              <a:ext uri="{FF2B5EF4-FFF2-40B4-BE49-F238E27FC236}">
                <a16:creationId xmlns:a16="http://schemas.microsoft.com/office/drawing/2014/main" id="{39168086-82EF-0DDB-E9D6-E46AE5359933}"/>
              </a:ext>
            </a:extLst>
          </p:cNvPr>
          <p:cNvSpPr txBox="1"/>
          <p:nvPr/>
        </p:nvSpPr>
        <p:spPr>
          <a:xfrm>
            <a:off x="7899400" y="3911600"/>
            <a:ext cx="11684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a/c estimada</a:t>
            </a:r>
          </a:p>
        </p:txBody>
      </p:sp>
      <p:sp>
        <p:nvSpPr>
          <p:cNvPr id="66" name="CuadroTexto 65">
            <a:extLst>
              <a:ext uri="{FF2B5EF4-FFF2-40B4-BE49-F238E27FC236}">
                <a16:creationId xmlns:a16="http://schemas.microsoft.com/office/drawing/2014/main" id="{CAC8180F-3C86-2647-9CB5-47B0AFDEB07F}"/>
              </a:ext>
            </a:extLst>
          </p:cNvPr>
          <p:cNvSpPr txBox="1"/>
          <p:nvPr/>
        </p:nvSpPr>
        <p:spPr>
          <a:xfrm>
            <a:off x="9093200" y="3911600"/>
            <a:ext cx="2133600" cy="190500"/>
          </a:xfrm>
          <a:prstGeom prst="rect">
            <a:avLst/>
          </a:prstGeom>
          <a:noFill/>
        </p:spPr>
        <p:txBody>
          <a:bodyPr vert="horz" wrap="square" lIns="0" tIns="0" rIns="0" bIns="0" rtlCol="0" anchor="t">
            <a:noAutofit/>
          </a:bodyPr>
          <a:lstStyle/>
          <a:p>
            <a:pPr algn="l"/>
            <a:r>
              <a:rPr lang="es-BO" sz="750">
                <a:solidFill>
                  <a:srgbClr val="5A5248"/>
                </a:solidFill>
                <a:latin typeface="Segoe UI" panose="020B0502040204020203" pitchFamily="34" charset="0"/>
              </a:rPr>
              <a:t>0,60</a:t>
            </a:r>
          </a:p>
        </p:txBody>
      </p:sp>
      <p:sp>
        <p:nvSpPr>
          <p:cNvPr id="67" name="Rectángulo 66">
            <a:extLst>
              <a:ext uri="{FF2B5EF4-FFF2-40B4-BE49-F238E27FC236}">
                <a16:creationId xmlns:a16="http://schemas.microsoft.com/office/drawing/2014/main" id="{168E8422-0366-BE34-CDAD-2882BAFF0F06}"/>
              </a:ext>
            </a:extLst>
          </p:cNvPr>
          <p:cNvSpPr/>
          <p:nvPr/>
        </p:nvSpPr>
        <p:spPr>
          <a:xfrm>
            <a:off x="7797800" y="41529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8" name="CuadroTexto 67">
            <a:extLst>
              <a:ext uri="{FF2B5EF4-FFF2-40B4-BE49-F238E27FC236}">
                <a16:creationId xmlns:a16="http://schemas.microsoft.com/office/drawing/2014/main" id="{8EA1A8CE-4A2A-EDFD-B329-96FF611DE5AE}"/>
              </a:ext>
            </a:extLst>
          </p:cNvPr>
          <p:cNvSpPr txBox="1"/>
          <p:nvPr/>
        </p:nvSpPr>
        <p:spPr>
          <a:xfrm>
            <a:off x="7899400" y="4152900"/>
            <a:ext cx="11684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Cámara</a:t>
            </a:r>
          </a:p>
        </p:txBody>
      </p:sp>
      <p:sp>
        <p:nvSpPr>
          <p:cNvPr id="69" name="CuadroTexto 68">
            <a:extLst>
              <a:ext uri="{FF2B5EF4-FFF2-40B4-BE49-F238E27FC236}">
                <a16:creationId xmlns:a16="http://schemas.microsoft.com/office/drawing/2014/main" id="{A60E365C-646F-984E-5CE7-7CEB0D23E47A}"/>
              </a:ext>
            </a:extLst>
          </p:cNvPr>
          <p:cNvSpPr txBox="1"/>
          <p:nvPr/>
        </p:nvSpPr>
        <p:spPr>
          <a:xfrm>
            <a:off x="9093200" y="4152900"/>
            <a:ext cx="2133600" cy="190500"/>
          </a:xfrm>
          <a:prstGeom prst="rect">
            <a:avLst/>
          </a:prstGeom>
          <a:noFill/>
        </p:spPr>
        <p:txBody>
          <a:bodyPr vert="horz" wrap="square" lIns="0" tIns="0" rIns="0" bIns="0" rtlCol="0" anchor="t">
            <a:noAutofit/>
          </a:bodyPr>
          <a:lstStyle/>
          <a:p>
            <a:pPr algn="l"/>
            <a:r>
              <a:rPr lang="es-MX" sz="750">
                <a:solidFill>
                  <a:srgbClr val="5A5248"/>
                </a:solidFill>
                <a:latin typeface="Segoe UI" panose="020B0502040204020203" pitchFamily="34" charset="0"/>
              </a:rPr>
              <a:t>pérdida de 12 mm en 14 años</a:t>
            </a:r>
            <a:endParaRPr lang="es-BO" sz="750">
              <a:solidFill>
                <a:srgbClr val="5A5248"/>
              </a:solidFill>
              <a:latin typeface="Segoe UI" panose="020B0502040204020203" pitchFamily="34" charset="0"/>
            </a:endParaRPr>
          </a:p>
        </p:txBody>
      </p:sp>
      <p:sp>
        <p:nvSpPr>
          <p:cNvPr id="70" name="Rectángulo 69">
            <a:extLst>
              <a:ext uri="{FF2B5EF4-FFF2-40B4-BE49-F238E27FC236}">
                <a16:creationId xmlns:a16="http://schemas.microsoft.com/office/drawing/2014/main" id="{48075743-9CC4-1090-6E8C-FA08A5BCEDEB}"/>
              </a:ext>
            </a:extLst>
          </p:cNvPr>
          <p:cNvSpPr/>
          <p:nvPr/>
        </p:nvSpPr>
        <p:spPr>
          <a:xfrm>
            <a:off x="7797800" y="43942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1" name="CuadroTexto 70">
            <a:extLst>
              <a:ext uri="{FF2B5EF4-FFF2-40B4-BE49-F238E27FC236}">
                <a16:creationId xmlns:a16="http://schemas.microsoft.com/office/drawing/2014/main" id="{9B629588-0563-F46E-BC05-2C5A8476F06D}"/>
              </a:ext>
            </a:extLst>
          </p:cNvPr>
          <p:cNvSpPr txBox="1"/>
          <p:nvPr/>
        </p:nvSpPr>
        <p:spPr>
          <a:xfrm>
            <a:off x="7899400" y="4394200"/>
            <a:ext cx="1168400" cy="190500"/>
          </a:xfrm>
          <a:prstGeom prst="rect">
            <a:avLst/>
          </a:prstGeom>
          <a:noFill/>
        </p:spPr>
        <p:txBody>
          <a:bodyPr vert="horz" wrap="square" lIns="0" tIns="0" rIns="0" bIns="0" rtlCol="0" anchor="t">
            <a:noAutofit/>
          </a:bodyPr>
          <a:lstStyle/>
          <a:p>
            <a:r>
              <a:rPr lang="es-BO" sz="750">
                <a:solidFill>
                  <a:srgbClr val="1C1813"/>
                </a:solidFill>
                <a:latin typeface="Segoe UI Semibold" panose="020B0702040204020203" pitchFamily="34" charset="0"/>
              </a:rPr>
              <a:t>Recubrimiento</a:t>
            </a:r>
          </a:p>
        </p:txBody>
      </p:sp>
      <p:sp>
        <p:nvSpPr>
          <p:cNvPr id="72" name="CuadroTexto 71">
            <a:extLst>
              <a:ext uri="{FF2B5EF4-FFF2-40B4-BE49-F238E27FC236}">
                <a16:creationId xmlns:a16="http://schemas.microsoft.com/office/drawing/2014/main" id="{975AA0B1-ADE0-A4B4-001C-88A9DBA89945}"/>
              </a:ext>
            </a:extLst>
          </p:cNvPr>
          <p:cNvSpPr txBox="1"/>
          <p:nvPr/>
        </p:nvSpPr>
        <p:spPr>
          <a:xfrm>
            <a:off x="9093200" y="4394200"/>
            <a:ext cx="2133600" cy="190500"/>
          </a:xfrm>
          <a:prstGeom prst="rect">
            <a:avLst/>
          </a:prstGeom>
          <a:noFill/>
        </p:spPr>
        <p:txBody>
          <a:bodyPr vert="horz" wrap="square" lIns="0" tIns="0" rIns="0" bIns="0" rtlCol="0" anchor="t">
            <a:noAutofit/>
          </a:bodyPr>
          <a:lstStyle/>
          <a:p>
            <a:pPr algn="l"/>
            <a:r>
              <a:rPr lang="es-BO" sz="750">
                <a:solidFill>
                  <a:srgbClr val="5A5248"/>
                </a:solidFill>
                <a:latin typeface="Segoe UI" panose="020B0502040204020203" pitchFamily="34" charset="0"/>
              </a:rPr>
              <a:t>30 mm de proyecto</a:t>
            </a:r>
          </a:p>
        </p:txBody>
      </p:sp>
      <p:sp>
        <p:nvSpPr>
          <p:cNvPr id="73" name="Rectángulo 72">
            <a:extLst>
              <a:ext uri="{FF2B5EF4-FFF2-40B4-BE49-F238E27FC236}">
                <a16:creationId xmlns:a16="http://schemas.microsoft.com/office/drawing/2014/main" id="{AA88F3DB-9DBF-E797-0087-C51EC180663C}"/>
              </a:ext>
            </a:extLst>
          </p:cNvPr>
          <p:cNvSpPr/>
          <p:nvPr/>
        </p:nvSpPr>
        <p:spPr>
          <a:xfrm>
            <a:off x="609600" y="5537200"/>
            <a:ext cx="10972800" cy="5588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5" name="CuadroTexto 74">
            <a:extLst>
              <a:ext uri="{FF2B5EF4-FFF2-40B4-BE49-F238E27FC236}">
                <a16:creationId xmlns:a16="http://schemas.microsoft.com/office/drawing/2014/main" id="{2FCFD425-A4A7-A995-4B3C-CDC9221CC86A}"/>
              </a:ext>
            </a:extLst>
          </p:cNvPr>
          <p:cNvSpPr txBox="1"/>
          <p:nvPr/>
        </p:nvSpPr>
        <p:spPr>
          <a:xfrm>
            <a:off x="838200" y="5588000"/>
            <a:ext cx="10566400" cy="457200"/>
          </a:xfrm>
          <a:prstGeom prst="rect">
            <a:avLst/>
          </a:prstGeom>
          <a:noFill/>
        </p:spPr>
        <p:txBody>
          <a:bodyPr vert="horz" wrap="square" lIns="0" tIns="0" rIns="0" bIns="0" rtlCol="0" anchor="ctr">
            <a:noAutofit/>
          </a:bodyPr>
          <a:lstStyle/>
          <a:p>
            <a:pPr algn="l"/>
            <a:r>
              <a:rPr lang="es-MX" sz="1150">
                <a:solidFill>
                  <a:srgbClr val="FFFFFF"/>
                </a:solidFill>
                <a:latin typeface="Segoe UI" panose="020B0502040204020203" pitchFamily="34" charset="0"/>
              </a:rPr>
              <a:t>Cinco pasos con dos tablas de norma y dos divisiones. </a:t>
            </a:r>
            <a:r>
              <a:rPr lang="es-MX" sz="1150" b="1">
                <a:solidFill>
                  <a:srgbClr val="FFFFFF"/>
                </a:solidFill>
                <a:latin typeface="Segoe UI Semibold" panose="020B0702040204020203" pitchFamily="34" charset="0"/>
              </a:rPr>
              <a:t>El valor técnico no está en el cálculo: está en entrar en la tabla con el ensayo correcto y en comparar contra la propiedad real, no la de proyecto.</a:t>
            </a:r>
            <a:endParaRPr lang="es-BO" sz="1150" b="1">
              <a:solidFill>
                <a:srgbClr val="FFFFFF"/>
              </a:solidFill>
              <a:latin typeface="Segoe UI Semibold" panose="020B0702040204020203" pitchFamily="34" charset="0"/>
            </a:endParaRPr>
          </a:p>
        </p:txBody>
      </p:sp>
      <p:sp>
        <p:nvSpPr>
          <p:cNvPr id="76" name="CuadroTexto 75">
            <a:extLst>
              <a:ext uri="{FF2B5EF4-FFF2-40B4-BE49-F238E27FC236}">
                <a16:creationId xmlns:a16="http://schemas.microsoft.com/office/drawing/2014/main" id="{0469C08C-2C64-6322-BB15-C8418359838D}"/>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318-19 Tablas 19.3.1.1 y 19.3.2.1; ASTM C1580; ASCE MOP 69; EN 1504-2.</a:t>
            </a:r>
            <a:endParaRPr lang="es-BO" sz="700">
              <a:solidFill>
                <a:srgbClr val="938A7C"/>
              </a:solidFill>
              <a:latin typeface="Segoe UI" panose="020B0502040204020203" pitchFamily="34" charset="0"/>
            </a:endParaRPr>
          </a:p>
        </p:txBody>
      </p:sp>
      <p:cxnSp>
        <p:nvCxnSpPr>
          <p:cNvPr id="77" name="Conector recto 76">
            <a:extLst>
              <a:ext uri="{FF2B5EF4-FFF2-40B4-BE49-F238E27FC236}">
                <a16:creationId xmlns:a16="http://schemas.microsoft.com/office/drawing/2014/main" id="{C9D82655-8EBF-490E-9355-F2D614B620EC}"/>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78" name="CuadroTexto 77">
            <a:extLst>
              <a:ext uri="{FF2B5EF4-FFF2-40B4-BE49-F238E27FC236}">
                <a16:creationId xmlns:a16="http://schemas.microsoft.com/office/drawing/2014/main" id="{B6AF9DB9-3D10-AD8F-8140-D435A9422826}"/>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79" name="CuadroTexto 78">
            <a:extLst>
              <a:ext uri="{FF2B5EF4-FFF2-40B4-BE49-F238E27FC236}">
                <a16:creationId xmlns:a16="http://schemas.microsoft.com/office/drawing/2014/main" id="{23875B7D-A65D-1BC7-1F96-6E58206B01F7}"/>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80" name="PageNo">
            <a:extLst>
              <a:ext uri="{FF2B5EF4-FFF2-40B4-BE49-F238E27FC236}">
                <a16:creationId xmlns:a16="http://schemas.microsoft.com/office/drawing/2014/main" id="{42ABFF59-6E4A-1859-B5F3-61D6447B2C0D}"/>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26 / 35</a:t>
            </a:r>
          </a:p>
        </p:txBody>
      </p:sp>
    </p:spTree>
    <p:custDataLst>
      <p:tags r:id="rId1"/>
    </p:custDataLst>
    <p:extLst>
      <p:ext uri="{BB962C8B-B14F-4D97-AF65-F5344CB8AC3E}">
        <p14:creationId xmlns:p14="http://schemas.microsoft.com/office/powerpoint/2010/main" val="3729378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B86D769-6F01-2A7D-F128-F01F3173AD89}"/>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4  ·  PASO 1 DE 5</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AAD7E9E1-B36F-0ED8-B162-B3F0FBEAB73A}"/>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Clasificar la exposición con el dato del laboratorio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51D418C0-92B4-257E-EBEF-55F94ADB9D53}"/>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FE974F2E-B08A-9663-5141-9D737D8BC709}"/>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¿Qué clase de exposición le corresponde a esta cimentación, con el dato del laboratorio?</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7B9EFB60-5799-B906-0F65-2C38C7F4B7E3}"/>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700">
                <a:solidFill>
                  <a:srgbClr val="FFFFFF"/>
                </a:solidFill>
                <a:latin typeface="Bahnschrift SemiBold" panose="020B0502040204020203" pitchFamily="34" charset="0"/>
              </a:rPr>
              <a:t>SO₄²⁻ soluble en agua, en suelo (% en peso)   →   clase S0 · S1 · S2 · S3</a:t>
            </a:r>
            <a:endParaRPr lang="es-BO" sz="1700">
              <a:solidFill>
                <a:srgbClr val="FFFFFF"/>
              </a:solidFill>
              <a:latin typeface="Bahnschrift SemiBold" panose="020B0502040204020203" pitchFamily="34" charset="0"/>
            </a:endParaRPr>
          </a:p>
        </p:txBody>
      </p:sp>
      <p:sp>
        <p:nvSpPr>
          <p:cNvPr id="9" name="CuadroTexto 8">
            <a:extLst>
              <a:ext uri="{FF2B5EF4-FFF2-40B4-BE49-F238E27FC236}">
                <a16:creationId xmlns:a16="http://schemas.microsoft.com/office/drawing/2014/main" id="{B226B683-286E-511B-D787-F77EF3D6E959}"/>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592AAD07-83BB-486F-5C2B-354F437C665E}"/>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No es una expresión de cálculo: es la Tabla 19.3.1.1 de ACI 318-19. La clase de exposición se asigna por el contenido de sulfatos solubles en agua del suelo, o por el del agua en contacto con el elemento.</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5F49F114-AFA1-FD43-31D5-3D2DBB638554}"/>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483022CD-5F74-3ADA-475A-A2E31FEAB02B}"/>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0,35 % en peso</a:t>
            </a:r>
          </a:p>
        </p:txBody>
      </p:sp>
      <p:sp>
        <p:nvSpPr>
          <p:cNvPr id="14" name="CuadroTexto 13">
            <a:extLst>
              <a:ext uri="{FF2B5EF4-FFF2-40B4-BE49-F238E27FC236}">
                <a16:creationId xmlns:a16="http://schemas.microsoft.com/office/drawing/2014/main" id="{A31B98CB-49C5-27C0-8F3D-1B0F079E21D4}"/>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Sulfatos solubles en agua sobre muestra de suelo a cota de apoyo, ASTM C1580.</a:t>
            </a:r>
            <a:endParaRPr lang="es-BO" sz="850">
              <a:solidFill>
                <a:srgbClr val="5A5248"/>
              </a:solidFill>
              <a:latin typeface="Segoe UI" panose="020B0502040204020203" pitchFamily="34" charset="0"/>
            </a:endParaRPr>
          </a:p>
        </p:txBody>
      </p:sp>
      <p:sp>
        <p:nvSpPr>
          <p:cNvPr id="16" name="CuadroTexto 15">
            <a:extLst>
              <a:ext uri="{FF2B5EF4-FFF2-40B4-BE49-F238E27FC236}">
                <a16:creationId xmlns:a16="http://schemas.microsoft.com/office/drawing/2014/main" id="{66A8F7B5-92FA-DE80-AB96-1D08C38558A8}"/>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Rangos de la tabla</a:t>
            </a:r>
          </a:p>
        </p:txBody>
      </p:sp>
      <p:sp>
        <p:nvSpPr>
          <p:cNvPr id="17" name="CuadroTexto 16">
            <a:extLst>
              <a:ext uri="{FF2B5EF4-FFF2-40B4-BE49-F238E27FC236}">
                <a16:creationId xmlns:a16="http://schemas.microsoft.com/office/drawing/2014/main" id="{F5688488-D715-20F8-B073-324BAE649BA3}"/>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pt-BR" sz="850">
                <a:solidFill>
                  <a:srgbClr val="5A5248"/>
                </a:solidFill>
                <a:latin typeface="Segoe UI" panose="020B0502040204020203" pitchFamily="34" charset="0"/>
              </a:rPr>
              <a:t>S0 &lt; 0,10 · S1 0,10-0,20 · S2 0,20-2,00 · S3 &gt; 2,00, en % de peso de suelo.</a:t>
            </a:r>
            <a:endParaRPr lang="es-BO" sz="850">
              <a:solidFill>
                <a:srgbClr val="5A5248"/>
              </a:solidFill>
              <a:latin typeface="Segoe UI" panose="020B0502040204020203" pitchFamily="34" charset="0"/>
            </a:endParaRPr>
          </a:p>
        </p:txBody>
      </p:sp>
      <p:sp>
        <p:nvSpPr>
          <p:cNvPr id="19" name="CuadroTexto 18">
            <a:extLst>
              <a:ext uri="{FF2B5EF4-FFF2-40B4-BE49-F238E27FC236}">
                <a16:creationId xmlns:a16="http://schemas.microsoft.com/office/drawing/2014/main" id="{AD5D1D2E-9C68-F22D-0B3E-C82F708EC717}"/>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Punto de toma</a:t>
            </a:r>
          </a:p>
        </p:txBody>
      </p:sp>
      <p:sp>
        <p:nvSpPr>
          <p:cNvPr id="20" name="CuadroTexto 19">
            <a:extLst>
              <a:ext uri="{FF2B5EF4-FFF2-40B4-BE49-F238E27FC236}">
                <a16:creationId xmlns:a16="http://schemas.microsoft.com/office/drawing/2014/main" id="{A5F2C409-B45E-6691-A6ED-281176A84914}"/>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A la cota de apoyo y en época húmeda.</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C79B5EFF-2C2F-8783-68C2-D08A4A670FE2}"/>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E942695E-7A7F-C2E4-50D0-4C47AC1D1ABA}"/>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BCA0E94F-EF96-D8F3-03BF-DB12C5A6CC6C}"/>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medido  =  0,35 %</a:t>
            </a:r>
          </a:p>
        </p:txBody>
      </p:sp>
      <p:sp>
        <p:nvSpPr>
          <p:cNvPr id="24" name="CuadroTexto 23">
            <a:extLst>
              <a:ext uri="{FF2B5EF4-FFF2-40B4-BE49-F238E27FC236}">
                <a16:creationId xmlns:a16="http://schemas.microsoft.com/office/drawing/2014/main" id="{A6C34944-7755-9FFF-E3D0-78D6950CF9BE}"/>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pt-BR" sz="1150">
                <a:solidFill>
                  <a:srgbClr val="241F18"/>
                </a:solidFill>
                <a:latin typeface="Segoe UI" panose="020B0502040204020203" pitchFamily="34" charset="0"/>
              </a:rPr>
              <a:t>rango S2  =  de 0,20 a 2,00 %</a:t>
            </a:r>
            <a:endParaRPr lang="es-BO" sz="1150">
              <a:solidFill>
                <a:srgbClr val="241F18"/>
              </a:solidFill>
              <a:latin typeface="Segoe UI" panose="020B0502040204020203" pitchFamily="34" charset="0"/>
            </a:endParaRPr>
          </a:p>
        </p:txBody>
      </p:sp>
      <p:sp>
        <p:nvSpPr>
          <p:cNvPr id="25" name="CuadroTexto 24">
            <a:extLst>
              <a:ext uri="{FF2B5EF4-FFF2-40B4-BE49-F238E27FC236}">
                <a16:creationId xmlns:a16="http://schemas.microsoft.com/office/drawing/2014/main" id="{427B508E-6580-EF56-6C3A-8E98385756B4}"/>
              </a:ext>
            </a:extLst>
          </p:cNvPr>
          <p:cNvSpPr txBox="1"/>
          <p:nvPr/>
        </p:nvSpPr>
        <p:spPr>
          <a:xfrm>
            <a:off x="4648200" y="3797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0,20  &lt;  0,35  &lt;  2,00</a:t>
            </a:r>
          </a:p>
        </p:txBody>
      </p:sp>
      <p:sp>
        <p:nvSpPr>
          <p:cNvPr id="26" name="CuadroTexto 25">
            <a:extLst>
              <a:ext uri="{FF2B5EF4-FFF2-40B4-BE49-F238E27FC236}">
                <a16:creationId xmlns:a16="http://schemas.microsoft.com/office/drawing/2014/main" id="{2E375AF8-EBD0-0E8F-3432-44687D3F3B6C}"/>
              </a:ext>
            </a:extLst>
          </p:cNvPr>
          <p:cNvSpPr txBox="1"/>
          <p:nvPr/>
        </p:nvSpPr>
        <p:spPr>
          <a:xfrm>
            <a:off x="4648200" y="4114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clase de exposición  =  S2</a:t>
            </a:r>
          </a:p>
        </p:txBody>
      </p:sp>
      <p:sp>
        <p:nvSpPr>
          <p:cNvPr id="27" name="Rectángulo 26">
            <a:extLst>
              <a:ext uri="{FF2B5EF4-FFF2-40B4-BE49-F238E27FC236}">
                <a16:creationId xmlns:a16="http://schemas.microsoft.com/office/drawing/2014/main" id="{FC44DC49-AC41-B624-3E56-5B29919D5249}"/>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9" name="CuadroTexto 28">
            <a:extLst>
              <a:ext uri="{FF2B5EF4-FFF2-40B4-BE49-F238E27FC236}">
                <a16:creationId xmlns:a16="http://schemas.microsoft.com/office/drawing/2014/main" id="{9992F4BB-BF27-FB28-DE05-B43CDD9DDC23}"/>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CLASES DE EXPOSICIÓN A SULFATOS</a:t>
            </a:r>
            <a:endParaRPr lang="es-BO" sz="750" spc="160">
              <a:solidFill>
                <a:srgbClr val="6A4F20"/>
              </a:solidFill>
              <a:latin typeface="Segoe UI Semibold" panose="020B0702040204020203" pitchFamily="34" charset="0"/>
            </a:endParaRPr>
          </a:p>
        </p:txBody>
      </p:sp>
      <p:sp>
        <p:nvSpPr>
          <p:cNvPr id="30" name="Rectángulo 29">
            <a:extLst>
              <a:ext uri="{FF2B5EF4-FFF2-40B4-BE49-F238E27FC236}">
                <a16:creationId xmlns:a16="http://schemas.microsoft.com/office/drawing/2014/main" id="{E4A30A69-052B-AD74-52FD-C65854EAD4CC}"/>
              </a:ext>
            </a:extLst>
          </p:cNvPr>
          <p:cNvSpPr/>
          <p:nvPr/>
        </p:nvSpPr>
        <p:spPr>
          <a:xfrm>
            <a:off x="8432800" y="3683000"/>
            <a:ext cx="530352" cy="254000"/>
          </a:xfrm>
          <a:prstGeom prst="rect">
            <a:avLst/>
          </a:prstGeom>
          <a:solidFill>
            <a:srgbClr val="4C5F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1" name="CuadroTexto 30">
            <a:extLst>
              <a:ext uri="{FF2B5EF4-FFF2-40B4-BE49-F238E27FC236}">
                <a16:creationId xmlns:a16="http://schemas.microsoft.com/office/drawing/2014/main" id="{BB3ACF73-5488-4BFC-9AE4-E8496B039778}"/>
              </a:ext>
            </a:extLst>
          </p:cNvPr>
          <p:cNvSpPr txBox="1"/>
          <p:nvPr/>
        </p:nvSpPr>
        <p:spPr>
          <a:xfrm>
            <a:off x="8432800" y="3746500"/>
            <a:ext cx="530352" cy="152400"/>
          </a:xfrm>
          <a:prstGeom prst="rect">
            <a:avLst/>
          </a:prstGeom>
          <a:noFill/>
        </p:spPr>
        <p:txBody>
          <a:bodyPr vert="horz" wrap="square" lIns="0" tIns="0" rIns="0" bIns="0" rtlCol="0" anchor="t">
            <a:noAutofit/>
          </a:bodyPr>
          <a:lstStyle/>
          <a:p>
            <a:pPr algn="ctr"/>
            <a:r>
              <a:rPr lang="es-BO" sz="700">
                <a:solidFill>
                  <a:srgbClr val="FFFFFF"/>
                </a:solidFill>
                <a:latin typeface="Segoe UI Semibold" panose="020B0702040204020203" pitchFamily="34" charset="0"/>
              </a:rPr>
              <a:t>S0</a:t>
            </a:r>
          </a:p>
        </p:txBody>
      </p:sp>
      <p:sp>
        <p:nvSpPr>
          <p:cNvPr id="32" name="Rectángulo 31">
            <a:extLst>
              <a:ext uri="{FF2B5EF4-FFF2-40B4-BE49-F238E27FC236}">
                <a16:creationId xmlns:a16="http://schemas.microsoft.com/office/drawing/2014/main" id="{9DAA8509-BE7E-0DC3-2B7A-3C9C1227A554}"/>
              </a:ext>
            </a:extLst>
          </p:cNvPr>
          <p:cNvSpPr/>
          <p:nvPr/>
        </p:nvSpPr>
        <p:spPr>
          <a:xfrm>
            <a:off x="8963152" y="3683000"/>
            <a:ext cx="530352" cy="254000"/>
          </a:xfrm>
          <a:prstGeom prst="rect">
            <a:avLst/>
          </a:prstGeom>
          <a:solidFill>
            <a:srgbClr val="4A55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CuadroTexto 32">
            <a:extLst>
              <a:ext uri="{FF2B5EF4-FFF2-40B4-BE49-F238E27FC236}">
                <a16:creationId xmlns:a16="http://schemas.microsoft.com/office/drawing/2014/main" id="{30784BB4-9EA1-5BEF-7CD7-0503A2344C21}"/>
              </a:ext>
            </a:extLst>
          </p:cNvPr>
          <p:cNvSpPr txBox="1"/>
          <p:nvPr/>
        </p:nvSpPr>
        <p:spPr>
          <a:xfrm>
            <a:off x="8963152" y="3746500"/>
            <a:ext cx="530352" cy="152400"/>
          </a:xfrm>
          <a:prstGeom prst="rect">
            <a:avLst/>
          </a:prstGeom>
          <a:noFill/>
        </p:spPr>
        <p:txBody>
          <a:bodyPr vert="horz" wrap="square" lIns="0" tIns="0" rIns="0" bIns="0" rtlCol="0" anchor="t">
            <a:noAutofit/>
          </a:bodyPr>
          <a:lstStyle/>
          <a:p>
            <a:pPr algn="ctr"/>
            <a:r>
              <a:rPr lang="es-BO" sz="700">
                <a:solidFill>
                  <a:srgbClr val="FFFFFF"/>
                </a:solidFill>
                <a:latin typeface="Segoe UI Semibold" panose="020B0702040204020203" pitchFamily="34" charset="0"/>
              </a:rPr>
              <a:t>S1</a:t>
            </a:r>
          </a:p>
        </p:txBody>
      </p:sp>
      <p:sp>
        <p:nvSpPr>
          <p:cNvPr id="34" name="Rectángulo 33">
            <a:extLst>
              <a:ext uri="{FF2B5EF4-FFF2-40B4-BE49-F238E27FC236}">
                <a16:creationId xmlns:a16="http://schemas.microsoft.com/office/drawing/2014/main" id="{65B9AFE7-FF7D-3C65-F37A-CFB986175CFC}"/>
              </a:ext>
            </a:extLst>
          </p:cNvPr>
          <p:cNvSpPr/>
          <p:nvPr/>
        </p:nvSpPr>
        <p:spPr>
          <a:xfrm>
            <a:off x="9493504" y="3683000"/>
            <a:ext cx="1178560" cy="2540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5" name="CuadroTexto 34">
            <a:extLst>
              <a:ext uri="{FF2B5EF4-FFF2-40B4-BE49-F238E27FC236}">
                <a16:creationId xmlns:a16="http://schemas.microsoft.com/office/drawing/2014/main" id="{842119C7-452B-A0BA-71BD-4F73C3C6C7EA}"/>
              </a:ext>
            </a:extLst>
          </p:cNvPr>
          <p:cNvSpPr txBox="1"/>
          <p:nvPr/>
        </p:nvSpPr>
        <p:spPr>
          <a:xfrm>
            <a:off x="9493504" y="3746500"/>
            <a:ext cx="1178560" cy="152400"/>
          </a:xfrm>
          <a:prstGeom prst="rect">
            <a:avLst/>
          </a:prstGeom>
          <a:noFill/>
        </p:spPr>
        <p:txBody>
          <a:bodyPr vert="horz" wrap="square" lIns="0" tIns="0" rIns="0" bIns="0" rtlCol="0" anchor="t">
            <a:noAutofit/>
          </a:bodyPr>
          <a:lstStyle/>
          <a:p>
            <a:pPr algn="ctr"/>
            <a:r>
              <a:rPr lang="es-BO" sz="700">
                <a:solidFill>
                  <a:srgbClr val="FFFFFF"/>
                </a:solidFill>
                <a:latin typeface="Segoe UI Semibold" panose="020B0702040204020203" pitchFamily="34" charset="0"/>
              </a:rPr>
              <a:t>S2</a:t>
            </a:r>
          </a:p>
        </p:txBody>
      </p:sp>
      <p:sp>
        <p:nvSpPr>
          <p:cNvPr id="36" name="Rectángulo 35">
            <a:extLst>
              <a:ext uri="{FF2B5EF4-FFF2-40B4-BE49-F238E27FC236}">
                <a16:creationId xmlns:a16="http://schemas.microsoft.com/office/drawing/2014/main" id="{A7364B1B-8A61-E154-7DF0-BCF0EC0C9340}"/>
              </a:ext>
            </a:extLst>
          </p:cNvPr>
          <p:cNvSpPr/>
          <p:nvPr/>
        </p:nvSpPr>
        <p:spPr>
          <a:xfrm>
            <a:off x="10672064" y="3683000"/>
            <a:ext cx="707136" cy="254000"/>
          </a:xfrm>
          <a:prstGeom prst="rect">
            <a:avLst/>
          </a:prstGeom>
          <a:solidFill>
            <a:srgbClr val="8C33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7" name="CuadroTexto 36">
            <a:extLst>
              <a:ext uri="{FF2B5EF4-FFF2-40B4-BE49-F238E27FC236}">
                <a16:creationId xmlns:a16="http://schemas.microsoft.com/office/drawing/2014/main" id="{AC17F8F0-71DA-9E78-20A1-139F20C69C5C}"/>
              </a:ext>
            </a:extLst>
          </p:cNvPr>
          <p:cNvSpPr txBox="1"/>
          <p:nvPr/>
        </p:nvSpPr>
        <p:spPr>
          <a:xfrm>
            <a:off x="10672064" y="3746500"/>
            <a:ext cx="707136" cy="152400"/>
          </a:xfrm>
          <a:prstGeom prst="rect">
            <a:avLst/>
          </a:prstGeom>
          <a:noFill/>
        </p:spPr>
        <p:txBody>
          <a:bodyPr vert="horz" wrap="square" lIns="0" tIns="0" rIns="0" bIns="0" rtlCol="0" anchor="t">
            <a:noAutofit/>
          </a:bodyPr>
          <a:lstStyle/>
          <a:p>
            <a:pPr algn="ctr"/>
            <a:r>
              <a:rPr lang="es-BO" sz="700">
                <a:solidFill>
                  <a:srgbClr val="FFFFFF"/>
                </a:solidFill>
                <a:latin typeface="Segoe UI Semibold" panose="020B0702040204020203" pitchFamily="34" charset="0"/>
              </a:rPr>
              <a:t>S3</a:t>
            </a:r>
          </a:p>
        </p:txBody>
      </p:sp>
      <p:cxnSp>
        <p:nvCxnSpPr>
          <p:cNvPr id="38" name="Conector recto 37">
            <a:extLst>
              <a:ext uri="{FF2B5EF4-FFF2-40B4-BE49-F238E27FC236}">
                <a16:creationId xmlns:a16="http://schemas.microsoft.com/office/drawing/2014/main" id="{76F270E3-8A66-3A01-2723-8EAEC65C1CB5}"/>
              </a:ext>
            </a:extLst>
          </p:cNvPr>
          <p:cNvCxnSpPr/>
          <p:nvPr/>
        </p:nvCxnSpPr>
        <p:spPr>
          <a:xfrm>
            <a:off x="9670288" y="3517900"/>
            <a:ext cx="0" cy="152400"/>
          </a:xfrm>
          <a:prstGeom prst="line">
            <a:avLst/>
          </a:prstGeom>
          <a:ln w="16510">
            <a:solidFill>
              <a:srgbClr val="1C1813"/>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9" name="CuadroTexto 38">
            <a:extLst>
              <a:ext uri="{FF2B5EF4-FFF2-40B4-BE49-F238E27FC236}">
                <a16:creationId xmlns:a16="http://schemas.microsoft.com/office/drawing/2014/main" id="{CEE53CEE-5721-488D-117C-DD0A669F844C}"/>
              </a:ext>
            </a:extLst>
          </p:cNvPr>
          <p:cNvSpPr txBox="1"/>
          <p:nvPr/>
        </p:nvSpPr>
        <p:spPr>
          <a:xfrm>
            <a:off x="8933688" y="3378200"/>
            <a:ext cx="1473200" cy="152400"/>
          </a:xfrm>
          <a:prstGeom prst="rect">
            <a:avLst/>
          </a:prstGeom>
          <a:noFill/>
        </p:spPr>
        <p:txBody>
          <a:bodyPr vert="horz" wrap="square" lIns="0" tIns="0" rIns="0" bIns="0" rtlCol="0" anchor="t">
            <a:noAutofit/>
          </a:bodyPr>
          <a:lstStyle/>
          <a:p>
            <a:pPr algn="ctr"/>
            <a:r>
              <a:rPr lang="es-BO" sz="650">
                <a:solidFill>
                  <a:srgbClr val="1C1813"/>
                </a:solidFill>
                <a:latin typeface="Segoe UI Semibold" panose="020B0702040204020203" pitchFamily="34" charset="0"/>
              </a:rPr>
              <a:t>0,35 % medido</a:t>
            </a:r>
          </a:p>
        </p:txBody>
      </p:sp>
      <p:sp>
        <p:nvSpPr>
          <p:cNvPr id="40" name="CuadroTexto 39">
            <a:extLst>
              <a:ext uri="{FF2B5EF4-FFF2-40B4-BE49-F238E27FC236}">
                <a16:creationId xmlns:a16="http://schemas.microsoft.com/office/drawing/2014/main" id="{A58609AB-914E-3CC2-C161-AA25F27A5E30}"/>
              </a:ext>
            </a:extLst>
          </p:cNvPr>
          <p:cNvSpPr txBox="1"/>
          <p:nvPr/>
        </p:nvSpPr>
        <p:spPr>
          <a:xfrm>
            <a:off x="8432800" y="3987800"/>
            <a:ext cx="2946400" cy="381000"/>
          </a:xfrm>
          <a:prstGeom prst="rect">
            <a:avLst/>
          </a:prstGeom>
          <a:noFill/>
        </p:spPr>
        <p:txBody>
          <a:bodyPr vert="horz" wrap="square" lIns="0" tIns="0" rIns="0" bIns="0" rtlCol="0" anchor="t">
            <a:noAutofit/>
          </a:bodyPr>
          <a:lstStyle/>
          <a:p>
            <a:pPr algn="ctr"/>
            <a:r>
              <a:rPr lang="es-MX" sz="650">
                <a:solidFill>
                  <a:srgbClr val="5A5248"/>
                </a:solidFill>
                <a:latin typeface="Segoe UI" panose="020B0502040204020203" pitchFamily="34" charset="0"/>
              </a:rPr>
              <a:t>S2 va de 0,20 a 2,00 % en peso de suelo</a:t>
            </a:r>
            <a:endParaRPr lang="es-BO" sz="650">
              <a:solidFill>
                <a:srgbClr val="5A5248"/>
              </a:solidFill>
              <a:latin typeface="Segoe UI" panose="020B0502040204020203" pitchFamily="34" charset="0"/>
            </a:endParaRPr>
          </a:p>
        </p:txBody>
      </p:sp>
      <p:sp>
        <p:nvSpPr>
          <p:cNvPr id="42" name="CuadroTexto 41">
            <a:extLst>
              <a:ext uri="{FF2B5EF4-FFF2-40B4-BE49-F238E27FC236}">
                <a16:creationId xmlns:a16="http://schemas.microsoft.com/office/drawing/2014/main" id="{A324BAFA-ADB2-F5BD-EAEB-A3BBACA9E922}"/>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3" name="CuadroTexto 42">
            <a:extLst>
              <a:ext uri="{FF2B5EF4-FFF2-40B4-BE49-F238E27FC236}">
                <a16:creationId xmlns:a16="http://schemas.microsoft.com/office/drawing/2014/main" id="{BBEC4E5E-7E65-23BC-B91F-CC9D85CF0166}"/>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Con este dato queda definido qué exigía la norma a esa cimentación, y puede contrastarse con lo ejecutado.</a:t>
            </a:r>
            <a:endParaRPr lang="es-BO" sz="1050">
              <a:solidFill>
                <a:srgbClr val="5A5248"/>
              </a:solidFill>
              <a:latin typeface="Segoe UI" panose="020B0502040204020203" pitchFamily="34" charset="0"/>
            </a:endParaRPr>
          </a:p>
        </p:txBody>
      </p:sp>
      <p:sp>
        <p:nvSpPr>
          <p:cNvPr id="44" name="Resultado_1">
            <a:extLst>
              <a:ext uri="{FF2B5EF4-FFF2-40B4-BE49-F238E27FC236}">
                <a16:creationId xmlns:a16="http://schemas.microsoft.com/office/drawing/2014/main" id="{0C99F343-2E2F-08D6-2546-E5C1F2667EA0}"/>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BO" sz="1600">
                <a:solidFill>
                  <a:srgbClr val="FFFFFF"/>
                </a:solidFill>
                <a:latin typeface="Bahnschrift SemiBold" panose="020B0502040204020203" pitchFamily="34" charset="0"/>
              </a:rPr>
              <a:t>Clase de exposición S2</a:t>
            </a:r>
          </a:p>
        </p:txBody>
      </p:sp>
      <p:sp>
        <p:nvSpPr>
          <p:cNvPr id="45" name="CuadroTexto 44">
            <a:extLst>
              <a:ext uri="{FF2B5EF4-FFF2-40B4-BE49-F238E27FC236}">
                <a16:creationId xmlns:a16="http://schemas.microsoft.com/office/drawing/2014/main" id="{BE9AB05A-8BC9-CF5A-F226-7656FC1A1793}"/>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318-19, Tabla 19.3.1.1; ASTM C1580.</a:t>
            </a:r>
            <a:endParaRPr lang="es-BO" sz="700">
              <a:solidFill>
                <a:srgbClr val="938A7C"/>
              </a:solidFill>
              <a:latin typeface="Segoe UI" panose="020B0502040204020203" pitchFamily="34" charset="0"/>
            </a:endParaRPr>
          </a:p>
        </p:txBody>
      </p:sp>
      <p:cxnSp>
        <p:nvCxnSpPr>
          <p:cNvPr id="46" name="Conector recto 45">
            <a:extLst>
              <a:ext uri="{FF2B5EF4-FFF2-40B4-BE49-F238E27FC236}">
                <a16:creationId xmlns:a16="http://schemas.microsoft.com/office/drawing/2014/main" id="{9E852541-9509-598F-AF19-ED32529B8C42}"/>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68B1586F-4A53-5755-5D2C-BC457B0EB165}"/>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48" name="CuadroTexto 47">
            <a:extLst>
              <a:ext uri="{FF2B5EF4-FFF2-40B4-BE49-F238E27FC236}">
                <a16:creationId xmlns:a16="http://schemas.microsoft.com/office/drawing/2014/main" id="{1FBDE64A-1060-BA7A-9DF7-A58915CF0321}"/>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49" name="PageNo">
            <a:extLst>
              <a:ext uri="{FF2B5EF4-FFF2-40B4-BE49-F238E27FC236}">
                <a16:creationId xmlns:a16="http://schemas.microsoft.com/office/drawing/2014/main" id="{05B2CD6C-C40F-40F8-E651-2A787BF11BB9}"/>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27 / 35</a:t>
            </a:r>
          </a:p>
        </p:txBody>
      </p:sp>
    </p:spTree>
    <p:custDataLst>
      <p:tags r:id="rId1"/>
    </p:custDataLst>
    <p:extLst>
      <p:ext uri="{BB962C8B-B14F-4D97-AF65-F5344CB8AC3E}">
        <p14:creationId xmlns:p14="http://schemas.microsoft.com/office/powerpoint/2010/main" val="382043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1409E8E-BB04-0C05-1430-E7107222212C}"/>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4  ·  PASO 2 DE 5</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CBA0295F-22E4-5ECF-A28B-61AEFE479DCE}"/>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Requisitos que esa clase de exposición impone</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68B12F40-E185-0881-4B4E-9F6CF5002A2F}"/>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074033FC-B08B-E6C0-1535-B5A2A9F0EA7C}"/>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¿Qué hormigón exigía esa clase? Son tres requisitos y se piden los tres a la vez.</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6ACFB239-5628-364D-9B0F-ADF5B3D4B47A}"/>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BO" sz="1700">
                <a:solidFill>
                  <a:srgbClr val="FFFFFF"/>
                </a:solidFill>
                <a:latin typeface="Bahnschrift SemiBold" panose="020B0502040204020203" pitchFamily="34" charset="0"/>
              </a:rPr>
              <a:t>clase S2   →   f′c mínima   ·   a/c máxima   ·   tipo de cemento</a:t>
            </a:r>
          </a:p>
        </p:txBody>
      </p:sp>
      <p:sp>
        <p:nvSpPr>
          <p:cNvPr id="9" name="CuadroTexto 8">
            <a:extLst>
              <a:ext uri="{FF2B5EF4-FFF2-40B4-BE49-F238E27FC236}">
                <a16:creationId xmlns:a16="http://schemas.microsoft.com/office/drawing/2014/main" id="{0F353784-B2BD-D428-E394-C75A61C65A8C}"/>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2EF968B2-49F2-B0D1-1EB0-144B0F95051B}"/>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Tabla 19.3.2.1 de ACI 318-19. A cada clase de exposición corresponden tres requisitos que se exigen simultáneamente, porque atacan tres vías distintas de entrada del ion sulfato.</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8071C136-103A-88C6-77D1-EC44BC234BB7}"/>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C8AFB669-B9DB-A13F-7D33-6B7237EB5672}"/>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f′c ≥ 31 MPa</a:t>
            </a:r>
          </a:p>
        </p:txBody>
      </p:sp>
      <p:sp>
        <p:nvSpPr>
          <p:cNvPr id="14" name="CuadroTexto 13">
            <a:extLst>
              <a:ext uri="{FF2B5EF4-FFF2-40B4-BE49-F238E27FC236}">
                <a16:creationId xmlns:a16="http://schemas.microsoft.com/office/drawing/2014/main" id="{5C223031-C91C-6597-5CCF-0E744F08F5EA}"/>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BO" sz="850">
                <a:solidFill>
                  <a:srgbClr val="5A5248"/>
                </a:solidFill>
                <a:latin typeface="Segoe UI" panose="020B0502040204020203" pitchFamily="34" charset="0"/>
              </a:rPr>
              <a:t>Resistencia mínima especificada para S2. Es un requisito de durabilidad, no estructural.</a:t>
            </a:r>
          </a:p>
        </p:txBody>
      </p:sp>
      <p:sp>
        <p:nvSpPr>
          <p:cNvPr id="16" name="CuadroTexto 15">
            <a:extLst>
              <a:ext uri="{FF2B5EF4-FFF2-40B4-BE49-F238E27FC236}">
                <a16:creationId xmlns:a16="http://schemas.microsoft.com/office/drawing/2014/main" id="{3DE3D093-9E54-B924-C3E0-045EE9E586D2}"/>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a/c ≤ 0,45</a:t>
            </a:r>
          </a:p>
        </p:txBody>
      </p:sp>
      <p:sp>
        <p:nvSpPr>
          <p:cNvPr id="17" name="CuadroTexto 16">
            <a:extLst>
              <a:ext uri="{FF2B5EF4-FFF2-40B4-BE49-F238E27FC236}">
                <a16:creationId xmlns:a16="http://schemas.microsoft.com/office/drawing/2014/main" id="{2079CD21-9AD7-DCBD-BEBE-666B4B3F3CB1}"/>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es-BO" sz="850">
                <a:solidFill>
                  <a:srgbClr val="5A5248"/>
                </a:solidFill>
                <a:latin typeface="Segoe UI" panose="020B0502040204020203" pitchFamily="34" charset="0"/>
              </a:rPr>
              <a:t>Relación agua-cemento máxima.</a:t>
            </a:r>
          </a:p>
        </p:txBody>
      </p:sp>
      <p:sp>
        <p:nvSpPr>
          <p:cNvPr id="19" name="CuadroTexto 18">
            <a:extLst>
              <a:ext uri="{FF2B5EF4-FFF2-40B4-BE49-F238E27FC236}">
                <a16:creationId xmlns:a16="http://schemas.microsoft.com/office/drawing/2014/main" id="{11498003-C46C-6845-B8EC-B0A0171D938C}"/>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Cemento tipo V</a:t>
            </a:r>
          </a:p>
        </p:txBody>
      </p:sp>
      <p:sp>
        <p:nvSpPr>
          <p:cNvPr id="20" name="CuadroTexto 19">
            <a:extLst>
              <a:ext uri="{FF2B5EF4-FFF2-40B4-BE49-F238E27FC236}">
                <a16:creationId xmlns:a16="http://schemas.microsoft.com/office/drawing/2014/main" id="{AAE55461-F373-C72C-9497-4E1D40E94C2F}"/>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Resistente a sulfatos: limita el aluminato tricálcico C₃A, que es con lo que reacciona.</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D0C3718C-0640-9BBA-4235-342B7106E120}"/>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F76C9572-950A-7B71-FE64-0837FBD3FC6B}"/>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8B104FD7-238B-7E9E-B665-E78EE66FE978}"/>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S2  →  f′c  ≥  31 MPa</a:t>
            </a:r>
          </a:p>
        </p:txBody>
      </p:sp>
      <p:sp>
        <p:nvSpPr>
          <p:cNvPr id="24" name="CuadroTexto 23">
            <a:extLst>
              <a:ext uri="{FF2B5EF4-FFF2-40B4-BE49-F238E27FC236}">
                <a16:creationId xmlns:a16="http://schemas.microsoft.com/office/drawing/2014/main" id="{A6FB5058-B9DF-5793-35AC-577858B40727}"/>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S2  →  a/c  ≤  0,45</a:t>
            </a:r>
          </a:p>
        </p:txBody>
      </p:sp>
      <p:sp>
        <p:nvSpPr>
          <p:cNvPr id="25" name="CuadroTexto 24">
            <a:extLst>
              <a:ext uri="{FF2B5EF4-FFF2-40B4-BE49-F238E27FC236}">
                <a16:creationId xmlns:a16="http://schemas.microsoft.com/office/drawing/2014/main" id="{7D435D2A-818C-41E0-CD2D-D78088B348DF}"/>
              </a:ext>
            </a:extLst>
          </p:cNvPr>
          <p:cNvSpPr txBox="1"/>
          <p:nvPr/>
        </p:nvSpPr>
        <p:spPr>
          <a:xfrm>
            <a:off x="4648200" y="3797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S2  →  cemento tipo V (o II con puzolana)</a:t>
            </a:r>
          </a:p>
        </p:txBody>
      </p:sp>
      <p:sp>
        <p:nvSpPr>
          <p:cNvPr id="26" name="CuadroTexto 25">
            <a:extLst>
              <a:ext uri="{FF2B5EF4-FFF2-40B4-BE49-F238E27FC236}">
                <a16:creationId xmlns:a16="http://schemas.microsoft.com/office/drawing/2014/main" id="{108134D3-1B4E-8B38-53CC-3285429A1E7D}"/>
              </a:ext>
            </a:extLst>
          </p:cNvPr>
          <p:cNvSpPr txBox="1"/>
          <p:nvPr/>
        </p:nvSpPr>
        <p:spPr>
          <a:xfrm>
            <a:off x="4648200" y="4114800"/>
            <a:ext cx="3124200" cy="292100"/>
          </a:xfrm>
          <a:prstGeom prst="rect">
            <a:avLst/>
          </a:prstGeom>
          <a:noFill/>
        </p:spPr>
        <p:txBody>
          <a:bodyPr vert="horz" wrap="square" lIns="0" tIns="0" rIns="0" bIns="0" rtlCol="0" anchor="t">
            <a:noAutofit/>
          </a:bodyPr>
          <a:lstStyle/>
          <a:p>
            <a:endParaRPr lang="es-BO" sz="1150">
              <a:solidFill>
                <a:srgbClr val="241F18"/>
              </a:solidFill>
              <a:latin typeface="Segoe UI" panose="020B0502040204020203" pitchFamily="34" charset="0"/>
            </a:endParaRPr>
          </a:p>
        </p:txBody>
      </p:sp>
      <p:sp>
        <p:nvSpPr>
          <p:cNvPr id="27" name="CuadroTexto 26">
            <a:extLst>
              <a:ext uri="{FF2B5EF4-FFF2-40B4-BE49-F238E27FC236}">
                <a16:creationId xmlns:a16="http://schemas.microsoft.com/office/drawing/2014/main" id="{13A8E0CE-B556-1CCD-3EBC-4E3C62B34519}"/>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los tres, simultáneamente</a:t>
            </a:r>
          </a:p>
        </p:txBody>
      </p:sp>
      <p:sp>
        <p:nvSpPr>
          <p:cNvPr id="28" name="Rectángulo 27">
            <a:extLst>
              <a:ext uri="{FF2B5EF4-FFF2-40B4-BE49-F238E27FC236}">
                <a16:creationId xmlns:a16="http://schemas.microsoft.com/office/drawing/2014/main" id="{B54F545B-3E25-372E-268F-15D4377D4DEB}"/>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207C3344-6675-E494-04AE-609E9E29BEBF}"/>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LO QUE LA CLASE S2 EXIGE</a:t>
            </a:r>
            <a:endParaRPr lang="es-BO" sz="750" spc="160">
              <a:solidFill>
                <a:srgbClr val="6A4F20"/>
              </a:solidFill>
              <a:latin typeface="Segoe UI Semibold" panose="020B0702040204020203" pitchFamily="34" charset="0"/>
            </a:endParaRPr>
          </a:p>
        </p:txBody>
      </p:sp>
      <p:sp>
        <p:nvSpPr>
          <p:cNvPr id="31" name="Rectángulo 30">
            <a:extLst>
              <a:ext uri="{FF2B5EF4-FFF2-40B4-BE49-F238E27FC236}">
                <a16:creationId xmlns:a16="http://schemas.microsoft.com/office/drawing/2014/main" id="{AF55D232-F622-76CA-2AA5-E026A707A8CB}"/>
              </a:ext>
            </a:extLst>
          </p:cNvPr>
          <p:cNvSpPr/>
          <p:nvPr/>
        </p:nvSpPr>
        <p:spPr>
          <a:xfrm>
            <a:off x="8432800" y="34798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2" name="CuadroTexto 31">
            <a:extLst>
              <a:ext uri="{FF2B5EF4-FFF2-40B4-BE49-F238E27FC236}">
                <a16:creationId xmlns:a16="http://schemas.microsoft.com/office/drawing/2014/main" id="{3805F23F-B112-3253-C83E-338CF88337AD}"/>
              </a:ext>
            </a:extLst>
          </p:cNvPr>
          <p:cNvSpPr txBox="1"/>
          <p:nvPr/>
        </p:nvSpPr>
        <p:spPr>
          <a:xfrm>
            <a:off x="8534400" y="3479800"/>
            <a:ext cx="965200" cy="190500"/>
          </a:xfrm>
          <a:prstGeom prst="rect">
            <a:avLst/>
          </a:prstGeom>
          <a:noFill/>
        </p:spPr>
        <p:txBody>
          <a:bodyPr vert="horz" wrap="square" lIns="0" tIns="0" rIns="0" bIns="0" rtlCol="0" anchor="t">
            <a:noAutofit/>
          </a:bodyPr>
          <a:lstStyle/>
          <a:p>
            <a:r>
              <a:rPr lang="es-BO" sz="650">
                <a:solidFill>
                  <a:srgbClr val="1C1813"/>
                </a:solidFill>
                <a:latin typeface="Segoe UI Semibold" panose="020B0702040204020203" pitchFamily="34" charset="0"/>
              </a:rPr>
              <a:t>f′c mínima</a:t>
            </a:r>
          </a:p>
        </p:txBody>
      </p:sp>
      <p:sp>
        <p:nvSpPr>
          <p:cNvPr id="33" name="CuadroTexto 32">
            <a:extLst>
              <a:ext uri="{FF2B5EF4-FFF2-40B4-BE49-F238E27FC236}">
                <a16:creationId xmlns:a16="http://schemas.microsoft.com/office/drawing/2014/main" id="{F10C18CF-66FD-2A78-EF7A-F9C668A09B91}"/>
              </a:ext>
            </a:extLst>
          </p:cNvPr>
          <p:cNvSpPr txBox="1"/>
          <p:nvPr/>
        </p:nvSpPr>
        <p:spPr>
          <a:xfrm>
            <a:off x="9525000" y="3479800"/>
            <a:ext cx="1981200" cy="190500"/>
          </a:xfrm>
          <a:prstGeom prst="rect">
            <a:avLst/>
          </a:prstGeom>
          <a:noFill/>
        </p:spPr>
        <p:txBody>
          <a:bodyPr vert="horz" wrap="square" lIns="0" tIns="0" rIns="0" bIns="0" rtlCol="0" anchor="t">
            <a:noAutofit/>
          </a:bodyPr>
          <a:lstStyle/>
          <a:p>
            <a:pPr algn="l"/>
            <a:r>
              <a:rPr lang="es-BO" sz="650">
                <a:solidFill>
                  <a:srgbClr val="5A5248"/>
                </a:solidFill>
                <a:latin typeface="Segoe UI" panose="020B0502040204020203" pitchFamily="34" charset="0"/>
              </a:rPr>
              <a:t>31 MPa</a:t>
            </a:r>
          </a:p>
        </p:txBody>
      </p:sp>
      <p:sp>
        <p:nvSpPr>
          <p:cNvPr id="34" name="Rectángulo 33">
            <a:extLst>
              <a:ext uri="{FF2B5EF4-FFF2-40B4-BE49-F238E27FC236}">
                <a16:creationId xmlns:a16="http://schemas.microsoft.com/office/drawing/2014/main" id="{5866F63B-1DD8-FCD2-06ED-72A118FA5E7B}"/>
              </a:ext>
            </a:extLst>
          </p:cNvPr>
          <p:cNvSpPr/>
          <p:nvPr/>
        </p:nvSpPr>
        <p:spPr>
          <a:xfrm>
            <a:off x="8432800" y="37338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5" name="CuadroTexto 34">
            <a:extLst>
              <a:ext uri="{FF2B5EF4-FFF2-40B4-BE49-F238E27FC236}">
                <a16:creationId xmlns:a16="http://schemas.microsoft.com/office/drawing/2014/main" id="{E0C1C1B4-792E-4913-B901-8187FA4A1DF7}"/>
              </a:ext>
            </a:extLst>
          </p:cNvPr>
          <p:cNvSpPr txBox="1"/>
          <p:nvPr/>
        </p:nvSpPr>
        <p:spPr>
          <a:xfrm>
            <a:off x="8534400" y="3733800"/>
            <a:ext cx="965200" cy="190500"/>
          </a:xfrm>
          <a:prstGeom prst="rect">
            <a:avLst/>
          </a:prstGeom>
          <a:noFill/>
        </p:spPr>
        <p:txBody>
          <a:bodyPr vert="horz" wrap="square" lIns="0" tIns="0" rIns="0" bIns="0" rtlCol="0" anchor="t">
            <a:noAutofit/>
          </a:bodyPr>
          <a:lstStyle/>
          <a:p>
            <a:r>
              <a:rPr lang="es-BO" sz="650">
                <a:solidFill>
                  <a:srgbClr val="1C1813"/>
                </a:solidFill>
                <a:latin typeface="Segoe UI Semibold" panose="020B0702040204020203" pitchFamily="34" charset="0"/>
              </a:rPr>
              <a:t>a/c máxima</a:t>
            </a:r>
          </a:p>
        </p:txBody>
      </p:sp>
      <p:sp>
        <p:nvSpPr>
          <p:cNvPr id="36" name="CuadroTexto 35">
            <a:extLst>
              <a:ext uri="{FF2B5EF4-FFF2-40B4-BE49-F238E27FC236}">
                <a16:creationId xmlns:a16="http://schemas.microsoft.com/office/drawing/2014/main" id="{102EC1CB-AD13-296F-1AB7-EE1FFB4B20AB}"/>
              </a:ext>
            </a:extLst>
          </p:cNvPr>
          <p:cNvSpPr txBox="1"/>
          <p:nvPr/>
        </p:nvSpPr>
        <p:spPr>
          <a:xfrm>
            <a:off x="9525000" y="3733800"/>
            <a:ext cx="1981200" cy="190500"/>
          </a:xfrm>
          <a:prstGeom prst="rect">
            <a:avLst/>
          </a:prstGeom>
          <a:noFill/>
        </p:spPr>
        <p:txBody>
          <a:bodyPr vert="horz" wrap="square" lIns="0" tIns="0" rIns="0" bIns="0" rtlCol="0" anchor="t">
            <a:noAutofit/>
          </a:bodyPr>
          <a:lstStyle/>
          <a:p>
            <a:pPr algn="l"/>
            <a:r>
              <a:rPr lang="es-BO" sz="650">
                <a:solidFill>
                  <a:srgbClr val="5A5248"/>
                </a:solidFill>
                <a:latin typeface="Segoe UI" panose="020B0502040204020203" pitchFamily="34" charset="0"/>
              </a:rPr>
              <a:t>0,45</a:t>
            </a:r>
          </a:p>
        </p:txBody>
      </p:sp>
      <p:sp>
        <p:nvSpPr>
          <p:cNvPr id="37" name="Rectángulo 36">
            <a:extLst>
              <a:ext uri="{FF2B5EF4-FFF2-40B4-BE49-F238E27FC236}">
                <a16:creationId xmlns:a16="http://schemas.microsoft.com/office/drawing/2014/main" id="{69DE8985-41D3-E03F-A6D5-99B82B22428A}"/>
              </a:ext>
            </a:extLst>
          </p:cNvPr>
          <p:cNvSpPr/>
          <p:nvPr/>
        </p:nvSpPr>
        <p:spPr>
          <a:xfrm>
            <a:off x="8432800" y="3987800"/>
            <a:ext cx="38100" cy="2032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8" name="CuadroTexto 37">
            <a:extLst>
              <a:ext uri="{FF2B5EF4-FFF2-40B4-BE49-F238E27FC236}">
                <a16:creationId xmlns:a16="http://schemas.microsoft.com/office/drawing/2014/main" id="{1EEA614B-9091-66C3-6048-D4D05AA9C5AA}"/>
              </a:ext>
            </a:extLst>
          </p:cNvPr>
          <p:cNvSpPr txBox="1"/>
          <p:nvPr/>
        </p:nvSpPr>
        <p:spPr>
          <a:xfrm>
            <a:off x="8534400" y="3987800"/>
            <a:ext cx="965200" cy="190500"/>
          </a:xfrm>
          <a:prstGeom prst="rect">
            <a:avLst/>
          </a:prstGeom>
          <a:noFill/>
        </p:spPr>
        <p:txBody>
          <a:bodyPr vert="horz" wrap="square" lIns="0" tIns="0" rIns="0" bIns="0" rtlCol="0" anchor="t">
            <a:noAutofit/>
          </a:bodyPr>
          <a:lstStyle/>
          <a:p>
            <a:r>
              <a:rPr lang="es-BO" sz="650">
                <a:solidFill>
                  <a:srgbClr val="1C1813"/>
                </a:solidFill>
                <a:latin typeface="Segoe UI Semibold" panose="020B0702040204020203" pitchFamily="34" charset="0"/>
              </a:rPr>
              <a:t>Cemento</a:t>
            </a:r>
          </a:p>
        </p:txBody>
      </p:sp>
      <p:sp>
        <p:nvSpPr>
          <p:cNvPr id="39" name="CuadroTexto 38">
            <a:extLst>
              <a:ext uri="{FF2B5EF4-FFF2-40B4-BE49-F238E27FC236}">
                <a16:creationId xmlns:a16="http://schemas.microsoft.com/office/drawing/2014/main" id="{1BC6B583-079B-853E-5018-FB9E57ADA55D}"/>
              </a:ext>
            </a:extLst>
          </p:cNvPr>
          <p:cNvSpPr txBox="1"/>
          <p:nvPr/>
        </p:nvSpPr>
        <p:spPr>
          <a:xfrm>
            <a:off x="9525000" y="3987800"/>
            <a:ext cx="1981200" cy="190500"/>
          </a:xfrm>
          <a:prstGeom prst="rect">
            <a:avLst/>
          </a:prstGeom>
          <a:noFill/>
        </p:spPr>
        <p:txBody>
          <a:bodyPr vert="horz" wrap="square" lIns="0" tIns="0" rIns="0" bIns="0" rtlCol="0" anchor="t">
            <a:noAutofit/>
          </a:bodyPr>
          <a:lstStyle/>
          <a:p>
            <a:pPr algn="l"/>
            <a:r>
              <a:rPr lang="es-BO" sz="650">
                <a:solidFill>
                  <a:srgbClr val="5A5248"/>
                </a:solidFill>
                <a:latin typeface="Segoe UI" panose="020B0502040204020203" pitchFamily="34" charset="0"/>
              </a:rPr>
              <a:t>tipo V, resistente a sulfatos</a:t>
            </a:r>
          </a:p>
        </p:txBody>
      </p:sp>
      <p:sp>
        <p:nvSpPr>
          <p:cNvPr id="40" name="CuadroTexto 39">
            <a:extLst>
              <a:ext uri="{FF2B5EF4-FFF2-40B4-BE49-F238E27FC236}">
                <a16:creationId xmlns:a16="http://schemas.microsoft.com/office/drawing/2014/main" id="{414373CE-96DA-00CA-9118-8023FE0D1F75}"/>
              </a:ext>
            </a:extLst>
          </p:cNvPr>
          <p:cNvSpPr txBox="1"/>
          <p:nvPr/>
        </p:nvSpPr>
        <p:spPr>
          <a:xfrm>
            <a:off x="8432800" y="4292600"/>
            <a:ext cx="2946400" cy="381000"/>
          </a:xfrm>
          <a:prstGeom prst="rect">
            <a:avLst/>
          </a:prstGeom>
          <a:noFill/>
        </p:spPr>
        <p:txBody>
          <a:bodyPr vert="horz" wrap="square" lIns="0" tIns="0" rIns="0" bIns="0" rtlCol="0" anchor="t">
            <a:noAutofit/>
          </a:bodyPr>
          <a:lstStyle/>
          <a:p>
            <a:pPr algn="l"/>
            <a:r>
              <a:rPr lang="es-BO" sz="600">
                <a:solidFill>
                  <a:srgbClr val="938A7C"/>
                </a:solidFill>
                <a:latin typeface="Segoe UI" panose="020B0502040204020203" pitchFamily="34" charset="0"/>
              </a:rPr>
              <a:t>ACI 318-19, Tabla 19.3.2.1</a:t>
            </a:r>
          </a:p>
        </p:txBody>
      </p:sp>
      <p:sp>
        <p:nvSpPr>
          <p:cNvPr id="42" name="CuadroTexto 41">
            <a:extLst>
              <a:ext uri="{FF2B5EF4-FFF2-40B4-BE49-F238E27FC236}">
                <a16:creationId xmlns:a16="http://schemas.microsoft.com/office/drawing/2014/main" id="{80E23F1A-CA21-0306-28AF-1561AFD9ED41}"/>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3" name="CuadroTexto 42">
            <a:extLst>
              <a:ext uri="{FF2B5EF4-FFF2-40B4-BE49-F238E27FC236}">
                <a16:creationId xmlns:a16="http://schemas.microsoft.com/office/drawing/2014/main" id="{5CFA87A7-2C6E-9941-C782-C15585D42673}"/>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Los tres requisitos atacan el mismo mecanismo por tres vías: menos porosidad conectada, menos agua libre y menos C₃A disponible para reaccionar.</a:t>
            </a:r>
            <a:endParaRPr lang="es-BO" sz="1050">
              <a:solidFill>
                <a:srgbClr val="5A5248"/>
              </a:solidFill>
              <a:latin typeface="Segoe UI" panose="020B0502040204020203" pitchFamily="34" charset="0"/>
            </a:endParaRPr>
          </a:p>
        </p:txBody>
      </p:sp>
      <p:sp>
        <p:nvSpPr>
          <p:cNvPr id="44" name="Resultado_1">
            <a:extLst>
              <a:ext uri="{FF2B5EF4-FFF2-40B4-BE49-F238E27FC236}">
                <a16:creationId xmlns:a16="http://schemas.microsoft.com/office/drawing/2014/main" id="{A955BCB5-F261-1791-8D7F-FC081963F03C}"/>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it-IT" sz="1600">
                <a:solidFill>
                  <a:srgbClr val="FFFFFF"/>
                </a:solidFill>
                <a:latin typeface="Bahnschrift SemiBold" panose="020B0502040204020203" pitchFamily="34" charset="0"/>
              </a:rPr>
              <a:t>f′c ≥ 31 MPa  ·  a/c ≤ 0,45  ·  cemento tipo V</a:t>
            </a:r>
            <a:endParaRPr lang="es-BO" sz="1600">
              <a:solidFill>
                <a:srgbClr val="FFFFFF"/>
              </a:solidFill>
              <a:latin typeface="Bahnschrift SemiBold" panose="020B0502040204020203" pitchFamily="34" charset="0"/>
            </a:endParaRPr>
          </a:p>
        </p:txBody>
      </p:sp>
      <p:sp>
        <p:nvSpPr>
          <p:cNvPr id="45" name="CuadroTexto 44">
            <a:extLst>
              <a:ext uri="{FF2B5EF4-FFF2-40B4-BE49-F238E27FC236}">
                <a16:creationId xmlns:a16="http://schemas.microsoft.com/office/drawing/2014/main" id="{07CED9B6-C7EE-5DA8-DFFC-C3D1A15C7DC4}"/>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318-19, Tabla 19.3.2.1; NB 1225001 §19 para el criterio vigente.</a:t>
            </a:r>
            <a:endParaRPr lang="es-BO" sz="700">
              <a:solidFill>
                <a:srgbClr val="938A7C"/>
              </a:solidFill>
              <a:latin typeface="Segoe UI" panose="020B0502040204020203" pitchFamily="34" charset="0"/>
            </a:endParaRPr>
          </a:p>
        </p:txBody>
      </p:sp>
      <p:cxnSp>
        <p:nvCxnSpPr>
          <p:cNvPr id="46" name="Conector recto 45">
            <a:extLst>
              <a:ext uri="{FF2B5EF4-FFF2-40B4-BE49-F238E27FC236}">
                <a16:creationId xmlns:a16="http://schemas.microsoft.com/office/drawing/2014/main" id="{9B4704DC-B287-3B81-7ECA-04D94575CC4A}"/>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5C5138AE-8652-D088-7308-5902153A1292}"/>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48" name="CuadroTexto 47">
            <a:extLst>
              <a:ext uri="{FF2B5EF4-FFF2-40B4-BE49-F238E27FC236}">
                <a16:creationId xmlns:a16="http://schemas.microsoft.com/office/drawing/2014/main" id="{521CD7EC-52DB-8A2C-CAA4-CAF1733B7EEB}"/>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49" name="PageNo">
            <a:extLst>
              <a:ext uri="{FF2B5EF4-FFF2-40B4-BE49-F238E27FC236}">
                <a16:creationId xmlns:a16="http://schemas.microsoft.com/office/drawing/2014/main" id="{DF0CD1C9-FD95-4B6A-06E0-AC4A31D624FD}"/>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28 / 35</a:t>
            </a:r>
          </a:p>
        </p:txBody>
      </p:sp>
    </p:spTree>
    <p:custDataLst>
      <p:tags r:id="rId1"/>
    </p:custDataLst>
    <p:extLst>
      <p:ext uri="{BB962C8B-B14F-4D97-AF65-F5344CB8AC3E}">
        <p14:creationId xmlns:p14="http://schemas.microsoft.com/office/powerpoint/2010/main" val="63799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6881AB0-E6A6-2A45-85B3-B1E840C2C06C}"/>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4  ·  PASO 3 DE 5</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AA536469-41F2-3211-5C32-65E870AE567E}"/>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Contraste entre lo exigido y lo ejecutado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165F7B37-9CDC-1CD1-394F-38479AA8436C}"/>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D812B0DB-B877-06BE-62C9-54FDDA32F025}"/>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¿Cumple el hormigón que de verdad se ejecutó? Comparamos con lo medido, no con lo proyectado.</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01D1FD9A-FD6A-0E40-74B5-BA1F6B30131C}"/>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700">
                <a:solidFill>
                  <a:srgbClr val="FFFFFF"/>
                </a:solidFill>
                <a:latin typeface="Bahnschrift SemiBold" panose="020B0502040204020203" pitchFamily="34" charset="0"/>
              </a:rPr>
              <a:t>cociente  =  valor ejecutado  /  valor exigido</a:t>
            </a:r>
            <a:endParaRPr lang="es-BO" sz="1700">
              <a:solidFill>
                <a:srgbClr val="FFFFFF"/>
              </a:solidFill>
              <a:latin typeface="Bahnschrift SemiBold" panose="020B0502040204020203" pitchFamily="34" charset="0"/>
            </a:endParaRPr>
          </a:p>
        </p:txBody>
      </p:sp>
      <p:sp>
        <p:nvSpPr>
          <p:cNvPr id="9" name="CuadroTexto 8">
            <a:extLst>
              <a:ext uri="{FF2B5EF4-FFF2-40B4-BE49-F238E27FC236}">
                <a16:creationId xmlns:a16="http://schemas.microsoft.com/office/drawing/2014/main" id="{58FB8030-AE92-F2E4-56C6-73E4A4740678}"/>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DC799FDE-AF36-7266-AC40-EB0D6A8C4488}"/>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Una división por cada requisito. El contenido técnico del paso está en usar la resistencia REAL de los testigos corregidos y la a/c estimada de la dosificación real, no los valores de proyecto.</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3518B3AE-3CC8-B047-CD5E-BEF55392CC85}"/>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E090CCD0-E295-945B-1842-839C16C47E90}"/>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f′c in situ = 18,5 MPa</a:t>
            </a:r>
          </a:p>
        </p:txBody>
      </p:sp>
      <p:sp>
        <p:nvSpPr>
          <p:cNvPr id="14" name="CuadroTexto 13">
            <a:extLst>
              <a:ext uri="{FF2B5EF4-FFF2-40B4-BE49-F238E27FC236}">
                <a16:creationId xmlns:a16="http://schemas.microsoft.com/office/drawing/2014/main" id="{ADCEC70E-627D-5AFC-6C8B-EDFEEF0DF0E4}"/>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Testigos corregidos según ACI 214.4R, de la clase 5.</a:t>
            </a:r>
            <a:endParaRPr lang="es-BO" sz="850">
              <a:solidFill>
                <a:srgbClr val="5A5248"/>
              </a:solidFill>
              <a:latin typeface="Segoe UI" panose="020B0502040204020203" pitchFamily="34" charset="0"/>
            </a:endParaRPr>
          </a:p>
        </p:txBody>
      </p:sp>
      <p:sp>
        <p:nvSpPr>
          <p:cNvPr id="16" name="CuadroTexto 15">
            <a:extLst>
              <a:ext uri="{FF2B5EF4-FFF2-40B4-BE49-F238E27FC236}">
                <a16:creationId xmlns:a16="http://schemas.microsoft.com/office/drawing/2014/main" id="{89139C6E-003A-F858-1A1E-F294F8982B9A}"/>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a/c ≈ 0,60</a:t>
            </a:r>
          </a:p>
        </p:txBody>
      </p:sp>
      <p:sp>
        <p:nvSpPr>
          <p:cNvPr id="17" name="CuadroTexto 16">
            <a:extLst>
              <a:ext uri="{FF2B5EF4-FFF2-40B4-BE49-F238E27FC236}">
                <a16:creationId xmlns:a16="http://schemas.microsoft.com/office/drawing/2014/main" id="{B37A97CC-C0B5-6264-5843-BFF535E5C1AD}"/>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Estimada de la dosificación de 1998 y contrastada con los testigos.</a:t>
            </a:r>
            <a:endParaRPr lang="es-BO" sz="850">
              <a:solidFill>
                <a:srgbClr val="5A5248"/>
              </a:solidFill>
              <a:latin typeface="Segoe UI" panose="020B0502040204020203" pitchFamily="34" charset="0"/>
            </a:endParaRPr>
          </a:p>
        </p:txBody>
      </p:sp>
      <p:sp>
        <p:nvSpPr>
          <p:cNvPr id="19" name="CuadroTexto 18">
            <a:extLst>
              <a:ext uri="{FF2B5EF4-FFF2-40B4-BE49-F238E27FC236}">
                <a16:creationId xmlns:a16="http://schemas.microsoft.com/office/drawing/2014/main" id="{044699DA-A40D-BF37-724F-A75554755B0C}"/>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Cemento</a:t>
            </a:r>
          </a:p>
        </p:txBody>
      </p:sp>
      <p:sp>
        <p:nvSpPr>
          <p:cNvPr id="20" name="CuadroTexto 19">
            <a:extLst>
              <a:ext uri="{FF2B5EF4-FFF2-40B4-BE49-F238E27FC236}">
                <a16:creationId xmlns:a16="http://schemas.microsoft.com/office/drawing/2014/main" id="{4264B4EC-6501-1193-3C05-AF6028C78BA6}"/>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BO" sz="850">
                <a:solidFill>
                  <a:srgbClr val="5A5248"/>
                </a:solidFill>
                <a:latin typeface="Segoe UI" panose="020B0502040204020203" pitchFamily="34" charset="0"/>
              </a:rPr>
              <a:t>Portland normal. El pliego de 1998 no incluía requisito de resistencia a sulfatos.</a:t>
            </a:r>
          </a:p>
        </p:txBody>
      </p:sp>
      <p:sp>
        <p:nvSpPr>
          <p:cNvPr id="21" name="CuadroTexto 20">
            <a:extLst>
              <a:ext uri="{FF2B5EF4-FFF2-40B4-BE49-F238E27FC236}">
                <a16:creationId xmlns:a16="http://schemas.microsoft.com/office/drawing/2014/main" id="{D03CF28C-A96E-C518-3D26-E3CEB9BEFB7B}"/>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C9F00DAD-5BCA-5102-B7C3-37DCA63F5FF5}"/>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C7E5D046-1C9F-BCDE-7BFE-1692C78ABDC9}"/>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es-MX" sz="1150">
                <a:solidFill>
                  <a:srgbClr val="241F18"/>
                </a:solidFill>
                <a:latin typeface="Segoe UI" panose="020B0502040204020203" pitchFamily="34" charset="0"/>
              </a:rPr>
              <a:t>18,5 / 31  =  0,597   →   60 % de lo exigido</a:t>
            </a:r>
            <a:endParaRPr lang="es-BO" sz="1150">
              <a:solidFill>
                <a:srgbClr val="241F18"/>
              </a:solidFill>
              <a:latin typeface="Segoe UI" panose="020B0502040204020203" pitchFamily="34" charset="0"/>
            </a:endParaRPr>
          </a:p>
        </p:txBody>
      </p:sp>
      <p:sp>
        <p:nvSpPr>
          <p:cNvPr id="24" name="CuadroTexto 23">
            <a:extLst>
              <a:ext uri="{FF2B5EF4-FFF2-40B4-BE49-F238E27FC236}">
                <a16:creationId xmlns:a16="http://schemas.microsoft.com/office/drawing/2014/main" id="{B9A9BAEA-3316-634A-EEDD-B7C1FC9CEB92}"/>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MX" sz="1150">
                <a:solidFill>
                  <a:srgbClr val="241F18"/>
                </a:solidFill>
                <a:latin typeface="Segoe UI" panose="020B0502040204020203" pitchFamily="34" charset="0"/>
              </a:rPr>
              <a:t>0,60 / 0,45  =  1,333  →  33 % por encima</a:t>
            </a:r>
            <a:endParaRPr lang="es-BO" sz="1150">
              <a:solidFill>
                <a:srgbClr val="241F18"/>
              </a:solidFill>
              <a:latin typeface="Segoe UI" panose="020B0502040204020203" pitchFamily="34" charset="0"/>
            </a:endParaRPr>
          </a:p>
        </p:txBody>
      </p:sp>
      <p:sp>
        <p:nvSpPr>
          <p:cNvPr id="25" name="CuadroTexto 24">
            <a:extLst>
              <a:ext uri="{FF2B5EF4-FFF2-40B4-BE49-F238E27FC236}">
                <a16:creationId xmlns:a16="http://schemas.microsoft.com/office/drawing/2014/main" id="{4249EF0A-BCF8-DA68-91F4-D601A55C4A57}"/>
              </a:ext>
            </a:extLst>
          </p:cNvPr>
          <p:cNvSpPr txBox="1"/>
          <p:nvPr/>
        </p:nvSpPr>
        <p:spPr>
          <a:xfrm>
            <a:off x="4648200" y="3797300"/>
            <a:ext cx="3124200" cy="292100"/>
          </a:xfrm>
          <a:prstGeom prst="rect">
            <a:avLst/>
          </a:prstGeom>
          <a:noFill/>
        </p:spPr>
        <p:txBody>
          <a:bodyPr vert="horz" wrap="square" lIns="0" tIns="0" rIns="0" bIns="0" rtlCol="0" anchor="t">
            <a:noAutofit/>
          </a:bodyPr>
          <a:lstStyle/>
          <a:p>
            <a:pPr algn="l"/>
            <a:r>
              <a:rPr lang="es-MX" sz="1150">
                <a:solidFill>
                  <a:srgbClr val="241F18"/>
                </a:solidFill>
                <a:latin typeface="Segoe UI" panose="020B0502040204020203" pitchFamily="34" charset="0"/>
              </a:rPr>
              <a:t>cemento:  sin requisito  →  no cumple</a:t>
            </a:r>
            <a:endParaRPr lang="es-BO" sz="1150">
              <a:solidFill>
                <a:srgbClr val="241F18"/>
              </a:solidFill>
              <a:latin typeface="Segoe UI" panose="020B0502040204020203" pitchFamily="34" charset="0"/>
            </a:endParaRPr>
          </a:p>
        </p:txBody>
      </p:sp>
      <p:sp>
        <p:nvSpPr>
          <p:cNvPr id="26" name="CuadroTexto 25">
            <a:extLst>
              <a:ext uri="{FF2B5EF4-FFF2-40B4-BE49-F238E27FC236}">
                <a16:creationId xmlns:a16="http://schemas.microsoft.com/office/drawing/2014/main" id="{69DF6EF9-CADE-7A91-7FF9-7555DD5C7953}"/>
              </a:ext>
            </a:extLst>
          </p:cNvPr>
          <p:cNvSpPr txBox="1"/>
          <p:nvPr/>
        </p:nvSpPr>
        <p:spPr>
          <a:xfrm>
            <a:off x="4648200" y="4114800"/>
            <a:ext cx="3124200" cy="292100"/>
          </a:xfrm>
          <a:prstGeom prst="rect">
            <a:avLst/>
          </a:prstGeom>
          <a:noFill/>
        </p:spPr>
        <p:txBody>
          <a:bodyPr vert="horz" wrap="square" lIns="0" tIns="0" rIns="0" bIns="0" rtlCol="0" anchor="t">
            <a:noAutofit/>
          </a:bodyPr>
          <a:lstStyle/>
          <a:p>
            <a:endParaRPr lang="es-BO" sz="1150">
              <a:solidFill>
                <a:srgbClr val="241F18"/>
              </a:solidFill>
              <a:latin typeface="Segoe UI" panose="020B0502040204020203" pitchFamily="34" charset="0"/>
            </a:endParaRPr>
          </a:p>
        </p:txBody>
      </p:sp>
      <p:sp>
        <p:nvSpPr>
          <p:cNvPr id="27" name="CuadroTexto 26">
            <a:extLst>
              <a:ext uri="{FF2B5EF4-FFF2-40B4-BE49-F238E27FC236}">
                <a16:creationId xmlns:a16="http://schemas.microsoft.com/office/drawing/2014/main" id="{1131F74C-02D3-5577-2652-8F792C4D807D}"/>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los tres requisitos: incumplidos</a:t>
            </a:r>
          </a:p>
        </p:txBody>
      </p:sp>
      <p:sp>
        <p:nvSpPr>
          <p:cNvPr id="28" name="Rectángulo 27">
            <a:extLst>
              <a:ext uri="{FF2B5EF4-FFF2-40B4-BE49-F238E27FC236}">
                <a16:creationId xmlns:a16="http://schemas.microsoft.com/office/drawing/2014/main" id="{938D847D-2DB0-261E-3C7E-97EF51221746}"/>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2DB82B7E-6A65-CF39-E9A2-4E1FE966B6EB}"/>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LO EXIGIDO FRENTE A LO EJECUTADO</a:t>
            </a:r>
            <a:endParaRPr lang="es-BO" sz="750" spc="160">
              <a:solidFill>
                <a:srgbClr val="6A4F20"/>
              </a:solidFill>
              <a:latin typeface="Segoe UI Semibold" panose="020B0702040204020203" pitchFamily="34" charset="0"/>
            </a:endParaRPr>
          </a:p>
        </p:txBody>
      </p:sp>
      <p:sp>
        <p:nvSpPr>
          <p:cNvPr id="31" name="Rectángulo 30">
            <a:extLst>
              <a:ext uri="{FF2B5EF4-FFF2-40B4-BE49-F238E27FC236}">
                <a16:creationId xmlns:a16="http://schemas.microsoft.com/office/drawing/2014/main" id="{79EC7C15-43BA-F7CB-1A49-909EF7199C98}"/>
              </a:ext>
            </a:extLst>
          </p:cNvPr>
          <p:cNvSpPr/>
          <p:nvPr/>
        </p:nvSpPr>
        <p:spPr>
          <a:xfrm>
            <a:off x="9144000" y="3429000"/>
            <a:ext cx="2159000" cy="1270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2" name="Rectángulo 31">
            <a:extLst>
              <a:ext uri="{FF2B5EF4-FFF2-40B4-BE49-F238E27FC236}">
                <a16:creationId xmlns:a16="http://schemas.microsoft.com/office/drawing/2014/main" id="{EF382A99-70C7-9A56-0FB9-7D477B5F93F6}"/>
              </a:ext>
            </a:extLst>
          </p:cNvPr>
          <p:cNvSpPr/>
          <p:nvPr/>
        </p:nvSpPr>
        <p:spPr>
          <a:xfrm>
            <a:off x="9144000" y="3429000"/>
            <a:ext cx="2159000" cy="127000"/>
          </a:xfrm>
          <a:prstGeom prst="rect">
            <a:avLst/>
          </a:prstGeom>
          <a:solidFill>
            <a:srgbClr val="4C5F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CuadroTexto 32">
            <a:extLst>
              <a:ext uri="{FF2B5EF4-FFF2-40B4-BE49-F238E27FC236}">
                <a16:creationId xmlns:a16="http://schemas.microsoft.com/office/drawing/2014/main" id="{EEF189C8-0971-FB7D-05D3-02E3A8134977}"/>
              </a:ext>
            </a:extLst>
          </p:cNvPr>
          <p:cNvSpPr txBox="1"/>
          <p:nvPr/>
        </p:nvSpPr>
        <p:spPr>
          <a:xfrm>
            <a:off x="8356600" y="34290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exige S2</a:t>
            </a:r>
          </a:p>
        </p:txBody>
      </p:sp>
      <p:sp>
        <p:nvSpPr>
          <p:cNvPr id="34" name="CuadroTexto 33">
            <a:extLst>
              <a:ext uri="{FF2B5EF4-FFF2-40B4-BE49-F238E27FC236}">
                <a16:creationId xmlns:a16="http://schemas.microsoft.com/office/drawing/2014/main" id="{620BB717-B62A-E51F-8C4C-4F7AF59F1032}"/>
              </a:ext>
            </a:extLst>
          </p:cNvPr>
          <p:cNvSpPr txBox="1"/>
          <p:nvPr/>
        </p:nvSpPr>
        <p:spPr>
          <a:xfrm>
            <a:off x="9194800" y="34290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f′c 31 MPa</a:t>
            </a:r>
          </a:p>
        </p:txBody>
      </p:sp>
      <p:sp>
        <p:nvSpPr>
          <p:cNvPr id="35" name="Rectángulo 34">
            <a:extLst>
              <a:ext uri="{FF2B5EF4-FFF2-40B4-BE49-F238E27FC236}">
                <a16:creationId xmlns:a16="http://schemas.microsoft.com/office/drawing/2014/main" id="{6F232440-65C7-DA49-D958-198E99E6AC0A}"/>
              </a:ext>
            </a:extLst>
          </p:cNvPr>
          <p:cNvSpPr/>
          <p:nvPr/>
        </p:nvSpPr>
        <p:spPr>
          <a:xfrm>
            <a:off x="9144000" y="3644900"/>
            <a:ext cx="2159000" cy="1270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6" name="Rectángulo 35">
            <a:extLst>
              <a:ext uri="{FF2B5EF4-FFF2-40B4-BE49-F238E27FC236}">
                <a16:creationId xmlns:a16="http://schemas.microsoft.com/office/drawing/2014/main" id="{58059D95-C9A7-8916-C07E-D1BB09F6B91D}"/>
              </a:ext>
            </a:extLst>
          </p:cNvPr>
          <p:cNvSpPr/>
          <p:nvPr/>
        </p:nvSpPr>
        <p:spPr>
          <a:xfrm>
            <a:off x="9144000" y="3644900"/>
            <a:ext cx="1295400" cy="127000"/>
          </a:xfrm>
          <a:prstGeom prst="rect">
            <a:avLst/>
          </a:prstGeom>
          <a:solidFill>
            <a:srgbClr val="8C33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7" name="CuadroTexto 36">
            <a:extLst>
              <a:ext uri="{FF2B5EF4-FFF2-40B4-BE49-F238E27FC236}">
                <a16:creationId xmlns:a16="http://schemas.microsoft.com/office/drawing/2014/main" id="{FF0E0433-6759-F4F1-F0E8-F62CC9939EA8}"/>
              </a:ext>
            </a:extLst>
          </p:cNvPr>
          <p:cNvSpPr txBox="1"/>
          <p:nvPr/>
        </p:nvSpPr>
        <p:spPr>
          <a:xfrm>
            <a:off x="8356600" y="36449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testigos</a:t>
            </a:r>
          </a:p>
        </p:txBody>
      </p:sp>
      <p:sp>
        <p:nvSpPr>
          <p:cNvPr id="38" name="CuadroTexto 37">
            <a:extLst>
              <a:ext uri="{FF2B5EF4-FFF2-40B4-BE49-F238E27FC236}">
                <a16:creationId xmlns:a16="http://schemas.microsoft.com/office/drawing/2014/main" id="{ED3C3E50-D6FD-964D-ADD5-DBFA7E89AB71}"/>
              </a:ext>
            </a:extLst>
          </p:cNvPr>
          <p:cNvSpPr txBox="1"/>
          <p:nvPr/>
        </p:nvSpPr>
        <p:spPr>
          <a:xfrm>
            <a:off x="9194800" y="36449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18,5 MPa  ·  60 %</a:t>
            </a:r>
          </a:p>
        </p:txBody>
      </p:sp>
      <p:sp>
        <p:nvSpPr>
          <p:cNvPr id="39" name="Rectángulo 38">
            <a:extLst>
              <a:ext uri="{FF2B5EF4-FFF2-40B4-BE49-F238E27FC236}">
                <a16:creationId xmlns:a16="http://schemas.microsoft.com/office/drawing/2014/main" id="{E660533C-026C-22B8-1F0F-0A7C87A54119}"/>
              </a:ext>
            </a:extLst>
          </p:cNvPr>
          <p:cNvSpPr/>
          <p:nvPr/>
        </p:nvSpPr>
        <p:spPr>
          <a:xfrm>
            <a:off x="9144000" y="3860800"/>
            <a:ext cx="2159000" cy="1270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0" name="Rectángulo 39">
            <a:extLst>
              <a:ext uri="{FF2B5EF4-FFF2-40B4-BE49-F238E27FC236}">
                <a16:creationId xmlns:a16="http://schemas.microsoft.com/office/drawing/2014/main" id="{8EFEA9EB-000F-58CB-7DBC-5CA0217A5753}"/>
              </a:ext>
            </a:extLst>
          </p:cNvPr>
          <p:cNvSpPr/>
          <p:nvPr/>
        </p:nvSpPr>
        <p:spPr>
          <a:xfrm>
            <a:off x="9144000" y="3860800"/>
            <a:ext cx="1619250" cy="127000"/>
          </a:xfrm>
          <a:prstGeom prst="rect">
            <a:avLst/>
          </a:prstGeom>
          <a:solidFill>
            <a:srgbClr val="4C5F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1" name="CuadroTexto 40">
            <a:extLst>
              <a:ext uri="{FF2B5EF4-FFF2-40B4-BE49-F238E27FC236}">
                <a16:creationId xmlns:a16="http://schemas.microsoft.com/office/drawing/2014/main" id="{72B01BF7-9FFE-7E3F-27BB-D5CCF4581E52}"/>
              </a:ext>
            </a:extLst>
          </p:cNvPr>
          <p:cNvSpPr txBox="1"/>
          <p:nvPr/>
        </p:nvSpPr>
        <p:spPr>
          <a:xfrm>
            <a:off x="8356600" y="38608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admite a/c</a:t>
            </a:r>
          </a:p>
        </p:txBody>
      </p:sp>
      <p:sp>
        <p:nvSpPr>
          <p:cNvPr id="42" name="CuadroTexto 41">
            <a:extLst>
              <a:ext uri="{FF2B5EF4-FFF2-40B4-BE49-F238E27FC236}">
                <a16:creationId xmlns:a16="http://schemas.microsoft.com/office/drawing/2014/main" id="{F4AD39FD-A683-4778-FBE4-7D6654124286}"/>
              </a:ext>
            </a:extLst>
          </p:cNvPr>
          <p:cNvSpPr txBox="1"/>
          <p:nvPr/>
        </p:nvSpPr>
        <p:spPr>
          <a:xfrm>
            <a:off x="9194800" y="38608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0,45</a:t>
            </a:r>
          </a:p>
        </p:txBody>
      </p:sp>
      <p:sp>
        <p:nvSpPr>
          <p:cNvPr id="43" name="Rectángulo 42">
            <a:extLst>
              <a:ext uri="{FF2B5EF4-FFF2-40B4-BE49-F238E27FC236}">
                <a16:creationId xmlns:a16="http://schemas.microsoft.com/office/drawing/2014/main" id="{1040F29D-0D4B-3E30-557D-07C8D8CDF387}"/>
              </a:ext>
            </a:extLst>
          </p:cNvPr>
          <p:cNvSpPr/>
          <p:nvPr/>
        </p:nvSpPr>
        <p:spPr>
          <a:xfrm>
            <a:off x="9144000" y="4076700"/>
            <a:ext cx="2159000" cy="1270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4" name="Rectángulo 43">
            <a:extLst>
              <a:ext uri="{FF2B5EF4-FFF2-40B4-BE49-F238E27FC236}">
                <a16:creationId xmlns:a16="http://schemas.microsoft.com/office/drawing/2014/main" id="{18DACFB7-2C7C-0E21-DBC4-281D4992ACAD}"/>
              </a:ext>
            </a:extLst>
          </p:cNvPr>
          <p:cNvSpPr/>
          <p:nvPr/>
        </p:nvSpPr>
        <p:spPr>
          <a:xfrm>
            <a:off x="9144000" y="4076700"/>
            <a:ext cx="2159000" cy="127000"/>
          </a:xfrm>
          <a:prstGeom prst="rect">
            <a:avLst/>
          </a:prstGeom>
          <a:solidFill>
            <a:srgbClr val="8C33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5" name="CuadroTexto 44">
            <a:extLst>
              <a:ext uri="{FF2B5EF4-FFF2-40B4-BE49-F238E27FC236}">
                <a16:creationId xmlns:a16="http://schemas.microsoft.com/office/drawing/2014/main" id="{6AB6E642-004A-5CF7-3AF6-47C066744FB7}"/>
              </a:ext>
            </a:extLst>
          </p:cNvPr>
          <p:cNvSpPr txBox="1"/>
          <p:nvPr/>
        </p:nvSpPr>
        <p:spPr>
          <a:xfrm>
            <a:off x="8356600" y="4076700"/>
            <a:ext cx="736600" cy="152400"/>
          </a:xfrm>
          <a:prstGeom prst="rect">
            <a:avLst/>
          </a:prstGeom>
          <a:noFill/>
        </p:spPr>
        <p:txBody>
          <a:bodyPr vert="horz" wrap="square" lIns="0" tIns="0" rIns="0" bIns="0" rtlCol="0" anchor="t">
            <a:noAutofit/>
          </a:bodyPr>
          <a:lstStyle/>
          <a:p>
            <a:pPr algn="r"/>
            <a:r>
              <a:rPr lang="es-BO" sz="600">
                <a:solidFill>
                  <a:srgbClr val="1C1813"/>
                </a:solidFill>
                <a:latin typeface="Segoe UI Semibold" panose="020B0702040204020203" pitchFamily="34" charset="0"/>
              </a:rPr>
              <a:t>ejecutada</a:t>
            </a:r>
          </a:p>
        </p:txBody>
      </p:sp>
      <p:sp>
        <p:nvSpPr>
          <p:cNvPr id="46" name="CuadroTexto 45">
            <a:extLst>
              <a:ext uri="{FF2B5EF4-FFF2-40B4-BE49-F238E27FC236}">
                <a16:creationId xmlns:a16="http://schemas.microsoft.com/office/drawing/2014/main" id="{502B7368-210B-390F-EEC6-D235279DEEFD}"/>
              </a:ext>
            </a:extLst>
          </p:cNvPr>
          <p:cNvSpPr txBox="1"/>
          <p:nvPr/>
        </p:nvSpPr>
        <p:spPr>
          <a:xfrm>
            <a:off x="9194800" y="4076700"/>
            <a:ext cx="2057400" cy="152400"/>
          </a:xfrm>
          <a:prstGeom prst="rect">
            <a:avLst/>
          </a:prstGeom>
          <a:noFill/>
        </p:spPr>
        <p:txBody>
          <a:bodyPr vert="horz" wrap="square" lIns="0" tIns="0" rIns="0" bIns="0" rtlCol="0" anchor="t">
            <a:noAutofit/>
          </a:bodyPr>
          <a:lstStyle/>
          <a:p>
            <a:pPr algn="l"/>
            <a:r>
              <a:rPr lang="es-BO" sz="600">
                <a:solidFill>
                  <a:srgbClr val="FFFFFF"/>
                </a:solidFill>
                <a:latin typeface="Segoe UI Semibold" panose="020B0702040204020203" pitchFamily="34" charset="0"/>
              </a:rPr>
              <a:t>0,60  ·  33 % de más</a:t>
            </a:r>
          </a:p>
        </p:txBody>
      </p:sp>
      <p:sp>
        <p:nvSpPr>
          <p:cNvPr id="48" name="CuadroTexto 47">
            <a:extLst>
              <a:ext uri="{FF2B5EF4-FFF2-40B4-BE49-F238E27FC236}">
                <a16:creationId xmlns:a16="http://schemas.microsoft.com/office/drawing/2014/main" id="{F486AA3A-DA0D-4352-BEA1-80EA7C4509A6}"/>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9" name="CuadroTexto 48">
            <a:extLst>
              <a:ext uri="{FF2B5EF4-FFF2-40B4-BE49-F238E27FC236}">
                <a16:creationId xmlns:a16="http://schemas.microsoft.com/office/drawing/2014/main" id="{803F781E-9D37-565B-B4EA-80E42B9C9311}"/>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No se trata de un hormigón de baja calidad: es un hormigón que </a:t>
            </a:r>
            <a:r>
              <a:rPr lang="es-MX" sz="1050" b="1">
                <a:solidFill>
                  <a:srgbClr val="5A5248"/>
                </a:solidFill>
                <a:latin typeface="Segoe UI Semibold" panose="020B0702040204020203" pitchFamily="34" charset="0"/>
              </a:rPr>
              <a:t>nunca fue el que esa clase de exposición exigía</a:t>
            </a:r>
            <a:r>
              <a:rPr lang="es-MX" sz="1050">
                <a:solidFill>
                  <a:srgbClr val="5A5248"/>
                </a:solidFill>
                <a:latin typeface="Segoe UI" panose="020B0502040204020203" pitchFamily="34" charset="0"/>
              </a:rPr>
              <a:t>, porque la exposición no se clasificó.</a:t>
            </a:r>
            <a:endParaRPr lang="es-BO" sz="1050">
              <a:solidFill>
                <a:srgbClr val="5A5248"/>
              </a:solidFill>
              <a:latin typeface="Segoe UI" panose="020B0502040204020203" pitchFamily="34" charset="0"/>
            </a:endParaRPr>
          </a:p>
        </p:txBody>
      </p:sp>
      <p:sp>
        <p:nvSpPr>
          <p:cNvPr id="50" name="Resultado_1">
            <a:extLst>
              <a:ext uri="{FF2B5EF4-FFF2-40B4-BE49-F238E27FC236}">
                <a16:creationId xmlns:a16="http://schemas.microsoft.com/office/drawing/2014/main" id="{D93B81A0-2D8F-1553-BC33-9E87220EA6A6}"/>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600">
                <a:solidFill>
                  <a:srgbClr val="FFFFFF"/>
                </a:solidFill>
                <a:latin typeface="Bahnschrift SemiBold" panose="020B0502040204020203" pitchFamily="34" charset="0"/>
              </a:rPr>
              <a:t>Incumple los tres requisitos simultáneamente</a:t>
            </a:r>
            <a:endParaRPr lang="es-BO" sz="1600">
              <a:solidFill>
                <a:srgbClr val="FFFFFF"/>
              </a:solidFill>
              <a:latin typeface="Bahnschrift SemiBold" panose="020B0502040204020203" pitchFamily="34" charset="0"/>
            </a:endParaRPr>
          </a:p>
        </p:txBody>
      </p:sp>
      <p:sp>
        <p:nvSpPr>
          <p:cNvPr id="51" name="CuadroTexto 50">
            <a:extLst>
              <a:ext uri="{FF2B5EF4-FFF2-40B4-BE49-F238E27FC236}">
                <a16:creationId xmlns:a16="http://schemas.microsoft.com/office/drawing/2014/main" id="{D385F30E-E389-11F6-3222-107AD294C756}"/>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pt-BR" sz="700">
                <a:solidFill>
                  <a:srgbClr val="938A7C"/>
                </a:solidFill>
                <a:latin typeface="Segoe UI" panose="020B0502040204020203" pitchFamily="34" charset="0"/>
              </a:rPr>
              <a:t>Fuente: ACI 318-19 Tabla 19.3.2.1; ACI 201.2R §5 sobre ataque por sulfatos.</a:t>
            </a:r>
            <a:endParaRPr lang="es-BO" sz="700">
              <a:solidFill>
                <a:srgbClr val="938A7C"/>
              </a:solidFill>
              <a:latin typeface="Segoe UI" panose="020B0502040204020203" pitchFamily="34" charset="0"/>
            </a:endParaRPr>
          </a:p>
        </p:txBody>
      </p:sp>
      <p:cxnSp>
        <p:nvCxnSpPr>
          <p:cNvPr id="52" name="Conector recto 51">
            <a:extLst>
              <a:ext uri="{FF2B5EF4-FFF2-40B4-BE49-F238E27FC236}">
                <a16:creationId xmlns:a16="http://schemas.microsoft.com/office/drawing/2014/main" id="{E9116687-DEF9-1402-93F5-C001D58F9CDC}"/>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ED57D6CD-D6CB-B158-5983-FAEB21E3D779}"/>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54" name="CuadroTexto 53">
            <a:extLst>
              <a:ext uri="{FF2B5EF4-FFF2-40B4-BE49-F238E27FC236}">
                <a16:creationId xmlns:a16="http://schemas.microsoft.com/office/drawing/2014/main" id="{9133903B-AB73-DBF8-B646-4C8BDD664EBE}"/>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55" name="PageNo">
            <a:extLst>
              <a:ext uri="{FF2B5EF4-FFF2-40B4-BE49-F238E27FC236}">
                <a16:creationId xmlns:a16="http://schemas.microsoft.com/office/drawing/2014/main" id="{8A8E5876-6C70-70DE-0D82-5902D2BB5519}"/>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29 / 35</a:t>
            </a:r>
          </a:p>
        </p:txBody>
      </p:sp>
    </p:spTree>
    <p:custDataLst>
      <p:tags r:id="rId1"/>
    </p:custDataLst>
    <p:extLst>
      <p:ext uri="{BB962C8B-B14F-4D97-AF65-F5344CB8AC3E}">
        <p14:creationId xmlns:p14="http://schemas.microsoft.com/office/powerpoint/2010/main" val="2205142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3FCAC79-9377-DACF-AEF0-AEC862E8BED3}"/>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4  ·  PASO 4 DE 5</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600D2D73-684D-6A12-4F9B-4D2BF548F931}"/>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Velocidad de pérdida medida en la cámara de bombeo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8E9E3B5A-CD26-F5C8-DEBF-F5B71FB4C21E}"/>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4DEDF490-84CC-B82E-0E55-699733883118}"/>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¿A qué velocidad se está comiendo el ácido el muro de la cámara?</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0DFC35F6-696A-8844-BF76-F8B5C0EE5D49}"/>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700">
                <a:solidFill>
                  <a:srgbClr val="FFFFFF"/>
                </a:solidFill>
                <a:latin typeface="Bahnschrift SemiBold" panose="020B0502040204020203" pitchFamily="34" charset="0"/>
              </a:rPr>
              <a:t>v  =  pérdida de espesor medida  /  tiempo de exposición</a:t>
            </a:r>
            <a:endParaRPr lang="es-BO" sz="1700">
              <a:solidFill>
                <a:srgbClr val="FFFFFF"/>
              </a:solidFill>
              <a:latin typeface="Bahnschrift SemiBold" panose="020B0502040204020203" pitchFamily="34" charset="0"/>
            </a:endParaRPr>
          </a:p>
        </p:txBody>
      </p:sp>
      <p:sp>
        <p:nvSpPr>
          <p:cNvPr id="9" name="CuadroTexto 8">
            <a:extLst>
              <a:ext uri="{FF2B5EF4-FFF2-40B4-BE49-F238E27FC236}">
                <a16:creationId xmlns:a16="http://schemas.microsoft.com/office/drawing/2014/main" id="{5E857D76-FF85-9C06-7785-5A708CE07F70}"/>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EA2F6D72-3B0C-AC22-7273-B81D5C2D7648}"/>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Medida directa, sin modelo. El ataque ácido biogénico no sigue una ley de raíz del tiempo: mientras haya aporte de ácido y la capa de productos no proteja, la pérdida es aproximadamente lineal.</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D7E31BB2-2B27-F052-E1A6-6E98066B25ED}"/>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F57D828C-8803-AB47-4E10-FC5C15DA8339}"/>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12 mm perdidos</a:t>
            </a:r>
          </a:p>
        </p:txBody>
      </p:sp>
      <p:sp>
        <p:nvSpPr>
          <p:cNvPr id="14" name="CuadroTexto 13">
            <a:extLst>
              <a:ext uri="{FF2B5EF4-FFF2-40B4-BE49-F238E27FC236}">
                <a16:creationId xmlns:a16="http://schemas.microsoft.com/office/drawing/2014/main" id="{CBF37208-FF1B-7535-7A39-8150B57A82A3}"/>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Espesor de proyecto menos el medido, en cinco puntos de la bóveda. Dispersión 10 a 14 mm.</a:t>
            </a:r>
            <a:endParaRPr lang="es-BO" sz="850">
              <a:solidFill>
                <a:srgbClr val="5A5248"/>
              </a:solidFill>
              <a:latin typeface="Segoe UI" panose="020B0502040204020203" pitchFamily="34" charset="0"/>
            </a:endParaRPr>
          </a:p>
        </p:txBody>
      </p:sp>
      <p:sp>
        <p:nvSpPr>
          <p:cNvPr id="16" name="CuadroTexto 15">
            <a:extLst>
              <a:ext uri="{FF2B5EF4-FFF2-40B4-BE49-F238E27FC236}">
                <a16:creationId xmlns:a16="http://schemas.microsoft.com/office/drawing/2014/main" id="{0AD5DB23-C1C0-A624-8754-AF5608DCD04A}"/>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14 años</a:t>
            </a:r>
          </a:p>
        </p:txBody>
      </p:sp>
      <p:sp>
        <p:nvSpPr>
          <p:cNvPr id="17" name="CuadroTexto 16">
            <a:extLst>
              <a:ext uri="{FF2B5EF4-FFF2-40B4-BE49-F238E27FC236}">
                <a16:creationId xmlns:a16="http://schemas.microsoft.com/office/drawing/2014/main" id="{77746BDD-440C-0C2E-7C37-4BF36519E15C}"/>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Desde la puesta en servicio de la cámara, en 2012, hasta la medida de 2026.</a:t>
            </a:r>
            <a:endParaRPr lang="es-BO" sz="850">
              <a:solidFill>
                <a:srgbClr val="5A5248"/>
              </a:solidFill>
              <a:latin typeface="Segoe UI" panose="020B0502040204020203" pitchFamily="34" charset="0"/>
            </a:endParaRPr>
          </a:p>
        </p:txBody>
      </p:sp>
      <p:sp>
        <p:nvSpPr>
          <p:cNvPr id="19" name="CuadroTexto 18">
            <a:extLst>
              <a:ext uri="{FF2B5EF4-FFF2-40B4-BE49-F238E27FC236}">
                <a16:creationId xmlns:a16="http://schemas.microsoft.com/office/drawing/2014/main" id="{6B13CFF7-935D-6FA7-46D6-CA129A9FCAAE}"/>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pH 2,5</a:t>
            </a:r>
          </a:p>
        </p:txBody>
      </p:sp>
      <p:sp>
        <p:nvSpPr>
          <p:cNvPr id="20" name="CuadroTexto 19">
            <a:extLst>
              <a:ext uri="{FF2B5EF4-FFF2-40B4-BE49-F238E27FC236}">
                <a16:creationId xmlns:a16="http://schemas.microsoft.com/office/drawing/2014/main" id="{14C04E8A-30A7-E522-2761-7011DECC3A04}"/>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Medido con papel sobre la pared húmeda.</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F08BDA8D-5FCF-51A3-CE53-224E1B03AA0E}"/>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D6A99278-76CF-05ED-F1BB-4034A220E9BF}"/>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6F130B28-889E-68FB-8281-E238F8A2066D}"/>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es-MX" sz="1150">
                <a:solidFill>
                  <a:srgbClr val="241F18"/>
                </a:solidFill>
                <a:latin typeface="Segoe UI" panose="020B0502040204020203" pitchFamily="34" charset="0"/>
              </a:rPr>
              <a:t>v  =  12 mm  /  14 años</a:t>
            </a:r>
            <a:endParaRPr lang="es-BO" sz="1150">
              <a:solidFill>
                <a:srgbClr val="241F18"/>
              </a:solidFill>
              <a:latin typeface="Segoe UI" panose="020B0502040204020203" pitchFamily="34" charset="0"/>
            </a:endParaRPr>
          </a:p>
        </p:txBody>
      </p:sp>
      <p:sp>
        <p:nvSpPr>
          <p:cNvPr id="24" name="CuadroTexto 23">
            <a:extLst>
              <a:ext uri="{FF2B5EF4-FFF2-40B4-BE49-F238E27FC236}">
                <a16:creationId xmlns:a16="http://schemas.microsoft.com/office/drawing/2014/main" id="{0DD3C4B2-1DE0-2F88-4996-F7FD357A070A}"/>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v  =  0,857 mm/año</a:t>
            </a:r>
          </a:p>
        </p:txBody>
      </p:sp>
      <p:sp>
        <p:nvSpPr>
          <p:cNvPr id="25" name="CuadroTexto 24">
            <a:extLst>
              <a:ext uri="{FF2B5EF4-FFF2-40B4-BE49-F238E27FC236}">
                <a16:creationId xmlns:a16="http://schemas.microsoft.com/office/drawing/2014/main" id="{42F3A7AB-F0E6-8C55-DFDB-44AC2BBC03DA}"/>
              </a:ext>
            </a:extLst>
          </p:cNvPr>
          <p:cNvSpPr txBox="1"/>
          <p:nvPr/>
        </p:nvSpPr>
        <p:spPr>
          <a:xfrm>
            <a:off x="4648200" y="3797300"/>
            <a:ext cx="3124200" cy="292100"/>
          </a:xfrm>
          <a:prstGeom prst="rect">
            <a:avLst/>
          </a:prstGeom>
          <a:noFill/>
        </p:spPr>
        <p:txBody>
          <a:bodyPr vert="horz" wrap="square" lIns="0" tIns="0" rIns="0" bIns="0" rtlCol="0" anchor="t">
            <a:noAutofit/>
          </a:bodyPr>
          <a:lstStyle/>
          <a:p>
            <a:endParaRPr lang="es-BO" sz="1150">
              <a:solidFill>
                <a:srgbClr val="241F18"/>
              </a:solidFill>
              <a:latin typeface="Segoe UI" panose="020B0502040204020203" pitchFamily="34" charset="0"/>
            </a:endParaRPr>
          </a:p>
        </p:txBody>
      </p:sp>
      <p:sp>
        <p:nvSpPr>
          <p:cNvPr id="26" name="CuadroTexto 25">
            <a:extLst>
              <a:ext uri="{FF2B5EF4-FFF2-40B4-BE49-F238E27FC236}">
                <a16:creationId xmlns:a16="http://schemas.microsoft.com/office/drawing/2014/main" id="{D2A792B6-F896-FD0E-1D7B-67EFDD37D380}"/>
              </a:ext>
            </a:extLst>
          </p:cNvPr>
          <p:cNvSpPr txBox="1"/>
          <p:nvPr/>
        </p:nvSpPr>
        <p:spPr>
          <a:xfrm>
            <a:off x="4648200" y="4114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con 10 mm → 0,714   ·   con 14 mm → 1,000</a:t>
            </a:r>
          </a:p>
        </p:txBody>
      </p:sp>
      <p:sp>
        <p:nvSpPr>
          <p:cNvPr id="27" name="CuadroTexto 26">
            <a:extLst>
              <a:ext uri="{FF2B5EF4-FFF2-40B4-BE49-F238E27FC236}">
                <a16:creationId xmlns:a16="http://schemas.microsoft.com/office/drawing/2014/main" id="{51BE327A-0E42-FE64-652C-32ACF1251940}"/>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es-MX" sz="1150">
                <a:solidFill>
                  <a:srgbClr val="241F18"/>
                </a:solidFill>
                <a:latin typeface="Segoe UI" panose="020B0502040204020203" pitchFamily="34" charset="0"/>
              </a:rPr>
              <a:t>en 50 años:  0,857 × 50  =  42,9 mm</a:t>
            </a:r>
            <a:endParaRPr lang="es-BO" sz="1150">
              <a:solidFill>
                <a:srgbClr val="241F18"/>
              </a:solidFill>
              <a:latin typeface="Segoe UI" panose="020B0502040204020203" pitchFamily="34" charset="0"/>
            </a:endParaRPr>
          </a:p>
        </p:txBody>
      </p:sp>
      <p:sp>
        <p:nvSpPr>
          <p:cNvPr id="28" name="Rectángulo 27">
            <a:extLst>
              <a:ext uri="{FF2B5EF4-FFF2-40B4-BE49-F238E27FC236}">
                <a16:creationId xmlns:a16="http://schemas.microsoft.com/office/drawing/2014/main" id="{701A652C-AF1F-0DF0-92FD-AA448D84E213}"/>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4C0A1E88-A4AF-A65D-9392-A0DE7EEE88DB}"/>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EL MURO DE LA CÁMARA, 14 AÑOS</a:t>
            </a:r>
            <a:endParaRPr lang="es-BO" sz="750" spc="160">
              <a:solidFill>
                <a:srgbClr val="6A4F20"/>
              </a:solidFill>
              <a:latin typeface="Segoe UI Semibold" panose="020B0702040204020203" pitchFamily="34" charset="0"/>
            </a:endParaRPr>
          </a:p>
        </p:txBody>
      </p:sp>
      <p:sp>
        <p:nvSpPr>
          <p:cNvPr id="31" name="Rectángulo 30">
            <a:extLst>
              <a:ext uri="{FF2B5EF4-FFF2-40B4-BE49-F238E27FC236}">
                <a16:creationId xmlns:a16="http://schemas.microsoft.com/office/drawing/2014/main" id="{3145D30E-E8C6-40D8-02DD-055DC7897B82}"/>
              </a:ext>
            </a:extLst>
          </p:cNvPr>
          <p:cNvSpPr/>
          <p:nvPr/>
        </p:nvSpPr>
        <p:spPr>
          <a:xfrm>
            <a:off x="8458200" y="3606800"/>
            <a:ext cx="2895600" cy="457200"/>
          </a:xfrm>
          <a:prstGeom prst="rect">
            <a:avLst/>
          </a:prstGeom>
          <a:solidFill>
            <a:srgbClr val="C9C3B4"/>
          </a:solidFill>
          <a:ln w="9525">
            <a:solidFill>
              <a:srgbClr val="A69E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cxnSp>
        <p:nvCxnSpPr>
          <p:cNvPr id="32" name="Conector recto 31">
            <a:extLst>
              <a:ext uri="{FF2B5EF4-FFF2-40B4-BE49-F238E27FC236}">
                <a16:creationId xmlns:a16="http://schemas.microsoft.com/office/drawing/2014/main" id="{4D6ABFA9-EA4B-BAD9-7699-B13A283A4C2B}"/>
              </a:ext>
            </a:extLst>
          </p:cNvPr>
          <p:cNvCxnSpPr/>
          <p:nvPr/>
        </p:nvCxnSpPr>
        <p:spPr>
          <a:xfrm>
            <a:off x="8458200" y="3606800"/>
            <a:ext cx="0" cy="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CABD54B0-2158-2B61-7C83-B7D7A6FD67EA}"/>
              </a:ext>
            </a:extLst>
          </p:cNvPr>
          <p:cNvCxnSpPr/>
          <p:nvPr/>
        </p:nvCxnSpPr>
        <p:spPr>
          <a:xfrm flipH="1">
            <a:off x="8458200" y="3606800"/>
            <a:ext cx="139700" cy="1397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7948CCAB-9291-BE5F-9834-92C13F97BF2B}"/>
              </a:ext>
            </a:extLst>
          </p:cNvPr>
          <p:cNvCxnSpPr/>
          <p:nvPr/>
        </p:nvCxnSpPr>
        <p:spPr>
          <a:xfrm flipH="1">
            <a:off x="8458200" y="3606800"/>
            <a:ext cx="279400" cy="2794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3BF314D6-64DB-B3B4-72C4-D99068CC1779}"/>
              </a:ext>
            </a:extLst>
          </p:cNvPr>
          <p:cNvCxnSpPr/>
          <p:nvPr/>
        </p:nvCxnSpPr>
        <p:spPr>
          <a:xfrm flipH="1">
            <a:off x="8458200" y="3606800"/>
            <a:ext cx="419100" cy="4191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DCF6A5FC-923A-F471-FEED-A1721E846C91}"/>
              </a:ext>
            </a:extLst>
          </p:cNvPr>
          <p:cNvCxnSpPr/>
          <p:nvPr/>
        </p:nvCxnSpPr>
        <p:spPr>
          <a:xfrm flipH="1">
            <a:off x="85598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75E1CCCD-0A1C-CF3C-0330-4197DE51B9BF}"/>
              </a:ext>
            </a:extLst>
          </p:cNvPr>
          <p:cNvCxnSpPr/>
          <p:nvPr/>
        </p:nvCxnSpPr>
        <p:spPr>
          <a:xfrm flipH="1">
            <a:off x="86995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6708C145-7083-10F7-1564-630588B39F2A}"/>
              </a:ext>
            </a:extLst>
          </p:cNvPr>
          <p:cNvCxnSpPr/>
          <p:nvPr/>
        </p:nvCxnSpPr>
        <p:spPr>
          <a:xfrm flipH="1">
            <a:off x="88392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0BDE9889-CDBE-8EDB-7E04-1F7C97228A1E}"/>
              </a:ext>
            </a:extLst>
          </p:cNvPr>
          <p:cNvCxnSpPr/>
          <p:nvPr/>
        </p:nvCxnSpPr>
        <p:spPr>
          <a:xfrm flipH="1">
            <a:off x="89789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11F8C526-6BB3-0DA2-17F5-1682CC8B8F23}"/>
              </a:ext>
            </a:extLst>
          </p:cNvPr>
          <p:cNvCxnSpPr/>
          <p:nvPr/>
        </p:nvCxnSpPr>
        <p:spPr>
          <a:xfrm flipH="1">
            <a:off x="91186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55BE8F79-8468-4469-600F-A07568EA07AD}"/>
              </a:ext>
            </a:extLst>
          </p:cNvPr>
          <p:cNvCxnSpPr/>
          <p:nvPr/>
        </p:nvCxnSpPr>
        <p:spPr>
          <a:xfrm flipH="1">
            <a:off x="92583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5F8F0F4F-1A65-6FD0-9751-E5E5F10F7D9E}"/>
              </a:ext>
            </a:extLst>
          </p:cNvPr>
          <p:cNvCxnSpPr/>
          <p:nvPr/>
        </p:nvCxnSpPr>
        <p:spPr>
          <a:xfrm flipH="1">
            <a:off x="93980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F9F7116E-D4FD-01A5-B55D-C4E05CD0C586}"/>
              </a:ext>
            </a:extLst>
          </p:cNvPr>
          <p:cNvCxnSpPr/>
          <p:nvPr/>
        </p:nvCxnSpPr>
        <p:spPr>
          <a:xfrm flipH="1">
            <a:off x="95377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77B86FDA-AA5A-A9A9-BEFB-C7338E513E2F}"/>
              </a:ext>
            </a:extLst>
          </p:cNvPr>
          <p:cNvCxnSpPr/>
          <p:nvPr/>
        </p:nvCxnSpPr>
        <p:spPr>
          <a:xfrm flipH="1">
            <a:off x="96774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98EB3963-CB51-B0EB-2546-BF7842C2E43B}"/>
              </a:ext>
            </a:extLst>
          </p:cNvPr>
          <p:cNvCxnSpPr/>
          <p:nvPr/>
        </p:nvCxnSpPr>
        <p:spPr>
          <a:xfrm flipH="1">
            <a:off x="98171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F182459D-029B-E773-D107-B57DE5F842AE}"/>
              </a:ext>
            </a:extLst>
          </p:cNvPr>
          <p:cNvCxnSpPr/>
          <p:nvPr/>
        </p:nvCxnSpPr>
        <p:spPr>
          <a:xfrm flipH="1">
            <a:off x="99568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6E555266-B744-71D2-1104-10912BF99FD0}"/>
              </a:ext>
            </a:extLst>
          </p:cNvPr>
          <p:cNvCxnSpPr/>
          <p:nvPr/>
        </p:nvCxnSpPr>
        <p:spPr>
          <a:xfrm flipH="1">
            <a:off x="100965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EE97A5A8-8C9F-14F1-B6EC-A1DC4EC14B8C}"/>
              </a:ext>
            </a:extLst>
          </p:cNvPr>
          <p:cNvCxnSpPr/>
          <p:nvPr/>
        </p:nvCxnSpPr>
        <p:spPr>
          <a:xfrm flipH="1">
            <a:off x="102362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77090685-E3A0-1CFF-2E82-FA467D09D915}"/>
              </a:ext>
            </a:extLst>
          </p:cNvPr>
          <p:cNvCxnSpPr/>
          <p:nvPr/>
        </p:nvCxnSpPr>
        <p:spPr>
          <a:xfrm flipH="1">
            <a:off x="103759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4BF8FA3C-579A-D644-6D42-E2E4050879D3}"/>
              </a:ext>
            </a:extLst>
          </p:cNvPr>
          <p:cNvCxnSpPr/>
          <p:nvPr/>
        </p:nvCxnSpPr>
        <p:spPr>
          <a:xfrm flipH="1">
            <a:off x="105156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1" name="Conector recto 50">
            <a:extLst>
              <a:ext uri="{FF2B5EF4-FFF2-40B4-BE49-F238E27FC236}">
                <a16:creationId xmlns:a16="http://schemas.microsoft.com/office/drawing/2014/main" id="{E552F4E8-C36E-2C74-36CC-D9F06C861553}"/>
              </a:ext>
            </a:extLst>
          </p:cNvPr>
          <p:cNvCxnSpPr/>
          <p:nvPr/>
        </p:nvCxnSpPr>
        <p:spPr>
          <a:xfrm flipH="1">
            <a:off x="106553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2" name="Conector recto 51">
            <a:extLst>
              <a:ext uri="{FF2B5EF4-FFF2-40B4-BE49-F238E27FC236}">
                <a16:creationId xmlns:a16="http://schemas.microsoft.com/office/drawing/2014/main" id="{D8538657-CA9D-8EA4-5807-0EBF43D06789}"/>
              </a:ext>
            </a:extLst>
          </p:cNvPr>
          <p:cNvCxnSpPr/>
          <p:nvPr/>
        </p:nvCxnSpPr>
        <p:spPr>
          <a:xfrm flipH="1">
            <a:off x="10795000" y="3606800"/>
            <a:ext cx="457200" cy="4572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8FDE546D-3AF0-F7B5-7572-5FA4E42A82DB}"/>
              </a:ext>
            </a:extLst>
          </p:cNvPr>
          <p:cNvCxnSpPr/>
          <p:nvPr/>
        </p:nvCxnSpPr>
        <p:spPr>
          <a:xfrm flipH="1">
            <a:off x="10934700" y="3644900"/>
            <a:ext cx="419100" cy="4191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425D064E-413F-C190-D545-73E11B0BEA2A}"/>
              </a:ext>
            </a:extLst>
          </p:cNvPr>
          <p:cNvCxnSpPr/>
          <p:nvPr/>
        </p:nvCxnSpPr>
        <p:spPr>
          <a:xfrm flipH="1">
            <a:off x="11074400" y="3784600"/>
            <a:ext cx="279400" cy="2794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FA0D6AB9-9E27-4B3C-C58D-618E14C125F7}"/>
              </a:ext>
            </a:extLst>
          </p:cNvPr>
          <p:cNvCxnSpPr/>
          <p:nvPr/>
        </p:nvCxnSpPr>
        <p:spPr>
          <a:xfrm flipH="1">
            <a:off x="11214100" y="3924300"/>
            <a:ext cx="139700" cy="139700"/>
          </a:xfrm>
          <a:prstGeom prst="line">
            <a:avLst/>
          </a:prstGeom>
          <a:ln w="3810">
            <a:solidFill>
              <a:srgbClr val="A69E8C"/>
            </a:solidFill>
            <a:prstDash val="solid"/>
          </a:ln>
        </p:spPr>
        <p:style>
          <a:lnRef idx="1">
            <a:schemeClr val="accent1"/>
          </a:lnRef>
          <a:fillRef idx="0">
            <a:schemeClr val="accent1"/>
          </a:fillRef>
          <a:effectRef idx="0">
            <a:schemeClr val="accent1"/>
          </a:effectRef>
          <a:fontRef idx="minor">
            <a:schemeClr val="tx1"/>
          </a:fontRef>
        </p:style>
      </p:cxnSp>
      <p:sp>
        <p:nvSpPr>
          <p:cNvPr id="56" name="Rectángulo 55">
            <a:extLst>
              <a:ext uri="{FF2B5EF4-FFF2-40B4-BE49-F238E27FC236}">
                <a16:creationId xmlns:a16="http://schemas.microsoft.com/office/drawing/2014/main" id="{701D764D-DE1E-CF82-A4C9-BEAB24EED903}"/>
              </a:ext>
            </a:extLst>
          </p:cNvPr>
          <p:cNvSpPr/>
          <p:nvPr/>
        </p:nvSpPr>
        <p:spPr>
          <a:xfrm>
            <a:off x="8458200" y="3606800"/>
            <a:ext cx="752856" cy="457200"/>
          </a:xfrm>
          <a:prstGeom prst="rect">
            <a:avLst/>
          </a:prstGeom>
          <a:solidFill>
            <a:srgbClr val="F5F2E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cxnSp>
        <p:nvCxnSpPr>
          <p:cNvPr id="57" name="Conector recto 56">
            <a:extLst>
              <a:ext uri="{FF2B5EF4-FFF2-40B4-BE49-F238E27FC236}">
                <a16:creationId xmlns:a16="http://schemas.microsoft.com/office/drawing/2014/main" id="{EBA426FB-92E7-2E87-6EA6-B980E5D0C1D2}"/>
              </a:ext>
            </a:extLst>
          </p:cNvPr>
          <p:cNvCxnSpPr/>
          <p:nvPr/>
        </p:nvCxnSpPr>
        <p:spPr>
          <a:xfrm>
            <a:off x="9211056" y="3606800"/>
            <a:ext cx="0" cy="457200"/>
          </a:xfrm>
          <a:prstGeom prst="line">
            <a:avLst/>
          </a:prstGeom>
          <a:ln w="15240" cap="sq">
            <a:solidFill>
              <a:srgbClr val="8C332B"/>
            </a:solidFill>
            <a:prstDash val="dot"/>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23C5A6DC-C092-4FBE-45CF-FFC2420DC474}"/>
              </a:ext>
            </a:extLst>
          </p:cNvPr>
          <p:cNvCxnSpPr/>
          <p:nvPr/>
        </p:nvCxnSpPr>
        <p:spPr>
          <a:xfrm>
            <a:off x="8458200" y="3441700"/>
            <a:ext cx="0" cy="101600"/>
          </a:xfrm>
          <a:prstGeom prst="line">
            <a:avLst/>
          </a:prstGeom>
          <a:ln w="9525">
            <a:solidFill>
              <a:srgbClr val="8C332B"/>
            </a:solidFill>
            <a:prstDash val="solid"/>
          </a:ln>
        </p:spPr>
        <p:style>
          <a:lnRef idx="1">
            <a:schemeClr val="accent1"/>
          </a:lnRef>
          <a:fillRef idx="0">
            <a:schemeClr val="accent1"/>
          </a:fillRef>
          <a:effectRef idx="0">
            <a:schemeClr val="accent1"/>
          </a:effectRef>
          <a:fontRef idx="minor">
            <a:schemeClr val="tx1"/>
          </a:fontRef>
        </p:style>
      </p:cxnSp>
      <p:cxnSp>
        <p:nvCxnSpPr>
          <p:cNvPr id="59" name="Conector recto 58">
            <a:extLst>
              <a:ext uri="{FF2B5EF4-FFF2-40B4-BE49-F238E27FC236}">
                <a16:creationId xmlns:a16="http://schemas.microsoft.com/office/drawing/2014/main" id="{5D98C462-6D81-D1AD-A8DA-47DE4C877D46}"/>
              </a:ext>
            </a:extLst>
          </p:cNvPr>
          <p:cNvCxnSpPr/>
          <p:nvPr/>
        </p:nvCxnSpPr>
        <p:spPr>
          <a:xfrm>
            <a:off x="9211056" y="3441700"/>
            <a:ext cx="0" cy="101600"/>
          </a:xfrm>
          <a:prstGeom prst="line">
            <a:avLst/>
          </a:prstGeom>
          <a:ln w="9525">
            <a:solidFill>
              <a:srgbClr val="8C332B"/>
            </a:solidFill>
            <a:prstDash val="solid"/>
          </a:ln>
        </p:spPr>
        <p:style>
          <a:lnRef idx="1">
            <a:schemeClr val="accent1"/>
          </a:lnRef>
          <a:fillRef idx="0">
            <a:schemeClr val="accent1"/>
          </a:fillRef>
          <a:effectRef idx="0">
            <a:schemeClr val="accent1"/>
          </a:effectRef>
          <a:fontRef idx="minor">
            <a:schemeClr val="tx1"/>
          </a:fontRef>
        </p:style>
      </p:cxnSp>
      <p:cxnSp>
        <p:nvCxnSpPr>
          <p:cNvPr id="60" name="Conector recto 59">
            <a:extLst>
              <a:ext uri="{FF2B5EF4-FFF2-40B4-BE49-F238E27FC236}">
                <a16:creationId xmlns:a16="http://schemas.microsoft.com/office/drawing/2014/main" id="{F0D36C0C-599F-B6A9-0A75-53C26A1C77B4}"/>
              </a:ext>
            </a:extLst>
          </p:cNvPr>
          <p:cNvCxnSpPr/>
          <p:nvPr/>
        </p:nvCxnSpPr>
        <p:spPr>
          <a:xfrm flipH="1">
            <a:off x="8458200" y="3492500"/>
            <a:ext cx="376428" cy="0"/>
          </a:xfrm>
          <a:prstGeom prst="line">
            <a:avLst/>
          </a:prstGeom>
          <a:ln w="11430">
            <a:solidFill>
              <a:srgbClr val="8C332B"/>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1" name="Conector recto 60">
            <a:extLst>
              <a:ext uri="{FF2B5EF4-FFF2-40B4-BE49-F238E27FC236}">
                <a16:creationId xmlns:a16="http://schemas.microsoft.com/office/drawing/2014/main" id="{2C7DEC03-F49F-F7FC-C3E4-9A8EAAEB9FFF}"/>
              </a:ext>
            </a:extLst>
          </p:cNvPr>
          <p:cNvCxnSpPr/>
          <p:nvPr/>
        </p:nvCxnSpPr>
        <p:spPr>
          <a:xfrm>
            <a:off x="8834628" y="3492500"/>
            <a:ext cx="376428" cy="0"/>
          </a:xfrm>
          <a:prstGeom prst="line">
            <a:avLst/>
          </a:prstGeom>
          <a:ln w="11430">
            <a:solidFill>
              <a:srgbClr val="8C332B"/>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2" name="CuadroTexto 61">
            <a:extLst>
              <a:ext uri="{FF2B5EF4-FFF2-40B4-BE49-F238E27FC236}">
                <a16:creationId xmlns:a16="http://schemas.microsoft.com/office/drawing/2014/main" id="{EAF25047-C4BB-4DAA-39CA-12FD0CA829CE}"/>
              </a:ext>
            </a:extLst>
          </p:cNvPr>
          <p:cNvSpPr txBox="1"/>
          <p:nvPr/>
        </p:nvSpPr>
        <p:spPr>
          <a:xfrm>
            <a:off x="8331200" y="3314700"/>
            <a:ext cx="1006856" cy="152400"/>
          </a:xfrm>
          <a:prstGeom prst="rect">
            <a:avLst/>
          </a:prstGeom>
          <a:noFill/>
        </p:spPr>
        <p:txBody>
          <a:bodyPr vert="horz" wrap="square" lIns="0" tIns="0" rIns="0" bIns="0" rtlCol="0" anchor="t">
            <a:noAutofit/>
          </a:bodyPr>
          <a:lstStyle/>
          <a:p>
            <a:pPr algn="ctr"/>
            <a:r>
              <a:rPr lang="es-BO" sz="700">
                <a:solidFill>
                  <a:srgbClr val="8C332B"/>
                </a:solidFill>
                <a:latin typeface="Segoe UI Semibold" panose="020B0702040204020203" pitchFamily="34" charset="0"/>
              </a:rPr>
              <a:t>12 mm perdidos</a:t>
            </a:r>
          </a:p>
        </p:txBody>
      </p:sp>
      <p:sp>
        <p:nvSpPr>
          <p:cNvPr id="63" name="CuadroTexto 62">
            <a:extLst>
              <a:ext uri="{FF2B5EF4-FFF2-40B4-BE49-F238E27FC236}">
                <a16:creationId xmlns:a16="http://schemas.microsoft.com/office/drawing/2014/main" id="{620A887F-2DB1-5352-D6CA-FF5A60BC0D32}"/>
              </a:ext>
            </a:extLst>
          </p:cNvPr>
          <p:cNvSpPr txBox="1"/>
          <p:nvPr/>
        </p:nvSpPr>
        <p:spPr>
          <a:xfrm>
            <a:off x="8458200" y="4114800"/>
            <a:ext cx="2895600" cy="381000"/>
          </a:xfrm>
          <a:prstGeom prst="rect">
            <a:avLst/>
          </a:prstGeom>
          <a:noFill/>
        </p:spPr>
        <p:txBody>
          <a:bodyPr vert="horz" wrap="square" lIns="0" tIns="0" rIns="0" bIns="0" rtlCol="0" anchor="t">
            <a:noAutofit/>
          </a:bodyPr>
          <a:lstStyle/>
          <a:p>
            <a:pPr algn="ctr"/>
            <a:r>
              <a:rPr lang="es-MX" sz="650">
                <a:solidFill>
                  <a:srgbClr val="8C332B"/>
                </a:solidFill>
                <a:latin typeface="Segoe UI" panose="020B0502040204020203" pitchFamily="34" charset="0"/>
              </a:rPr>
              <a:t>0,857 mm cada año, y no se detiene solo</a:t>
            </a:r>
            <a:endParaRPr lang="es-BO" sz="650">
              <a:solidFill>
                <a:srgbClr val="8C332B"/>
              </a:solidFill>
              <a:latin typeface="Segoe UI" panose="020B0502040204020203" pitchFamily="34" charset="0"/>
            </a:endParaRPr>
          </a:p>
        </p:txBody>
      </p:sp>
      <p:sp>
        <p:nvSpPr>
          <p:cNvPr id="65" name="CuadroTexto 64">
            <a:extLst>
              <a:ext uri="{FF2B5EF4-FFF2-40B4-BE49-F238E27FC236}">
                <a16:creationId xmlns:a16="http://schemas.microsoft.com/office/drawing/2014/main" id="{10D830EC-E8D2-3D32-A91F-D9033722C1B3}"/>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66" name="CuadroTexto 65">
            <a:extLst>
              <a:ext uri="{FF2B5EF4-FFF2-40B4-BE49-F238E27FC236}">
                <a16:creationId xmlns:a16="http://schemas.microsoft.com/office/drawing/2014/main" id="{37331390-B65F-2908-3496-1057248206EB}"/>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Del orden de un milímetro anual, y es una velocidad que </a:t>
            </a:r>
            <a:r>
              <a:rPr lang="es-MX" sz="1050" b="1">
                <a:solidFill>
                  <a:srgbClr val="5A5248"/>
                </a:solidFill>
                <a:latin typeface="Segoe UI Semibold" panose="020B0702040204020203" pitchFamily="34" charset="0"/>
              </a:rPr>
              <a:t>no se autolimita</a:t>
            </a:r>
            <a:r>
              <a:rPr lang="es-MX" sz="1050">
                <a:solidFill>
                  <a:srgbClr val="5A5248"/>
                </a:solidFill>
                <a:latin typeface="Segoe UI" panose="020B0502040204020203" pitchFamily="34" charset="0"/>
              </a:rPr>
              <a:t>: mientras haya agua residual y bóveda húmeda el aporte continúa.</a:t>
            </a:r>
            <a:endParaRPr lang="es-BO" sz="1050">
              <a:solidFill>
                <a:srgbClr val="5A5248"/>
              </a:solidFill>
              <a:latin typeface="Segoe UI" panose="020B0502040204020203" pitchFamily="34" charset="0"/>
            </a:endParaRPr>
          </a:p>
        </p:txBody>
      </p:sp>
      <p:sp>
        <p:nvSpPr>
          <p:cNvPr id="67" name="Resultado_1">
            <a:extLst>
              <a:ext uri="{FF2B5EF4-FFF2-40B4-BE49-F238E27FC236}">
                <a16:creationId xmlns:a16="http://schemas.microsoft.com/office/drawing/2014/main" id="{D01C8296-F7D1-3DFF-EA56-EF6AD28ACFB8}"/>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600">
                <a:solidFill>
                  <a:srgbClr val="FFFFFF"/>
                </a:solidFill>
                <a:latin typeface="Bahnschrift SemiBold" panose="020B0502040204020203" pitchFamily="34" charset="0"/>
              </a:rPr>
              <a:t>v  =  0,857 mm/año  (0,71 a 1,00 según el punto)</a:t>
            </a:r>
            <a:endParaRPr lang="es-BO" sz="1600">
              <a:solidFill>
                <a:srgbClr val="FFFFFF"/>
              </a:solidFill>
              <a:latin typeface="Bahnschrift SemiBold" panose="020B0502040204020203" pitchFamily="34" charset="0"/>
            </a:endParaRPr>
          </a:p>
        </p:txBody>
      </p:sp>
      <p:sp>
        <p:nvSpPr>
          <p:cNvPr id="68" name="CuadroTexto 67">
            <a:extLst>
              <a:ext uri="{FF2B5EF4-FFF2-40B4-BE49-F238E27FC236}">
                <a16:creationId xmlns:a16="http://schemas.microsoft.com/office/drawing/2014/main" id="{DB4C4E65-165D-3C84-34B6-FB5C18D9BF26}"/>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n-US" sz="700">
                <a:solidFill>
                  <a:srgbClr val="938A7C"/>
                </a:solidFill>
                <a:latin typeface="Segoe UI" panose="020B0502040204020203" pitchFamily="34" charset="0"/>
              </a:rPr>
              <a:t>Fuente: ASCE MOP 69, Sulfide in Wastewater Collection and Treatment Systems.</a:t>
            </a:r>
            <a:endParaRPr lang="es-BO" sz="700">
              <a:solidFill>
                <a:srgbClr val="938A7C"/>
              </a:solidFill>
              <a:latin typeface="Segoe UI" panose="020B0502040204020203" pitchFamily="34" charset="0"/>
            </a:endParaRPr>
          </a:p>
        </p:txBody>
      </p:sp>
      <p:cxnSp>
        <p:nvCxnSpPr>
          <p:cNvPr id="69" name="Conector recto 68">
            <a:extLst>
              <a:ext uri="{FF2B5EF4-FFF2-40B4-BE49-F238E27FC236}">
                <a16:creationId xmlns:a16="http://schemas.microsoft.com/office/drawing/2014/main" id="{5C819476-5446-669C-0EC0-1CD4E200CFD1}"/>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70" name="CuadroTexto 69">
            <a:extLst>
              <a:ext uri="{FF2B5EF4-FFF2-40B4-BE49-F238E27FC236}">
                <a16:creationId xmlns:a16="http://schemas.microsoft.com/office/drawing/2014/main" id="{18130967-1A81-D43B-F99B-BAD2B6B5D96D}"/>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71" name="CuadroTexto 70">
            <a:extLst>
              <a:ext uri="{FF2B5EF4-FFF2-40B4-BE49-F238E27FC236}">
                <a16:creationId xmlns:a16="http://schemas.microsoft.com/office/drawing/2014/main" id="{0AE3AF4E-39FE-509A-5ECB-134B91806952}"/>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72" name="PageNo">
            <a:extLst>
              <a:ext uri="{FF2B5EF4-FFF2-40B4-BE49-F238E27FC236}">
                <a16:creationId xmlns:a16="http://schemas.microsoft.com/office/drawing/2014/main" id="{AA6E492D-20AA-F8B1-BD78-B5543026D3A9}"/>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30 / 35</a:t>
            </a:r>
          </a:p>
        </p:txBody>
      </p:sp>
    </p:spTree>
    <p:custDataLst>
      <p:tags r:id="rId1"/>
    </p:custDataLst>
    <p:extLst>
      <p:ext uri="{BB962C8B-B14F-4D97-AF65-F5344CB8AC3E}">
        <p14:creationId xmlns:p14="http://schemas.microsoft.com/office/powerpoint/2010/main" val="401755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C179B5D-DAA6-C520-EDB2-210C52AFE4ED}"/>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CASO 4  ·  PASO 5 DE 5</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625CA7BD-11B0-FE8B-99D0-E59DD501BD9E}"/>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Vida residual del recubrimiento y del muro</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6F465280-2A4A-C2C9-2E8E-8C78B4419523}"/>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A8F83062-930A-EB70-7716-6DB41C11CB84}"/>
              </a:ext>
            </a:extLst>
          </p:cNvPr>
          <p:cNvSpPr txBox="1"/>
          <p:nvPr/>
        </p:nvSpPr>
        <p:spPr>
          <a:xfrm>
            <a:off x="609600" y="1270000"/>
            <a:ext cx="10972800" cy="228600"/>
          </a:xfrm>
          <a:prstGeom prst="rect">
            <a:avLst/>
          </a:prstGeom>
          <a:noFill/>
        </p:spPr>
        <p:txBody>
          <a:bodyPr vert="horz" wrap="square" lIns="0" tIns="0" rIns="0" bIns="0" rtlCol="0" anchor="t">
            <a:noAutofit/>
          </a:bodyPr>
          <a:lstStyle/>
          <a:p>
            <a:pPr algn="ctr"/>
            <a:r>
              <a:rPr lang="es-MX" sz="1150">
                <a:solidFill>
                  <a:srgbClr val="6A4F20"/>
                </a:solidFill>
                <a:latin typeface="Segoe UI Semibold" panose="020B0702040204020203" pitchFamily="34" charset="0"/>
              </a:rPr>
              <a:t>¿Cuántos años faltan para que la armadura quede a la vista? ¿Y qué límite llega antes?</a:t>
            </a:r>
            <a:endParaRPr lang="es-BO" sz="1150">
              <a:solidFill>
                <a:srgbClr val="6A4F20"/>
              </a:solidFill>
              <a:latin typeface="Segoe UI Semibold" panose="020B0702040204020203" pitchFamily="34" charset="0"/>
            </a:endParaRPr>
          </a:p>
        </p:txBody>
      </p:sp>
      <p:sp>
        <p:nvSpPr>
          <p:cNvPr id="7" name="Rectángulo 6">
            <a:extLst>
              <a:ext uri="{FF2B5EF4-FFF2-40B4-BE49-F238E27FC236}">
                <a16:creationId xmlns:a16="http://schemas.microsoft.com/office/drawing/2014/main" id="{572DA613-6F57-25FE-F5CC-435278624053}"/>
              </a:ext>
            </a:extLst>
          </p:cNvPr>
          <p:cNvSpPr/>
          <p:nvPr/>
        </p:nvSpPr>
        <p:spPr>
          <a:xfrm>
            <a:off x="609600" y="1549400"/>
            <a:ext cx="10972800" cy="558800"/>
          </a:xfrm>
          <a:prstGeom prst="rect">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BO" sz="1700">
                <a:solidFill>
                  <a:srgbClr val="FFFFFF"/>
                </a:solidFill>
                <a:latin typeface="Bahnschrift SemiBold" panose="020B0502040204020203" pitchFamily="34" charset="0"/>
              </a:rPr>
              <a:t>t  =  espesor restante  /  v</a:t>
            </a:r>
          </a:p>
        </p:txBody>
      </p:sp>
      <p:sp>
        <p:nvSpPr>
          <p:cNvPr id="9" name="CuadroTexto 8">
            <a:extLst>
              <a:ext uri="{FF2B5EF4-FFF2-40B4-BE49-F238E27FC236}">
                <a16:creationId xmlns:a16="http://schemas.microsoft.com/office/drawing/2014/main" id="{9FD42124-7752-4A70-852D-E8135F784795}"/>
              </a:ext>
            </a:extLst>
          </p:cNvPr>
          <p:cNvSpPr txBox="1"/>
          <p:nvPr/>
        </p:nvSpPr>
        <p:spPr>
          <a:xfrm>
            <a:off x="736600" y="2209800"/>
            <a:ext cx="5080000" cy="152400"/>
          </a:xfrm>
          <a:prstGeom prst="rect">
            <a:avLst/>
          </a:prstGeom>
          <a:noFill/>
        </p:spPr>
        <p:txBody>
          <a:bodyPr vert="horz" wrap="square" lIns="0" tIns="0" rIns="0" bIns="0" rtlCol="0" anchor="t">
            <a:noAutofit/>
          </a:bodyPr>
          <a:lstStyle/>
          <a:p>
            <a:r>
              <a:rPr lang="es-MX" sz="700" spc="120">
                <a:solidFill>
                  <a:srgbClr val="6A4F20"/>
                </a:solidFill>
                <a:latin typeface="Segoe UI Semibold" panose="020B0702040204020203" pitchFamily="34" charset="0"/>
              </a:rPr>
              <a:t>DE DÓNDE SALE LA FÓRMULA</a:t>
            </a:r>
            <a:endParaRPr lang="es-BO" sz="700" spc="120">
              <a:solidFill>
                <a:srgbClr val="6A4F20"/>
              </a:solidFill>
              <a:latin typeface="Segoe UI Semibold" panose="020B0702040204020203" pitchFamily="34" charset="0"/>
            </a:endParaRPr>
          </a:p>
        </p:txBody>
      </p:sp>
      <p:sp>
        <p:nvSpPr>
          <p:cNvPr id="10" name="CuadroTexto 9">
            <a:extLst>
              <a:ext uri="{FF2B5EF4-FFF2-40B4-BE49-F238E27FC236}">
                <a16:creationId xmlns:a16="http://schemas.microsoft.com/office/drawing/2014/main" id="{F1B80437-2050-D84D-4398-FE26D0B4AD0E}"/>
              </a:ext>
            </a:extLst>
          </p:cNvPr>
          <p:cNvSpPr txBox="1"/>
          <p:nvPr/>
        </p:nvSpPr>
        <p:spPr>
          <a:xfrm>
            <a:off x="736600" y="2374900"/>
            <a:ext cx="10845800" cy="4064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La velocidad del paso anterior aplicada hacia adelante. Se evalúan dos estados límite distintos: la exposición de la armadura y la pérdida de sección resistente del muro.</a:t>
            </a:r>
            <a:endParaRPr lang="es-BO" sz="90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E38B8F2B-35B8-7A2A-BB9A-FAD5A2B2B124}"/>
              </a:ext>
            </a:extLst>
          </p:cNvPr>
          <p:cNvSpPr txBox="1"/>
          <p:nvPr/>
        </p:nvSpPr>
        <p:spPr>
          <a:xfrm>
            <a:off x="609600" y="2844800"/>
            <a:ext cx="3581400" cy="152400"/>
          </a:xfrm>
          <a:prstGeom prst="rect">
            <a:avLst/>
          </a:prstGeom>
          <a:noFill/>
        </p:spPr>
        <p:txBody>
          <a:bodyPr vert="horz" wrap="square" lIns="0" tIns="0" rIns="0" bIns="0" rtlCol="0" anchor="t">
            <a:noAutofit/>
          </a:bodyPr>
          <a:lstStyle/>
          <a:p>
            <a:pPr algn="l"/>
            <a:r>
              <a:rPr lang="es-BO" sz="700">
                <a:solidFill>
                  <a:srgbClr val="6A4F20"/>
                </a:solidFill>
                <a:latin typeface="Segoe UI Semibold" panose="020B0702040204020203" pitchFamily="34" charset="0"/>
              </a:rPr>
              <a:t>LOS DATOS QUE ENTRAN</a:t>
            </a:r>
          </a:p>
        </p:txBody>
      </p:sp>
      <p:sp>
        <p:nvSpPr>
          <p:cNvPr id="13" name="CuadroTexto 12">
            <a:extLst>
              <a:ext uri="{FF2B5EF4-FFF2-40B4-BE49-F238E27FC236}">
                <a16:creationId xmlns:a16="http://schemas.microsoft.com/office/drawing/2014/main" id="{229CA84A-E87E-232B-0A47-5D099750E06A}"/>
              </a:ext>
            </a:extLst>
          </p:cNvPr>
          <p:cNvSpPr txBox="1"/>
          <p:nvPr/>
        </p:nvSpPr>
        <p:spPr>
          <a:xfrm>
            <a:off x="762000" y="30480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Recubrimiento 30 mm</a:t>
            </a:r>
          </a:p>
        </p:txBody>
      </p:sp>
      <p:sp>
        <p:nvSpPr>
          <p:cNvPr id="14" name="CuadroTexto 13">
            <a:extLst>
              <a:ext uri="{FF2B5EF4-FFF2-40B4-BE49-F238E27FC236}">
                <a16:creationId xmlns:a16="http://schemas.microsoft.com/office/drawing/2014/main" id="{53B9E5DD-CE16-A3E6-8F11-56728CED8295}"/>
              </a:ext>
            </a:extLst>
          </p:cNvPr>
          <p:cNvSpPr txBox="1"/>
          <p:nvPr/>
        </p:nvSpPr>
        <p:spPr>
          <a:xfrm>
            <a:off x="762000" y="32131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De proyecto, comprobado con pacómetro en zona no atacada de la misma cámara.</a:t>
            </a:r>
            <a:endParaRPr lang="es-BO" sz="850">
              <a:solidFill>
                <a:srgbClr val="5A5248"/>
              </a:solidFill>
              <a:latin typeface="Segoe UI" panose="020B0502040204020203" pitchFamily="34" charset="0"/>
            </a:endParaRPr>
          </a:p>
        </p:txBody>
      </p:sp>
      <p:sp>
        <p:nvSpPr>
          <p:cNvPr id="16" name="CuadroTexto 15">
            <a:extLst>
              <a:ext uri="{FF2B5EF4-FFF2-40B4-BE49-F238E27FC236}">
                <a16:creationId xmlns:a16="http://schemas.microsoft.com/office/drawing/2014/main" id="{374CC349-C971-932C-EC45-7F5AD465564B}"/>
              </a:ext>
            </a:extLst>
          </p:cNvPr>
          <p:cNvSpPr txBox="1"/>
          <p:nvPr/>
        </p:nvSpPr>
        <p:spPr>
          <a:xfrm>
            <a:off x="762000" y="36703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Ya perdidos: 12 mm</a:t>
            </a:r>
          </a:p>
        </p:txBody>
      </p:sp>
      <p:sp>
        <p:nvSpPr>
          <p:cNvPr id="17" name="CuadroTexto 16">
            <a:extLst>
              <a:ext uri="{FF2B5EF4-FFF2-40B4-BE49-F238E27FC236}">
                <a16:creationId xmlns:a16="http://schemas.microsoft.com/office/drawing/2014/main" id="{0EFD5E4C-16F7-7127-60FB-ED1456DE6B68}"/>
              </a:ext>
            </a:extLst>
          </p:cNvPr>
          <p:cNvSpPr txBox="1"/>
          <p:nvPr/>
        </p:nvSpPr>
        <p:spPr>
          <a:xfrm>
            <a:off x="762000" y="38354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Del paso 4. Restan 18 mm hasta alcanzar la armadura.</a:t>
            </a:r>
            <a:endParaRPr lang="es-BO" sz="850">
              <a:solidFill>
                <a:srgbClr val="5A5248"/>
              </a:solidFill>
              <a:latin typeface="Segoe UI" panose="020B0502040204020203" pitchFamily="34" charset="0"/>
            </a:endParaRPr>
          </a:p>
        </p:txBody>
      </p:sp>
      <p:sp>
        <p:nvSpPr>
          <p:cNvPr id="19" name="CuadroTexto 18">
            <a:extLst>
              <a:ext uri="{FF2B5EF4-FFF2-40B4-BE49-F238E27FC236}">
                <a16:creationId xmlns:a16="http://schemas.microsoft.com/office/drawing/2014/main" id="{2B870E57-B1CF-ECCA-78A6-22C3CC0EC41F}"/>
              </a:ext>
            </a:extLst>
          </p:cNvPr>
          <p:cNvSpPr txBox="1"/>
          <p:nvPr/>
        </p:nvSpPr>
        <p:spPr>
          <a:xfrm>
            <a:off x="762000" y="4292600"/>
            <a:ext cx="3429000" cy="1651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Espesor del muro: 200 mm</a:t>
            </a:r>
          </a:p>
        </p:txBody>
      </p:sp>
      <p:sp>
        <p:nvSpPr>
          <p:cNvPr id="20" name="CuadroTexto 19">
            <a:extLst>
              <a:ext uri="{FF2B5EF4-FFF2-40B4-BE49-F238E27FC236}">
                <a16:creationId xmlns:a16="http://schemas.microsoft.com/office/drawing/2014/main" id="{FC702E9D-2365-E3C6-76D9-5EEDE3FAD9F6}"/>
              </a:ext>
            </a:extLst>
          </p:cNvPr>
          <p:cNvSpPr txBox="1"/>
          <p:nvPr/>
        </p:nvSpPr>
        <p:spPr>
          <a:xfrm>
            <a:off x="762000" y="4457700"/>
            <a:ext cx="3429000" cy="317500"/>
          </a:xfrm>
          <a:prstGeom prst="rect">
            <a:avLst/>
          </a:prstGeom>
          <a:noFill/>
        </p:spPr>
        <p:txBody>
          <a:bodyPr vert="horz" wrap="square" lIns="0" tIns="0" rIns="0" bIns="0" rtlCol="0" anchor="t">
            <a:noAutofit/>
          </a:bodyPr>
          <a:lstStyle/>
          <a:p>
            <a:pPr algn="l"/>
            <a:r>
              <a:rPr lang="es-MX" sz="850">
                <a:solidFill>
                  <a:srgbClr val="5A5248"/>
                </a:solidFill>
                <a:latin typeface="Segoe UI" panose="020B0502040204020203" pitchFamily="34" charset="0"/>
              </a:rPr>
              <a:t>Segundo estado límite: la pérdida de sección del elemento, que es el que gobierna.</a:t>
            </a:r>
            <a:endParaRPr lang="es-BO" sz="850">
              <a:solidFill>
                <a:srgbClr val="5A5248"/>
              </a:solidFill>
              <a:latin typeface="Segoe UI" panose="020B0502040204020203" pitchFamily="34" charset="0"/>
            </a:endParaRPr>
          </a:p>
        </p:txBody>
      </p:sp>
      <p:sp>
        <p:nvSpPr>
          <p:cNvPr id="21" name="CuadroTexto 20">
            <a:extLst>
              <a:ext uri="{FF2B5EF4-FFF2-40B4-BE49-F238E27FC236}">
                <a16:creationId xmlns:a16="http://schemas.microsoft.com/office/drawing/2014/main" id="{5981AC75-D694-A066-FBB0-E7964911E95B}"/>
              </a:ext>
            </a:extLst>
          </p:cNvPr>
          <p:cNvSpPr txBox="1"/>
          <p:nvPr/>
        </p:nvSpPr>
        <p:spPr>
          <a:xfrm>
            <a:off x="4495800" y="2844800"/>
            <a:ext cx="3429000" cy="152400"/>
          </a:xfrm>
          <a:prstGeom prst="rect">
            <a:avLst/>
          </a:prstGeom>
          <a:noFill/>
        </p:spPr>
        <p:txBody>
          <a:bodyPr vert="horz" wrap="square" lIns="0" tIns="0" rIns="0" bIns="0" rtlCol="0" anchor="t">
            <a:noAutofit/>
          </a:bodyPr>
          <a:lstStyle/>
          <a:p>
            <a:pPr algn="l"/>
            <a:r>
              <a:rPr lang="es-MX" sz="700">
                <a:solidFill>
                  <a:srgbClr val="6A4F20"/>
                </a:solidFill>
                <a:latin typeface="Segoe UI Semibold" panose="020B0702040204020203" pitchFamily="34" charset="0"/>
              </a:rPr>
              <a:t>LA CUENTA, PASO A PASO</a:t>
            </a:r>
            <a:endParaRPr lang="es-BO" sz="700">
              <a:solidFill>
                <a:srgbClr val="6A4F20"/>
              </a:solidFill>
              <a:latin typeface="Segoe UI Semibold" panose="020B0702040204020203" pitchFamily="34" charset="0"/>
            </a:endParaRPr>
          </a:p>
        </p:txBody>
      </p:sp>
      <p:sp>
        <p:nvSpPr>
          <p:cNvPr id="22" name="Rectángulo 21">
            <a:extLst>
              <a:ext uri="{FF2B5EF4-FFF2-40B4-BE49-F238E27FC236}">
                <a16:creationId xmlns:a16="http://schemas.microsoft.com/office/drawing/2014/main" id="{D4D6AFE7-F5B0-8CA6-6B6E-5D97B4FD4309}"/>
              </a:ext>
            </a:extLst>
          </p:cNvPr>
          <p:cNvSpPr/>
          <p:nvPr/>
        </p:nvSpPr>
        <p:spPr>
          <a:xfrm>
            <a:off x="4495800" y="3048000"/>
            <a:ext cx="3429000" cy="1879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3" name="CuadroTexto 22">
            <a:extLst>
              <a:ext uri="{FF2B5EF4-FFF2-40B4-BE49-F238E27FC236}">
                <a16:creationId xmlns:a16="http://schemas.microsoft.com/office/drawing/2014/main" id="{8E7A3682-C47B-F629-C8FE-5AD084E54BA6}"/>
              </a:ext>
            </a:extLst>
          </p:cNvPr>
          <p:cNvSpPr txBox="1"/>
          <p:nvPr/>
        </p:nvSpPr>
        <p:spPr>
          <a:xfrm>
            <a:off x="4648200" y="3162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restante  =  30 − 12  =  18 mm</a:t>
            </a:r>
          </a:p>
        </p:txBody>
      </p:sp>
      <p:sp>
        <p:nvSpPr>
          <p:cNvPr id="24" name="CuadroTexto 23">
            <a:extLst>
              <a:ext uri="{FF2B5EF4-FFF2-40B4-BE49-F238E27FC236}">
                <a16:creationId xmlns:a16="http://schemas.microsoft.com/office/drawing/2014/main" id="{7BCFE63C-F8C7-3A04-30DA-6AFE2776B95C}"/>
              </a:ext>
            </a:extLst>
          </p:cNvPr>
          <p:cNvSpPr txBox="1"/>
          <p:nvPr/>
        </p:nvSpPr>
        <p:spPr>
          <a:xfrm>
            <a:off x="4648200" y="34798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t  =  18 / 0,857  =  21,0 años</a:t>
            </a:r>
          </a:p>
        </p:txBody>
      </p:sp>
      <p:sp>
        <p:nvSpPr>
          <p:cNvPr id="25" name="CuadroTexto 24">
            <a:extLst>
              <a:ext uri="{FF2B5EF4-FFF2-40B4-BE49-F238E27FC236}">
                <a16:creationId xmlns:a16="http://schemas.microsoft.com/office/drawing/2014/main" id="{18A0753D-E63E-E332-4218-819F077FB4F9}"/>
              </a:ext>
            </a:extLst>
          </p:cNvPr>
          <p:cNvSpPr txBox="1"/>
          <p:nvPr/>
        </p:nvSpPr>
        <p:spPr>
          <a:xfrm>
            <a:off x="4648200" y="3797300"/>
            <a:ext cx="3124200" cy="292100"/>
          </a:xfrm>
          <a:prstGeom prst="rect">
            <a:avLst/>
          </a:prstGeom>
          <a:noFill/>
        </p:spPr>
        <p:txBody>
          <a:bodyPr vert="horz" wrap="square" lIns="0" tIns="0" rIns="0" bIns="0" rtlCol="0" anchor="t">
            <a:noAutofit/>
          </a:bodyPr>
          <a:lstStyle/>
          <a:p>
            <a:pPr algn="l"/>
            <a:r>
              <a:rPr lang="es-BO" sz="1150">
                <a:solidFill>
                  <a:srgbClr val="241F18"/>
                </a:solidFill>
                <a:latin typeface="Segoe UI" panose="020B0502040204020203" pitchFamily="34" charset="0"/>
              </a:rPr>
              <a:t>2026 + 21  =  2047</a:t>
            </a:r>
          </a:p>
        </p:txBody>
      </p:sp>
      <p:sp>
        <p:nvSpPr>
          <p:cNvPr id="26" name="CuadroTexto 25">
            <a:extLst>
              <a:ext uri="{FF2B5EF4-FFF2-40B4-BE49-F238E27FC236}">
                <a16:creationId xmlns:a16="http://schemas.microsoft.com/office/drawing/2014/main" id="{6FFCC6D0-3F5B-C75A-8ADE-39BC03DAC262}"/>
              </a:ext>
            </a:extLst>
          </p:cNvPr>
          <p:cNvSpPr txBox="1"/>
          <p:nvPr/>
        </p:nvSpPr>
        <p:spPr>
          <a:xfrm>
            <a:off x="4648200" y="4114800"/>
            <a:ext cx="3124200" cy="292100"/>
          </a:xfrm>
          <a:prstGeom prst="rect">
            <a:avLst/>
          </a:prstGeom>
          <a:noFill/>
        </p:spPr>
        <p:txBody>
          <a:bodyPr vert="horz" wrap="square" lIns="0" tIns="0" rIns="0" bIns="0" rtlCol="0" anchor="t">
            <a:noAutofit/>
          </a:bodyPr>
          <a:lstStyle/>
          <a:p>
            <a:endParaRPr lang="es-BO" sz="1150">
              <a:solidFill>
                <a:srgbClr val="241F18"/>
              </a:solidFill>
              <a:latin typeface="Segoe UI" panose="020B0502040204020203" pitchFamily="34" charset="0"/>
            </a:endParaRPr>
          </a:p>
        </p:txBody>
      </p:sp>
      <p:sp>
        <p:nvSpPr>
          <p:cNvPr id="27" name="CuadroTexto 26">
            <a:extLst>
              <a:ext uri="{FF2B5EF4-FFF2-40B4-BE49-F238E27FC236}">
                <a16:creationId xmlns:a16="http://schemas.microsoft.com/office/drawing/2014/main" id="{B9D2D763-142D-B27D-2AD7-1B303C99C70C}"/>
              </a:ext>
            </a:extLst>
          </p:cNvPr>
          <p:cNvSpPr txBox="1"/>
          <p:nvPr/>
        </p:nvSpPr>
        <p:spPr>
          <a:xfrm>
            <a:off x="4648200" y="4432300"/>
            <a:ext cx="3124200" cy="292100"/>
          </a:xfrm>
          <a:prstGeom prst="rect">
            <a:avLst/>
          </a:prstGeom>
          <a:noFill/>
        </p:spPr>
        <p:txBody>
          <a:bodyPr vert="horz" wrap="square" lIns="0" tIns="0" rIns="0" bIns="0" rtlCol="0" anchor="t">
            <a:noAutofit/>
          </a:bodyPr>
          <a:lstStyle/>
          <a:p>
            <a:pPr algn="l"/>
            <a:r>
              <a:rPr lang="es-MX" sz="1150">
                <a:solidFill>
                  <a:srgbClr val="241F18"/>
                </a:solidFill>
                <a:latin typeface="Segoe UI" panose="020B0502040204020203" pitchFamily="34" charset="0"/>
              </a:rPr>
              <a:t>en 50 años:  42,9 / 200  =  21 % del muro</a:t>
            </a:r>
            <a:endParaRPr lang="es-BO" sz="1150">
              <a:solidFill>
                <a:srgbClr val="241F18"/>
              </a:solidFill>
              <a:latin typeface="Segoe UI" panose="020B0502040204020203" pitchFamily="34" charset="0"/>
            </a:endParaRPr>
          </a:p>
        </p:txBody>
      </p:sp>
      <p:sp>
        <p:nvSpPr>
          <p:cNvPr id="28" name="Rectángulo 27">
            <a:extLst>
              <a:ext uri="{FF2B5EF4-FFF2-40B4-BE49-F238E27FC236}">
                <a16:creationId xmlns:a16="http://schemas.microsoft.com/office/drawing/2014/main" id="{D76BC144-5BEB-B5A1-0272-3C5562B0020E}"/>
              </a:ext>
            </a:extLst>
          </p:cNvPr>
          <p:cNvSpPr/>
          <p:nvPr/>
        </p:nvSpPr>
        <p:spPr>
          <a:xfrm>
            <a:off x="8229600" y="3048000"/>
            <a:ext cx="3352800" cy="13208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2D94E67A-AF5F-8BE7-CF82-0156DDFB2982}"/>
              </a:ext>
            </a:extLst>
          </p:cNvPr>
          <p:cNvSpPr txBox="1"/>
          <p:nvPr/>
        </p:nvSpPr>
        <p:spPr>
          <a:xfrm>
            <a:off x="8432800" y="3162300"/>
            <a:ext cx="2971800" cy="165100"/>
          </a:xfrm>
          <a:prstGeom prst="rect">
            <a:avLst/>
          </a:prstGeom>
          <a:noFill/>
        </p:spPr>
        <p:txBody>
          <a:bodyPr vert="horz" wrap="square" lIns="0" tIns="0" rIns="0" bIns="0" rtlCol="0" anchor="t">
            <a:noAutofit/>
          </a:bodyPr>
          <a:lstStyle/>
          <a:p>
            <a:r>
              <a:rPr lang="es-MX" sz="750" spc="160">
                <a:solidFill>
                  <a:srgbClr val="6A4F20"/>
                </a:solidFill>
                <a:latin typeface="Segoe UI Semibold" panose="020B0702040204020203" pitchFamily="34" charset="0"/>
              </a:rPr>
              <a:t>CUÁNDO QUEDA LA ARMADURA A LA VISTA</a:t>
            </a:r>
            <a:endParaRPr lang="es-BO" sz="750" spc="160">
              <a:solidFill>
                <a:srgbClr val="6A4F20"/>
              </a:solidFill>
              <a:latin typeface="Segoe UI Semibold" panose="020B0702040204020203" pitchFamily="34" charset="0"/>
            </a:endParaRPr>
          </a:p>
        </p:txBody>
      </p:sp>
      <p:cxnSp>
        <p:nvCxnSpPr>
          <p:cNvPr id="31" name="Conector recto 30">
            <a:extLst>
              <a:ext uri="{FF2B5EF4-FFF2-40B4-BE49-F238E27FC236}">
                <a16:creationId xmlns:a16="http://schemas.microsoft.com/office/drawing/2014/main" id="{1BD15E58-14CD-5267-1A6A-D2AF1189FCC3}"/>
              </a:ext>
            </a:extLst>
          </p:cNvPr>
          <p:cNvCxnSpPr/>
          <p:nvPr/>
        </p:nvCxnSpPr>
        <p:spPr>
          <a:xfrm>
            <a:off x="8483600" y="3784600"/>
            <a:ext cx="2844800" cy="0"/>
          </a:xfrm>
          <a:prstGeom prst="line">
            <a:avLst/>
          </a:prstGeom>
          <a:ln w="317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32" name="Rectángulo 31">
            <a:extLst>
              <a:ext uri="{FF2B5EF4-FFF2-40B4-BE49-F238E27FC236}">
                <a16:creationId xmlns:a16="http://schemas.microsoft.com/office/drawing/2014/main" id="{5D6AF9DB-3D9B-E370-1DC8-A79A4DB73263}"/>
              </a:ext>
            </a:extLst>
          </p:cNvPr>
          <p:cNvSpPr/>
          <p:nvPr/>
        </p:nvSpPr>
        <p:spPr>
          <a:xfrm>
            <a:off x="8483600" y="3746500"/>
            <a:ext cx="1137920" cy="76200"/>
          </a:xfrm>
          <a:prstGeom prst="rect">
            <a:avLst/>
          </a:prstGeom>
          <a:solidFill>
            <a:srgbClr val="8C33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3" name="Rectángulo 32">
            <a:extLst>
              <a:ext uri="{FF2B5EF4-FFF2-40B4-BE49-F238E27FC236}">
                <a16:creationId xmlns:a16="http://schemas.microsoft.com/office/drawing/2014/main" id="{FA80B95F-81F8-61C3-3C81-EB516A7EFE33}"/>
              </a:ext>
            </a:extLst>
          </p:cNvPr>
          <p:cNvSpPr/>
          <p:nvPr/>
        </p:nvSpPr>
        <p:spPr>
          <a:xfrm>
            <a:off x="9621520" y="3746500"/>
            <a:ext cx="1706880" cy="76200"/>
          </a:xfrm>
          <a:prstGeom prst="rect">
            <a:avLst/>
          </a:prstGeom>
          <a:solidFill>
            <a:srgbClr val="F0E7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4" name="Elipse 33">
            <a:extLst>
              <a:ext uri="{FF2B5EF4-FFF2-40B4-BE49-F238E27FC236}">
                <a16:creationId xmlns:a16="http://schemas.microsoft.com/office/drawing/2014/main" id="{DAE4583A-29E9-D2F7-C7AA-B1BB02A911B9}"/>
              </a:ext>
            </a:extLst>
          </p:cNvPr>
          <p:cNvSpPr/>
          <p:nvPr/>
        </p:nvSpPr>
        <p:spPr>
          <a:xfrm>
            <a:off x="8445500" y="3746500"/>
            <a:ext cx="76200" cy="762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BO" sz="500">
              <a:solidFill>
                <a:srgbClr val="FFFFFF"/>
              </a:solidFill>
              <a:latin typeface="Bahnschrift SemiBold" panose="020B0502040204020203" pitchFamily="34" charset="0"/>
            </a:endParaRPr>
          </a:p>
        </p:txBody>
      </p:sp>
      <p:sp>
        <p:nvSpPr>
          <p:cNvPr id="35" name="CuadroTexto 34">
            <a:extLst>
              <a:ext uri="{FF2B5EF4-FFF2-40B4-BE49-F238E27FC236}">
                <a16:creationId xmlns:a16="http://schemas.microsoft.com/office/drawing/2014/main" id="{B73337F8-A012-0C0F-4DC1-EB7FE78223CA}"/>
              </a:ext>
            </a:extLst>
          </p:cNvPr>
          <p:cNvSpPr txBox="1"/>
          <p:nvPr/>
        </p:nvSpPr>
        <p:spPr>
          <a:xfrm>
            <a:off x="8128000" y="3543300"/>
            <a:ext cx="711200" cy="152400"/>
          </a:xfrm>
          <a:prstGeom prst="rect">
            <a:avLst/>
          </a:prstGeom>
          <a:noFill/>
        </p:spPr>
        <p:txBody>
          <a:bodyPr vert="horz" wrap="square" lIns="0" tIns="0" rIns="0" bIns="0" rtlCol="0" anchor="t">
            <a:noAutofit/>
          </a:bodyPr>
          <a:lstStyle/>
          <a:p>
            <a:pPr algn="ctr"/>
            <a:r>
              <a:rPr lang="es-BO" sz="650">
                <a:solidFill>
                  <a:srgbClr val="1C1813"/>
                </a:solidFill>
                <a:latin typeface="Segoe UI Semibold" panose="020B0702040204020203" pitchFamily="34" charset="0"/>
              </a:rPr>
              <a:t>2012</a:t>
            </a:r>
          </a:p>
        </p:txBody>
      </p:sp>
      <p:sp>
        <p:nvSpPr>
          <p:cNvPr id="36" name="Elipse 35">
            <a:extLst>
              <a:ext uri="{FF2B5EF4-FFF2-40B4-BE49-F238E27FC236}">
                <a16:creationId xmlns:a16="http://schemas.microsoft.com/office/drawing/2014/main" id="{FF9D3C65-FC66-0946-4194-A3894EC5350A}"/>
              </a:ext>
            </a:extLst>
          </p:cNvPr>
          <p:cNvSpPr/>
          <p:nvPr/>
        </p:nvSpPr>
        <p:spPr>
          <a:xfrm>
            <a:off x="9583420" y="3746500"/>
            <a:ext cx="76200" cy="762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BO" sz="500">
              <a:solidFill>
                <a:srgbClr val="FFFFFF"/>
              </a:solidFill>
              <a:latin typeface="Bahnschrift SemiBold" panose="020B0502040204020203" pitchFamily="34" charset="0"/>
            </a:endParaRPr>
          </a:p>
        </p:txBody>
      </p:sp>
      <p:sp>
        <p:nvSpPr>
          <p:cNvPr id="37" name="CuadroTexto 36">
            <a:extLst>
              <a:ext uri="{FF2B5EF4-FFF2-40B4-BE49-F238E27FC236}">
                <a16:creationId xmlns:a16="http://schemas.microsoft.com/office/drawing/2014/main" id="{0F66672F-6226-8B4D-4314-EFC27E024669}"/>
              </a:ext>
            </a:extLst>
          </p:cNvPr>
          <p:cNvSpPr txBox="1"/>
          <p:nvPr/>
        </p:nvSpPr>
        <p:spPr>
          <a:xfrm>
            <a:off x="9265920" y="3543300"/>
            <a:ext cx="711200" cy="152400"/>
          </a:xfrm>
          <a:prstGeom prst="rect">
            <a:avLst/>
          </a:prstGeom>
          <a:noFill/>
        </p:spPr>
        <p:txBody>
          <a:bodyPr vert="horz" wrap="square" lIns="0" tIns="0" rIns="0" bIns="0" rtlCol="0" anchor="t">
            <a:noAutofit/>
          </a:bodyPr>
          <a:lstStyle/>
          <a:p>
            <a:pPr algn="ctr"/>
            <a:r>
              <a:rPr lang="es-BO" sz="650">
                <a:solidFill>
                  <a:srgbClr val="1C1813"/>
                </a:solidFill>
                <a:latin typeface="Segoe UI Semibold" panose="020B0702040204020203" pitchFamily="34" charset="0"/>
              </a:rPr>
              <a:t>2026</a:t>
            </a:r>
          </a:p>
        </p:txBody>
      </p:sp>
      <p:sp>
        <p:nvSpPr>
          <p:cNvPr id="38" name="Elipse 37">
            <a:extLst>
              <a:ext uri="{FF2B5EF4-FFF2-40B4-BE49-F238E27FC236}">
                <a16:creationId xmlns:a16="http://schemas.microsoft.com/office/drawing/2014/main" id="{1DCC9C88-B9BA-5BA6-07D5-1FF71FA867E0}"/>
              </a:ext>
            </a:extLst>
          </p:cNvPr>
          <p:cNvSpPr/>
          <p:nvPr/>
        </p:nvSpPr>
        <p:spPr>
          <a:xfrm>
            <a:off x="11290300" y="3746500"/>
            <a:ext cx="76200" cy="76200"/>
          </a:xfrm>
          <a:prstGeom prst="ellipse">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BO" sz="500">
              <a:solidFill>
                <a:srgbClr val="FFFFFF"/>
              </a:solidFill>
              <a:latin typeface="Bahnschrift SemiBold" panose="020B0502040204020203" pitchFamily="34" charset="0"/>
            </a:endParaRPr>
          </a:p>
        </p:txBody>
      </p:sp>
      <p:sp>
        <p:nvSpPr>
          <p:cNvPr id="39" name="CuadroTexto 38">
            <a:extLst>
              <a:ext uri="{FF2B5EF4-FFF2-40B4-BE49-F238E27FC236}">
                <a16:creationId xmlns:a16="http://schemas.microsoft.com/office/drawing/2014/main" id="{9958F73A-C930-1D04-A5D6-BD0198774260}"/>
              </a:ext>
            </a:extLst>
          </p:cNvPr>
          <p:cNvSpPr txBox="1"/>
          <p:nvPr/>
        </p:nvSpPr>
        <p:spPr>
          <a:xfrm>
            <a:off x="10972800" y="3543300"/>
            <a:ext cx="711200" cy="152400"/>
          </a:xfrm>
          <a:prstGeom prst="rect">
            <a:avLst/>
          </a:prstGeom>
          <a:noFill/>
        </p:spPr>
        <p:txBody>
          <a:bodyPr vert="horz" wrap="square" lIns="0" tIns="0" rIns="0" bIns="0" rtlCol="0" anchor="t">
            <a:noAutofit/>
          </a:bodyPr>
          <a:lstStyle/>
          <a:p>
            <a:pPr algn="ctr"/>
            <a:r>
              <a:rPr lang="es-BO" sz="650">
                <a:solidFill>
                  <a:srgbClr val="1C1813"/>
                </a:solidFill>
                <a:latin typeface="Segoe UI Semibold" panose="020B0702040204020203" pitchFamily="34" charset="0"/>
              </a:rPr>
              <a:t>2047</a:t>
            </a:r>
          </a:p>
        </p:txBody>
      </p:sp>
      <p:sp>
        <p:nvSpPr>
          <p:cNvPr id="40" name="CuadroTexto 39">
            <a:extLst>
              <a:ext uri="{FF2B5EF4-FFF2-40B4-BE49-F238E27FC236}">
                <a16:creationId xmlns:a16="http://schemas.microsoft.com/office/drawing/2014/main" id="{2F484D90-A77D-E776-7AEE-FAC7AE547800}"/>
              </a:ext>
            </a:extLst>
          </p:cNvPr>
          <p:cNvSpPr txBox="1"/>
          <p:nvPr/>
        </p:nvSpPr>
        <p:spPr>
          <a:xfrm>
            <a:off x="8407400" y="3937000"/>
            <a:ext cx="2997200" cy="381000"/>
          </a:xfrm>
          <a:prstGeom prst="rect">
            <a:avLst/>
          </a:prstGeom>
          <a:noFill/>
        </p:spPr>
        <p:txBody>
          <a:bodyPr vert="horz" wrap="square" lIns="0" tIns="0" rIns="0" bIns="0" rtlCol="0" anchor="t">
            <a:noAutofit/>
          </a:bodyPr>
          <a:lstStyle/>
          <a:p>
            <a:pPr algn="ctr"/>
            <a:r>
              <a:rPr lang="es-MX" sz="650">
                <a:solidFill>
                  <a:srgbClr val="5A5248"/>
                </a:solidFill>
                <a:latin typeface="Segoe UI" panose="020B0502040204020203" pitchFamily="34" charset="0"/>
              </a:rPr>
              <a:t>quedan 18 mm de recubrimiento  ·  21,0 años</a:t>
            </a:r>
            <a:endParaRPr lang="es-BO" sz="650">
              <a:solidFill>
                <a:srgbClr val="5A5248"/>
              </a:solidFill>
              <a:latin typeface="Segoe UI" panose="020B0502040204020203" pitchFamily="34" charset="0"/>
            </a:endParaRPr>
          </a:p>
        </p:txBody>
      </p:sp>
      <p:sp>
        <p:nvSpPr>
          <p:cNvPr id="42" name="CuadroTexto 41">
            <a:extLst>
              <a:ext uri="{FF2B5EF4-FFF2-40B4-BE49-F238E27FC236}">
                <a16:creationId xmlns:a16="http://schemas.microsoft.com/office/drawing/2014/main" id="{65682D74-6908-788A-DC47-6CAD90C3BC00}"/>
              </a:ext>
            </a:extLst>
          </p:cNvPr>
          <p:cNvSpPr txBox="1"/>
          <p:nvPr/>
        </p:nvSpPr>
        <p:spPr>
          <a:xfrm>
            <a:off x="736600" y="5029200"/>
            <a:ext cx="5080000" cy="152400"/>
          </a:xfrm>
          <a:prstGeom prst="rect">
            <a:avLst/>
          </a:prstGeom>
          <a:noFill/>
        </p:spPr>
        <p:txBody>
          <a:bodyPr vert="horz" wrap="square" lIns="0" tIns="0" rIns="0" bIns="0" rtlCol="0" anchor="t">
            <a:noAutofit/>
          </a:bodyPr>
          <a:lstStyle/>
          <a:p>
            <a:r>
              <a:rPr lang="es-BO" sz="700" spc="120">
                <a:solidFill>
                  <a:srgbClr val="6A4F20"/>
                </a:solidFill>
                <a:latin typeface="Segoe UI Semibold" panose="020B0702040204020203" pitchFamily="34" charset="0"/>
              </a:rPr>
              <a:t>QUÉ SIGNIFICA ESTE NÚMERO</a:t>
            </a:r>
          </a:p>
        </p:txBody>
      </p:sp>
      <p:sp>
        <p:nvSpPr>
          <p:cNvPr id="43" name="CuadroTexto 42">
            <a:extLst>
              <a:ext uri="{FF2B5EF4-FFF2-40B4-BE49-F238E27FC236}">
                <a16:creationId xmlns:a16="http://schemas.microsoft.com/office/drawing/2014/main" id="{49B309C6-E34E-1333-B438-22D494AD82A5}"/>
              </a:ext>
            </a:extLst>
          </p:cNvPr>
          <p:cNvSpPr txBox="1"/>
          <p:nvPr/>
        </p:nvSpPr>
        <p:spPr>
          <a:xfrm>
            <a:off x="736600" y="5194300"/>
            <a:ext cx="10845800" cy="304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Veintiún años es el plazo hasta la exposición de la armadura, pero </a:t>
            </a:r>
            <a:r>
              <a:rPr lang="es-MX" sz="1050" b="1">
                <a:solidFill>
                  <a:srgbClr val="5A5248"/>
                </a:solidFill>
                <a:latin typeface="Segoe UI Semibold" panose="020B0702040204020203" pitchFamily="34" charset="0"/>
              </a:rPr>
              <a:t>no es el estado límite que gobierna</a:t>
            </a:r>
            <a:r>
              <a:rPr lang="es-MX" sz="1050">
                <a:solidFill>
                  <a:srgbClr val="5A5248"/>
                </a:solidFill>
                <a:latin typeface="Segoe UI" panose="020B0502040204020203" pitchFamily="34" charset="0"/>
              </a:rPr>
              <a:t>: la pérdida del 21 % de sección del muro compromete antes su capacidad.</a:t>
            </a:r>
            <a:endParaRPr lang="es-BO" sz="1050">
              <a:solidFill>
                <a:srgbClr val="5A5248"/>
              </a:solidFill>
              <a:latin typeface="Segoe UI" panose="020B0502040204020203" pitchFamily="34" charset="0"/>
            </a:endParaRPr>
          </a:p>
        </p:txBody>
      </p:sp>
      <p:sp>
        <p:nvSpPr>
          <p:cNvPr id="44" name="Resultado_1">
            <a:extLst>
              <a:ext uri="{FF2B5EF4-FFF2-40B4-BE49-F238E27FC236}">
                <a16:creationId xmlns:a16="http://schemas.microsoft.com/office/drawing/2014/main" id="{EA67DFE1-6D82-E3FA-5BB1-49D505BAD1F6}"/>
              </a:ext>
            </a:extLst>
          </p:cNvPr>
          <p:cNvSpPr/>
          <p:nvPr/>
        </p:nvSpPr>
        <p:spPr>
          <a:xfrm>
            <a:off x="609600" y="5562600"/>
            <a:ext cx="10972800" cy="5588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38100" rIns="101600" bIns="38100" rtlCol="0" anchor="ctr"/>
          <a:lstStyle/>
          <a:p>
            <a:pPr algn="ctr"/>
            <a:r>
              <a:rPr lang="es-MX" sz="1600">
                <a:solidFill>
                  <a:srgbClr val="FFFFFF"/>
                </a:solidFill>
                <a:latin typeface="Bahnschrift SemiBold" panose="020B0502040204020203" pitchFamily="34" charset="0"/>
              </a:rPr>
              <a:t>Armadura expuesta hacia 2047  ·  21 % del muro en 50 años</a:t>
            </a:r>
            <a:endParaRPr lang="es-BO" sz="1600">
              <a:solidFill>
                <a:srgbClr val="FFFFFF"/>
              </a:solidFill>
              <a:latin typeface="Bahnschrift SemiBold" panose="020B0502040204020203" pitchFamily="34" charset="0"/>
            </a:endParaRPr>
          </a:p>
        </p:txBody>
      </p:sp>
      <p:sp>
        <p:nvSpPr>
          <p:cNvPr id="45" name="CuadroTexto 44">
            <a:extLst>
              <a:ext uri="{FF2B5EF4-FFF2-40B4-BE49-F238E27FC236}">
                <a16:creationId xmlns:a16="http://schemas.microsoft.com/office/drawing/2014/main" id="{5D8F9BBA-63CF-5A8F-68EA-2636139B387D}"/>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ASCE MOP 69; EN 1504-2 para sistemas de protección superficial.</a:t>
            </a:r>
            <a:endParaRPr lang="es-BO" sz="700">
              <a:solidFill>
                <a:srgbClr val="938A7C"/>
              </a:solidFill>
              <a:latin typeface="Segoe UI" panose="020B0502040204020203" pitchFamily="34" charset="0"/>
            </a:endParaRPr>
          </a:p>
        </p:txBody>
      </p:sp>
      <p:cxnSp>
        <p:nvCxnSpPr>
          <p:cNvPr id="46" name="Conector recto 45">
            <a:extLst>
              <a:ext uri="{FF2B5EF4-FFF2-40B4-BE49-F238E27FC236}">
                <a16:creationId xmlns:a16="http://schemas.microsoft.com/office/drawing/2014/main" id="{E2528FC6-00BB-45A4-DD1C-A32015718D00}"/>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CC3FE94A-E1C1-865F-8D0F-D24678B57F11}"/>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48" name="CuadroTexto 47">
            <a:extLst>
              <a:ext uri="{FF2B5EF4-FFF2-40B4-BE49-F238E27FC236}">
                <a16:creationId xmlns:a16="http://schemas.microsoft.com/office/drawing/2014/main" id="{6845E235-C693-B4E8-3732-71B119912396}"/>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49" name="PageNo">
            <a:extLst>
              <a:ext uri="{FF2B5EF4-FFF2-40B4-BE49-F238E27FC236}">
                <a16:creationId xmlns:a16="http://schemas.microsoft.com/office/drawing/2014/main" id="{67388CA3-D203-8749-5FB1-BF6858EBBAC3}"/>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31 / 35</a:t>
            </a:r>
          </a:p>
        </p:txBody>
      </p:sp>
    </p:spTree>
    <p:custDataLst>
      <p:tags r:id="rId1"/>
    </p:custDataLst>
    <p:extLst>
      <p:ext uri="{BB962C8B-B14F-4D97-AF65-F5344CB8AC3E}">
        <p14:creationId xmlns:p14="http://schemas.microsoft.com/office/powerpoint/2010/main" val="143695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C808D4C-2150-C3DE-8C3F-F1EDFFC6CDD5}"/>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6A4F20"/>
                </a:solidFill>
                <a:latin typeface="Segoe UI Semibold" panose="020B0702040204020203" pitchFamily="34" charset="0"/>
              </a:rPr>
              <a:t>CASO 4  ·  CIERRE</a:t>
            </a:r>
          </a:p>
        </p:txBody>
      </p:sp>
      <p:sp>
        <p:nvSpPr>
          <p:cNvPr id="3" name="Title">
            <a:extLst>
              <a:ext uri="{FF2B5EF4-FFF2-40B4-BE49-F238E27FC236}">
                <a16:creationId xmlns:a16="http://schemas.microsoft.com/office/drawing/2014/main" id="{876BD2D1-93D8-6585-3EA7-E2729CB9E786}"/>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Resultados, trazabilidad y limitaciones declaradas</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A29C3817-ED0C-95CC-3125-A5F0385C39E3}"/>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6" name="Tabla 5">
            <a:extLst>
              <a:ext uri="{FF2B5EF4-FFF2-40B4-BE49-F238E27FC236}">
                <a16:creationId xmlns:a16="http://schemas.microsoft.com/office/drawing/2014/main" id="{D4DAF417-1F0F-C88E-A354-703C25E533B0}"/>
              </a:ext>
            </a:extLst>
          </p:cNvPr>
          <p:cNvGraphicFramePr>
            <a:graphicFrameLocks noGrp="1"/>
          </p:cNvGraphicFramePr>
          <p:nvPr>
            <p:extLst>
              <p:ext uri="{D42A27DB-BD31-4B8C-83A1-F6EECF244321}">
                <p14:modId xmlns:p14="http://schemas.microsoft.com/office/powerpoint/2010/main" val="3486182936"/>
              </p:ext>
            </p:extLst>
          </p:nvPr>
        </p:nvGraphicFramePr>
        <p:xfrm>
          <a:off x="609600" y="1422400"/>
          <a:ext cx="6604000" cy="2692398"/>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890865816"/>
                    </a:ext>
                  </a:extLst>
                </a:gridCol>
                <a:gridCol w="1930400">
                  <a:extLst>
                    <a:ext uri="{9D8B030D-6E8A-4147-A177-3AD203B41FA5}">
                      <a16:colId xmlns:a16="http://schemas.microsoft.com/office/drawing/2014/main" val="3887511904"/>
                    </a:ext>
                  </a:extLst>
                </a:gridCol>
                <a:gridCol w="3251200">
                  <a:extLst>
                    <a:ext uri="{9D8B030D-6E8A-4147-A177-3AD203B41FA5}">
                      <a16:colId xmlns:a16="http://schemas.microsoft.com/office/drawing/2014/main" val="160325496"/>
                    </a:ext>
                  </a:extLst>
                </a:gridCol>
              </a:tblGrid>
              <a:tr h="448733">
                <a:tc>
                  <a:txBody>
                    <a:bodyPr/>
                    <a:lstStyle/>
                    <a:p>
                      <a:pPr algn="ctr"/>
                      <a:r>
                        <a:rPr lang="es-BO" sz="900" b="0">
                          <a:solidFill>
                            <a:srgbClr val="FFFFFF"/>
                          </a:solidFill>
                          <a:latin typeface="Segoe UI Semibold" panose="020B0702040204020203" pitchFamily="34" charset="0"/>
                        </a:rPr>
                        <a:t>Paso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Resultado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tc>
                  <a:txBody>
                    <a:bodyPr/>
                    <a:lstStyle/>
                    <a:p>
                      <a:pPr algn="ctr"/>
                      <a:r>
                        <a:rPr lang="es-BO" sz="900" b="0">
                          <a:solidFill>
                            <a:srgbClr val="FFFFFF"/>
                          </a:solidFill>
                          <a:latin typeface="Segoe UI Semibold" panose="020B0702040204020203" pitchFamily="34" charset="0"/>
                        </a:rPr>
                        <a:t>Qué decide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1C1813"/>
                    </a:solidFill>
                  </a:tcPr>
                </a:tc>
                <a:extLst>
                  <a:ext uri="{0D108BD9-81ED-4DB2-BD59-A6C34878D82A}">
                    <a16:rowId xmlns:a16="http://schemas.microsoft.com/office/drawing/2014/main" val="2611080480"/>
                  </a:ext>
                </a:extLst>
              </a:tr>
              <a:tr h="448733">
                <a:tc>
                  <a:txBody>
                    <a:bodyPr/>
                    <a:lstStyle/>
                    <a:p>
                      <a:pPr algn="ctr"/>
                      <a:r>
                        <a:rPr lang="es-BO" sz="950" b="0">
                          <a:solidFill>
                            <a:srgbClr val="1C1813"/>
                          </a:solidFill>
                          <a:latin typeface="Segoe UI Semibold" panose="020B0702040204020203" pitchFamily="34" charset="0"/>
                        </a:rPr>
                        <a:t>1 · Clasificar</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0,35 %  →  clase S2</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Con una muestra de suelo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2056726315"/>
                  </a:ext>
                </a:extLst>
              </a:tr>
              <a:tr h="448733">
                <a:tc>
                  <a:txBody>
                    <a:bodyPr/>
                    <a:lstStyle/>
                    <a:p>
                      <a:pPr algn="ctr"/>
                      <a:r>
                        <a:rPr lang="es-BO" sz="950" b="0">
                          <a:solidFill>
                            <a:srgbClr val="1C1813"/>
                          </a:solidFill>
                          <a:latin typeface="Segoe UI Semibold" panose="020B0702040204020203" pitchFamily="34" charset="0"/>
                        </a:rPr>
                        <a:t>2 · Requisitos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MX" sz="950" b="0">
                          <a:solidFill>
                            <a:srgbClr val="241F18"/>
                          </a:solidFill>
                          <a:latin typeface="Segoe UI" panose="020B0502040204020203" pitchFamily="34" charset="0"/>
                        </a:rPr>
                        <a:t>31 MPa · 0,45 · tipo V</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Tres, simultáneos</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1130213735"/>
                  </a:ext>
                </a:extLst>
              </a:tr>
              <a:tr h="448733">
                <a:tc>
                  <a:txBody>
                    <a:bodyPr/>
                    <a:lstStyle/>
                    <a:p>
                      <a:pPr algn="ctr"/>
                      <a:r>
                        <a:rPr lang="es-BO" sz="950" b="0">
                          <a:solidFill>
                            <a:srgbClr val="1C1813"/>
                          </a:solidFill>
                          <a:latin typeface="Segoe UI Semibold" panose="020B0702040204020203" pitchFamily="34" charset="0"/>
                        </a:rPr>
                        <a:t>3 · Contraste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BO" sz="950" b="0">
                          <a:solidFill>
                            <a:srgbClr val="241F18"/>
                          </a:solidFill>
                          <a:latin typeface="Segoe UI" panose="020B0502040204020203" pitchFamily="34" charset="0"/>
                        </a:rPr>
                        <a:t>60 % · +33 % · no cumple</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No era el hormigón exigible</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3560192394"/>
                  </a:ext>
                </a:extLst>
              </a:tr>
              <a:tr h="448733">
                <a:tc>
                  <a:txBody>
                    <a:bodyPr/>
                    <a:lstStyle/>
                    <a:p>
                      <a:pPr algn="ctr"/>
                      <a:r>
                        <a:rPr lang="es-BO" sz="950" b="0">
                          <a:solidFill>
                            <a:srgbClr val="1C1813"/>
                          </a:solidFill>
                          <a:latin typeface="Segoe UI Semibold" panose="020B0702040204020203" pitchFamily="34" charset="0"/>
                        </a:rPr>
                        <a:t>4 · Velocidad</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0,857 mm/año</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tc>
                  <a:txBody>
                    <a:bodyPr/>
                    <a:lstStyle/>
                    <a:p>
                      <a:pPr algn="ctr"/>
                      <a:r>
                        <a:rPr lang="es-BO" sz="950" b="0">
                          <a:solidFill>
                            <a:srgbClr val="241F18"/>
                          </a:solidFill>
                          <a:latin typeface="Segoe UI" panose="020B0502040204020203" pitchFamily="34" charset="0"/>
                        </a:rPr>
                        <a:t>Medida, no supuesta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8F5EF"/>
                    </a:solidFill>
                  </a:tcPr>
                </a:tc>
                <a:extLst>
                  <a:ext uri="{0D108BD9-81ED-4DB2-BD59-A6C34878D82A}">
                    <a16:rowId xmlns:a16="http://schemas.microsoft.com/office/drawing/2014/main" val="3942343238"/>
                  </a:ext>
                </a:extLst>
              </a:tr>
              <a:tr h="448733">
                <a:tc>
                  <a:txBody>
                    <a:bodyPr/>
                    <a:lstStyle/>
                    <a:p>
                      <a:pPr algn="ctr"/>
                      <a:r>
                        <a:rPr lang="es-BO" sz="950" b="0">
                          <a:solidFill>
                            <a:srgbClr val="1C1813"/>
                          </a:solidFill>
                          <a:latin typeface="Segoe UI Semibold" panose="020B0702040204020203" pitchFamily="34" charset="0"/>
                        </a:rPr>
                        <a:t>5 · Vida</a:t>
                      </a: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2047  ·  21 % en 50 años</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tc>
                  <a:txBody>
                    <a:bodyPr/>
                    <a:lstStyle/>
                    <a:p>
                      <a:pPr algn="ctr"/>
                      <a:r>
                        <a:rPr lang="es-MX" sz="950" b="0">
                          <a:solidFill>
                            <a:srgbClr val="241F18"/>
                          </a:solidFill>
                          <a:latin typeface="Segoe UI" panose="020B0502040204020203" pitchFamily="34" charset="0"/>
                        </a:rPr>
                        <a:t>Gobierna la sección, no el recubrimiento</a:t>
                      </a:r>
                      <a:endParaRPr lang="es-BO" sz="950" b="0">
                        <a:solidFill>
                          <a:srgbClr val="241F18"/>
                        </a:solidFill>
                        <a:latin typeface="Segoe UI" panose="020B0502040204020203" pitchFamily="34" charset="0"/>
                      </a:endParaRPr>
                    </a:p>
                  </a:txBody>
                  <a:tcPr marL="101600" marR="76200" marT="50800" marB="50800" anchor="ctr">
                    <a:lnL w="6350" cmpd="sng">
                      <a:solidFill>
                        <a:srgbClr val="DCD5C7"/>
                      </a:solidFill>
                    </a:lnL>
                    <a:lnR w="6350" cmpd="sng">
                      <a:solidFill>
                        <a:srgbClr val="DCD5C7"/>
                      </a:solidFill>
                    </a:lnR>
                    <a:lnT w="6350" cmpd="sng">
                      <a:solidFill>
                        <a:srgbClr val="DCD5C7"/>
                      </a:solidFill>
                    </a:lnT>
                    <a:lnB w="6350" cmpd="sng">
                      <a:solidFill>
                        <a:srgbClr val="DCD5C7"/>
                      </a:solidFill>
                    </a:lnB>
                    <a:solidFill>
                      <a:srgbClr val="FFFFFF"/>
                    </a:solidFill>
                  </a:tcPr>
                </a:tc>
                <a:extLst>
                  <a:ext uri="{0D108BD9-81ED-4DB2-BD59-A6C34878D82A}">
                    <a16:rowId xmlns:a16="http://schemas.microsoft.com/office/drawing/2014/main" val="3893497131"/>
                  </a:ext>
                </a:extLst>
              </a:tr>
            </a:tbl>
          </a:graphicData>
        </a:graphic>
      </p:graphicFrame>
      <p:sp>
        <p:nvSpPr>
          <p:cNvPr id="8" name="CuadroTexto 7">
            <a:extLst>
              <a:ext uri="{FF2B5EF4-FFF2-40B4-BE49-F238E27FC236}">
                <a16:creationId xmlns:a16="http://schemas.microsoft.com/office/drawing/2014/main" id="{2FB5536B-D590-D63F-1550-8BF3264E9903}"/>
              </a:ext>
            </a:extLst>
          </p:cNvPr>
          <p:cNvSpPr txBox="1"/>
          <p:nvPr/>
        </p:nvSpPr>
        <p:spPr>
          <a:xfrm>
            <a:off x="7696200" y="1422400"/>
            <a:ext cx="3886200" cy="1905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Procedencia de las expresiones</a:t>
            </a:r>
          </a:p>
        </p:txBody>
      </p:sp>
      <p:sp>
        <p:nvSpPr>
          <p:cNvPr id="9" name="CuadroTexto 8">
            <a:extLst>
              <a:ext uri="{FF2B5EF4-FFF2-40B4-BE49-F238E27FC236}">
                <a16:creationId xmlns:a16="http://schemas.microsoft.com/office/drawing/2014/main" id="{C1C128A0-4848-05D6-7408-D215D82A1B0C}"/>
              </a:ext>
            </a:extLst>
          </p:cNvPr>
          <p:cNvSpPr txBox="1"/>
          <p:nvPr/>
        </p:nvSpPr>
        <p:spPr>
          <a:xfrm>
            <a:off x="7696200" y="1638300"/>
            <a:ext cx="3886200" cy="685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Dos tablas de ACI 318-19 y dos divisiones. Es el caso con menos aparato matemático y más consecuencia contractual del curso.</a:t>
            </a:r>
            <a:endParaRPr lang="es-BO" sz="1050">
              <a:solidFill>
                <a:srgbClr val="5A5248"/>
              </a:solidFill>
              <a:latin typeface="Segoe UI" panose="020B0502040204020203" pitchFamily="34" charset="0"/>
            </a:endParaRPr>
          </a:p>
        </p:txBody>
      </p:sp>
      <p:sp>
        <p:nvSpPr>
          <p:cNvPr id="11" name="CuadroTexto 10">
            <a:extLst>
              <a:ext uri="{FF2B5EF4-FFF2-40B4-BE49-F238E27FC236}">
                <a16:creationId xmlns:a16="http://schemas.microsoft.com/office/drawing/2014/main" id="{EA8BB166-AFD3-BED0-FFA0-609E2E5DC456}"/>
              </a:ext>
            </a:extLst>
          </p:cNvPr>
          <p:cNvSpPr txBox="1"/>
          <p:nvPr/>
        </p:nvSpPr>
        <p:spPr>
          <a:xfrm>
            <a:off x="7696200" y="2463800"/>
            <a:ext cx="3886200" cy="1905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Trazabilidad de los datos</a:t>
            </a:r>
          </a:p>
        </p:txBody>
      </p:sp>
      <p:sp>
        <p:nvSpPr>
          <p:cNvPr id="12" name="CuadroTexto 11">
            <a:extLst>
              <a:ext uri="{FF2B5EF4-FFF2-40B4-BE49-F238E27FC236}">
                <a16:creationId xmlns:a16="http://schemas.microsoft.com/office/drawing/2014/main" id="{115D57C6-6388-E726-36DB-42AF32A090DF}"/>
              </a:ext>
            </a:extLst>
          </p:cNvPr>
          <p:cNvSpPr txBox="1"/>
          <p:nvPr/>
        </p:nvSpPr>
        <p:spPr>
          <a:xfrm>
            <a:off x="7696200" y="2679700"/>
            <a:ext cx="3886200" cy="685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Muestra compuesta de suelo a cota de apoyo según ASTM C1580, calibre de profundidad en cinco puntos de bóveda, testigos corregidos de la clase 5 y memoria de 1998.</a:t>
            </a:r>
            <a:endParaRPr lang="es-BO" sz="1050">
              <a:solidFill>
                <a:srgbClr val="5A5248"/>
              </a:solidFill>
              <a:latin typeface="Segoe UI" panose="020B0502040204020203" pitchFamily="34" charset="0"/>
            </a:endParaRPr>
          </a:p>
        </p:txBody>
      </p:sp>
      <p:sp>
        <p:nvSpPr>
          <p:cNvPr id="14" name="CuadroTexto 13">
            <a:extLst>
              <a:ext uri="{FF2B5EF4-FFF2-40B4-BE49-F238E27FC236}">
                <a16:creationId xmlns:a16="http://schemas.microsoft.com/office/drawing/2014/main" id="{3CA0C256-13F3-BA72-FB38-9067C3E161DA}"/>
              </a:ext>
            </a:extLst>
          </p:cNvPr>
          <p:cNvSpPr txBox="1"/>
          <p:nvPr/>
        </p:nvSpPr>
        <p:spPr>
          <a:xfrm>
            <a:off x="7696200" y="3505200"/>
            <a:ext cx="3886200" cy="190500"/>
          </a:xfrm>
          <a:prstGeom prst="rect">
            <a:avLst/>
          </a:prstGeom>
          <a:noFill/>
        </p:spPr>
        <p:txBody>
          <a:bodyPr vert="horz" wrap="square" lIns="0" tIns="0" rIns="0" bIns="0" rtlCol="0" anchor="t">
            <a:noAutofit/>
          </a:bodyPr>
          <a:lstStyle/>
          <a:p>
            <a:pPr algn="l"/>
            <a:r>
              <a:rPr lang="es-BO" sz="1000">
                <a:solidFill>
                  <a:srgbClr val="1C1813"/>
                </a:solidFill>
                <a:latin typeface="Segoe UI Semibold" panose="020B0702040204020203" pitchFamily="34" charset="0"/>
              </a:rPr>
              <a:t>Limitaciones declaradas</a:t>
            </a:r>
          </a:p>
        </p:txBody>
      </p:sp>
      <p:sp>
        <p:nvSpPr>
          <p:cNvPr id="15" name="CuadroTexto 14">
            <a:extLst>
              <a:ext uri="{FF2B5EF4-FFF2-40B4-BE49-F238E27FC236}">
                <a16:creationId xmlns:a16="http://schemas.microsoft.com/office/drawing/2014/main" id="{A88A7397-334E-FC29-5A3D-516E79335D46}"/>
              </a:ext>
            </a:extLst>
          </p:cNvPr>
          <p:cNvSpPr txBox="1"/>
          <p:nvPr/>
        </p:nvSpPr>
        <p:spPr>
          <a:xfrm>
            <a:off x="7696200" y="3721100"/>
            <a:ext cx="3886200" cy="685800"/>
          </a:xfrm>
          <a:prstGeom prst="rect">
            <a:avLst/>
          </a:prstGeom>
          <a:noFill/>
        </p:spPr>
        <p:txBody>
          <a:bodyPr vert="horz" wrap="square" lIns="0" tIns="0" rIns="0" bIns="0" rtlCol="0" anchor="t">
            <a:noAutofit/>
          </a:bodyPr>
          <a:lstStyle/>
          <a:p>
            <a:pPr algn="l"/>
            <a:r>
              <a:rPr lang="es-MX" sz="1050">
                <a:solidFill>
                  <a:srgbClr val="5A5248"/>
                </a:solidFill>
                <a:latin typeface="Segoe UI" panose="020B0502040204020203" pitchFamily="34" charset="0"/>
              </a:rPr>
              <a:t>La a/c es estimada, no medida. La extrapolación de la pérdida es lineal desde un solo punto en el tiempo. Conviene reponer la medida a los cinco años.</a:t>
            </a:r>
            <a:endParaRPr lang="es-BO" sz="1050">
              <a:solidFill>
                <a:srgbClr val="5A5248"/>
              </a:solidFill>
              <a:latin typeface="Segoe UI" panose="020B0502040204020203" pitchFamily="34" charset="0"/>
            </a:endParaRPr>
          </a:p>
        </p:txBody>
      </p:sp>
      <p:sp>
        <p:nvSpPr>
          <p:cNvPr id="16" name="Rectángulo 15">
            <a:extLst>
              <a:ext uri="{FF2B5EF4-FFF2-40B4-BE49-F238E27FC236}">
                <a16:creationId xmlns:a16="http://schemas.microsoft.com/office/drawing/2014/main" id="{F4654D30-93EA-8EAE-3F81-8A28D924928F}"/>
              </a:ext>
            </a:extLst>
          </p:cNvPr>
          <p:cNvSpPr/>
          <p:nvPr/>
        </p:nvSpPr>
        <p:spPr>
          <a:xfrm>
            <a:off x="609600" y="4318000"/>
            <a:ext cx="10972800" cy="711200"/>
          </a:xfrm>
          <a:prstGeom prst="rect">
            <a:avLst/>
          </a:prstGeom>
          <a:solidFill>
            <a:srgbClr val="241F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FD2C606A-1D97-63FB-8D66-0BE61F08BD6E}"/>
              </a:ext>
            </a:extLst>
          </p:cNvPr>
          <p:cNvSpPr txBox="1"/>
          <p:nvPr/>
        </p:nvSpPr>
        <p:spPr>
          <a:xfrm>
            <a:off x="838200" y="4368800"/>
            <a:ext cx="10566400" cy="609600"/>
          </a:xfrm>
          <a:prstGeom prst="rect">
            <a:avLst/>
          </a:prstGeom>
          <a:noFill/>
        </p:spPr>
        <p:txBody>
          <a:bodyPr vert="horz" wrap="square" lIns="0" tIns="0" rIns="0" bIns="0" rtlCol="0" anchor="ctr">
            <a:noAutofit/>
          </a:bodyPr>
          <a:lstStyle/>
          <a:p>
            <a:pPr algn="l"/>
            <a:r>
              <a:rPr lang="es-MX" sz="1200">
                <a:solidFill>
                  <a:srgbClr val="FFFFFF"/>
                </a:solidFill>
                <a:latin typeface="Segoe UI" panose="020B0502040204020203" pitchFamily="34" charset="0"/>
              </a:rPr>
              <a:t>Los dos ataques comparten origen: </a:t>
            </a:r>
            <a:r>
              <a:rPr lang="es-MX" sz="1200" b="1">
                <a:solidFill>
                  <a:srgbClr val="FFFFFF"/>
                </a:solidFill>
                <a:latin typeface="Segoe UI Semibold" panose="020B0702040204020203" pitchFamily="34" charset="0"/>
              </a:rPr>
              <a:t>se especificó el hormigón sin clasificar la exposición.</a:t>
            </a:r>
            <a:r>
              <a:rPr lang="es-MX" sz="1200">
                <a:solidFill>
                  <a:srgbClr val="FFFFFF"/>
                </a:solidFill>
                <a:latin typeface="Segoe UI" panose="020B0502040204020203" pitchFamily="34" charset="0"/>
              </a:rPr>
              <a:t> Ninguno de los dos se corrige con un producto aplicado por encima, porque ninguno actúa sobre los requisitos incumplidos.</a:t>
            </a:r>
            <a:endParaRPr lang="es-BO" sz="1200">
              <a:solidFill>
                <a:srgbClr val="FFFFFF"/>
              </a:solidFill>
              <a:latin typeface="Segoe UI" panose="020B0502040204020203" pitchFamily="34" charset="0"/>
            </a:endParaRPr>
          </a:p>
        </p:txBody>
      </p:sp>
      <p:sp>
        <p:nvSpPr>
          <p:cNvPr id="19" name="CuadroTexto 18">
            <a:extLst>
              <a:ext uri="{FF2B5EF4-FFF2-40B4-BE49-F238E27FC236}">
                <a16:creationId xmlns:a16="http://schemas.microsoft.com/office/drawing/2014/main" id="{A53E769B-D530-C775-C679-7D16F11CA1F5}"/>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ACI 318-19 Tablas 19.3.1.1 y 19.3.2.1; ASTM C1580; ASCE MOP 69; EN 1504-2.</a:t>
            </a:r>
            <a:endParaRPr lang="es-BO" sz="700">
              <a:solidFill>
                <a:srgbClr val="938A7C"/>
              </a:solidFill>
              <a:latin typeface="Segoe UI" panose="020B0502040204020203" pitchFamily="34" charset="0"/>
            </a:endParaRPr>
          </a:p>
        </p:txBody>
      </p:sp>
      <p:cxnSp>
        <p:nvCxnSpPr>
          <p:cNvPr id="20" name="Conector recto 19">
            <a:extLst>
              <a:ext uri="{FF2B5EF4-FFF2-40B4-BE49-F238E27FC236}">
                <a16:creationId xmlns:a16="http://schemas.microsoft.com/office/drawing/2014/main" id="{6B252354-2186-863C-3B1E-57D4DB0031D1}"/>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C8EA4FDC-F819-D089-E2B5-6850E089AB3B}"/>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22" name="CuadroTexto 21">
            <a:extLst>
              <a:ext uri="{FF2B5EF4-FFF2-40B4-BE49-F238E27FC236}">
                <a16:creationId xmlns:a16="http://schemas.microsoft.com/office/drawing/2014/main" id="{6215F36B-8503-9E41-5696-886AA29548AD}"/>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23" name="PageNo">
            <a:extLst>
              <a:ext uri="{FF2B5EF4-FFF2-40B4-BE49-F238E27FC236}">
                <a16:creationId xmlns:a16="http://schemas.microsoft.com/office/drawing/2014/main" id="{780C0FC9-E328-68AE-E840-9C9E6DF72291}"/>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32 / 35</a:t>
            </a:r>
          </a:p>
        </p:txBody>
      </p:sp>
    </p:spTree>
    <p:custDataLst>
      <p:tags r:id="rId1"/>
    </p:custDataLst>
    <p:extLst>
      <p:ext uri="{BB962C8B-B14F-4D97-AF65-F5344CB8AC3E}">
        <p14:creationId xmlns:p14="http://schemas.microsoft.com/office/powerpoint/2010/main" val="2219883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FAA27EA-681A-20E4-8416-9587652D0113}"/>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MX" sz="900" spc="180">
                <a:solidFill>
                  <a:srgbClr val="6A4F20"/>
                </a:solidFill>
                <a:latin typeface="Segoe UI Semibold" panose="020B0702040204020203" pitchFamily="34" charset="0"/>
              </a:rPr>
              <a:t>HERRAMIENTAS DE LA CLASE  ·  CLASE 4</a:t>
            </a:r>
            <a:endParaRPr lang="es-BO" sz="900" spc="180">
              <a:solidFill>
                <a:srgbClr val="6A4F20"/>
              </a:solidFill>
              <a:latin typeface="Segoe UI Semibold" panose="020B0702040204020203" pitchFamily="34" charset="0"/>
            </a:endParaRPr>
          </a:p>
        </p:txBody>
      </p:sp>
      <p:sp>
        <p:nvSpPr>
          <p:cNvPr id="3" name="Title">
            <a:extLst>
              <a:ext uri="{FF2B5EF4-FFF2-40B4-BE49-F238E27FC236}">
                <a16:creationId xmlns:a16="http://schemas.microsoft.com/office/drawing/2014/main" id="{368761CE-6B74-89E6-35A3-44FC80D4FEF8}"/>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MX" sz="2700">
                <a:solidFill>
                  <a:srgbClr val="1C1813"/>
                </a:solidFill>
                <a:latin typeface="Bahnschrift SemiBold" panose="020B0502040204020203" pitchFamily="34" charset="0"/>
              </a:rPr>
              <a:t>La planilla de ataque químico y los ensayos destructivos</a:t>
            </a:r>
            <a:endParaRPr lang="es-BO" sz="2700">
              <a:solidFill>
                <a:srgbClr val="1C1813"/>
              </a:solidFill>
              <a:latin typeface="Bahnschrift SemiBold" panose="020B0502040204020203" pitchFamily="34" charset="0"/>
            </a:endParaRPr>
          </a:p>
        </p:txBody>
      </p:sp>
      <p:cxnSp>
        <p:nvCxnSpPr>
          <p:cNvPr id="4" name="Conector recto 3">
            <a:extLst>
              <a:ext uri="{FF2B5EF4-FFF2-40B4-BE49-F238E27FC236}">
                <a16:creationId xmlns:a16="http://schemas.microsoft.com/office/drawing/2014/main" id="{43BC1CA1-DC63-1F19-A514-21836FC312F9}"/>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7DE06BED-ECBA-F489-971C-139E46E4B4E6}"/>
              </a:ext>
            </a:extLst>
          </p:cNvPr>
          <p:cNvSpPr/>
          <p:nvPr/>
        </p:nvSpPr>
        <p:spPr>
          <a:xfrm>
            <a:off x="609600" y="1371600"/>
            <a:ext cx="6858000" cy="2895600"/>
          </a:xfrm>
          <a:prstGeom prst="rect">
            <a:avLst/>
          </a:prstGeom>
          <a:solidFill>
            <a:srgbClr val="EAE4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pic>
        <p:nvPicPr>
          <p:cNvPr id="8" name="Imagen 7" descr="Hoja 5 · Clasificación de la exposición química">
            <a:extLst>
              <a:ext uri="{FF2B5EF4-FFF2-40B4-BE49-F238E27FC236}">
                <a16:creationId xmlns:a16="http://schemas.microsoft.com/office/drawing/2014/main" id="{A46557ED-871F-7A91-BE32-A78C9A64C6D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255486" y="1498600"/>
            <a:ext cx="5566228" cy="2641600"/>
          </a:xfrm>
          <a:prstGeom prst="rect">
            <a:avLst/>
          </a:prstGeom>
          <a:ln w="9525">
            <a:solidFill>
              <a:srgbClr val="DCD5C7"/>
            </a:solidFill>
          </a:ln>
          <a:effectLst>
            <a:outerShdw blurRad="152400" dist="38100" dir="5400000" rotWithShape="0">
              <a:srgbClr val="1C1813">
                <a:alpha val="28000"/>
              </a:srgbClr>
            </a:outerShdw>
          </a:effectLst>
        </p:spPr>
      </p:pic>
      <p:sp>
        <p:nvSpPr>
          <p:cNvPr id="9" name="Rectángulo 8">
            <a:extLst>
              <a:ext uri="{FF2B5EF4-FFF2-40B4-BE49-F238E27FC236}">
                <a16:creationId xmlns:a16="http://schemas.microsoft.com/office/drawing/2014/main" id="{25002724-8C05-50C5-FBE0-5EA26814482A}"/>
              </a:ext>
            </a:extLst>
          </p:cNvPr>
          <p:cNvSpPr/>
          <p:nvPr/>
        </p:nvSpPr>
        <p:spPr>
          <a:xfrm>
            <a:off x="7670800" y="1371600"/>
            <a:ext cx="3911600" cy="2895600"/>
          </a:xfrm>
          <a:prstGeom prst="rect">
            <a:avLst/>
          </a:prstGeom>
          <a:solidFill>
            <a:srgbClr val="FFFFFF"/>
          </a:solidFill>
          <a:ln w="9525">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0" name="CuadroTexto 9">
            <a:extLst>
              <a:ext uri="{FF2B5EF4-FFF2-40B4-BE49-F238E27FC236}">
                <a16:creationId xmlns:a16="http://schemas.microsoft.com/office/drawing/2014/main" id="{DAB29BF9-81C5-9143-E996-954A775DCD4C}"/>
              </a:ext>
            </a:extLst>
          </p:cNvPr>
          <p:cNvSpPr txBox="1"/>
          <p:nvPr/>
        </p:nvSpPr>
        <p:spPr>
          <a:xfrm>
            <a:off x="7823200" y="1524000"/>
            <a:ext cx="2164080" cy="139700"/>
          </a:xfrm>
          <a:prstGeom prst="rect">
            <a:avLst/>
          </a:prstGeom>
          <a:noFill/>
        </p:spPr>
        <p:txBody>
          <a:bodyPr vert="horz" wrap="square" lIns="0" tIns="0" rIns="0" bIns="0" rtlCol="0" anchor="t">
            <a:noAutofit/>
          </a:bodyPr>
          <a:lstStyle/>
          <a:p>
            <a:pPr algn="l"/>
            <a:r>
              <a:rPr lang="es-BO" sz="650">
                <a:solidFill>
                  <a:srgbClr val="938A7C"/>
                </a:solidFill>
                <a:latin typeface="Segoe UI" panose="020B0502040204020203" pitchFamily="34" charset="0"/>
              </a:rPr>
              <a:t>Plan de ensayos</a:t>
            </a:r>
          </a:p>
        </p:txBody>
      </p:sp>
      <p:sp>
        <p:nvSpPr>
          <p:cNvPr id="11" name="CuadroTexto 10">
            <a:extLst>
              <a:ext uri="{FF2B5EF4-FFF2-40B4-BE49-F238E27FC236}">
                <a16:creationId xmlns:a16="http://schemas.microsoft.com/office/drawing/2014/main" id="{E3456E76-8E83-30F3-74DE-0CB0DF19346B}"/>
              </a:ext>
            </a:extLst>
          </p:cNvPr>
          <p:cNvSpPr txBox="1"/>
          <p:nvPr/>
        </p:nvSpPr>
        <p:spPr>
          <a:xfrm>
            <a:off x="9987280" y="1524000"/>
            <a:ext cx="1442720" cy="139700"/>
          </a:xfrm>
          <a:prstGeom prst="rect">
            <a:avLst/>
          </a:prstGeom>
          <a:noFill/>
        </p:spPr>
        <p:txBody>
          <a:bodyPr vert="horz" wrap="square" lIns="0" tIns="0" rIns="0" bIns="0" rtlCol="0" anchor="t">
            <a:noAutofit/>
          </a:bodyPr>
          <a:lstStyle/>
          <a:p>
            <a:pPr algn="r"/>
            <a:r>
              <a:rPr lang="es-BO" sz="650">
                <a:solidFill>
                  <a:srgbClr val="938A7C"/>
                </a:solidFill>
                <a:latin typeface="Segoe UI" panose="020B0502040204020203" pitchFamily="34" charset="0"/>
              </a:rPr>
              <a:t>PH-PLE-001</a:t>
            </a:r>
          </a:p>
        </p:txBody>
      </p:sp>
      <p:cxnSp>
        <p:nvCxnSpPr>
          <p:cNvPr id="12" name="Conector recto 11">
            <a:extLst>
              <a:ext uri="{FF2B5EF4-FFF2-40B4-BE49-F238E27FC236}">
                <a16:creationId xmlns:a16="http://schemas.microsoft.com/office/drawing/2014/main" id="{8DB60376-25C5-CF76-3951-A909309E870C}"/>
              </a:ext>
            </a:extLst>
          </p:cNvPr>
          <p:cNvCxnSpPr/>
          <p:nvPr/>
        </p:nvCxnSpPr>
        <p:spPr>
          <a:xfrm>
            <a:off x="7823200" y="1676400"/>
            <a:ext cx="3606800" cy="0"/>
          </a:xfrm>
          <a:prstGeom prst="line">
            <a:avLst/>
          </a:prstGeom>
          <a:ln w="9525">
            <a:solidFill>
              <a:srgbClr val="8A6A2F"/>
            </a:solidFill>
            <a:prstDash val="solid"/>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38F3BE64-C3E0-C1DC-1FCD-C547EB3E4C48}"/>
              </a:ext>
            </a:extLst>
          </p:cNvPr>
          <p:cNvCxnSpPr/>
          <p:nvPr/>
        </p:nvCxnSpPr>
        <p:spPr>
          <a:xfrm>
            <a:off x="7823200" y="1803400"/>
            <a:ext cx="3606800" cy="0"/>
          </a:xfrm>
          <a:prstGeom prst="line">
            <a:avLst/>
          </a:prstGeom>
          <a:ln w="12700">
            <a:solidFill>
              <a:srgbClr val="8A6A2F"/>
            </a:solidFill>
            <a:prstDash val="solid"/>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6623D780-C1A3-158C-4D83-3F5D651F3BF2}"/>
              </a:ext>
            </a:extLst>
          </p:cNvPr>
          <p:cNvSpPr txBox="1"/>
          <p:nvPr/>
        </p:nvSpPr>
        <p:spPr>
          <a:xfrm>
            <a:off x="7823200" y="1828800"/>
            <a:ext cx="3606800" cy="177800"/>
          </a:xfrm>
          <a:prstGeom prst="rect">
            <a:avLst/>
          </a:prstGeom>
          <a:noFill/>
        </p:spPr>
        <p:txBody>
          <a:bodyPr vert="horz" wrap="square" lIns="0" tIns="0" rIns="0" bIns="0" rtlCol="0" anchor="t">
            <a:noAutofit/>
          </a:bodyPr>
          <a:lstStyle/>
          <a:p>
            <a:pPr algn="l"/>
            <a:r>
              <a:rPr lang="es-BO" sz="950">
                <a:solidFill>
                  <a:srgbClr val="1C1813"/>
                </a:solidFill>
                <a:latin typeface="Bahnschrift SemiBold" panose="020B0502040204020203" pitchFamily="34" charset="0"/>
              </a:rPr>
              <a:t>3 · Ensayos destructivos</a:t>
            </a:r>
          </a:p>
        </p:txBody>
      </p:sp>
      <p:sp>
        <p:nvSpPr>
          <p:cNvPr id="15" name="CuadroTexto 14">
            <a:extLst>
              <a:ext uri="{FF2B5EF4-FFF2-40B4-BE49-F238E27FC236}">
                <a16:creationId xmlns:a16="http://schemas.microsoft.com/office/drawing/2014/main" id="{6B21CFAB-6375-E3D8-2A3D-02A349475C3C}"/>
              </a:ext>
            </a:extLst>
          </p:cNvPr>
          <p:cNvSpPr txBox="1"/>
          <p:nvPr/>
        </p:nvSpPr>
        <p:spPr>
          <a:xfrm>
            <a:off x="7899400" y="2032000"/>
            <a:ext cx="3530600" cy="139700"/>
          </a:xfrm>
          <a:prstGeom prst="rect">
            <a:avLst/>
          </a:prstGeom>
          <a:noFill/>
        </p:spPr>
        <p:txBody>
          <a:bodyPr vert="horz" wrap="square" lIns="0" tIns="0" rIns="0" bIns="0" rtlCol="0" anchor="t">
            <a:noAutofit/>
          </a:bodyPr>
          <a:lstStyle/>
          <a:p>
            <a:pPr algn="l"/>
            <a:r>
              <a:rPr lang="es-MX" sz="650" i="1">
                <a:solidFill>
                  <a:srgbClr val="6A4F20"/>
                </a:solidFill>
                <a:latin typeface="Segoe UI" panose="020B0502040204020203" pitchFamily="34" charset="0"/>
              </a:rPr>
              <a:t>→  Van donde los no destructivos digan, nunca antes.</a:t>
            </a:r>
            <a:endParaRPr lang="es-BO" sz="650" i="1">
              <a:solidFill>
                <a:srgbClr val="6A4F20"/>
              </a:solidFill>
              <a:latin typeface="Segoe UI" panose="020B0502040204020203" pitchFamily="34" charset="0"/>
            </a:endParaRPr>
          </a:p>
        </p:txBody>
      </p:sp>
      <p:sp>
        <p:nvSpPr>
          <p:cNvPr id="16" name="Rectángulo 15">
            <a:extLst>
              <a:ext uri="{FF2B5EF4-FFF2-40B4-BE49-F238E27FC236}">
                <a16:creationId xmlns:a16="http://schemas.microsoft.com/office/drawing/2014/main" id="{FEC49AF8-4F6A-8FF1-798B-91BE4DD58FA4}"/>
              </a:ext>
            </a:extLst>
          </p:cNvPr>
          <p:cNvSpPr/>
          <p:nvPr/>
        </p:nvSpPr>
        <p:spPr>
          <a:xfrm>
            <a:off x="7823200" y="2235200"/>
            <a:ext cx="1659128" cy="228600"/>
          </a:xfrm>
          <a:prstGeom prst="rect">
            <a:avLst/>
          </a:prstGeom>
          <a:solidFill>
            <a:srgbClr val="EAE4D6"/>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7" name="Rectángulo 16">
            <a:extLst>
              <a:ext uri="{FF2B5EF4-FFF2-40B4-BE49-F238E27FC236}">
                <a16:creationId xmlns:a16="http://schemas.microsoft.com/office/drawing/2014/main" id="{C5A237A4-5F8E-F420-1E43-AC61CA7E3432}"/>
              </a:ext>
            </a:extLst>
          </p:cNvPr>
          <p:cNvSpPr/>
          <p:nvPr/>
        </p:nvSpPr>
        <p:spPr>
          <a:xfrm>
            <a:off x="9482328" y="2235200"/>
            <a:ext cx="1947672" cy="2286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8" name="CuadroTexto 17">
            <a:extLst>
              <a:ext uri="{FF2B5EF4-FFF2-40B4-BE49-F238E27FC236}">
                <a16:creationId xmlns:a16="http://schemas.microsoft.com/office/drawing/2014/main" id="{E65E5469-B11F-8FAF-BA90-C2206B994F11}"/>
              </a:ext>
            </a:extLst>
          </p:cNvPr>
          <p:cNvSpPr txBox="1"/>
          <p:nvPr/>
        </p:nvSpPr>
        <p:spPr>
          <a:xfrm>
            <a:off x="7886700" y="2260600"/>
            <a:ext cx="1557528" cy="177800"/>
          </a:xfrm>
          <a:prstGeom prst="rect">
            <a:avLst/>
          </a:prstGeom>
          <a:noFill/>
        </p:spPr>
        <p:txBody>
          <a:bodyPr vert="horz" wrap="square" lIns="0" tIns="0" rIns="0" bIns="0" rtlCol="0" anchor="t">
            <a:noAutofit/>
          </a:bodyPr>
          <a:lstStyle/>
          <a:p>
            <a:pPr algn="l"/>
            <a:r>
              <a:rPr lang="es-BO" sz="700">
                <a:solidFill>
                  <a:srgbClr val="1C1813"/>
                </a:solidFill>
                <a:latin typeface="Segoe UI Semibold" panose="020B0702040204020203" pitchFamily="34" charset="0"/>
              </a:rPr>
              <a:t>Laboratorio y acreditación</a:t>
            </a:r>
          </a:p>
        </p:txBody>
      </p:sp>
      <p:sp>
        <p:nvSpPr>
          <p:cNvPr id="19" name="Rectángulo 18">
            <a:extLst>
              <a:ext uri="{FF2B5EF4-FFF2-40B4-BE49-F238E27FC236}">
                <a16:creationId xmlns:a16="http://schemas.microsoft.com/office/drawing/2014/main" id="{21C3BEFB-1322-C639-1AC2-F2B7AD632C68}"/>
              </a:ext>
            </a:extLst>
          </p:cNvPr>
          <p:cNvSpPr/>
          <p:nvPr/>
        </p:nvSpPr>
        <p:spPr>
          <a:xfrm>
            <a:off x="7823200" y="2540000"/>
            <a:ext cx="1202267" cy="177800"/>
          </a:xfrm>
          <a:prstGeom prst="rect">
            <a:avLst/>
          </a:prstGeom>
          <a:solidFill>
            <a:srgbClr val="1C1813"/>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0" name="CuadroTexto 19">
            <a:extLst>
              <a:ext uri="{FF2B5EF4-FFF2-40B4-BE49-F238E27FC236}">
                <a16:creationId xmlns:a16="http://schemas.microsoft.com/office/drawing/2014/main" id="{FE8EEC44-118B-D4D1-B0D9-D8A494242A73}"/>
              </a:ext>
            </a:extLst>
          </p:cNvPr>
          <p:cNvSpPr txBox="1"/>
          <p:nvPr/>
        </p:nvSpPr>
        <p:spPr>
          <a:xfrm>
            <a:off x="7874000" y="2552700"/>
            <a:ext cx="1126067" cy="152400"/>
          </a:xfrm>
          <a:prstGeom prst="rect">
            <a:avLst/>
          </a:prstGeom>
          <a:noFill/>
        </p:spPr>
        <p:txBody>
          <a:bodyPr vert="horz" wrap="square" lIns="0" tIns="0" rIns="0" bIns="0" rtlCol="0" anchor="t">
            <a:noAutofit/>
          </a:bodyPr>
          <a:lstStyle/>
          <a:p>
            <a:r>
              <a:rPr lang="es-BO" sz="650">
                <a:solidFill>
                  <a:srgbClr val="FFFFFF"/>
                </a:solidFill>
                <a:latin typeface="Segoe UI Semibold" panose="020B0702040204020203" pitchFamily="34" charset="0"/>
              </a:rPr>
              <a:t>Ensayo</a:t>
            </a:r>
          </a:p>
        </p:txBody>
      </p:sp>
      <p:sp>
        <p:nvSpPr>
          <p:cNvPr id="21" name="Rectángulo 20">
            <a:extLst>
              <a:ext uri="{FF2B5EF4-FFF2-40B4-BE49-F238E27FC236}">
                <a16:creationId xmlns:a16="http://schemas.microsoft.com/office/drawing/2014/main" id="{D88F8B60-22EC-31CD-35A1-426F642947AC}"/>
              </a:ext>
            </a:extLst>
          </p:cNvPr>
          <p:cNvSpPr/>
          <p:nvPr/>
        </p:nvSpPr>
        <p:spPr>
          <a:xfrm>
            <a:off x="9025467" y="2540000"/>
            <a:ext cx="1202267" cy="177800"/>
          </a:xfrm>
          <a:prstGeom prst="rect">
            <a:avLst/>
          </a:prstGeom>
          <a:solidFill>
            <a:srgbClr val="1C1813"/>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8428C149-F858-E397-FC71-29515D236E5D}"/>
              </a:ext>
            </a:extLst>
          </p:cNvPr>
          <p:cNvSpPr txBox="1"/>
          <p:nvPr/>
        </p:nvSpPr>
        <p:spPr>
          <a:xfrm>
            <a:off x="9076267" y="2552700"/>
            <a:ext cx="1126067" cy="152400"/>
          </a:xfrm>
          <a:prstGeom prst="rect">
            <a:avLst/>
          </a:prstGeom>
          <a:noFill/>
        </p:spPr>
        <p:txBody>
          <a:bodyPr vert="horz" wrap="square" lIns="0" tIns="0" rIns="0" bIns="0" rtlCol="0" anchor="t">
            <a:noAutofit/>
          </a:bodyPr>
          <a:lstStyle/>
          <a:p>
            <a:r>
              <a:rPr lang="es-BO" sz="650">
                <a:solidFill>
                  <a:srgbClr val="FFFFFF"/>
                </a:solidFill>
                <a:latin typeface="Segoe UI Semibold" panose="020B0702040204020203" pitchFamily="34" charset="0"/>
              </a:rPr>
              <a:t>Norma</a:t>
            </a:r>
          </a:p>
        </p:txBody>
      </p:sp>
      <p:sp>
        <p:nvSpPr>
          <p:cNvPr id="23" name="Rectángulo 22">
            <a:extLst>
              <a:ext uri="{FF2B5EF4-FFF2-40B4-BE49-F238E27FC236}">
                <a16:creationId xmlns:a16="http://schemas.microsoft.com/office/drawing/2014/main" id="{CCF02955-C011-85DE-0F10-A8CC858EF613}"/>
              </a:ext>
            </a:extLst>
          </p:cNvPr>
          <p:cNvSpPr/>
          <p:nvPr/>
        </p:nvSpPr>
        <p:spPr>
          <a:xfrm>
            <a:off x="10227733" y="2540000"/>
            <a:ext cx="1202267" cy="177800"/>
          </a:xfrm>
          <a:prstGeom prst="rect">
            <a:avLst/>
          </a:prstGeom>
          <a:solidFill>
            <a:srgbClr val="1C1813"/>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4" name="CuadroTexto 23">
            <a:extLst>
              <a:ext uri="{FF2B5EF4-FFF2-40B4-BE49-F238E27FC236}">
                <a16:creationId xmlns:a16="http://schemas.microsoft.com/office/drawing/2014/main" id="{B57DFA8F-A406-FE28-3EFF-282A2A593677}"/>
              </a:ext>
            </a:extLst>
          </p:cNvPr>
          <p:cNvSpPr txBox="1"/>
          <p:nvPr/>
        </p:nvSpPr>
        <p:spPr>
          <a:xfrm>
            <a:off x="10278533" y="2552700"/>
            <a:ext cx="1126067" cy="152400"/>
          </a:xfrm>
          <a:prstGeom prst="rect">
            <a:avLst/>
          </a:prstGeom>
          <a:noFill/>
        </p:spPr>
        <p:txBody>
          <a:bodyPr vert="horz" wrap="square" lIns="0" tIns="0" rIns="0" bIns="0" rtlCol="0" anchor="t">
            <a:noAutofit/>
          </a:bodyPr>
          <a:lstStyle/>
          <a:p>
            <a:r>
              <a:rPr lang="es-BO" sz="650">
                <a:solidFill>
                  <a:srgbClr val="FFFFFF"/>
                </a:solidFill>
                <a:latin typeface="Segoe UI Semibold" panose="020B0702040204020203" pitchFamily="34" charset="0"/>
              </a:rPr>
              <a:t>Criterio</a:t>
            </a:r>
          </a:p>
        </p:txBody>
      </p:sp>
      <p:sp>
        <p:nvSpPr>
          <p:cNvPr id="25" name="Rectángulo 24">
            <a:extLst>
              <a:ext uri="{FF2B5EF4-FFF2-40B4-BE49-F238E27FC236}">
                <a16:creationId xmlns:a16="http://schemas.microsoft.com/office/drawing/2014/main" id="{F327B2C9-ECFC-571D-D6C2-02D015F17719}"/>
              </a:ext>
            </a:extLst>
          </p:cNvPr>
          <p:cNvSpPr/>
          <p:nvPr/>
        </p:nvSpPr>
        <p:spPr>
          <a:xfrm>
            <a:off x="7823200" y="2717800"/>
            <a:ext cx="1202267"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6" name="CuadroTexto 25">
            <a:extLst>
              <a:ext uri="{FF2B5EF4-FFF2-40B4-BE49-F238E27FC236}">
                <a16:creationId xmlns:a16="http://schemas.microsoft.com/office/drawing/2014/main" id="{BD434507-92CE-6D22-778C-57C2710FDD07}"/>
              </a:ext>
            </a:extLst>
          </p:cNvPr>
          <p:cNvSpPr txBox="1"/>
          <p:nvPr/>
        </p:nvSpPr>
        <p:spPr>
          <a:xfrm>
            <a:off x="7874000" y="2730500"/>
            <a:ext cx="1126067" cy="152400"/>
          </a:xfrm>
          <a:prstGeom prst="rect">
            <a:avLst/>
          </a:prstGeom>
          <a:noFill/>
        </p:spPr>
        <p:txBody>
          <a:bodyPr vert="horz" wrap="square" lIns="0" tIns="0" rIns="0" bIns="0" rtlCol="0" anchor="t">
            <a:noAutofit/>
          </a:bodyPr>
          <a:lstStyle/>
          <a:p>
            <a:r>
              <a:rPr lang="es-BO" sz="700">
                <a:solidFill>
                  <a:srgbClr val="5A5248"/>
                </a:solidFill>
                <a:latin typeface="Segoe UI" panose="020B0502040204020203" pitchFamily="34" charset="0"/>
              </a:rPr>
              <a:t>Sulfatos del terreno</a:t>
            </a:r>
          </a:p>
        </p:txBody>
      </p:sp>
      <p:sp>
        <p:nvSpPr>
          <p:cNvPr id="27" name="Rectángulo 26">
            <a:extLst>
              <a:ext uri="{FF2B5EF4-FFF2-40B4-BE49-F238E27FC236}">
                <a16:creationId xmlns:a16="http://schemas.microsoft.com/office/drawing/2014/main" id="{7CC6B81A-8644-B3E4-B6F0-4FB287C6726D}"/>
              </a:ext>
            </a:extLst>
          </p:cNvPr>
          <p:cNvSpPr/>
          <p:nvPr/>
        </p:nvSpPr>
        <p:spPr>
          <a:xfrm>
            <a:off x="9025467" y="2717800"/>
            <a:ext cx="1202267"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8" name="CuadroTexto 27">
            <a:extLst>
              <a:ext uri="{FF2B5EF4-FFF2-40B4-BE49-F238E27FC236}">
                <a16:creationId xmlns:a16="http://schemas.microsoft.com/office/drawing/2014/main" id="{A061AECF-B1FA-D9C5-45B0-1F874B1B98E9}"/>
              </a:ext>
            </a:extLst>
          </p:cNvPr>
          <p:cNvSpPr txBox="1"/>
          <p:nvPr/>
        </p:nvSpPr>
        <p:spPr>
          <a:xfrm>
            <a:off x="9076267" y="2730500"/>
            <a:ext cx="1126067" cy="152400"/>
          </a:xfrm>
          <a:prstGeom prst="rect">
            <a:avLst/>
          </a:prstGeom>
          <a:noFill/>
        </p:spPr>
        <p:txBody>
          <a:bodyPr vert="horz" wrap="square" lIns="0" tIns="0" rIns="0" bIns="0" rtlCol="0" anchor="t">
            <a:noAutofit/>
          </a:bodyPr>
          <a:lstStyle/>
          <a:p>
            <a:r>
              <a:rPr lang="es-BO" sz="700">
                <a:solidFill>
                  <a:srgbClr val="5A5248"/>
                </a:solidFill>
                <a:latin typeface="Segoe UI" panose="020B0502040204020203" pitchFamily="34" charset="0"/>
              </a:rPr>
              <a:t>ASTM C1580</a:t>
            </a:r>
          </a:p>
        </p:txBody>
      </p:sp>
      <p:sp>
        <p:nvSpPr>
          <p:cNvPr id="29" name="Rectángulo 28">
            <a:extLst>
              <a:ext uri="{FF2B5EF4-FFF2-40B4-BE49-F238E27FC236}">
                <a16:creationId xmlns:a16="http://schemas.microsoft.com/office/drawing/2014/main" id="{B1047C56-963D-EF7E-ACB3-74877C111083}"/>
              </a:ext>
            </a:extLst>
          </p:cNvPr>
          <p:cNvSpPr/>
          <p:nvPr/>
        </p:nvSpPr>
        <p:spPr>
          <a:xfrm>
            <a:off x="10227733" y="2717800"/>
            <a:ext cx="1202267"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0" name="CuadroTexto 29">
            <a:extLst>
              <a:ext uri="{FF2B5EF4-FFF2-40B4-BE49-F238E27FC236}">
                <a16:creationId xmlns:a16="http://schemas.microsoft.com/office/drawing/2014/main" id="{05E4ECC5-0273-4863-FB5A-0B1D0110A18A}"/>
              </a:ext>
            </a:extLst>
          </p:cNvPr>
          <p:cNvSpPr txBox="1"/>
          <p:nvPr/>
        </p:nvSpPr>
        <p:spPr>
          <a:xfrm>
            <a:off x="10278533" y="2730500"/>
            <a:ext cx="1126067" cy="152400"/>
          </a:xfrm>
          <a:prstGeom prst="rect">
            <a:avLst/>
          </a:prstGeom>
          <a:noFill/>
        </p:spPr>
        <p:txBody>
          <a:bodyPr vert="horz" wrap="square" lIns="0" tIns="0" rIns="0" bIns="0" rtlCol="0" anchor="t">
            <a:noAutofit/>
          </a:bodyPr>
          <a:lstStyle/>
          <a:p>
            <a:r>
              <a:rPr lang="es-BO" sz="700">
                <a:solidFill>
                  <a:srgbClr val="5A5248"/>
                </a:solidFill>
                <a:latin typeface="Segoe UI" panose="020B0502040204020203" pitchFamily="34" charset="0"/>
              </a:rPr>
              <a:t>Clase ACI 318-19</a:t>
            </a:r>
          </a:p>
        </p:txBody>
      </p:sp>
      <p:sp>
        <p:nvSpPr>
          <p:cNvPr id="31" name="Rectángulo 30">
            <a:extLst>
              <a:ext uri="{FF2B5EF4-FFF2-40B4-BE49-F238E27FC236}">
                <a16:creationId xmlns:a16="http://schemas.microsoft.com/office/drawing/2014/main" id="{48EF178F-7CC4-8ABE-3ED2-2A9E5C4A0B5A}"/>
              </a:ext>
            </a:extLst>
          </p:cNvPr>
          <p:cNvSpPr/>
          <p:nvPr/>
        </p:nvSpPr>
        <p:spPr>
          <a:xfrm>
            <a:off x="7823200" y="2908300"/>
            <a:ext cx="1202267" cy="1905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2" name="CuadroTexto 31">
            <a:extLst>
              <a:ext uri="{FF2B5EF4-FFF2-40B4-BE49-F238E27FC236}">
                <a16:creationId xmlns:a16="http://schemas.microsoft.com/office/drawing/2014/main" id="{890F0589-AF8F-297D-64D9-10AC1979A403}"/>
              </a:ext>
            </a:extLst>
          </p:cNvPr>
          <p:cNvSpPr txBox="1"/>
          <p:nvPr/>
        </p:nvSpPr>
        <p:spPr>
          <a:xfrm>
            <a:off x="7874000" y="2921000"/>
            <a:ext cx="1126067" cy="152400"/>
          </a:xfrm>
          <a:prstGeom prst="rect">
            <a:avLst/>
          </a:prstGeom>
          <a:noFill/>
        </p:spPr>
        <p:txBody>
          <a:bodyPr vert="horz" wrap="square" lIns="0" tIns="0" rIns="0" bIns="0" rtlCol="0" anchor="t">
            <a:noAutofit/>
          </a:bodyPr>
          <a:lstStyle/>
          <a:p>
            <a:r>
              <a:rPr lang="es-BO" sz="700">
                <a:solidFill>
                  <a:srgbClr val="5A5248"/>
                </a:solidFill>
                <a:latin typeface="Segoe UI" panose="020B0502040204020203" pitchFamily="34" charset="0"/>
              </a:rPr>
              <a:t>Perfil de cloruros</a:t>
            </a:r>
          </a:p>
        </p:txBody>
      </p:sp>
      <p:sp>
        <p:nvSpPr>
          <p:cNvPr id="33" name="Rectángulo 32">
            <a:extLst>
              <a:ext uri="{FF2B5EF4-FFF2-40B4-BE49-F238E27FC236}">
                <a16:creationId xmlns:a16="http://schemas.microsoft.com/office/drawing/2014/main" id="{7E922F5C-EDD2-3E7B-0B49-96673DB352E0}"/>
              </a:ext>
            </a:extLst>
          </p:cNvPr>
          <p:cNvSpPr/>
          <p:nvPr/>
        </p:nvSpPr>
        <p:spPr>
          <a:xfrm>
            <a:off x="9025467" y="2908300"/>
            <a:ext cx="1202267" cy="1905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4" name="CuadroTexto 33">
            <a:extLst>
              <a:ext uri="{FF2B5EF4-FFF2-40B4-BE49-F238E27FC236}">
                <a16:creationId xmlns:a16="http://schemas.microsoft.com/office/drawing/2014/main" id="{2555BF24-7B4C-5748-356F-00F492C4E1EA}"/>
              </a:ext>
            </a:extLst>
          </p:cNvPr>
          <p:cNvSpPr txBox="1"/>
          <p:nvPr/>
        </p:nvSpPr>
        <p:spPr>
          <a:xfrm>
            <a:off x="9076267" y="2921000"/>
            <a:ext cx="1126067" cy="152400"/>
          </a:xfrm>
          <a:prstGeom prst="rect">
            <a:avLst/>
          </a:prstGeom>
          <a:noFill/>
        </p:spPr>
        <p:txBody>
          <a:bodyPr vert="horz" wrap="square" lIns="0" tIns="0" rIns="0" bIns="0" rtlCol="0" anchor="t">
            <a:noAutofit/>
          </a:bodyPr>
          <a:lstStyle/>
          <a:p>
            <a:r>
              <a:rPr lang="es-BO" sz="700">
                <a:solidFill>
                  <a:srgbClr val="5A5248"/>
                </a:solidFill>
                <a:latin typeface="Segoe UI" panose="020B0502040204020203" pitchFamily="34" charset="0"/>
              </a:rPr>
              <a:t>ASTM C1152</a:t>
            </a:r>
          </a:p>
        </p:txBody>
      </p:sp>
      <p:sp>
        <p:nvSpPr>
          <p:cNvPr id="35" name="Rectángulo 34">
            <a:extLst>
              <a:ext uri="{FF2B5EF4-FFF2-40B4-BE49-F238E27FC236}">
                <a16:creationId xmlns:a16="http://schemas.microsoft.com/office/drawing/2014/main" id="{63068D01-A1A0-CF0C-9702-9F5DB78C5B00}"/>
              </a:ext>
            </a:extLst>
          </p:cNvPr>
          <p:cNvSpPr/>
          <p:nvPr/>
        </p:nvSpPr>
        <p:spPr>
          <a:xfrm>
            <a:off x="10227733" y="2908300"/>
            <a:ext cx="1202267" cy="1905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6" name="CuadroTexto 35">
            <a:extLst>
              <a:ext uri="{FF2B5EF4-FFF2-40B4-BE49-F238E27FC236}">
                <a16:creationId xmlns:a16="http://schemas.microsoft.com/office/drawing/2014/main" id="{765B19E1-4F70-CFFB-AE3D-1F7C015732C3}"/>
              </a:ext>
            </a:extLst>
          </p:cNvPr>
          <p:cNvSpPr txBox="1"/>
          <p:nvPr/>
        </p:nvSpPr>
        <p:spPr>
          <a:xfrm>
            <a:off x="10278533" y="2921000"/>
            <a:ext cx="1126067" cy="152400"/>
          </a:xfrm>
          <a:prstGeom prst="rect">
            <a:avLst/>
          </a:prstGeom>
          <a:noFill/>
        </p:spPr>
        <p:txBody>
          <a:bodyPr vert="horz" wrap="square" lIns="0" tIns="0" rIns="0" bIns="0" rtlCol="0" anchor="t">
            <a:noAutofit/>
          </a:bodyPr>
          <a:lstStyle/>
          <a:p>
            <a:r>
              <a:rPr lang="es-BO" sz="700">
                <a:solidFill>
                  <a:srgbClr val="5A5248"/>
                </a:solidFill>
                <a:latin typeface="Segoe UI" panose="020B0502040204020203" pitchFamily="34" charset="0"/>
              </a:rPr>
              <a:t>Umbral declarado</a:t>
            </a:r>
          </a:p>
        </p:txBody>
      </p:sp>
      <p:sp>
        <p:nvSpPr>
          <p:cNvPr id="37" name="Rectángulo 36">
            <a:extLst>
              <a:ext uri="{FF2B5EF4-FFF2-40B4-BE49-F238E27FC236}">
                <a16:creationId xmlns:a16="http://schemas.microsoft.com/office/drawing/2014/main" id="{8FE73385-6DD2-7FFB-8184-19A95A808C28}"/>
              </a:ext>
            </a:extLst>
          </p:cNvPr>
          <p:cNvSpPr/>
          <p:nvPr/>
        </p:nvSpPr>
        <p:spPr>
          <a:xfrm>
            <a:off x="7823200" y="3098800"/>
            <a:ext cx="1202267"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38" name="CuadroTexto 37">
            <a:extLst>
              <a:ext uri="{FF2B5EF4-FFF2-40B4-BE49-F238E27FC236}">
                <a16:creationId xmlns:a16="http://schemas.microsoft.com/office/drawing/2014/main" id="{D25CF831-2705-480A-3322-8D89EAA124D6}"/>
              </a:ext>
            </a:extLst>
          </p:cNvPr>
          <p:cNvSpPr txBox="1"/>
          <p:nvPr/>
        </p:nvSpPr>
        <p:spPr>
          <a:xfrm>
            <a:off x="7874000" y="3111500"/>
            <a:ext cx="1126067" cy="152400"/>
          </a:xfrm>
          <a:prstGeom prst="rect">
            <a:avLst/>
          </a:prstGeom>
          <a:noFill/>
        </p:spPr>
        <p:txBody>
          <a:bodyPr vert="horz" wrap="square" lIns="0" tIns="0" rIns="0" bIns="0" rtlCol="0" anchor="t">
            <a:noAutofit/>
          </a:bodyPr>
          <a:lstStyle/>
          <a:p>
            <a:r>
              <a:rPr lang="es-BO" sz="700">
                <a:solidFill>
                  <a:srgbClr val="5A5248"/>
                </a:solidFill>
                <a:latin typeface="Segoe UI" panose="020B0502040204020203" pitchFamily="34" charset="0"/>
              </a:rPr>
              <a:t>Testigos</a:t>
            </a:r>
          </a:p>
        </p:txBody>
      </p:sp>
      <p:sp>
        <p:nvSpPr>
          <p:cNvPr id="39" name="Rectángulo 38">
            <a:extLst>
              <a:ext uri="{FF2B5EF4-FFF2-40B4-BE49-F238E27FC236}">
                <a16:creationId xmlns:a16="http://schemas.microsoft.com/office/drawing/2014/main" id="{1E03016C-4D5E-90F7-0979-410832DD0064}"/>
              </a:ext>
            </a:extLst>
          </p:cNvPr>
          <p:cNvSpPr/>
          <p:nvPr/>
        </p:nvSpPr>
        <p:spPr>
          <a:xfrm>
            <a:off x="9025467" y="3098800"/>
            <a:ext cx="1202267"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0" name="CuadroTexto 39">
            <a:extLst>
              <a:ext uri="{FF2B5EF4-FFF2-40B4-BE49-F238E27FC236}">
                <a16:creationId xmlns:a16="http://schemas.microsoft.com/office/drawing/2014/main" id="{06ECD554-45C0-E908-F41E-333A082B1873}"/>
              </a:ext>
            </a:extLst>
          </p:cNvPr>
          <p:cNvSpPr txBox="1"/>
          <p:nvPr/>
        </p:nvSpPr>
        <p:spPr>
          <a:xfrm>
            <a:off x="9076267" y="3111500"/>
            <a:ext cx="1126067" cy="152400"/>
          </a:xfrm>
          <a:prstGeom prst="rect">
            <a:avLst/>
          </a:prstGeom>
          <a:noFill/>
        </p:spPr>
        <p:txBody>
          <a:bodyPr vert="horz" wrap="square" lIns="0" tIns="0" rIns="0" bIns="0" rtlCol="0" anchor="t">
            <a:noAutofit/>
          </a:bodyPr>
          <a:lstStyle/>
          <a:p>
            <a:r>
              <a:rPr lang="es-BO" sz="700">
                <a:solidFill>
                  <a:srgbClr val="5A5248"/>
                </a:solidFill>
                <a:latin typeface="Segoe UI" panose="020B0502040204020203" pitchFamily="34" charset="0"/>
              </a:rPr>
              <a:t>ASTM C42</a:t>
            </a:r>
          </a:p>
        </p:txBody>
      </p:sp>
      <p:sp>
        <p:nvSpPr>
          <p:cNvPr id="41" name="Rectángulo 40">
            <a:extLst>
              <a:ext uri="{FF2B5EF4-FFF2-40B4-BE49-F238E27FC236}">
                <a16:creationId xmlns:a16="http://schemas.microsoft.com/office/drawing/2014/main" id="{C893F6C8-7EBD-799B-46C0-CC21220F1AE6}"/>
              </a:ext>
            </a:extLst>
          </p:cNvPr>
          <p:cNvSpPr/>
          <p:nvPr/>
        </p:nvSpPr>
        <p:spPr>
          <a:xfrm>
            <a:off x="10227733" y="3098800"/>
            <a:ext cx="1202267" cy="190500"/>
          </a:xfrm>
          <a:prstGeom prst="rect">
            <a:avLst/>
          </a:prstGeom>
          <a:solidFill>
            <a:srgbClr val="F5F2EA"/>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2" name="CuadroTexto 41">
            <a:extLst>
              <a:ext uri="{FF2B5EF4-FFF2-40B4-BE49-F238E27FC236}">
                <a16:creationId xmlns:a16="http://schemas.microsoft.com/office/drawing/2014/main" id="{8E3740D5-BDC3-CAF4-95CE-F920C0198C01}"/>
              </a:ext>
            </a:extLst>
          </p:cNvPr>
          <p:cNvSpPr txBox="1"/>
          <p:nvPr/>
        </p:nvSpPr>
        <p:spPr>
          <a:xfrm>
            <a:off x="10278533" y="3111500"/>
            <a:ext cx="1126067" cy="152400"/>
          </a:xfrm>
          <a:prstGeom prst="rect">
            <a:avLst/>
          </a:prstGeom>
          <a:noFill/>
        </p:spPr>
        <p:txBody>
          <a:bodyPr vert="horz" wrap="square" lIns="0" tIns="0" rIns="0" bIns="0" rtlCol="0" anchor="t">
            <a:noAutofit/>
          </a:bodyPr>
          <a:lstStyle/>
          <a:p>
            <a:r>
              <a:rPr lang="es-MX" sz="700">
                <a:solidFill>
                  <a:srgbClr val="5A5248"/>
                </a:solidFill>
                <a:latin typeface="Segoe UI" panose="020B0502040204020203" pitchFamily="34" charset="0"/>
              </a:rPr>
              <a:t>0,85 de la f de proyecto</a:t>
            </a:r>
            <a:endParaRPr lang="es-BO" sz="700">
              <a:solidFill>
                <a:srgbClr val="5A5248"/>
              </a:solidFill>
              <a:latin typeface="Segoe UI" panose="020B0502040204020203" pitchFamily="34" charset="0"/>
            </a:endParaRPr>
          </a:p>
        </p:txBody>
      </p:sp>
      <p:sp>
        <p:nvSpPr>
          <p:cNvPr id="43" name="Rectángulo: esquinas redondeadas 42">
            <a:extLst>
              <a:ext uri="{FF2B5EF4-FFF2-40B4-BE49-F238E27FC236}">
                <a16:creationId xmlns:a16="http://schemas.microsoft.com/office/drawing/2014/main" id="{E2BBA2BB-F9D4-2B1B-2183-8D98BC96155C}"/>
              </a:ext>
            </a:extLst>
          </p:cNvPr>
          <p:cNvSpPr/>
          <p:nvPr/>
        </p:nvSpPr>
        <p:spPr>
          <a:xfrm>
            <a:off x="609600" y="4343400"/>
            <a:ext cx="6858000" cy="279400"/>
          </a:xfrm>
          <a:prstGeom prst="roundRect">
            <a:avLst>
              <a:gd name="adj" fmla="val 6000"/>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38100" rIns="101600" bIns="38100" rtlCol="0" anchor="ctr"/>
          <a:lstStyle/>
          <a:p>
            <a:pPr algn="l"/>
            <a:r>
              <a:rPr lang="es-MX" sz="850">
                <a:solidFill>
                  <a:srgbClr val="C9A66B"/>
                </a:solidFill>
                <a:latin typeface="Segoe UI Semibold" panose="020B0702040204020203" pitchFamily="34" charset="0"/>
              </a:rPr>
              <a:t>Planilla  ·  Hoja 5 · Clasificación de la exposición química</a:t>
            </a:r>
            <a:endParaRPr lang="es-BO" sz="850">
              <a:solidFill>
                <a:srgbClr val="C9A66B"/>
              </a:solidFill>
              <a:latin typeface="Segoe UI Semibold" panose="020B0702040204020203" pitchFamily="34" charset="0"/>
            </a:endParaRPr>
          </a:p>
        </p:txBody>
      </p:sp>
      <p:sp>
        <p:nvSpPr>
          <p:cNvPr id="44" name="Rectángulo: esquinas redondeadas 43">
            <a:extLst>
              <a:ext uri="{FF2B5EF4-FFF2-40B4-BE49-F238E27FC236}">
                <a16:creationId xmlns:a16="http://schemas.microsoft.com/office/drawing/2014/main" id="{892EA92C-3EE3-8B14-2B63-3119E87F4C10}"/>
              </a:ext>
            </a:extLst>
          </p:cNvPr>
          <p:cNvSpPr/>
          <p:nvPr/>
        </p:nvSpPr>
        <p:spPr>
          <a:xfrm>
            <a:off x="7670800" y="4343400"/>
            <a:ext cx="3911600" cy="279400"/>
          </a:xfrm>
          <a:prstGeom prst="roundRect">
            <a:avLst>
              <a:gd name="adj" fmla="val 6000"/>
            </a:avLst>
          </a:prstGeom>
          <a:solidFill>
            <a:srgbClr val="1C181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38100" rIns="101600" bIns="38100" rtlCol="0" anchor="ctr"/>
          <a:lstStyle/>
          <a:p>
            <a:pPr algn="l"/>
            <a:r>
              <a:rPr lang="es-BO" sz="850">
                <a:solidFill>
                  <a:srgbClr val="C9A66B"/>
                </a:solidFill>
                <a:latin typeface="Segoe UI Semibold" panose="020B0702040204020203" pitchFamily="34" charset="0"/>
              </a:rPr>
              <a:t>Formato  ·  PH_Plan-de-ensayos.docx</a:t>
            </a:r>
          </a:p>
        </p:txBody>
      </p:sp>
      <p:sp>
        <p:nvSpPr>
          <p:cNvPr id="45" name="Rectángulo 44">
            <a:extLst>
              <a:ext uri="{FF2B5EF4-FFF2-40B4-BE49-F238E27FC236}">
                <a16:creationId xmlns:a16="http://schemas.microsoft.com/office/drawing/2014/main" id="{2B3A4696-CB54-0BDC-A5C4-D7E25BA4B6DF}"/>
              </a:ext>
            </a:extLst>
          </p:cNvPr>
          <p:cNvSpPr/>
          <p:nvPr/>
        </p:nvSpPr>
        <p:spPr>
          <a:xfrm>
            <a:off x="609600" y="4800600"/>
            <a:ext cx="2628900" cy="127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6" name="Rectángulo 45">
            <a:extLst>
              <a:ext uri="{FF2B5EF4-FFF2-40B4-BE49-F238E27FC236}">
                <a16:creationId xmlns:a16="http://schemas.microsoft.com/office/drawing/2014/main" id="{BE10F645-8FBF-42AF-F543-E22C0DF8C989}"/>
              </a:ext>
            </a:extLst>
          </p:cNvPr>
          <p:cNvSpPr/>
          <p:nvPr/>
        </p:nvSpPr>
        <p:spPr>
          <a:xfrm>
            <a:off x="609600" y="4800600"/>
            <a:ext cx="2628900" cy="3175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7" name="CuadroTexto 46">
            <a:extLst>
              <a:ext uri="{FF2B5EF4-FFF2-40B4-BE49-F238E27FC236}">
                <a16:creationId xmlns:a16="http://schemas.microsoft.com/office/drawing/2014/main" id="{B1EB4F19-277E-8A6A-0958-84120384472F}"/>
              </a:ext>
            </a:extLst>
          </p:cNvPr>
          <p:cNvSpPr txBox="1"/>
          <p:nvPr/>
        </p:nvSpPr>
        <p:spPr>
          <a:xfrm>
            <a:off x="762000" y="4902200"/>
            <a:ext cx="2374900" cy="228600"/>
          </a:xfrm>
          <a:prstGeom prst="rect">
            <a:avLst/>
          </a:prstGeom>
          <a:noFill/>
        </p:spPr>
        <p:txBody>
          <a:bodyPr vert="horz" wrap="square" lIns="0" tIns="0" rIns="0" bIns="0" rtlCol="0" anchor="t">
            <a:noAutofit/>
          </a:bodyPr>
          <a:lstStyle/>
          <a:p>
            <a:pPr algn="l"/>
            <a:r>
              <a:rPr lang="es-BO" sz="1150">
                <a:solidFill>
                  <a:srgbClr val="1C1813"/>
                </a:solidFill>
                <a:latin typeface="Bahnschrift SemiBold" panose="020B0502040204020203" pitchFamily="34" charset="0"/>
              </a:rPr>
              <a:t>Qué pone usted</a:t>
            </a:r>
          </a:p>
        </p:txBody>
      </p:sp>
      <p:sp>
        <p:nvSpPr>
          <p:cNvPr id="48" name="CuadroTexto 47">
            <a:extLst>
              <a:ext uri="{FF2B5EF4-FFF2-40B4-BE49-F238E27FC236}">
                <a16:creationId xmlns:a16="http://schemas.microsoft.com/office/drawing/2014/main" id="{B9A93108-D7AF-26C8-78C6-172F8495BCD9}"/>
              </a:ext>
            </a:extLst>
          </p:cNvPr>
          <p:cNvSpPr txBox="1"/>
          <p:nvPr/>
        </p:nvSpPr>
        <p:spPr>
          <a:xfrm>
            <a:off x="762000" y="5156200"/>
            <a:ext cx="2374900" cy="8382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Los sulfatos del suelo y del agua, lo que se ejecutó de verdad y el pH medido sobre la pared húmeda.</a:t>
            </a:r>
            <a:endParaRPr lang="es-BO" sz="900">
              <a:solidFill>
                <a:srgbClr val="5A5248"/>
              </a:solidFill>
              <a:latin typeface="Segoe UI" panose="020B0502040204020203" pitchFamily="34" charset="0"/>
            </a:endParaRPr>
          </a:p>
        </p:txBody>
      </p:sp>
      <p:sp>
        <p:nvSpPr>
          <p:cNvPr id="49" name="Rectángulo 48">
            <a:extLst>
              <a:ext uri="{FF2B5EF4-FFF2-40B4-BE49-F238E27FC236}">
                <a16:creationId xmlns:a16="http://schemas.microsoft.com/office/drawing/2014/main" id="{E0F7643D-9A88-A1EA-71F8-B8CF32D66D6F}"/>
              </a:ext>
            </a:extLst>
          </p:cNvPr>
          <p:cNvSpPr/>
          <p:nvPr/>
        </p:nvSpPr>
        <p:spPr>
          <a:xfrm>
            <a:off x="3390900" y="4800600"/>
            <a:ext cx="2628900" cy="127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0" name="Rectángulo 49">
            <a:extLst>
              <a:ext uri="{FF2B5EF4-FFF2-40B4-BE49-F238E27FC236}">
                <a16:creationId xmlns:a16="http://schemas.microsoft.com/office/drawing/2014/main" id="{1000F82B-2DD8-B3AF-45C8-5D02F32228A9}"/>
              </a:ext>
            </a:extLst>
          </p:cNvPr>
          <p:cNvSpPr/>
          <p:nvPr/>
        </p:nvSpPr>
        <p:spPr>
          <a:xfrm>
            <a:off x="3390900" y="4800600"/>
            <a:ext cx="2628900" cy="3175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1" name="CuadroTexto 50">
            <a:extLst>
              <a:ext uri="{FF2B5EF4-FFF2-40B4-BE49-F238E27FC236}">
                <a16:creationId xmlns:a16="http://schemas.microsoft.com/office/drawing/2014/main" id="{536E3DFF-FAD2-A1B3-7A39-5AB18432765E}"/>
              </a:ext>
            </a:extLst>
          </p:cNvPr>
          <p:cNvSpPr txBox="1"/>
          <p:nvPr/>
        </p:nvSpPr>
        <p:spPr>
          <a:xfrm>
            <a:off x="3543300" y="4902200"/>
            <a:ext cx="2374900" cy="228600"/>
          </a:xfrm>
          <a:prstGeom prst="rect">
            <a:avLst/>
          </a:prstGeom>
          <a:noFill/>
        </p:spPr>
        <p:txBody>
          <a:bodyPr vert="horz" wrap="square" lIns="0" tIns="0" rIns="0" bIns="0" rtlCol="0" anchor="t">
            <a:noAutofit/>
          </a:bodyPr>
          <a:lstStyle/>
          <a:p>
            <a:pPr algn="l"/>
            <a:r>
              <a:rPr lang="es-BO" sz="1150">
                <a:solidFill>
                  <a:srgbClr val="1C1813"/>
                </a:solidFill>
                <a:latin typeface="Bahnschrift SemiBold" panose="020B0502040204020203" pitchFamily="34" charset="0"/>
              </a:rPr>
              <a:t>Qué sale</a:t>
            </a:r>
          </a:p>
        </p:txBody>
      </p:sp>
      <p:sp>
        <p:nvSpPr>
          <p:cNvPr id="52" name="CuadroTexto 51">
            <a:extLst>
              <a:ext uri="{FF2B5EF4-FFF2-40B4-BE49-F238E27FC236}">
                <a16:creationId xmlns:a16="http://schemas.microsoft.com/office/drawing/2014/main" id="{37A431C0-8171-F66B-F070-805FBB9298B8}"/>
              </a:ext>
            </a:extLst>
          </p:cNvPr>
          <p:cNvSpPr txBox="1"/>
          <p:nvPr/>
        </p:nvSpPr>
        <p:spPr>
          <a:xfrm>
            <a:off x="3543300" y="5156200"/>
            <a:ext cx="2374900" cy="8382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La clase de exposición S0 a S3 con la relación a/c, la resistencia y el cemento que exige ACI 318-19, y el contraste con lo ejecutado.</a:t>
            </a:r>
            <a:endParaRPr lang="es-BO" sz="900">
              <a:solidFill>
                <a:srgbClr val="5A5248"/>
              </a:solidFill>
              <a:latin typeface="Segoe UI" panose="020B0502040204020203" pitchFamily="34" charset="0"/>
            </a:endParaRPr>
          </a:p>
        </p:txBody>
      </p:sp>
      <p:sp>
        <p:nvSpPr>
          <p:cNvPr id="53" name="Rectángulo 52">
            <a:extLst>
              <a:ext uri="{FF2B5EF4-FFF2-40B4-BE49-F238E27FC236}">
                <a16:creationId xmlns:a16="http://schemas.microsoft.com/office/drawing/2014/main" id="{482F5565-AE96-4727-A07C-C10F3B57586B}"/>
              </a:ext>
            </a:extLst>
          </p:cNvPr>
          <p:cNvSpPr/>
          <p:nvPr/>
        </p:nvSpPr>
        <p:spPr>
          <a:xfrm>
            <a:off x="6172200" y="4800600"/>
            <a:ext cx="2628900" cy="127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4" name="Rectángulo 53">
            <a:extLst>
              <a:ext uri="{FF2B5EF4-FFF2-40B4-BE49-F238E27FC236}">
                <a16:creationId xmlns:a16="http://schemas.microsoft.com/office/drawing/2014/main" id="{298FAD4E-9BA4-7187-96B0-C4DC9A88E97E}"/>
              </a:ext>
            </a:extLst>
          </p:cNvPr>
          <p:cNvSpPr/>
          <p:nvPr/>
        </p:nvSpPr>
        <p:spPr>
          <a:xfrm>
            <a:off x="6172200" y="4800600"/>
            <a:ext cx="2628900" cy="3175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5" name="CuadroTexto 54">
            <a:extLst>
              <a:ext uri="{FF2B5EF4-FFF2-40B4-BE49-F238E27FC236}">
                <a16:creationId xmlns:a16="http://schemas.microsoft.com/office/drawing/2014/main" id="{21AB7C23-6511-52EA-EBC1-04ED4BB3572A}"/>
              </a:ext>
            </a:extLst>
          </p:cNvPr>
          <p:cNvSpPr txBox="1"/>
          <p:nvPr/>
        </p:nvSpPr>
        <p:spPr>
          <a:xfrm>
            <a:off x="6324600" y="4902200"/>
            <a:ext cx="2374900" cy="228600"/>
          </a:xfrm>
          <a:prstGeom prst="rect">
            <a:avLst/>
          </a:prstGeom>
          <a:noFill/>
        </p:spPr>
        <p:txBody>
          <a:bodyPr vert="horz" wrap="square" lIns="0" tIns="0" rIns="0" bIns="0" rtlCol="0" anchor="t">
            <a:noAutofit/>
          </a:bodyPr>
          <a:lstStyle/>
          <a:p>
            <a:pPr algn="l"/>
            <a:r>
              <a:rPr lang="es-BO" sz="1150">
                <a:solidFill>
                  <a:srgbClr val="1C1813"/>
                </a:solidFill>
                <a:latin typeface="Bahnschrift SemiBold" panose="020B0502040204020203" pitchFamily="34" charset="0"/>
              </a:rPr>
              <a:t>El ataque ácido</a:t>
            </a:r>
          </a:p>
        </p:txBody>
      </p:sp>
      <p:sp>
        <p:nvSpPr>
          <p:cNvPr id="56" name="CuadroTexto 55">
            <a:extLst>
              <a:ext uri="{FF2B5EF4-FFF2-40B4-BE49-F238E27FC236}">
                <a16:creationId xmlns:a16="http://schemas.microsoft.com/office/drawing/2014/main" id="{28B4B47C-3A69-E715-F349-DDD08FDBCDAC}"/>
              </a:ext>
            </a:extLst>
          </p:cNvPr>
          <p:cNvSpPr txBox="1"/>
          <p:nvPr/>
        </p:nvSpPr>
        <p:spPr>
          <a:xfrm>
            <a:off x="6324600" y="5156200"/>
            <a:ext cx="2374900" cy="8382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De la pérdida de espesor y los años de exposición salen la velocidad y los años que faltan para dejar la armadura vista.</a:t>
            </a:r>
            <a:endParaRPr lang="es-BO" sz="900">
              <a:solidFill>
                <a:srgbClr val="5A5248"/>
              </a:solidFill>
              <a:latin typeface="Segoe UI" panose="020B0502040204020203" pitchFamily="34" charset="0"/>
            </a:endParaRPr>
          </a:p>
        </p:txBody>
      </p:sp>
      <p:sp>
        <p:nvSpPr>
          <p:cNvPr id="57" name="Rectángulo 56">
            <a:extLst>
              <a:ext uri="{FF2B5EF4-FFF2-40B4-BE49-F238E27FC236}">
                <a16:creationId xmlns:a16="http://schemas.microsoft.com/office/drawing/2014/main" id="{C9CF279E-198B-0BA2-9DE0-CCE3CD722234}"/>
              </a:ext>
            </a:extLst>
          </p:cNvPr>
          <p:cNvSpPr/>
          <p:nvPr/>
        </p:nvSpPr>
        <p:spPr>
          <a:xfrm>
            <a:off x="8953500" y="4800600"/>
            <a:ext cx="2628900" cy="1270000"/>
          </a:xfrm>
          <a:prstGeom prst="rect">
            <a:avLst/>
          </a:prstGeom>
          <a:solidFill>
            <a:srgbClr val="FFFFFF"/>
          </a:solidFill>
          <a:ln w="6350">
            <a:solidFill>
              <a:srgbClr val="DCD5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8" name="Rectángulo 57">
            <a:extLst>
              <a:ext uri="{FF2B5EF4-FFF2-40B4-BE49-F238E27FC236}">
                <a16:creationId xmlns:a16="http://schemas.microsoft.com/office/drawing/2014/main" id="{0EA14F00-DD4C-B965-A62E-6476342EC8DF}"/>
              </a:ext>
            </a:extLst>
          </p:cNvPr>
          <p:cNvSpPr/>
          <p:nvPr/>
        </p:nvSpPr>
        <p:spPr>
          <a:xfrm>
            <a:off x="8953500" y="4800600"/>
            <a:ext cx="2628900" cy="3175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9" name="CuadroTexto 58">
            <a:extLst>
              <a:ext uri="{FF2B5EF4-FFF2-40B4-BE49-F238E27FC236}">
                <a16:creationId xmlns:a16="http://schemas.microsoft.com/office/drawing/2014/main" id="{F6DF3C20-FCF5-F6E3-BD72-50F5C78A912A}"/>
              </a:ext>
            </a:extLst>
          </p:cNvPr>
          <p:cNvSpPr txBox="1"/>
          <p:nvPr/>
        </p:nvSpPr>
        <p:spPr>
          <a:xfrm>
            <a:off x="9105900" y="4902200"/>
            <a:ext cx="2374900" cy="228600"/>
          </a:xfrm>
          <a:prstGeom prst="rect">
            <a:avLst/>
          </a:prstGeom>
          <a:noFill/>
        </p:spPr>
        <p:txBody>
          <a:bodyPr vert="horz" wrap="square" lIns="0" tIns="0" rIns="0" bIns="0" rtlCol="0" anchor="t">
            <a:noAutofit/>
          </a:bodyPr>
          <a:lstStyle/>
          <a:p>
            <a:pPr algn="l"/>
            <a:r>
              <a:rPr lang="es-BO" sz="1150">
                <a:solidFill>
                  <a:srgbClr val="1C1813"/>
                </a:solidFill>
                <a:latin typeface="Bahnschrift SemiBold" panose="020B0502040204020203" pitchFamily="34" charset="0"/>
              </a:rPr>
              <a:t>El plan de ensayos</a:t>
            </a:r>
          </a:p>
        </p:txBody>
      </p:sp>
      <p:sp>
        <p:nvSpPr>
          <p:cNvPr id="60" name="CuadroTexto 59">
            <a:extLst>
              <a:ext uri="{FF2B5EF4-FFF2-40B4-BE49-F238E27FC236}">
                <a16:creationId xmlns:a16="http://schemas.microsoft.com/office/drawing/2014/main" id="{8B0C11A5-42E6-FD2D-2AD1-243F00D17741}"/>
              </a:ext>
            </a:extLst>
          </p:cNvPr>
          <p:cNvSpPr txBox="1"/>
          <p:nvPr/>
        </p:nvSpPr>
        <p:spPr>
          <a:xfrm>
            <a:off x="9105900" y="5156200"/>
            <a:ext cx="2374900" cy="838200"/>
          </a:xfrm>
          <a:prstGeom prst="rect">
            <a:avLst/>
          </a:prstGeom>
          <a:noFill/>
        </p:spPr>
        <p:txBody>
          <a:bodyPr vert="horz" wrap="square" lIns="0" tIns="0" rIns="0" bIns="0" rtlCol="0" anchor="t">
            <a:noAutofit/>
          </a:bodyPr>
          <a:lstStyle/>
          <a:p>
            <a:pPr algn="l"/>
            <a:r>
              <a:rPr lang="es-MX" sz="900">
                <a:solidFill>
                  <a:srgbClr val="5A5248"/>
                </a:solidFill>
                <a:latin typeface="Segoe UI" panose="020B0502040204020203" pitchFamily="34" charset="0"/>
              </a:rPr>
              <a:t>Los sulfatos del terreno se piden con ASTM C1580 y el perfil de cloruros con ASTM C1152: están en la tabla de destructivos.</a:t>
            </a:r>
            <a:endParaRPr lang="es-BO" sz="900">
              <a:solidFill>
                <a:srgbClr val="5A5248"/>
              </a:solidFill>
              <a:latin typeface="Segoe UI" panose="020B0502040204020203" pitchFamily="34" charset="0"/>
            </a:endParaRPr>
          </a:p>
        </p:txBody>
      </p:sp>
      <p:sp>
        <p:nvSpPr>
          <p:cNvPr id="61" name="CuadroTexto 60">
            <a:extLst>
              <a:ext uri="{FF2B5EF4-FFF2-40B4-BE49-F238E27FC236}">
                <a16:creationId xmlns:a16="http://schemas.microsoft.com/office/drawing/2014/main" id="{825B1E71-7883-8D32-83FA-4CE72DBCB7CD}"/>
              </a:ext>
            </a:extLst>
          </p:cNvPr>
          <p:cNvSpPr txBox="1"/>
          <p:nvPr/>
        </p:nvSpPr>
        <p:spPr>
          <a:xfrm>
            <a:off x="609600" y="6324600"/>
            <a:ext cx="10972800" cy="152400"/>
          </a:xfrm>
          <a:prstGeom prst="rect">
            <a:avLst/>
          </a:prstGeom>
          <a:noFill/>
        </p:spPr>
        <p:txBody>
          <a:bodyPr vert="horz" wrap="square" lIns="0" tIns="0" rIns="0" bIns="0" rtlCol="0" anchor="t">
            <a:noAutofit/>
          </a:bodyPr>
          <a:lstStyle/>
          <a:p>
            <a:pPr algn="l"/>
            <a:r>
              <a:rPr lang="es-MX" sz="700">
                <a:solidFill>
                  <a:srgbClr val="938A7C"/>
                </a:solidFill>
                <a:latin typeface="Segoe UI" panose="020B0502040204020203" pitchFamily="34" charset="0"/>
              </a:rPr>
              <a:t>Fuente: Plantillas_y_formatos del curso. Los valores cargados son los del caso ejemplo, la nave Sector 4.</a:t>
            </a:r>
            <a:endParaRPr lang="es-BO" sz="700">
              <a:solidFill>
                <a:srgbClr val="938A7C"/>
              </a:solidFill>
              <a:latin typeface="Segoe UI" panose="020B0502040204020203" pitchFamily="34" charset="0"/>
            </a:endParaRPr>
          </a:p>
        </p:txBody>
      </p:sp>
      <p:cxnSp>
        <p:nvCxnSpPr>
          <p:cNvPr id="62" name="Conector recto 61">
            <a:extLst>
              <a:ext uri="{FF2B5EF4-FFF2-40B4-BE49-F238E27FC236}">
                <a16:creationId xmlns:a16="http://schemas.microsoft.com/office/drawing/2014/main" id="{1D8B2AEE-0996-2ED6-88C0-373507FF49E5}"/>
              </a:ext>
            </a:extLst>
          </p:cNvPr>
          <p:cNvCxnSpPr/>
          <p:nvPr/>
        </p:nvCxnSpPr>
        <p:spPr>
          <a:xfrm>
            <a:off x="609600" y="6527800"/>
            <a:ext cx="10972800" cy="0"/>
          </a:xfrm>
          <a:prstGeom prst="line">
            <a:avLst/>
          </a:prstGeom>
          <a:ln w="6350">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3" name="CuadroTexto 62">
            <a:extLst>
              <a:ext uri="{FF2B5EF4-FFF2-40B4-BE49-F238E27FC236}">
                <a16:creationId xmlns:a16="http://schemas.microsoft.com/office/drawing/2014/main" id="{2511AFC3-F843-65BC-E0F0-1C471F0F1542}"/>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38A7C"/>
                </a:solidFill>
                <a:latin typeface="Segoe UI Semibold" panose="020B0702040204020203" pitchFamily="34" charset="0"/>
              </a:rPr>
              <a:t>DIAGNÓSTICO DE PATOLOGÍAS, RECUPERACIÓN Y REHABILITACIÓN DEL HORMIGÓN</a:t>
            </a:r>
            <a:endParaRPr lang="es-BO" sz="700" spc="160">
              <a:solidFill>
                <a:srgbClr val="938A7C"/>
              </a:solidFill>
              <a:latin typeface="Segoe UI Semibold" panose="020B0702040204020203" pitchFamily="34" charset="0"/>
            </a:endParaRPr>
          </a:p>
        </p:txBody>
      </p:sp>
      <p:sp>
        <p:nvSpPr>
          <p:cNvPr id="64" name="CuadroTexto 63">
            <a:extLst>
              <a:ext uri="{FF2B5EF4-FFF2-40B4-BE49-F238E27FC236}">
                <a16:creationId xmlns:a16="http://schemas.microsoft.com/office/drawing/2014/main" id="{57C09CC6-8F8D-3DB2-C14E-C7ABA7BFF0B3}"/>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38A7C"/>
                </a:solidFill>
                <a:latin typeface="Segoe UI" panose="020B0502040204020203" pitchFamily="34" charset="0"/>
              </a:rPr>
              <a:t>CLASE 4 · ATAQUE QUÍMICO</a:t>
            </a:r>
          </a:p>
        </p:txBody>
      </p:sp>
      <p:sp>
        <p:nvSpPr>
          <p:cNvPr id="65" name="PageNo">
            <a:extLst>
              <a:ext uri="{FF2B5EF4-FFF2-40B4-BE49-F238E27FC236}">
                <a16:creationId xmlns:a16="http://schemas.microsoft.com/office/drawing/2014/main" id="{EB2FB166-813F-3823-9A68-D1FA03D5AD97}"/>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1C1813"/>
                </a:solidFill>
                <a:latin typeface="Bahnschrift SemiBold" panose="020B0502040204020203" pitchFamily="34" charset="0"/>
              </a:rPr>
              <a:t>33 / 35</a:t>
            </a:r>
          </a:p>
        </p:txBody>
      </p:sp>
    </p:spTree>
    <p:custDataLst>
      <p:tags r:id="rId1"/>
    </p:custDataLst>
    <p:extLst>
      <p:ext uri="{BB962C8B-B14F-4D97-AF65-F5344CB8AC3E}">
        <p14:creationId xmlns:p14="http://schemas.microsoft.com/office/powerpoint/2010/main" val="3672486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DC33C11-A98C-DCA4-E752-EA7266211EAA}"/>
              </a:ext>
            </a:extLst>
          </p:cNvPr>
          <p:cNvSpPr txBox="1"/>
          <p:nvPr/>
        </p:nvSpPr>
        <p:spPr>
          <a:xfrm>
            <a:off x="609600" y="406400"/>
            <a:ext cx="10972800" cy="177800"/>
          </a:xfrm>
          <a:prstGeom prst="rect">
            <a:avLst/>
          </a:prstGeom>
          <a:noFill/>
        </p:spPr>
        <p:txBody>
          <a:bodyPr vert="horz" wrap="square" lIns="0" tIns="0" rIns="0" bIns="0" rtlCol="0" anchor="t">
            <a:noAutofit/>
          </a:bodyPr>
          <a:lstStyle/>
          <a:p>
            <a:r>
              <a:rPr lang="es-BO" sz="900" spc="180">
                <a:solidFill>
                  <a:srgbClr val="8A6A2F"/>
                </a:solidFill>
                <a:latin typeface="Segoe UI Semibold" panose="020B0702040204020203" pitchFamily="34" charset="0"/>
              </a:rPr>
              <a:t>SÍNTESIS</a:t>
            </a:r>
          </a:p>
        </p:txBody>
      </p:sp>
      <p:sp>
        <p:nvSpPr>
          <p:cNvPr id="3" name="Title">
            <a:extLst>
              <a:ext uri="{FF2B5EF4-FFF2-40B4-BE49-F238E27FC236}">
                <a16:creationId xmlns:a16="http://schemas.microsoft.com/office/drawing/2014/main" id="{958D937C-0DF9-A1A3-14F7-DE8020F333EA}"/>
              </a:ext>
            </a:extLst>
          </p:cNvPr>
          <p:cNvSpPr txBox="1"/>
          <p:nvPr/>
        </p:nvSpPr>
        <p:spPr>
          <a:xfrm>
            <a:off x="609600" y="609600"/>
            <a:ext cx="10972800" cy="508000"/>
          </a:xfrm>
          <a:prstGeom prst="rect">
            <a:avLst/>
          </a:prstGeom>
          <a:noFill/>
        </p:spPr>
        <p:txBody>
          <a:bodyPr vert="horz" wrap="square" lIns="0" tIns="0" rIns="0" bIns="0" rtlCol="0" anchor="t">
            <a:noAutofit/>
          </a:bodyPr>
          <a:lstStyle/>
          <a:p>
            <a:r>
              <a:rPr lang="es-BO" sz="2700">
                <a:solidFill>
                  <a:srgbClr val="FFFFFF"/>
                </a:solidFill>
                <a:latin typeface="Bahnschrift SemiBold" panose="020B0502040204020203" pitchFamily="34" charset="0"/>
              </a:rPr>
              <a:t>Ideas para llevarse</a:t>
            </a:r>
          </a:p>
        </p:txBody>
      </p:sp>
      <p:cxnSp>
        <p:nvCxnSpPr>
          <p:cNvPr id="4" name="Conector recto 3">
            <a:extLst>
              <a:ext uri="{FF2B5EF4-FFF2-40B4-BE49-F238E27FC236}">
                <a16:creationId xmlns:a16="http://schemas.microsoft.com/office/drawing/2014/main" id="{3779978B-AC20-C387-0F90-30708768E763}"/>
              </a:ext>
            </a:extLst>
          </p:cNvPr>
          <p:cNvCxnSpPr/>
          <p:nvPr/>
        </p:nvCxnSpPr>
        <p:spPr>
          <a:xfrm>
            <a:off x="609600" y="1206500"/>
            <a:ext cx="10972800" cy="0"/>
          </a:xfrm>
          <a:prstGeom prst="line">
            <a:avLst/>
          </a:prstGeom>
          <a:ln w="9525">
            <a:solidFill>
              <a:srgbClr val="DCD5C7"/>
            </a:solidFill>
            <a:prstDash val="solid"/>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5EAA7CAC-0D4A-DC6D-2107-BF3AA186E2C5}"/>
              </a:ext>
            </a:extLst>
          </p:cNvPr>
          <p:cNvSpPr/>
          <p:nvPr/>
        </p:nvSpPr>
        <p:spPr>
          <a:xfrm>
            <a:off x="609600" y="14986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CuadroTexto 6">
            <a:extLst>
              <a:ext uri="{FF2B5EF4-FFF2-40B4-BE49-F238E27FC236}">
                <a16:creationId xmlns:a16="http://schemas.microsoft.com/office/drawing/2014/main" id="{6C61DA0B-8835-E693-4F98-5AD5CD0582E8}"/>
              </a:ext>
            </a:extLst>
          </p:cNvPr>
          <p:cNvSpPr txBox="1"/>
          <p:nvPr/>
        </p:nvSpPr>
        <p:spPr>
          <a:xfrm>
            <a:off x="863600" y="16764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01</a:t>
            </a:r>
          </a:p>
        </p:txBody>
      </p:sp>
      <p:sp>
        <p:nvSpPr>
          <p:cNvPr id="8" name="CuadroTexto 7">
            <a:extLst>
              <a:ext uri="{FF2B5EF4-FFF2-40B4-BE49-F238E27FC236}">
                <a16:creationId xmlns:a16="http://schemas.microsoft.com/office/drawing/2014/main" id="{85EE6C5F-A4F1-7859-B0B6-746380F9B68C}"/>
              </a:ext>
            </a:extLst>
          </p:cNvPr>
          <p:cNvSpPr txBox="1"/>
          <p:nvPr/>
        </p:nvSpPr>
        <p:spPr>
          <a:xfrm>
            <a:off x="1625600" y="16764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En el ataque químico la víctima es la pasta de cemento, no la armadura. Es el único mecanismo así del curso.</a:t>
            </a:r>
            <a:endParaRPr lang="es-BO" sz="1250">
              <a:solidFill>
                <a:srgbClr val="FFFFFF"/>
              </a:solidFill>
              <a:latin typeface="Segoe UI" panose="020B0502040204020203" pitchFamily="34" charset="0"/>
            </a:endParaRPr>
          </a:p>
        </p:txBody>
      </p:sp>
      <p:sp>
        <p:nvSpPr>
          <p:cNvPr id="9" name="Rectángulo 8">
            <a:extLst>
              <a:ext uri="{FF2B5EF4-FFF2-40B4-BE49-F238E27FC236}">
                <a16:creationId xmlns:a16="http://schemas.microsoft.com/office/drawing/2014/main" id="{9B610DFC-BE92-9027-84EC-D3FEB34C532D}"/>
              </a:ext>
            </a:extLst>
          </p:cNvPr>
          <p:cNvSpPr/>
          <p:nvPr/>
        </p:nvSpPr>
        <p:spPr>
          <a:xfrm>
            <a:off x="6248400" y="14986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0" name="CuadroTexto 9">
            <a:extLst>
              <a:ext uri="{FF2B5EF4-FFF2-40B4-BE49-F238E27FC236}">
                <a16:creationId xmlns:a16="http://schemas.microsoft.com/office/drawing/2014/main" id="{45465F72-D115-7430-BE74-DC1046B1938C}"/>
              </a:ext>
            </a:extLst>
          </p:cNvPr>
          <p:cNvSpPr txBox="1"/>
          <p:nvPr/>
        </p:nvSpPr>
        <p:spPr>
          <a:xfrm>
            <a:off x="6502400" y="16764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02</a:t>
            </a:r>
          </a:p>
        </p:txBody>
      </p:sp>
      <p:sp>
        <p:nvSpPr>
          <p:cNvPr id="11" name="CuadroTexto 10">
            <a:extLst>
              <a:ext uri="{FF2B5EF4-FFF2-40B4-BE49-F238E27FC236}">
                <a16:creationId xmlns:a16="http://schemas.microsoft.com/office/drawing/2014/main" id="{A26C44DE-0921-5814-F777-3A5309A1D7B9}"/>
              </a:ext>
            </a:extLst>
          </p:cNvPr>
          <p:cNvSpPr txBox="1"/>
          <p:nvPr/>
        </p:nvSpPr>
        <p:spPr>
          <a:xfrm>
            <a:off x="7264400" y="16764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Hay tres modos: disolver, expandir y sustituir. Lo que disuelve se ve en la superficie; lo que expande, cuando ya rompió.</a:t>
            </a:r>
            <a:endParaRPr lang="es-BO" sz="1250">
              <a:solidFill>
                <a:srgbClr val="FFFFFF"/>
              </a:solidFill>
              <a:latin typeface="Segoe UI" panose="020B0502040204020203" pitchFamily="34" charset="0"/>
            </a:endParaRPr>
          </a:p>
        </p:txBody>
      </p:sp>
      <p:sp>
        <p:nvSpPr>
          <p:cNvPr id="12" name="Rectángulo 11">
            <a:extLst>
              <a:ext uri="{FF2B5EF4-FFF2-40B4-BE49-F238E27FC236}">
                <a16:creationId xmlns:a16="http://schemas.microsoft.com/office/drawing/2014/main" id="{2D77994D-ED19-C0ED-0C20-E7FD4C42C13D}"/>
              </a:ext>
            </a:extLst>
          </p:cNvPr>
          <p:cNvSpPr/>
          <p:nvPr/>
        </p:nvSpPr>
        <p:spPr>
          <a:xfrm>
            <a:off x="609600" y="29718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3" name="CuadroTexto 12">
            <a:extLst>
              <a:ext uri="{FF2B5EF4-FFF2-40B4-BE49-F238E27FC236}">
                <a16:creationId xmlns:a16="http://schemas.microsoft.com/office/drawing/2014/main" id="{B4105870-5B2F-E929-A184-12101F106FA9}"/>
              </a:ext>
            </a:extLst>
          </p:cNvPr>
          <p:cNvSpPr txBox="1"/>
          <p:nvPr/>
        </p:nvSpPr>
        <p:spPr>
          <a:xfrm>
            <a:off x="863600" y="31496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03</a:t>
            </a:r>
          </a:p>
        </p:txBody>
      </p:sp>
      <p:sp>
        <p:nvSpPr>
          <p:cNvPr id="14" name="CuadroTexto 13">
            <a:extLst>
              <a:ext uri="{FF2B5EF4-FFF2-40B4-BE49-F238E27FC236}">
                <a16:creationId xmlns:a16="http://schemas.microsoft.com/office/drawing/2014/main" id="{7B21E751-11C2-60DB-520A-9C9EBBB72F29}"/>
              </a:ext>
            </a:extLst>
          </p:cNvPr>
          <p:cNvSpPr txBox="1"/>
          <p:nvPr/>
        </p:nvSpPr>
        <p:spPr>
          <a:xfrm>
            <a:off x="1625600" y="31496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La clase de exposición fija a/c, resistencia y tipo de cemento antes de calcular nada. Casi nadie la comprueba.</a:t>
            </a:r>
            <a:endParaRPr lang="es-BO" sz="1250">
              <a:solidFill>
                <a:srgbClr val="FFFFFF"/>
              </a:solidFill>
              <a:latin typeface="Segoe UI" panose="020B0502040204020203" pitchFamily="34" charset="0"/>
            </a:endParaRPr>
          </a:p>
        </p:txBody>
      </p:sp>
      <p:sp>
        <p:nvSpPr>
          <p:cNvPr id="15" name="Rectángulo 14">
            <a:extLst>
              <a:ext uri="{FF2B5EF4-FFF2-40B4-BE49-F238E27FC236}">
                <a16:creationId xmlns:a16="http://schemas.microsoft.com/office/drawing/2014/main" id="{AA176E60-648B-3CD7-2FDD-D37FDD7ED371}"/>
              </a:ext>
            </a:extLst>
          </p:cNvPr>
          <p:cNvSpPr/>
          <p:nvPr/>
        </p:nvSpPr>
        <p:spPr>
          <a:xfrm>
            <a:off x="6248400" y="29718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6" name="CuadroTexto 15">
            <a:extLst>
              <a:ext uri="{FF2B5EF4-FFF2-40B4-BE49-F238E27FC236}">
                <a16:creationId xmlns:a16="http://schemas.microsoft.com/office/drawing/2014/main" id="{5C997736-66CA-1EAC-4F39-B07729782FD1}"/>
              </a:ext>
            </a:extLst>
          </p:cNvPr>
          <p:cNvSpPr txBox="1"/>
          <p:nvPr/>
        </p:nvSpPr>
        <p:spPr>
          <a:xfrm>
            <a:off x="6502400" y="31496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04</a:t>
            </a:r>
          </a:p>
        </p:txBody>
      </p:sp>
      <p:sp>
        <p:nvSpPr>
          <p:cNvPr id="17" name="CuadroTexto 16">
            <a:extLst>
              <a:ext uri="{FF2B5EF4-FFF2-40B4-BE49-F238E27FC236}">
                <a16:creationId xmlns:a16="http://schemas.microsoft.com/office/drawing/2014/main" id="{F86034F4-0D45-D4C8-AFCC-836FD02DDADF}"/>
              </a:ext>
            </a:extLst>
          </p:cNvPr>
          <p:cNvSpPr txBox="1"/>
          <p:nvPr/>
        </p:nvSpPr>
        <p:spPr>
          <a:xfrm>
            <a:off x="7264400" y="31496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Ningún hormigón resiste un ácido: solo se disuelve más despacio. Por debajo de pH 4,5 hace falta otra barrera.</a:t>
            </a:r>
            <a:endParaRPr lang="es-BO" sz="1250">
              <a:solidFill>
                <a:srgbClr val="FFFFFF"/>
              </a:solidFill>
              <a:latin typeface="Segoe UI" panose="020B0502040204020203" pitchFamily="34" charset="0"/>
            </a:endParaRPr>
          </a:p>
        </p:txBody>
      </p:sp>
      <p:sp>
        <p:nvSpPr>
          <p:cNvPr id="18" name="Rectángulo 17">
            <a:extLst>
              <a:ext uri="{FF2B5EF4-FFF2-40B4-BE49-F238E27FC236}">
                <a16:creationId xmlns:a16="http://schemas.microsoft.com/office/drawing/2014/main" id="{BD421DBB-918B-4386-DE39-3A80655A00EA}"/>
              </a:ext>
            </a:extLst>
          </p:cNvPr>
          <p:cNvSpPr/>
          <p:nvPr/>
        </p:nvSpPr>
        <p:spPr>
          <a:xfrm>
            <a:off x="609600" y="44450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9" name="CuadroTexto 18">
            <a:extLst>
              <a:ext uri="{FF2B5EF4-FFF2-40B4-BE49-F238E27FC236}">
                <a16:creationId xmlns:a16="http://schemas.microsoft.com/office/drawing/2014/main" id="{C647C983-DA58-AE13-0708-D6CE3DBE58E3}"/>
              </a:ext>
            </a:extLst>
          </p:cNvPr>
          <p:cNvSpPr txBox="1"/>
          <p:nvPr/>
        </p:nvSpPr>
        <p:spPr>
          <a:xfrm>
            <a:off x="863600" y="46228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05</a:t>
            </a:r>
          </a:p>
        </p:txBody>
      </p:sp>
      <p:sp>
        <p:nvSpPr>
          <p:cNvPr id="20" name="CuadroTexto 19">
            <a:extLst>
              <a:ext uri="{FF2B5EF4-FFF2-40B4-BE49-F238E27FC236}">
                <a16:creationId xmlns:a16="http://schemas.microsoft.com/office/drawing/2014/main" id="{25EF240D-7C36-4D79-AB28-5A39495D0A61}"/>
              </a:ext>
            </a:extLst>
          </p:cNvPr>
          <p:cNvSpPr txBox="1"/>
          <p:nvPr/>
        </p:nvSpPr>
        <p:spPr>
          <a:xfrm>
            <a:off x="1625600" y="46228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En un colector el ácido nace en la pared, no viene en el agua. Por eso el daño está en la bóveda y no en el fondo.</a:t>
            </a:r>
            <a:endParaRPr lang="es-BO" sz="1250">
              <a:solidFill>
                <a:srgbClr val="FFFFFF"/>
              </a:solidFill>
              <a:latin typeface="Segoe UI" panose="020B0502040204020203" pitchFamily="34" charset="0"/>
            </a:endParaRPr>
          </a:p>
        </p:txBody>
      </p:sp>
      <p:sp>
        <p:nvSpPr>
          <p:cNvPr id="21" name="Rectángulo 20">
            <a:extLst>
              <a:ext uri="{FF2B5EF4-FFF2-40B4-BE49-F238E27FC236}">
                <a16:creationId xmlns:a16="http://schemas.microsoft.com/office/drawing/2014/main" id="{2CA88F57-593C-D7E0-D506-B69AF4B26D55}"/>
              </a:ext>
            </a:extLst>
          </p:cNvPr>
          <p:cNvSpPr/>
          <p:nvPr/>
        </p:nvSpPr>
        <p:spPr>
          <a:xfrm>
            <a:off x="6248400" y="4445000"/>
            <a:ext cx="5334000" cy="1295400"/>
          </a:xfrm>
          <a:prstGeom prst="rect">
            <a:avLst/>
          </a:prstGeom>
          <a:solidFill>
            <a:srgbClr val="241F18"/>
          </a:solidFill>
          <a:ln w="6350">
            <a:solidFill>
              <a:srgbClr val="3A32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22" name="CuadroTexto 21">
            <a:extLst>
              <a:ext uri="{FF2B5EF4-FFF2-40B4-BE49-F238E27FC236}">
                <a16:creationId xmlns:a16="http://schemas.microsoft.com/office/drawing/2014/main" id="{218D8CB6-051F-2FE1-458D-C1119653334A}"/>
              </a:ext>
            </a:extLst>
          </p:cNvPr>
          <p:cNvSpPr txBox="1"/>
          <p:nvPr/>
        </p:nvSpPr>
        <p:spPr>
          <a:xfrm>
            <a:off x="6502400" y="4622800"/>
            <a:ext cx="762000" cy="508000"/>
          </a:xfrm>
          <a:prstGeom prst="rect">
            <a:avLst/>
          </a:prstGeom>
          <a:noFill/>
        </p:spPr>
        <p:txBody>
          <a:bodyPr vert="horz" wrap="square" lIns="0" tIns="0" rIns="0" bIns="0" rtlCol="0" anchor="t">
            <a:noAutofit/>
          </a:bodyPr>
          <a:lstStyle/>
          <a:p>
            <a:r>
              <a:rPr lang="es-BO" sz="2800">
                <a:solidFill>
                  <a:srgbClr val="C9A66B"/>
                </a:solidFill>
                <a:latin typeface="Bahnschrift Light" panose="020B0502040204020203" pitchFamily="34" charset="0"/>
              </a:rPr>
              <a:t>06</a:t>
            </a:r>
          </a:p>
        </p:txBody>
      </p:sp>
      <p:sp>
        <p:nvSpPr>
          <p:cNvPr id="23" name="CuadroTexto 22">
            <a:extLst>
              <a:ext uri="{FF2B5EF4-FFF2-40B4-BE49-F238E27FC236}">
                <a16:creationId xmlns:a16="http://schemas.microsoft.com/office/drawing/2014/main" id="{946D6757-5702-2BA2-4FFF-7E4E64BB4280}"/>
              </a:ext>
            </a:extLst>
          </p:cNvPr>
          <p:cNvSpPr txBox="1"/>
          <p:nvPr/>
        </p:nvSpPr>
        <p:spPr>
          <a:xfrm>
            <a:off x="7264400" y="4622800"/>
            <a:ext cx="4089400" cy="965200"/>
          </a:xfrm>
          <a:prstGeom prst="rect">
            <a:avLst/>
          </a:prstGeom>
          <a:noFill/>
        </p:spPr>
        <p:txBody>
          <a:bodyPr vert="horz" wrap="square" lIns="0" tIns="0" rIns="0" bIns="0" rtlCol="0" anchor="ctr">
            <a:noAutofit/>
          </a:bodyPr>
          <a:lstStyle/>
          <a:p>
            <a:pPr algn="l"/>
            <a:r>
              <a:rPr lang="es-MX" sz="1250">
                <a:solidFill>
                  <a:srgbClr val="FFFFFF"/>
                </a:solidFill>
                <a:latin typeface="Segoe UI" panose="020B0502040204020203" pitchFamily="34" charset="0"/>
              </a:rPr>
              <a:t>Sobre lo construido no se cambia el cemento: solo se corta el agua, se interpone una barrera o se sustituye el elemento.</a:t>
            </a:r>
            <a:endParaRPr lang="es-BO" sz="1250">
              <a:solidFill>
                <a:srgbClr val="FFFFFF"/>
              </a:solidFill>
              <a:latin typeface="Segoe UI" panose="020B0502040204020203" pitchFamily="34" charset="0"/>
            </a:endParaRPr>
          </a:p>
        </p:txBody>
      </p:sp>
      <p:cxnSp>
        <p:nvCxnSpPr>
          <p:cNvPr id="24" name="Conector recto 23">
            <a:extLst>
              <a:ext uri="{FF2B5EF4-FFF2-40B4-BE49-F238E27FC236}">
                <a16:creationId xmlns:a16="http://schemas.microsoft.com/office/drawing/2014/main" id="{6ACAD6D0-C9B8-7F8F-5BB5-D2E24728EA31}"/>
              </a:ext>
            </a:extLst>
          </p:cNvPr>
          <p:cNvCxnSpPr/>
          <p:nvPr/>
        </p:nvCxnSpPr>
        <p:spPr>
          <a:xfrm>
            <a:off x="609600" y="6527800"/>
            <a:ext cx="10972800" cy="0"/>
          </a:xfrm>
          <a:prstGeom prst="line">
            <a:avLst/>
          </a:prstGeom>
          <a:ln w="6350">
            <a:solidFill>
              <a:srgbClr val="3A3227"/>
            </a:solidFill>
            <a:prstDash val="solid"/>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329B30FC-EFBA-5475-E3D7-EA8061A495D9}"/>
              </a:ext>
            </a:extLst>
          </p:cNvPr>
          <p:cNvSpPr txBox="1"/>
          <p:nvPr/>
        </p:nvSpPr>
        <p:spPr>
          <a:xfrm>
            <a:off x="609600" y="6604000"/>
            <a:ext cx="2794000" cy="152400"/>
          </a:xfrm>
          <a:prstGeom prst="rect">
            <a:avLst/>
          </a:prstGeom>
          <a:noFill/>
        </p:spPr>
        <p:txBody>
          <a:bodyPr vert="horz" wrap="square" lIns="0" tIns="0" rIns="0" bIns="0" rtlCol="0" anchor="t">
            <a:noAutofit/>
          </a:bodyPr>
          <a:lstStyle/>
          <a:p>
            <a:r>
              <a:rPr lang="es-MX" sz="700" spc="160">
                <a:solidFill>
                  <a:srgbClr val="9C9284"/>
                </a:solidFill>
                <a:latin typeface="Segoe UI Semibold" panose="020B0702040204020203" pitchFamily="34" charset="0"/>
              </a:rPr>
              <a:t>DIAGNÓSTICO DE PATOLOGÍAS, RECUPERACIÓN Y REHABILITACIÓN DEL HORMIGÓN</a:t>
            </a:r>
            <a:endParaRPr lang="es-BO" sz="700" spc="160">
              <a:solidFill>
                <a:srgbClr val="9C9284"/>
              </a:solidFill>
              <a:latin typeface="Segoe UI Semibold" panose="020B0702040204020203" pitchFamily="34" charset="0"/>
            </a:endParaRPr>
          </a:p>
        </p:txBody>
      </p:sp>
      <p:sp>
        <p:nvSpPr>
          <p:cNvPr id="26" name="CuadroTexto 25">
            <a:extLst>
              <a:ext uri="{FF2B5EF4-FFF2-40B4-BE49-F238E27FC236}">
                <a16:creationId xmlns:a16="http://schemas.microsoft.com/office/drawing/2014/main" id="{AFC9D44A-5847-74CC-85CA-138081A4C4B6}"/>
              </a:ext>
            </a:extLst>
          </p:cNvPr>
          <p:cNvSpPr txBox="1"/>
          <p:nvPr/>
        </p:nvSpPr>
        <p:spPr>
          <a:xfrm>
            <a:off x="3937000" y="6604000"/>
            <a:ext cx="4318000" cy="152400"/>
          </a:xfrm>
          <a:prstGeom prst="rect">
            <a:avLst/>
          </a:prstGeom>
          <a:noFill/>
        </p:spPr>
        <p:txBody>
          <a:bodyPr vert="horz" wrap="square" lIns="0" tIns="0" rIns="0" bIns="0" rtlCol="0" anchor="t">
            <a:noAutofit/>
          </a:bodyPr>
          <a:lstStyle/>
          <a:p>
            <a:pPr algn="ctr"/>
            <a:r>
              <a:rPr lang="es-BO" sz="700" spc="130">
                <a:solidFill>
                  <a:srgbClr val="9C9284"/>
                </a:solidFill>
                <a:latin typeface="Segoe UI" panose="020B0502040204020203" pitchFamily="34" charset="0"/>
              </a:rPr>
              <a:t>CLASE 4 · ATAQUE QUÍMICO</a:t>
            </a:r>
          </a:p>
        </p:txBody>
      </p:sp>
      <p:sp>
        <p:nvSpPr>
          <p:cNvPr id="27" name="PageNo">
            <a:extLst>
              <a:ext uri="{FF2B5EF4-FFF2-40B4-BE49-F238E27FC236}">
                <a16:creationId xmlns:a16="http://schemas.microsoft.com/office/drawing/2014/main" id="{8021F271-CCF0-9070-7698-6E0E174899C0}"/>
              </a:ext>
            </a:extLst>
          </p:cNvPr>
          <p:cNvSpPr txBox="1"/>
          <p:nvPr/>
        </p:nvSpPr>
        <p:spPr>
          <a:xfrm>
            <a:off x="10439400" y="6578600"/>
            <a:ext cx="1143000" cy="177800"/>
          </a:xfrm>
          <a:prstGeom prst="rect">
            <a:avLst/>
          </a:prstGeom>
          <a:noFill/>
        </p:spPr>
        <p:txBody>
          <a:bodyPr vert="horz" wrap="square" lIns="0" tIns="0" rIns="0" bIns="0" rtlCol="0" anchor="t">
            <a:noAutofit/>
          </a:bodyPr>
          <a:lstStyle/>
          <a:p>
            <a:pPr algn="r"/>
            <a:r>
              <a:rPr lang="es-BO" sz="900">
                <a:solidFill>
                  <a:srgbClr val="C9A66B"/>
                </a:solidFill>
                <a:latin typeface="Bahnschrift SemiBold" panose="020B0502040204020203" pitchFamily="34" charset="0"/>
              </a:rPr>
              <a:t>34 / 35</a:t>
            </a:r>
          </a:p>
        </p:txBody>
      </p:sp>
    </p:spTree>
    <p:extLst>
      <p:ext uri="{BB962C8B-B14F-4D97-AF65-F5344CB8AC3E}">
        <p14:creationId xmlns:p14="http://schemas.microsoft.com/office/powerpoint/2010/main" val="3108387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C1813"/>
        </a:solidFill>
        <a:effectLst/>
      </p:bgPr>
    </p:bg>
    <p:spTree>
      <p:nvGrpSpPr>
        <p:cNvPr id="1" name=""/>
        <p:cNvGrpSpPr/>
        <p:nvPr/>
      </p:nvGrpSpPr>
      <p:grpSpPr>
        <a:xfrm>
          <a:off x="0" y="0"/>
          <a:ext cx="0" cy="0"/>
          <a:chOff x="0" y="0"/>
          <a:chExt cx="0" cy="0"/>
        </a:xfrm>
      </p:grpSpPr>
      <p:pic>
        <p:nvPicPr>
          <p:cNvPr id="3" name="Imagen 2" descr="Extracción de testigos de hormigón">
            <a:extLst>
              <a:ext uri="{FF2B5EF4-FFF2-40B4-BE49-F238E27FC236}">
                <a16:creationId xmlns:a16="http://schemas.microsoft.com/office/drawing/2014/main" id="{CB78F875-B821-A0DE-99FA-CEB7D2A5D0C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97EA06EC-66B7-A5D2-424E-B59D70B10CAD}"/>
              </a:ext>
            </a:extLst>
          </p:cNvPr>
          <p:cNvSpPr/>
          <p:nvPr/>
        </p:nvSpPr>
        <p:spPr>
          <a:xfrm>
            <a:off x="0" y="0"/>
            <a:ext cx="10668000" cy="6858000"/>
          </a:xfrm>
          <a:prstGeom prst="rect">
            <a:avLst/>
          </a:prstGeom>
          <a:gradFill flip="none" rotWithShape="1">
            <a:gsLst>
              <a:gs pos="0">
                <a:srgbClr val="1C1813"/>
              </a:gs>
              <a:gs pos="100000">
                <a:srgbClr val="1C1813">
                  <a:alpha val="0"/>
                </a:srgb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5" name="Rectángulo 4">
            <a:extLst>
              <a:ext uri="{FF2B5EF4-FFF2-40B4-BE49-F238E27FC236}">
                <a16:creationId xmlns:a16="http://schemas.microsoft.com/office/drawing/2014/main" id="{B19A161A-4D2D-55C8-2A56-9190461B9353}"/>
              </a:ext>
            </a:extLst>
          </p:cNvPr>
          <p:cNvSpPr/>
          <p:nvPr/>
        </p:nvSpPr>
        <p:spPr>
          <a:xfrm>
            <a:off x="0" y="0"/>
            <a:ext cx="12192000" cy="6858000"/>
          </a:xfrm>
          <a:prstGeom prst="rect">
            <a:avLst/>
          </a:prstGeom>
          <a:solidFill>
            <a:srgbClr val="1C1813">
              <a:alpha val="40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6" name="Rectángulo 5">
            <a:extLst>
              <a:ext uri="{FF2B5EF4-FFF2-40B4-BE49-F238E27FC236}">
                <a16:creationId xmlns:a16="http://schemas.microsoft.com/office/drawing/2014/main" id="{970F7037-C1D1-B853-0E39-6DDF9FCE2400}"/>
              </a:ext>
            </a:extLst>
          </p:cNvPr>
          <p:cNvSpPr/>
          <p:nvPr/>
        </p:nvSpPr>
        <p:spPr>
          <a:xfrm>
            <a:off x="609600" y="1905000"/>
            <a:ext cx="330200" cy="25400"/>
          </a:xfrm>
          <a:prstGeom prst="rect">
            <a:avLst/>
          </a:prstGeom>
          <a:solidFill>
            <a:srgbClr val="8A6A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7" name="CuadroTexto 6">
            <a:extLst>
              <a:ext uri="{FF2B5EF4-FFF2-40B4-BE49-F238E27FC236}">
                <a16:creationId xmlns:a16="http://schemas.microsoft.com/office/drawing/2014/main" id="{11C53C3F-9C04-F740-4FCE-1FA5AADD1096}"/>
              </a:ext>
            </a:extLst>
          </p:cNvPr>
          <p:cNvSpPr txBox="1"/>
          <p:nvPr/>
        </p:nvSpPr>
        <p:spPr>
          <a:xfrm>
            <a:off x="1066800" y="1828800"/>
            <a:ext cx="6350000" cy="177800"/>
          </a:xfrm>
          <a:prstGeom prst="rect">
            <a:avLst/>
          </a:prstGeom>
          <a:noFill/>
        </p:spPr>
        <p:txBody>
          <a:bodyPr vert="horz" wrap="square" lIns="0" tIns="0" rIns="0" bIns="0" rtlCol="0" anchor="t">
            <a:noAutofit/>
          </a:bodyPr>
          <a:lstStyle/>
          <a:p>
            <a:r>
              <a:rPr lang="es-MX" sz="1000" spc="180">
                <a:solidFill>
                  <a:srgbClr val="C9A66B"/>
                </a:solidFill>
                <a:latin typeface="Segoe UI Semibold" panose="020B0702040204020203" pitchFamily="34" charset="0"/>
              </a:rPr>
              <a:t>FIN DE LA CLASE 4</a:t>
            </a:r>
            <a:endParaRPr lang="es-BO" sz="1000" spc="180">
              <a:solidFill>
                <a:srgbClr val="C9A66B"/>
              </a:solidFill>
              <a:latin typeface="Segoe UI Semibold" panose="020B0702040204020203" pitchFamily="34" charset="0"/>
            </a:endParaRPr>
          </a:p>
        </p:txBody>
      </p:sp>
      <p:sp>
        <p:nvSpPr>
          <p:cNvPr id="8" name="Title">
            <a:extLst>
              <a:ext uri="{FF2B5EF4-FFF2-40B4-BE49-F238E27FC236}">
                <a16:creationId xmlns:a16="http://schemas.microsoft.com/office/drawing/2014/main" id="{975F0037-BB25-C18F-EDC2-510772A1AF25}"/>
              </a:ext>
            </a:extLst>
          </p:cNvPr>
          <p:cNvSpPr txBox="1"/>
          <p:nvPr/>
        </p:nvSpPr>
        <p:spPr>
          <a:xfrm>
            <a:off x="584200" y="2184400"/>
            <a:ext cx="7620000" cy="889000"/>
          </a:xfrm>
          <a:prstGeom prst="rect">
            <a:avLst/>
          </a:prstGeom>
          <a:noFill/>
        </p:spPr>
        <p:txBody>
          <a:bodyPr vert="horz" wrap="square" lIns="0" tIns="0" rIns="0" bIns="0" rtlCol="0" anchor="t">
            <a:noAutofit/>
          </a:bodyPr>
          <a:lstStyle/>
          <a:p>
            <a:r>
              <a:rPr lang="es-BO" sz="4400">
                <a:solidFill>
                  <a:srgbClr val="FFFFFF"/>
                </a:solidFill>
                <a:latin typeface="Bahnschrift SemiBold" panose="020B0502040204020203" pitchFamily="34" charset="0"/>
              </a:rPr>
              <a:t>Gracias. ¿Preguntas?</a:t>
            </a:r>
          </a:p>
        </p:txBody>
      </p:sp>
      <p:sp>
        <p:nvSpPr>
          <p:cNvPr id="9" name="CuadroTexto 8">
            <a:extLst>
              <a:ext uri="{FF2B5EF4-FFF2-40B4-BE49-F238E27FC236}">
                <a16:creationId xmlns:a16="http://schemas.microsoft.com/office/drawing/2014/main" id="{C709B2B0-B292-63F0-2146-925451FE874E}"/>
              </a:ext>
            </a:extLst>
          </p:cNvPr>
          <p:cNvSpPr txBox="1"/>
          <p:nvPr/>
        </p:nvSpPr>
        <p:spPr>
          <a:xfrm>
            <a:off x="609600" y="3327400"/>
            <a:ext cx="6350000" cy="203200"/>
          </a:xfrm>
          <a:prstGeom prst="rect">
            <a:avLst/>
          </a:prstGeom>
          <a:noFill/>
        </p:spPr>
        <p:txBody>
          <a:bodyPr vert="horz" wrap="square" lIns="0" tIns="0" rIns="0" bIns="0" rtlCol="0" anchor="t">
            <a:noAutofit/>
          </a:bodyPr>
          <a:lstStyle/>
          <a:p>
            <a:r>
              <a:rPr lang="es-BO" sz="900" spc="180">
                <a:solidFill>
                  <a:srgbClr val="CFC7B8"/>
                </a:solidFill>
                <a:latin typeface="Segoe UI Semibold" panose="020B0702040204020203" pitchFamily="34" charset="0"/>
              </a:rPr>
              <a:t>PRÓXIMA CLASE</a:t>
            </a:r>
          </a:p>
        </p:txBody>
      </p:sp>
      <p:sp>
        <p:nvSpPr>
          <p:cNvPr id="10" name="CuadroTexto 9">
            <a:extLst>
              <a:ext uri="{FF2B5EF4-FFF2-40B4-BE49-F238E27FC236}">
                <a16:creationId xmlns:a16="http://schemas.microsoft.com/office/drawing/2014/main" id="{1AF4D9A1-61B2-5D5D-683A-BB7F7278A144}"/>
              </a:ext>
            </a:extLst>
          </p:cNvPr>
          <p:cNvSpPr txBox="1"/>
          <p:nvPr/>
        </p:nvSpPr>
        <p:spPr>
          <a:xfrm>
            <a:off x="609600" y="3581400"/>
            <a:ext cx="7112000" cy="762000"/>
          </a:xfrm>
          <a:prstGeom prst="rect">
            <a:avLst/>
          </a:prstGeom>
          <a:noFill/>
        </p:spPr>
        <p:txBody>
          <a:bodyPr vert="horz" wrap="square" lIns="0" tIns="0" rIns="0" bIns="0" rtlCol="0" anchor="t">
            <a:noAutofit/>
          </a:bodyPr>
          <a:lstStyle/>
          <a:p>
            <a:pPr algn="l"/>
            <a:r>
              <a:rPr lang="es-MX" sz="2000" i="1">
                <a:solidFill>
                  <a:srgbClr val="C9A66B"/>
                </a:solidFill>
                <a:latin typeface="Constantia" panose="02030602050306030303" pitchFamily="18" charset="0"/>
              </a:rPr>
              <a:t>Diagnóstico: la campaña de ensayos, de los no destructivos a los testigos, y el informe que se defiende</a:t>
            </a:r>
            <a:endParaRPr lang="es-BO" sz="2000" i="1">
              <a:solidFill>
                <a:srgbClr val="C9A66B"/>
              </a:solidFill>
              <a:latin typeface="Constantia" panose="02030602050306030303" pitchFamily="18" charset="0"/>
            </a:endParaRPr>
          </a:p>
        </p:txBody>
      </p:sp>
      <p:sp>
        <p:nvSpPr>
          <p:cNvPr id="11" name="CuadroTexto 10">
            <a:extLst>
              <a:ext uri="{FF2B5EF4-FFF2-40B4-BE49-F238E27FC236}">
                <a16:creationId xmlns:a16="http://schemas.microsoft.com/office/drawing/2014/main" id="{FFCB2BEF-AFFE-4D1B-25E0-2AA69698EFF7}"/>
              </a:ext>
            </a:extLst>
          </p:cNvPr>
          <p:cNvSpPr txBox="1"/>
          <p:nvPr/>
        </p:nvSpPr>
        <p:spPr>
          <a:xfrm>
            <a:off x="609600" y="5435600"/>
            <a:ext cx="6604000" cy="203200"/>
          </a:xfrm>
          <a:prstGeom prst="rect">
            <a:avLst/>
          </a:prstGeom>
          <a:noFill/>
        </p:spPr>
        <p:txBody>
          <a:bodyPr vert="horz" wrap="square" lIns="0" tIns="0" rIns="0" bIns="0" rtlCol="0" anchor="t">
            <a:noAutofit/>
          </a:bodyPr>
          <a:lstStyle/>
          <a:p>
            <a:pPr algn="l"/>
            <a:r>
              <a:rPr lang="nn-NO" sz="1300">
                <a:solidFill>
                  <a:srgbClr val="FFFFFF"/>
                </a:solidFill>
                <a:latin typeface="Bahnschrift SemiBold" panose="020B0502040204020203" pitchFamily="34" charset="0"/>
              </a:rPr>
              <a:t>Ing. Kevin Yerko Vera Careaga</a:t>
            </a:r>
            <a:endParaRPr lang="es-BO" sz="1300">
              <a:solidFill>
                <a:srgbClr val="FFFFFF"/>
              </a:solidFill>
              <a:latin typeface="Bahnschrift SemiBold" panose="020B0502040204020203" pitchFamily="34" charset="0"/>
            </a:endParaRPr>
          </a:p>
        </p:txBody>
      </p:sp>
      <p:sp>
        <p:nvSpPr>
          <p:cNvPr id="12" name="CuadroTexto 11">
            <a:extLst>
              <a:ext uri="{FF2B5EF4-FFF2-40B4-BE49-F238E27FC236}">
                <a16:creationId xmlns:a16="http://schemas.microsoft.com/office/drawing/2014/main" id="{D4DB530C-7843-0CC1-460B-7C00851D0BC0}"/>
              </a:ext>
            </a:extLst>
          </p:cNvPr>
          <p:cNvSpPr txBox="1"/>
          <p:nvPr/>
        </p:nvSpPr>
        <p:spPr>
          <a:xfrm>
            <a:off x="609600" y="5676900"/>
            <a:ext cx="7620000" cy="381000"/>
          </a:xfrm>
          <a:prstGeom prst="rect">
            <a:avLst/>
          </a:prstGeom>
          <a:noFill/>
        </p:spPr>
        <p:txBody>
          <a:bodyPr vert="horz" wrap="square" lIns="0" tIns="0" rIns="0" bIns="0" rtlCol="0" anchor="t">
            <a:noAutofit/>
          </a:bodyPr>
          <a:lstStyle/>
          <a:p>
            <a:pPr algn="l"/>
            <a:r>
              <a:rPr lang="es-MX" sz="1050">
                <a:solidFill>
                  <a:srgbClr val="CFC7B8"/>
                </a:solidFill>
                <a:latin typeface="Segoe UI" panose="020B0502040204020203" pitchFamily="34" charset="0"/>
              </a:rPr>
              <a:t>Ingeniero Civil · NRI 57148</a:t>
            </a:r>
          </a:p>
          <a:p>
            <a:pPr algn="l"/>
            <a:r>
              <a:rPr lang="es-MX" sz="1050">
                <a:solidFill>
                  <a:srgbClr val="CFC7B8"/>
                </a:solidFill>
                <a:latin typeface="Segoe UI" panose="020B0502040204020203" pitchFamily="34" charset="0"/>
              </a:rPr>
              <a:t>kevin.yerko.vc@gmail.com  ·  +591 78406014  ·  La Paz, Bolivia</a:t>
            </a:r>
            <a:endParaRPr lang="es-BO" sz="1050">
              <a:solidFill>
                <a:srgbClr val="CFC7B8"/>
              </a:solidFill>
              <a:latin typeface="Segoe UI" panose="020B0502040204020203" pitchFamily="34" charset="0"/>
            </a:endParaRPr>
          </a:p>
        </p:txBody>
      </p:sp>
      <p:sp>
        <p:nvSpPr>
          <p:cNvPr id="13" name="Monograma">
            <a:extLst>
              <a:ext uri="{FF2B5EF4-FFF2-40B4-BE49-F238E27FC236}">
                <a16:creationId xmlns:a16="http://schemas.microsoft.com/office/drawing/2014/main" id="{3F365D1E-DEC2-055B-916B-51AB013DD248}"/>
              </a:ext>
            </a:extLst>
          </p:cNvPr>
          <p:cNvSpPr/>
          <p:nvPr/>
        </p:nvSpPr>
        <p:spPr>
          <a:xfrm>
            <a:off x="10998200" y="508000"/>
            <a:ext cx="584200" cy="584200"/>
          </a:xfrm>
          <a:prstGeom prst="ellipse">
            <a:avLst/>
          </a:prstGeom>
          <a:noFill/>
          <a:ln w="15875">
            <a:solidFill>
              <a:srgbClr val="8A6A2F"/>
            </a:solidFill>
          </a:ln>
          <a:extLst>
            <a:ext uri="{909E8E84-426E-40DD-AFC4-6F175D3DCCD1}">
              <a14:hiddenFill xmlns:a14="http://schemas.microsoft.com/office/drawing/2010/main">
                <a:solidFill>
                  <a:srgbClr val="1C181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pPr>
            <a:r>
              <a:rPr lang="es-BO" sz="1104">
                <a:solidFill>
                  <a:srgbClr val="8A6A2F"/>
                </a:solidFill>
                <a:latin typeface="Bahnschrift SemiBold" panose="020B0502040204020203" pitchFamily="34" charset="0"/>
              </a:rPr>
              <a:t>KY</a:t>
            </a:r>
          </a:p>
          <a:p>
            <a:pPr algn="ctr">
              <a:lnSpc>
                <a:spcPct val="80000"/>
              </a:lnSpc>
            </a:pPr>
            <a:r>
              <a:rPr lang="es-BO" sz="1104">
                <a:solidFill>
                  <a:srgbClr val="8A6A2F"/>
                </a:solidFill>
                <a:latin typeface="Bahnschrift SemiBold" panose="020B0502040204020203" pitchFamily="34" charset="0"/>
              </a:rPr>
              <a:t>VC</a:t>
            </a:r>
          </a:p>
        </p:txBody>
      </p:sp>
    </p:spTree>
    <p:extLst>
      <p:ext uri="{BB962C8B-B14F-4D97-AF65-F5344CB8AC3E}">
        <p14:creationId xmlns:p14="http://schemas.microsoft.com/office/powerpoint/2010/main" val="3447033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RSO" val="problem"/>
</p:tagLst>
</file>

<file path=ppt/tags/tag2.xml><?xml version="1.0" encoding="utf-8"?>
<p:tagLst xmlns:a="http://schemas.openxmlformats.org/drawingml/2006/main" xmlns:r="http://schemas.openxmlformats.org/officeDocument/2006/relationships" xmlns:p="http://schemas.openxmlformats.org/presentationml/2006/main">
  <p:tag name="CURSO" val="solution"/>
</p:tagLst>
</file>

<file path=ppt/tags/tag3.xml><?xml version="1.0" encoding="utf-8"?>
<p:tagLst xmlns:a="http://schemas.openxmlformats.org/drawingml/2006/main" xmlns:r="http://schemas.openxmlformats.org/officeDocument/2006/relationships" xmlns:p="http://schemas.openxmlformats.org/presentationml/2006/main">
  <p:tag name="CURSO" val="solution"/>
</p:tagLst>
</file>

<file path=ppt/tags/tag4.xml><?xml version="1.0" encoding="utf-8"?>
<p:tagLst xmlns:a="http://schemas.openxmlformats.org/drawingml/2006/main" xmlns:r="http://schemas.openxmlformats.org/officeDocument/2006/relationships" xmlns:p="http://schemas.openxmlformats.org/presentationml/2006/main">
  <p:tag name="CURSO" val="solution"/>
</p:tagLst>
</file>

<file path=ppt/tags/tag5.xml><?xml version="1.0" encoding="utf-8"?>
<p:tagLst xmlns:a="http://schemas.openxmlformats.org/drawingml/2006/main" xmlns:r="http://schemas.openxmlformats.org/officeDocument/2006/relationships" xmlns:p="http://schemas.openxmlformats.org/presentationml/2006/main">
  <p:tag name="CURSO" val="solution"/>
</p:tagLst>
</file>

<file path=ppt/tags/tag6.xml><?xml version="1.0" encoding="utf-8"?>
<p:tagLst xmlns:a="http://schemas.openxmlformats.org/drawingml/2006/main" xmlns:r="http://schemas.openxmlformats.org/officeDocument/2006/relationships" xmlns:p="http://schemas.openxmlformats.org/presentationml/2006/main">
  <p:tag name="CURSO" val="solution"/>
</p:tagLst>
</file>

<file path=ppt/tags/tag7.xml><?xml version="1.0" encoding="utf-8"?>
<p:tagLst xmlns:a="http://schemas.openxmlformats.org/drawingml/2006/main" xmlns:r="http://schemas.openxmlformats.org/officeDocument/2006/relationships" xmlns:p="http://schemas.openxmlformats.org/presentationml/2006/main">
  <p:tag name="CURSO" val="solution"/>
</p:tagLst>
</file>

<file path=ppt/tags/tag8.xml><?xml version="1.0" encoding="utf-8"?>
<p:tagLst xmlns:a="http://schemas.openxmlformats.org/drawingml/2006/main" xmlns:r="http://schemas.openxmlformats.org/officeDocument/2006/relationships" xmlns:p="http://schemas.openxmlformats.org/presentationml/2006/main">
  <p:tag name="CURSO" val="tool"/>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7477</Words>
  <Application>Microsoft Office PowerPoint</Application>
  <PresentationFormat>Panorámica</PresentationFormat>
  <Paragraphs>857</Paragraphs>
  <Slides>35</Slides>
  <Notes>35</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35</vt:i4>
      </vt:variant>
    </vt:vector>
  </HeadingPairs>
  <TitlesOfParts>
    <vt:vector size="44" baseType="lpstr">
      <vt:lpstr>Arial</vt:lpstr>
      <vt:lpstr>Bahnschrift Light</vt:lpstr>
      <vt:lpstr>Bahnschrift SemiBold</vt:lpstr>
      <vt:lpstr>Calibri</vt:lpstr>
      <vt:lpstr>Calibri Light</vt:lpstr>
      <vt:lpstr>Constantia</vt:lpstr>
      <vt:lpstr>Segoe UI</vt:lpstr>
      <vt:lpstr>Segoe UI Semibold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2</cp:revision>
  <dcterms:created xsi:type="dcterms:W3CDTF">2026-10-21T04:41:36Z</dcterms:created>
  <dcterms:modified xsi:type="dcterms:W3CDTF">2026-10-22T23:07:46Z</dcterms:modified>
</cp:coreProperties>
</file>