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.xml" ContentType="application/vnd.openxmlformats-officedocument.presentationml.tags+xml"/>
  <Override PartName="/ppt/notesSlides/notesSlide30.xml" ContentType="application/vnd.openxmlformats-officedocument.presentationml.notesSlide+xml"/>
  <Override PartName="/ppt/tags/tag2.xml" ContentType="application/vnd.openxmlformats-officedocument.presentationml.tags+xml"/>
  <Override PartName="/ppt/notesSlides/notesSlide31.xml" ContentType="application/vnd.openxmlformats-officedocument.presentationml.notesSlide+xml"/>
  <Override PartName="/ppt/tags/tag3.xml" ContentType="application/vnd.openxmlformats-officedocument.presentationml.tags+xml"/>
  <Override PartName="/ppt/notesSlides/notesSlide32.xml" ContentType="application/vnd.openxmlformats-officedocument.presentationml.notesSlide+xml"/>
  <Override PartName="/ppt/tags/tag4.xml" ContentType="application/vnd.openxmlformats-officedocument.presentationml.tags+xml"/>
  <Override PartName="/ppt/notesSlides/notesSlide33.xml" ContentType="application/vnd.openxmlformats-officedocument.presentationml.notesSlide+xml"/>
  <Override PartName="/ppt/tags/tag5.xml" ContentType="application/vnd.openxmlformats-officedocument.presentationml.tags+xml"/>
  <Override PartName="/ppt/notesSlides/notesSlide34.xml" ContentType="application/vnd.openxmlformats-officedocument.presentationml.notesSlide+xml"/>
  <Override PartName="/ppt/tags/tag6.xml" ContentType="application/vnd.openxmlformats-officedocument.presentationml.tags+xml"/>
  <Override PartName="/ppt/notesSlides/notesSlide35.xml" ContentType="application/vnd.openxmlformats-officedocument.presentationml.notesSlide+xml"/>
  <Override PartName="/ppt/tags/tag7.xml" ContentType="application/vnd.openxmlformats-officedocument.presentationml.tags+xml"/>
  <Override PartName="/ppt/notesSlides/notesSlide36.xml" ContentType="application/vnd.openxmlformats-officedocument.presentationml.notesSlide+xml"/>
  <Override PartName="/ppt/tags/tag8.xml" ContentType="application/vnd.openxmlformats-officedocument.presentationml.tags+xml"/>
  <Override PartName="/ppt/notesSlides/notesSlide37.xml" ContentType="application/vnd.openxmlformats-officedocument.presentationml.notesSlide+xml"/>
  <Override PartName="/ppt/tags/tag9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2D4E8-0992-4901-A935-3CFC16C4F3D3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86813-B0C2-4DB6-9066-12350ED4F1E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5067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Idea fuerza: toda la clase cuelga de una frase de la EN 1504-9. Primero se elige el principio, y solo después se busca qué producto lo cumple.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5673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clase donde el curso se vuelve prescriptivo. Todo lo diagnosticado en las clases 1 a 5 entra aquí convertido en decisiones.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23616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Repaso en tres minutos. Pregunta de apertura: ¿cuántas reparaciones han visto volver a fallar justo en el borde del parche?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58531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Decir el esqueleto al principio y volver a él al cerrar cada parte.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16889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1.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80594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No memorizar las diez partes. Lo importante es la jerarquía: la -9 manda, las demás son catálogos de exigencia.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12180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Los seis primeros son problemas del hormigón; los cinco últimos, de la armadura. Esa división es la que hay que retener hoy.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02536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Que vean la correspondencia con la pila de la clase 3: no son once ideas nuevas, son las mismas cuatro piezas.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61720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Esta tabla es el puente entre las clases 1 a 4 y el 7. Recorrerla despacio.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60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Preguntar cuántos han visto el caso 2. Es el más frecuente y el que menos se diagnostica como tal.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8141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Buen momento para insistir: una reparación no se juzga mirándola terminada.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41562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2.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8404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hueco de 20-25 mm por detrás de la barra es el detalle que más se incumple en obra boliviana.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58725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detalle del borde recto frente al bisel vale toda la lámina. Dibujarlo en el aire si hace falta.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23707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 el contenido más diferenciador de la clase. Casi ningún curso local lo trata y explica la mitad de las reparaciones fallidas.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25226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Decir claramente que el 10 y el 25 son práctica profesional. Es la clase de honestidad que distingue el curso.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78287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concepto de punto de parada se desarrolla en la parte 4. Aquí se introduce.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8326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3.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69269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Que fotografíen la tabla. Es lo que hay que escribir en el pliego, y lo que casi nunca se escribe.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19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63390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fórmula del módulo es de ACI 318. Sirve para estimar el del sustrato cuando no hay ensayo.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20965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Enlazar explícitamente con el caso 3.3: allí se decidió no inyectar y convertir en junta.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721108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plan de reposición es lo que casi nadie entrega. Insistir: sin él, los ánodos son una bomba de tiempo.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9816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Decir que el coste de la protección superficial suele ser el 10-15 % del tajo y multiplica su duración.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31663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parte 4.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64287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Vender los puntos de parada como protección del contratista honesto, no como control policial.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994116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distinción cohesiva-adhesiva es la aportación profesional de la lámina. Casi ningún informe local la recoge.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8792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Cerrar la parte 4 anunciando que la clase 7 convierte esto en gestión de activos.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430906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BO"/>
              <a:t>Presentación de los casos.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53854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Señalar el hito de 2026: hoy se redacta el proyecto de reparación con los datos de las clases anteriores.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29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51481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Avisar: este es el caso donde el alumno descubre que una reparación bien ejecutada puede provocar un daño nuevo.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330137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Pedir que estimen a ojo cuánto habrá que sanear de verdad. Luego se compara con el paso 2.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La medición no tiene incertidumbre apreciable. La hipótesis implícita que sí la tiene —y que el paso 2 desmonta— es que el desprendimiento delimita la zona contaminada.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Reparar la superficie visible asume implícitamente que el límite del daño coincide con el límite del desprendimiento. El hormigón no desprende donde termina el cloruro: desprende donde el óxido ha generado presión suficiente.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174554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Este número es el que cambia el presupuesto. Si no se mide antes, aparece como adicional de obra.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Los valores de potencial dependen de la humedad y del recubrimiento: no son medida absoluta y se interpretan sobre gradientes. En hormigón seco o carbonatado los valores se desplazan y los umbrales de ASTM C876 no aplican directamente; conviene contrastar con resistividad.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El número debe ponerse sobre la mesa antes de contratar, no como adicional de obra después de picar. Si no se mide, aparece igualmente, pero como litigio.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Por qué −200 y no −350: El −350 mV delimita corrosión muy probable; el −200 mV, el límite exterior donde todavía hay cloruro activo.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502362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Este es el concepto que más se recuerda del curso. Dibujarlo en la pizarra mientras se explica.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Supone que el parche se repone completo y en una sola fase. Si se repone por fases, el efecto aparece en el frente de cada fase, y el perímetro crítico total es mayor que el del contorno final.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Dos soluciones técnicamente válidas: extender el saneo hasta eliminar el gradiente de cloruros (paso 2) o instalar ánodos de sacrificio en el perímetro. Lo que no es admisible es ignorar el efecto.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Plazo de aparición: Entre seis y veinticuatro meses tras la reparación. Se atribuye habitualmente a mala ejecución del parche.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146514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Recordar que el ánodo se ata con alambre a la armadura y se comprueba con multímetro antes de tapar.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La separación de 0,50 m es de fabricante, no de norma. Debe ajustarse a la resistividad del hormigón medida en obra: con resistividad alta el radio de protección cae y la separación debe reducirse.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Los ánodos no son una alternativa económica a un saneo bien dimensionado: son la solución cuando extender el saneo no es viable, y se dimensionan con el mismo rigor.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Continuidad eléctrica: Debe comprobarse con multímetro antes de tapar: un ánodo sin continuidad con la armadura no protege.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764932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Este es el puente con la clase 7: sin plan de mantenimiento con fechas, la reparación caduca.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Supone demanda de corriente constante de 0,5 mA y rendimiento del 65 %. La demanda real crece con la humedad y con la superficie de acero conectada: en ambiente húmedo permanente la vida puede reducirse a la mitad.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Un ánodo agotado no emite señal: deja de proteger y el daño reaparece sin aviso. Conviene dejar previsto al menos un punto de medida de potencial para verificar el funcionamiento.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Masa útil = 160 g: Zinc disponible por pieza. Rendimiento adoptado 65 %: no todo el zinc llega a consumirse de forma útil.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531026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Cerrar con la frase del pliego. Que la copien literalmente: es la que evita el fallo más repetido.</a:t>
            </a:r>
          </a:p>
          <a:p>
            <a:endParaRPr lang="es-MX"/>
          </a:p>
          <a:p>
            <a:r>
              <a:rPr lang="es-MX"/>
              <a:t>HIPÓTESIS Y LÍMITES DE VALIDEZ</a:t>
            </a:r>
          </a:p>
          <a:p>
            <a:r>
              <a:rPr lang="es-MX"/>
              <a:t>La expresión de ACI 318-19 estima E con dispersión del orden del ±20 % y es para hormigón de densidad normal. Si se dispone de ensayo de módulo sobre testigo, prevalece el ensayo. Con la dispersión, el límite de pliego podría situarse entre 18 y 22 GPa.</a:t>
            </a:r>
          </a:p>
          <a:p>
            <a:endParaRPr lang="es-MX"/>
          </a:p>
          <a:p>
            <a:r>
              <a:rPr lang="es-MX"/>
              <a:t>INTERPRETACIÓN, RESTO</a:t>
            </a:r>
          </a:p>
          <a:p>
            <a:r>
              <a:rPr lang="es-MX"/>
              <a:t>Redacción para el pliego: *mortero R4 según EN 1504-3, con módulo de elasticidad no superior a 20 GPa y retracción compensada.* Si no se acota el módulo, el suministro será el producto más resistente del catálogo.</a:t>
            </a:r>
          </a:p>
          <a:p>
            <a:endParaRPr lang="es-MX"/>
          </a:p>
          <a:p>
            <a:r>
              <a:rPr lang="es-MX"/>
              <a:t>DE DÓNDE SALE CADA DATO</a:t>
            </a:r>
          </a:p>
          <a:p>
            <a:r>
              <a:rPr lang="es-MX"/>
              <a:t>· Criterio que gobierna: El módulo, no la resistencia. Un parche más rígido atrae carga y concentra tensión en la interfaz, que es donde menos conviene.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23807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Cerrar el caso. Los números están en la hoja 7 del libro de Excel del curso.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225469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veredicto de compatibilidad se pone en oxblood en cuanto el módulo del mortero se separa más de un 15 % del sustrato. Es el renglón que hay que llevar al pliego.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733817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Seis ideas. La tercera y la quinta son las que distinguen a un técnico con criterio de uno que sigue el catálogo.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39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303327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Cierre. Anticipar que en la clase 7 se recalcula la columna C-4 y su zapata con el cambio de uso, y se decide el refuerzo.</a:t>
            </a:r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86813-B0C2-4DB6-9066-12350ED4F1E3}" type="slidenum">
              <a:rPr lang="es-BO" smtClean="0"/>
              <a:t>40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43260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F4C5E-8A5D-8060-7258-AD20F26DF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79E477-8FCB-2056-E982-B975BBF9F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335EC1-80D1-F08E-3263-2C637E74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574671-05A9-2020-D6CE-3BA32810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F061A7-AD4A-4893-28CE-8F1A4584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9864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D0BF2-6CA3-51DA-06DF-5B1D19A8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A92847-022F-74D1-119A-610E4695B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AC637E-22F7-7142-D370-2814D694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13898E-E551-25CD-5456-08E61052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6A06E2-B853-DBE3-2520-B1DCCD7A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61455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351B3-5D0A-96CD-34D1-E3958BEC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CBCA5A-315A-0994-2DEE-608724EC7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73DA63-F3CA-C5DC-4C64-476D719C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50F40D-42A2-DC06-82BB-AC59923D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B56EE9-5995-6DBA-7EEF-1D011600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5731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561F6-4502-3E71-64A3-21CDE8E5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B9C4B7-AF77-47B7-F843-238B2A306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083E7D-1331-F664-86D6-327ADCAC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A0D045-4C3F-B3D7-D20D-54A9D6A3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BB038C-5FA6-6A84-99E1-46FFBA60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EFECBA-0C34-BECB-891A-3A243226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9203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89DB-0D6D-C662-EF63-91F99B01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BD71DA-D84B-5DA3-0777-AD94182AC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D66AF4-7B68-ABE7-05FB-8E1A4F300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702457-CCF4-0FC8-E72C-57AC1BC44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683298F-737B-2D00-8694-504BA11A0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55835B-0E49-7482-C7CF-B307B207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CB98A7-4797-962D-C8CF-B251798F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F78A9B0-42C4-57B2-C04A-85264C9D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2208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C8259-867D-A6C0-74C2-E0863AFC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5621E3-5515-AFF5-BF55-50DA363C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A0ECB0-F086-A82D-544F-CC9DC515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1E8716-E4BD-41F6-8E82-B574A88F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8154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D3B012-3A68-2EC5-97D4-AA88550A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A4B991-2584-4626-CD6C-D35175C6C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85AFD7-B488-16B4-AC81-9CA7699E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9038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E9050-36C4-F873-F8DC-F8FA3BAA3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3A4222-2D52-19AE-15C7-3A94BA0A2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49C0B1-9508-9397-08DC-C305A0113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114862-1B41-3839-C7A4-67B9B6CC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D652F9-2563-B0CE-1B87-536D7248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2DE678-9E82-790F-0A12-BE5E3C99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242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1D012-315B-29B0-CB64-F5FD9482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B96CB4-D6CB-97F6-A80B-908D3A8D762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5CEE64-4067-A452-F27B-08A500A0C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2EA78D-0A1E-BD68-16A0-F41B0E7E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5A29CF-EDCC-FFD3-A95B-98EE6AB5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3F5EEB-A919-3358-FE7B-7F93ED66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6314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63894-EAA4-1851-1D2C-97CE2B21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F0CB0E-0ABD-F9FB-2EDA-BE086FAA4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047899-7C7F-55AB-95B4-7FC04F9C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EBA8CA-36BA-C07B-FE46-BEF006A2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2EBB60-4BC0-463C-BB11-6AF0393D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106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1EB50F-713B-2AA8-7550-DE3C86794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7E10E7-C363-4821-0967-739040AF0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A9F261-1A82-2D91-ABEB-DB733A7F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A8BACB-725E-FFA9-684F-73CC85ED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50201F-A0EF-EB1E-6115-EE924E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104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E424A9-54CE-4564-2CE4-7BBAE1F6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D0195A-098A-5C0A-2D8F-70F0D129D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4972B1-C90C-BD29-0153-2B546AFC2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68FB4-46EC-44C9-ACE4-DDDC1F932427}" type="datetimeFigureOut">
              <a:rPr lang="es-BO" smtClean="0"/>
              <a:t>21/10/2026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D00615-3242-6A29-179F-303DAB317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F31BA2-C487-1933-80D1-022431783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3C2FA-150A-4136-BFAB-176E57472D5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655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100" Type="http://schemas.openxmlformats.org/officeDocument/2006/relationships/image" Target="../media/kyvc_s3a_orden.png"/><Relationship Id="rId101" Type="http://schemas.openxmlformats.org/officeDocument/2006/relationships/image" Target="../media/kyvc_s3b_testigo.png"/><Relationship Id="rId102" Type="http://schemas.openxmlformats.org/officeDocument/2006/relationships/image" Target="../media/kyvc_s3c_limitaciones.pn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kyvc_s4_cinco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kyvc_s10_fallos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kyvc_s11a_reposicion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kyvc_s11c_proteccion.png"/><Relationship Id="rId4" Type="http://schemas.openxmlformats.org/officeDocument/2006/relationships/image" Target="../media/kyvc_s11b_sellado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kyvc_s13_criterios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kyvc_s14_borde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kyvc_s15_anodo_incipiente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kyvc_s16_acero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kyvc_s17a_corte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kyvc_s17c_acero.png"/><Relationship Id="rId4" Type="http://schemas.openxmlformats.org/officeDocument/2006/relationships/image" Target="../media/kyvc_s17b_soporte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kyvc_s20_compatibilidad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kyvc_s22_anodo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kyvc_s25_paradas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100" Type="http://schemas.openxmlformats.org/officeDocument/2006/relationships/image" Target="../media/kyvc_s26_modos.png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kyvc_s27_entrega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100" Type="http://schemas.openxmlformats.org/officeDocument/2006/relationships/image" Target="../media/kyvc_s30_viga.png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100" Type="http://schemas.openxmlformats.org/officeDocument/2006/relationships/image" Target="../media/kyvc_s31_paso1.png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100" Type="http://schemas.openxmlformats.org/officeDocument/2006/relationships/image" Target="../media/kyvc_s32_paso2.png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100" Type="http://schemas.openxmlformats.org/officeDocument/2006/relationships/image" Target="../media/kyvc_s33_paso3.png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100" Type="http://schemas.openxmlformats.org/officeDocument/2006/relationships/image" Target="../media/kyvc_s34_paso4.png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100" Type="http://schemas.openxmlformats.org/officeDocument/2006/relationships/image" Target="../media/kyvc_s35_paso5.png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100" Type="http://schemas.openxmlformats.org/officeDocument/2006/relationships/image" Target="../media/kyvc_s36_paso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EFD7E4-5E5D-2C2A-03DF-CF08C43C59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3580EB9-CB11-5557-DD64-A4B11525B512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AA7A7D-73E2-2DAD-7FD8-8B4D7B248C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4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5E5473-D91C-79A7-A3FE-87C638A0DB27}"/>
              </a:ext>
            </a:extLst>
          </p:cNvPr>
          <p:cNvSpPr/>
          <p:nvPr/>
        </p:nvSpPr>
        <p:spPr>
          <a:xfrm>
            <a:off x="609600" y="685800"/>
            <a:ext cx="3302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8BDAE01-5D05-399D-B06B-66BBD03BBED8}"/>
              </a:ext>
            </a:extLst>
          </p:cNvPr>
          <p:cNvSpPr txBox="1"/>
          <p:nvPr/>
        </p:nvSpPr>
        <p:spPr>
          <a:xfrm>
            <a:off x="1066800" y="609600"/>
            <a:ext cx="965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C9A66B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900" spc="180">
              <a:solidFill>
                <a:srgbClr val="C9A66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030F85-BEF1-5A8D-1621-E563A5222D94}"/>
              </a:ext>
            </a:extLst>
          </p:cNvPr>
          <p:cNvSpPr txBox="1"/>
          <p:nvPr/>
        </p:nvSpPr>
        <p:spPr>
          <a:xfrm>
            <a:off x="584200" y="1498600"/>
            <a:ext cx="5080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000" i="1">
                <a:solidFill>
                  <a:srgbClr val="C9A66B"/>
                </a:solidFill>
                <a:latin typeface="Constantia" panose="02030602050306030303" pitchFamily="18" charset="0"/>
              </a:rPr>
              <a:t>Clase 06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36F14D83-9FC9-BD5C-260C-C4245D556FC8}"/>
              </a:ext>
            </a:extLst>
          </p:cNvPr>
          <p:cNvSpPr txBox="1"/>
          <p:nvPr/>
        </p:nvSpPr>
        <p:spPr>
          <a:xfrm>
            <a:off x="584200" y="2108200"/>
            <a:ext cx="81280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s-BO" sz="4400">
                <a:solidFill>
                  <a:srgbClr val="FFFFFF"/>
                </a:solidFill>
                <a:latin typeface="Bahnschrift SemiBold" panose="020B0502040204020203" pitchFamily="34" charset="0"/>
              </a:rPr>
              <a:t>Reparación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45C03FC-4D7D-99BB-0BCE-EFBA2D7CA280}"/>
              </a:ext>
            </a:extLst>
          </p:cNvPr>
          <p:cNvSpPr/>
          <p:nvPr/>
        </p:nvSpPr>
        <p:spPr>
          <a:xfrm>
            <a:off x="609600" y="4191000"/>
            <a:ext cx="8128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8798360-9718-A462-5E72-C2A0B138C1B4}"/>
              </a:ext>
            </a:extLst>
          </p:cNvPr>
          <p:cNvSpPr txBox="1"/>
          <p:nvPr/>
        </p:nvSpPr>
        <p:spPr>
          <a:xfrm>
            <a:off x="609600" y="4394200"/>
            <a:ext cx="762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500">
                <a:solidFill>
                  <a:srgbClr val="E6DFD2"/>
                </a:solidFill>
                <a:latin typeface="Bahnschrift Light" panose="020B0502040204020203" pitchFamily="34" charset="0"/>
              </a:rPr>
              <a:t>El proveedor vende un producto; el ingeniero decide un principio</a:t>
            </a:r>
            <a:endParaRPr lang="es-BO" sz="15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C1846AA-BDFD-B6EA-1673-38EB0B0A7209}"/>
              </a:ext>
            </a:extLst>
          </p:cNvPr>
          <p:cNvSpPr txBox="1"/>
          <p:nvPr/>
        </p:nvSpPr>
        <p:spPr>
          <a:xfrm>
            <a:off x="609600" y="5740400"/>
            <a:ext cx="508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nn-NO" sz="1300">
                <a:solidFill>
                  <a:srgbClr val="FFFFFF"/>
                </a:solidFill>
                <a:latin typeface="Bahnschrift SemiBold" panose="020B0502040204020203" pitchFamily="34" charset="0"/>
              </a:rPr>
              <a:t>Ing. Kevin Yerko Vera Careaga</a:t>
            </a:r>
            <a:endParaRPr lang="es-BO" sz="13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09D80A9-B19B-66B2-A455-029E71C02374}"/>
              </a:ext>
            </a:extLst>
          </p:cNvPr>
          <p:cNvSpPr txBox="1"/>
          <p:nvPr/>
        </p:nvSpPr>
        <p:spPr>
          <a:xfrm>
            <a:off x="609600" y="5969000"/>
            <a:ext cx="558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50">
                <a:solidFill>
                  <a:srgbClr val="CFC7B8"/>
                </a:solidFill>
                <a:latin typeface="Segoe UI" panose="020B0502040204020203" pitchFamily="34" charset="0"/>
              </a:rPr>
              <a:t>Ingeniero Civil  ·  NRI 57148  ·  La Paz, Bolivia</a:t>
            </a:r>
            <a:endParaRPr lang="es-BO" sz="9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D6F99AE-767E-D9B5-2710-A39FE0806C93}"/>
              </a:ext>
            </a:extLst>
          </p:cNvPr>
          <p:cNvSpPr/>
          <p:nvPr/>
        </p:nvSpPr>
        <p:spPr>
          <a:xfrm>
            <a:off x="84836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7F2B8E9-9A36-39B6-1DFF-BB18DBB27683}"/>
              </a:ext>
            </a:extLst>
          </p:cNvPr>
          <p:cNvSpPr txBox="1"/>
          <p:nvPr/>
        </p:nvSpPr>
        <p:spPr>
          <a:xfrm>
            <a:off x="84836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79160B1-2E4A-3EF3-B91F-C6CA9AB8C00F}"/>
              </a:ext>
            </a:extLst>
          </p:cNvPr>
          <p:cNvSpPr/>
          <p:nvPr/>
        </p:nvSpPr>
        <p:spPr>
          <a:xfrm>
            <a:off x="89408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40F3A27-5BB4-4378-461E-E14E5D5181EB}"/>
              </a:ext>
            </a:extLst>
          </p:cNvPr>
          <p:cNvSpPr txBox="1"/>
          <p:nvPr/>
        </p:nvSpPr>
        <p:spPr>
          <a:xfrm>
            <a:off x="89408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3C580E-259E-70EA-0FD2-666995763443}"/>
              </a:ext>
            </a:extLst>
          </p:cNvPr>
          <p:cNvSpPr/>
          <p:nvPr/>
        </p:nvSpPr>
        <p:spPr>
          <a:xfrm>
            <a:off x="93980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D4B0C1F-7E45-A96A-7ED9-D2FAE65DA6F2}"/>
              </a:ext>
            </a:extLst>
          </p:cNvPr>
          <p:cNvSpPr txBox="1"/>
          <p:nvPr/>
        </p:nvSpPr>
        <p:spPr>
          <a:xfrm>
            <a:off x="93980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C0038FD-5A6E-3763-7869-3823246319BF}"/>
              </a:ext>
            </a:extLst>
          </p:cNvPr>
          <p:cNvSpPr/>
          <p:nvPr/>
        </p:nvSpPr>
        <p:spPr>
          <a:xfrm>
            <a:off x="98552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33B3AF5-7FF4-43C8-2A87-CA47938A685B}"/>
              </a:ext>
            </a:extLst>
          </p:cNvPr>
          <p:cNvSpPr txBox="1"/>
          <p:nvPr/>
        </p:nvSpPr>
        <p:spPr>
          <a:xfrm>
            <a:off x="98552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S4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1567D12-C346-B3AC-A354-D444F492728C}"/>
              </a:ext>
            </a:extLst>
          </p:cNvPr>
          <p:cNvSpPr/>
          <p:nvPr/>
        </p:nvSpPr>
        <p:spPr>
          <a:xfrm>
            <a:off x="10312400" y="5918200"/>
            <a:ext cx="342900" cy="38100"/>
          </a:xfrm>
          <a:prstGeom prst="rect">
            <a:avLst/>
          </a:prstGeom>
          <a:solidFill>
            <a:srgbClr val="CFC7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087F769-95BD-652C-BFBD-3B8FE722D6FE}"/>
              </a:ext>
            </a:extLst>
          </p:cNvPr>
          <p:cNvSpPr txBox="1"/>
          <p:nvPr/>
        </p:nvSpPr>
        <p:spPr>
          <a:xfrm>
            <a:off x="103124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FC7B8"/>
                </a:solidFill>
                <a:latin typeface="Segoe UI Semibold" panose="020B0702040204020203" pitchFamily="34" charset="0"/>
              </a:rPr>
              <a:t>S5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78073B0-B4A8-D725-373C-D00A8CF4F7B9}"/>
              </a:ext>
            </a:extLst>
          </p:cNvPr>
          <p:cNvSpPr/>
          <p:nvPr/>
        </p:nvSpPr>
        <p:spPr>
          <a:xfrm>
            <a:off x="10769600" y="5918200"/>
            <a:ext cx="342900" cy="38100"/>
          </a:xfrm>
          <a:prstGeom prst="rect">
            <a:avLst/>
          </a:prstGeom>
          <a:solidFill>
            <a:srgbClr val="C9A6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DC1F9B8-AAB7-17D8-8DFD-8C73094D79BB}"/>
              </a:ext>
            </a:extLst>
          </p:cNvPr>
          <p:cNvSpPr txBox="1"/>
          <p:nvPr/>
        </p:nvSpPr>
        <p:spPr>
          <a:xfrm>
            <a:off x="107696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C9A66B"/>
                </a:solidFill>
                <a:latin typeface="Segoe UI Semibold" panose="020B0702040204020203" pitchFamily="34" charset="0"/>
              </a:rPr>
              <a:t>S6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42AF520-2F99-4202-2304-6653A40A3015}"/>
              </a:ext>
            </a:extLst>
          </p:cNvPr>
          <p:cNvSpPr/>
          <p:nvPr/>
        </p:nvSpPr>
        <p:spPr>
          <a:xfrm>
            <a:off x="11226800" y="5918200"/>
            <a:ext cx="342900" cy="38100"/>
          </a:xfrm>
          <a:prstGeom prst="rect">
            <a:avLst/>
          </a:prstGeom>
          <a:solidFill>
            <a:srgbClr val="3A32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C9CE07-AD9F-E41F-12EB-DD28A3B4C93A}"/>
              </a:ext>
            </a:extLst>
          </p:cNvPr>
          <p:cNvSpPr txBox="1"/>
          <p:nvPr/>
        </p:nvSpPr>
        <p:spPr>
          <a:xfrm>
            <a:off x="11226800" y="6019800"/>
            <a:ext cx="342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800" spc="100">
                <a:solidFill>
                  <a:srgbClr val="9C9284"/>
                </a:solidFill>
                <a:latin typeface="Segoe UI Semibold" panose="020B0702040204020203" pitchFamily="34" charset="0"/>
              </a:rPr>
              <a:t>S7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12CC336-133E-E3A6-5AEB-F767EF6D52FD}"/>
              </a:ext>
            </a:extLst>
          </p:cNvPr>
          <p:cNvSpPr txBox="1"/>
          <p:nvPr/>
        </p:nvSpPr>
        <p:spPr>
          <a:xfrm>
            <a:off x="8483600" y="5664200"/>
            <a:ext cx="309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800" spc="140">
                <a:solidFill>
                  <a:srgbClr val="CFC7B8"/>
                </a:solidFill>
                <a:latin typeface="Segoe UI Semibold" panose="020B0702040204020203" pitchFamily="34" charset="0"/>
              </a:rPr>
              <a:t>CLASE 6 DE 7  ·  MODALIDAD VIRTUAL</a:t>
            </a:r>
            <a:endParaRPr lang="es-BO" sz="800" spc="140">
              <a:solidFill>
                <a:srgbClr val="CFC7B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9" name="Monograma">
            <a:extLst>
              <a:ext uri="{FF2B5EF4-FFF2-40B4-BE49-F238E27FC236}">
                <a16:creationId xmlns:a16="http://schemas.microsoft.com/office/drawing/2014/main" id="{F9C53AAE-752A-C799-9E03-7AA9F3453DF0}"/>
              </a:ext>
            </a:extLst>
          </p:cNvPr>
          <p:cNvSpPr/>
          <p:nvPr/>
        </p:nvSpPr>
        <p:spPr>
          <a:xfrm>
            <a:off x="10998200" y="508000"/>
            <a:ext cx="584200" cy="584200"/>
          </a:xfrm>
          <a:prstGeom prst="ellipse">
            <a:avLst/>
          </a:prstGeom>
          <a:noFill/>
          <a:ln w="15875">
            <a:solidFill>
              <a:srgbClr val="8A6A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C1813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KY</a:t>
            </a:r>
          </a:p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VC</a:t>
            </a:r>
          </a:p>
        </p:txBody>
      </p:sp>
    </p:spTree>
    <p:extLst>
      <p:ext uri="{BB962C8B-B14F-4D97-AF65-F5344CB8AC3E}">
        <p14:creationId xmlns:p14="http://schemas.microsoft.com/office/powerpoint/2010/main" val="295627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05A4322-8EEB-BA68-383D-3C7596048FBC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D3AAC2C-6007-EB4A-91B2-010AE68A418A}"/>
              </a:ext>
            </a:extLst>
          </p:cNvPr>
          <p:cNvSpPr/>
          <p:nvPr/>
        </p:nvSpPr>
        <p:spPr>
          <a:xfrm>
            <a:off x="609600" y="508000"/>
            <a:ext cx="2286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16D062-59A1-9BAA-34FB-9214688DB44F}"/>
              </a:ext>
            </a:extLst>
          </p:cNvPr>
          <p:cNvSpPr txBox="1"/>
          <p:nvPr/>
        </p:nvSpPr>
        <p:spPr>
          <a:xfrm>
            <a:off x="939800" y="431800"/>
            <a:ext cx="330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8A6A2F"/>
                </a:solidFill>
                <a:latin typeface="Segoe UI Semibold" panose="020B0702040204020203" pitchFamily="34" charset="0"/>
              </a:rPr>
              <a:t>OBJETIVOS DE LA CLASE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1E6A3BF-81DF-2B44-9B9C-9B4BCD5EF48A}"/>
              </a:ext>
            </a:extLst>
          </p:cNvPr>
          <p:cNvSpPr txBox="1"/>
          <p:nvPr/>
        </p:nvSpPr>
        <p:spPr>
          <a:xfrm>
            <a:off x="609600" y="660400"/>
            <a:ext cx="3683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200">
                <a:solidFill>
                  <a:srgbClr val="FFFFFF"/>
                </a:solidFill>
                <a:latin typeface="Bahnschrift SemiBold" panose="020B0502040204020203" pitchFamily="34" charset="0"/>
              </a:rPr>
              <a:t>Al terminar esta clase podrás…</a:t>
            </a:r>
            <a:endParaRPr lang="es-BO" sz="22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FB0876-1E14-C0ED-4601-29C9C106F596}"/>
              </a:ext>
            </a:extLst>
          </p:cNvPr>
          <p:cNvSpPr txBox="1"/>
          <p:nvPr/>
        </p:nvSpPr>
        <p:spPr>
          <a:xfrm>
            <a:off x="609600" y="17780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101016-2B29-F378-4A33-564F2B6DF4A9}"/>
              </a:ext>
            </a:extLst>
          </p:cNvPr>
          <p:cNvSpPr txBox="1"/>
          <p:nvPr/>
        </p:nvSpPr>
        <p:spPr>
          <a:xfrm>
            <a:off x="1117600" y="18161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Elegir los principios de EN 1504-9 que corresponden a cada mecanismo diagnosticado.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9A3340-F5A5-2090-F36B-65F4370A1BAA}"/>
              </a:ext>
            </a:extLst>
          </p:cNvPr>
          <p:cNvSpPr txBox="1"/>
          <p:nvPr/>
        </p:nvSpPr>
        <p:spPr>
          <a:xfrm>
            <a:off x="609600" y="27178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40A956F-CF83-DD12-7AC5-CAECB1A074CE}"/>
              </a:ext>
            </a:extLst>
          </p:cNvPr>
          <p:cNvSpPr txBox="1"/>
          <p:nvPr/>
        </p:nvSpPr>
        <p:spPr>
          <a:xfrm>
            <a:off x="1117600" y="27559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Decidir hasta dónde llega el saneo y prevenir el efecto de ánodo incipiente.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D0D061-CCAB-8AD8-13F2-E8582D3F0834}"/>
              </a:ext>
            </a:extLst>
          </p:cNvPr>
          <p:cNvSpPr txBox="1"/>
          <p:nvPr/>
        </p:nvSpPr>
        <p:spPr>
          <a:xfrm>
            <a:off x="609600" y="36576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B645485-B23E-E14C-FF2B-66DDD8710816}"/>
              </a:ext>
            </a:extLst>
          </p:cNvPr>
          <p:cNvSpPr txBox="1"/>
          <p:nvPr/>
        </p:nvSpPr>
        <p:spPr>
          <a:xfrm>
            <a:off x="1117600" y="36957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Especificar un mortero por clase y por compatibilidad, no por catálogo.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12538AB-4BAB-A525-8B75-D89CB0565DE8}"/>
              </a:ext>
            </a:extLst>
          </p:cNvPr>
          <p:cNvSpPr txBox="1"/>
          <p:nvPr/>
        </p:nvSpPr>
        <p:spPr>
          <a:xfrm>
            <a:off x="609600" y="4597400"/>
            <a:ext cx="50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A947AE9-BC5A-F531-7DF6-C7EE1D74544E}"/>
              </a:ext>
            </a:extLst>
          </p:cNvPr>
          <p:cNvSpPr txBox="1"/>
          <p:nvPr/>
        </p:nvSpPr>
        <p:spPr>
          <a:xfrm>
            <a:off x="1117600" y="4635500"/>
            <a:ext cx="304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DCE3EC"/>
                </a:solidFill>
                <a:latin typeface="Segoe UI" panose="020B0502040204020203" pitchFamily="34" charset="0"/>
              </a:rPr>
              <a:t>Recibir una reparación con ensayo de arrancamiento y leer el modo de rotura.</a:t>
            </a:r>
            <a:endParaRPr lang="es-BO" sz="1150">
              <a:solidFill>
                <a:srgbClr val="DCE3E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7354647-0FE7-C08B-4421-A32616510C25}"/>
              </a:ext>
            </a:extLst>
          </p:cNvPr>
          <p:cNvSpPr/>
          <p:nvPr/>
        </p:nvSpPr>
        <p:spPr>
          <a:xfrm>
            <a:off x="5080000" y="508000"/>
            <a:ext cx="2286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B589134-E67E-3345-DBE8-DE66E404C075}"/>
              </a:ext>
            </a:extLst>
          </p:cNvPr>
          <p:cNvSpPr txBox="1"/>
          <p:nvPr/>
        </p:nvSpPr>
        <p:spPr>
          <a:xfrm>
            <a:off x="5410200" y="431800"/>
            <a:ext cx="381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RUTA DE LA CLASE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A2AE85D-CECD-F693-66C2-735CABEBEBC8}"/>
              </a:ext>
            </a:extLst>
          </p:cNvPr>
          <p:cNvCxnSpPr/>
          <p:nvPr/>
        </p:nvCxnSpPr>
        <p:spPr>
          <a:xfrm>
            <a:off x="5257800" y="1219200"/>
            <a:ext cx="0" cy="4622800"/>
          </a:xfrm>
          <a:prstGeom prst="line">
            <a:avLst/>
          </a:prstGeom>
          <a:ln w="190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B9D92966-6FF7-9891-045A-8FBC7C65065D}"/>
              </a:ext>
            </a:extLst>
          </p:cNvPr>
          <p:cNvSpPr/>
          <p:nvPr/>
        </p:nvSpPr>
        <p:spPr>
          <a:xfrm>
            <a:off x="5105400" y="10668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DF29247-5F4D-2075-6ACA-7601480282A6}"/>
              </a:ext>
            </a:extLst>
          </p:cNvPr>
          <p:cNvSpPr txBox="1"/>
          <p:nvPr/>
        </p:nvSpPr>
        <p:spPr>
          <a:xfrm>
            <a:off x="5715000" y="10287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APERTURA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7188AC5-DAEE-6425-3439-F026120EDB05}"/>
              </a:ext>
            </a:extLst>
          </p:cNvPr>
          <p:cNvSpPr txBox="1"/>
          <p:nvPr/>
        </p:nvSpPr>
        <p:spPr>
          <a:xfrm>
            <a:off x="5715000" y="11938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Repaso de la clase anterior y pregunta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1A115A7-3411-B86D-5A80-EE41F902A03D}"/>
              </a:ext>
            </a:extLst>
          </p:cNvPr>
          <p:cNvSpPr/>
          <p:nvPr/>
        </p:nvSpPr>
        <p:spPr>
          <a:xfrm>
            <a:off x="5105400" y="17272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F316319-C6F7-B0CF-0A00-4F8178C71FE0}"/>
              </a:ext>
            </a:extLst>
          </p:cNvPr>
          <p:cNvSpPr txBox="1"/>
          <p:nvPr/>
        </p:nvSpPr>
        <p:spPr>
          <a:xfrm>
            <a:off x="5715000" y="16891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63267E7-D0A8-4D08-B94C-74B524E1BFBE}"/>
              </a:ext>
            </a:extLst>
          </p:cNvPr>
          <p:cNvSpPr txBox="1"/>
          <p:nvPr/>
        </p:nvSpPr>
        <p:spPr>
          <a:xfrm>
            <a:off x="5715000" y="18542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Primero el principio, después el producto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E63B34B-FC06-2DF4-7081-EA50818AEE0E}"/>
              </a:ext>
            </a:extLst>
          </p:cNvPr>
          <p:cNvSpPr/>
          <p:nvPr/>
        </p:nvSpPr>
        <p:spPr>
          <a:xfrm>
            <a:off x="5105400" y="23876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329FEF6-CE72-339D-DF03-BA5E362F9578}"/>
              </a:ext>
            </a:extLst>
          </p:cNvPr>
          <p:cNvSpPr txBox="1"/>
          <p:nvPr/>
        </p:nvSpPr>
        <p:spPr>
          <a:xfrm>
            <a:off x="5715000" y="23495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CF04061-CCBA-46B6-2C06-6E92C2C63F8F}"/>
              </a:ext>
            </a:extLst>
          </p:cNvPr>
          <p:cNvSpPr txBox="1"/>
          <p:nvPr/>
        </p:nvSpPr>
        <p:spPr>
          <a:xfrm>
            <a:off x="5715000" y="25146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El saneo: hasta dónde y cómo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03400902-F0EA-3961-48BF-4929A8B852FC}"/>
              </a:ext>
            </a:extLst>
          </p:cNvPr>
          <p:cNvSpPr/>
          <p:nvPr/>
        </p:nvSpPr>
        <p:spPr>
          <a:xfrm>
            <a:off x="5105400" y="30480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4A946DF-4D8F-6CDF-6C0C-C921BA58EF72}"/>
              </a:ext>
            </a:extLst>
          </p:cNvPr>
          <p:cNvSpPr txBox="1"/>
          <p:nvPr/>
        </p:nvSpPr>
        <p:spPr>
          <a:xfrm>
            <a:off x="5715000" y="30099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3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95B8035-B037-86C5-7D61-CF2EDCD8CCF1}"/>
              </a:ext>
            </a:extLst>
          </p:cNvPr>
          <p:cNvSpPr txBox="1"/>
          <p:nvPr/>
        </p:nvSpPr>
        <p:spPr>
          <a:xfrm>
            <a:off x="5715000" y="31750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Los materiales y su compatibilidad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91D07E07-903C-59B5-38AC-C5656A918148}"/>
              </a:ext>
            </a:extLst>
          </p:cNvPr>
          <p:cNvSpPr/>
          <p:nvPr/>
        </p:nvSpPr>
        <p:spPr>
          <a:xfrm>
            <a:off x="5105400" y="37084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5F17EC3-E4F2-111A-5065-72F9ECF3CC94}"/>
              </a:ext>
            </a:extLst>
          </p:cNvPr>
          <p:cNvSpPr txBox="1"/>
          <p:nvPr/>
        </p:nvSpPr>
        <p:spPr>
          <a:xfrm>
            <a:off x="5715000" y="36703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PARTE 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C9029D0-919A-0764-346C-4918DA702A8A}"/>
              </a:ext>
            </a:extLst>
          </p:cNvPr>
          <p:cNvSpPr txBox="1"/>
          <p:nvPr/>
        </p:nvSpPr>
        <p:spPr>
          <a:xfrm>
            <a:off x="5715000" y="38354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Ejecución y recepción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354535F-D593-E128-9B35-048053972B02}"/>
              </a:ext>
            </a:extLst>
          </p:cNvPr>
          <p:cNvSpPr/>
          <p:nvPr/>
        </p:nvSpPr>
        <p:spPr>
          <a:xfrm>
            <a:off x="5537200" y="4229100"/>
            <a:ext cx="6045200" cy="584200"/>
          </a:xfrm>
          <a:prstGeom prst="rect">
            <a:avLst/>
          </a:prstGeom>
          <a:solidFill>
            <a:srgbClr val="F0E7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FA66823-1834-41DD-42BC-A0481EB165D0}"/>
              </a:ext>
            </a:extLst>
          </p:cNvPr>
          <p:cNvSpPr/>
          <p:nvPr/>
        </p:nvSpPr>
        <p:spPr>
          <a:xfrm>
            <a:off x="5105400" y="4368800"/>
            <a:ext cx="304800" cy="304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1C1813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23237E9-7A35-7404-124B-FFC278B109DE}"/>
              </a:ext>
            </a:extLst>
          </p:cNvPr>
          <p:cNvSpPr txBox="1"/>
          <p:nvPr/>
        </p:nvSpPr>
        <p:spPr>
          <a:xfrm>
            <a:off x="5715000" y="43307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CASO RESUELTO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2C62B3C-26BE-01B1-9DE6-95CA8B07BDBD}"/>
              </a:ext>
            </a:extLst>
          </p:cNvPr>
          <p:cNvSpPr txBox="1"/>
          <p:nvPr/>
        </p:nvSpPr>
        <p:spPr>
          <a:xfrm>
            <a:off x="5715000" y="44958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Extender el saneo o poner ánodos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379275F2-E4C7-A215-CFFA-ED0FE96DC3DE}"/>
              </a:ext>
            </a:extLst>
          </p:cNvPr>
          <p:cNvSpPr/>
          <p:nvPr/>
        </p:nvSpPr>
        <p:spPr>
          <a:xfrm>
            <a:off x="5105400" y="50292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7E12670-CF4C-2D32-A8B4-5776BD68CBE7}"/>
              </a:ext>
            </a:extLst>
          </p:cNvPr>
          <p:cNvSpPr txBox="1"/>
          <p:nvPr/>
        </p:nvSpPr>
        <p:spPr>
          <a:xfrm>
            <a:off x="5715000" y="49911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HERRAMIENTAS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D033352-E85C-BFDE-55D7-467294731B50}"/>
              </a:ext>
            </a:extLst>
          </p:cNvPr>
          <p:cNvSpPr txBox="1"/>
          <p:nvPr/>
        </p:nvSpPr>
        <p:spPr>
          <a:xfrm>
            <a:off x="5715000" y="51562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200">
                <a:solidFill>
                  <a:srgbClr val="1C1813"/>
                </a:solidFill>
                <a:latin typeface="Bahnschrift SemiBold" panose="020B0502040204020203" pitchFamily="34" charset="0"/>
              </a:rPr>
              <a:t>La planilla y el formato de esta clase</a:t>
            </a:r>
            <a:endParaRPr lang="es-BO" sz="12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A6422D9D-F1B0-C60A-5B63-B928F4C5DAF9}"/>
              </a:ext>
            </a:extLst>
          </p:cNvPr>
          <p:cNvSpPr/>
          <p:nvPr/>
        </p:nvSpPr>
        <p:spPr>
          <a:xfrm>
            <a:off x="5105400" y="5689600"/>
            <a:ext cx="304800" cy="304800"/>
          </a:xfrm>
          <a:prstGeom prst="ellipse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000">
                <a:solidFill>
                  <a:srgbClr val="8A6A2F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3C385F8-F6AA-E434-3FEB-335EAA27E57B}"/>
              </a:ext>
            </a:extLst>
          </p:cNvPr>
          <p:cNvSpPr txBox="1"/>
          <p:nvPr/>
        </p:nvSpPr>
        <p:spPr>
          <a:xfrm>
            <a:off x="5715000" y="5651500"/>
            <a:ext cx="571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CIERRE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65B6C55-9D47-C0A0-4D85-2C926EE5CB21}"/>
              </a:ext>
            </a:extLst>
          </p:cNvPr>
          <p:cNvSpPr txBox="1"/>
          <p:nvPr/>
        </p:nvSpPr>
        <p:spPr>
          <a:xfrm>
            <a:off x="5715000" y="5816600"/>
            <a:ext cx="571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200">
                <a:solidFill>
                  <a:srgbClr val="1C1813"/>
                </a:solidFill>
                <a:latin typeface="Bahnschrift SemiBold" panose="020B0502040204020203" pitchFamily="34" charset="0"/>
              </a:rPr>
              <a:t>Seis ideas para llevarse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CEE8477B-4B15-EFC0-FE0C-45B08ABDB36E}"/>
              </a:ext>
            </a:extLst>
          </p:cNvPr>
          <p:cNvCxnSpPr/>
          <p:nvPr/>
        </p:nvCxnSpPr>
        <p:spPr>
          <a:xfrm>
            <a:off x="5080000" y="6527800"/>
            <a:ext cx="65024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C879398-39A6-C5F9-1758-413E98758319}"/>
              </a:ext>
            </a:extLst>
          </p:cNvPr>
          <p:cNvSpPr txBox="1"/>
          <p:nvPr/>
        </p:nvSpPr>
        <p:spPr>
          <a:xfrm>
            <a:off x="50800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4" name="PageNo">
            <a:extLst>
              <a:ext uri="{FF2B5EF4-FFF2-40B4-BE49-F238E27FC236}">
                <a16:creationId xmlns:a16="http://schemas.microsoft.com/office/drawing/2014/main" id="{2EED8C02-C963-0F48-126C-6C68CFF24203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02 / 40</a:t>
            </a:r>
          </a:p>
        </p:txBody>
      </p:sp>
    </p:spTree>
    <p:extLst>
      <p:ext uri="{BB962C8B-B14F-4D97-AF65-F5344CB8AC3E}">
        <p14:creationId xmlns:p14="http://schemas.microsoft.com/office/powerpoint/2010/main" val="3119033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9F98BAE-E710-5934-45B1-7726D54D3B89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REPASO DE LA CLASE 5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E30D5B8-63B3-6CBD-1888-756D53AE9046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Tres ideas que traemos de la clase anterior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315CDE-196B-C75D-04FB-307500107D6A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F07BA552-C130-8E8A-0B3F-09E030D47034}"/>
              </a:ext>
            </a:extLst>
          </p:cNvPr>
          <p:cNvSpPr/>
          <p:nvPr/>
        </p:nvSpPr>
        <p:spPr>
          <a:xfrm>
            <a:off x="609600" y="1498600"/>
            <a:ext cx="34544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EA3EC02-D50F-6A77-FEED-780408A72AAD}"/>
              </a:ext>
            </a:extLst>
          </p:cNvPr>
          <p:cNvSpPr txBox="1"/>
          <p:nvPr/>
        </p:nvSpPr>
        <p:spPr>
          <a:xfrm>
            <a:off x="863600" y="1727200"/>
            <a:ext cx="101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4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0D0461F-E8D8-DDDD-2582-43E244472311}"/>
              </a:ext>
            </a:extLst>
          </p:cNvPr>
          <p:cNvSpPr txBox="1"/>
          <p:nvPr/>
        </p:nvSpPr>
        <p:spPr>
          <a:xfrm>
            <a:off x="863600" y="2413000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600">
                <a:solidFill>
                  <a:srgbClr val="1C1813"/>
                </a:solidFill>
                <a:latin typeface="Bahnschrift SemiBold" panose="020B0502040204020203" pitchFamily="34" charset="0"/>
              </a:rPr>
              <a:t>El orden manda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7048AC1-0429-4C45-B95E-E1FBF4BAC76B}"/>
              </a:ext>
            </a:extLst>
          </p:cNvPr>
          <p:cNvSpPr txBox="1"/>
          <p:nvPr/>
        </p:nvSpPr>
        <p:spPr>
          <a:xfrm>
            <a:off x="863600" y="3251200"/>
            <a:ext cx="2946400" cy="7132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Los ensayos no destructivos deciden dónde van los destructivos. Al revés se perfora donde es cómodo.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43EFB9-42CF-BE10-1879-4C6809F751C5}"/>
              </a:ext>
            </a:extLst>
          </p:cNvPr>
          <p:cNvSpPr/>
          <p:nvPr/>
        </p:nvSpPr>
        <p:spPr>
          <a:xfrm>
            <a:off x="4368800" y="1498600"/>
            <a:ext cx="34544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F07EAEE-6685-F1B9-1F6B-5B3215422079}"/>
              </a:ext>
            </a:extLst>
          </p:cNvPr>
          <p:cNvSpPr txBox="1"/>
          <p:nvPr/>
        </p:nvSpPr>
        <p:spPr>
          <a:xfrm>
            <a:off x="4622800" y="1727200"/>
            <a:ext cx="101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4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4CE53A9-75C3-FA5A-7891-31E50B3C980D}"/>
              </a:ext>
            </a:extLst>
          </p:cNvPr>
          <p:cNvSpPr txBox="1"/>
          <p:nvPr/>
        </p:nvSpPr>
        <p:spPr>
          <a:xfrm>
            <a:off x="4622800" y="2413000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600">
                <a:solidFill>
                  <a:srgbClr val="1C1813"/>
                </a:solidFill>
                <a:latin typeface="Bahnschrift SemiBold" panose="020B0502040204020203" pitchFamily="34" charset="0"/>
              </a:rPr>
              <a:t>Corregir el testigo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24C99C3-537C-E55B-B59A-AA7F74CCE2E0}"/>
              </a:ext>
            </a:extLst>
          </p:cNvPr>
          <p:cNvSpPr txBox="1"/>
          <p:nvPr/>
        </p:nvSpPr>
        <p:spPr>
          <a:xfrm>
            <a:off x="4622800" y="3251200"/>
            <a:ext cx="2946400" cy="7132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Los tres testigos de C-4 dieron 16,2 MPa brutos y 18,5 corregidos. El factor fue 1,1425 y cambió la conclusión.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FA2ECE6-3BCE-5CB9-9308-31BA87B1E801}"/>
              </a:ext>
            </a:extLst>
          </p:cNvPr>
          <p:cNvSpPr/>
          <p:nvPr/>
        </p:nvSpPr>
        <p:spPr>
          <a:xfrm>
            <a:off x="8128000" y="1498600"/>
            <a:ext cx="34544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CDBDBC4-3A83-2329-5F35-E1B813874390}"/>
              </a:ext>
            </a:extLst>
          </p:cNvPr>
          <p:cNvSpPr txBox="1"/>
          <p:nvPr/>
        </p:nvSpPr>
        <p:spPr>
          <a:xfrm>
            <a:off x="8382000" y="1727200"/>
            <a:ext cx="101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4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986AC67-A9C8-C204-C82E-80C08144D15E}"/>
              </a:ext>
            </a:extLst>
          </p:cNvPr>
          <p:cNvSpPr txBox="1"/>
          <p:nvPr/>
        </p:nvSpPr>
        <p:spPr>
          <a:xfrm>
            <a:off x="8382000" y="2413000"/>
            <a:ext cx="2946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600">
                <a:solidFill>
                  <a:srgbClr val="1C1813"/>
                </a:solidFill>
                <a:latin typeface="Bahnschrift SemiBold" panose="020B0502040204020203" pitchFamily="34" charset="0"/>
              </a:rPr>
              <a:t>Declarar lo que no se sabe</a:t>
            </a:r>
            <a:endParaRPr lang="es-BO" sz="16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0B424B8-AE56-1C87-55BC-574D9179FA64}"/>
              </a:ext>
            </a:extLst>
          </p:cNvPr>
          <p:cNvSpPr txBox="1"/>
          <p:nvPr/>
        </p:nvSpPr>
        <p:spPr>
          <a:xfrm>
            <a:off x="8382000" y="3251200"/>
            <a:ext cx="2946400" cy="7132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El apartado de limitaciones es lo que convierte un informe en defendible ante un tercero.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5" name="Ilustración 1" descr="De la documentación a los testigos: lo barato decide dónde va lo caro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68680" y="4005072"/>
            <a:ext cx="2944368" cy="1143000"/>
          </a:xfrm>
          <a:prstGeom prst="rect">
            <a:avLst/>
          </a:prstGeom>
        </p:spPr>
      </p:pic>
      <p:pic>
        <p:nvPicPr>
          <p:cNvPr id="26" name="Ilustración 2" descr="Testigos de C-4: 16,2 MPa bruto y 18,5 MPa corregido frente a 0,85 f′c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626864" y="4005072"/>
            <a:ext cx="2944368" cy="1143000"/>
          </a:xfrm>
          <a:prstGeom prst="rect">
            <a:avLst/>
          </a:prstGeom>
        </p:spPr>
      </p:pic>
      <p:pic>
        <p:nvPicPr>
          <p:cNvPr id="27" name="Ilustración 3" descr="Los seis apartados del informe, con las limitaciones destacadas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385048" y="4005072"/>
            <a:ext cx="2944368" cy="114300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EB6B420F-92F3-2A8C-E798-F217665F179E}"/>
              </a:ext>
            </a:extLst>
          </p:cNvPr>
          <p:cNvSpPr/>
          <p:nvPr/>
        </p:nvSpPr>
        <p:spPr>
          <a:xfrm>
            <a:off x="609600" y="5537200"/>
            <a:ext cx="10972800" cy="609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B971E42-E622-AC10-3547-3CAF908FEAE8}"/>
              </a:ext>
            </a:extLst>
          </p:cNvPr>
          <p:cNvSpPr txBox="1"/>
          <p:nvPr/>
        </p:nvSpPr>
        <p:spPr>
          <a:xfrm>
            <a:off x="838200" y="5588000"/>
            <a:ext cx="10566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Pregunta de apertura: ¿qué aplicaste o qué observaste en tu trabajo desde la última clase?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26962BE-7FD5-097D-91EA-920E51DC3105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CC3A159-FBB2-D9D0-0B9E-72C98EC1AF7F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3A0611B-70A7-5467-1C57-19E861A5B936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4" name="PageNo">
            <a:extLst>
              <a:ext uri="{FF2B5EF4-FFF2-40B4-BE49-F238E27FC236}">
                <a16:creationId xmlns:a16="http://schemas.microsoft.com/office/drawing/2014/main" id="{AD236F00-1D37-D25B-F577-CF6BC0DCF4C8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03 / 40</a:t>
            </a:r>
          </a:p>
        </p:txBody>
      </p:sp>
    </p:spTree>
    <p:extLst>
      <p:ext uri="{BB962C8B-B14F-4D97-AF65-F5344CB8AC3E}">
        <p14:creationId xmlns:p14="http://schemas.microsoft.com/office/powerpoint/2010/main" val="1992214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23481AA-A1A0-4356-F5B5-446E147890C2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MAPA DE LA CLASE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754B77D-887C-8C7F-45B5-5B6B8A5F734E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Una reparación se decide en cinco pasos y ninguno es el producto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F980704-D234-910D-74FD-A847D0CD8BF2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96640D8-351F-D0AA-3E1C-25B3095C39F7}"/>
              </a:ext>
            </a:extLst>
          </p:cNvPr>
          <p:cNvCxnSpPr/>
          <p:nvPr/>
        </p:nvCxnSpPr>
        <p:spPr>
          <a:xfrm>
            <a:off x="19177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45A5D13-24D8-77C2-0222-DB7072542B6D}"/>
              </a:ext>
            </a:extLst>
          </p:cNvPr>
          <p:cNvCxnSpPr/>
          <p:nvPr/>
        </p:nvCxnSpPr>
        <p:spPr>
          <a:xfrm>
            <a:off x="41529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67CDB03-01BE-0B4B-FAD6-09DDDF8607FC}"/>
              </a:ext>
            </a:extLst>
          </p:cNvPr>
          <p:cNvCxnSpPr/>
          <p:nvPr/>
        </p:nvCxnSpPr>
        <p:spPr>
          <a:xfrm>
            <a:off x="63881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E0C7172-CC61-20FB-0227-9AE991DF070E}"/>
              </a:ext>
            </a:extLst>
          </p:cNvPr>
          <p:cNvCxnSpPr/>
          <p:nvPr/>
        </p:nvCxnSpPr>
        <p:spPr>
          <a:xfrm>
            <a:off x="8623300" y="1841500"/>
            <a:ext cx="1625600" cy="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F1D634BB-67DC-DED6-11FA-A129AFA78C59}"/>
              </a:ext>
            </a:extLst>
          </p:cNvPr>
          <p:cNvSpPr/>
          <p:nvPr/>
        </p:nvSpPr>
        <p:spPr>
          <a:xfrm>
            <a:off x="13970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3CFD66-80B7-2AE1-1DA6-996CDF01BC1B}"/>
              </a:ext>
            </a:extLst>
          </p:cNvPr>
          <p:cNvSpPr txBox="1"/>
          <p:nvPr/>
        </p:nvSpPr>
        <p:spPr>
          <a:xfrm>
            <a:off x="6096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El mecanismo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7679CA-12F6-3EDA-799E-2979B21284BD}"/>
              </a:ext>
            </a:extLst>
          </p:cNvPr>
          <p:cNvSpPr txBox="1"/>
          <p:nvPr/>
        </p:nvSpPr>
        <p:spPr>
          <a:xfrm>
            <a:off x="6096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Viene de la clase 5. Sin diagnóstico cerrado no se puede elegir principio.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0BD6327-6E6D-591D-C5FD-B62750045546}"/>
              </a:ext>
            </a:extLst>
          </p:cNvPr>
          <p:cNvSpPr/>
          <p:nvPr/>
        </p:nvSpPr>
        <p:spPr>
          <a:xfrm>
            <a:off x="36322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ECA618-7EFB-5D29-5383-32D5FA20C30D}"/>
              </a:ext>
            </a:extLst>
          </p:cNvPr>
          <p:cNvSpPr txBox="1"/>
          <p:nvPr/>
        </p:nvSpPr>
        <p:spPr>
          <a:xfrm>
            <a:off x="28448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El principio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3810DD5-4B2B-03FE-4C66-20FF96533878}"/>
              </a:ext>
            </a:extLst>
          </p:cNvPr>
          <p:cNvSpPr txBox="1"/>
          <p:nvPr/>
        </p:nvSpPr>
        <p:spPr>
          <a:xfrm>
            <a:off x="28448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EN 1504-9 da once. Casi siempre hacen falta varios, y en un orden concreto.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68EAC3D-595A-5E80-1EE5-7816E833F70E}"/>
              </a:ext>
            </a:extLst>
          </p:cNvPr>
          <p:cNvSpPr/>
          <p:nvPr/>
        </p:nvSpPr>
        <p:spPr>
          <a:xfrm>
            <a:off x="58674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A7CF63F-7794-C260-B93A-5F1942927BA5}"/>
              </a:ext>
            </a:extLst>
          </p:cNvPr>
          <p:cNvSpPr txBox="1"/>
          <p:nvPr/>
        </p:nvSpPr>
        <p:spPr>
          <a:xfrm>
            <a:off x="50800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El saneo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E988C04-207F-6180-599D-AF6CF10B8009}"/>
              </a:ext>
            </a:extLst>
          </p:cNvPr>
          <p:cNvSpPr txBox="1"/>
          <p:nvPr/>
        </p:nvSpPr>
        <p:spPr>
          <a:xfrm>
            <a:off x="50800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Hasta dónde llega, cómo se ejecuta y cómo queda la superficie y el acero.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74240DF-72E2-C669-98BC-57F2B7975934}"/>
              </a:ext>
            </a:extLst>
          </p:cNvPr>
          <p:cNvSpPr/>
          <p:nvPr/>
        </p:nvSpPr>
        <p:spPr>
          <a:xfrm>
            <a:off x="81026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53A0E08-48AC-64DB-3FAD-88B1991C3BF2}"/>
              </a:ext>
            </a:extLst>
          </p:cNvPr>
          <p:cNvSpPr txBox="1"/>
          <p:nvPr/>
        </p:nvSpPr>
        <p:spPr>
          <a:xfrm>
            <a:off x="73152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El material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DA3113C-3EB6-6975-C347-9B9C9D444AD5}"/>
              </a:ext>
            </a:extLst>
          </p:cNvPr>
          <p:cNvSpPr txBox="1"/>
          <p:nvPr/>
        </p:nvSpPr>
        <p:spPr>
          <a:xfrm>
            <a:off x="73152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La clase que exige el principio, y la compatibilidad con el soporte que hay.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AEA3E25-A194-84A8-C7CE-D84010234A52}"/>
              </a:ext>
            </a:extLst>
          </p:cNvPr>
          <p:cNvSpPr/>
          <p:nvPr/>
        </p:nvSpPr>
        <p:spPr>
          <a:xfrm>
            <a:off x="10337800" y="1625600"/>
            <a:ext cx="431800" cy="4318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300">
                <a:solidFill>
                  <a:srgbClr val="FFFFFF"/>
                </a:solidFill>
                <a:latin typeface="Bahnschrift SemiBold" panose="020B0502040204020203" pitchFamily="34" charset="0"/>
              </a:rPr>
              <a:t>05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69D94FB-35BD-CD21-D5AF-8AD50F1BC1F9}"/>
              </a:ext>
            </a:extLst>
          </p:cNvPr>
          <p:cNvSpPr txBox="1"/>
          <p:nvPr/>
        </p:nvSpPr>
        <p:spPr>
          <a:xfrm>
            <a:off x="9550400" y="2260600"/>
            <a:ext cx="1981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La recepción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5643E54-81FC-2856-E1DD-6796BB29C353}"/>
              </a:ext>
            </a:extLst>
          </p:cNvPr>
          <p:cNvSpPr txBox="1"/>
          <p:nvPr/>
        </p:nvSpPr>
        <p:spPr>
          <a:xfrm>
            <a:off x="9550400" y="2819400"/>
            <a:ext cx="19812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Puntos de parada, ensayo de arrancamiento y plan de mantenimiento.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6" name="Imagen 25" descr="Los cinco pasos de la reparación: diagnóstico, principio EN 1504-9, saneo por detrás de la barra, mortero compatible y ensayo de arrancamiento">
            <a:extLst>
              <a:ext uri="{FF2B5EF4-FFF2-40B4-BE49-F238E27FC236}">
                <a16:creationId xmlns:a16="http://schemas.microsoft.com/office/drawing/2014/main" id="{C8427714-F07B-0BE9-469E-B8FDC7ADBE1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94200"/>
            <a:ext cx="10972800" cy="132080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772BE098-53A1-2E94-9418-98457ABACC1C}"/>
              </a:ext>
            </a:extLst>
          </p:cNvPr>
          <p:cNvSpPr/>
          <p:nvPr/>
        </p:nvSpPr>
        <p:spPr>
          <a:xfrm>
            <a:off x="609600" y="5537200"/>
            <a:ext cx="10972800" cy="6350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B0BFDEB-6E1A-A630-7151-C9EBAEE535C9}"/>
              </a:ext>
            </a:extLst>
          </p:cNvPr>
          <p:cNvSpPr txBox="1"/>
          <p:nvPr/>
        </p:nvSpPr>
        <p:spPr>
          <a:xfrm>
            <a:off x="838200" y="5588000"/>
            <a:ext cx="10566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El producto aparece en el paso 4, y aun ahí se elige por clase y por compatibilidad.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Empezar por el catálogo del proveedor invierte los cinco pasos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 y es la causa de la mayoría de las reparaciones que vuelven.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7CDBC16-0BCB-32DF-21B7-D98CC8661DD4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1504-9, Principios generales para el uso de productos y sistemas.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B7508FD8-D443-760B-CE88-3D5DD88B4EBD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9404CDC-6546-A33F-9B6C-ABDF706DC958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E4B8D4C-F504-4515-EF2B-33F548B3909A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34" name="PageNo">
            <a:extLst>
              <a:ext uri="{FF2B5EF4-FFF2-40B4-BE49-F238E27FC236}">
                <a16:creationId xmlns:a16="http://schemas.microsoft.com/office/drawing/2014/main" id="{B548DA61-4725-7ED6-52A8-3CD552F316D7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04 / 40</a:t>
            </a:r>
          </a:p>
        </p:txBody>
      </p:sp>
    </p:spTree>
    <p:extLst>
      <p:ext uri="{BB962C8B-B14F-4D97-AF65-F5344CB8AC3E}">
        <p14:creationId xmlns:p14="http://schemas.microsoft.com/office/powerpoint/2010/main" val="3196183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10DBF2-FBC4-C413-B484-6DA8104884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BE14B27-FCDA-0807-E6EC-DF726C7E406D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BF18BF2-2077-3C27-97E5-EB37BA3F7A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B63D8F-E3E1-B534-A40B-BE3ABDCC23DC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1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56176B7E-D16E-6367-9F4A-8007930F9F55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3800">
                <a:solidFill>
                  <a:srgbClr val="FFFFFF"/>
                </a:solidFill>
                <a:latin typeface="Bahnschrift SemiBold" panose="020B0502040204020203" pitchFamily="34" charset="0"/>
              </a:rPr>
              <a:t>Primero el principio, después el producto</a:t>
            </a:r>
            <a:endParaRPr lang="es-BO" sz="38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877B571-10D2-FE56-6497-41595ACF382B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0CE079-ED7F-5463-5560-47161289A634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La EN 1504-9 existe exactamente para evitar que se confundan esas dos cosas.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50A41FC-D2C6-5C0E-0A3A-BF4B3D8D7995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69A4062-6D9F-A3D2-55D6-95AB603CDB16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Los once principios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021261A-4F8A-FBF9-2061-7D21E7C2EEB1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6C0BAB-2D30-A760-AD9E-B787EFD56F76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Del mecanismo al principio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E2A7BD-F0DC-E259-F1E4-3BEB9404DE39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2D7AAD-A0BE-CFAE-AECF-7F6162F14FD0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El error de empezar por el producto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729A4D8-DACA-7971-3028-D42DC69C1300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</p:spTree>
    <p:extLst>
      <p:ext uri="{BB962C8B-B14F-4D97-AF65-F5344CB8AC3E}">
        <p14:creationId xmlns:p14="http://schemas.microsoft.com/office/powerpoint/2010/main" val="210963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8A9A79-0CD6-50F1-4210-395BFC8263C9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LA FAMILIA EN 1504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BC9E2B2-C94B-95EE-D065-8C731DA74A0A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Diez partes: una da el criterio y nueve especifican los productos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C6309E9-EB73-146C-C635-06799F4513F5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D114C86-1985-70FB-3BDB-04446AAA2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615120"/>
              </p:ext>
            </p:extLst>
          </p:nvPr>
        </p:nvGraphicFramePr>
        <p:xfrm>
          <a:off x="609600" y="1422400"/>
          <a:ext cx="62992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6460212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1609247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29615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Parte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normaliza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Cuándo se usa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76034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 1504-9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Principios generales para el uso de productos y sistemas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Antes de elegir producto: fija el principio de intervención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19066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 1504-2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Sistemas de protección superficial del hormigón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Impregnación, recubrimiento, barrera frente a la entrada de agentes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6905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 1504-3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Reparación estructural y no estructural: morteros R1 a R4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Reposición de sección; la clase se elige por la exigencia mecánica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39867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 1504-4 / -5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Adhesión estructural / Inyección de fisuras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Pegado de elementos; sellado o relleno estructural de fisuras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746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 1504-6 / -7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Anclaje de armadura / Protección frente a la corrosión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Conectores post-instalados; tratamiento de la barra descubierta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729819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C3D32418-EE3F-409B-0344-D1DCEB641D29}"/>
              </a:ext>
            </a:extLst>
          </p:cNvPr>
          <p:cNvSpPr/>
          <p:nvPr/>
        </p:nvSpPr>
        <p:spPr>
          <a:xfrm>
            <a:off x="7112000" y="1422400"/>
            <a:ext cx="44704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546DB7-5617-26B0-7BA4-20960F1792D3}"/>
              </a:ext>
            </a:extLst>
          </p:cNvPr>
          <p:cNvSpPr txBox="1"/>
          <p:nvPr/>
        </p:nvSpPr>
        <p:spPr>
          <a:xfrm>
            <a:off x="7315200" y="1536700"/>
            <a:ext cx="4089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EN 1504: PRIMERO LA −9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D957EA-4F80-9D0A-E35C-43F0C8A086B9}"/>
              </a:ext>
            </a:extLst>
          </p:cNvPr>
          <p:cNvSpPr/>
          <p:nvPr/>
        </p:nvSpPr>
        <p:spPr>
          <a:xfrm>
            <a:off x="8382000" y="2240280"/>
            <a:ext cx="19304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7107C80-B5C1-8919-681D-A822E0447A32}"/>
              </a:ext>
            </a:extLst>
          </p:cNvPr>
          <p:cNvSpPr txBox="1"/>
          <p:nvPr/>
        </p:nvSpPr>
        <p:spPr>
          <a:xfrm>
            <a:off x="8382000" y="2265680"/>
            <a:ext cx="1930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BO" sz="1050">
                <a:solidFill>
                  <a:srgbClr val="FFFFFF"/>
                </a:solidFill>
                <a:latin typeface="Segoe UI Semibold" panose="020B0702040204020203" pitchFamily="34" charset="0"/>
              </a:rPr>
              <a:t>EN 1504-9</a:t>
            </a:r>
          </a:p>
          <a:p>
            <a:pPr algn="ctr"/>
            <a:r>
              <a:rPr lang="es-BO" sz="1050">
                <a:solidFill>
                  <a:srgbClr val="FFFFFF"/>
                </a:solidFill>
                <a:latin typeface="Segoe UI Semibold" panose="020B0702040204020203" pitchFamily="34" charset="0"/>
              </a:rPr>
              <a:t>el principio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90632DB-F52D-DDDD-8CCD-762BA29B7C6E}"/>
              </a:ext>
            </a:extLst>
          </p:cNvPr>
          <p:cNvSpPr/>
          <p:nvPr/>
        </p:nvSpPr>
        <p:spPr>
          <a:xfrm>
            <a:off x="7467600" y="3078480"/>
            <a:ext cx="1168400" cy="3810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B7C11DC-1485-DC86-1F1F-72E53D95330F}"/>
              </a:ext>
            </a:extLst>
          </p:cNvPr>
          <p:cNvSpPr txBox="1"/>
          <p:nvPr/>
        </p:nvSpPr>
        <p:spPr>
          <a:xfrm>
            <a:off x="7467600" y="3116580"/>
            <a:ext cx="11684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−2 protección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FBDB42D-4B85-F896-A6C4-F3CC1D92900C}"/>
              </a:ext>
            </a:extLst>
          </p:cNvPr>
          <p:cNvSpPr txBox="1"/>
          <p:nvPr/>
        </p:nvSpPr>
        <p:spPr>
          <a:xfrm>
            <a:off x="7505700" y="325628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impregnar, recubrir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A707EA9-E234-5404-7612-480336A6254A}"/>
              </a:ext>
            </a:extLst>
          </p:cNvPr>
          <p:cNvCxnSpPr/>
          <p:nvPr/>
        </p:nvCxnSpPr>
        <p:spPr>
          <a:xfrm>
            <a:off x="8051800" y="2799080"/>
            <a:ext cx="0" cy="27940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F1F1A9F-4869-AD4B-2C2D-42C741562965}"/>
              </a:ext>
            </a:extLst>
          </p:cNvPr>
          <p:cNvSpPr/>
          <p:nvPr/>
        </p:nvSpPr>
        <p:spPr>
          <a:xfrm>
            <a:off x="8763000" y="3078480"/>
            <a:ext cx="1168400" cy="3810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66A0A25-319C-AD96-028B-3C3CA8D97B4A}"/>
              </a:ext>
            </a:extLst>
          </p:cNvPr>
          <p:cNvSpPr txBox="1"/>
          <p:nvPr/>
        </p:nvSpPr>
        <p:spPr>
          <a:xfrm>
            <a:off x="8763000" y="3116580"/>
            <a:ext cx="11684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−3 morteros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2C7FBAE-4D7B-2793-895A-1FE0EB8A2527}"/>
              </a:ext>
            </a:extLst>
          </p:cNvPr>
          <p:cNvSpPr txBox="1"/>
          <p:nvPr/>
        </p:nvSpPr>
        <p:spPr>
          <a:xfrm>
            <a:off x="8801100" y="325628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reponer sección R1-R4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4A348B8-E35A-3F22-2A08-D5DB4E3FBEF4}"/>
              </a:ext>
            </a:extLst>
          </p:cNvPr>
          <p:cNvCxnSpPr/>
          <p:nvPr/>
        </p:nvCxnSpPr>
        <p:spPr>
          <a:xfrm>
            <a:off x="9347200" y="2799080"/>
            <a:ext cx="0" cy="27940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BBAD8F0-7B65-D88B-A062-8EC6ECB58103}"/>
              </a:ext>
            </a:extLst>
          </p:cNvPr>
          <p:cNvSpPr/>
          <p:nvPr/>
        </p:nvSpPr>
        <p:spPr>
          <a:xfrm>
            <a:off x="10058400" y="3078480"/>
            <a:ext cx="1168400" cy="3810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484C9AC-BDCB-A784-1381-7D0B19D9AA31}"/>
              </a:ext>
            </a:extLst>
          </p:cNvPr>
          <p:cNvSpPr txBox="1"/>
          <p:nvPr/>
        </p:nvSpPr>
        <p:spPr>
          <a:xfrm>
            <a:off x="10058400" y="3116580"/>
            <a:ext cx="11684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−4 adhesivos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EE25ACA-7C53-C4B5-6BA9-1649489BB8F4}"/>
              </a:ext>
            </a:extLst>
          </p:cNvPr>
          <p:cNvSpPr txBox="1"/>
          <p:nvPr/>
        </p:nvSpPr>
        <p:spPr>
          <a:xfrm>
            <a:off x="10096500" y="325628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pegar elemento nuevo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BDBFEA6-1C3A-7E36-19C5-B6D7F3AF964A}"/>
              </a:ext>
            </a:extLst>
          </p:cNvPr>
          <p:cNvCxnSpPr/>
          <p:nvPr/>
        </p:nvCxnSpPr>
        <p:spPr>
          <a:xfrm>
            <a:off x="10642600" y="2799080"/>
            <a:ext cx="0" cy="279400"/>
          </a:xfrm>
          <a:prstGeom prst="line">
            <a:avLst/>
          </a:prstGeom>
          <a:ln w="1270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AFA1BF7-1B00-4F8D-5146-7C960B0AED98}"/>
              </a:ext>
            </a:extLst>
          </p:cNvPr>
          <p:cNvSpPr/>
          <p:nvPr/>
        </p:nvSpPr>
        <p:spPr>
          <a:xfrm>
            <a:off x="7467600" y="3535680"/>
            <a:ext cx="1168400" cy="3810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7339FB9-B6E8-C40C-9836-2CD5C7CDA1D1}"/>
              </a:ext>
            </a:extLst>
          </p:cNvPr>
          <p:cNvSpPr txBox="1"/>
          <p:nvPr/>
        </p:nvSpPr>
        <p:spPr>
          <a:xfrm>
            <a:off x="7467600" y="3573780"/>
            <a:ext cx="11684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−5 inyección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0134BD1-4D6A-8F39-9D2C-8879B86E0A6E}"/>
              </a:ext>
            </a:extLst>
          </p:cNvPr>
          <p:cNvSpPr txBox="1"/>
          <p:nvPr/>
        </p:nvSpPr>
        <p:spPr>
          <a:xfrm>
            <a:off x="7505700" y="371348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sellar o rellenar fisura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56E62B-FAA6-1334-58CF-AD167A0E8748}"/>
              </a:ext>
            </a:extLst>
          </p:cNvPr>
          <p:cNvSpPr/>
          <p:nvPr/>
        </p:nvSpPr>
        <p:spPr>
          <a:xfrm>
            <a:off x="8763000" y="3535680"/>
            <a:ext cx="1168400" cy="3810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4880E74-33AD-1FE1-A8BD-D76693C92329}"/>
              </a:ext>
            </a:extLst>
          </p:cNvPr>
          <p:cNvSpPr txBox="1"/>
          <p:nvPr/>
        </p:nvSpPr>
        <p:spPr>
          <a:xfrm>
            <a:off x="8763000" y="3573780"/>
            <a:ext cx="11684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−6 anclajes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DEE7BD9-AEDF-3340-35E4-D66DD9D332D4}"/>
              </a:ext>
            </a:extLst>
          </p:cNvPr>
          <p:cNvSpPr txBox="1"/>
          <p:nvPr/>
        </p:nvSpPr>
        <p:spPr>
          <a:xfrm>
            <a:off x="8801100" y="371348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barra post-instalada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AB021E2-508F-DC87-7F87-79A58EAAB172}"/>
              </a:ext>
            </a:extLst>
          </p:cNvPr>
          <p:cNvSpPr/>
          <p:nvPr/>
        </p:nvSpPr>
        <p:spPr>
          <a:xfrm>
            <a:off x="10058400" y="3535680"/>
            <a:ext cx="1168400" cy="3810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E0CEE63-7046-5C40-25B3-AB8F767F3B0F}"/>
              </a:ext>
            </a:extLst>
          </p:cNvPr>
          <p:cNvSpPr txBox="1"/>
          <p:nvPr/>
        </p:nvSpPr>
        <p:spPr>
          <a:xfrm>
            <a:off x="10058400" y="3573780"/>
            <a:ext cx="11684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−7 pasivantes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1B405DD-CD6E-2F16-6E07-A77A44285A1B}"/>
              </a:ext>
            </a:extLst>
          </p:cNvPr>
          <p:cNvSpPr txBox="1"/>
          <p:nvPr/>
        </p:nvSpPr>
        <p:spPr>
          <a:xfrm>
            <a:off x="10096500" y="3713480"/>
            <a:ext cx="1092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938A7C"/>
                </a:solidFill>
                <a:latin typeface="Segoe UI" panose="020B0502040204020203" pitchFamily="34" charset="0"/>
              </a:rPr>
              <a:t>proteger la armadura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F177E61-499F-0E20-8279-768C7A8F85D0}"/>
              </a:ext>
            </a:extLst>
          </p:cNvPr>
          <p:cNvSpPr txBox="1"/>
          <p:nvPr/>
        </p:nvSpPr>
        <p:spPr>
          <a:xfrm>
            <a:off x="7467600" y="4140200"/>
            <a:ext cx="3759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700">
                <a:solidFill>
                  <a:srgbClr val="5A5248"/>
                </a:solidFill>
                <a:latin typeface="Segoe UI" panose="020B0502040204020203" pitchFamily="34" charset="0"/>
              </a:rPr>
              <a:t>La −9 elige el principio; las demás especifican el producto que lo cumple. </a:t>
            </a:r>
            <a:r>
              <a:rPr lang="es-MX" sz="700" b="1">
                <a:solidFill>
                  <a:srgbClr val="5A5248"/>
                </a:solidFill>
                <a:latin typeface="Segoe UI Semibold" panose="020B0702040204020203" pitchFamily="34" charset="0"/>
              </a:rPr>
              <a:t>Empezar por el producto invierte el orden.</a:t>
            </a:r>
            <a:endParaRPr lang="es-BO" sz="700" b="1">
              <a:solidFill>
                <a:srgbClr val="5A524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499F88A-4214-69A8-FC4E-1F1E1DE565AF}"/>
              </a:ext>
            </a:extLst>
          </p:cNvPr>
          <p:cNvSpPr/>
          <p:nvPr/>
        </p:nvSpPr>
        <p:spPr>
          <a:xfrm>
            <a:off x="609600" y="46990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8F2B859-5BB8-59E8-2C72-2BFA89BDF890}"/>
              </a:ext>
            </a:extLst>
          </p:cNvPr>
          <p:cNvSpPr txBox="1"/>
          <p:nvPr/>
        </p:nvSpPr>
        <p:spPr>
          <a:xfrm>
            <a:off x="838200" y="47498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El orden de uso es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primero la -9, después la que corresponda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. Elegir el producto antes que el principio es como recetar antes de diagnosticar.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7E27558-0DE1-9C9A-6F4F-4DDF929E83C4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Familia EN 1504, partes 1 a 10.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0DA0E07-145D-DAB6-7DDB-9B6B78168CF4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7AF0A72-7253-7B10-882E-1DA5287B4C84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50562D2-B7EB-FE7F-D6AF-062247DC914E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41" name="PageNo">
            <a:extLst>
              <a:ext uri="{FF2B5EF4-FFF2-40B4-BE49-F238E27FC236}">
                <a16:creationId xmlns:a16="http://schemas.microsoft.com/office/drawing/2014/main" id="{FC8C2877-233F-3309-FB18-4DB0393C9AF3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06 / 40</a:t>
            </a:r>
          </a:p>
        </p:txBody>
      </p:sp>
    </p:spTree>
    <p:extLst>
      <p:ext uri="{BB962C8B-B14F-4D97-AF65-F5344CB8AC3E}">
        <p14:creationId xmlns:p14="http://schemas.microsoft.com/office/powerpoint/2010/main" val="673652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173A90-CD70-556B-922B-A7713B2B8B5F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LOS ONCE PRINCIPIOS, EN DOS FAMILIAS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3F329BA-96F4-8B01-B835-89F6F5F3359C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EN 1504-9 agrupa la intervención en dos familias de principios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B5B6290-5830-BD9A-5D88-F1C39788636D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F8C13F3-D8AA-A1CE-8063-E4BC3E28D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185111"/>
              </p:ext>
            </p:extLst>
          </p:nvPr>
        </p:nvGraphicFramePr>
        <p:xfrm>
          <a:off x="609600" y="1422400"/>
          <a:ext cx="53848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233018314"/>
                    </a:ext>
                  </a:extLst>
                </a:gridCol>
              </a:tblGrid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Defectos del hormigón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38126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 · Protección frente a la entrada de agentes</a:t>
                      </a:r>
                      <a:endParaRPr lang="es-BO" sz="11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38801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2 · Control de la humedad</a:t>
                      </a:r>
                      <a:endParaRPr lang="es-BO" sz="11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7281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3 · Restauración o reposición del hormigón</a:t>
                      </a:r>
                      <a:endParaRPr lang="es-BO" sz="11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766799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4 · Refuerzo estructural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153915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5 · Resistencia física o mecánica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353953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6 · Resistencia a productos químicos</a:t>
                      </a:r>
                      <a:endParaRPr lang="es-BO" sz="11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305687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6808359-7C42-4A9C-A93A-1BEAB55E9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54483"/>
              </p:ext>
            </p:extLst>
          </p:nvPr>
        </p:nvGraphicFramePr>
        <p:xfrm>
          <a:off x="6197600" y="1422400"/>
          <a:ext cx="53848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1914789409"/>
                    </a:ext>
                  </a:extLst>
                </a:gridCol>
              </a:tblGrid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Corrosión de la armadura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527284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7 · Conservación o restauración de la pasividad</a:t>
                      </a:r>
                      <a:endParaRPr lang="es-BO" sz="11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73115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8 · Aumento de la resistividad del hormigón</a:t>
                      </a:r>
                      <a:endParaRPr lang="es-BO" sz="11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42442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9 · Control catódico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916271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s-BO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10 · Protección catódica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46164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11 · Control de áreas anódicas</a:t>
                      </a:r>
                      <a:endParaRPr lang="es-BO" sz="11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637929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C8B1FDDD-2DFF-0D17-6243-D81A184B6E8C}"/>
              </a:ext>
            </a:extLst>
          </p:cNvPr>
          <p:cNvSpPr/>
          <p:nvPr/>
        </p:nvSpPr>
        <p:spPr>
          <a:xfrm>
            <a:off x="609600" y="5029200"/>
            <a:ext cx="10972800" cy="787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DBE309-16BE-528F-3E76-26788B78530F}"/>
              </a:ext>
            </a:extLst>
          </p:cNvPr>
          <p:cNvSpPr txBox="1"/>
          <p:nvPr/>
        </p:nvSpPr>
        <p:spPr>
          <a:xfrm>
            <a:off x="838200" y="5080000"/>
            <a:ext cx="105664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El principio se elige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según el mecanismo diagnosticado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no según el catálogo del proveedor. En la clase 6 se recorren uno por uno con sus productos y sus límites.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5CD133-3F5C-407E-108A-503504145C03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1504-9:2008, principios generales para el uso de productos y sistemas de reparación.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510C47D-8BF8-B4FB-D3BE-28989814D5FA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DE1D48C-6A2F-4DB1-C76F-EB8CCC69E6C2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61B82A-3B4E-AE08-DDB5-FF58BC11B477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15" name="PageNo">
            <a:extLst>
              <a:ext uri="{FF2B5EF4-FFF2-40B4-BE49-F238E27FC236}">
                <a16:creationId xmlns:a16="http://schemas.microsoft.com/office/drawing/2014/main" id="{1DAE1EB9-DB9A-FE43-B0BA-29E4046F8C48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07 / 40</a:t>
            </a:r>
          </a:p>
        </p:txBody>
      </p:sp>
    </p:spTree>
    <p:extLst>
      <p:ext uri="{BB962C8B-B14F-4D97-AF65-F5344CB8AC3E}">
        <p14:creationId xmlns:p14="http://schemas.microsoft.com/office/powerpoint/2010/main" val="383544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8F2D50-F805-F899-A5AE-81FBB55D972A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LOS ONCE PRINCIPIOS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E9C4CA8-969A-F07F-71A8-7DBB44450782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Seis para el hormigón y cinco para la armadura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C572687-363A-C5FB-9774-A22D303CC95C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9073C6D-E01C-F3B4-97D9-CBAAFD974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40248"/>
              </p:ext>
            </p:extLst>
          </p:nvPr>
        </p:nvGraphicFramePr>
        <p:xfrm>
          <a:off x="609600" y="1422400"/>
          <a:ext cx="53340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237334914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4264739592"/>
                    </a:ext>
                  </a:extLst>
                </a:gridCol>
              </a:tblGrid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Defectos del hormigón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persigue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188889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 · Protección frente a la penetración</a:t>
                      </a:r>
                      <a:endParaRPr lang="es-BO" sz="9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Impedir la entrada de agua y agentes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74936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2 · Control de la humedad</a:t>
                      </a:r>
                      <a:endParaRPr lang="es-BO" sz="9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Mantener el contenido de agua por debajo del umbral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81714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3 · Restauración del hormigón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Reponer el material perdido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612521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4 · Refuerzo estructural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Aumentar o restituir capacidad portante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46102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5 · Resistencia física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Mejorar frente a abrasión, impacto o desgaste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657878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6 · Resistencia química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Mejorar frente a ácidos, sulfatos y sales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43930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F403694-6368-CFAE-9762-CBB533096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130268"/>
              </p:ext>
            </p:extLst>
          </p:nvPr>
        </p:nvGraphicFramePr>
        <p:xfrm>
          <a:off x="6248400" y="1422400"/>
          <a:ext cx="53340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3067957472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838639178"/>
                    </a:ext>
                  </a:extLst>
                </a:gridCol>
              </a:tblGrid>
              <a:tr h="491067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Corrosión de armaduras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persigue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94812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7 · Restauración de la pasividad</a:t>
                      </a:r>
                      <a:endParaRPr lang="es-BO" sz="9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Devolver al acero el entorno alcalino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6352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8 · Incremento de la resistividad</a:t>
                      </a:r>
                      <a:endParaRPr lang="es-BO" sz="9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Frenar la corriente secando el hormigón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59482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9 · Control catódico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Limitar el oxígeno disponible en el cátodo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565117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10 · Protección catódica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Invertir la corriente con fuente externa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367822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ctr"/>
                      <a:r>
                        <a:rPr lang="pt-BR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11 · Control de áreas anódicas</a:t>
                      </a:r>
                      <a:endParaRPr lang="es-BO" sz="9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Ánodos de sacrificio o inhibidores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467959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7D109931-B199-4E71-AB87-76D613C6555C}"/>
              </a:ext>
            </a:extLst>
          </p:cNvPr>
          <p:cNvSpPr/>
          <p:nvPr/>
        </p:nvSpPr>
        <p:spPr>
          <a:xfrm>
            <a:off x="6248400" y="4572000"/>
            <a:ext cx="5334000" cy="13970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C262D6-3AF8-B6F3-9D4C-167FCE1ED440}"/>
              </a:ext>
            </a:extLst>
          </p:cNvPr>
          <p:cNvSpPr txBox="1"/>
          <p:nvPr/>
        </p:nvSpPr>
        <p:spPr>
          <a:xfrm>
            <a:off x="6477000" y="4749800"/>
            <a:ext cx="49276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FFFFFF"/>
                </a:solidFill>
                <a:latin typeface="Segoe UI" panose="020B0502040204020203" pitchFamily="34" charset="0"/>
              </a:rPr>
              <a:t>Los principios 7 a 11 son las cuatro piezas de la pila de la clase 3, cada una atacada por un lado. </a:t>
            </a:r>
            <a:r>
              <a:rPr lang="es-MX" sz="1100" b="1">
                <a:solidFill>
                  <a:srgbClr val="FFFFFF"/>
                </a:solidFill>
                <a:latin typeface="Segoe UI Semibold" panose="020B0702040204020203" pitchFamily="34" charset="0"/>
              </a:rPr>
              <a:t>El 8 quita el electrolito, el 9 quita el oxígeno, el 10 y el 11 invierten la corriente y el 7 restituye la capa pasiva.</a:t>
            </a:r>
            <a:endParaRPr lang="es-BO" sz="11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27095CC-8000-D0B2-4846-B964924D7708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1504-9:2008, Tabla 1.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B2B4C96-A9EF-9FE8-00C5-C2A191EE7B54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154665-F114-C958-6203-E6EF52D95965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F0C604-988D-3D31-5424-884CCC07910D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15" name="PageNo">
            <a:extLst>
              <a:ext uri="{FF2B5EF4-FFF2-40B4-BE49-F238E27FC236}">
                <a16:creationId xmlns:a16="http://schemas.microsoft.com/office/drawing/2014/main" id="{305E812E-C59E-718E-C912-AC2FC849FB38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08 / 40</a:t>
            </a:r>
          </a:p>
        </p:txBody>
      </p:sp>
    </p:spTree>
    <p:extLst>
      <p:ext uri="{BB962C8B-B14F-4D97-AF65-F5344CB8AC3E}">
        <p14:creationId xmlns:p14="http://schemas.microsoft.com/office/powerpoint/2010/main" val="82298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6834C67-5C04-BCC2-5DB0-3D21CD4167FC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DEL MECANISMO AL PRINCIPIO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3014117-38A0-DACE-EA86-E518EDE6FB1B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Cada diagnóstico del curso lleva a una combinación distinta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5D287-ED4F-8A2B-54BE-569A2155607E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0F743A8-036F-11F4-DAE4-2A7029CAC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326495"/>
              </p:ext>
            </p:extLst>
          </p:nvPr>
        </p:nvGraphicFramePr>
        <p:xfrm>
          <a:off x="609600" y="1422400"/>
          <a:ext cx="62992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1493887090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526550967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184122009"/>
                    </a:ext>
                  </a:extLst>
                </a:gridCol>
              </a:tblGrid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Mecanismo diagnosticado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Principios aplicables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8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Y en este orden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053265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Carbonatación con corrosión activa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7 · restauración de la pasividad  +  3 · reposición  +  1 · protección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Sanear, pasivar, reponer y proteger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394297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Cloruros con corrosión activa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 · humedad  +  7 · pasividad  +  3 · reposición  +  11 · áreas anódicas  +  1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Cortar el agua antes que nada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93159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Fisura viva de origen térmico</a:t>
                      </a:r>
                      <a:endParaRPr lang="es-BO" sz="90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Ninguno de reposición: se convierte en junta con sellante elástico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se cose lo que se mueve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274749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Hielo-deshielo con descamación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 · humedad  +  5 · resistencia física  +  3 · reposición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Primero la pendiente y el drenaje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423352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Ataque por ácido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 · humedad  +  6 · resistencia química, con barrera no cementosa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Ventilar o cortar el vertido primero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14533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Pérdida de capacidad portante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4 · refuerzo estructural, previa reparación de lo anterior</a:t>
                      </a:r>
                      <a:endParaRPr lang="es-BO" sz="9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La clase 7 entera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19795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D29DFA53-25B0-B81F-11CB-ED0256848A82}"/>
              </a:ext>
            </a:extLst>
          </p:cNvPr>
          <p:cNvSpPr/>
          <p:nvPr/>
        </p:nvSpPr>
        <p:spPr>
          <a:xfrm>
            <a:off x="7213600" y="1422400"/>
            <a:ext cx="4368800" cy="3403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545A9D-94AC-0A21-3620-BBA572FE1204}"/>
              </a:ext>
            </a:extLst>
          </p:cNvPr>
          <p:cNvSpPr txBox="1"/>
          <p:nvPr/>
        </p:nvSpPr>
        <p:spPr>
          <a:xfrm>
            <a:off x="7416800" y="1536700"/>
            <a:ext cx="3987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EL ÁNODO INCIPIENTE  ·  POR QUÉ EL DAÑO VUELVE AL BORDE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3C1420-C8E5-3A43-97A1-8610BB80B4C1}"/>
              </a:ext>
            </a:extLst>
          </p:cNvPr>
          <p:cNvSpPr txBox="1"/>
          <p:nvPr/>
        </p:nvSpPr>
        <p:spPr>
          <a:xfrm>
            <a:off x="7569200" y="1790700"/>
            <a:ext cx="3657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ANTES  ·  potencial uniforme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BC4A76-4F04-2BE9-7070-BCE27526DE1A}"/>
              </a:ext>
            </a:extLst>
          </p:cNvPr>
          <p:cNvSpPr/>
          <p:nvPr/>
        </p:nvSpPr>
        <p:spPr>
          <a:xfrm>
            <a:off x="7569200" y="1930400"/>
            <a:ext cx="3657600" cy="609600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7A75C34-348A-2B50-EA90-69541819DEA6}"/>
              </a:ext>
            </a:extLst>
          </p:cNvPr>
          <p:cNvCxnSpPr/>
          <p:nvPr/>
        </p:nvCxnSpPr>
        <p:spPr>
          <a:xfrm>
            <a:off x="7569200" y="1930400"/>
            <a:ext cx="0" cy="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D76E096-D4A0-B2F1-B7E1-BD1E82FD6E81}"/>
              </a:ext>
            </a:extLst>
          </p:cNvPr>
          <p:cNvCxnSpPr/>
          <p:nvPr/>
        </p:nvCxnSpPr>
        <p:spPr>
          <a:xfrm flipH="1">
            <a:off x="7569200" y="1930400"/>
            <a:ext cx="152400" cy="1524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1DEF37B-7708-27A8-6C82-7D7A1FB184DB}"/>
              </a:ext>
            </a:extLst>
          </p:cNvPr>
          <p:cNvCxnSpPr/>
          <p:nvPr/>
        </p:nvCxnSpPr>
        <p:spPr>
          <a:xfrm flipH="1">
            <a:off x="7569200" y="1930400"/>
            <a:ext cx="304800" cy="3048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3E09F5B-044C-A1CB-F4B9-E69BB1D0062D}"/>
              </a:ext>
            </a:extLst>
          </p:cNvPr>
          <p:cNvCxnSpPr/>
          <p:nvPr/>
        </p:nvCxnSpPr>
        <p:spPr>
          <a:xfrm flipH="1">
            <a:off x="7569200" y="1930400"/>
            <a:ext cx="457200" cy="4572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CB74D34-0926-6340-7E90-D3DBBF4ABCAF}"/>
              </a:ext>
            </a:extLst>
          </p:cNvPr>
          <p:cNvCxnSpPr/>
          <p:nvPr/>
        </p:nvCxnSpPr>
        <p:spPr>
          <a:xfrm flipH="1">
            <a:off x="75692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6E1607B-2950-9D7C-68A1-78EFA9DB0465}"/>
              </a:ext>
            </a:extLst>
          </p:cNvPr>
          <p:cNvCxnSpPr/>
          <p:nvPr/>
        </p:nvCxnSpPr>
        <p:spPr>
          <a:xfrm flipH="1">
            <a:off x="77216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04DD1EF-DCEB-D242-BCCD-3A05EEB3CA48}"/>
              </a:ext>
            </a:extLst>
          </p:cNvPr>
          <p:cNvCxnSpPr/>
          <p:nvPr/>
        </p:nvCxnSpPr>
        <p:spPr>
          <a:xfrm flipH="1">
            <a:off x="78740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1928036-86B3-70E5-3C13-BD30FD96AF02}"/>
              </a:ext>
            </a:extLst>
          </p:cNvPr>
          <p:cNvCxnSpPr/>
          <p:nvPr/>
        </p:nvCxnSpPr>
        <p:spPr>
          <a:xfrm flipH="1">
            <a:off x="80264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E341B06-943E-45B8-D93B-842D368955ED}"/>
              </a:ext>
            </a:extLst>
          </p:cNvPr>
          <p:cNvCxnSpPr/>
          <p:nvPr/>
        </p:nvCxnSpPr>
        <p:spPr>
          <a:xfrm flipH="1">
            <a:off x="81788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F8018FC-BA1A-2BC0-3D9A-0A8092CB1EB0}"/>
              </a:ext>
            </a:extLst>
          </p:cNvPr>
          <p:cNvCxnSpPr/>
          <p:nvPr/>
        </p:nvCxnSpPr>
        <p:spPr>
          <a:xfrm flipH="1">
            <a:off x="83312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8D73A2FD-8F54-16C2-806F-8A9FB55D9E06}"/>
              </a:ext>
            </a:extLst>
          </p:cNvPr>
          <p:cNvCxnSpPr/>
          <p:nvPr/>
        </p:nvCxnSpPr>
        <p:spPr>
          <a:xfrm flipH="1">
            <a:off x="84836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9FE9FC9-B074-C7DF-5E94-52C6D6FDF51D}"/>
              </a:ext>
            </a:extLst>
          </p:cNvPr>
          <p:cNvCxnSpPr/>
          <p:nvPr/>
        </p:nvCxnSpPr>
        <p:spPr>
          <a:xfrm flipH="1">
            <a:off x="86360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CC906FD-E206-86E8-4866-9B469C8B6CB4}"/>
              </a:ext>
            </a:extLst>
          </p:cNvPr>
          <p:cNvCxnSpPr/>
          <p:nvPr/>
        </p:nvCxnSpPr>
        <p:spPr>
          <a:xfrm flipH="1">
            <a:off x="87884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E51E4AE-7238-AA64-47FF-F7DCF90041C2}"/>
              </a:ext>
            </a:extLst>
          </p:cNvPr>
          <p:cNvCxnSpPr/>
          <p:nvPr/>
        </p:nvCxnSpPr>
        <p:spPr>
          <a:xfrm flipH="1">
            <a:off x="89408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3DE94E6-A578-D8B0-281E-97475009EC64}"/>
              </a:ext>
            </a:extLst>
          </p:cNvPr>
          <p:cNvCxnSpPr/>
          <p:nvPr/>
        </p:nvCxnSpPr>
        <p:spPr>
          <a:xfrm flipH="1">
            <a:off x="90932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6C8F2B1-CE8A-FF88-B6A2-656EB7928016}"/>
              </a:ext>
            </a:extLst>
          </p:cNvPr>
          <p:cNvCxnSpPr/>
          <p:nvPr/>
        </p:nvCxnSpPr>
        <p:spPr>
          <a:xfrm flipH="1">
            <a:off x="92456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6B2FEFB-D35D-59FC-587A-FCF7793FBDB0}"/>
              </a:ext>
            </a:extLst>
          </p:cNvPr>
          <p:cNvCxnSpPr/>
          <p:nvPr/>
        </p:nvCxnSpPr>
        <p:spPr>
          <a:xfrm flipH="1">
            <a:off x="93980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00FC43D-863F-0E5E-28D6-1EC75CAC5DDF}"/>
              </a:ext>
            </a:extLst>
          </p:cNvPr>
          <p:cNvCxnSpPr/>
          <p:nvPr/>
        </p:nvCxnSpPr>
        <p:spPr>
          <a:xfrm flipH="1">
            <a:off x="95504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7EDA6B9-9D94-5257-858F-239D44E06531}"/>
              </a:ext>
            </a:extLst>
          </p:cNvPr>
          <p:cNvCxnSpPr/>
          <p:nvPr/>
        </p:nvCxnSpPr>
        <p:spPr>
          <a:xfrm flipH="1">
            <a:off x="97028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CEC0E73-0374-CC00-6D65-A16B29D1F645}"/>
              </a:ext>
            </a:extLst>
          </p:cNvPr>
          <p:cNvCxnSpPr/>
          <p:nvPr/>
        </p:nvCxnSpPr>
        <p:spPr>
          <a:xfrm flipH="1">
            <a:off x="98552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703205F-7ED7-3244-E87E-FF54A9A2A897}"/>
              </a:ext>
            </a:extLst>
          </p:cNvPr>
          <p:cNvCxnSpPr/>
          <p:nvPr/>
        </p:nvCxnSpPr>
        <p:spPr>
          <a:xfrm flipH="1">
            <a:off x="100076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0501E63-B969-ABB2-3BCB-3D42C9AC597B}"/>
              </a:ext>
            </a:extLst>
          </p:cNvPr>
          <p:cNvCxnSpPr/>
          <p:nvPr/>
        </p:nvCxnSpPr>
        <p:spPr>
          <a:xfrm flipH="1">
            <a:off x="101600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3C458170-BD56-FDA0-1795-2A8D314E9737}"/>
              </a:ext>
            </a:extLst>
          </p:cNvPr>
          <p:cNvCxnSpPr/>
          <p:nvPr/>
        </p:nvCxnSpPr>
        <p:spPr>
          <a:xfrm flipH="1">
            <a:off x="103124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0DDDAC5-797A-3545-B9D0-C59388432878}"/>
              </a:ext>
            </a:extLst>
          </p:cNvPr>
          <p:cNvCxnSpPr/>
          <p:nvPr/>
        </p:nvCxnSpPr>
        <p:spPr>
          <a:xfrm flipH="1">
            <a:off x="104648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88AB8C0-6DFA-5250-66E5-E88CA82430F8}"/>
              </a:ext>
            </a:extLst>
          </p:cNvPr>
          <p:cNvCxnSpPr/>
          <p:nvPr/>
        </p:nvCxnSpPr>
        <p:spPr>
          <a:xfrm flipH="1">
            <a:off x="10617200" y="19304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A5EE26A-279F-C633-1044-96DD22351751}"/>
              </a:ext>
            </a:extLst>
          </p:cNvPr>
          <p:cNvCxnSpPr/>
          <p:nvPr/>
        </p:nvCxnSpPr>
        <p:spPr>
          <a:xfrm flipH="1">
            <a:off x="10769600" y="2082800"/>
            <a:ext cx="457200" cy="4572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406F8CB-D7E6-7EC8-3F72-6CD804C1B64E}"/>
              </a:ext>
            </a:extLst>
          </p:cNvPr>
          <p:cNvCxnSpPr/>
          <p:nvPr/>
        </p:nvCxnSpPr>
        <p:spPr>
          <a:xfrm flipH="1">
            <a:off x="10922000" y="2235200"/>
            <a:ext cx="304800" cy="3048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0CEC30F-CC37-B673-1567-2373403DE30E}"/>
              </a:ext>
            </a:extLst>
          </p:cNvPr>
          <p:cNvCxnSpPr/>
          <p:nvPr/>
        </p:nvCxnSpPr>
        <p:spPr>
          <a:xfrm flipH="1">
            <a:off x="11074400" y="2387600"/>
            <a:ext cx="152400" cy="1524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5E1CE8BD-4D25-C35F-C8B3-99318138D8BD}"/>
              </a:ext>
            </a:extLst>
          </p:cNvPr>
          <p:cNvSpPr/>
          <p:nvPr/>
        </p:nvSpPr>
        <p:spPr>
          <a:xfrm>
            <a:off x="7670800" y="2171700"/>
            <a:ext cx="3454400" cy="127000"/>
          </a:xfrm>
          <a:prstGeom prst="roundRect">
            <a:avLst>
              <a:gd name="adj" fmla="val 6000"/>
            </a:avLst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DDAB586-8D27-672C-6B2C-E9A3F8D8D9A7}"/>
              </a:ext>
            </a:extLst>
          </p:cNvPr>
          <p:cNvSpPr txBox="1"/>
          <p:nvPr/>
        </p:nvSpPr>
        <p:spPr>
          <a:xfrm>
            <a:off x="7670800" y="2324100"/>
            <a:ext cx="3454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600">
                <a:solidFill>
                  <a:srgbClr val="8C332B"/>
                </a:solidFill>
                <a:latin typeface="Segoe UI" panose="020B0502040204020203" pitchFamily="34" charset="0"/>
              </a:rPr>
              <a:t>toda la barra despasivada por el cloruro</a:t>
            </a:r>
            <a:endParaRPr lang="es-BO" sz="600">
              <a:solidFill>
                <a:srgbClr val="8C332B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91E822E-29F2-A94F-8D44-7EDB9806528A}"/>
              </a:ext>
            </a:extLst>
          </p:cNvPr>
          <p:cNvSpPr txBox="1"/>
          <p:nvPr/>
        </p:nvSpPr>
        <p:spPr>
          <a:xfrm>
            <a:off x="7569200" y="2565400"/>
            <a:ext cx="365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650">
                <a:solidFill>
                  <a:srgbClr val="938A7C"/>
                </a:solidFill>
                <a:latin typeface="Segoe UI" panose="020B0502040204020203" pitchFamily="34" charset="0"/>
              </a:rPr>
              <a:t>Sin diferencia de potencial a lo largo de la barra no hay una pila dominante.</a:t>
            </a:r>
            <a:endParaRPr lang="es-BO" sz="65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80C188E-9083-8606-F8B8-548D467B12DF}"/>
              </a:ext>
            </a:extLst>
          </p:cNvPr>
          <p:cNvSpPr txBox="1"/>
          <p:nvPr/>
        </p:nvSpPr>
        <p:spPr>
          <a:xfrm>
            <a:off x="7569200" y="2832100"/>
            <a:ext cx="3657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1C1813"/>
                </a:solidFill>
                <a:latin typeface="Segoe UI Semibold" panose="020B0702040204020203" pitchFamily="34" charset="0"/>
              </a:rPr>
              <a:t>DESPUÉS DE REPONER SOLO EL TRAMO VISIBLE</a:t>
            </a:r>
            <a:endParaRPr lang="es-BO" sz="7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F003FCDF-5D14-E0A1-FB40-7E9307191458}"/>
              </a:ext>
            </a:extLst>
          </p:cNvPr>
          <p:cNvSpPr/>
          <p:nvPr/>
        </p:nvSpPr>
        <p:spPr>
          <a:xfrm>
            <a:off x="7569200" y="2971800"/>
            <a:ext cx="3657600" cy="609600"/>
          </a:xfrm>
          <a:prstGeom prst="rect">
            <a:avLst/>
          </a:prstGeom>
          <a:solidFill>
            <a:srgbClr val="C9C3B4"/>
          </a:solidFill>
          <a:ln w="9525">
            <a:solidFill>
              <a:srgbClr val="A69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264E2B9C-D858-9B80-01EB-C4EBCB571067}"/>
              </a:ext>
            </a:extLst>
          </p:cNvPr>
          <p:cNvCxnSpPr/>
          <p:nvPr/>
        </p:nvCxnSpPr>
        <p:spPr>
          <a:xfrm>
            <a:off x="7569200" y="2971800"/>
            <a:ext cx="0" cy="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F3C68302-35B6-FD31-899E-E7100BF55315}"/>
              </a:ext>
            </a:extLst>
          </p:cNvPr>
          <p:cNvCxnSpPr/>
          <p:nvPr/>
        </p:nvCxnSpPr>
        <p:spPr>
          <a:xfrm flipH="1">
            <a:off x="7569200" y="2971800"/>
            <a:ext cx="152400" cy="1524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2D98F487-4A96-AE1B-F15E-4E08C988735C}"/>
              </a:ext>
            </a:extLst>
          </p:cNvPr>
          <p:cNvCxnSpPr/>
          <p:nvPr/>
        </p:nvCxnSpPr>
        <p:spPr>
          <a:xfrm flipH="1">
            <a:off x="7569200" y="2971800"/>
            <a:ext cx="304800" cy="3048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FCBBB32-889C-639E-0D8D-06B63738ED39}"/>
              </a:ext>
            </a:extLst>
          </p:cNvPr>
          <p:cNvCxnSpPr/>
          <p:nvPr/>
        </p:nvCxnSpPr>
        <p:spPr>
          <a:xfrm flipH="1">
            <a:off x="7569200" y="2971800"/>
            <a:ext cx="457200" cy="4572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F3E0072D-6E18-5AAE-DE82-C1C80D68FB5A}"/>
              </a:ext>
            </a:extLst>
          </p:cNvPr>
          <p:cNvCxnSpPr/>
          <p:nvPr/>
        </p:nvCxnSpPr>
        <p:spPr>
          <a:xfrm flipH="1">
            <a:off x="75692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1E1D820C-3268-F7FE-1D35-D8B6DE715A80}"/>
              </a:ext>
            </a:extLst>
          </p:cNvPr>
          <p:cNvCxnSpPr/>
          <p:nvPr/>
        </p:nvCxnSpPr>
        <p:spPr>
          <a:xfrm flipH="1">
            <a:off x="77216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C7B5974B-7BFE-57AF-0AB1-5FB36DBAC326}"/>
              </a:ext>
            </a:extLst>
          </p:cNvPr>
          <p:cNvCxnSpPr/>
          <p:nvPr/>
        </p:nvCxnSpPr>
        <p:spPr>
          <a:xfrm flipH="1">
            <a:off x="78740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212E5DDC-CCFE-4413-C069-8A42EA4F0268}"/>
              </a:ext>
            </a:extLst>
          </p:cNvPr>
          <p:cNvCxnSpPr/>
          <p:nvPr/>
        </p:nvCxnSpPr>
        <p:spPr>
          <a:xfrm flipH="1">
            <a:off x="80264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9809EDD4-0F3E-0D93-7923-B2AA8FEA2E2A}"/>
              </a:ext>
            </a:extLst>
          </p:cNvPr>
          <p:cNvCxnSpPr/>
          <p:nvPr/>
        </p:nvCxnSpPr>
        <p:spPr>
          <a:xfrm flipH="1">
            <a:off x="81788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62CFE9C5-8B16-1C78-3352-4013C0C07CE8}"/>
              </a:ext>
            </a:extLst>
          </p:cNvPr>
          <p:cNvCxnSpPr/>
          <p:nvPr/>
        </p:nvCxnSpPr>
        <p:spPr>
          <a:xfrm flipH="1">
            <a:off x="83312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ABCE684E-109E-69E6-AD81-39F2C9D1DADF}"/>
              </a:ext>
            </a:extLst>
          </p:cNvPr>
          <p:cNvCxnSpPr/>
          <p:nvPr/>
        </p:nvCxnSpPr>
        <p:spPr>
          <a:xfrm flipH="1">
            <a:off x="84836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A0EFAC8B-16B4-CC3F-D046-56A5853E900F}"/>
              </a:ext>
            </a:extLst>
          </p:cNvPr>
          <p:cNvCxnSpPr/>
          <p:nvPr/>
        </p:nvCxnSpPr>
        <p:spPr>
          <a:xfrm flipH="1">
            <a:off x="86360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F52B792D-8297-3760-959A-3EA1C7CFA288}"/>
              </a:ext>
            </a:extLst>
          </p:cNvPr>
          <p:cNvCxnSpPr/>
          <p:nvPr/>
        </p:nvCxnSpPr>
        <p:spPr>
          <a:xfrm flipH="1">
            <a:off x="87884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ED6FCA77-75C8-06D1-097C-1C17B0CD9B34}"/>
              </a:ext>
            </a:extLst>
          </p:cNvPr>
          <p:cNvCxnSpPr/>
          <p:nvPr/>
        </p:nvCxnSpPr>
        <p:spPr>
          <a:xfrm flipH="1">
            <a:off x="89408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3444FA97-80AC-56E3-9F9E-8EB03CBB6A06}"/>
              </a:ext>
            </a:extLst>
          </p:cNvPr>
          <p:cNvCxnSpPr/>
          <p:nvPr/>
        </p:nvCxnSpPr>
        <p:spPr>
          <a:xfrm flipH="1">
            <a:off x="90932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C673B2F0-F0EC-4405-7067-86AB4137DF6D}"/>
              </a:ext>
            </a:extLst>
          </p:cNvPr>
          <p:cNvCxnSpPr/>
          <p:nvPr/>
        </p:nvCxnSpPr>
        <p:spPr>
          <a:xfrm flipH="1">
            <a:off x="92456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85C4579A-9190-9DF1-4D4B-EADAB104BE82}"/>
              </a:ext>
            </a:extLst>
          </p:cNvPr>
          <p:cNvCxnSpPr/>
          <p:nvPr/>
        </p:nvCxnSpPr>
        <p:spPr>
          <a:xfrm flipH="1">
            <a:off x="93980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42AFEF02-658B-F70F-86E8-B87EAF578032}"/>
              </a:ext>
            </a:extLst>
          </p:cNvPr>
          <p:cNvCxnSpPr/>
          <p:nvPr/>
        </p:nvCxnSpPr>
        <p:spPr>
          <a:xfrm flipH="1">
            <a:off x="95504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87C957CC-A430-D369-6711-02AF02F1114D}"/>
              </a:ext>
            </a:extLst>
          </p:cNvPr>
          <p:cNvCxnSpPr/>
          <p:nvPr/>
        </p:nvCxnSpPr>
        <p:spPr>
          <a:xfrm flipH="1">
            <a:off x="97028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D6F0AB5F-6C75-9678-CE4A-35AD84FF5636}"/>
              </a:ext>
            </a:extLst>
          </p:cNvPr>
          <p:cNvCxnSpPr/>
          <p:nvPr/>
        </p:nvCxnSpPr>
        <p:spPr>
          <a:xfrm flipH="1">
            <a:off x="98552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A313DB2F-61C6-B92D-2403-070997304B0B}"/>
              </a:ext>
            </a:extLst>
          </p:cNvPr>
          <p:cNvCxnSpPr/>
          <p:nvPr/>
        </p:nvCxnSpPr>
        <p:spPr>
          <a:xfrm flipH="1">
            <a:off x="100076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BFFC55E5-160B-4048-8A41-F3F91BF18FF9}"/>
              </a:ext>
            </a:extLst>
          </p:cNvPr>
          <p:cNvCxnSpPr/>
          <p:nvPr/>
        </p:nvCxnSpPr>
        <p:spPr>
          <a:xfrm flipH="1">
            <a:off x="101600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446C4834-1351-411F-4A2A-5DE5BBC42FAD}"/>
              </a:ext>
            </a:extLst>
          </p:cNvPr>
          <p:cNvCxnSpPr/>
          <p:nvPr/>
        </p:nvCxnSpPr>
        <p:spPr>
          <a:xfrm flipH="1">
            <a:off x="103124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1B40B2B8-BD12-95B0-6DF2-F868AC647E07}"/>
              </a:ext>
            </a:extLst>
          </p:cNvPr>
          <p:cNvCxnSpPr/>
          <p:nvPr/>
        </p:nvCxnSpPr>
        <p:spPr>
          <a:xfrm flipH="1">
            <a:off x="104648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06E87CFB-3499-DFC8-0394-F63160E39A7A}"/>
              </a:ext>
            </a:extLst>
          </p:cNvPr>
          <p:cNvCxnSpPr/>
          <p:nvPr/>
        </p:nvCxnSpPr>
        <p:spPr>
          <a:xfrm flipH="1">
            <a:off x="10617200" y="2971800"/>
            <a:ext cx="609600" cy="6096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C867CDC5-8ECC-F143-EB2C-A72383578FCB}"/>
              </a:ext>
            </a:extLst>
          </p:cNvPr>
          <p:cNvCxnSpPr/>
          <p:nvPr/>
        </p:nvCxnSpPr>
        <p:spPr>
          <a:xfrm flipH="1">
            <a:off x="10769600" y="3124200"/>
            <a:ext cx="457200" cy="4572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E14EEAB-AC07-284B-98BE-7D645245AA02}"/>
              </a:ext>
            </a:extLst>
          </p:cNvPr>
          <p:cNvCxnSpPr/>
          <p:nvPr/>
        </p:nvCxnSpPr>
        <p:spPr>
          <a:xfrm flipH="1">
            <a:off x="10922000" y="3276600"/>
            <a:ext cx="304800" cy="3048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9B66A7CB-0E93-C456-B0D7-DB8BBF53CEF7}"/>
              </a:ext>
            </a:extLst>
          </p:cNvPr>
          <p:cNvCxnSpPr/>
          <p:nvPr/>
        </p:nvCxnSpPr>
        <p:spPr>
          <a:xfrm flipH="1">
            <a:off x="11074400" y="3429000"/>
            <a:ext cx="152400" cy="152400"/>
          </a:xfrm>
          <a:prstGeom prst="line">
            <a:avLst/>
          </a:prstGeom>
          <a:ln w="3175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388C4E0D-DC4D-F08F-7BF4-032E3541ED37}"/>
              </a:ext>
            </a:extLst>
          </p:cNvPr>
          <p:cNvSpPr/>
          <p:nvPr/>
        </p:nvSpPr>
        <p:spPr>
          <a:xfrm>
            <a:off x="8666480" y="2971800"/>
            <a:ext cx="1463040" cy="609600"/>
          </a:xfrm>
          <a:prstGeom prst="rect">
            <a:avLst/>
          </a:prstGeom>
          <a:solidFill>
            <a:srgbClr val="F5F2EA"/>
          </a:solidFill>
          <a:ln w="12700">
            <a:solidFill>
              <a:srgbClr val="4C5F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DAD5E2A2-BB8D-E80A-42DB-B6E3736CC84E}"/>
              </a:ext>
            </a:extLst>
          </p:cNvPr>
          <p:cNvSpPr txBox="1"/>
          <p:nvPr/>
        </p:nvSpPr>
        <p:spPr>
          <a:xfrm>
            <a:off x="8666480" y="2997200"/>
            <a:ext cx="146304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4C5F33"/>
                </a:solidFill>
                <a:latin typeface="Segoe UI Semibold" panose="020B0702040204020203" pitchFamily="34" charset="0"/>
              </a:rPr>
              <a:t>parche nuevo · alcalino</a:t>
            </a: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B3233650-875F-7EAA-BA47-66773B11699C}"/>
              </a:ext>
            </a:extLst>
          </p:cNvPr>
          <p:cNvSpPr/>
          <p:nvPr/>
        </p:nvSpPr>
        <p:spPr>
          <a:xfrm>
            <a:off x="7670800" y="3213100"/>
            <a:ext cx="3454400" cy="127000"/>
          </a:xfrm>
          <a:prstGeom prst="roundRect">
            <a:avLst>
              <a:gd name="adj" fmla="val 6000"/>
            </a:avLst>
          </a:prstGeom>
          <a:solidFill>
            <a:srgbClr val="5A5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5C4DC674-1FFA-0659-631A-4B530E080442}"/>
              </a:ext>
            </a:extLst>
          </p:cNvPr>
          <p:cNvSpPr/>
          <p:nvPr/>
        </p:nvSpPr>
        <p:spPr>
          <a:xfrm>
            <a:off x="8739632" y="3213100"/>
            <a:ext cx="1316736" cy="127000"/>
          </a:xfrm>
          <a:prstGeom prst="roundRect">
            <a:avLst>
              <a:gd name="adj" fmla="val 6000"/>
            </a:avLst>
          </a:prstGeom>
          <a:solidFill>
            <a:srgbClr val="4C5F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E76D7DB-528E-B5D0-0962-F32CA6B09A6E}"/>
              </a:ext>
            </a:extLst>
          </p:cNvPr>
          <p:cNvSpPr txBox="1"/>
          <p:nvPr/>
        </p:nvSpPr>
        <p:spPr>
          <a:xfrm>
            <a:off x="8703056" y="3365500"/>
            <a:ext cx="1389888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00">
                <a:solidFill>
                  <a:srgbClr val="4C5F33"/>
                </a:solidFill>
                <a:latin typeface="Segoe UI" panose="020B0502040204020203" pitchFamily="34" charset="0"/>
              </a:rPr>
              <a:t>repasivada: hace de CÁTODO</a:t>
            </a:r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96A3AB6D-4CD9-2174-A355-B2682E172ED1}"/>
              </a:ext>
            </a:extLst>
          </p:cNvPr>
          <p:cNvSpPr/>
          <p:nvPr/>
        </p:nvSpPr>
        <p:spPr>
          <a:xfrm>
            <a:off x="8552180" y="3200400"/>
            <a:ext cx="228600" cy="152400"/>
          </a:xfrm>
          <a:prstGeom prst="roundRect">
            <a:avLst>
              <a:gd name="adj" fmla="val 6000"/>
            </a:avLst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62A36923-CADA-81F3-A5D9-FF54A683EC97}"/>
              </a:ext>
            </a:extLst>
          </p:cNvPr>
          <p:cNvCxnSpPr/>
          <p:nvPr/>
        </p:nvCxnSpPr>
        <p:spPr>
          <a:xfrm flipV="1">
            <a:off x="8666480" y="3175000"/>
            <a:ext cx="0" cy="50800"/>
          </a:xfrm>
          <a:prstGeom prst="line">
            <a:avLst/>
          </a:prstGeom>
          <a:ln w="1524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B07FD1D5-502F-5F20-EC75-B4479A45018D}"/>
              </a:ext>
            </a:extLst>
          </p:cNvPr>
          <p:cNvSpPr/>
          <p:nvPr/>
        </p:nvSpPr>
        <p:spPr>
          <a:xfrm>
            <a:off x="10015220" y="3200400"/>
            <a:ext cx="228600" cy="152400"/>
          </a:xfrm>
          <a:prstGeom prst="roundRect">
            <a:avLst>
              <a:gd name="adj" fmla="val 6000"/>
            </a:avLst>
          </a:prstGeom>
          <a:solidFill>
            <a:srgbClr val="8C3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D69F5E78-E246-65E9-0045-E22245B216D0}"/>
              </a:ext>
            </a:extLst>
          </p:cNvPr>
          <p:cNvCxnSpPr/>
          <p:nvPr/>
        </p:nvCxnSpPr>
        <p:spPr>
          <a:xfrm flipV="1">
            <a:off x="10129520" y="3175000"/>
            <a:ext cx="0" cy="50800"/>
          </a:xfrm>
          <a:prstGeom prst="line">
            <a:avLst/>
          </a:prstGeom>
          <a:ln w="15240">
            <a:solidFill>
              <a:srgbClr val="8C332B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04737F2-4CA1-A7B9-F4B3-79E9B19C1EE1}"/>
              </a:ext>
            </a:extLst>
          </p:cNvPr>
          <p:cNvSpPr txBox="1"/>
          <p:nvPr/>
        </p:nvSpPr>
        <p:spPr>
          <a:xfrm>
            <a:off x="7569200" y="3606800"/>
            <a:ext cx="365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650">
                <a:solidFill>
                  <a:srgbClr val="8C332B"/>
                </a:solidFill>
                <a:latin typeface="Segoe UI" panose="020B0502040204020203" pitchFamily="34" charset="0"/>
              </a:rPr>
              <a:t>El contraste lo crea la reparación: </a:t>
            </a:r>
            <a:r>
              <a:rPr lang="es-MX" sz="650" b="1">
                <a:solidFill>
                  <a:srgbClr val="8C332B"/>
                </a:solidFill>
                <a:latin typeface="Segoe UI Semibold" panose="020B0702040204020203" pitchFamily="34" charset="0"/>
              </a:rPr>
              <a:t>toda la corriente se concentra en los dos bordes del parche.</a:t>
            </a:r>
            <a:endParaRPr lang="es-BO" sz="650" b="1">
              <a:solidFill>
                <a:srgbClr val="8C332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F1E83739-C871-826C-20D2-145849CEF5E4}"/>
              </a:ext>
            </a:extLst>
          </p:cNvPr>
          <p:cNvSpPr/>
          <p:nvPr/>
        </p:nvSpPr>
        <p:spPr>
          <a:xfrm>
            <a:off x="7569200" y="3911600"/>
            <a:ext cx="3657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8A6C67E9-F0FD-DAF7-B049-7FC29D2CCD28}"/>
              </a:ext>
            </a:extLst>
          </p:cNvPr>
          <p:cNvSpPr txBox="1"/>
          <p:nvPr/>
        </p:nvSpPr>
        <p:spPr>
          <a:xfrm>
            <a:off x="7569200" y="4013200"/>
            <a:ext cx="365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650">
                <a:solidFill>
                  <a:srgbClr val="5A5248"/>
                </a:solidFill>
                <a:latin typeface="Segoe UI" panose="020B0502040204020203" pitchFamily="34" charset="0"/>
              </a:rPr>
              <a:t>Dos salidas: </a:t>
            </a:r>
            <a:r>
              <a:rPr lang="es-MX" sz="650" b="1">
                <a:solidFill>
                  <a:srgbClr val="5A5248"/>
                </a:solidFill>
                <a:latin typeface="Segoe UI Semibold" panose="020B0702040204020203" pitchFamily="34" charset="0"/>
              </a:rPr>
              <a:t>extender el saneo</a:t>
            </a:r>
            <a:r>
              <a:rPr lang="es-MX" sz="650">
                <a:solidFill>
                  <a:srgbClr val="5A5248"/>
                </a:solidFill>
                <a:latin typeface="Segoe UI" panose="020B0502040204020203" pitchFamily="34" charset="0"/>
              </a:rPr>
              <a:t> hasta eliminar el gradiente, o </a:t>
            </a:r>
            <a:r>
              <a:rPr lang="es-MX" sz="650" b="1">
                <a:solidFill>
                  <a:srgbClr val="5A5248"/>
                </a:solidFill>
                <a:latin typeface="Segoe UI Semibold" panose="020B0702040204020203" pitchFamily="34" charset="0"/>
              </a:rPr>
              <a:t>poner ánodos galvánicos</a:t>
            </a:r>
            <a:r>
              <a:rPr lang="es-MX" sz="650">
                <a:solidFill>
                  <a:srgbClr val="5A5248"/>
                </a:solidFill>
                <a:latin typeface="Segoe UI" panose="020B0502040204020203" pitchFamily="34" charset="0"/>
              </a:rPr>
              <a:t> en el perímetro. Aparece entre los seis y los veinticuatro meses.</a:t>
            </a:r>
            <a:endParaRPr lang="es-BO" sz="6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41E5A644-2265-34E6-39F3-DA4CE62AEDBD}"/>
              </a:ext>
            </a:extLst>
          </p:cNvPr>
          <p:cNvSpPr/>
          <p:nvPr/>
        </p:nvSpPr>
        <p:spPr>
          <a:xfrm>
            <a:off x="609600" y="50292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75936FD-9614-3CDD-2F3E-665A8A6EBA32}"/>
              </a:ext>
            </a:extLst>
          </p:cNvPr>
          <p:cNvSpPr txBox="1"/>
          <p:nvPr/>
        </p:nvSpPr>
        <p:spPr>
          <a:xfrm>
            <a:off x="838200" y="50800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Fíjese en la tercera fila: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hay diagnósticos cuyo principio correcto es no reponer nada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. Reparar no siempre significa echar material encima.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D4ECABEE-833A-04ED-A3EA-0261D55993D6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1504-9; ACI 562 §7, selección de la estrategia de reparación.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00554490-359F-FCAA-CD22-5A905B0979E1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C20E22B1-7929-AEF0-06FD-0017CACE75C7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1F7842A1-6F5C-8B56-7617-10F54267233B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92" name="PageNo">
            <a:extLst>
              <a:ext uri="{FF2B5EF4-FFF2-40B4-BE49-F238E27FC236}">
                <a16:creationId xmlns:a16="http://schemas.microsoft.com/office/drawing/2014/main" id="{4F4F4039-0B64-F0BD-CBA2-771D6645226E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09 / 40</a:t>
            </a:r>
          </a:p>
        </p:txBody>
      </p:sp>
    </p:spTree>
    <p:extLst>
      <p:ext uri="{BB962C8B-B14F-4D97-AF65-F5344CB8AC3E}">
        <p14:creationId xmlns:p14="http://schemas.microsoft.com/office/powerpoint/2010/main" val="3611085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4EE89FA-7155-5050-B19F-A2B39AB17251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EMPEZAR POR EL PRODUCTO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6640FFA-BCD7-6C22-572C-1A86ABF74B58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Cuatro fallos que se repiten y los cuatro empiezan igual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EB8731A-53DF-B6AA-7220-1AC74C9A96C1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1FFD8667-61C6-45E5-AB43-BE5BE2089188}"/>
              </a:ext>
            </a:extLst>
          </p:cNvPr>
          <p:cNvSpPr/>
          <p:nvPr/>
        </p:nvSpPr>
        <p:spPr>
          <a:xfrm>
            <a:off x="609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9D1BB8-58EC-9E13-FFF8-1F7592B6B9A7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5D302E-C54C-7D47-01A7-39E8C32CDC21}"/>
              </a:ext>
            </a:extLst>
          </p:cNvPr>
          <p:cNvSpPr txBox="1"/>
          <p:nvPr/>
        </p:nvSpPr>
        <p:spPr>
          <a:xfrm>
            <a:off x="812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>
                <a:solidFill>
                  <a:srgbClr val="1C1813"/>
                </a:solidFill>
                <a:latin typeface="Bahnschrift SemiBold" panose="020B0502040204020203" pitchFamily="34" charset="0"/>
              </a:rPr>
              <a:t>El parche que se despega</a:t>
            </a:r>
            <a:endParaRPr lang="es-BO" sz="13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4F023B-143E-DA13-3A42-53E84920477D}"/>
              </a:ext>
            </a:extLst>
          </p:cNvPr>
          <p:cNvSpPr txBox="1"/>
          <p:nvPr/>
        </p:nvSpPr>
        <p:spPr>
          <a:xfrm>
            <a:off x="812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Mortero puesto sobre un soporte que seguía húmedo porque nadie aplicó el principio 2. El producto era bueno; el principio faltaba.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CDC499-3191-124D-4C2D-8F54ED9754AD}"/>
              </a:ext>
            </a:extLst>
          </p:cNvPr>
          <p:cNvSpPr/>
          <p:nvPr/>
        </p:nvSpPr>
        <p:spPr>
          <a:xfrm>
            <a:off x="3403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267F684-25A8-7BCA-0F02-5E4C68701E8A}"/>
              </a:ext>
            </a:extLst>
          </p:cNvPr>
          <p:cNvSpPr txBox="1"/>
          <p:nvPr/>
        </p:nvSpPr>
        <p:spPr>
          <a:xfrm>
            <a:off x="3606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BB899AF-3757-0E9A-12B5-9D843C374AF6}"/>
              </a:ext>
            </a:extLst>
          </p:cNvPr>
          <p:cNvSpPr txBox="1"/>
          <p:nvPr/>
        </p:nvSpPr>
        <p:spPr>
          <a:xfrm>
            <a:off x="3606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La corrosión del borde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2E2334E-0ECF-27D5-94F3-ED11ED8A4EBB}"/>
              </a:ext>
            </a:extLst>
          </p:cNvPr>
          <p:cNvSpPr txBox="1"/>
          <p:nvPr/>
        </p:nvSpPr>
        <p:spPr>
          <a:xfrm>
            <a:off x="3606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Reposición sin controlar las áreas anódicas en un elemento con cloruros. Vuelve en meses, y vuelve justo fuera del parche.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6D6398C-29DF-3149-63C4-73F7F8BE3C3F}"/>
              </a:ext>
            </a:extLst>
          </p:cNvPr>
          <p:cNvSpPr/>
          <p:nvPr/>
        </p:nvSpPr>
        <p:spPr>
          <a:xfrm>
            <a:off x="6197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DCC2D88-9869-4179-B3E5-B96A5A51D251}"/>
              </a:ext>
            </a:extLst>
          </p:cNvPr>
          <p:cNvSpPr txBox="1"/>
          <p:nvPr/>
        </p:nvSpPr>
        <p:spPr>
          <a:xfrm>
            <a:off x="6400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0AF7F6E-3744-C345-65ED-9354E4AE2688}"/>
              </a:ext>
            </a:extLst>
          </p:cNvPr>
          <p:cNvSpPr txBox="1"/>
          <p:nvPr/>
        </p:nvSpPr>
        <p:spPr>
          <a:xfrm>
            <a:off x="6400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La fisura que reaparece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A2FC0B4-0F78-EE11-335C-5D0774FB2042}"/>
              </a:ext>
            </a:extLst>
          </p:cNvPr>
          <p:cNvSpPr txBox="1"/>
          <p:nvPr/>
        </p:nvSpPr>
        <p:spPr>
          <a:xfrm>
            <a:off x="6400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Inyección rígida sobre una fisura viva. El movimiento sigue y abre una fisura nueva al lado, en hormigón sano.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0E17D78-8924-BDD0-5F0E-3954E55DFC0B}"/>
              </a:ext>
            </a:extLst>
          </p:cNvPr>
          <p:cNvSpPr/>
          <p:nvPr/>
        </p:nvSpPr>
        <p:spPr>
          <a:xfrm>
            <a:off x="8991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45F545E-D672-1E5F-23FA-89093E8FFD87}"/>
              </a:ext>
            </a:extLst>
          </p:cNvPr>
          <p:cNvSpPr txBox="1"/>
          <p:nvPr/>
        </p:nvSpPr>
        <p:spPr>
          <a:xfrm>
            <a:off x="9194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2325FDF-5B0C-FC48-EE6A-85C15255C4DD}"/>
              </a:ext>
            </a:extLst>
          </p:cNvPr>
          <p:cNvSpPr txBox="1"/>
          <p:nvPr/>
        </p:nvSpPr>
        <p:spPr>
          <a:xfrm>
            <a:off x="9194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El revestimiento ampollado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89C9299-9664-9827-3EA1-6B6C3563D4E1}"/>
              </a:ext>
            </a:extLst>
          </p:cNvPr>
          <p:cNvSpPr txBox="1"/>
          <p:nvPr/>
        </p:nvSpPr>
        <p:spPr>
          <a:xfrm>
            <a:off x="9194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Protección superficial aplicada sobre un soporte con agua por detrás. El agua sale por donde puede y despega la película.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7" name="Imagen 26" descr="Cuatro fallos típicos: soporte húmedo, ánodo incipiente junto al parche, fisura viva inyectada y revestimiento ampollado">
            <a:extLst>
              <a:ext uri="{FF2B5EF4-FFF2-40B4-BE49-F238E27FC236}">
                <a16:creationId xmlns:a16="http://schemas.microsoft.com/office/drawing/2014/main" id="{86DCD59D-4BBE-AF77-581D-786CF35E53E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18000"/>
            <a:ext cx="10972800" cy="1320800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6BBB4477-5F1B-A027-9975-ABC6E5F26973}"/>
              </a:ext>
            </a:extLst>
          </p:cNvPr>
          <p:cNvSpPr/>
          <p:nvPr/>
        </p:nvSpPr>
        <p:spPr>
          <a:xfrm>
            <a:off x="609600" y="5765800"/>
            <a:ext cx="10972800" cy="406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12B6F72-41B6-7715-298B-7A147C8F69F7}"/>
              </a:ext>
            </a:extLst>
          </p:cNvPr>
          <p:cNvSpPr txBox="1"/>
          <p:nvPr/>
        </p:nvSpPr>
        <p:spPr>
          <a:xfrm>
            <a:off x="838200" y="58166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Ninguno de los cuatro es un fallo de producto, y en los cuatro el cliente culpa al producto.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Documentar el principio elegido es lo que permite demostrar después dónde estuvo el error.</a:t>
            </a:r>
            <a:endParaRPr lang="es-BO" sz="1200" b="1">
              <a:solidFill>
                <a:srgbClr val="FFFFFF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6540B96-D26B-8C0E-36AA-0E1AE07E8DF7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 §4; EN 1504-10, requisitos de ejecución.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53830BE-4B71-9994-931A-004DD1A42E56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90B9CCA-5CC1-6928-176C-254009F61E2E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988715D-3B3E-5159-36C6-CE55132D2B19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35" name="PageNo">
            <a:extLst>
              <a:ext uri="{FF2B5EF4-FFF2-40B4-BE49-F238E27FC236}">
                <a16:creationId xmlns:a16="http://schemas.microsoft.com/office/drawing/2014/main" id="{1CA4896C-52D5-5E06-AAD8-5625B8C9307B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10 / 40</a:t>
            </a:r>
          </a:p>
        </p:txBody>
      </p:sp>
    </p:spTree>
    <p:extLst>
      <p:ext uri="{BB962C8B-B14F-4D97-AF65-F5344CB8AC3E}">
        <p14:creationId xmlns:p14="http://schemas.microsoft.com/office/powerpoint/2010/main" val="79897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7387D5-BEE9-59D4-B0C3-339B86FBCD4A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1 · LO QUE SE VE EN OBRA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BA41CA1-7A5F-A2C9-FEED-F2C388FC6E66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Tres reparaciones, y solo una tiene el principio bien elegido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74467EF-60B7-2C0F-7CFA-AADDC33583B6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Corte de una reposición con mortero que envuelve la barra">
            <a:extLst>
              <a:ext uri="{FF2B5EF4-FFF2-40B4-BE49-F238E27FC236}">
                <a16:creationId xmlns:a16="http://schemas.microsoft.com/office/drawing/2014/main" id="{E6B29CBF-BA22-0572-0EC3-36F839A3EEB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3454400" cy="23368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98E19E7-FCD6-3EC1-8E0C-E9DA359DDD04}"/>
              </a:ext>
            </a:extLst>
          </p:cNvPr>
          <p:cNvSpPr txBox="1"/>
          <p:nvPr/>
        </p:nvSpPr>
        <p:spPr>
          <a:xfrm>
            <a:off x="6096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Reposición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5A6A0C-6081-67A1-4D84-E2EC2FE94D2F}"/>
              </a:ext>
            </a:extLst>
          </p:cNvPr>
          <p:cNvSpPr txBox="1"/>
          <p:nvPr/>
        </p:nvSpPr>
        <p:spPr>
          <a:xfrm>
            <a:off x="6096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Principio 3. Correcto si antes se aplicaron el 2 y el 7; inútil si el agua sigue entrando por detrás.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 descr="Fisura viva tratada como junta con sellante elástico y fondo de junta">
            <a:extLst>
              <a:ext uri="{FF2B5EF4-FFF2-40B4-BE49-F238E27FC236}">
                <a16:creationId xmlns:a16="http://schemas.microsoft.com/office/drawing/2014/main" id="{C5E5F80D-CD75-B0F1-BD84-7DEE6E6A061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1524000"/>
            <a:ext cx="3454400" cy="23368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B248C20-7B69-016D-0151-7E09C78F7877}"/>
              </a:ext>
            </a:extLst>
          </p:cNvPr>
          <p:cNvSpPr txBox="1"/>
          <p:nvPr/>
        </p:nvSpPr>
        <p:spPr>
          <a:xfrm>
            <a:off x="43688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Sellado de fisura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1B5D11-96EF-2D9F-461C-EE26704B28A8}"/>
              </a:ext>
            </a:extLst>
          </p:cNvPr>
          <p:cNvSpPr txBox="1"/>
          <p:nvPr/>
        </p:nvSpPr>
        <p:spPr>
          <a:xfrm>
            <a:off x="43688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Puede ser un acierto o un error según la fisura esté viva o muerta. El dato lo dio la clase 2.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5" name="Imagen 14" descr="Revestimiento protector sobre soporte seco y estable">
            <a:extLst>
              <a:ext uri="{FF2B5EF4-FFF2-40B4-BE49-F238E27FC236}">
                <a16:creationId xmlns:a16="http://schemas.microsoft.com/office/drawing/2014/main" id="{28C18448-C312-A470-E901-4400068E019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1524000"/>
            <a:ext cx="3454400" cy="23368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938DC1F-55F2-5AB1-4ECC-E922F87C9C8F}"/>
              </a:ext>
            </a:extLst>
          </p:cNvPr>
          <p:cNvSpPr txBox="1"/>
          <p:nvPr/>
        </p:nvSpPr>
        <p:spPr>
          <a:xfrm>
            <a:off x="81280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Protección superficial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E93B683-8504-C32C-C1FE-A4B2B6F91DB6}"/>
              </a:ext>
            </a:extLst>
          </p:cNvPr>
          <p:cNvSpPr txBox="1"/>
          <p:nvPr/>
        </p:nvSpPr>
        <p:spPr>
          <a:xfrm>
            <a:off x="81280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Principio 1. Va siempre al final, sobre soporte seco y estable, nunca como primera medida.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996B286-9A94-67D6-2481-654E7EF14AB2}"/>
              </a:ext>
            </a:extLst>
          </p:cNvPr>
          <p:cNvSpPr/>
          <p:nvPr/>
        </p:nvSpPr>
        <p:spPr>
          <a:xfrm>
            <a:off x="609600" y="5410200"/>
            <a:ext cx="109728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799E005-79B6-CD1F-B002-E5478838C4ED}"/>
              </a:ext>
            </a:extLst>
          </p:cNvPr>
          <p:cNvSpPr txBox="1"/>
          <p:nvPr/>
        </p:nvSpPr>
        <p:spPr>
          <a:xfrm>
            <a:off x="838200" y="5461000"/>
            <a:ext cx="10566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Las tres técnicas son correctas.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Lo que decide si la reparación dura no está en la foto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: está en qué se hizo antes y por qué.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C910B9-1CF9-E6DF-FB06-7716F48F13A8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1A50F5D-019B-6578-3E20-653D59041615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F30405-914C-F61B-86FF-B8457747E237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4" name="PageNo">
            <a:extLst>
              <a:ext uri="{FF2B5EF4-FFF2-40B4-BE49-F238E27FC236}">
                <a16:creationId xmlns:a16="http://schemas.microsoft.com/office/drawing/2014/main" id="{95DAD450-752A-4D7F-E029-73F23A982D1D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11 / 40</a:t>
            </a:r>
          </a:p>
        </p:txBody>
      </p:sp>
    </p:spTree>
    <p:extLst>
      <p:ext uri="{BB962C8B-B14F-4D97-AF65-F5344CB8AC3E}">
        <p14:creationId xmlns:p14="http://schemas.microsoft.com/office/powerpoint/2010/main" val="145833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2F227D-93DC-39A9-59AE-04A717BF85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4778B15-C323-7D9D-097C-6E249ECF2C64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E5C438-11A4-CEA9-BDD8-A27A111A9C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163FC9-E77C-68ED-4B50-C2C145AFDDF3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2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D9E087F-5311-04CF-90CB-D8E63C651329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3800">
                <a:solidFill>
                  <a:srgbClr val="FFFFFF"/>
                </a:solidFill>
                <a:latin typeface="Bahnschrift SemiBold" panose="020B0502040204020203" pitchFamily="34" charset="0"/>
              </a:rPr>
              <a:t>El saneo: hasta dónde y cómo</a:t>
            </a:r>
            <a:endParaRPr lang="es-BO" sz="38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C6AC63-7B5F-E9DD-3447-F20ACC881708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570FF2-BD23-4D6C-2746-60CC6DB5DC88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La decisión más cara de toda la reparación se toma antes de abrir el primer saco.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A340C1C-C2C2-7768-642A-6CCC52AD1E35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D4BAB3-CF8E-AF2D-037C-FEA93227EBFE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Hasta dónde llega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AD10277-3059-D681-D37B-41E9F7C06223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4CD18E6-5382-4303-420D-3F7945BFF2DE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Cómo se ejecuta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9BAF5EB-9E62-89D4-C31B-632F8B23BD11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05BFB6-6640-EC26-B888-371E64F0278F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El ánodo incipiente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1369572-0B3C-8DF5-5385-D2D057B45174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</p:spTree>
    <p:extLst>
      <p:ext uri="{BB962C8B-B14F-4D97-AF65-F5344CB8AC3E}">
        <p14:creationId xmlns:p14="http://schemas.microsoft.com/office/powerpoint/2010/main" val="1951340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D0822F7-E187-0DB5-3540-8C5446126DD9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HASTA DÓNDE LLEGA EL SANEO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92E6311-CB3D-CE54-2255-4AB866C1F8AA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Cuatro criterios, y el visible es el peor de los cuatro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5255F21-09DC-EB61-D252-4E594EF09424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6B361322-AFAE-4365-6DF0-463987D141E4}"/>
              </a:ext>
            </a:extLst>
          </p:cNvPr>
          <p:cNvSpPr/>
          <p:nvPr/>
        </p:nvSpPr>
        <p:spPr>
          <a:xfrm>
            <a:off x="609600" y="14224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C30DDEB-CB7A-DB17-362C-9F36CAB7FE9C}"/>
              </a:ext>
            </a:extLst>
          </p:cNvPr>
          <p:cNvSpPr txBox="1"/>
          <p:nvPr/>
        </p:nvSpPr>
        <p:spPr>
          <a:xfrm>
            <a:off x="1143000" y="1435100"/>
            <a:ext cx="558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350">
                <a:solidFill>
                  <a:srgbClr val="1C1813"/>
                </a:solidFill>
                <a:latin typeface="Bahnschrift SemiBold" panose="020B0502040204020203" pitchFamily="34" charset="0"/>
              </a:rPr>
              <a:t>Por detrás de la armadura</a:t>
            </a:r>
            <a:endParaRPr lang="es-BO" sz="135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C42EC8-9911-BE97-EBD5-9259B58C7A07}"/>
              </a:ext>
            </a:extLst>
          </p:cNvPr>
          <p:cNvSpPr txBox="1"/>
          <p:nvPr/>
        </p:nvSpPr>
        <p:spPr>
          <a:xfrm>
            <a:off x="1143000" y="16891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Hay que rodear la barra por completo, con un hueco libre de 20 a 25 mm por detrás, para que el mortero la envuelva y la pasive. Dejar la barra a media caña es dejar la pila montada.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24561AD-874A-7249-85AC-1A5EAC3BE2E9}"/>
              </a:ext>
            </a:extLst>
          </p:cNvPr>
          <p:cNvSpPr/>
          <p:nvPr/>
        </p:nvSpPr>
        <p:spPr>
          <a:xfrm>
            <a:off x="609600" y="23876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EEE1BA-2E21-67EE-DF1C-10E07B6998D5}"/>
              </a:ext>
            </a:extLst>
          </p:cNvPr>
          <p:cNvSpPr txBox="1"/>
          <p:nvPr/>
        </p:nvSpPr>
        <p:spPr>
          <a:xfrm>
            <a:off x="1143000" y="2400300"/>
            <a:ext cx="558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Hasta hormigón alcalino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EFBD73-0F96-7D2B-AD41-A3B7A0FF9FD4}"/>
              </a:ext>
            </a:extLst>
          </p:cNvPr>
          <p:cNvSpPr txBox="1"/>
          <p:nvPr/>
        </p:nvSpPr>
        <p:spPr>
          <a:xfrm>
            <a:off x="1143000" y="26543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Con carbonatación, el límite es donde la fenolftaleína vira a magenta. Reponer sobre hormigón carbonatado es poner mortero nuevo sobre el problema.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C8BA115-4B99-5EDA-2E23-05502290FAAD}"/>
              </a:ext>
            </a:extLst>
          </p:cNvPr>
          <p:cNvSpPr/>
          <p:nvPr/>
        </p:nvSpPr>
        <p:spPr>
          <a:xfrm>
            <a:off x="609600" y="33528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0F9B816-78F6-5931-9F4C-A4EB12FFE923}"/>
              </a:ext>
            </a:extLst>
          </p:cNvPr>
          <p:cNvSpPr txBox="1"/>
          <p:nvPr/>
        </p:nvSpPr>
        <p:spPr>
          <a:xfrm>
            <a:off x="1143000" y="3365500"/>
            <a:ext cx="558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350">
                <a:solidFill>
                  <a:srgbClr val="1C1813"/>
                </a:solidFill>
                <a:latin typeface="Bahnschrift SemiBold" panose="020B0502040204020203" pitchFamily="34" charset="0"/>
              </a:rPr>
              <a:t>Hasta donde el potencial sube</a:t>
            </a:r>
            <a:endParaRPr lang="es-BO" sz="135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F93ED9B-E1BD-4623-7B3A-5C4BF3CED37D}"/>
              </a:ext>
            </a:extLst>
          </p:cNvPr>
          <p:cNvSpPr txBox="1"/>
          <p:nvPr/>
        </p:nvSpPr>
        <p:spPr>
          <a:xfrm>
            <a:off x="1143000" y="36195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Con cloruros, el límite es el contorno de −200 mV del mapa de la clase 3, no el borde de lo desprendido.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B757802-0D82-06A9-48B3-DC82866207ED}"/>
              </a:ext>
            </a:extLst>
          </p:cNvPr>
          <p:cNvSpPr/>
          <p:nvPr/>
        </p:nvSpPr>
        <p:spPr>
          <a:xfrm>
            <a:off x="609600" y="43180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14CFB7A-0542-0C68-5CED-269CF75A9B1B}"/>
              </a:ext>
            </a:extLst>
          </p:cNvPr>
          <p:cNvSpPr txBox="1"/>
          <p:nvPr/>
        </p:nvSpPr>
        <p:spPr>
          <a:xfrm>
            <a:off x="1143000" y="4330700"/>
            <a:ext cx="558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Hasta sonido macizo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85C68F8-5F28-DF6D-38A2-9B533C93041C}"/>
              </a:ext>
            </a:extLst>
          </p:cNvPr>
          <p:cNvSpPr txBox="1"/>
          <p:nvPr/>
        </p:nvSpPr>
        <p:spPr>
          <a:xfrm>
            <a:off x="1143000" y="45847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El golpeo con martillo delimita la delaminación, que siempre llega más lejos que el desprendimiento visible. Es el primer criterio que se aplica, y el más barato.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9" name="Imagen 18" descr="Cuatro criterios para fijar la extensión del saneo">
            <a:extLst>
              <a:ext uri="{FF2B5EF4-FFF2-40B4-BE49-F238E27FC236}">
                <a16:creationId xmlns:a16="http://schemas.microsoft.com/office/drawing/2014/main" id="{DA7B4B17-F5C9-97DC-F3DD-B8477EC56EB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422400"/>
            <a:ext cx="3352800" cy="3759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CC2CAE73-68EC-9118-78FE-243ABB81197A}"/>
              </a:ext>
            </a:extLst>
          </p:cNvPr>
          <p:cNvSpPr/>
          <p:nvPr/>
        </p:nvSpPr>
        <p:spPr>
          <a:xfrm>
            <a:off x="609600" y="5384800"/>
            <a:ext cx="73660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0C97234-2937-ADA7-1A12-2BDA76530673}"/>
              </a:ext>
            </a:extLst>
          </p:cNvPr>
          <p:cNvSpPr txBox="1"/>
          <p:nvPr/>
        </p:nvSpPr>
        <p:spPr>
          <a:xfrm>
            <a:off x="838200" y="5435600"/>
            <a:ext cx="6959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Los cuatro criterios se aplican a la vez y manda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el que dé la superficie mayor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 Nunca el que dé la menor, por mucho que lo pida el presupuesto.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D86D7B8-B572-B5D1-5686-DFE9F047C374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1504-10 §5; ACI 546R, Guide to Concrete Repair.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E3C96CC-054E-05B9-9961-922D69479675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0BD213E-11F3-078D-39EE-B9CDE0723661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A90C8A0-3EF4-05EB-14B5-00625C48D1C3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7" name="PageNo">
            <a:extLst>
              <a:ext uri="{FF2B5EF4-FFF2-40B4-BE49-F238E27FC236}">
                <a16:creationId xmlns:a16="http://schemas.microsoft.com/office/drawing/2014/main" id="{78090FC6-C420-EDC2-9197-93AAE7BBBA01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13 / 40</a:t>
            </a:r>
          </a:p>
        </p:txBody>
      </p:sp>
    </p:spTree>
    <p:extLst>
      <p:ext uri="{BB962C8B-B14F-4D97-AF65-F5344CB8AC3E}">
        <p14:creationId xmlns:p14="http://schemas.microsoft.com/office/powerpoint/2010/main" val="2294084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684EF3-8C36-E1DB-EC35-2DFFAFE872D0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CÓMO SE EJECUTA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47E4F56-B215-8139-F3F0-75EEEBC2F1C7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Tres efectos sobre el hormigón que se queda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EE55400-1291-EDB8-FE06-0978C3B9345C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C136388-FBA9-9DD8-CE6D-17531D720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02894"/>
              </p:ext>
            </p:extLst>
          </p:nvPr>
        </p:nvGraphicFramePr>
        <p:xfrm>
          <a:off x="609600" y="1422400"/>
          <a:ext cx="109728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20251744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8703081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30921032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099466316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Técnica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Cómo trabaja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Ventaja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Inconveniente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164857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Martillo neumático ligero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Percusión, menos de 10 kg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Barato, disponible en cualquier obra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Microfisura el sustrato si el martillo es pesado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5073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Hidrodemolición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Chorro de agua a alta presión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daña el sustrato ni la armadura; limpia el acero a la vez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Equipo caro, mucha agua y gestión del efluente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05167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Corte perimetral con disco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Corte previo del borde del parche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Da un canto recto de 10 a 15 mm, no en bisel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debe cortar armadura: pacómetro antes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032581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F8577046-8A76-DD78-7E9B-BCF3A14304F8}"/>
              </a:ext>
            </a:extLst>
          </p:cNvPr>
          <p:cNvSpPr txBox="1"/>
          <p:nvPr/>
        </p:nvSpPr>
        <p:spPr>
          <a:xfrm>
            <a:off x="609600" y="4572000"/>
            <a:ext cx="533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borde del parche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3B8FC5-772F-27C9-2441-37B0C7910B7F}"/>
              </a:ext>
            </a:extLst>
          </p:cNvPr>
          <p:cNvSpPr txBox="1"/>
          <p:nvPr/>
        </p:nvSpPr>
        <p:spPr>
          <a:xfrm>
            <a:off x="609600" y="4902200"/>
            <a:ext cx="53340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Nunca en bisel ni en cuña: el filo de mortero no tiene espesor para agarrar y se desprende. Siempre canto recto, cortado con disco, de 10 a 15 mm de profundidad, y perpendicular a la superficie.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0" name="Imagen 9" descr="Borde del saneo en bisel frente a canto recto cortado con disco">
            <a:extLst>
              <a:ext uri="{FF2B5EF4-FFF2-40B4-BE49-F238E27FC236}">
                <a16:creationId xmlns:a16="http://schemas.microsoft.com/office/drawing/2014/main" id="{AEA4574B-2689-3DEA-A12E-CA1702D3ADD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572000"/>
            <a:ext cx="5334000" cy="14224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9312573-85B6-92A5-6828-E2DBC9C8F80A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1504-10 §5.3; ACI 546R §3.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F1114C0-DD7A-C9AF-935B-4CE56CBDCBD9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2902A1-AB2F-4C76-133D-78CA1C5D29FD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5AD277-ECCE-E1F9-2BA4-AC7E9E00EDC8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15" name="PageNo">
            <a:extLst>
              <a:ext uri="{FF2B5EF4-FFF2-40B4-BE49-F238E27FC236}">
                <a16:creationId xmlns:a16="http://schemas.microsoft.com/office/drawing/2014/main" id="{BAC5BB0D-8F7B-F6B0-744C-6049F9126C6B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14 / 40</a:t>
            </a:r>
          </a:p>
        </p:txBody>
      </p:sp>
    </p:spTree>
    <p:extLst>
      <p:ext uri="{BB962C8B-B14F-4D97-AF65-F5344CB8AC3E}">
        <p14:creationId xmlns:p14="http://schemas.microsoft.com/office/powerpoint/2010/main" val="4102384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B13872E-C371-9CA0-CE58-D66C431CA27B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EL ÁNODO INCIPIENTE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C93FF7D-1802-15C6-CF60-584E9A8905AE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Por qué una reparación bien hecha puede provocar un daño nuevo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5D19248-1C26-2284-EE18-961FA5FE7DAA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0DFB7E02-8DC5-00C1-D09C-B3C9E5A92A0A}"/>
              </a:ext>
            </a:extLst>
          </p:cNvPr>
          <p:cNvSpPr/>
          <p:nvPr/>
        </p:nvSpPr>
        <p:spPr>
          <a:xfrm>
            <a:off x="609600" y="14224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E0CDF5-7AB8-856C-6EFF-D461886C0A13}"/>
              </a:ext>
            </a:extLst>
          </p:cNvPr>
          <p:cNvSpPr txBox="1"/>
          <p:nvPr/>
        </p:nvSpPr>
        <p:spPr>
          <a:xfrm>
            <a:off x="1143000" y="14351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Qué ocurre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136FCC-FF3C-EDFC-6FD3-1806830C9E40}"/>
              </a:ext>
            </a:extLst>
          </p:cNvPr>
          <p:cNvSpPr txBox="1"/>
          <p:nvPr/>
        </p:nvSpPr>
        <p:spPr>
          <a:xfrm>
            <a:off x="1143000" y="16891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El mortero nuevo es alcalino y está limpio de cloruros, así que </a:t>
            </a:r>
            <a:r>
              <a:rPr lang="es-MX" sz="1150" b="1">
                <a:solidFill>
                  <a:srgbClr val="5A5248"/>
                </a:solidFill>
                <a:latin typeface="Segoe UI Semibold" panose="020B0702040204020203" pitchFamily="34" charset="0"/>
              </a:rPr>
              <a:t>repasiva el acero de dentro del parche</a:t>
            </a:r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. Ese tramo deja de ser ánodo y pasa a comportarse como cátodo.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817C9F9-8639-CEF1-CCE7-61E61904F0DB}"/>
              </a:ext>
            </a:extLst>
          </p:cNvPr>
          <p:cNvSpPr/>
          <p:nvPr/>
        </p:nvSpPr>
        <p:spPr>
          <a:xfrm>
            <a:off x="609600" y="23876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1679600-E571-D68B-1884-EEDDCFC7EC6E}"/>
              </a:ext>
            </a:extLst>
          </p:cNvPr>
          <p:cNvSpPr txBox="1"/>
          <p:nvPr/>
        </p:nvSpPr>
        <p:spPr>
          <a:xfrm>
            <a:off x="1143000" y="24003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Dónde aparece el daño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9B6BF4B-C84C-9F70-51D9-B64D49E832E8}"/>
              </a:ext>
            </a:extLst>
          </p:cNvPr>
          <p:cNvSpPr txBox="1"/>
          <p:nvPr/>
        </p:nvSpPr>
        <p:spPr>
          <a:xfrm>
            <a:off x="1143000" y="26543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El acero de justo fuera del parche sigue despasivado y con cloruros. Ahora tiene enfrente un cátodo grande y limpio: </a:t>
            </a:r>
            <a:r>
              <a:rPr lang="es-MX" sz="1150" b="1">
                <a:solidFill>
                  <a:srgbClr val="5A5248"/>
                </a:solidFill>
                <a:latin typeface="Segoe UI Semibold" panose="020B0702040204020203" pitchFamily="34" charset="0"/>
              </a:rPr>
              <a:t>toda la corriente se concentra en el borde</a:t>
            </a:r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343C0B0-03F5-7C58-FE89-3FD7D4A5DD33}"/>
              </a:ext>
            </a:extLst>
          </p:cNvPr>
          <p:cNvSpPr/>
          <p:nvPr/>
        </p:nvSpPr>
        <p:spPr>
          <a:xfrm>
            <a:off x="609600" y="33528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8EAD424-901E-FC69-405D-5C8AE1A23F79}"/>
              </a:ext>
            </a:extLst>
          </p:cNvPr>
          <p:cNvSpPr txBox="1"/>
          <p:nvPr/>
        </p:nvSpPr>
        <p:spPr>
          <a:xfrm>
            <a:off x="1143000" y="33655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Cuándo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C0EAE2-2B35-F287-5C8B-531F9554C1F1}"/>
              </a:ext>
            </a:extLst>
          </p:cNvPr>
          <p:cNvSpPr txBox="1"/>
          <p:nvPr/>
        </p:nvSpPr>
        <p:spPr>
          <a:xfrm>
            <a:off x="1143000" y="36195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Entre seis y veinticuatro meses. El propietario ve una fisura nueva pegada al parche y concluye, con lógica, que la reparación fue mala.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66171D5-10B8-83E7-5D24-95B24063D274}"/>
              </a:ext>
            </a:extLst>
          </p:cNvPr>
          <p:cNvSpPr/>
          <p:nvPr/>
        </p:nvSpPr>
        <p:spPr>
          <a:xfrm>
            <a:off x="609600" y="43180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EFFC90B-1187-2EAB-819D-CDAA73295C4E}"/>
              </a:ext>
            </a:extLst>
          </p:cNvPr>
          <p:cNvSpPr txBox="1"/>
          <p:nvPr/>
        </p:nvSpPr>
        <p:spPr>
          <a:xfrm>
            <a:off x="1143000" y="43307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Cuándo no pasa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BD0260-1081-5CF1-65C4-3869882BA75F}"/>
              </a:ext>
            </a:extLst>
          </p:cNvPr>
          <p:cNvSpPr txBox="1"/>
          <p:nvPr/>
        </p:nvSpPr>
        <p:spPr>
          <a:xfrm>
            <a:off x="1143000" y="45847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Con carbonatación pura y sin cloruros no hay ánodo incipiente: el hormigón contiguo sano también está pasivado y no hay diferencia de potencial que mantener.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9" name="Imagen 18" descr="Secuencia del ánodo incipiente: parche pasivo, corriente en los bordes y fisura nueva entre 6 y 24 meses">
            <a:extLst>
              <a:ext uri="{FF2B5EF4-FFF2-40B4-BE49-F238E27FC236}">
                <a16:creationId xmlns:a16="http://schemas.microsoft.com/office/drawing/2014/main" id="{BF9AA5C3-3D60-6ADF-2F9D-9F322EA1CF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422400"/>
            <a:ext cx="3352800" cy="3759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358130A8-9C34-13D4-B8AE-9A3B9B6C5ADF}"/>
              </a:ext>
            </a:extLst>
          </p:cNvPr>
          <p:cNvSpPr/>
          <p:nvPr/>
        </p:nvSpPr>
        <p:spPr>
          <a:xfrm>
            <a:off x="609600" y="5384800"/>
            <a:ext cx="73660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1E6C930-5ABB-F65E-8270-F604B8BA14CF}"/>
              </a:ext>
            </a:extLst>
          </p:cNvPr>
          <p:cNvSpPr txBox="1"/>
          <p:nvPr/>
        </p:nvSpPr>
        <p:spPr>
          <a:xfrm>
            <a:off x="838200" y="5435600"/>
            <a:ext cx="6959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Hay dos salidas: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extender el saneo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 hasta eliminar el gradiente, o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poner ánodos galvánicos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 en el perímetro. Se comparan con números en el caso 7.2.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9B1854-6A48-59EF-389B-5CF7B3143379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pt-BR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1504-9, principio 11; ACI 546R §4; ACI 222R.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C709773-0CDC-5F64-D07A-A1BDA93B121E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F6E4B91-FEF3-B8BA-95DA-E5B8156A4329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7B24363-B0A2-8DCC-36E9-34CA1FEA4E9D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7" name="PageNo">
            <a:extLst>
              <a:ext uri="{FF2B5EF4-FFF2-40B4-BE49-F238E27FC236}">
                <a16:creationId xmlns:a16="http://schemas.microsoft.com/office/drawing/2014/main" id="{A9805472-195C-56B8-B07C-6A53425876FC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15 / 40</a:t>
            </a:r>
          </a:p>
        </p:txBody>
      </p:sp>
    </p:spTree>
    <p:extLst>
      <p:ext uri="{BB962C8B-B14F-4D97-AF65-F5344CB8AC3E}">
        <p14:creationId xmlns:p14="http://schemas.microsoft.com/office/powerpoint/2010/main" val="3103995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14596D-B9B1-2687-374D-E9DDF4DD9205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LA PREPARACIÓN DEL ACERO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A97BB1F-501B-5879-941E-4AE184A41896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700">
                <a:solidFill>
                  <a:srgbClr val="1C1813"/>
                </a:solidFill>
                <a:latin typeface="Bahnschrift SemiBold" panose="020B0502040204020203" pitchFamily="34" charset="0"/>
              </a:rPr>
              <a:t>Limpiar, complementar o sustituir la barra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F73AB5D-7DE2-CF49-C1EC-AC3E02147E0A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0C4D066D-F872-D80D-B3C3-4F133E098EAA}"/>
              </a:ext>
            </a:extLst>
          </p:cNvPr>
          <p:cNvSpPr/>
          <p:nvPr/>
        </p:nvSpPr>
        <p:spPr>
          <a:xfrm>
            <a:off x="609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6DDCC9-CE96-65AA-D2BC-5C1670AC2E96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Sa 2½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CB1836-2033-EC17-F860-5FCEC0DD02C6}"/>
              </a:ext>
            </a:extLst>
          </p:cNvPr>
          <p:cNvSpPr txBox="1"/>
          <p:nvPr/>
        </p:nvSpPr>
        <p:spPr>
          <a:xfrm>
            <a:off x="812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500">
                <a:solidFill>
                  <a:srgbClr val="1C1813"/>
                </a:solidFill>
                <a:latin typeface="Bahnschrift SemiBold" panose="020B0502040204020203" pitchFamily="34" charset="0"/>
              </a:rPr>
              <a:t>Grado de limpieza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7CC2C19-7489-95F1-E17D-C7906F55E5CA}"/>
              </a:ext>
            </a:extLst>
          </p:cNvPr>
          <p:cNvSpPr txBox="1"/>
          <p:nvPr/>
        </p:nvSpPr>
        <p:spPr>
          <a:xfrm>
            <a:off x="812800" y="22860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Chorro abrasivo hasta metal casi blanco. Sin óxido suelto, sin escamas y sin restos de mortero carbonatado entre corrugas.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2AC7F4E-C94B-BF03-A7C8-3CE7DAFCE77E}"/>
              </a:ext>
            </a:extLst>
          </p:cNvPr>
          <p:cNvSpPr/>
          <p:nvPr/>
        </p:nvSpPr>
        <p:spPr>
          <a:xfrm>
            <a:off x="3403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A5B6DE-967C-2BA5-A233-E554C99763F1}"/>
              </a:ext>
            </a:extLst>
          </p:cNvPr>
          <p:cNvSpPr txBox="1"/>
          <p:nvPr/>
        </p:nvSpPr>
        <p:spPr>
          <a:xfrm>
            <a:off x="3606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&lt; 10 %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F3E6C61-07C3-856C-7DEA-ED8D390F5C83}"/>
              </a:ext>
            </a:extLst>
          </p:cNvPr>
          <p:cNvSpPr txBox="1"/>
          <p:nvPr/>
        </p:nvSpPr>
        <p:spPr>
          <a:xfrm>
            <a:off x="3606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500">
                <a:solidFill>
                  <a:srgbClr val="1C1813"/>
                </a:solidFill>
                <a:latin typeface="Bahnschrift SemiBold" panose="020B0502040204020203" pitchFamily="34" charset="0"/>
              </a:rPr>
              <a:t>Se limpia y se repone</a:t>
            </a:r>
            <a:endParaRPr lang="es-BO" sz="15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818ACF-C7DC-2726-B9A6-632DEB09A097}"/>
              </a:ext>
            </a:extLst>
          </p:cNvPr>
          <p:cNvSpPr txBox="1"/>
          <p:nvPr/>
        </p:nvSpPr>
        <p:spPr>
          <a:xfrm>
            <a:off x="3606800" y="22860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Pérdida de sección pequeña: basta limpiar, pasivar si procede y recuperar el recubrimiento con mortero.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33F2378-06C1-C9E5-4BAC-02FB9A3D365D}"/>
              </a:ext>
            </a:extLst>
          </p:cNvPr>
          <p:cNvSpPr/>
          <p:nvPr/>
        </p:nvSpPr>
        <p:spPr>
          <a:xfrm>
            <a:off x="6197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807F1AC-3866-E7FF-B69C-4A8BEC2C68A2}"/>
              </a:ext>
            </a:extLst>
          </p:cNvPr>
          <p:cNvSpPr txBox="1"/>
          <p:nvPr/>
        </p:nvSpPr>
        <p:spPr>
          <a:xfrm>
            <a:off x="6400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10-25 %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7280CD9-DAD8-F9DE-08FF-15C7BFC0D12C}"/>
              </a:ext>
            </a:extLst>
          </p:cNvPr>
          <p:cNvSpPr txBox="1"/>
          <p:nvPr/>
        </p:nvSpPr>
        <p:spPr>
          <a:xfrm>
            <a:off x="6400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500">
                <a:solidFill>
                  <a:srgbClr val="1C1813"/>
                </a:solidFill>
                <a:latin typeface="Bahnschrift SemiBold" panose="020B0502040204020203" pitchFamily="34" charset="0"/>
              </a:rPr>
              <a:t>Se complementa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86D2D7-0025-9E0A-9665-E9F954727E68}"/>
              </a:ext>
            </a:extLst>
          </p:cNvPr>
          <p:cNvSpPr txBox="1"/>
          <p:nvPr/>
        </p:nvSpPr>
        <p:spPr>
          <a:xfrm>
            <a:off x="6400800" y="22860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Se añade armadura nueva solapada con la existente, con la longitud de solape que exija la norma vigente.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AF88848-EC06-5D16-5D34-D615347DFBC0}"/>
              </a:ext>
            </a:extLst>
          </p:cNvPr>
          <p:cNvSpPr/>
          <p:nvPr/>
        </p:nvSpPr>
        <p:spPr>
          <a:xfrm>
            <a:off x="8991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73CEFDB-1829-BC35-2149-50CD110C259A}"/>
              </a:ext>
            </a:extLst>
          </p:cNvPr>
          <p:cNvSpPr txBox="1"/>
          <p:nvPr/>
        </p:nvSpPr>
        <p:spPr>
          <a:xfrm>
            <a:off x="9194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&gt; 25 %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E9CC64A-6AD1-64EC-739C-83AF5EF1FCC6}"/>
              </a:ext>
            </a:extLst>
          </p:cNvPr>
          <p:cNvSpPr txBox="1"/>
          <p:nvPr/>
        </p:nvSpPr>
        <p:spPr>
          <a:xfrm>
            <a:off x="9194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500">
                <a:solidFill>
                  <a:srgbClr val="1C1813"/>
                </a:solidFill>
                <a:latin typeface="Bahnschrift SemiBold" panose="020B0502040204020203" pitchFamily="34" charset="0"/>
              </a:rPr>
              <a:t>Se sustituye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4B129C1-9931-C99F-1B6F-BEA58376A5B3}"/>
              </a:ext>
            </a:extLst>
          </p:cNvPr>
          <p:cNvSpPr txBox="1"/>
          <p:nvPr/>
        </p:nvSpPr>
        <p:spPr>
          <a:xfrm>
            <a:off x="9194800" y="22860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La barra ya no cuenta. Se corta, se retira y se repone con apeo previo si el elemento está cargado.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7" name="Imagen 26" descr="Preparación del acero según pérdida de sección: Sa 2½, menos del 10 %, 10 a 25 % y más del 25 %">
            <a:extLst>
              <a:ext uri="{FF2B5EF4-FFF2-40B4-BE49-F238E27FC236}">
                <a16:creationId xmlns:a16="http://schemas.microsoft.com/office/drawing/2014/main" id="{CA228FA6-4F3B-56CB-EA80-A100BE8B137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18000"/>
            <a:ext cx="10972800" cy="1320800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C5942431-5003-F7BA-2EB7-A3E6D27018CD}"/>
              </a:ext>
            </a:extLst>
          </p:cNvPr>
          <p:cNvSpPr/>
          <p:nvPr/>
        </p:nvSpPr>
        <p:spPr>
          <a:xfrm>
            <a:off x="609600" y="5765800"/>
            <a:ext cx="10972800" cy="406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9167915-C0DF-940E-9B78-240AE68A6D1C}"/>
              </a:ext>
            </a:extLst>
          </p:cNvPr>
          <p:cNvSpPr txBox="1"/>
          <p:nvPr/>
        </p:nvSpPr>
        <p:spPr>
          <a:xfrm>
            <a:off x="838200" y="58166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Los umbrales del 10 y el 25 % son criterio de buena práctica, no artículo de norma: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declárelos en el pliego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 y justifíquelos con el recálculo. Lo que no se puede es decidirlo en obra, con el tajo abierto y sin criterio escrito.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54D1B6E-41F2-743F-99C2-ACB3FF03F6A9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ISO 8501-1 (grados de limpieza); ACI 546R §4; ACI 562 §7.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CA473139-5A57-EDE7-E6A2-E4624D8D9758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16F87EF-2D9B-3520-739F-ADEA6F548304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1584245-A83E-039E-B2A1-14DDA642229C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35" name="PageNo">
            <a:extLst>
              <a:ext uri="{FF2B5EF4-FFF2-40B4-BE49-F238E27FC236}">
                <a16:creationId xmlns:a16="http://schemas.microsoft.com/office/drawing/2014/main" id="{70E252BA-B30A-156E-4A2D-D96A3DF35B2C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16 / 40</a:t>
            </a:r>
          </a:p>
        </p:txBody>
      </p:sp>
    </p:spTree>
    <p:extLst>
      <p:ext uri="{BB962C8B-B14F-4D97-AF65-F5344CB8AC3E}">
        <p14:creationId xmlns:p14="http://schemas.microsoft.com/office/powerpoint/2010/main" val="1215900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BD954E-2CCF-9D62-2C29-D83ECAE929C8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2 · EL TAJO ABIERTO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C03DF89-464D-4069-24D4-A3DBFCB1C93F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Tres momentos del saneo que hay que fotografiar antes de tapar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B86ADD3-0C01-8DF9-2892-83D3FB425DC3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Corte perimetral con disco de 10 a 15 mm">
            <a:extLst>
              <a:ext uri="{FF2B5EF4-FFF2-40B4-BE49-F238E27FC236}">
                <a16:creationId xmlns:a16="http://schemas.microsoft.com/office/drawing/2014/main" id="{434B480D-08DF-F82C-5BAD-EF58DDF5D8D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3454400" cy="23368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3E39038-6FD4-CD4E-B6EB-10CAA1D2DB23}"/>
              </a:ext>
            </a:extLst>
          </p:cNvPr>
          <p:cNvSpPr txBox="1"/>
          <p:nvPr/>
        </p:nvSpPr>
        <p:spPr>
          <a:xfrm>
            <a:off x="6096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Corte del perímetro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948E94-12A1-87CA-F7FF-09BDC7A32E4F}"/>
              </a:ext>
            </a:extLst>
          </p:cNvPr>
          <p:cNvSpPr txBox="1"/>
          <p:nvPr/>
        </p:nvSpPr>
        <p:spPr>
          <a:xfrm>
            <a:off x="6096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Canto recto de 10 a 15 mm. Es lo que impide que el borde del parche quede en filo y se desprenda.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 descr="Soporte rugoso con el árido a la vista, saturado y con superficie seca">
            <a:extLst>
              <a:ext uri="{FF2B5EF4-FFF2-40B4-BE49-F238E27FC236}">
                <a16:creationId xmlns:a16="http://schemas.microsoft.com/office/drawing/2014/main" id="{758076B4-90F1-1AE4-1164-4451D0B7E7B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1524000"/>
            <a:ext cx="3454400" cy="23368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6E1147E-3069-E95E-85D3-6E5FA0362781}"/>
              </a:ext>
            </a:extLst>
          </p:cNvPr>
          <p:cNvSpPr txBox="1"/>
          <p:nvPr/>
        </p:nvSpPr>
        <p:spPr>
          <a:xfrm>
            <a:off x="43688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Preparación del soporte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BAA053-74D8-86D5-AF68-47964992D2D4}"/>
              </a:ext>
            </a:extLst>
          </p:cNvPr>
          <p:cNvSpPr txBox="1"/>
          <p:nvPr/>
        </p:nvSpPr>
        <p:spPr>
          <a:xfrm>
            <a:off x="43688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Árido a la vista, sin lechada ni polvo. La adherencia se gana aquí y no se recupera después.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5" name="Imagen 14" descr="Medida del diámetro residual de la barra con pie de rey">
            <a:extLst>
              <a:ext uri="{FF2B5EF4-FFF2-40B4-BE49-F238E27FC236}">
                <a16:creationId xmlns:a16="http://schemas.microsoft.com/office/drawing/2014/main" id="{445A288F-4717-0595-EF2D-984114C391D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1524000"/>
            <a:ext cx="3454400" cy="23368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009A7215-6068-55D8-206E-CD566FC454B7}"/>
              </a:ext>
            </a:extLst>
          </p:cNvPr>
          <p:cNvSpPr txBox="1"/>
          <p:nvPr/>
        </p:nvSpPr>
        <p:spPr>
          <a:xfrm>
            <a:off x="8128000" y="3987800"/>
            <a:ext cx="3454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Trabajo sobre el acero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468CFB-BA99-D064-8FDC-7C4ADAEF0E37}"/>
              </a:ext>
            </a:extLst>
          </p:cNvPr>
          <p:cNvSpPr txBox="1"/>
          <p:nvPr/>
        </p:nvSpPr>
        <p:spPr>
          <a:xfrm>
            <a:off x="8128000" y="4292600"/>
            <a:ext cx="3454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Limpieza del acero descubierto y medida de la sección residual, antes de que nadie acerque un saco de mortero.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0ED6422-437C-7E77-A31B-2D56C90E7D73}"/>
              </a:ext>
            </a:extLst>
          </p:cNvPr>
          <p:cNvSpPr/>
          <p:nvPr/>
        </p:nvSpPr>
        <p:spPr>
          <a:xfrm>
            <a:off x="609600" y="5410200"/>
            <a:ext cx="109728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A6AAD8-F756-05CA-4C57-1159D9C2FC4C}"/>
              </a:ext>
            </a:extLst>
          </p:cNvPr>
          <p:cNvSpPr txBox="1"/>
          <p:nvPr/>
        </p:nvSpPr>
        <p:spPr>
          <a:xfrm>
            <a:off x="838200" y="5461000"/>
            <a:ext cx="10566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Las tres son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puntos de parada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: el tajo no avanza hasta que están fotografiados y aceptados. Después de tapar ya no se puede comprobar nada.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A06EFD1-53E9-F02E-0F96-1B5BDC8198D1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812BE94-0A1C-E477-9E1A-60665BD5705D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56BDC35-D681-2AA8-7C8D-93B0499DFC73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4" name="PageNo">
            <a:extLst>
              <a:ext uri="{FF2B5EF4-FFF2-40B4-BE49-F238E27FC236}">
                <a16:creationId xmlns:a16="http://schemas.microsoft.com/office/drawing/2014/main" id="{38F0D618-3860-99A1-6FBB-B6E4F209B9C9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17 / 40</a:t>
            </a:r>
          </a:p>
        </p:txBody>
      </p:sp>
    </p:spTree>
    <p:extLst>
      <p:ext uri="{BB962C8B-B14F-4D97-AF65-F5344CB8AC3E}">
        <p14:creationId xmlns:p14="http://schemas.microsoft.com/office/powerpoint/2010/main" val="3281677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9C9F44-E83B-7941-B9B4-CA672BC13C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E5269A8-CEDB-0737-7F76-E0A080E7A067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CFD669-883B-85DF-4DD6-3C5F7BC8AE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2E4651-8F29-F74B-1630-865DD6C3B017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3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97BD8B6-69FE-34A5-D691-331A91B70E90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3800">
                <a:solidFill>
                  <a:srgbClr val="FFFFFF"/>
                </a:solidFill>
                <a:latin typeface="Bahnschrift SemiBold" panose="020B0502040204020203" pitchFamily="34" charset="0"/>
              </a:rPr>
              <a:t>Los materiales y su compatibilidad</a:t>
            </a:r>
            <a:endParaRPr lang="es-BO" sz="38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4D61E7-FFB3-06A6-2DE9-0C5B003BFFAD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A81F1AD-47C3-4629-3471-023841B92237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Un mortero no se elige por resistencia: se elige por clase y por parecerse al soporte.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78EA03-A4D3-B704-34B6-59FF6A32ED88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D18864-B0DA-2E55-9CBC-DDEE5C029D45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Las clases de EN 1504-3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5AD6A9-A1B4-4314-CCE6-FBB6CF890C53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481A0BE-52BE-6FF7-AC72-A0BD1E59FF1B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La compatibilidad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68AE37-64E5-F9FF-047E-59E2242EB7B2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07C64D4-B8D1-3D92-E340-92BF6A1F6148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Ánodos y protección superficial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4564B6F-180E-03D5-37A3-206DB5209207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</p:spTree>
    <p:extLst>
      <p:ext uri="{BB962C8B-B14F-4D97-AF65-F5344CB8AC3E}">
        <p14:creationId xmlns:p14="http://schemas.microsoft.com/office/powerpoint/2010/main" val="2026271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86B36F-DE38-CD7A-75AA-9C4BF98DD02A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LAS CLASES DE MORTERO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2346AD4-5E70-D990-A5D7-ACD029AEF9A1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Cuatro clases, y solo dos sirven para un elemento estructural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CE4B847-7E88-4849-2F1F-6127F3D0BEF1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85C4054-F017-B0C1-F7DF-7F486181B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43361"/>
              </p:ext>
            </p:extLst>
          </p:nvPr>
        </p:nvGraphicFramePr>
        <p:xfrm>
          <a:off x="609600" y="1422400"/>
          <a:ext cx="62992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67831226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81949298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70250436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48419414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712911874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Clase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Resistencia a compresión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Adherencia  (EN 1542)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Módulo de elasticidad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Uso previsto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25376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R1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10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0,8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Sin requisito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estructural: relleno y regularización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254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R2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15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0,8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Sin requisito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estructural: reposición de recubrimiento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615758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R3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25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1,5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15 GPa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Estructural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81178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R4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45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2,0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≥ 20 GPa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Estructural, con mayor exigencia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71343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34D52535-0843-E41A-2988-5821610793D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470400" cy="24892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1CCF7CF-0CD3-FA28-02C1-6A12CCDA7EFC}"/>
              </a:ext>
            </a:extLst>
          </p:cNvPr>
          <p:cNvSpPr/>
          <p:nvPr/>
        </p:nvSpPr>
        <p:spPr>
          <a:xfrm>
            <a:off x="609600" y="41148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2FDD6B-D1C7-179C-DED4-15894CEBF514}"/>
              </a:ext>
            </a:extLst>
          </p:cNvPr>
          <p:cNvSpPr txBox="1"/>
          <p:nvPr/>
        </p:nvSpPr>
        <p:spPr>
          <a:xfrm>
            <a:off x="838200" y="41656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 columna que más se ignora es la de adherencia.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Un R4 con 45 MPa de compresión y mala adherencia no repara nada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: la resistencia del parche no sirve si el parche se despega del elemento que debía ayudar.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BC7C431-0E84-C42A-AE76-A5EAF8817A6A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1504-3:2005, Tabla 3; EN 1542 para el ensayo de adherencia.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533B7B0-CB89-F32B-71A2-538609946F78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20F9BB-9377-45CA-546B-D7B6FEE4B26F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1E151E2-01E9-A91E-2087-E64A638C8F12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16" name="PageNo">
            <a:extLst>
              <a:ext uri="{FF2B5EF4-FFF2-40B4-BE49-F238E27FC236}">
                <a16:creationId xmlns:a16="http://schemas.microsoft.com/office/drawing/2014/main" id="{CB1EAF69-9293-BF97-5967-9FD79169A091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19 / 40</a:t>
            </a:r>
          </a:p>
        </p:txBody>
      </p:sp>
    </p:spTree>
    <p:extLst>
      <p:ext uri="{BB962C8B-B14F-4D97-AF65-F5344CB8AC3E}">
        <p14:creationId xmlns:p14="http://schemas.microsoft.com/office/powerpoint/2010/main" val="184476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2DF9A4-5164-4A94-119B-D09C8C559F63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LA COMPATIBILIDAD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9E4272A-D960-7B84-0362-1FA217F0CF21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El mortero tiene que parecerse al hormigón que repara, no superarlo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1BB431A-B907-24CA-CFA7-7D3E90E66650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23AC42DD-FB77-D80F-6187-F84977219E4B}"/>
              </a:ext>
            </a:extLst>
          </p:cNvPr>
          <p:cNvSpPr/>
          <p:nvPr/>
        </p:nvSpPr>
        <p:spPr>
          <a:xfrm>
            <a:off x="609600" y="1422400"/>
            <a:ext cx="2641600" cy="213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59474D-AAC1-797A-BE89-89CF92117CB8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58344F-E736-C90F-61EC-702A7728E65E}"/>
              </a:ext>
            </a:extLst>
          </p:cNvPr>
          <p:cNvSpPr txBox="1"/>
          <p:nvPr/>
        </p:nvSpPr>
        <p:spPr>
          <a:xfrm>
            <a:off x="812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Módulo parecido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600AF5-ECC7-830F-9D72-D3BC954314B9}"/>
              </a:ext>
            </a:extLst>
          </p:cNvPr>
          <p:cNvSpPr txBox="1"/>
          <p:nvPr/>
        </p:nvSpPr>
        <p:spPr>
          <a:xfrm>
            <a:off x="812800" y="2247900"/>
            <a:ext cx="22352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Si el parche es mucho más rígido, atrae carga y se la quita al hormigón contiguo. Se concentran tensiones justo en la interfaz, que es donde menos conviene.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68126DA-0A1A-C4E4-F928-9FBDFD4A15E4}"/>
              </a:ext>
            </a:extLst>
          </p:cNvPr>
          <p:cNvSpPr/>
          <p:nvPr/>
        </p:nvSpPr>
        <p:spPr>
          <a:xfrm>
            <a:off x="3403600" y="1422400"/>
            <a:ext cx="2641600" cy="213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3E52F3-A996-8437-724F-4AB20F8626E8}"/>
              </a:ext>
            </a:extLst>
          </p:cNvPr>
          <p:cNvSpPr txBox="1"/>
          <p:nvPr/>
        </p:nvSpPr>
        <p:spPr>
          <a:xfrm>
            <a:off x="3606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2A1B0FF-56C2-F6B3-E2DC-1541A06157F4}"/>
              </a:ext>
            </a:extLst>
          </p:cNvPr>
          <p:cNvSpPr txBox="1"/>
          <p:nvPr/>
        </p:nvSpPr>
        <p:spPr>
          <a:xfrm>
            <a:off x="3606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Retracción compensada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70EB4DE-2879-BA6D-2716-1A77E2701FF5}"/>
              </a:ext>
            </a:extLst>
          </p:cNvPr>
          <p:cNvSpPr txBox="1"/>
          <p:nvPr/>
        </p:nvSpPr>
        <p:spPr>
          <a:xfrm>
            <a:off x="3606800" y="2247900"/>
            <a:ext cx="22352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Un mortero que retrae tira de la interfaz y la fisura. Por eso los morteros de reparación llevan compensación de retracción, y por eso hay que curarlos.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B824E6C-25CB-4517-3156-F7F563B28551}"/>
              </a:ext>
            </a:extLst>
          </p:cNvPr>
          <p:cNvSpPr/>
          <p:nvPr/>
        </p:nvSpPr>
        <p:spPr>
          <a:xfrm>
            <a:off x="6197600" y="1422400"/>
            <a:ext cx="2641600" cy="213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1C5988F-45FA-E484-4AED-AC5D1B77339C}"/>
              </a:ext>
            </a:extLst>
          </p:cNvPr>
          <p:cNvSpPr txBox="1"/>
          <p:nvPr/>
        </p:nvSpPr>
        <p:spPr>
          <a:xfrm>
            <a:off x="6400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6F98EB5-109B-B641-5E22-83933E27DC4E}"/>
              </a:ext>
            </a:extLst>
          </p:cNvPr>
          <p:cNvSpPr txBox="1"/>
          <p:nvPr/>
        </p:nvSpPr>
        <p:spPr>
          <a:xfrm>
            <a:off x="6400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Permeabilidad parecida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6C86B2D-853F-2073-4A0D-187C377B0F2B}"/>
              </a:ext>
            </a:extLst>
          </p:cNvPr>
          <p:cNvSpPr txBox="1"/>
          <p:nvPr/>
        </p:nvSpPr>
        <p:spPr>
          <a:xfrm>
            <a:off x="6400800" y="2247900"/>
            <a:ext cx="22352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Si el parche es mucho más impermeable, el agua del interior sale por el hormigón contiguo y arrastra el problema un palmo más allá.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D4F712D-7335-3D1E-2532-F515A83EDB4C}"/>
              </a:ext>
            </a:extLst>
          </p:cNvPr>
          <p:cNvSpPr/>
          <p:nvPr/>
        </p:nvSpPr>
        <p:spPr>
          <a:xfrm>
            <a:off x="8991600" y="1422400"/>
            <a:ext cx="2641600" cy="2133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1AF349A-7E64-560A-1512-3198456810CA}"/>
              </a:ext>
            </a:extLst>
          </p:cNvPr>
          <p:cNvSpPr txBox="1"/>
          <p:nvPr/>
        </p:nvSpPr>
        <p:spPr>
          <a:xfrm>
            <a:off x="9194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1C6A525-EDCA-8084-3B2B-E399AA317AD8}"/>
              </a:ext>
            </a:extLst>
          </p:cNvPr>
          <p:cNvSpPr txBox="1"/>
          <p:nvPr/>
        </p:nvSpPr>
        <p:spPr>
          <a:xfrm>
            <a:off x="9194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Dilatación parecida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08CD7F4-936E-A537-C0F9-2ACDC86B2F28}"/>
              </a:ext>
            </a:extLst>
          </p:cNvPr>
          <p:cNvSpPr txBox="1"/>
          <p:nvPr/>
        </p:nvSpPr>
        <p:spPr>
          <a:xfrm>
            <a:off x="9194800" y="2247900"/>
            <a:ext cx="22352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Coeficiente térmico similar. Si no, cada ciclo día-noche trabaja la interfaz hasta despegarla.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783ADEA-C733-ED6A-CBAA-2784417346F0}"/>
              </a:ext>
            </a:extLst>
          </p:cNvPr>
          <p:cNvSpPr/>
          <p:nvPr/>
        </p:nvSpPr>
        <p:spPr>
          <a:xfrm>
            <a:off x="609600" y="4368800"/>
            <a:ext cx="10972800" cy="685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it-IT" sz="1500">
                <a:solidFill>
                  <a:srgbClr val="FFFFFF"/>
                </a:solidFill>
                <a:latin typeface="Bahnschrift SemiBold" panose="020B0502040204020203" pitchFamily="34" charset="0"/>
              </a:rPr>
              <a:t>Módulo del sustrato:   E = 4 700 · raíz(f′c) = 4 700 × raíz(18,5) = 20,2 GPa</a:t>
            </a:r>
            <a:endParaRPr lang="es-BO" sz="15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28" name="Imagen 27" descr="Cuatro compatibilidades del mortero con el soporte: módulo, retracción, permeabilidad y dilatación">
            <a:extLst>
              <a:ext uri="{FF2B5EF4-FFF2-40B4-BE49-F238E27FC236}">
                <a16:creationId xmlns:a16="http://schemas.microsoft.com/office/drawing/2014/main" id="{6D60C214-E4AC-DFBB-8608-26770C888D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759200"/>
            <a:ext cx="6604000" cy="200660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081DFBAD-46BD-A43F-804F-506BFB1B6995}"/>
              </a:ext>
            </a:extLst>
          </p:cNvPr>
          <p:cNvSpPr/>
          <p:nvPr/>
        </p:nvSpPr>
        <p:spPr>
          <a:xfrm>
            <a:off x="7061200" y="3759200"/>
            <a:ext cx="4521200" cy="20066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067C7F8-75B3-7950-CBF9-1A95B61A5A25}"/>
              </a:ext>
            </a:extLst>
          </p:cNvPr>
          <p:cNvSpPr txBox="1"/>
          <p:nvPr/>
        </p:nvSpPr>
        <p:spPr>
          <a:xfrm>
            <a:off x="7289800" y="3937000"/>
            <a:ext cx="4114800" cy="170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Por eso en la nave Sector 4 se especifica un R4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con módulo no superior a 20 GPa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. Un R4 de 25 GPa sería un 24 % más rígido que el soporte: cumpliría la norma y sería la elección equivocada.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E2A2C9A-EE68-8C06-CF4D-1B9DA183F4E9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1504-3; ACI 318-19 §19.2.2.1 para el módulo; ACI 546R §5.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8146640-2D71-CB77-6DE3-C2FC7D3991AF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A77CD5F-07D7-57ED-C0D1-403B4DEBB54F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65986F0-45EF-9386-D37D-2CBB351808DB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36" name="PageNo">
            <a:extLst>
              <a:ext uri="{FF2B5EF4-FFF2-40B4-BE49-F238E27FC236}">
                <a16:creationId xmlns:a16="http://schemas.microsoft.com/office/drawing/2014/main" id="{79D850F8-12C2-77E6-39DB-5CC9F38E9DD6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20 / 40</a:t>
            </a:r>
          </a:p>
        </p:txBody>
      </p:sp>
    </p:spTree>
    <p:extLst>
      <p:ext uri="{BB962C8B-B14F-4D97-AF65-F5344CB8AC3E}">
        <p14:creationId xmlns:p14="http://schemas.microsoft.com/office/powerpoint/2010/main" val="2201423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630E1A-7CFD-2B4B-3160-DC200A3E6484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RESINAS Y PROYECCIÓN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0940ED3-CC80-28AF-7EB8-447F117E7915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Dos familias que resuelven lo que el mortero de mano no alcanza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FF6FF75-2E5C-1538-A3AF-C1F8161B2E2F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74F8D52-1674-BC2D-4769-D70C41DD3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16421"/>
              </p:ext>
            </p:extLst>
          </p:nvPr>
        </p:nvGraphicFramePr>
        <p:xfrm>
          <a:off x="609600" y="1422400"/>
          <a:ext cx="109728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91642056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09932893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43833979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51576659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Sistema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Para qué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Cuándo sí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Cuándo no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9996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Inyección de epoxi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Devolver monolitismo a una fisura muerta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Fisura estructural estabilizada y seca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Fisura viva: vuelve a abrir al lado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48282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Inyección de poliuretano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Cortar una vía de agua a presión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Fisura con agua corriendo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Como reparación estructural: no la da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2547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Sellado elástico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Dar movimiento a una fisura viva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Fisura térmica o de retracción activa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Donde se necesite transmitir esfuerzos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02222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Mortero proyectado  (gunita)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Reponer grandes superficies o espesores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Mucha superficie, acceso difícil, espesor alto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Espacios cerrados sin extracción de polvo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06149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29C0FC54-7B0E-DDDB-42CD-243EFB3022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572000"/>
            <a:ext cx="5334000" cy="14224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D6CF290-5B53-4EF4-567B-2D72DFA49E6D}"/>
              </a:ext>
            </a:extLst>
          </p:cNvPr>
          <p:cNvSpPr/>
          <p:nvPr/>
        </p:nvSpPr>
        <p:spPr>
          <a:xfrm>
            <a:off x="6248400" y="4572000"/>
            <a:ext cx="5334000" cy="1422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1A3195-2181-4FBB-769D-284E88AAD0F6}"/>
              </a:ext>
            </a:extLst>
          </p:cNvPr>
          <p:cNvSpPr txBox="1"/>
          <p:nvPr/>
        </p:nvSpPr>
        <p:spPr>
          <a:xfrm>
            <a:off x="6477000" y="4749800"/>
            <a:ext cx="49276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La primera fila es la que más se equivoca.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El epoxi devuelve monolitismo, y eso es lo contrario de lo que necesita una fisura que se mueve.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 El dato de si está viva o muerta vino de la clase 2, y sin él no se puede elegir.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4084D5-9B85-86C7-1D26-250389DDE422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1504-5 (inyección); EN 14487 (hormigón proyectado); ACI 546R.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96A41F7-1561-4FE8-EAB9-C6087D08A9B4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5E25C41-1F9C-9316-5209-96B4A5563C8A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A7C5D39-EBBC-8A04-5ABA-48ED20226801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16" name="PageNo">
            <a:extLst>
              <a:ext uri="{FF2B5EF4-FFF2-40B4-BE49-F238E27FC236}">
                <a16:creationId xmlns:a16="http://schemas.microsoft.com/office/drawing/2014/main" id="{DFA2875C-5E44-D190-D6D6-98BC55A71BCE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21 / 40</a:t>
            </a:r>
          </a:p>
        </p:txBody>
      </p:sp>
    </p:spTree>
    <p:extLst>
      <p:ext uri="{BB962C8B-B14F-4D97-AF65-F5344CB8AC3E}">
        <p14:creationId xmlns:p14="http://schemas.microsoft.com/office/powerpoint/2010/main" val="1019473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D5B6E15-0637-4AA9-BD60-0BDE02BB0F82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ÁNODOS GALVÁNICOS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C29A137-462E-CCB3-653A-CBCFF082BF9B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Una pieza de zinc que se sacrifica para que no lo haga la armadura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056F9B4-7BD8-E1D5-28F2-147E605110E7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F3D53871-341B-F646-D798-7349C727DFD7}"/>
              </a:ext>
            </a:extLst>
          </p:cNvPr>
          <p:cNvSpPr/>
          <p:nvPr/>
        </p:nvSpPr>
        <p:spPr>
          <a:xfrm>
            <a:off x="609600" y="14224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8B84E4C-9C82-B24D-FC63-BFCD8D3D5CC1}"/>
              </a:ext>
            </a:extLst>
          </p:cNvPr>
          <p:cNvSpPr txBox="1"/>
          <p:nvPr/>
        </p:nvSpPr>
        <p:spPr>
          <a:xfrm>
            <a:off x="1143000" y="14351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Cómo funciona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4CAC2C-0503-CE75-4B0C-527FE153A957}"/>
              </a:ext>
            </a:extLst>
          </p:cNvPr>
          <p:cNvSpPr txBox="1"/>
          <p:nvPr/>
        </p:nvSpPr>
        <p:spPr>
          <a:xfrm>
            <a:off x="1143000" y="16891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El zinc es más activo que el acero: al conectarlos, el zinc se corroe y el acero queda protegido. Es el principio 11 de EN 1504-9, control de áreas anódicas.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CCA399F-82F7-3BE9-BDE2-82BCDA66CB86}"/>
              </a:ext>
            </a:extLst>
          </p:cNvPr>
          <p:cNvSpPr/>
          <p:nvPr/>
        </p:nvSpPr>
        <p:spPr>
          <a:xfrm>
            <a:off x="609600" y="23876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7275C8-9CD8-EFC9-5A31-CC900AA81BDF}"/>
              </a:ext>
            </a:extLst>
          </p:cNvPr>
          <p:cNvSpPr txBox="1"/>
          <p:nvPr/>
        </p:nvSpPr>
        <p:spPr>
          <a:xfrm>
            <a:off x="1143000" y="24003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Dónde se colocan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23CE7D-ECE2-4944-1186-46E990E8A4C7}"/>
              </a:ext>
            </a:extLst>
          </p:cNvPr>
          <p:cNvSpPr txBox="1"/>
          <p:nvPr/>
        </p:nvSpPr>
        <p:spPr>
          <a:xfrm>
            <a:off x="1143000" y="26543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En el </a:t>
            </a:r>
            <a:r>
              <a:rPr lang="es-MX" sz="1150" b="1">
                <a:solidFill>
                  <a:srgbClr val="5A5248"/>
                </a:solidFill>
                <a:latin typeface="Segoe UI Semibold" panose="020B0702040204020203" pitchFamily="34" charset="0"/>
              </a:rPr>
              <a:t>perímetro del parche</a:t>
            </a:r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, que es donde se concentraría el ánodo incipiente, con separación del orden de 0,50 m y atados a la armadura con continuidad eléctrica comprobada.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A4E0734-114F-4354-4BC4-E2837AB5C59D}"/>
              </a:ext>
            </a:extLst>
          </p:cNvPr>
          <p:cNvSpPr/>
          <p:nvPr/>
        </p:nvSpPr>
        <p:spPr>
          <a:xfrm>
            <a:off x="609600" y="33528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24D4D4-DED8-25D6-57F7-044D51D24D67}"/>
              </a:ext>
            </a:extLst>
          </p:cNvPr>
          <p:cNvSpPr txBox="1"/>
          <p:nvPr/>
        </p:nvSpPr>
        <p:spPr>
          <a:xfrm>
            <a:off x="1143000" y="33655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Cuánto duran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8B70A0-4874-B8E0-16D5-4CA0DE1BC80A}"/>
              </a:ext>
            </a:extLst>
          </p:cNvPr>
          <p:cNvSpPr txBox="1"/>
          <p:nvPr/>
        </p:nvSpPr>
        <p:spPr>
          <a:xfrm>
            <a:off x="1143000" y="36195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Se calcula con Faraday. Un ánodo de 160 g de zinc con una demanda media de 0,5 mA da del orden de 30 años teóricos, que con rendimiento real quedan en unos 19.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A4D764A-532F-1C1B-12D3-744DA9319C52}"/>
              </a:ext>
            </a:extLst>
          </p:cNvPr>
          <p:cNvSpPr/>
          <p:nvPr/>
        </p:nvSpPr>
        <p:spPr>
          <a:xfrm>
            <a:off x="609600" y="43180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932916-565F-1039-D441-914D75106CD8}"/>
              </a:ext>
            </a:extLst>
          </p:cNvPr>
          <p:cNvSpPr txBox="1"/>
          <p:nvPr/>
        </p:nvSpPr>
        <p:spPr>
          <a:xfrm>
            <a:off x="1143000" y="43307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Qué exigen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433D775-701B-349D-D986-E932E39A1E37}"/>
              </a:ext>
            </a:extLst>
          </p:cNvPr>
          <p:cNvSpPr txBox="1"/>
          <p:nvPr/>
        </p:nvSpPr>
        <p:spPr>
          <a:xfrm>
            <a:off x="1143000" y="4584700"/>
            <a:ext cx="6858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Un </a:t>
            </a:r>
            <a:r>
              <a:rPr lang="es-MX" sz="1150" b="1">
                <a:solidFill>
                  <a:srgbClr val="5A5248"/>
                </a:solidFill>
                <a:latin typeface="Segoe UI Semibold" panose="020B0702040204020203" pitchFamily="34" charset="0"/>
              </a:rPr>
              <a:t>plan de reposición</a:t>
            </a:r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 fechado. Un ánodo agotado no avisa: deja de proteger en silencio y el daño reaparece como si nunca se hubiera reparado.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19" name="Imagen 18" descr="Corte de un parche con ánodos de zinc en el perímetro y su vida útil">
            <a:extLst>
              <a:ext uri="{FF2B5EF4-FFF2-40B4-BE49-F238E27FC236}">
                <a16:creationId xmlns:a16="http://schemas.microsoft.com/office/drawing/2014/main" id="{D275315A-A71F-2E70-9852-0CF2DB96BF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422400"/>
            <a:ext cx="3352800" cy="3759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78F3FC88-EBF0-43A5-844D-CB564586C25C}"/>
              </a:ext>
            </a:extLst>
          </p:cNvPr>
          <p:cNvSpPr/>
          <p:nvPr/>
        </p:nvSpPr>
        <p:spPr>
          <a:xfrm>
            <a:off x="609600" y="5384800"/>
            <a:ext cx="7366000" cy="660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689246F-B1B6-CE82-29F5-AA04DCB4F27A}"/>
              </a:ext>
            </a:extLst>
          </p:cNvPr>
          <p:cNvSpPr txBox="1"/>
          <p:nvPr/>
        </p:nvSpPr>
        <p:spPr>
          <a:xfrm>
            <a:off x="838200" y="5435600"/>
            <a:ext cx="6959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Los ánodos no son una alternativa barata al saneo bien dimensionado: son la salida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cuando extender el saneo no es viable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4847B38-679B-CCA2-50B5-9D2405DDA067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1504-9, principio 11; ACI 222R §6.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389997E-5926-E1AE-E22F-A4E9DAA34EA4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2E5CEA1-0E7D-3B38-54C9-F3F93016D5FE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9DEE36A-7CB2-2A56-8B8C-B8BCA7F9F17B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7" name="PageNo">
            <a:extLst>
              <a:ext uri="{FF2B5EF4-FFF2-40B4-BE49-F238E27FC236}">
                <a16:creationId xmlns:a16="http://schemas.microsoft.com/office/drawing/2014/main" id="{F68843D7-22DD-A121-AD26-2F438C8AC68F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22 / 40</a:t>
            </a:r>
          </a:p>
        </p:txBody>
      </p:sp>
    </p:spTree>
    <p:extLst>
      <p:ext uri="{BB962C8B-B14F-4D97-AF65-F5344CB8AC3E}">
        <p14:creationId xmlns:p14="http://schemas.microsoft.com/office/powerpoint/2010/main" val="1124257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E5BB5-E671-4234-7BA4-868157C6A2C0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3 · LA PROTECCIÓN SUPERFICIAL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B8FF07-CD78-EF08-46AF-0F0FAB8AB0C1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El principio 1 va el último, y es el que más vida útil añade por boliviano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0CF3119-333A-1438-0929-940C1AF1B856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ADD1FCC-0BAE-0951-DBEE-2E5A82C36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937199"/>
              </p:ext>
            </p:extLst>
          </p:nvPr>
        </p:nvGraphicFramePr>
        <p:xfrm>
          <a:off x="609600" y="1422400"/>
          <a:ext cx="62992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30360482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19009158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321835333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273499203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Sistema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hace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Dónde se usa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Limitación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29927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Hidrofugante de poro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Repele el agua líquida sin cerrar el poro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Fachadas vistas, hormigón arquitectónico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frena el CO₂; vida de 5 a 10 años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45486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Revestimiento anticarbonatación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Película que frena la difusión del CO₂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Elementos carbonatados ya reparados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Necesita soporte seco y repintado periódico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343998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Revestimiento antiácido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Barrera no cementosa: epoxi, poliuretano, PEAD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Colectores, cámaras, industria química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Caro y exige preparación muy exigente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14986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Impregnación hidrófoba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Penetra y hace hidrófobo el poro sin película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Pavimentos y elementos sometidos a sales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No tapa fisuras: hay que sellarlas antes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68789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0A58041E-6C2A-2945-2A48-1E5AF01CFC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422400"/>
            <a:ext cx="4470400" cy="24892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A5D88437-357B-5B1A-2FF2-8EF7496CDF73}"/>
              </a:ext>
            </a:extLst>
          </p:cNvPr>
          <p:cNvSpPr/>
          <p:nvPr/>
        </p:nvSpPr>
        <p:spPr>
          <a:xfrm>
            <a:off x="609600" y="41148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69FBC7-4802-7F63-E82D-4499D795F3C1}"/>
              </a:ext>
            </a:extLst>
          </p:cNvPr>
          <p:cNvSpPr txBox="1"/>
          <p:nvPr/>
        </p:nvSpPr>
        <p:spPr>
          <a:xfrm>
            <a:off x="838200" y="41656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Es el principio que más se omite por presupuesto y el que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devuelve la inversión más rápido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: alarga la vida de todo lo reparado y protege también el hormigón sano de al lado.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DA1497-6C40-5E1C-16E8-2AF430E5648C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1504-2, sistemas de protección superficial.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748D565-DC5A-8B82-F8CA-B52D1FD23410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A2FA53E-0898-E999-54DE-8A58FFAB4CD0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4E6AE57-20D7-A06F-5C30-E9C7395DCFAD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16" name="PageNo">
            <a:extLst>
              <a:ext uri="{FF2B5EF4-FFF2-40B4-BE49-F238E27FC236}">
                <a16:creationId xmlns:a16="http://schemas.microsoft.com/office/drawing/2014/main" id="{1AF02014-D6C6-DA41-CCA7-59B204F2171D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23 / 40</a:t>
            </a:r>
          </a:p>
        </p:txBody>
      </p:sp>
    </p:spTree>
    <p:extLst>
      <p:ext uri="{BB962C8B-B14F-4D97-AF65-F5344CB8AC3E}">
        <p14:creationId xmlns:p14="http://schemas.microsoft.com/office/powerpoint/2010/main" val="1433215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10C19B-002A-61CA-2BCE-BA09983054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A28D688-DA1C-419B-A0CC-83C4A9669C95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47C50C-686F-1637-C7E1-C7645AE88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052312-7733-9EBF-8F49-8700D6D2198E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PARTE 4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EBFC62B-FA45-204F-DA32-66785E831A55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3800">
                <a:solidFill>
                  <a:srgbClr val="FFFFFF"/>
                </a:solidFill>
                <a:latin typeface="Bahnschrift SemiBold" panose="020B0502040204020203" pitchFamily="34" charset="0"/>
              </a:rPr>
              <a:t>Ejecución y recepción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D0B2B4-9641-6778-E216-79C1750CA9E7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CCF9D8-D90A-4A43-3F9E-935C22FB31DE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Una reparación que no se comprueba no está recibida, por muy bien que se vea.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4788F4-7A26-D5DE-2CD4-DB5ACC7B95AE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403733-C021-5031-711A-489705B5BEE2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Los puntos de parada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32692E-FF4A-2AB1-7754-18DB1EFCAAEB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67115E-5F55-3E1C-90D3-8E5A19814A49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50">
                <a:solidFill>
                  <a:srgbClr val="CFC7B8"/>
                </a:solidFill>
                <a:latin typeface="Segoe UI" panose="020B0502040204020203" pitchFamily="34" charset="0"/>
              </a:rPr>
              <a:t>El ensayo de arrancamiento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2332F8A-4557-BC50-0C84-51F8BB254D5B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1FD1A4-6507-6806-0C08-68086F0B0A9F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La garantía y el mantenimiento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B9C6433-A577-3FC6-F323-CCEDC7618219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</p:spTree>
    <p:extLst>
      <p:ext uri="{BB962C8B-B14F-4D97-AF65-F5344CB8AC3E}">
        <p14:creationId xmlns:p14="http://schemas.microsoft.com/office/powerpoint/2010/main" val="3241910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C3E74A4-1B79-BD4B-7B26-8CDE3C7D478A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4 · LOS PUNTOS DE PARADA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C4B7F72-2D5E-F1C4-5C14-EB9814E21A40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Cinco momentos en los que el tajo se detiene y alguien firma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493420A-8FA1-60C0-670E-9EB38F8881BA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EB43DF65-6593-5CFD-6C49-EC6970321488}"/>
              </a:ext>
            </a:extLst>
          </p:cNvPr>
          <p:cNvSpPr/>
          <p:nvPr/>
        </p:nvSpPr>
        <p:spPr>
          <a:xfrm>
            <a:off x="609600" y="13716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D41795-2E3C-377A-F0D7-1F62B8EF5706}"/>
              </a:ext>
            </a:extLst>
          </p:cNvPr>
          <p:cNvSpPr txBox="1"/>
          <p:nvPr/>
        </p:nvSpPr>
        <p:spPr>
          <a:xfrm>
            <a:off x="1143000" y="13843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Saneo terminado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B78E0C-A5E1-5E05-69D3-F554728911B9}"/>
              </a:ext>
            </a:extLst>
          </p:cNvPr>
          <p:cNvSpPr txBox="1"/>
          <p:nvPr/>
        </p:nvSpPr>
        <p:spPr>
          <a:xfrm>
            <a:off x="1143000" y="1638300"/>
            <a:ext cx="685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Antes de limpiar el acero. Se comprueba la extensión contra los cuatro criterios y se fotografía el perímetro con escala.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EEE5A8A-6BDD-DF58-C6CE-EA6A07B4695C}"/>
              </a:ext>
            </a:extLst>
          </p:cNvPr>
          <p:cNvSpPr/>
          <p:nvPr/>
        </p:nvSpPr>
        <p:spPr>
          <a:xfrm>
            <a:off x="609600" y="22352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A3247F-F991-8F4B-357C-7F17B80E5FCA}"/>
              </a:ext>
            </a:extLst>
          </p:cNvPr>
          <p:cNvSpPr txBox="1"/>
          <p:nvPr/>
        </p:nvSpPr>
        <p:spPr>
          <a:xfrm>
            <a:off x="1143000" y="22479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Acero preparado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A367BD4-41D2-0F2B-29B3-DA299D2FBAC5}"/>
              </a:ext>
            </a:extLst>
          </p:cNvPr>
          <p:cNvSpPr txBox="1"/>
          <p:nvPr/>
        </p:nvSpPr>
        <p:spPr>
          <a:xfrm>
            <a:off x="1143000" y="2501900"/>
            <a:ext cx="685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Grado de limpieza alcanzado y sección residual medida con pie de rey en tres puntos por barra descubierta.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5642FBD-8FB7-A06F-FA6F-1C1127F6BB29}"/>
              </a:ext>
            </a:extLst>
          </p:cNvPr>
          <p:cNvSpPr/>
          <p:nvPr/>
        </p:nvSpPr>
        <p:spPr>
          <a:xfrm>
            <a:off x="609600" y="30988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7968E3-6EC0-A08B-F4B7-BDF1E85CE1A3}"/>
              </a:ext>
            </a:extLst>
          </p:cNvPr>
          <p:cNvSpPr txBox="1"/>
          <p:nvPr/>
        </p:nvSpPr>
        <p:spPr>
          <a:xfrm>
            <a:off x="1143000" y="31115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Soporte preparado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73982A-1151-EB44-DBB9-9966E1854FD8}"/>
              </a:ext>
            </a:extLst>
          </p:cNvPr>
          <p:cNvSpPr txBox="1"/>
          <p:nvPr/>
        </p:nvSpPr>
        <p:spPr>
          <a:xfrm>
            <a:off x="1143000" y="3365500"/>
            <a:ext cx="685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Árido a la vista, sin polvo, con el grado de humedad que pida la ficha técnica del mortero: saturado con superficie seca, casi siempre.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E78B2D3-C867-66AF-CC49-E8505885EAA9}"/>
              </a:ext>
            </a:extLst>
          </p:cNvPr>
          <p:cNvSpPr/>
          <p:nvPr/>
        </p:nvSpPr>
        <p:spPr>
          <a:xfrm>
            <a:off x="609600" y="39624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4EAFFCA-97CC-EAE6-8998-A6A8381F5347}"/>
              </a:ext>
            </a:extLst>
          </p:cNvPr>
          <p:cNvSpPr txBox="1"/>
          <p:nvPr/>
        </p:nvSpPr>
        <p:spPr>
          <a:xfrm>
            <a:off x="1143000" y="39751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Reposición ejecutada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F801CDC-E074-B5E3-41CC-4D4A53370225}"/>
              </a:ext>
            </a:extLst>
          </p:cNvPr>
          <p:cNvSpPr txBox="1"/>
          <p:nvPr/>
        </p:nvSpPr>
        <p:spPr>
          <a:xfrm>
            <a:off x="1143000" y="4229100"/>
            <a:ext cx="685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Espesor conseguido, recubrimiento final medido y curado iniciado. El curado se anota con hora de inicio y método.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81056BA-435E-2A9C-36D0-BF0C16E5935B}"/>
              </a:ext>
            </a:extLst>
          </p:cNvPr>
          <p:cNvSpPr/>
          <p:nvPr/>
        </p:nvSpPr>
        <p:spPr>
          <a:xfrm>
            <a:off x="609600" y="4826000"/>
            <a:ext cx="355600" cy="3556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1250">
                <a:solidFill>
                  <a:srgbClr val="1C1813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C6C0BDC-15DC-EA59-E2C6-B0B3622BDABC}"/>
              </a:ext>
            </a:extLst>
          </p:cNvPr>
          <p:cNvSpPr txBox="1"/>
          <p:nvPr/>
        </p:nvSpPr>
        <p:spPr>
          <a:xfrm>
            <a:off x="1143000" y="4838700"/>
            <a:ext cx="584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Protección aplicada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304B1E5-88A5-60D3-D22A-7564E58B11E6}"/>
              </a:ext>
            </a:extLst>
          </p:cNvPr>
          <p:cNvSpPr txBox="1"/>
          <p:nvPr/>
        </p:nvSpPr>
        <p:spPr>
          <a:xfrm>
            <a:off x="1143000" y="5092700"/>
            <a:ext cx="685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Soporte seco comprobado, espesor de película y condiciones ambientales durante la aplicación.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2" name="Imagen 21" descr="Los cinco puntos de parada con foto y firma">
            <a:extLst>
              <a:ext uri="{FF2B5EF4-FFF2-40B4-BE49-F238E27FC236}">
                <a16:creationId xmlns:a16="http://schemas.microsoft.com/office/drawing/2014/main" id="{127D2084-76FA-A102-1420-F0523E535B2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371600"/>
            <a:ext cx="3352800" cy="36830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6917632C-8D7B-EA70-3FC1-6D1D77D79F19}"/>
              </a:ext>
            </a:extLst>
          </p:cNvPr>
          <p:cNvSpPr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E62AFF4-2799-9F5F-6C53-449745147F85}"/>
              </a:ext>
            </a:extLst>
          </p:cNvPr>
          <p:cNvSpPr txBox="1"/>
          <p:nvPr/>
        </p:nvSpPr>
        <p:spPr>
          <a:xfrm>
            <a:off x="838200" y="5791200"/>
            <a:ext cx="1056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Los puntos 1, 2 y 3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desaparecen en cuanto se echa el mortero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. Lo que no quede fotografiado y firmado en ese momento no se puede comprobar nunca más.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8665F08-687F-94E6-E1FD-4E7BBBBD5A8D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1504-10 §6; ACI 562 §8, control de la ejecución.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2E6FC8F5-60FC-9724-57B4-0DB03F8595C5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D4ADD50-4B67-AB1E-D497-6926650E5135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DCA5395-ACDA-A9FA-BE6F-E9D042650C81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30" name="PageNo">
            <a:extLst>
              <a:ext uri="{FF2B5EF4-FFF2-40B4-BE49-F238E27FC236}">
                <a16:creationId xmlns:a16="http://schemas.microsoft.com/office/drawing/2014/main" id="{D9E0EF72-B7E8-7174-6150-D79867CFCCEA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25 / 40</a:t>
            </a:r>
          </a:p>
        </p:txBody>
      </p:sp>
    </p:spTree>
    <p:extLst>
      <p:ext uri="{BB962C8B-B14F-4D97-AF65-F5344CB8AC3E}">
        <p14:creationId xmlns:p14="http://schemas.microsoft.com/office/powerpoint/2010/main" val="3435241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DCB6C3-B476-A721-4AC2-2C39B07710E3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4 · EL ENSAYO DE ARRANCAMIENTO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CD2D06B-C11F-7A5C-2C9F-1DFD57091CE9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El número importa, y el modo de rotura importa más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75F6AB-F221-5C83-48C7-7829E3AC4E4D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89F14FE-81D7-08A9-C2C0-B3A054E68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661554"/>
              </p:ext>
            </p:extLst>
          </p:nvPr>
        </p:nvGraphicFramePr>
        <p:xfrm>
          <a:off x="609600" y="1422400"/>
          <a:ext cx="6604000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77306501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12344695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Modo de rotura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significa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13625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Cohesiva en el sustrato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Rompió el hormigón viejo: la adherencia era mejor que él</a:t>
                      </a:r>
                      <a:endParaRPr lang="es-BO" sz="10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334958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Adhesiva en la interfaz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Falló la unión: la preparación del soporte fue deficiente</a:t>
                      </a:r>
                      <a:endParaRPr lang="es-BO" sz="10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26176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s-BO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Cohesiva en el mortero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Rompió el material nuevo: revisar dosificación o curado</a:t>
                      </a:r>
                      <a:endParaRPr lang="es-BO" sz="10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48678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En el pegamento del disco</a:t>
                      </a:r>
                      <a:endParaRPr lang="es-BO" sz="1050" b="0">
                        <a:solidFill>
                          <a:srgbClr val="1C1813"/>
                        </a:solidFill>
                        <a:latin typeface="Segoe UI Semibold" panose="020B07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Ensayo nulo: se repite en otro punto</a:t>
                      </a:r>
                      <a:endParaRPr lang="es-BO" sz="10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688402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7172389-D609-C46D-501E-40CAEADCF038}"/>
              </a:ext>
            </a:extLst>
          </p:cNvPr>
          <p:cNvSpPr txBox="1"/>
          <p:nvPr/>
        </p:nvSpPr>
        <p:spPr>
          <a:xfrm>
            <a:off x="7569200" y="1422400"/>
            <a:ext cx="4013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350">
                <a:solidFill>
                  <a:srgbClr val="1C1813"/>
                </a:solidFill>
                <a:latin typeface="Bahnschrift SemiBold" panose="020B0502040204020203" pitchFamily="34" charset="0"/>
              </a:rPr>
              <a:t>El criterio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F6510F-38DE-8373-DDAC-F310136BC173}"/>
              </a:ext>
            </a:extLst>
          </p:cNvPr>
          <p:cNvSpPr txBox="1"/>
          <p:nvPr/>
        </p:nvSpPr>
        <p:spPr>
          <a:xfrm>
            <a:off x="7569200" y="1752600"/>
            <a:ext cx="40132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La media de los puntos ensayados debe alcanzar el valor de la clase especificada, y ningún valor individual debe bajar del 75 % de ese valor. Se ensayan tres puntos por cada 100 m² o fracción.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944591E-A6E8-A52E-6722-0A46E26709E6}"/>
              </a:ext>
            </a:extLst>
          </p:cNvPr>
          <p:cNvSpPr txBox="1"/>
          <p:nvPr/>
        </p:nvSpPr>
        <p:spPr>
          <a:xfrm>
            <a:off x="7569200" y="2971800"/>
            <a:ext cx="4013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350">
                <a:solidFill>
                  <a:srgbClr val="1C1813"/>
                </a:solidFill>
                <a:latin typeface="Bahnschrift SemiBold" panose="020B0502040204020203" pitchFamily="34" charset="0"/>
              </a:rPr>
              <a:t>Por qué el modo manda</a:t>
            </a:r>
            <a:endParaRPr lang="es-BO" sz="135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8C594F1-0EF9-FC35-6140-E978FE6E317F}"/>
              </a:ext>
            </a:extLst>
          </p:cNvPr>
          <p:cNvSpPr txBox="1"/>
          <p:nvPr/>
        </p:nvSpPr>
        <p:spPr>
          <a:xfrm>
            <a:off x="7569200" y="3302000"/>
            <a:ext cx="4013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Una rotura cohesiva en el sustrato por debajo del valor exigido no es un defecto de la reparación: es el límite del hormigón que hay.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F8EFAEE-0F9B-D9FF-7084-FE712BD90A9F}"/>
              </a:ext>
            </a:extLst>
          </p:cNvPr>
          <p:cNvSpPr/>
          <p:nvPr/>
        </p:nvSpPr>
        <p:spPr>
          <a:xfrm>
            <a:off x="609600" y="39624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033C69D-E303-5B6E-C258-74C1C1972CBD}"/>
              </a:ext>
            </a:extLst>
          </p:cNvPr>
          <p:cNvSpPr txBox="1"/>
          <p:nvPr/>
        </p:nvSpPr>
        <p:spPr>
          <a:xfrm>
            <a:off x="838200" y="40132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En la nave Sector 4 los tres puntos dieron 2.4, 1.6 y 2.3 MPa sobre un R4 que exige 2,0.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Cumple, pero por poco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y el modo de rotura decide si se acepta. Caso 7.3.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E1ED4FF-68D2-A508-49E0-1DC60AB9FBD5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1542, ensayo de adherencia por tracción directa; EN 1504-10.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A34F3CE-8FD4-633E-CF87-2B48E9DE5C5D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B8EA10F-C598-9F7B-F418-D9E66FF9668F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46010C0-2FCD-F946-15C2-60D570122675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18" name="PageNo">
            <a:extLst>
              <a:ext uri="{FF2B5EF4-FFF2-40B4-BE49-F238E27FC236}">
                <a16:creationId xmlns:a16="http://schemas.microsoft.com/office/drawing/2014/main" id="{8A000E8D-8BBA-59A1-9196-037098B58F1D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26 / 40</a:t>
            </a:r>
          </a:p>
        </p:txBody>
      </p:sp>
      <p:pic>
        <p:nvPicPr>
          <p:cNvPr id="19" name="Ilustración" descr="Los cuatro modos de rotura del ensayo de arrancamiento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12648" y="4800600"/>
            <a:ext cx="10972800" cy="14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5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250D27-7D49-CDD0-64EC-C38761CF622E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PARTE 4 · LO QUE SE ENTREGA AL FINAL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E866D47-AD8C-5459-D803-7B508F32ABCA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Una reparación termina con papeles, no con el andamio desmontado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978B911-B409-1907-3395-D0A4A0F87701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EE9E9BF-4FC3-9DCB-4774-3A584A8231B3}"/>
              </a:ext>
            </a:extLst>
          </p:cNvPr>
          <p:cNvSpPr/>
          <p:nvPr/>
        </p:nvSpPr>
        <p:spPr>
          <a:xfrm>
            <a:off x="609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0EEB8E8-D5E4-13AC-49CF-6E9601E4F60A}"/>
              </a:ext>
            </a:extLst>
          </p:cNvPr>
          <p:cNvSpPr txBox="1"/>
          <p:nvPr/>
        </p:nvSpPr>
        <p:spPr>
          <a:xfrm>
            <a:off x="812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E82995-6FB8-4EBC-BE6C-ED5522C404AE}"/>
              </a:ext>
            </a:extLst>
          </p:cNvPr>
          <p:cNvSpPr txBox="1"/>
          <p:nvPr/>
        </p:nvSpPr>
        <p:spPr>
          <a:xfrm>
            <a:off x="812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>
                <a:solidFill>
                  <a:srgbClr val="1C1813"/>
                </a:solidFill>
                <a:latin typeface="Bahnschrift SemiBold" panose="020B0502040204020203" pitchFamily="34" charset="0"/>
              </a:rPr>
              <a:t>El as-built de la reparación</a:t>
            </a:r>
            <a:endParaRPr lang="es-BO" sz="13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7337B43-E9A5-76B9-0865-5DE6234DC0FE}"/>
              </a:ext>
            </a:extLst>
          </p:cNvPr>
          <p:cNvSpPr txBox="1"/>
          <p:nvPr/>
        </p:nvSpPr>
        <p:spPr>
          <a:xfrm>
            <a:off x="812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Plano con la superficie realmente saneada, los ánodos colocados y numerados, y los puntos de ensayo situados. Con fecha.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09EC70E-50C1-E38A-8672-D6C68335A92C}"/>
              </a:ext>
            </a:extLst>
          </p:cNvPr>
          <p:cNvSpPr/>
          <p:nvPr/>
        </p:nvSpPr>
        <p:spPr>
          <a:xfrm>
            <a:off x="3403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9B387B-46B6-74F8-A533-31B49B8749A7}"/>
              </a:ext>
            </a:extLst>
          </p:cNvPr>
          <p:cNvSpPr txBox="1"/>
          <p:nvPr/>
        </p:nvSpPr>
        <p:spPr>
          <a:xfrm>
            <a:off x="3606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C7F7BB0-5908-4372-43F2-CE97B448A364}"/>
              </a:ext>
            </a:extLst>
          </p:cNvPr>
          <p:cNvSpPr txBox="1"/>
          <p:nvPr/>
        </p:nvSpPr>
        <p:spPr>
          <a:xfrm>
            <a:off x="3606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Las actas firmadas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C6C4329-071B-1EEF-C5BC-EC7DBF500A45}"/>
              </a:ext>
            </a:extLst>
          </p:cNvPr>
          <p:cNvSpPr txBox="1"/>
          <p:nvPr/>
        </p:nvSpPr>
        <p:spPr>
          <a:xfrm>
            <a:off x="3606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Las fotografías y las actas firmadas de los cinco momentos. Es el único documento que prueba cómo se hizo lo que ya no se ve.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475199D-35CC-4264-4E97-166F061CCC85}"/>
              </a:ext>
            </a:extLst>
          </p:cNvPr>
          <p:cNvSpPr/>
          <p:nvPr/>
        </p:nvSpPr>
        <p:spPr>
          <a:xfrm>
            <a:off x="6197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B8A89C0-ECA2-B0EC-F519-15D5CD28ED97}"/>
              </a:ext>
            </a:extLst>
          </p:cNvPr>
          <p:cNvSpPr txBox="1"/>
          <p:nvPr/>
        </p:nvSpPr>
        <p:spPr>
          <a:xfrm>
            <a:off x="6400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ED01C1F-AA64-6F31-F3B5-F03851201442}"/>
              </a:ext>
            </a:extLst>
          </p:cNvPr>
          <p:cNvSpPr txBox="1"/>
          <p:nvPr/>
        </p:nvSpPr>
        <p:spPr>
          <a:xfrm>
            <a:off x="6400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Los ensayos de recepción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2E06F0C-AE03-0FBA-E493-FAAD2BF8EC78}"/>
              </a:ext>
            </a:extLst>
          </p:cNvPr>
          <p:cNvSpPr txBox="1"/>
          <p:nvPr/>
        </p:nvSpPr>
        <p:spPr>
          <a:xfrm>
            <a:off x="6400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Arrancamiento con sus valores, modos de rotura y norma. Y, si hubo ánodos, la comprobación de continuidad eléctrica.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87EAC4F-E8B7-AA64-6E39-19E729B05180}"/>
              </a:ext>
            </a:extLst>
          </p:cNvPr>
          <p:cNvSpPr/>
          <p:nvPr/>
        </p:nvSpPr>
        <p:spPr>
          <a:xfrm>
            <a:off x="8991600" y="1422400"/>
            <a:ext cx="2641600" cy="27940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F57ABE8-9F7E-9451-D338-8198B1F1E0B6}"/>
              </a:ext>
            </a:extLst>
          </p:cNvPr>
          <p:cNvSpPr txBox="1"/>
          <p:nvPr/>
        </p:nvSpPr>
        <p:spPr>
          <a:xfrm>
            <a:off x="9194800" y="1600200"/>
            <a:ext cx="101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000">
                <a:solidFill>
                  <a:srgbClr val="8A6A2F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EEFF1F7-526E-3965-B511-B48227B04FAB}"/>
              </a:ext>
            </a:extLst>
          </p:cNvPr>
          <p:cNvSpPr txBox="1"/>
          <p:nvPr/>
        </p:nvSpPr>
        <p:spPr>
          <a:xfrm>
            <a:off x="9194800" y="1981200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300">
                <a:solidFill>
                  <a:srgbClr val="1C1813"/>
                </a:solidFill>
                <a:latin typeface="Bahnschrift SemiBold" panose="020B0502040204020203" pitchFamily="34" charset="0"/>
              </a:rPr>
              <a:t>El plan de mantenimiento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45F95E3-6986-21E7-FFEC-E66C98C1CF99}"/>
              </a:ext>
            </a:extLst>
          </p:cNvPr>
          <p:cNvSpPr txBox="1"/>
          <p:nvPr/>
        </p:nvSpPr>
        <p:spPr>
          <a:xfrm>
            <a:off x="9194800" y="2247900"/>
            <a:ext cx="22352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5A5248"/>
                </a:solidFill>
                <a:latin typeface="Segoe UI" panose="020B0502040204020203" pitchFamily="34" charset="0"/>
              </a:rPr>
              <a:t>Cuándo se revisa, qué se mira, cuándo se repinta la protección y cuándo caducan los ánodos. Fechas concretas, no plazos vagos.</a:t>
            </a:r>
            <a:endParaRPr lang="es-BO" sz="11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pic>
        <p:nvPicPr>
          <p:cNvPr id="27" name="Imagen 26" descr="Lo que se entrega: planos as-built, actas fotográficas, ensayos de arrancamiento y plan de mantenimiento">
            <a:extLst>
              <a:ext uri="{FF2B5EF4-FFF2-40B4-BE49-F238E27FC236}">
                <a16:creationId xmlns:a16="http://schemas.microsoft.com/office/drawing/2014/main" id="{E2D3672A-F6B3-8CCB-15AA-EBC96C66D8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18000"/>
            <a:ext cx="10972800" cy="1320800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9EA547B0-0C2B-4BD9-102C-94C20F6AB5E2}"/>
              </a:ext>
            </a:extLst>
          </p:cNvPr>
          <p:cNvSpPr/>
          <p:nvPr/>
        </p:nvSpPr>
        <p:spPr>
          <a:xfrm>
            <a:off x="609600" y="5765800"/>
            <a:ext cx="10972800" cy="4064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8B79A9A-A1D6-20A6-51B8-727E88F57947}"/>
              </a:ext>
            </a:extLst>
          </p:cNvPr>
          <p:cNvSpPr txBox="1"/>
          <p:nvPr/>
        </p:nvSpPr>
        <p:spPr>
          <a:xfrm>
            <a:off x="838200" y="5816600"/>
            <a:ext cx="1056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El cuarto es el que convierte una reparación en una gestión. 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Sin plan de mantenimiento, lo reparado vuelve al punto de partida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, y vuelve sin que nadie lo esté mirando. Es el puente con la clase 7.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7E16F7E-2440-135C-8709-65E2E2A745E1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1504-10 §8; ACI 562 §9.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CA584D27-998D-2C71-FDF3-D92ABDCD4978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6FD4371-D6A5-59A4-076E-1E0DDD26C407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CA3B2DF-D039-C952-6C6B-7032A75A1927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35" name="PageNo">
            <a:extLst>
              <a:ext uri="{FF2B5EF4-FFF2-40B4-BE49-F238E27FC236}">
                <a16:creationId xmlns:a16="http://schemas.microsoft.com/office/drawing/2014/main" id="{73D0D905-AD4B-7C36-EC29-7E781F9B3B16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27 / 40</a:t>
            </a:r>
          </a:p>
        </p:txBody>
      </p:sp>
    </p:spTree>
    <p:extLst>
      <p:ext uri="{BB962C8B-B14F-4D97-AF65-F5344CB8AC3E}">
        <p14:creationId xmlns:p14="http://schemas.microsoft.com/office/powerpoint/2010/main" val="4236723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3269EAF-F9A3-D2F3-2DE5-788129F944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6375E14-99C7-FE3D-B77A-8B0E2E357DCC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103103-FC9C-A95E-81DC-F192FF3DA8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614CA6-140F-014A-C4D5-10ABA3D1BF99}"/>
              </a:ext>
            </a:extLst>
          </p:cNvPr>
          <p:cNvSpPr txBox="1"/>
          <p:nvPr/>
        </p:nvSpPr>
        <p:spPr>
          <a:xfrm>
            <a:off x="609600" y="19050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00" spc="300">
                <a:solidFill>
                  <a:srgbClr val="C9A66B"/>
                </a:solidFill>
                <a:latin typeface="Segoe UI Semibold" panose="020B0702040204020203" pitchFamily="34" charset="0"/>
              </a:rPr>
              <a:t>CASO RESUELTO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2DD943B2-9B1A-C23C-E888-CD48268DDDDC}"/>
              </a:ext>
            </a:extLst>
          </p:cNvPr>
          <p:cNvSpPr txBox="1"/>
          <p:nvPr/>
        </p:nvSpPr>
        <p:spPr>
          <a:xfrm>
            <a:off x="584200" y="2235200"/>
            <a:ext cx="7874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3800">
                <a:solidFill>
                  <a:srgbClr val="FFFFFF"/>
                </a:solidFill>
                <a:latin typeface="Bahnschrift SemiBold" panose="020B0502040204020203" pitchFamily="34" charset="0"/>
              </a:rPr>
              <a:t>Extender el saneo o poner ánodos</a:t>
            </a:r>
            <a:endParaRPr lang="es-BO" sz="38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F766AC-21EC-23E6-582F-E36D95A824DF}"/>
              </a:ext>
            </a:extLst>
          </p:cNvPr>
          <p:cNvSpPr/>
          <p:nvPr/>
        </p:nvSpPr>
        <p:spPr>
          <a:xfrm>
            <a:off x="609600" y="3810000"/>
            <a:ext cx="609600" cy="381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8319BCD-7D0B-8157-7FE9-FD7C05D20FFB}"/>
              </a:ext>
            </a:extLst>
          </p:cNvPr>
          <p:cNvSpPr txBox="1"/>
          <p:nvPr/>
        </p:nvSpPr>
        <p:spPr>
          <a:xfrm>
            <a:off x="609600" y="4013200"/>
            <a:ext cx="6604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400">
                <a:solidFill>
                  <a:srgbClr val="E6DFD2"/>
                </a:solidFill>
                <a:latin typeface="Bahnschrift Light" panose="020B0502040204020203" pitchFamily="34" charset="0"/>
              </a:rPr>
              <a:t>Un solo ejercicio, seis pasos, una lámina por paso: del mapa de potenciales al número de ánodos y su vida.</a:t>
            </a:r>
            <a:endParaRPr lang="es-BO" sz="1400">
              <a:solidFill>
                <a:srgbClr val="E6DFD2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D735070-B2A4-FCA5-DFC3-B5FABFF559CE}"/>
              </a:ext>
            </a:extLst>
          </p:cNvPr>
          <p:cNvSpPr/>
          <p:nvPr/>
        </p:nvSpPr>
        <p:spPr>
          <a:xfrm>
            <a:off x="609600" y="50546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1465CC-136C-250E-05AC-498266C7F0E4}"/>
              </a:ext>
            </a:extLst>
          </p:cNvPr>
          <p:cNvSpPr txBox="1"/>
          <p:nvPr/>
        </p:nvSpPr>
        <p:spPr>
          <a:xfrm>
            <a:off x="787400" y="49784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Caso 7.1 · Elegir los principios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3FB5717-1E08-2313-55D1-61F8BB1BA495}"/>
              </a:ext>
            </a:extLst>
          </p:cNvPr>
          <p:cNvSpPr/>
          <p:nvPr/>
        </p:nvSpPr>
        <p:spPr>
          <a:xfrm>
            <a:off x="609600" y="52832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F901C6-AEAE-3F18-602B-F524C15A8E2C}"/>
              </a:ext>
            </a:extLst>
          </p:cNvPr>
          <p:cNvSpPr txBox="1"/>
          <p:nvPr/>
        </p:nvSpPr>
        <p:spPr>
          <a:xfrm>
            <a:off x="787400" y="52070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pt-BR" sz="1050">
                <a:solidFill>
                  <a:srgbClr val="CFC7B8"/>
                </a:solidFill>
                <a:latin typeface="Segoe UI" panose="020B0502040204020203" pitchFamily="34" charset="0"/>
              </a:rPr>
              <a:t>Caso 7.2 · Saneo o ánodos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F041BD1-B2B7-BC06-9CDE-8B614AFA0755}"/>
              </a:ext>
            </a:extLst>
          </p:cNvPr>
          <p:cNvSpPr/>
          <p:nvPr/>
        </p:nvSpPr>
        <p:spPr>
          <a:xfrm>
            <a:off x="609600" y="5511800"/>
            <a:ext cx="76200" cy="1524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3957D23-9AAB-F92E-DF45-02B8A33511EB}"/>
              </a:ext>
            </a:extLst>
          </p:cNvPr>
          <p:cNvSpPr txBox="1"/>
          <p:nvPr/>
        </p:nvSpPr>
        <p:spPr>
          <a:xfrm>
            <a:off x="787400" y="54356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Caso 7.3 · Mortero y recepción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A1B7B29-8731-F145-E4FB-6BF25FE31FF8}"/>
              </a:ext>
            </a:extLst>
          </p:cNvPr>
          <p:cNvSpPr txBox="1"/>
          <p:nvPr/>
        </p:nvSpPr>
        <p:spPr>
          <a:xfrm>
            <a:off x="609600" y="64770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</p:spTree>
    <p:extLst>
      <p:ext uri="{BB962C8B-B14F-4D97-AF65-F5344CB8AC3E}">
        <p14:creationId xmlns:p14="http://schemas.microsoft.com/office/powerpoint/2010/main" val="426307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53B862-6BF2-F29F-4786-3B56CFAB57C2}"/>
              </a:ext>
            </a:extLst>
          </p:cNvPr>
          <p:cNvSpPr txBox="1"/>
          <p:nvPr/>
        </p:nvSpPr>
        <p:spPr>
          <a:xfrm>
            <a:off x="609600" y="4064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EJEMPLO DEL CURSO  ·  LOS DATOS DE LA CLASE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717562B-FE4F-98BD-6898-B6F5B72E9992}"/>
              </a:ext>
            </a:extLst>
          </p:cNvPr>
          <p:cNvSpPr txBox="1"/>
          <p:nvPr/>
        </p:nvSpPr>
        <p:spPr>
          <a:xfrm>
            <a:off x="609600" y="609600"/>
            <a:ext cx="660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700">
                <a:solidFill>
                  <a:srgbClr val="1C1813"/>
                </a:solidFill>
                <a:latin typeface="Bahnschrift SemiBold" panose="020B0502040204020203" pitchFamily="34" charset="0"/>
              </a:rPr>
              <a:t>Nave industrial Sector 4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41D3444-6276-DFFF-F46A-EDBFA6FA8989}"/>
              </a:ext>
            </a:extLst>
          </p:cNvPr>
          <p:cNvCxnSpPr/>
          <p:nvPr/>
        </p:nvCxnSpPr>
        <p:spPr>
          <a:xfrm>
            <a:off x="609600" y="1206500"/>
            <a:ext cx="66040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FA1DBDB-0828-999C-240C-07AAC6359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757820"/>
              </p:ext>
            </p:extLst>
          </p:nvPr>
        </p:nvGraphicFramePr>
        <p:xfrm>
          <a:off x="609600" y="1320800"/>
          <a:ext cx="660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632391144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380694475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Dato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Valor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03518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Viga V-3  ·  mecanismo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Cloruros  ·  icorr 0,8 µA/cm²  ·  despasivada en 2018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14901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Columna C-4  ·  mecanismo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Carbonatación  ·  icorr 0,5 µA/cm²  ·  despasivada en 2016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951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Parche visible en V-3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2,00 m de longitud  ·  desarrollo en U de 1,30 m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69811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Contorno de −350 mV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3,00 m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8667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Contorno de −200 mV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4,20 m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53877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f′c in situ  ·  módulo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18,5 MPa  ·  E = 20,2 GPa</a:t>
                      </a:r>
                      <a:endParaRPr lang="es-BO" sz="100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46254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Arrancamiento de recepción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100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2,4  ·  1,6  ·  2,3 MPa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428214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3CBE6577-4B93-8B2E-88BF-57DE585DFD6F}"/>
              </a:ext>
            </a:extLst>
          </p:cNvPr>
          <p:cNvSpPr/>
          <p:nvPr/>
        </p:nvSpPr>
        <p:spPr>
          <a:xfrm>
            <a:off x="609600" y="5334000"/>
            <a:ext cx="6604000" cy="812800"/>
          </a:xfrm>
          <a:prstGeom prst="rect">
            <a:avLst/>
          </a:prstGeom>
          <a:solidFill>
            <a:srgbClr val="F0E7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095397C-1C0E-60DF-3259-92777F11DEB0}"/>
              </a:ext>
            </a:extLst>
          </p:cNvPr>
          <p:cNvSpPr txBox="1"/>
          <p:nvPr/>
        </p:nvSpPr>
        <p:spPr>
          <a:xfrm>
            <a:off x="838200" y="5384800"/>
            <a:ext cx="6197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150">
                <a:solidFill>
                  <a:srgbClr val="1C1813"/>
                </a:solidFill>
                <a:latin typeface="Segoe UI" panose="020B0502040204020203" pitchFamily="34" charset="0"/>
              </a:rPr>
              <a:t>Todo lo que entra hoy viene de las clases 3 y 5: la icorr, el mapa de potenciales y la resistencia corregida.</a:t>
            </a:r>
            <a:endParaRPr lang="es-BO" sz="1150">
              <a:solidFill>
                <a:srgbClr val="1C1813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43A358E-EDE1-AB31-47FC-A0EE943CE3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25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781FCD0-B924-00E6-FB17-7B9CBEBE2DF2}"/>
              </a:ext>
            </a:extLst>
          </p:cNvPr>
          <p:cNvSpPr/>
          <p:nvPr/>
        </p:nvSpPr>
        <p:spPr>
          <a:xfrm>
            <a:off x="7620000" y="2540000"/>
            <a:ext cx="4572000" cy="43180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C13D3A-AED5-EEE2-9D5D-C8F1670777BB}"/>
              </a:ext>
            </a:extLst>
          </p:cNvPr>
          <p:cNvSpPr txBox="1"/>
          <p:nvPr/>
        </p:nvSpPr>
        <p:spPr>
          <a:xfrm>
            <a:off x="7874000" y="2717800"/>
            <a:ext cx="406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8A6A2F"/>
                </a:solidFill>
                <a:latin typeface="Segoe UI Semibold" panose="020B0702040204020203" pitchFamily="34" charset="0"/>
              </a:rPr>
              <a:t>LÍNEA DE TIEMPO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A4C4AB1-D644-9477-B2FA-6497B0079993}"/>
              </a:ext>
            </a:extLst>
          </p:cNvPr>
          <p:cNvCxnSpPr/>
          <p:nvPr/>
        </p:nvCxnSpPr>
        <p:spPr>
          <a:xfrm>
            <a:off x="7975600" y="3124200"/>
            <a:ext cx="0" cy="1828800"/>
          </a:xfrm>
          <a:prstGeom prst="line">
            <a:avLst/>
          </a:prstGeom>
          <a:ln w="19050">
            <a:solidFill>
              <a:srgbClr val="3A4D6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62C4B4F1-9B5C-27B0-D7C6-FAA304020970}"/>
              </a:ext>
            </a:extLst>
          </p:cNvPr>
          <p:cNvSpPr/>
          <p:nvPr/>
        </p:nvSpPr>
        <p:spPr>
          <a:xfrm>
            <a:off x="7899400" y="30480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B4302A0-4FE5-61B6-3B8E-F2CA953D850A}"/>
              </a:ext>
            </a:extLst>
          </p:cNvPr>
          <p:cNvSpPr txBox="1"/>
          <p:nvPr/>
        </p:nvSpPr>
        <p:spPr>
          <a:xfrm>
            <a:off x="8204200" y="30226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1998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D339CC-0E25-514C-034F-892FDFF6CDC8}"/>
              </a:ext>
            </a:extLst>
          </p:cNvPr>
          <p:cNvSpPr txBox="1"/>
          <p:nvPr/>
        </p:nvSpPr>
        <p:spPr>
          <a:xfrm>
            <a:off x="9118600" y="30226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Proyecto y construcción bajo CBH-87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0DF8BB77-E554-FC97-DF81-80DE0A5AD444}"/>
              </a:ext>
            </a:extLst>
          </p:cNvPr>
          <p:cNvSpPr/>
          <p:nvPr/>
        </p:nvSpPr>
        <p:spPr>
          <a:xfrm>
            <a:off x="7899400" y="35052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2CA3823-D607-E296-C80A-F6B6B3C6D34A}"/>
              </a:ext>
            </a:extLst>
          </p:cNvPr>
          <p:cNvSpPr txBox="1"/>
          <p:nvPr/>
        </p:nvSpPr>
        <p:spPr>
          <a:xfrm>
            <a:off x="8204200" y="34798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2012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AC728CD-987A-D651-3CEB-47FEACC4F199}"/>
              </a:ext>
            </a:extLst>
          </p:cNvPr>
          <p:cNvSpPr txBox="1"/>
          <p:nvPr/>
        </p:nvSpPr>
        <p:spPr>
          <a:xfrm>
            <a:off x="9118600" y="34798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Se habilita la zona de lavado: humedad permanente y cloruros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0CE3194-654C-3A55-EAD3-657B381002CF}"/>
              </a:ext>
            </a:extLst>
          </p:cNvPr>
          <p:cNvSpPr/>
          <p:nvPr/>
        </p:nvSpPr>
        <p:spPr>
          <a:xfrm>
            <a:off x="7899400" y="39624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B9CF9F9-CAAD-3D05-C812-157F4776ED4E}"/>
              </a:ext>
            </a:extLst>
          </p:cNvPr>
          <p:cNvSpPr txBox="1"/>
          <p:nvPr/>
        </p:nvSpPr>
        <p:spPr>
          <a:xfrm>
            <a:off x="8204200" y="3937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2024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4657B33-D520-EBB6-3458-E2928F1D646E}"/>
              </a:ext>
            </a:extLst>
          </p:cNvPr>
          <p:cNvSpPr txBox="1"/>
          <p:nvPr/>
        </p:nvSpPr>
        <p:spPr>
          <a:xfrm>
            <a:off x="9118600" y="39370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Aparecen fisuras con óxido en la viga V-3 y en la base de C-4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AA790AB-0651-FC35-B469-449C0BCD5386}"/>
              </a:ext>
            </a:extLst>
          </p:cNvPr>
          <p:cNvSpPr/>
          <p:nvPr/>
        </p:nvSpPr>
        <p:spPr>
          <a:xfrm>
            <a:off x="7899400" y="4419600"/>
            <a:ext cx="152400" cy="152400"/>
          </a:xfrm>
          <a:prstGeom prst="ellipse">
            <a:avLst/>
          </a:prstGeom>
          <a:solidFill>
            <a:srgbClr val="3A4D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B0BB785-0677-6803-634B-A2E5B6A710B1}"/>
              </a:ext>
            </a:extLst>
          </p:cNvPr>
          <p:cNvSpPr txBox="1"/>
          <p:nvPr/>
        </p:nvSpPr>
        <p:spPr>
          <a:xfrm>
            <a:off x="8204200" y="43942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2026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E6E8CEC-C63C-CEE7-00D2-50C1AAB558F6}"/>
              </a:ext>
            </a:extLst>
          </p:cNvPr>
          <p:cNvSpPr txBox="1"/>
          <p:nvPr/>
        </p:nvSpPr>
        <p:spPr>
          <a:xfrm>
            <a:off x="9118600" y="43942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CFC7B8"/>
                </a:solidFill>
                <a:latin typeface="Segoe UI" panose="020B0502040204020203" pitchFamily="34" charset="0"/>
              </a:rPr>
              <a:t>Campaña de diagnóstico y propuesta de cambio de uso</a:t>
            </a:r>
            <a:endParaRPr lang="es-BO" sz="110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473EBB0-4970-90F2-9E94-2DFEE8F453E8}"/>
              </a:ext>
            </a:extLst>
          </p:cNvPr>
          <p:cNvSpPr/>
          <p:nvPr/>
        </p:nvSpPr>
        <p:spPr>
          <a:xfrm>
            <a:off x="7899400" y="4876800"/>
            <a:ext cx="152400" cy="152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32144F7-398C-0992-ED68-5B9A993CA1B7}"/>
              </a:ext>
            </a:extLst>
          </p:cNvPr>
          <p:cNvSpPr txBox="1"/>
          <p:nvPr/>
        </p:nvSpPr>
        <p:spPr>
          <a:xfrm>
            <a:off x="8204200" y="48514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1150">
                <a:solidFill>
                  <a:srgbClr val="8A6A2F"/>
                </a:solidFill>
                <a:latin typeface="Segoe UI Semibold" panose="020B0702040204020203" pitchFamily="34" charset="0"/>
              </a:rPr>
              <a:t>2026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C8EB4F7-EA9F-7344-87B7-8B498694BC46}"/>
              </a:ext>
            </a:extLst>
          </p:cNvPr>
          <p:cNvSpPr txBox="1"/>
          <p:nvPr/>
        </p:nvSpPr>
        <p:spPr>
          <a:xfrm>
            <a:off x="9118600" y="4851400"/>
            <a:ext cx="292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00">
                <a:solidFill>
                  <a:srgbClr val="FFFFFF"/>
                </a:solidFill>
                <a:latin typeface="Segoe UI" panose="020B0502040204020203" pitchFamily="34" charset="0"/>
              </a:rPr>
              <a:t>Proyecto de reparación, refuerzo y recalce</a:t>
            </a:r>
            <a:endParaRPr lang="es-BO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390EB953-2F77-7DBB-2ABB-605716FD5975}"/>
              </a:ext>
            </a:extLst>
          </p:cNvPr>
          <p:cNvCxnSpPr/>
          <p:nvPr/>
        </p:nvCxnSpPr>
        <p:spPr>
          <a:xfrm>
            <a:off x="609600" y="6527800"/>
            <a:ext cx="66040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984FD83-9E6A-6E20-6F3B-6E5581174BFB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2" name="PageNo">
            <a:extLst>
              <a:ext uri="{FF2B5EF4-FFF2-40B4-BE49-F238E27FC236}">
                <a16:creationId xmlns:a16="http://schemas.microsoft.com/office/drawing/2014/main" id="{6F74DDA1-8144-4923-22F3-F32E90654A9E}"/>
              </a:ext>
            </a:extLst>
          </p:cNvPr>
          <p:cNvSpPr txBox="1"/>
          <p:nvPr/>
        </p:nvSpPr>
        <p:spPr>
          <a:xfrm>
            <a:off x="60706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29 / 40</a:t>
            </a:r>
          </a:p>
        </p:txBody>
      </p:sp>
    </p:spTree>
    <p:extLst>
      <p:ext uri="{BB962C8B-B14F-4D97-AF65-F5344CB8AC3E}">
        <p14:creationId xmlns:p14="http://schemas.microsoft.com/office/powerpoint/2010/main" val="3167278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62D1A4-2DAD-7CCE-6B21-B2A05412BEB7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EXPLICADO PASO A PASO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79AAC7C-4735-86AB-A333-A837218CD6D8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Alcance del saneo, ánodos de sacrificio y especificación del mortero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FCEE3AC-2574-29B5-4E92-7BE82B51BFD5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D780A2F-B893-CEA8-7028-E61A877DA25B}"/>
              </a:ext>
            </a:extLst>
          </p:cNvPr>
          <p:cNvSpPr txBox="1"/>
          <p:nvPr/>
        </p:nvSpPr>
        <p:spPr>
          <a:xfrm>
            <a:off x="609600" y="1371600"/>
            <a:ext cx="6604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5A5248"/>
                </a:solidFill>
                <a:latin typeface="Segoe UI" panose="020B0502040204020203" pitchFamily="34" charset="0"/>
              </a:rPr>
              <a:t>La viga V-3 presenta un parche desprendido de 2,00 × 1,30 m. El contratista propone sanear exactamente la superficie visible, reponer con mortero R4 de 60 MPa y aplicar pintura. El mapa de potenciales indica una extensión mayor. Hay que determinar el alcance del saneo, si procede protección galvánica y qué se especifica en el pliego.</a:t>
            </a:r>
            <a:endParaRPr lang="es-BO" sz="11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B53F4E1-CFCA-9B18-EDAA-4DC0E600FDE3}"/>
              </a:ext>
            </a:extLst>
          </p:cNvPr>
          <p:cNvSpPr/>
          <p:nvPr/>
        </p:nvSpPr>
        <p:spPr>
          <a:xfrm>
            <a:off x="609600" y="2235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DDBFBF7-E311-0245-5C03-2562EDE3E438}"/>
              </a:ext>
            </a:extLst>
          </p:cNvPr>
          <p:cNvSpPr txBox="1"/>
          <p:nvPr/>
        </p:nvSpPr>
        <p:spPr>
          <a:xfrm>
            <a:off x="990600" y="2273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1C1813"/>
                </a:solidFill>
                <a:latin typeface="Segoe UI Semibold" panose="020B0702040204020203" pitchFamily="34" charset="0"/>
              </a:rPr>
              <a:t>Superficie del parche visible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AF305A5-91ED-AA2F-D193-43BEC567DAA8}"/>
              </a:ext>
            </a:extLst>
          </p:cNvPr>
          <p:cNvSpPr/>
          <p:nvPr/>
        </p:nvSpPr>
        <p:spPr>
          <a:xfrm>
            <a:off x="609600" y="2616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BE91F4-A3D7-A046-DA79-8848DD976FFA}"/>
              </a:ext>
            </a:extLst>
          </p:cNvPr>
          <p:cNvSpPr txBox="1"/>
          <p:nvPr/>
        </p:nvSpPr>
        <p:spPr>
          <a:xfrm>
            <a:off x="990600" y="2654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Superficie que delimita el mapa de potenciales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37CDA18-05E6-39C3-516B-50CC4F853BA5}"/>
              </a:ext>
            </a:extLst>
          </p:cNvPr>
          <p:cNvSpPr/>
          <p:nvPr/>
        </p:nvSpPr>
        <p:spPr>
          <a:xfrm>
            <a:off x="609600" y="2997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AA0E05B-6489-832D-0F5F-E6800253D52C}"/>
              </a:ext>
            </a:extLst>
          </p:cNvPr>
          <p:cNvSpPr txBox="1"/>
          <p:nvPr/>
        </p:nvSpPr>
        <p:spPr>
          <a:xfrm>
            <a:off x="990600" y="3035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Perímetro de concentración del ánodo incipiente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82AA90B-6FD3-1B7D-9BB9-27214E2191B0}"/>
              </a:ext>
            </a:extLst>
          </p:cNvPr>
          <p:cNvSpPr/>
          <p:nvPr/>
        </p:nvSpPr>
        <p:spPr>
          <a:xfrm>
            <a:off x="609600" y="3378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A7EE088-BF35-8534-CC83-0557521B8249}"/>
              </a:ext>
            </a:extLst>
          </p:cNvPr>
          <p:cNvSpPr txBox="1"/>
          <p:nvPr/>
        </p:nvSpPr>
        <p:spPr>
          <a:xfrm>
            <a:off x="990600" y="3416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1C1813"/>
                </a:solidFill>
                <a:latin typeface="Segoe UI Semibold" panose="020B0702040204020203" pitchFamily="34" charset="0"/>
              </a:rPr>
              <a:t>Número de ánodos de sacrificio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0F9560F-5FF2-8E38-369E-FD63B7424614}"/>
              </a:ext>
            </a:extLst>
          </p:cNvPr>
          <p:cNvSpPr/>
          <p:nvPr/>
        </p:nvSpPr>
        <p:spPr>
          <a:xfrm>
            <a:off x="609600" y="3759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5E2D118-BC8E-11CE-E4A1-B543AC988A4C}"/>
              </a:ext>
            </a:extLst>
          </p:cNvPr>
          <p:cNvSpPr txBox="1"/>
          <p:nvPr/>
        </p:nvSpPr>
        <p:spPr>
          <a:xfrm>
            <a:off x="990600" y="3797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Vida útil del ánodo por ley de Faraday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134C034-5A2C-7AC3-0E64-AE1F19C9B3D3}"/>
              </a:ext>
            </a:extLst>
          </p:cNvPr>
          <p:cNvSpPr/>
          <p:nvPr/>
        </p:nvSpPr>
        <p:spPr>
          <a:xfrm>
            <a:off x="609600" y="4140200"/>
            <a:ext cx="279400" cy="279400"/>
          </a:xfrm>
          <a:prstGeom prst="ellipse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BO" sz="900">
                <a:solidFill>
                  <a:srgbClr val="FFFFFF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C72FBFB-1FBE-A6A3-D95E-DE87C469B971}"/>
              </a:ext>
            </a:extLst>
          </p:cNvPr>
          <p:cNvSpPr txBox="1"/>
          <p:nvPr/>
        </p:nvSpPr>
        <p:spPr>
          <a:xfrm>
            <a:off x="990600" y="4178300"/>
            <a:ext cx="622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1C1813"/>
                </a:solidFill>
                <a:latin typeface="Segoe UI Semibold" panose="020B0702040204020203" pitchFamily="34" charset="0"/>
              </a:rPr>
              <a:t>Módulo del sustrato y acotación del mortero</a:t>
            </a:r>
            <a:endParaRPr lang="es-BO" sz="115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A8F2FD9-0D15-DF2E-7E59-98B8FC69732D}"/>
              </a:ext>
            </a:extLst>
          </p:cNvPr>
          <p:cNvSpPr/>
          <p:nvPr/>
        </p:nvSpPr>
        <p:spPr>
          <a:xfrm>
            <a:off x="7467600" y="1371600"/>
            <a:ext cx="4114800" cy="398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0C62276-933C-49A8-C502-11581A3F1A09}"/>
              </a:ext>
            </a:extLst>
          </p:cNvPr>
          <p:cNvSpPr txBox="1"/>
          <p:nvPr/>
        </p:nvSpPr>
        <p:spPr>
          <a:xfrm>
            <a:off x="7670800" y="1485900"/>
            <a:ext cx="3733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50" spc="160">
                <a:solidFill>
                  <a:srgbClr val="6A4F20"/>
                </a:solidFill>
                <a:latin typeface="Segoe UI Semibold" panose="020B0702040204020203" pitchFamily="34" charset="0"/>
              </a:rPr>
              <a:t>EL PARCHE DE LA VIGA V-3</a:t>
            </a:r>
            <a:endParaRPr lang="es-BO" sz="750" spc="16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01DDAF2-BF46-A04C-2EC9-84EB81A4F91F}"/>
              </a:ext>
            </a:extLst>
          </p:cNvPr>
          <p:cNvCxnSpPr/>
          <p:nvPr/>
        </p:nvCxnSpPr>
        <p:spPr>
          <a:xfrm>
            <a:off x="7797800" y="1955800"/>
            <a:ext cx="0" cy="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99F505C-7EF8-DC75-0822-1BE40D930B36}"/>
              </a:ext>
            </a:extLst>
          </p:cNvPr>
          <p:cNvCxnSpPr/>
          <p:nvPr/>
        </p:nvCxnSpPr>
        <p:spPr>
          <a:xfrm flipH="1">
            <a:off x="7797800" y="1955800"/>
            <a:ext cx="139700" cy="1397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68A6085-CFB9-2E66-9878-B01FB902EEF2}"/>
              </a:ext>
            </a:extLst>
          </p:cNvPr>
          <p:cNvCxnSpPr/>
          <p:nvPr/>
        </p:nvCxnSpPr>
        <p:spPr>
          <a:xfrm flipH="1">
            <a:off x="7797800" y="1955800"/>
            <a:ext cx="279400" cy="279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E289F35-DB78-FBE9-201F-ED5A51C39339}"/>
              </a:ext>
            </a:extLst>
          </p:cNvPr>
          <p:cNvCxnSpPr/>
          <p:nvPr/>
        </p:nvCxnSpPr>
        <p:spPr>
          <a:xfrm flipH="1">
            <a:off x="7797800" y="1955800"/>
            <a:ext cx="419100" cy="4191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B3E7A4D-15FA-B1E5-9BAB-8CC4F21B5A03}"/>
              </a:ext>
            </a:extLst>
          </p:cNvPr>
          <p:cNvCxnSpPr/>
          <p:nvPr/>
        </p:nvCxnSpPr>
        <p:spPr>
          <a:xfrm flipH="1">
            <a:off x="7797800" y="1955800"/>
            <a:ext cx="558800" cy="5588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B2A5CA3-1618-86AC-97A8-41E360C8B1AD}"/>
              </a:ext>
            </a:extLst>
          </p:cNvPr>
          <p:cNvCxnSpPr/>
          <p:nvPr/>
        </p:nvCxnSpPr>
        <p:spPr>
          <a:xfrm flipH="1">
            <a:off x="7797800" y="1955800"/>
            <a:ext cx="698500" cy="6985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F84ABD2-E257-425E-87E6-7F37BDEE363D}"/>
              </a:ext>
            </a:extLst>
          </p:cNvPr>
          <p:cNvCxnSpPr/>
          <p:nvPr/>
        </p:nvCxnSpPr>
        <p:spPr>
          <a:xfrm flipH="1">
            <a:off x="7797800" y="1955800"/>
            <a:ext cx="838200" cy="8382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9285D84E-2257-C3B5-B6C7-5B09853A3156}"/>
              </a:ext>
            </a:extLst>
          </p:cNvPr>
          <p:cNvCxnSpPr/>
          <p:nvPr/>
        </p:nvCxnSpPr>
        <p:spPr>
          <a:xfrm flipH="1">
            <a:off x="7797800" y="1955800"/>
            <a:ext cx="977900" cy="9779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E2C13FA-FA54-DE6C-12AE-916D109F53FE}"/>
              </a:ext>
            </a:extLst>
          </p:cNvPr>
          <p:cNvCxnSpPr/>
          <p:nvPr/>
        </p:nvCxnSpPr>
        <p:spPr>
          <a:xfrm flipH="1">
            <a:off x="7797800" y="1955800"/>
            <a:ext cx="1117600" cy="1117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D3547F1-53E1-5ADF-FC11-8C97F5A7666C}"/>
              </a:ext>
            </a:extLst>
          </p:cNvPr>
          <p:cNvCxnSpPr/>
          <p:nvPr/>
        </p:nvCxnSpPr>
        <p:spPr>
          <a:xfrm flipH="1">
            <a:off x="78867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64F1040-10B8-DE7B-F5AE-78D5562F9820}"/>
              </a:ext>
            </a:extLst>
          </p:cNvPr>
          <p:cNvCxnSpPr/>
          <p:nvPr/>
        </p:nvCxnSpPr>
        <p:spPr>
          <a:xfrm flipH="1">
            <a:off x="80264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3D20EC76-4361-D288-42A8-4C1C089151E8}"/>
              </a:ext>
            </a:extLst>
          </p:cNvPr>
          <p:cNvCxnSpPr/>
          <p:nvPr/>
        </p:nvCxnSpPr>
        <p:spPr>
          <a:xfrm flipH="1">
            <a:off x="81661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4E66880-F379-A283-47F1-B835C9F12CFF}"/>
              </a:ext>
            </a:extLst>
          </p:cNvPr>
          <p:cNvCxnSpPr/>
          <p:nvPr/>
        </p:nvCxnSpPr>
        <p:spPr>
          <a:xfrm flipH="1">
            <a:off x="83058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F545AF3F-59A7-6966-88C5-3E05CBBEAD09}"/>
              </a:ext>
            </a:extLst>
          </p:cNvPr>
          <p:cNvCxnSpPr/>
          <p:nvPr/>
        </p:nvCxnSpPr>
        <p:spPr>
          <a:xfrm flipH="1">
            <a:off x="84455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4648FBA-5855-0209-59B5-31C98E5CC3F3}"/>
              </a:ext>
            </a:extLst>
          </p:cNvPr>
          <p:cNvCxnSpPr/>
          <p:nvPr/>
        </p:nvCxnSpPr>
        <p:spPr>
          <a:xfrm flipH="1">
            <a:off x="85852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E3D4E13-6F66-582B-A4E5-03A2AE7329A8}"/>
              </a:ext>
            </a:extLst>
          </p:cNvPr>
          <p:cNvCxnSpPr/>
          <p:nvPr/>
        </p:nvCxnSpPr>
        <p:spPr>
          <a:xfrm flipH="1">
            <a:off x="87249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AD03744-E170-6399-4E72-A888759A22A6}"/>
              </a:ext>
            </a:extLst>
          </p:cNvPr>
          <p:cNvCxnSpPr/>
          <p:nvPr/>
        </p:nvCxnSpPr>
        <p:spPr>
          <a:xfrm flipH="1">
            <a:off x="88646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CDD845A-AF31-1B71-3A27-81C2F6B49DC3}"/>
              </a:ext>
            </a:extLst>
          </p:cNvPr>
          <p:cNvCxnSpPr/>
          <p:nvPr/>
        </p:nvCxnSpPr>
        <p:spPr>
          <a:xfrm flipH="1">
            <a:off x="90043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FB89ACE-8145-C69B-1FAC-8B3CD0B22E2B}"/>
              </a:ext>
            </a:extLst>
          </p:cNvPr>
          <p:cNvCxnSpPr/>
          <p:nvPr/>
        </p:nvCxnSpPr>
        <p:spPr>
          <a:xfrm flipH="1">
            <a:off x="91440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D8565379-EC07-5A0A-C670-CEB6D2A7528F}"/>
              </a:ext>
            </a:extLst>
          </p:cNvPr>
          <p:cNvCxnSpPr/>
          <p:nvPr/>
        </p:nvCxnSpPr>
        <p:spPr>
          <a:xfrm flipH="1">
            <a:off x="92837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50129613-86B6-48A2-F5FB-BE509B1B3C4C}"/>
              </a:ext>
            </a:extLst>
          </p:cNvPr>
          <p:cNvCxnSpPr/>
          <p:nvPr/>
        </p:nvCxnSpPr>
        <p:spPr>
          <a:xfrm flipH="1">
            <a:off x="94234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BD18CC0-0ED1-A70E-404F-DAF123FC41F2}"/>
              </a:ext>
            </a:extLst>
          </p:cNvPr>
          <p:cNvCxnSpPr/>
          <p:nvPr/>
        </p:nvCxnSpPr>
        <p:spPr>
          <a:xfrm flipH="1">
            <a:off x="95631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255E18F-BE17-46E6-F82C-2A083C26C283}"/>
              </a:ext>
            </a:extLst>
          </p:cNvPr>
          <p:cNvCxnSpPr/>
          <p:nvPr/>
        </p:nvCxnSpPr>
        <p:spPr>
          <a:xfrm flipH="1">
            <a:off x="97028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66FC3D82-F797-140B-AE2F-FCEA129118E4}"/>
              </a:ext>
            </a:extLst>
          </p:cNvPr>
          <p:cNvCxnSpPr/>
          <p:nvPr/>
        </p:nvCxnSpPr>
        <p:spPr>
          <a:xfrm flipH="1">
            <a:off x="98425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9698964F-E1C3-95B8-B606-5CAA6B812EEC}"/>
              </a:ext>
            </a:extLst>
          </p:cNvPr>
          <p:cNvCxnSpPr/>
          <p:nvPr/>
        </p:nvCxnSpPr>
        <p:spPr>
          <a:xfrm flipH="1">
            <a:off x="9982200" y="1955800"/>
            <a:ext cx="1168400" cy="1168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93C68B22-344B-8EE3-CCE8-8C61D0850987}"/>
              </a:ext>
            </a:extLst>
          </p:cNvPr>
          <p:cNvCxnSpPr/>
          <p:nvPr/>
        </p:nvCxnSpPr>
        <p:spPr>
          <a:xfrm flipH="1">
            <a:off x="10121900" y="1993900"/>
            <a:ext cx="1130300" cy="11303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69C7AB96-400A-C6F5-450A-8AFA7A6EFD51}"/>
              </a:ext>
            </a:extLst>
          </p:cNvPr>
          <p:cNvCxnSpPr/>
          <p:nvPr/>
        </p:nvCxnSpPr>
        <p:spPr>
          <a:xfrm flipH="1">
            <a:off x="10261600" y="2133600"/>
            <a:ext cx="990600" cy="9906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E00AFBA-A87C-184C-FC7C-B359350FCF91}"/>
              </a:ext>
            </a:extLst>
          </p:cNvPr>
          <p:cNvCxnSpPr/>
          <p:nvPr/>
        </p:nvCxnSpPr>
        <p:spPr>
          <a:xfrm flipH="1">
            <a:off x="10401300" y="2273300"/>
            <a:ext cx="850900" cy="8509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C669DD8D-174F-AC93-D41E-7765430D2252}"/>
              </a:ext>
            </a:extLst>
          </p:cNvPr>
          <p:cNvCxnSpPr/>
          <p:nvPr/>
        </p:nvCxnSpPr>
        <p:spPr>
          <a:xfrm flipH="1">
            <a:off x="10541000" y="2413000"/>
            <a:ext cx="711200" cy="7112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31D3141-432A-5C05-861D-536585C1478B}"/>
              </a:ext>
            </a:extLst>
          </p:cNvPr>
          <p:cNvCxnSpPr/>
          <p:nvPr/>
        </p:nvCxnSpPr>
        <p:spPr>
          <a:xfrm flipH="1">
            <a:off x="10680700" y="2552700"/>
            <a:ext cx="571500" cy="5715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1DBA23CE-D201-2336-DE59-876B94A5C018}"/>
              </a:ext>
            </a:extLst>
          </p:cNvPr>
          <p:cNvCxnSpPr/>
          <p:nvPr/>
        </p:nvCxnSpPr>
        <p:spPr>
          <a:xfrm flipH="1">
            <a:off x="10820400" y="2692400"/>
            <a:ext cx="431800" cy="4318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F738934-EB04-785A-9947-7B03ECBC041D}"/>
              </a:ext>
            </a:extLst>
          </p:cNvPr>
          <p:cNvCxnSpPr/>
          <p:nvPr/>
        </p:nvCxnSpPr>
        <p:spPr>
          <a:xfrm flipH="1">
            <a:off x="10960100" y="2832100"/>
            <a:ext cx="292100" cy="2921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256CDB94-B415-57CB-BD93-04F2592E56CC}"/>
              </a:ext>
            </a:extLst>
          </p:cNvPr>
          <p:cNvCxnSpPr/>
          <p:nvPr/>
        </p:nvCxnSpPr>
        <p:spPr>
          <a:xfrm flipH="1">
            <a:off x="11099800" y="2971800"/>
            <a:ext cx="152400" cy="152400"/>
          </a:xfrm>
          <a:prstGeom prst="line">
            <a:avLst/>
          </a:prstGeom>
          <a:ln w="3810">
            <a:solidFill>
              <a:srgbClr val="A69E8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Ilustración" descr="Viga V-3 vista desde abajo: parche visible de 2,00 m y contorno de −200 mV de 4,20 m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671816" y="1783080"/>
            <a:ext cx="3730752" cy="1481328"/>
          </a:xfrm>
          <a:prstGeom prst="rect">
            <a:avLst/>
          </a:prstGeom>
        </p:spPr>
      </p:pic>
      <p:sp>
        <p:nvSpPr>
          <p:cNvPr id="60" name="Rectángulo 59">
            <a:extLst>
              <a:ext uri="{FF2B5EF4-FFF2-40B4-BE49-F238E27FC236}">
                <a16:creationId xmlns:a16="http://schemas.microsoft.com/office/drawing/2014/main" id="{6C994E29-FCB0-E225-253B-FD76D9B6CE9E}"/>
              </a:ext>
            </a:extLst>
          </p:cNvPr>
          <p:cNvSpPr/>
          <p:nvPr/>
        </p:nvSpPr>
        <p:spPr>
          <a:xfrm>
            <a:off x="7797800" y="3403600"/>
            <a:ext cx="38100" cy="203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9C07C32-194B-483B-C322-8E2BCA506D88}"/>
              </a:ext>
            </a:extLst>
          </p:cNvPr>
          <p:cNvSpPr txBox="1"/>
          <p:nvPr/>
        </p:nvSpPr>
        <p:spPr>
          <a:xfrm>
            <a:off x="7899400" y="3403600"/>
            <a:ext cx="1320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Parche visible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06BB609-3858-A950-2BE4-B0EB28ECEA51}"/>
              </a:ext>
            </a:extLst>
          </p:cNvPr>
          <p:cNvSpPr txBox="1"/>
          <p:nvPr/>
        </p:nvSpPr>
        <p:spPr>
          <a:xfrm>
            <a:off x="9245600" y="34036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50">
                <a:solidFill>
                  <a:srgbClr val="5A5248"/>
                </a:solidFill>
                <a:latin typeface="Segoe UI" panose="020B0502040204020203" pitchFamily="34" charset="0"/>
              </a:rPr>
              <a:t>2,00 × 1,30 m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9B66426E-FE80-85F6-66A0-5D64AFA60581}"/>
              </a:ext>
            </a:extLst>
          </p:cNvPr>
          <p:cNvSpPr/>
          <p:nvPr/>
        </p:nvSpPr>
        <p:spPr>
          <a:xfrm>
            <a:off x="7797800" y="3644900"/>
            <a:ext cx="38100" cy="203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FAD0E5C-4E81-DAFD-009C-4CC20DA9C87A}"/>
              </a:ext>
            </a:extLst>
          </p:cNvPr>
          <p:cNvSpPr txBox="1"/>
          <p:nvPr/>
        </p:nvSpPr>
        <p:spPr>
          <a:xfrm>
            <a:off x="7899400" y="3644900"/>
            <a:ext cx="1320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Contorno −200 mV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9D492AA-DC37-7759-F02F-7F81831C80F4}"/>
              </a:ext>
            </a:extLst>
          </p:cNvPr>
          <p:cNvSpPr txBox="1"/>
          <p:nvPr/>
        </p:nvSpPr>
        <p:spPr>
          <a:xfrm>
            <a:off x="9245600" y="36449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50">
                <a:solidFill>
                  <a:srgbClr val="5A5248"/>
                </a:solidFill>
                <a:latin typeface="Segoe UI" panose="020B0502040204020203" pitchFamily="34" charset="0"/>
              </a:rPr>
              <a:t>4,20 × 1,30 m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E26BCD46-8E72-F273-1CE2-0B8B446E727A}"/>
              </a:ext>
            </a:extLst>
          </p:cNvPr>
          <p:cNvSpPr/>
          <p:nvPr/>
        </p:nvSpPr>
        <p:spPr>
          <a:xfrm>
            <a:off x="7797800" y="3886200"/>
            <a:ext cx="38100" cy="203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F58792B2-6D18-917D-8F2C-31BE5ECD4A41}"/>
              </a:ext>
            </a:extLst>
          </p:cNvPr>
          <p:cNvSpPr txBox="1"/>
          <p:nvPr/>
        </p:nvSpPr>
        <p:spPr>
          <a:xfrm>
            <a:off x="7899400" y="3886200"/>
            <a:ext cx="1320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Mecanismo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B54273F-792C-4547-6F0D-9203911F6231}"/>
              </a:ext>
            </a:extLst>
          </p:cNvPr>
          <p:cNvSpPr txBox="1"/>
          <p:nvPr/>
        </p:nvSpPr>
        <p:spPr>
          <a:xfrm>
            <a:off x="9245600" y="38862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50">
                <a:solidFill>
                  <a:srgbClr val="5A5248"/>
                </a:solidFill>
                <a:latin typeface="Segoe UI" panose="020B0502040204020203" pitchFamily="34" charset="0"/>
              </a:rPr>
              <a:t>cloruros, con picadura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2353233-7B28-0869-633E-8184E0377405}"/>
              </a:ext>
            </a:extLst>
          </p:cNvPr>
          <p:cNvSpPr/>
          <p:nvPr/>
        </p:nvSpPr>
        <p:spPr>
          <a:xfrm>
            <a:off x="7797800" y="4127500"/>
            <a:ext cx="38100" cy="203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81A0DE50-2282-281B-A380-1C2906B0CD72}"/>
              </a:ext>
            </a:extLst>
          </p:cNvPr>
          <p:cNvSpPr txBox="1"/>
          <p:nvPr/>
        </p:nvSpPr>
        <p:spPr>
          <a:xfrm>
            <a:off x="7899400" y="4127500"/>
            <a:ext cx="1320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f′c in situ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0487B81A-44F0-6EE8-9B72-3C0E125404D3}"/>
              </a:ext>
            </a:extLst>
          </p:cNvPr>
          <p:cNvSpPr txBox="1"/>
          <p:nvPr/>
        </p:nvSpPr>
        <p:spPr>
          <a:xfrm>
            <a:off x="9245600" y="41275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50">
                <a:solidFill>
                  <a:srgbClr val="5A5248"/>
                </a:solidFill>
                <a:latin typeface="Segoe UI" panose="020B0502040204020203" pitchFamily="34" charset="0"/>
              </a:rPr>
              <a:t>18,5 MPa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58804D07-51E6-F79E-03F0-8B86284EBF99}"/>
              </a:ext>
            </a:extLst>
          </p:cNvPr>
          <p:cNvSpPr/>
          <p:nvPr/>
        </p:nvSpPr>
        <p:spPr>
          <a:xfrm>
            <a:off x="7797800" y="4368800"/>
            <a:ext cx="38100" cy="2032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6537062A-D162-6DB5-6013-30A3E7B18898}"/>
              </a:ext>
            </a:extLst>
          </p:cNvPr>
          <p:cNvSpPr txBox="1"/>
          <p:nvPr/>
        </p:nvSpPr>
        <p:spPr>
          <a:xfrm>
            <a:off x="7899400" y="4368800"/>
            <a:ext cx="1320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50">
                <a:solidFill>
                  <a:srgbClr val="1C1813"/>
                </a:solidFill>
                <a:latin typeface="Segoe UI Semibold" panose="020B0702040204020203" pitchFamily="34" charset="0"/>
              </a:rPr>
              <a:t>Oferta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8A52CDCE-E787-6FE7-BE23-428E146D13D5}"/>
              </a:ext>
            </a:extLst>
          </p:cNvPr>
          <p:cNvSpPr txBox="1"/>
          <p:nvPr/>
        </p:nvSpPr>
        <p:spPr>
          <a:xfrm>
            <a:off x="9245600" y="43688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50">
                <a:solidFill>
                  <a:srgbClr val="5A5248"/>
                </a:solidFill>
                <a:latin typeface="Segoe UI" panose="020B0502040204020203" pitchFamily="34" charset="0"/>
              </a:rPr>
              <a:t>mortero R4 de 60 MPa y 25 GPa</a:t>
            </a:r>
            <a:endParaRPr lang="es-BO" sz="7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6BF407B-788F-AB0B-A2B9-4A956B2A9E39}"/>
              </a:ext>
            </a:extLst>
          </p:cNvPr>
          <p:cNvSpPr/>
          <p:nvPr/>
        </p:nvSpPr>
        <p:spPr>
          <a:xfrm>
            <a:off x="609600" y="5537200"/>
            <a:ext cx="10972800" cy="5588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1928788F-1443-5F28-4218-0A49730C4FFF}"/>
              </a:ext>
            </a:extLst>
          </p:cNvPr>
          <p:cNvSpPr txBox="1"/>
          <p:nvPr/>
        </p:nvSpPr>
        <p:spPr>
          <a:xfrm>
            <a:off x="838200" y="5588000"/>
            <a:ext cx="1056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Seis pasos para dos decisiones con repercusión económica directa: </a:t>
            </a:r>
            <a:r>
              <a:rPr lang="es-MX" sz="1150" b="1">
                <a:solidFill>
                  <a:srgbClr val="FFFFFF"/>
                </a:solidFill>
                <a:latin typeface="Segoe UI Semibold" panose="020B0702040204020203" pitchFamily="34" charset="0"/>
              </a:rPr>
              <a:t>hasta dónde se pica y qué se repone.</a:t>
            </a:r>
            <a:r>
              <a:rPr lang="es-MX" sz="1150">
                <a:solidFill>
                  <a:srgbClr val="FFFFFF"/>
                </a:solidFill>
                <a:latin typeface="Segoe UI" panose="020B0502040204020203" pitchFamily="34" charset="0"/>
              </a:rPr>
              <a:t> Ambas se toman habitualmente a partir de la inspección visual; ambas son calculables.</a:t>
            </a:r>
            <a:endParaRPr lang="es-BO" sz="11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1BEE146-F10D-22A8-EA3A-8B7AAA29BEF4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ASTM C876; EN 1504-3 y -9; ACI 546R; ACI 318-19 §19.2.2.1.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0FFB84C0-371F-9885-D931-B5A605403C9E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5754B51-09FC-822F-AC48-27E1001B0453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58276B9A-0CED-2F12-3456-E01749578869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82" name="PageNo">
            <a:extLst>
              <a:ext uri="{FF2B5EF4-FFF2-40B4-BE49-F238E27FC236}">
                <a16:creationId xmlns:a16="http://schemas.microsoft.com/office/drawing/2014/main" id="{80DBF68E-F998-018C-5F80-90CA01400E4B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30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515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664DB5-434E-9B2F-6EC2-397DCB54A0CE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PASO 1 DE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4EF1AEB-E815-F2EA-B6DC-ED544520F1F8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700">
                <a:solidFill>
                  <a:srgbClr val="1C1813"/>
                </a:solidFill>
                <a:latin typeface="Bahnschrift SemiBold" panose="020B0502040204020203" pitchFamily="34" charset="0"/>
              </a:rPr>
              <a:t>Superficie del parche visible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2C3BEF4-1235-59BB-7032-18089E403FA2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6F97F7F-2FCE-E05C-3E61-F28800E69C42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¿Cuánta superficie está cotizando el contratista? Es la que se ve, y la dejamos por escrito.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2014F0-A128-ABDA-57D4-DC54644F8692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BO" sz="1700">
                <a:solidFill>
                  <a:srgbClr val="FFFFFF"/>
                </a:solidFill>
                <a:latin typeface="Bahnschrift SemiBold" panose="020B0502040204020203" pitchFamily="34" charset="0"/>
              </a:rPr>
              <a:t>A_visible  =  largo  ·  desarrollo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470A21-9238-A7E9-B2A4-597B7D5A2B83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12FBA2-75D6-F529-8352-ADA12CF92003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Geometría elemental. El paso existe para dejar constancia documental de la superficie que el contratista está presupuestando, y poder contrastarla en el paso siguiente con la que procede sanear.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A522C9-2F68-D7A0-3B38-D3FB2473818D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F1498F-B6B3-857B-7203-05A370C546A6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2,00 m de largo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6AC666C-BD44-BC5A-CC11-B0B445F9D978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Longitud del desprendimiento medida con cinta sobre la cara inferior de la viga.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0A105BB-EF05-DA65-6B19-F728D95C611E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1,30 m de desarrollo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A4FE28D-2DE7-3E1F-2319-27728147D73E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Perímetro en U afectado: cara inferior más las dos laterales hasta el límite del daño visible.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3B26338-8653-6C31-F243-95BA0449DA96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Qué representa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F885279-13BF-F272-1371-52C936D2F826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La superficie de la oferta. No es la superficie del mecanismo, que se determina en el paso 2.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B672DCB-F785-015E-A7D5-6632A2BF7CC2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12AD476-5A28-27D6-822C-6F5212415C26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2D5C7C1-76DA-1E1E-F8C9-0108238DED1E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pt-BR" sz="1150">
                <a:solidFill>
                  <a:srgbClr val="241F18"/>
                </a:solidFill>
                <a:latin typeface="Segoe UI" panose="020B0502040204020203" pitchFamily="34" charset="0"/>
              </a:rPr>
              <a:t>A  =  2,00 m  ×  1,30 m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1E8873C-E6FD-5225-872F-8FBFAD639FA7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A  =  2,60 m²</a:t>
            </a:r>
          </a:p>
        </p:txBody>
      </p:sp>
      <p:pic>
        <p:nvPicPr>
          <p:cNvPr id="70" name="Diagrama del paso" descr="Paso 1: la viga en U desplegada, 2,60 m² visibles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229600" y="3044952"/>
            <a:ext cx="3355848" cy="1883664"/>
          </a:xfrm>
          <a:prstGeom prst="rect">
            <a:avLst/>
          </a:prstGeom>
        </p:spPr>
      </p:pic>
      <p:sp>
        <p:nvSpPr>
          <p:cNvPr id="62" name="CuadroTexto 61">
            <a:extLst>
              <a:ext uri="{FF2B5EF4-FFF2-40B4-BE49-F238E27FC236}">
                <a16:creationId xmlns:a16="http://schemas.microsoft.com/office/drawing/2014/main" id="{37E6130F-0A3B-175E-F61C-F76FE3B87C4D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53A2056-B505-D6C7-88C3-6DADA1EC4FBE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Dos coma sesenta metros cuadrados: lo que se observa y lo que está cotizado.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64" name="Resultado_1">
            <a:extLst>
              <a:ext uri="{FF2B5EF4-FFF2-40B4-BE49-F238E27FC236}">
                <a16:creationId xmlns:a16="http://schemas.microsoft.com/office/drawing/2014/main" id="{2F7F17F4-D274-3131-517F-A318FA84AD86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A_visible  =  2,60 m²  ·  superficie presupuestada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C7B74359-4755-B8E6-0496-40EDFC9E2457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Medición en obra; EN 1504-10 para la ejecución.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4B4459B1-50F3-8A64-4B84-924C25C201DB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486F496-E6A9-34B0-DF62-3A0AECF24CD6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13D0FA6-B96B-21C4-EBE5-102B1E123BE8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69" name="PageNo">
            <a:extLst>
              <a:ext uri="{FF2B5EF4-FFF2-40B4-BE49-F238E27FC236}">
                <a16:creationId xmlns:a16="http://schemas.microsoft.com/office/drawing/2014/main" id="{2B5B4808-4A60-A30F-0A1A-952C05EE8E49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31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233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4D2DFD-7BF7-5F84-7119-EDF3A09B3B4F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PASO 2 DE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FAF5D03-6AB8-A62C-2A01-86DF63F8F0BB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Superficie que delimita el mapa de potenciales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72AB3E9-FAB9-3B71-C026-FE521A536899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A84CF19-293F-F6CE-0AC4-C685AA488B1A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¿Cuánta superficie hay que sanear de verdad? Lo decide el mapa, no lo que se ha desprendido.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C15CFF-B5CB-AF08-2C14-47587A4529A5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700">
                <a:solidFill>
                  <a:srgbClr val="FFFFFF"/>
                </a:solidFill>
                <a:latin typeface="Bahnschrift SemiBold" panose="020B0502040204020203" pitchFamily="34" charset="0"/>
              </a:rPr>
              <a:t>A_saneo  =  superficie encerrada por el contorno de −200 mV</a:t>
            </a:r>
            <a:endParaRPr lang="es-BO" sz="17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8BA41E-8A55-45B5-CECE-B752BBFFE81B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C589B5C-EE62-F7CC-358E-58565EDE455A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ASTM C876. El potencial de media celda no cuantifica la corrosión: indica dónde hay probabilidad de actividad. El contorno de −200 mV marca el límite de la zona con cloruro por encima del umbral, y es el que fija el alcance del saneo.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A5B0971-E3C3-7C7D-6807-7FDA2920A51A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F2FE53E-811A-9B42-C486-6873A294EFCB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Malla de 0,50 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315CAB-D48C-DDD1-93EF-4052D1D96641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Electrodo de cobre/sulfato sobre toda la viga, con la armadura conectada.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77B082-19BB-A7AD-3C02-7EA1C6F88A3F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Contorno −200 mV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36F7E30-6A00-055D-7D12-EEC4AAAE197C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Longitud medida 4,20 m a lo largo de la viga, frente a 2,00 m de desprendimiento.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6684425-0C14-5F03-4FC0-445EE2D55A91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00">
                <a:solidFill>
                  <a:srgbClr val="1C1813"/>
                </a:solidFill>
                <a:latin typeface="Segoe UI Semibold" panose="020B0702040204020203" pitchFamily="34" charset="0"/>
              </a:rPr>
              <a:t>Por qué −200 y no −350</a:t>
            </a:r>
            <a:endParaRPr lang="es-BO" sz="10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FA124C1-D1D2-EBAF-6E39-9885CEBF6D4E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El −350 mV delimita corrosión muy probable.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3AB4289-299B-5CFC-C3EB-00A32BECD1E6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FA8FD1B-C0C0-2782-2BB5-0049983100A6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453FA69-A3BF-7867-592F-D800F0C99F91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it-IT" sz="1150">
                <a:solidFill>
                  <a:srgbClr val="241F18"/>
                </a:solidFill>
                <a:latin typeface="Segoe UI" panose="020B0502040204020203" pitchFamily="34" charset="0"/>
              </a:rPr>
              <a:t>A_saneo  =  4,20 m  ×  1,30 m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214F30A-922D-1B5D-CC49-832F5E9AF596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A_saneo  =  5,46 m²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643CC59-BF13-D1EB-59AE-0FEBB0D1FC2C}"/>
              </a:ext>
            </a:extLst>
          </p:cNvPr>
          <p:cNvSpPr txBox="1"/>
          <p:nvPr/>
        </p:nvSpPr>
        <p:spPr>
          <a:xfrm>
            <a:off x="4648200" y="3797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495B9E5-DDB4-73F7-4E15-1CD4B1E447F3}"/>
              </a:ext>
            </a:extLst>
          </p:cNvPr>
          <p:cNvSpPr txBox="1"/>
          <p:nvPr/>
        </p:nvSpPr>
        <p:spPr>
          <a:xfrm>
            <a:off x="4648200" y="4114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relación  =  5,46 / 2,60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659F300-C7EE-614B-510A-DDEEC5D18C3D}"/>
              </a:ext>
            </a:extLst>
          </p:cNvPr>
          <p:cNvSpPr txBox="1"/>
          <p:nvPr/>
        </p:nvSpPr>
        <p:spPr>
          <a:xfrm>
            <a:off x="4648200" y="443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relación  =  2,1 veces</a:t>
            </a:r>
          </a:p>
        </p:txBody>
      </p:sp>
      <p:pic>
        <p:nvPicPr>
          <p:cNvPr id="69" name="Diagrama del paso" descr="Paso 2: mapa de potenciales, el contorno de −200 mV mide 5,46 m²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229600" y="3044952"/>
            <a:ext cx="3355848" cy="1883664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F255B35F-8975-30F5-F6A5-8C7F5AB87914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56C0F36-9F43-6922-0AB1-30ED84E15D81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El doble de superficie. Esa diferencia </a:t>
            </a:r>
            <a:r>
              <a:rPr lang="es-MX" sz="1050" b="1">
                <a:solidFill>
                  <a:srgbClr val="5A5248"/>
                </a:solidFill>
                <a:latin typeface="Segoe UI Semibold" panose="020B0702040204020203" pitchFamily="34" charset="0"/>
              </a:rPr>
              <a:t>no es un sobrecoste: es la diferencia entre una reparación que dura y una que reaparece en el borde.</a:t>
            </a:r>
            <a:endParaRPr lang="es-BO" sz="1050" b="1">
              <a:solidFill>
                <a:srgbClr val="5A524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3" name="Resultado_1">
            <a:extLst>
              <a:ext uri="{FF2B5EF4-FFF2-40B4-BE49-F238E27FC236}">
                <a16:creationId xmlns:a16="http://schemas.microsoft.com/office/drawing/2014/main" id="{37409FF7-DEE1-F951-2F85-2BC4B7F336A2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A_saneo  =  5,46 m²  ·  2,1 veces lo presupuestado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89EEAD8F-750D-A784-24B8-A070863C6E17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n-US" sz="700">
                <a:solidFill>
                  <a:srgbClr val="938A7C"/>
                </a:solidFill>
                <a:latin typeface="Segoe UI" panose="020B0502040204020203" pitchFamily="34" charset="0"/>
              </a:rPr>
              <a:t>Fuente: ASTM C876, Half-Cell Potentials of Uncoated Reinforcing Steel.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BBD4E288-1733-BC98-E02F-67C6B39BACCA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B4A1D31E-A2B7-C0DC-6668-1BC2885E1E85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DB8C6490-AB05-6113-D7B1-EBEEFDAA01F1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68" name="PageNo">
            <a:extLst>
              <a:ext uri="{FF2B5EF4-FFF2-40B4-BE49-F238E27FC236}">
                <a16:creationId xmlns:a16="http://schemas.microsoft.com/office/drawing/2014/main" id="{0108FE55-6E4C-783A-D440-3C2EA4AEFABA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32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80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52E286-DEAE-2025-87A6-C95222BC0FF8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PASO 3 DE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7B73769-5729-5275-8D39-76B287F4D368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Perímetro de concentración del ánodo incipiente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DD78519-3D2C-11C5-A089-4C5E9B5F6197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4384478-5E03-E794-1B49-2CF0AF2E73D5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¿Dónde aparecerá el daño nuevo si reparamos solo lo visible? En el borde del parche.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870097-8E45-E751-6277-E72DFB87C554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BO" sz="1700">
                <a:solidFill>
                  <a:srgbClr val="FFFFFF"/>
                </a:solidFill>
                <a:latin typeface="Bahnschrift SemiBold" panose="020B0502040204020203" pitchFamily="34" charset="0"/>
              </a:rPr>
              <a:t>P  =  2  ·  ( largo  +  desarrollo 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55E23AA-7EE9-5A10-41F9-B0A15C15243F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F042316-7485-8C5B-82B0-C265FAAB1A7D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Perímetro del parche. El fundamento es electroquímico: el mortero nuevo es alcalino y repasiva el acero que encierra, que pasa a comportarse como cátodo; el acero contiguo conserva cloruro y se convierte en ánodo de la pila resultante.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A02D34-FD81-CD2A-20B1-63E0CE3EE289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E05784-938A-A41B-D502-E601B78511B3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Parche 2,00 × 1,30 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1E04AE-B63D-3AD4-9ACC-0812172E0C46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El del paso 1, en el supuesto de sanear solo lo visible.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4110D2-4637-2369-F10C-EB322E102ABE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Mecanismo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B4FB05F-EA57-7A88-7288-3EC55B2F373E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La corriente se concentra en una banda estrecha alrededor del parche.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D9A4F88-7B7C-EC4A-3103-2623E434C370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Plazo de aparición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BC85AA3-4105-9A6A-23E7-771EC53C9567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Entre seis y veinticuatro meses tras la reparación.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5B1D78-68E2-D2F3-7378-C579D2FB162B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A1C20C6-E89F-5A11-30C3-C4DE8DD27233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1566CF4-1E76-90CB-F7EC-0206DCA9D98E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P  =  2  ×  ( 2,00 + 1,30 )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910AE35-F644-724F-1A92-9829B7F71464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P  =  2  ×  3,30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16E74DA-6FB2-CAC6-F4B0-ADD2F52A03BC}"/>
              </a:ext>
            </a:extLst>
          </p:cNvPr>
          <p:cNvSpPr txBox="1"/>
          <p:nvPr/>
        </p:nvSpPr>
        <p:spPr>
          <a:xfrm>
            <a:off x="4648200" y="3797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P  =  6,60 m</a:t>
            </a:r>
          </a:p>
        </p:txBody>
      </p:sp>
      <p:pic>
        <p:nvPicPr>
          <p:cNvPr id="43" name="Diagrama del paso" descr="Paso 3: el perímetro del parche, 6,60 m, es donde nace el daño nuevo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229600" y="3044952"/>
            <a:ext cx="3355848" cy="1883664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960DC78E-FC5E-B21F-AF4E-FED07B378771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B134858-0676-1827-ACFC-A48C9DEB6142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Seis coma sesenta metros de borde donde se concentraría la corriente de la pila.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Resultado_1">
            <a:extLst>
              <a:ext uri="{FF2B5EF4-FFF2-40B4-BE49-F238E27FC236}">
                <a16:creationId xmlns:a16="http://schemas.microsoft.com/office/drawing/2014/main" id="{7112EFC1-21B3-4BCA-057A-BD183E4976D0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BO" sz="1600">
                <a:solidFill>
                  <a:srgbClr val="FFFFFF"/>
                </a:solidFill>
                <a:latin typeface="Bahnschrift SemiBold" panose="020B0502040204020203" pitchFamily="34" charset="0"/>
              </a:rPr>
              <a:t>P  =  6,60 m de perímetro crítico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1ECFEA8-ECC8-2D8D-A19C-AD6AA9B57A27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1504-9, principio 11; ACI 546R §4 sobre ánodo incipiente.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37F5669-53AE-FA69-4A2A-631BC1340E30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9A5D853-FBD1-C5F4-31EE-E7A573179A51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D035A49-D5E7-D7B4-5D90-CF82219E9BA6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42" name="PageNo">
            <a:extLst>
              <a:ext uri="{FF2B5EF4-FFF2-40B4-BE49-F238E27FC236}">
                <a16:creationId xmlns:a16="http://schemas.microsoft.com/office/drawing/2014/main" id="{F54F5ADF-5E0A-B3F6-9170-5E76779190EE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33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079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925A56-C6CA-8F28-9815-BEB0BFE4B9A6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PASO 4 DE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90ED6A4-2443-6F4C-A288-BC314A872531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700">
                <a:solidFill>
                  <a:srgbClr val="1C1813"/>
                </a:solidFill>
                <a:latin typeface="Bahnschrift SemiBold" panose="020B0502040204020203" pitchFamily="34" charset="0"/>
              </a:rPr>
              <a:t>Número de ánodos de sacrificio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C6BAFA1-1651-067F-888D-E21D79C85DFD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6E87A59-E903-69F5-E959-42FD5C9D2D1C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¿Cuántos ánodos de zinc hacen falta para proteger ese borde?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4ADE91E-23AF-4C88-4840-2D76734F75BC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BO" sz="1700">
                <a:solidFill>
                  <a:srgbClr val="FFFFFF"/>
                </a:solidFill>
                <a:latin typeface="Bahnschrift SemiBold" panose="020B0502040204020203" pitchFamily="34" charset="0"/>
              </a:rPr>
              <a:t>n  =  P  /  separación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DCC1731-48CB-9F21-4882-EAF607D1E597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E0905A9-FC11-941C-F1B4-EB68F826CBC7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Separación entre ánodos discretos embebidos en el perímetro, del orden de 0,50 m. Es un valor de fabricante recogido en la práctica habitual, no un requisito de norma: depende de la demanda de corriente y de la resistividad del hormigón.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9F267C-DCB8-7737-A4A8-044BE5B84FE4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367E728-7589-1236-A1E2-C1F0102A53DD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 = 6,60 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D8F395-EB34-742D-C8ED-825157676CB7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850">
                <a:solidFill>
                  <a:srgbClr val="5A5248"/>
                </a:solidFill>
                <a:latin typeface="Segoe UI" panose="020B0502040204020203" pitchFamily="34" charset="0"/>
              </a:rPr>
              <a:t>Del paso 3.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9BB566E-F070-01D2-3E2C-5B25598B398A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Separación 0,50 m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C9D42CC-D656-A8C4-5FF6-5AFA2FF5EDBE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Valor adoptado. A mayor separación quedan zonas del perímetro fuera del radio de protección.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2361165-FDCE-C318-FD98-83746FADE433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Continuidad eléctrica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9479556-89B9-F1D4-A751-424D07D3B6FF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Debe comprobarse con multímetro antes de tapar.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3EDE980-7D43-9F23-537D-344DA511EDEE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C27195F-91E0-6B67-C60E-B0F6C2BDDB3E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EEA14E8-4F2D-A1AF-3042-78F3B4555758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pt-BR" sz="1150">
                <a:solidFill>
                  <a:srgbClr val="241F18"/>
                </a:solidFill>
                <a:latin typeface="Segoe UI" panose="020B0502040204020203" pitchFamily="34" charset="0"/>
              </a:rPr>
              <a:t>n  =  6,60 m  /  0,50 m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BBE20C3-8A17-766E-F143-D894AB118459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n  =  13,2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64213F-9BA8-6486-CBEE-70F0A482E659}"/>
              </a:ext>
            </a:extLst>
          </p:cNvPr>
          <p:cNvSpPr txBox="1"/>
          <p:nvPr/>
        </p:nvSpPr>
        <p:spPr>
          <a:xfrm>
            <a:off x="4648200" y="3797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se redondea al alza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15E8BF1-6104-752F-4B9E-20FB27246944}"/>
              </a:ext>
            </a:extLst>
          </p:cNvPr>
          <p:cNvSpPr txBox="1"/>
          <p:nvPr/>
        </p:nvSpPr>
        <p:spPr>
          <a:xfrm>
            <a:off x="4648200" y="4114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n  =  14 ánodos</a:t>
            </a:r>
          </a:p>
        </p:txBody>
      </p:sp>
      <p:pic>
        <p:nvPicPr>
          <p:cNvPr id="53" name="Diagrama del paso" descr="Paso 4: catorce ánodos de zinc, uno cada 0,50 m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229600" y="3044952"/>
            <a:ext cx="3355848" cy="1883664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CE8A6664-03CF-366E-25E7-D2AEDE55D504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E99AF77-3772-E8D2-8509-C7F251D18C17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Catorce piezas de 160 g de zinc, atadas a la armadura con continuidad verificada y registrada.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Resultado_1">
            <a:extLst>
              <a:ext uri="{FF2B5EF4-FFF2-40B4-BE49-F238E27FC236}">
                <a16:creationId xmlns:a16="http://schemas.microsoft.com/office/drawing/2014/main" id="{F7211559-633E-5DBD-6550-528C893764F8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n  =  14 ánodos de zinc en el perímetro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1BE397B-D900-7018-D5D7-902A1FFD9495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EN 1504-9, principio 11, control de áreas anódicas; ACI 546R.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559F44AC-A792-C6E8-7B26-B4B53B75B20C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FD98505-55A9-B7FD-85CC-9EEC169F2EF6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5AE2F16-F38B-C3B7-D040-AD2BB5A0AD62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52" name="PageNo">
            <a:extLst>
              <a:ext uri="{FF2B5EF4-FFF2-40B4-BE49-F238E27FC236}">
                <a16:creationId xmlns:a16="http://schemas.microsoft.com/office/drawing/2014/main" id="{9E7A4BD5-353D-7587-44C5-C7A80ED592FF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34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52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1156F2-F677-AF90-5EBC-58FEB17EA4CB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PASO 5 DE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A15AFAC-F5D6-8B9B-7D95-B50674496DD9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Vida útil del ánodo por ley de Faraday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653BDCD-11F2-3CD5-3CC3-3E9504EB2579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3F7A10A-D298-E3E2-4EC2-B2F09888D56D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¿Cuántos años protege un ánodo antes de agotarse? Faraday, ahora aplicado al zinc.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346EDA9-5D6B-943B-74E8-B06526ECC60E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pt-BR" sz="1700">
                <a:solidFill>
                  <a:srgbClr val="FFFFFF"/>
                </a:solidFill>
                <a:latin typeface="Bahnschrift SemiBold" panose="020B0502040204020203" pitchFamily="34" charset="0"/>
              </a:rPr>
              <a:t>m / t  =  ( M  ·  i )  /  ( n  ·  F )</a:t>
            </a:r>
            <a:endParaRPr lang="es-BO" sz="17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8FE5397-49A6-CCC8-14E2-F07883C59A9A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B302B1-F5EC-4A7D-43E4-AAF938278D3A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Ley de Faraday aplicada al zinc que se consume: masa por unidad de tiempo en función de la corriente entregada. M es la masa atómica del zinc, n su valencia y F la constante de Faraday.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D3CD93-0B35-AC72-8817-E888D69FB795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541B21-C4F1-FB0B-7581-AE0F39286DF9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pt-BR" sz="1000">
                <a:solidFill>
                  <a:srgbClr val="1C1813"/>
                </a:solidFill>
                <a:latin typeface="Segoe UI Semibold" panose="020B0702040204020203" pitchFamily="34" charset="0"/>
              </a:rPr>
              <a:t>M = 65,38 g/mol  ·  n = 2</a:t>
            </a:r>
            <a:endParaRPr lang="es-BO" sz="10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C597311-6B0F-1B51-D9DB-DB143C8F2FF8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Masa atómica y valencia del zinc. Constantes.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F09FE4-3A46-A1C5-0935-FEBE0B611B1E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it-IT" sz="1000">
                <a:solidFill>
                  <a:srgbClr val="1C1813"/>
                </a:solidFill>
                <a:latin typeface="Segoe UI Semibold" panose="020B0702040204020203" pitchFamily="34" charset="0"/>
              </a:rPr>
              <a:t>i = 0,5 mA  ·  F = 96 485 C/mol</a:t>
            </a:r>
            <a:endParaRPr lang="es-BO" sz="1000">
              <a:solidFill>
                <a:srgbClr val="1C1813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6DD5FB1-49E9-3128-7A64-C22A653AE117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850">
                <a:solidFill>
                  <a:srgbClr val="5A5248"/>
                </a:solidFill>
                <a:latin typeface="Segoe UI" panose="020B0502040204020203" pitchFamily="34" charset="0"/>
              </a:rPr>
              <a:t>Demanda media de corriente por ánodo, de ficha técnica, y constante de Faraday.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BC3ECEE-24BC-6377-7DF5-0B5B282AFDC9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Masa útil = 160 g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3FB2000-DA53-3600-AB94-C2D0A34CD844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Zinc disponible por pieza. Rendimiento adoptado 65 %.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DB3B0AE-B478-784D-7E45-095619CED399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B514715-88C9-0F92-3713-4794DC171CBA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D77F602-3FDD-04CB-19EF-7FAC6B2972C5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m/t  =  (65,38 × 0,0005) / (2 × 96 485)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D6DC9CA-CB49-AC7B-EB67-6C45EF2DF0F0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m/t  =  1,694 × 10⁻⁷ g/s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C9FC01E-A30F-A6ED-EA3D-D5BC83A4AD4D}"/>
              </a:ext>
            </a:extLst>
          </p:cNvPr>
          <p:cNvSpPr txBox="1"/>
          <p:nvPr/>
        </p:nvSpPr>
        <p:spPr>
          <a:xfrm>
            <a:off x="4648200" y="3797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de-DE" sz="1150">
                <a:solidFill>
                  <a:srgbClr val="241F18"/>
                </a:solidFill>
                <a:latin typeface="Segoe UI" panose="020B0502040204020203" pitchFamily="34" charset="0"/>
              </a:rPr>
              <a:t>m/t  =  5,35 g/año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F066D89-DC27-4BB4-D384-A28D821CC90A}"/>
              </a:ext>
            </a:extLst>
          </p:cNvPr>
          <p:cNvSpPr txBox="1"/>
          <p:nvPr/>
        </p:nvSpPr>
        <p:spPr>
          <a:xfrm>
            <a:off x="4648200" y="4114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t  =  160 / 5,35  =  29,9 años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2176838-1501-3175-3F36-AAF9F4481760}"/>
              </a:ext>
            </a:extLst>
          </p:cNvPr>
          <p:cNvSpPr txBox="1"/>
          <p:nvPr/>
        </p:nvSpPr>
        <p:spPr>
          <a:xfrm>
            <a:off x="4648200" y="443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241F18"/>
                </a:solidFill>
                <a:latin typeface="Segoe UI" panose="020B0502040204020203" pitchFamily="34" charset="0"/>
              </a:rPr>
              <a:t>t_real  =  29,9 × 0,65  =  19 años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6746A3D-25B3-E1F1-1C84-0660B8D5EC58}"/>
              </a:ext>
            </a:extLst>
          </p:cNvPr>
          <p:cNvSpPr txBox="1"/>
          <p:nvPr/>
        </p:nvSpPr>
        <p:spPr>
          <a:xfrm>
            <a:off x="8128000" y="3543300"/>
            <a:ext cx="711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650">
                <a:solidFill>
                  <a:srgbClr val="1C1813"/>
                </a:solidFill>
                <a:latin typeface="Segoe UI Semibold" panose="020B0702040204020203" pitchFamily="34" charset="0"/>
              </a:rPr>
              <a:t>hoy</a:t>
            </a:r>
          </a:p>
        </p:txBody>
      </p:sp>
      <p:pic>
        <p:nvPicPr>
          <p:cNvPr id="50" name="Diagrama del paso" descr="Paso 5: vida del ánodo por Faraday, unos 19 años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229600" y="3044952"/>
            <a:ext cx="3355848" cy="1883664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74005466-391F-33A7-3636-7C8FBF228DF3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3F6A662-D1C1-3117-3E03-B68853D5D3D0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Diecinueve años, no vida indefinida. La cifra debe incorporarse al plan de mantenimiento con fecha de reposición.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4" name="Resultado_1">
            <a:extLst>
              <a:ext uri="{FF2B5EF4-FFF2-40B4-BE49-F238E27FC236}">
                <a16:creationId xmlns:a16="http://schemas.microsoft.com/office/drawing/2014/main" id="{C2697CD9-A252-AE50-5E63-72E5A6CB2328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MX" sz="1600">
                <a:solidFill>
                  <a:srgbClr val="FFFFFF"/>
                </a:solidFill>
                <a:latin typeface="Bahnschrift SemiBold" panose="020B0502040204020203" pitchFamily="34" charset="0"/>
              </a:rPr>
              <a:t>Vida estimada 19 años  ·  requiere reposición programada</a:t>
            </a:r>
            <a:endParaRPr lang="es-BO" sz="16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7B5C1CE-D7C6-D3EC-092D-75B2D6AB8952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Ley de Faraday; fichas técnicas de ánodos galvánicos; EN 1504-9.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5C756580-4C6C-8AB5-DA57-B7DA9D62FA62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CA493BF-8F2A-0FBD-7BC5-58DB85978B0C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D8DF9FC-6824-C868-AAEF-56FDC24F79D8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49" name="PageNo">
            <a:extLst>
              <a:ext uri="{FF2B5EF4-FFF2-40B4-BE49-F238E27FC236}">
                <a16:creationId xmlns:a16="http://schemas.microsoft.com/office/drawing/2014/main" id="{73709BD1-D8CD-EE0F-F311-A13BE3BBCE7A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35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090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1B02FB6-22D3-1BE7-06F0-E49427445AF1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PASO 6 DE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61F6E2C-3801-8991-61D1-52C8B55D26DB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Módulo del sustrato y acotación del mortero en el pliego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FE3D020-A2D8-9E81-364C-3A29CC125539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EE62628-9E80-1AEE-CAA4-F643C45F377D}"/>
              </a:ext>
            </a:extLst>
          </p:cNvPr>
          <p:cNvSpPr txBox="1"/>
          <p:nvPr/>
        </p:nvSpPr>
        <p:spPr>
          <a:xfrm>
            <a:off x="609600" y="1270000"/>
            <a:ext cx="1097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150">
                <a:solidFill>
                  <a:srgbClr val="6A4F20"/>
                </a:solidFill>
                <a:latin typeface="Segoe UI Semibold" panose="020B0702040204020203" pitchFamily="34" charset="0"/>
              </a:rPr>
              <a:t>¿Qué mortero se puede especificar? Manda el módulo del hormigón que hay, no la resistencia.</a:t>
            </a:r>
            <a:endParaRPr lang="es-BO" sz="115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FA6B46-17F9-1C00-0228-F9202D5563F4}"/>
              </a:ext>
            </a:extLst>
          </p:cNvPr>
          <p:cNvSpPr/>
          <p:nvPr/>
        </p:nvSpPr>
        <p:spPr>
          <a:xfrm>
            <a:off x="609600" y="1549400"/>
            <a:ext cx="10972800" cy="558800"/>
          </a:xfrm>
          <a:prstGeom prst="rect">
            <a:avLst/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it-IT" sz="1700">
                <a:solidFill>
                  <a:srgbClr val="FFFFFF"/>
                </a:solidFill>
                <a:latin typeface="Bahnschrift SemiBold" panose="020B0502040204020203" pitchFamily="34" charset="0"/>
              </a:rPr>
              <a:t>E_sustrato  =  4 700  ·  raíz( f′c )          [ MPa ]</a:t>
            </a:r>
            <a:endParaRPr lang="es-BO" sz="17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9F5679-189E-9499-EF94-F3AE1F32BDA3}"/>
              </a:ext>
            </a:extLst>
          </p:cNvPr>
          <p:cNvSpPr txBox="1"/>
          <p:nvPr/>
        </p:nvSpPr>
        <p:spPr>
          <a:xfrm>
            <a:off x="736600" y="22098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DE DÓNDE SALE LA FÓRMULA</a:t>
            </a:r>
            <a:endParaRPr lang="es-BO" sz="700" spc="12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F8EFAAF-53FB-F7E7-C22C-7846B909CBBF}"/>
              </a:ext>
            </a:extLst>
          </p:cNvPr>
          <p:cNvSpPr txBox="1"/>
          <p:nvPr/>
        </p:nvSpPr>
        <p:spPr>
          <a:xfrm>
            <a:off x="736600" y="2374900"/>
            <a:ext cx="10845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ACI 318-19 §19.2.2.1, módulo de elasticidad del hormigón de densidad normal. Permite estimar el módulo del sustrato cuando no hay ensayo, y es la referencia frente a la que debe contrastarse el mortero ofertado.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CA03FD-825A-4928-1847-4964D939D462}"/>
              </a:ext>
            </a:extLst>
          </p:cNvPr>
          <p:cNvSpPr txBox="1"/>
          <p:nvPr/>
        </p:nvSpPr>
        <p:spPr>
          <a:xfrm>
            <a:off x="609600" y="2844800"/>
            <a:ext cx="3581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6A4F20"/>
                </a:solidFill>
                <a:latin typeface="Segoe UI Semibold" panose="020B0702040204020203" pitchFamily="34" charset="0"/>
              </a:rPr>
              <a:t>LOS DATOS QUE ENTRAN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FDB62F5-77A3-2B00-EB42-CCC56C2D28B4}"/>
              </a:ext>
            </a:extLst>
          </p:cNvPr>
          <p:cNvSpPr txBox="1"/>
          <p:nvPr/>
        </p:nvSpPr>
        <p:spPr>
          <a:xfrm>
            <a:off x="762000" y="30480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f′c = 18,5 MPa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7714A0E-1B10-252A-F2E0-E196064A5CF7}"/>
              </a:ext>
            </a:extLst>
          </p:cNvPr>
          <p:cNvSpPr txBox="1"/>
          <p:nvPr/>
        </p:nvSpPr>
        <p:spPr>
          <a:xfrm>
            <a:off x="762000" y="32131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Resistencia in situ de los testigos corregidos, de la clase 5.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AE234F-241B-9B1B-E3F0-FB9AE581C28C}"/>
              </a:ext>
            </a:extLst>
          </p:cNvPr>
          <p:cNvSpPr txBox="1"/>
          <p:nvPr/>
        </p:nvSpPr>
        <p:spPr>
          <a:xfrm>
            <a:off x="762000" y="36703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R4 ofertado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2CD0219-6CA5-B1EB-C712-001064DBC57B}"/>
              </a:ext>
            </a:extLst>
          </p:cNvPr>
          <p:cNvSpPr txBox="1"/>
          <p:nvPr/>
        </p:nvSpPr>
        <p:spPr>
          <a:xfrm>
            <a:off x="762000" y="38354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60 MPa de compresión y 25 GPa de módulo, de la ficha técnica del producto.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0D879B3-AAD5-06D4-A042-2574A6F07648}"/>
              </a:ext>
            </a:extLst>
          </p:cNvPr>
          <p:cNvSpPr txBox="1"/>
          <p:nvPr/>
        </p:nvSpPr>
        <p:spPr>
          <a:xfrm>
            <a:off x="762000" y="4292600"/>
            <a:ext cx="3429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Criterio que gobierna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4DF9925-B8C3-AADC-EDAE-6240BA30401D}"/>
              </a:ext>
            </a:extLst>
          </p:cNvPr>
          <p:cNvSpPr txBox="1"/>
          <p:nvPr/>
        </p:nvSpPr>
        <p:spPr>
          <a:xfrm>
            <a:off x="762000" y="4457700"/>
            <a:ext cx="3429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850">
                <a:solidFill>
                  <a:srgbClr val="5A5248"/>
                </a:solidFill>
                <a:latin typeface="Segoe UI" panose="020B0502040204020203" pitchFamily="34" charset="0"/>
              </a:rPr>
              <a:t>El módulo, no la resistencia.</a:t>
            </a:r>
            <a:endParaRPr lang="es-BO" sz="8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E99DFAB-31D9-E96A-29D2-7D4F3ACE6B4E}"/>
              </a:ext>
            </a:extLst>
          </p:cNvPr>
          <p:cNvSpPr txBox="1"/>
          <p:nvPr/>
        </p:nvSpPr>
        <p:spPr>
          <a:xfrm>
            <a:off x="4495800" y="2844800"/>
            <a:ext cx="342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6A4F20"/>
                </a:solidFill>
                <a:latin typeface="Segoe UI Semibold" panose="020B0702040204020203" pitchFamily="34" charset="0"/>
              </a:rPr>
              <a:t>LA CUENTA, PASO A PASO</a:t>
            </a:r>
            <a:endParaRPr lang="es-BO" sz="70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D762416-D716-CAB5-3316-B6AA4B15997A}"/>
              </a:ext>
            </a:extLst>
          </p:cNvPr>
          <p:cNvSpPr/>
          <p:nvPr/>
        </p:nvSpPr>
        <p:spPr>
          <a:xfrm>
            <a:off x="4495800" y="3048000"/>
            <a:ext cx="3429000" cy="1879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33344D-4D68-F52F-6D35-89C11F995837}"/>
              </a:ext>
            </a:extLst>
          </p:cNvPr>
          <p:cNvSpPr txBox="1"/>
          <p:nvPr/>
        </p:nvSpPr>
        <p:spPr>
          <a:xfrm>
            <a:off x="4648200" y="316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pt-BR" sz="1150">
                <a:solidFill>
                  <a:srgbClr val="241F18"/>
                </a:solidFill>
                <a:latin typeface="Segoe UI" panose="020B0502040204020203" pitchFamily="34" charset="0"/>
              </a:rPr>
              <a:t>E  =  4 700  ×  raíz(18,5)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2F3B4C6-4817-4B0B-2470-F38DAE4B6972}"/>
              </a:ext>
            </a:extLst>
          </p:cNvPr>
          <p:cNvSpPr txBox="1"/>
          <p:nvPr/>
        </p:nvSpPr>
        <p:spPr>
          <a:xfrm>
            <a:off x="4648200" y="3479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241F18"/>
                </a:solidFill>
                <a:latin typeface="Segoe UI" panose="020B0502040204020203" pitchFamily="34" charset="0"/>
              </a:rPr>
              <a:t>E  =  4 700  ×  4,301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853E7C1-9DFB-D1A6-C890-1E0CA6D7A369}"/>
              </a:ext>
            </a:extLst>
          </p:cNvPr>
          <p:cNvSpPr txBox="1"/>
          <p:nvPr/>
        </p:nvSpPr>
        <p:spPr>
          <a:xfrm>
            <a:off x="4648200" y="3797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it-IT" sz="1150">
                <a:solidFill>
                  <a:srgbClr val="241F18"/>
                </a:solidFill>
                <a:latin typeface="Segoe UI" panose="020B0502040204020203" pitchFamily="34" charset="0"/>
              </a:rPr>
              <a:t>E  =  20 216 MPa  =  20,2 GPa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7E988E7-79A2-8A39-9605-B27C9F341402}"/>
              </a:ext>
            </a:extLst>
          </p:cNvPr>
          <p:cNvSpPr txBox="1"/>
          <p:nvPr/>
        </p:nvSpPr>
        <p:spPr>
          <a:xfrm>
            <a:off x="4648200" y="41148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B26D2E1-A7FF-1765-537D-4A70664BDAC5}"/>
              </a:ext>
            </a:extLst>
          </p:cNvPr>
          <p:cNvSpPr txBox="1"/>
          <p:nvPr/>
        </p:nvSpPr>
        <p:spPr>
          <a:xfrm>
            <a:off x="4648200" y="4432300"/>
            <a:ext cx="3124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150">
                <a:solidFill>
                  <a:srgbClr val="241F18"/>
                </a:solidFill>
                <a:latin typeface="Segoe UI" panose="020B0502040204020203" pitchFamily="34" charset="0"/>
              </a:rPr>
              <a:t>25 / 20,2  =  1,24   →   24 % más rígido</a:t>
            </a:r>
            <a:endParaRPr lang="es-BO" sz="1150">
              <a:solidFill>
                <a:srgbClr val="241F18"/>
              </a:solidFill>
              <a:latin typeface="Segoe UI" panose="020B0502040204020203" pitchFamily="34" charset="0"/>
            </a:endParaRPr>
          </a:p>
        </p:txBody>
      </p:sp>
      <p:pic>
        <p:nvPicPr>
          <p:cNvPr id="48" name="Diagrama del paso" descr="Paso 6: módulo del sustrato 20,2 GPa frente a 25 GPa del R4 ofertado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229600" y="3044952"/>
            <a:ext cx="3355848" cy="1883664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E428CEAA-238A-8F9D-3F4C-9D3652B2A9FC}"/>
              </a:ext>
            </a:extLst>
          </p:cNvPr>
          <p:cNvSpPr txBox="1"/>
          <p:nvPr/>
        </p:nvSpPr>
        <p:spPr>
          <a:xfrm>
            <a:off x="736600" y="5029200"/>
            <a:ext cx="508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 spc="120">
                <a:solidFill>
                  <a:srgbClr val="6A4F20"/>
                </a:solidFill>
                <a:latin typeface="Segoe UI Semibold" panose="020B0702040204020203" pitchFamily="34" charset="0"/>
              </a:rPr>
              <a:t>QUÉ SIGNIFICA ESTE NÚMERO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F9D0FCE-2D00-BDA0-8D4F-59759A5516FD}"/>
              </a:ext>
            </a:extLst>
          </p:cNvPr>
          <p:cNvSpPr txBox="1"/>
          <p:nvPr/>
        </p:nvSpPr>
        <p:spPr>
          <a:xfrm>
            <a:off x="736600" y="5194300"/>
            <a:ext cx="10845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El mortero de 60 MPa </a:t>
            </a:r>
            <a:r>
              <a:rPr lang="es-MX" sz="1050" b="1">
                <a:solidFill>
                  <a:srgbClr val="5A5248"/>
                </a:solidFill>
                <a:latin typeface="Segoe UI Semibold" panose="020B0702040204020203" pitchFamily="34" charset="0"/>
              </a:rPr>
              <a:t>cumple la norma de producto y es la elección incorrecta.</a:t>
            </a:r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 Mayor resistencia no implica mejor reparación.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Resultado_1">
            <a:extLst>
              <a:ext uri="{FF2B5EF4-FFF2-40B4-BE49-F238E27FC236}">
                <a16:creationId xmlns:a16="http://schemas.microsoft.com/office/drawing/2014/main" id="{D1E0A8F3-46E0-0E39-500C-2C9482F7C9DC}"/>
              </a:ext>
            </a:extLst>
          </p:cNvPr>
          <p:cNvSpPr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38100" rIns="101600" bIns="38100" rtlCol="0" anchor="ctr"/>
          <a:lstStyle/>
          <a:p>
            <a:pPr algn="ctr"/>
            <a:r>
              <a:rPr lang="es-BO" sz="1600">
                <a:solidFill>
                  <a:srgbClr val="FFFFFF"/>
                </a:solidFill>
                <a:latin typeface="Bahnschrift SemiBold" panose="020B0502040204020203" pitchFamily="34" charset="0"/>
              </a:rPr>
              <a:t>E_sustrato 20,2 GPa  ·  se acota el mortero a E ≤ 20 GPa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1D1DF19-2310-A034-851B-954F7402D322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938A7C"/>
                </a:solidFill>
                <a:latin typeface="Segoe UI" panose="020B0502040204020203" pitchFamily="34" charset="0"/>
              </a:rPr>
              <a:t>Fuente: ACI 318-19 §19.2.2.1; EN 1504-3; ACI 546R §5 sobre compatibilidad.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D3B284CB-075A-6415-9C3A-8E0537C0155E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DC23840-7F51-E444-7384-8CD6F7971171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A898DA1-B8FD-773F-2CB0-4B3A72F45BD3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47" name="PageNo">
            <a:extLst>
              <a:ext uri="{FF2B5EF4-FFF2-40B4-BE49-F238E27FC236}">
                <a16:creationId xmlns:a16="http://schemas.microsoft.com/office/drawing/2014/main" id="{8E2A8D71-CAA4-5DAE-A2C6-131F4EBAE413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36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340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3C1A7DE-1125-8A73-2FED-B3FA909540C1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CASO 6  ·  CIERRE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224C327-75F2-FF47-4824-C2DE1C44A003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Resultados, trazabilidad y limitaciones declaradas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F85CF7A-9037-DC54-7CD9-1B82CCE68C0F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F63D903-2826-6976-4AA2-336A28EF9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483626"/>
              </p:ext>
            </p:extLst>
          </p:nvPr>
        </p:nvGraphicFramePr>
        <p:xfrm>
          <a:off x="609600" y="1422400"/>
          <a:ext cx="6604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392538199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142504630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116977343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Paso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Resultado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00" b="0">
                          <a:solidFill>
                            <a:srgbClr val="FFFFFF"/>
                          </a:solidFill>
                          <a:latin typeface="Segoe UI Semibold" panose="020B0702040204020203" pitchFamily="34" charset="0"/>
                        </a:rPr>
                        <a:t>Qué decide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1C18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119887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1 · Lo visible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2,60 m²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La superficie presupuestada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963226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2 · El mapa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5,46 m²  ·  2,1 veces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El alcance real del saneo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03200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3 · El borde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6,60 m de perímetro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Donde reaparecería el daño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97543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4 · Ánodos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14 piezas cada 0,50 m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Alternativa a extender el saneo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134612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5 · Su vida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19 años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Reposición programada con fecha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39748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1C1813"/>
                          </a:solidFill>
                          <a:latin typeface="Segoe UI Semibold" panose="020B0702040204020203" pitchFamily="34" charset="0"/>
                        </a:rPr>
                        <a:t>6 · El mortero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BO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E ≤ 20 GPa en pliego</a:t>
                      </a: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>
                          <a:solidFill>
                            <a:srgbClr val="241F18"/>
                          </a:solidFill>
                          <a:latin typeface="Segoe UI" panose="020B0502040204020203" pitchFamily="34" charset="0"/>
                        </a:rPr>
                        <a:t>Se acota el módulo, no la resistencia</a:t>
                      </a:r>
                      <a:endParaRPr lang="es-BO" sz="950" b="0">
                        <a:solidFill>
                          <a:srgbClr val="241F18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76200" marT="50800" marB="50800" anchor="ctr">
                    <a:lnL w="6350" cmpd="sng">
                      <a:solidFill>
                        <a:srgbClr val="DCD5C7"/>
                      </a:solidFill>
                    </a:lnL>
                    <a:lnR w="6350" cmpd="sng">
                      <a:solidFill>
                        <a:srgbClr val="DCD5C7"/>
                      </a:solidFill>
                    </a:lnR>
                    <a:lnT w="6350" cmpd="sng">
                      <a:solidFill>
                        <a:srgbClr val="DCD5C7"/>
                      </a:solidFill>
                    </a:lnT>
                    <a:lnB w="6350" cmpd="sng">
                      <a:solidFill>
                        <a:srgbClr val="DCD5C7"/>
                      </a:solidFill>
                    </a:lnB>
                    <a:solidFill>
                      <a:srgbClr val="F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430253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45F5634-1A3C-E7CE-D851-B536A265D00E}"/>
              </a:ext>
            </a:extLst>
          </p:cNvPr>
          <p:cNvSpPr txBox="1"/>
          <p:nvPr/>
        </p:nvSpPr>
        <p:spPr>
          <a:xfrm>
            <a:off x="7696200" y="1422400"/>
            <a:ext cx="388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Procedencia de las expresiones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0D67ABA-C1FD-BBD3-DAC0-2528BC36522B}"/>
              </a:ext>
            </a:extLst>
          </p:cNvPr>
          <p:cNvSpPr txBox="1"/>
          <p:nvPr/>
        </p:nvSpPr>
        <p:spPr>
          <a:xfrm>
            <a:off x="7696200" y="1638300"/>
            <a:ext cx="3886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Dos superficies, un perímetro, una división, la ley de Faraday para el zinc y el módulo de ACI 318-19 §19.2.2.1. Solo la separación entre ánodos es valor adoptado.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0A4377-D0BC-AD7F-4ECD-55B155B58B68}"/>
              </a:ext>
            </a:extLst>
          </p:cNvPr>
          <p:cNvSpPr txBox="1"/>
          <p:nvPr/>
        </p:nvSpPr>
        <p:spPr>
          <a:xfrm>
            <a:off x="7696200" y="2463800"/>
            <a:ext cx="388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Trazabilidad de los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AA3802-E1BC-2AEA-D17A-E5948CD86B4C}"/>
              </a:ext>
            </a:extLst>
          </p:cNvPr>
          <p:cNvSpPr txBox="1"/>
          <p:nvPr/>
        </p:nvSpPr>
        <p:spPr>
          <a:xfrm>
            <a:off x="7696200" y="2679700"/>
            <a:ext cx="3886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Mapa de potenciales con malla de 0,50 m según ASTM C876, medición en obra del parche, ficha técnica del ánodo y testigos corregidos de la clase 5.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9B0315C-77C6-D67F-261D-22AE97A005F9}"/>
              </a:ext>
            </a:extLst>
          </p:cNvPr>
          <p:cNvSpPr txBox="1"/>
          <p:nvPr/>
        </p:nvSpPr>
        <p:spPr>
          <a:xfrm>
            <a:off x="7696200" y="3505200"/>
            <a:ext cx="388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000">
                <a:solidFill>
                  <a:srgbClr val="1C1813"/>
                </a:solidFill>
                <a:latin typeface="Segoe UI Semibold" panose="020B0702040204020203" pitchFamily="34" charset="0"/>
              </a:rPr>
              <a:t>Limitaciones declaradas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118CF5-28E1-4AF5-E5F9-7063B279317F}"/>
              </a:ext>
            </a:extLst>
          </p:cNvPr>
          <p:cNvSpPr txBox="1"/>
          <p:nvPr/>
        </p:nvSpPr>
        <p:spPr>
          <a:xfrm>
            <a:off x="7696200" y="3721100"/>
            <a:ext cx="3886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5A5248"/>
                </a:solidFill>
                <a:latin typeface="Segoe UI" panose="020B0502040204020203" pitchFamily="34" charset="0"/>
              </a:rPr>
              <a:t>Los potenciales se interpretan sobre gradientes, no sobre valores absolutos. La vida del ánodo supone demanda constante. El módulo estimado tiene ±20 % de dispersión.</a:t>
            </a:r>
            <a:endParaRPr lang="es-BO" sz="105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2AEB890-843B-BF0B-9BBC-699C2C01DF77}"/>
              </a:ext>
            </a:extLst>
          </p:cNvPr>
          <p:cNvSpPr/>
          <p:nvPr/>
        </p:nvSpPr>
        <p:spPr>
          <a:xfrm>
            <a:off x="609600" y="4699000"/>
            <a:ext cx="10972800" cy="711200"/>
          </a:xfrm>
          <a:prstGeom prst="rect">
            <a:avLst/>
          </a:prstGeom>
          <a:solidFill>
            <a:srgbClr val="241F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8B1D7CB-A282-B48D-C261-606E77EE29CA}"/>
              </a:ext>
            </a:extLst>
          </p:cNvPr>
          <p:cNvSpPr txBox="1"/>
          <p:nvPr/>
        </p:nvSpPr>
        <p:spPr>
          <a:xfrm>
            <a:off x="838200" y="4749800"/>
            <a:ext cx="105664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Las dos decisiones que determinan si la reparación dura —</a:t>
            </a:r>
            <a:r>
              <a:rPr lang="es-MX" sz="1200" b="1">
                <a:solidFill>
                  <a:srgbClr val="FFFFFF"/>
                </a:solidFill>
                <a:latin typeface="Segoe UI Semibold" panose="020B0702040204020203" pitchFamily="34" charset="0"/>
              </a:rPr>
              <a:t>el alcance del saneo y el módulo de lo que se repone</a:t>
            </a:r>
            <a:r>
              <a:rPr lang="es-MX" sz="1200">
                <a:solidFill>
                  <a:srgbClr val="FFFFFF"/>
                </a:solidFill>
                <a:latin typeface="Segoe UI" panose="020B0502040204020203" pitchFamily="34" charset="0"/>
              </a:rPr>
              <a:t>— no figuran en ningún catálogo de producto. Resultan de un mapa de potenciales y de una raíz cuadrada.</a:t>
            </a:r>
            <a:endParaRPr lang="es-BO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31A536D-B326-CA36-624C-5D1F7831ACFF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ASTM C876; EN 1504-3 y -9; ACI 546R; ACI 318-19 §19.2.2.1.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DD340D1-AE9C-22DF-547E-3EDD07EC14E2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19D3B53-C8CE-0266-5272-EEBF0C475CB2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7442FC9-C625-778F-2BDC-6C6A2FB8DE13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3" name="PageNo">
            <a:extLst>
              <a:ext uri="{FF2B5EF4-FFF2-40B4-BE49-F238E27FC236}">
                <a16:creationId xmlns:a16="http://schemas.microsoft.com/office/drawing/2014/main" id="{FB0A72E5-7BE1-95ED-F1CE-B6E1A8992C49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37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3214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C3E7C4-0DDF-A4D1-8E9B-AB4E43E8C70F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spc="180">
                <a:solidFill>
                  <a:srgbClr val="6A4F20"/>
                </a:solidFill>
                <a:latin typeface="Segoe UI Semibold" panose="020B0702040204020203" pitchFamily="34" charset="0"/>
              </a:rPr>
              <a:t>HERRAMIENTAS DE LA CLASE  ·  CLASE 6</a:t>
            </a:r>
            <a:endParaRPr lang="es-BO" sz="900" spc="180">
              <a:solidFill>
                <a:srgbClr val="6A4F2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3FA56D9-A496-9DBB-A8F1-438B5684755B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700">
                <a:solidFill>
                  <a:srgbClr val="1C1813"/>
                </a:solidFill>
                <a:latin typeface="Bahnschrift SemiBold" panose="020B0502040204020203" pitchFamily="34" charset="0"/>
              </a:rPr>
              <a:t>La planilla de reparación y la especificación</a:t>
            </a:r>
            <a:endParaRPr lang="es-BO" sz="270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6EE6C70-F451-925F-13BC-06A8F1D2B930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BC6019F6-EAF1-3D9A-CC88-C425B2D23904}"/>
              </a:ext>
            </a:extLst>
          </p:cNvPr>
          <p:cNvSpPr/>
          <p:nvPr/>
        </p:nvSpPr>
        <p:spPr>
          <a:xfrm>
            <a:off x="609600" y="1371600"/>
            <a:ext cx="6858000" cy="2895600"/>
          </a:xfrm>
          <a:prstGeom prst="rect">
            <a:avLst/>
          </a:prstGeom>
          <a:solidFill>
            <a:srgbClr val="EAE4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8" name="Imagen 7" descr="Hoja 7 · Especificación y recepción">
            <a:extLst>
              <a:ext uri="{FF2B5EF4-FFF2-40B4-BE49-F238E27FC236}">
                <a16:creationId xmlns:a16="http://schemas.microsoft.com/office/drawing/2014/main" id="{E3B22FBC-B250-9140-DA46-F17FB7FEFCE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486" y="1498600"/>
            <a:ext cx="5566228" cy="2641600"/>
          </a:xfrm>
          <a:prstGeom prst="rect">
            <a:avLst/>
          </a:prstGeom>
          <a:ln w="9525">
            <a:solidFill>
              <a:srgbClr val="DCD5C7"/>
            </a:solidFill>
          </a:ln>
          <a:effectLst>
            <a:outerShdw blurRad="152400" dist="38100" dir="5400000" rotWithShape="0">
              <a:srgbClr val="1C1813">
                <a:alpha val="28000"/>
              </a:srgbClr>
            </a:outerShdw>
          </a:effec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AF7BDEE-7A03-F192-01DB-825CFDAF087B}"/>
              </a:ext>
            </a:extLst>
          </p:cNvPr>
          <p:cNvSpPr/>
          <p:nvPr/>
        </p:nvSpPr>
        <p:spPr>
          <a:xfrm>
            <a:off x="7670800" y="1371600"/>
            <a:ext cx="391160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E13C8E-A0EB-7E2B-9717-494A5F6CB6DA}"/>
              </a:ext>
            </a:extLst>
          </p:cNvPr>
          <p:cNvSpPr txBox="1"/>
          <p:nvPr/>
        </p:nvSpPr>
        <p:spPr>
          <a:xfrm>
            <a:off x="7823200" y="1524000"/>
            <a:ext cx="216408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650">
                <a:solidFill>
                  <a:srgbClr val="938A7C"/>
                </a:solidFill>
                <a:latin typeface="Segoe UI" panose="020B0502040204020203" pitchFamily="34" charset="0"/>
              </a:rPr>
              <a:t>Especificación de reparación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2A2A309-68AD-F1C6-6CEF-4595B1DC03C3}"/>
              </a:ext>
            </a:extLst>
          </p:cNvPr>
          <p:cNvSpPr txBox="1"/>
          <p:nvPr/>
        </p:nvSpPr>
        <p:spPr>
          <a:xfrm>
            <a:off x="9987280" y="1524000"/>
            <a:ext cx="144272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650">
                <a:solidFill>
                  <a:srgbClr val="938A7C"/>
                </a:solidFill>
                <a:latin typeface="Segoe UI" panose="020B0502040204020203" pitchFamily="34" charset="0"/>
              </a:rPr>
              <a:t>PH-ESP-001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C6CBB61-9166-D4E7-9D7D-56877C969A08}"/>
              </a:ext>
            </a:extLst>
          </p:cNvPr>
          <p:cNvCxnSpPr/>
          <p:nvPr/>
        </p:nvCxnSpPr>
        <p:spPr>
          <a:xfrm>
            <a:off x="7823200" y="1676400"/>
            <a:ext cx="3606800" cy="0"/>
          </a:xfrm>
          <a:prstGeom prst="line">
            <a:avLst/>
          </a:prstGeom>
          <a:ln w="9525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9B608F5-FB45-4550-82A6-35450C96B65B}"/>
              </a:ext>
            </a:extLst>
          </p:cNvPr>
          <p:cNvCxnSpPr/>
          <p:nvPr/>
        </p:nvCxnSpPr>
        <p:spPr>
          <a:xfrm>
            <a:off x="7823200" y="1803400"/>
            <a:ext cx="3606800" cy="0"/>
          </a:xfrm>
          <a:prstGeom prst="line">
            <a:avLst/>
          </a:prstGeom>
          <a:ln w="12700">
            <a:solidFill>
              <a:srgbClr val="8A6A2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49593A1-D7E7-7424-09EA-6F3A7397AC15}"/>
              </a:ext>
            </a:extLst>
          </p:cNvPr>
          <p:cNvSpPr txBox="1"/>
          <p:nvPr/>
        </p:nvSpPr>
        <p:spPr>
          <a:xfrm>
            <a:off x="7823200" y="1828800"/>
            <a:ext cx="3606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50">
                <a:solidFill>
                  <a:srgbClr val="1C1813"/>
                </a:solidFill>
                <a:latin typeface="Bahnschrift SemiBold" panose="020B0502040204020203" pitchFamily="34" charset="0"/>
              </a:rPr>
              <a:t>2 · Principios de EN 1504-9</a:t>
            </a:r>
            <a:endParaRPr lang="es-BO" sz="950">
              <a:solidFill>
                <a:srgbClr val="1C1813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00383DD-A397-01A7-983F-14D71AFE61FB}"/>
              </a:ext>
            </a:extLst>
          </p:cNvPr>
          <p:cNvSpPr txBox="1"/>
          <p:nvPr/>
        </p:nvSpPr>
        <p:spPr>
          <a:xfrm>
            <a:off x="7899400" y="2032000"/>
            <a:ext cx="35306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650" i="1">
                <a:solidFill>
                  <a:srgbClr val="6A4F20"/>
                </a:solidFill>
                <a:latin typeface="Segoe UI" panose="020B0502040204020203" pitchFamily="34" charset="0"/>
              </a:rPr>
              <a:t>→  Justifique también los principios que descarta.</a:t>
            </a:r>
            <a:endParaRPr lang="es-BO" sz="650" i="1">
              <a:solidFill>
                <a:srgbClr val="6A4F20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BF03709-209D-EF75-8F3B-E4F36C9955AC}"/>
              </a:ext>
            </a:extLst>
          </p:cNvPr>
          <p:cNvSpPr/>
          <p:nvPr/>
        </p:nvSpPr>
        <p:spPr>
          <a:xfrm>
            <a:off x="7823200" y="2235200"/>
            <a:ext cx="1659128" cy="228600"/>
          </a:xfrm>
          <a:prstGeom prst="rect">
            <a:avLst/>
          </a:prstGeom>
          <a:solidFill>
            <a:srgbClr val="EAE4D6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1899D0-965E-2272-FB13-975BAEEAC0A1}"/>
              </a:ext>
            </a:extLst>
          </p:cNvPr>
          <p:cNvSpPr/>
          <p:nvPr/>
        </p:nvSpPr>
        <p:spPr>
          <a:xfrm>
            <a:off x="9482328" y="2235200"/>
            <a:ext cx="19476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11379DF-40C0-92E8-2451-EB680E83EE49}"/>
              </a:ext>
            </a:extLst>
          </p:cNvPr>
          <p:cNvSpPr txBox="1"/>
          <p:nvPr/>
        </p:nvSpPr>
        <p:spPr>
          <a:xfrm>
            <a:off x="7886700" y="2260600"/>
            <a:ext cx="1557528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700">
                <a:solidFill>
                  <a:srgbClr val="1C1813"/>
                </a:solidFill>
                <a:latin typeface="Segoe UI Semibold" panose="020B0702040204020203" pitchFamily="34" charset="0"/>
              </a:rPr>
              <a:t>Elemento y mecanismo diagnosticado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97465B7-7D9F-0D15-1B94-4E1BC84D756B}"/>
              </a:ext>
            </a:extLst>
          </p:cNvPr>
          <p:cNvSpPr/>
          <p:nvPr/>
        </p:nvSpPr>
        <p:spPr>
          <a:xfrm>
            <a:off x="7823200" y="2540000"/>
            <a:ext cx="1202267" cy="177800"/>
          </a:xfrm>
          <a:prstGeom prst="rect">
            <a:avLst/>
          </a:prstGeom>
          <a:solidFill>
            <a:srgbClr val="1C1813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482F5F6-88BD-D1E4-2873-C299A8C62C00}"/>
              </a:ext>
            </a:extLst>
          </p:cNvPr>
          <p:cNvSpPr txBox="1"/>
          <p:nvPr/>
        </p:nvSpPr>
        <p:spPr>
          <a:xfrm>
            <a:off x="7874000" y="25527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FFFFFF"/>
                </a:solidFill>
                <a:latin typeface="Segoe UI Semibold" panose="020B0702040204020203" pitchFamily="34" charset="0"/>
              </a:rPr>
              <a:t>N.º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F9E7467-5F93-A25F-C401-5B49889A9928}"/>
              </a:ext>
            </a:extLst>
          </p:cNvPr>
          <p:cNvSpPr/>
          <p:nvPr/>
        </p:nvSpPr>
        <p:spPr>
          <a:xfrm>
            <a:off x="9025467" y="2540000"/>
            <a:ext cx="1202267" cy="177800"/>
          </a:xfrm>
          <a:prstGeom prst="rect">
            <a:avLst/>
          </a:prstGeom>
          <a:solidFill>
            <a:srgbClr val="1C1813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EB7DA21-EFFA-09DD-2290-05399EEE51A9}"/>
              </a:ext>
            </a:extLst>
          </p:cNvPr>
          <p:cNvSpPr txBox="1"/>
          <p:nvPr/>
        </p:nvSpPr>
        <p:spPr>
          <a:xfrm>
            <a:off x="9076267" y="25527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FFFFFF"/>
                </a:solidFill>
                <a:latin typeface="Segoe UI Semibold" panose="020B0702040204020203" pitchFamily="34" charset="0"/>
              </a:rPr>
              <a:t>Principio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C2691CA-D84A-C5D2-6618-4B03A198DB57}"/>
              </a:ext>
            </a:extLst>
          </p:cNvPr>
          <p:cNvSpPr/>
          <p:nvPr/>
        </p:nvSpPr>
        <p:spPr>
          <a:xfrm>
            <a:off x="10227733" y="2540000"/>
            <a:ext cx="1202267" cy="177800"/>
          </a:xfrm>
          <a:prstGeom prst="rect">
            <a:avLst/>
          </a:prstGeom>
          <a:solidFill>
            <a:srgbClr val="1C1813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774F3D3-41CB-F013-109B-1C1660E15586}"/>
              </a:ext>
            </a:extLst>
          </p:cNvPr>
          <p:cNvSpPr txBox="1"/>
          <p:nvPr/>
        </p:nvSpPr>
        <p:spPr>
          <a:xfrm>
            <a:off x="10278533" y="25527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650">
                <a:solidFill>
                  <a:srgbClr val="FFFFFF"/>
                </a:solidFill>
                <a:latin typeface="Segoe UI Semibold" panose="020B0702040204020203" pitchFamily="34" charset="0"/>
              </a:rPr>
              <a:t>¿Aplica?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975710E-B034-831E-5826-7367C452122C}"/>
              </a:ext>
            </a:extLst>
          </p:cNvPr>
          <p:cNvSpPr/>
          <p:nvPr/>
        </p:nvSpPr>
        <p:spPr>
          <a:xfrm>
            <a:off x="7823200" y="2717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4D41709-8489-B99B-EDFF-96168EF8EC0E}"/>
              </a:ext>
            </a:extLst>
          </p:cNvPr>
          <p:cNvSpPr txBox="1"/>
          <p:nvPr/>
        </p:nvSpPr>
        <p:spPr>
          <a:xfrm>
            <a:off x="7874000" y="2730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75A8580-610E-3377-5F3B-3B1DA861CA27}"/>
              </a:ext>
            </a:extLst>
          </p:cNvPr>
          <p:cNvSpPr/>
          <p:nvPr/>
        </p:nvSpPr>
        <p:spPr>
          <a:xfrm>
            <a:off x="9025467" y="2717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F4CDB19-D5D7-0764-40CB-2E4C3DD0A74C}"/>
              </a:ext>
            </a:extLst>
          </p:cNvPr>
          <p:cNvSpPr txBox="1"/>
          <p:nvPr/>
        </p:nvSpPr>
        <p:spPr>
          <a:xfrm>
            <a:off x="9076267" y="2730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Restauración del hormigón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CF65455-11FE-A13D-22A7-ED8B23ACA02E}"/>
              </a:ext>
            </a:extLst>
          </p:cNvPr>
          <p:cNvSpPr/>
          <p:nvPr/>
        </p:nvSpPr>
        <p:spPr>
          <a:xfrm>
            <a:off x="10227733" y="2717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8509792-5374-1036-5B72-2540E6165686}"/>
              </a:ext>
            </a:extLst>
          </p:cNvPr>
          <p:cNvSpPr txBox="1"/>
          <p:nvPr/>
        </p:nvSpPr>
        <p:spPr>
          <a:xfrm>
            <a:off x="10278533" y="2730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EDCBE84-7F29-0D55-DEA1-5B9130A90569}"/>
              </a:ext>
            </a:extLst>
          </p:cNvPr>
          <p:cNvSpPr/>
          <p:nvPr/>
        </p:nvSpPr>
        <p:spPr>
          <a:xfrm>
            <a:off x="7823200" y="2908300"/>
            <a:ext cx="1202267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0AF2C6B-8D5E-38ED-4376-D46762AE0BEC}"/>
              </a:ext>
            </a:extLst>
          </p:cNvPr>
          <p:cNvSpPr txBox="1"/>
          <p:nvPr/>
        </p:nvSpPr>
        <p:spPr>
          <a:xfrm>
            <a:off x="7874000" y="29210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513ABF7-A572-97A5-317D-0F527DA6460E}"/>
              </a:ext>
            </a:extLst>
          </p:cNvPr>
          <p:cNvSpPr/>
          <p:nvPr/>
        </p:nvSpPr>
        <p:spPr>
          <a:xfrm>
            <a:off x="9025467" y="2908300"/>
            <a:ext cx="1202267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3857C19-CFF3-675E-27D5-52ED22F6DFEA}"/>
              </a:ext>
            </a:extLst>
          </p:cNvPr>
          <p:cNvSpPr txBox="1"/>
          <p:nvPr/>
        </p:nvSpPr>
        <p:spPr>
          <a:xfrm>
            <a:off x="9076267" y="29210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Restauración de la pasividad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0FD5F7-B0AD-55B2-6F55-2E896FA856D6}"/>
              </a:ext>
            </a:extLst>
          </p:cNvPr>
          <p:cNvSpPr/>
          <p:nvPr/>
        </p:nvSpPr>
        <p:spPr>
          <a:xfrm>
            <a:off x="10227733" y="2908300"/>
            <a:ext cx="1202267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5888711-EFF8-2585-3F64-1DFA71160721}"/>
              </a:ext>
            </a:extLst>
          </p:cNvPr>
          <p:cNvSpPr txBox="1"/>
          <p:nvPr/>
        </p:nvSpPr>
        <p:spPr>
          <a:xfrm>
            <a:off x="10278533" y="29210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DD2D859-08F1-B243-F99B-BF1B58862DCC}"/>
              </a:ext>
            </a:extLst>
          </p:cNvPr>
          <p:cNvSpPr/>
          <p:nvPr/>
        </p:nvSpPr>
        <p:spPr>
          <a:xfrm>
            <a:off x="7823200" y="3098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82FA140-128B-0549-4305-7F6C90760EE7}"/>
              </a:ext>
            </a:extLst>
          </p:cNvPr>
          <p:cNvSpPr txBox="1"/>
          <p:nvPr/>
        </p:nvSpPr>
        <p:spPr>
          <a:xfrm>
            <a:off x="7874000" y="3111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7A008BF-36B7-502C-096D-773A19839C4C}"/>
              </a:ext>
            </a:extLst>
          </p:cNvPr>
          <p:cNvSpPr/>
          <p:nvPr/>
        </p:nvSpPr>
        <p:spPr>
          <a:xfrm>
            <a:off x="9025467" y="3098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2369E43-1F93-1C4B-5C03-FB5E8574EB5B}"/>
              </a:ext>
            </a:extLst>
          </p:cNvPr>
          <p:cNvSpPr txBox="1"/>
          <p:nvPr/>
        </p:nvSpPr>
        <p:spPr>
          <a:xfrm>
            <a:off x="9076267" y="3111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700">
                <a:solidFill>
                  <a:srgbClr val="5A5248"/>
                </a:solidFill>
                <a:latin typeface="Segoe UI" panose="020B0502040204020203" pitchFamily="34" charset="0"/>
              </a:rPr>
              <a:t>Control de áreas anódicas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9AF28B5-90DD-1CF1-DD48-BF29C5C60252}"/>
              </a:ext>
            </a:extLst>
          </p:cNvPr>
          <p:cNvSpPr/>
          <p:nvPr/>
        </p:nvSpPr>
        <p:spPr>
          <a:xfrm>
            <a:off x="10227733" y="3098800"/>
            <a:ext cx="1202267" cy="190500"/>
          </a:xfrm>
          <a:prstGeom prst="rect">
            <a:avLst/>
          </a:prstGeom>
          <a:solidFill>
            <a:srgbClr val="F5F2EA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C2AF3C4-DDDC-B07B-8DF0-1D7207859ECB}"/>
              </a:ext>
            </a:extLst>
          </p:cNvPr>
          <p:cNvSpPr txBox="1"/>
          <p:nvPr/>
        </p:nvSpPr>
        <p:spPr>
          <a:xfrm>
            <a:off x="10278533" y="3111500"/>
            <a:ext cx="1126067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BO" sz="7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59D01AFC-D0A8-270F-E50D-32B65260CBA6}"/>
              </a:ext>
            </a:extLst>
          </p:cNvPr>
          <p:cNvSpPr/>
          <p:nvPr/>
        </p:nvSpPr>
        <p:spPr>
          <a:xfrm>
            <a:off x="609600" y="4343400"/>
            <a:ext cx="6858000" cy="279400"/>
          </a:xfrm>
          <a:prstGeom prst="roundRect">
            <a:avLst>
              <a:gd name="adj" fmla="val 6000"/>
            </a:avLst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01600" bIns="38100" rtlCol="0" anchor="ctr"/>
          <a:lstStyle/>
          <a:p>
            <a:pPr algn="l"/>
            <a:r>
              <a:rPr lang="es-MX" sz="850">
                <a:solidFill>
                  <a:srgbClr val="C9A66B"/>
                </a:solidFill>
                <a:latin typeface="Segoe UI Semibold" panose="020B0702040204020203" pitchFamily="34" charset="0"/>
              </a:rPr>
              <a:t>Planilla  ·  Hoja 7 · Especificación y recepción</a:t>
            </a:r>
            <a:endParaRPr lang="es-BO" sz="850">
              <a:solidFill>
                <a:srgbClr val="C9A66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444F09FF-A81B-C327-7C23-4D047C0157B1}"/>
              </a:ext>
            </a:extLst>
          </p:cNvPr>
          <p:cNvSpPr/>
          <p:nvPr/>
        </p:nvSpPr>
        <p:spPr>
          <a:xfrm>
            <a:off x="7670800" y="4343400"/>
            <a:ext cx="3911600" cy="279400"/>
          </a:xfrm>
          <a:prstGeom prst="roundRect">
            <a:avLst>
              <a:gd name="adj" fmla="val 6000"/>
            </a:avLst>
          </a:prstGeom>
          <a:solidFill>
            <a:srgbClr val="1C18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Ins="101600" bIns="38100" rtlCol="0" anchor="ctr"/>
          <a:lstStyle/>
          <a:p>
            <a:pPr algn="l"/>
            <a:r>
              <a:rPr lang="es-BO" sz="850">
                <a:solidFill>
                  <a:srgbClr val="C9A66B"/>
                </a:solidFill>
                <a:latin typeface="Segoe UI Semibold" panose="020B0702040204020203" pitchFamily="34" charset="0"/>
              </a:rPr>
              <a:t>Formato  ·  PH_Especificacion-de-reparacion.docx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DD7C933-DE09-B760-E4C6-58B8DA86E161}"/>
              </a:ext>
            </a:extLst>
          </p:cNvPr>
          <p:cNvSpPr/>
          <p:nvPr/>
        </p:nvSpPr>
        <p:spPr>
          <a:xfrm>
            <a:off x="6096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9F48F2F-CCEA-BFD5-0F89-CBDFEFA9874E}"/>
              </a:ext>
            </a:extLst>
          </p:cNvPr>
          <p:cNvSpPr/>
          <p:nvPr/>
        </p:nvSpPr>
        <p:spPr>
          <a:xfrm>
            <a:off x="6096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BDEC25C-F176-14A5-40F8-261CC9B55C94}"/>
              </a:ext>
            </a:extLst>
          </p:cNvPr>
          <p:cNvSpPr txBox="1"/>
          <p:nvPr/>
        </p:nvSpPr>
        <p:spPr>
          <a:xfrm>
            <a:off x="7620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Qué pone usted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CEF25E-F3F1-7D5E-7CDB-41917B246EB6}"/>
              </a:ext>
            </a:extLst>
          </p:cNvPr>
          <p:cNvSpPr txBox="1"/>
          <p:nvPr/>
        </p:nvSpPr>
        <p:spPr>
          <a:xfrm>
            <a:off x="7620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La resistencia in situ del sustrato, el módulo del mortero ofrecido, la geometría del parche y los tres puntos de arrancamiento.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B2D8724-4BA7-93DD-156C-25BD66C272EB}"/>
              </a:ext>
            </a:extLst>
          </p:cNvPr>
          <p:cNvSpPr/>
          <p:nvPr/>
        </p:nvSpPr>
        <p:spPr>
          <a:xfrm>
            <a:off x="33909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D76E22EC-4D95-9820-584D-12C56E657D4E}"/>
              </a:ext>
            </a:extLst>
          </p:cNvPr>
          <p:cNvSpPr/>
          <p:nvPr/>
        </p:nvSpPr>
        <p:spPr>
          <a:xfrm>
            <a:off x="33909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B11BB8B-A3C7-0D60-F134-F051691F6ED4}"/>
              </a:ext>
            </a:extLst>
          </p:cNvPr>
          <p:cNvSpPr txBox="1"/>
          <p:nvPr/>
        </p:nvSpPr>
        <p:spPr>
          <a:xfrm>
            <a:off x="35433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Qué sale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AFA5339-661B-29C1-9210-8853F6F72612}"/>
              </a:ext>
            </a:extLst>
          </p:cNvPr>
          <p:cNvSpPr txBox="1"/>
          <p:nvPr/>
        </p:nvSpPr>
        <p:spPr>
          <a:xfrm>
            <a:off x="35433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Si el mortero es compatible, cuántos ánodos hacen falta, cuántos años duran y si el arrancamiento se acepta o no.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6E523E8-C307-2BE5-336B-135E865257A8}"/>
              </a:ext>
            </a:extLst>
          </p:cNvPr>
          <p:cNvSpPr/>
          <p:nvPr/>
        </p:nvSpPr>
        <p:spPr>
          <a:xfrm>
            <a:off x="61722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2F823187-D9FD-6B8B-DEC6-37F462D0FBF3}"/>
              </a:ext>
            </a:extLst>
          </p:cNvPr>
          <p:cNvSpPr/>
          <p:nvPr/>
        </p:nvSpPr>
        <p:spPr>
          <a:xfrm>
            <a:off x="61722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4FEEB9B-76B1-F11E-4B3B-6321437039E9}"/>
              </a:ext>
            </a:extLst>
          </p:cNvPr>
          <p:cNvSpPr txBox="1"/>
          <p:nvPr/>
        </p:nvSpPr>
        <p:spPr>
          <a:xfrm>
            <a:off x="63246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La especificación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90BE1EB-2F79-4573-76E4-748656B4DA43}"/>
              </a:ext>
            </a:extLst>
          </p:cNvPr>
          <p:cNvSpPr txBox="1"/>
          <p:nvPr/>
        </p:nvSpPr>
        <p:spPr>
          <a:xfrm>
            <a:off x="63246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Obliga a declarar cuáles de los once principios de EN 1504-9 se aplican, y a justificar también los que se descartan.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26601656-71E2-AF59-2FFA-F587F52C22D1}"/>
              </a:ext>
            </a:extLst>
          </p:cNvPr>
          <p:cNvSpPr/>
          <p:nvPr/>
        </p:nvSpPr>
        <p:spPr>
          <a:xfrm>
            <a:off x="8953500" y="4800600"/>
            <a:ext cx="26289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5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B49B2805-F0CC-12E0-1847-4DE3969F5DF3}"/>
              </a:ext>
            </a:extLst>
          </p:cNvPr>
          <p:cNvSpPr/>
          <p:nvPr/>
        </p:nvSpPr>
        <p:spPr>
          <a:xfrm>
            <a:off x="8953500" y="4800600"/>
            <a:ext cx="2628900" cy="3175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5C9D550-891F-1233-539C-0B112C23A2B4}"/>
              </a:ext>
            </a:extLst>
          </p:cNvPr>
          <p:cNvSpPr txBox="1"/>
          <p:nvPr/>
        </p:nvSpPr>
        <p:spPr>
          <a:xfrm>
            <a:off x="9105900" y="4902200"/>
            <a:ext cx="2374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BO" sz="1150">
                <a:solidFill>
                  <a:srgbClr val="1C1813"/>
                </a:solidFill>
                <a:latin typeface="Bahnschrift SemiBold" panose="020B0502040204020203" pitchFamily="34" charset="0"/>
              </a:rPr>
              <a:t>El acta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2F71BB9-AC1F-E133-77E8-975F048A0469}"/>
              </a:ext>
            </a:extLst>
          </p:cNvPr>
          <p:cNvSpPr txBox="1"/>
          <p:nvPr/>
        </p:nvSpPr>
        <p:spPr>
          <a:xfrm>
            <a:off x="9105900" y="5156200"/>
            <a:ext cx="23749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900">
                <a:solidFill>
                  <a:srgbClr val="5A5248"/>
                </a:solidFill>
                <a:latin typeface="Segoe UI" panose="020B0502040204020203" pitchFamily="34" charset="0"/>
              </a:rPr>
              <a:t>PH_Acta-de-punto-de-parada.docx recoge los cinco momentos en que el tajo se detiene y alguien firma antes de tapar.</a:t>
            </a:r>
            <a:endParaRPr lang="es-BO" sz="900">
              <a:solidFill>
                <a:srgbClr val="5A5248"/>
              </a:solidFill>
              <a:latin typeface="Segoe UI" panose="020B0502040204020203" pitchFamily="34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DEF7035-0540-3131-0E41-F2D45DF54BDF}"/>
              </a:ext>
            </a:extLst>
          </p:cNvPr>
          <p:cNvSpPr txBox="1"/>
          <p:nvPr/>
        </p:nvSpPr>
        <p:spPr>
          <a:xfrm>
            <a:off x="609600" y="6324600"/>
            <a:ext cx="10972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700">
                <a:solidFill>
                  <a:srgbClr val="938A7C"/>
                </a:solidFill>
                <a:latin typeface="Segoe UI" panose="020B0502040204020203" pitchFamily="34" charset="0"/>
              </a:rPr>
              <a:t>Fuente: Plantillas_y_formatos del curso. Los valores cargados son los del caso ejemplo, la nave Sector 4.</a:t>
            </a:r>
            <a:endParaRPr lang="es-BO" sz="700">
              <a:solidFill>
                <a:srgbClr val="938A7C"/>
              </a:solidFill>
              <a:latin typeface="Segoe UI" panose="020B0502040204020203" pitchFamily="34" charset="0"/>
            </a:endParaRP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52C87379-1504-DA12-6A98-0B0BB702890E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37BE7EF3-472D-F5EB-9AD1-A160E60936E5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38A7C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38A7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7FFA185D-B336-8DAD-5017-45DA1D26F0D4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38A7C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65" name="PageNo">
            <a:extLst>
              <a:ext uri="{FF2B5EF4-FFF2-40B4-BE49-F238E27FC236}">
                <a16:creationId xmlns:a16="http://schemas.microsoft.com/office/drawing/2014/main" id="{44B851F9-2F52-FF82-BDE1-E7A2B6B65ED7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1C1813"/>
                </a:solidFill>
                <a:latin typeface="Bahnschrift SemiBold" panose="020B0502040204020203" pitchFamily="34" charset="0"/>
              </a:rPr>
              <a:t>38 / 40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110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4A59748-005F-BBDD-98D2-3A1F5A27D2A8}"/>
              </a:ext>
            </a:extLst>
          </p:cNvPr>
          <p:cNvSpPr txBox="1"/>
          <p:nvPr/>
        </p:nvSpPr>
        <p:spPr>
          <a:xfrm>
            <a:off x="609600" y="406400"/>
            <a:ext cx="10972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8A6A2F"/>
                </a:solidFill>
                <a:latin typeface="Segoe UI Semibold" panose="020B0702040204020203" pitchFamily="34" charset="0"/>
              </a:rPr>
              <a:t>SÍNTESIS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C3F9CFB-8E81-68EC-4095-89A73D0E0793}"/>
              </a:ext>
            </a:extLst>
          </p:cNvPr>
          <p:cNvSpPr txBox="1"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700">
                <a:solidFill>
                  <a:srgbClr val="FFFFFF"/>
                </a:solidFill>
                <a:latin typeface="Bahnschrift SemiBold" panose="020B0502040204020203" pitchFamily="34" charset="0"/>
              </a:rPr>
              <a:t>Ideas para llevarse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0AEC77A-A892-CD21-701E-E5FB11941188}"/>
              </a:ext>
            </a:extLst>
          </p:cNvPr>
          <p:cNvCxnSpPr/>
          <p:nvPr/>
        </p:nvCxnSpPr>
        <p:spPr>
          <a:xfrm>
            <a:off x="609600" y="1206500"/>
            <a:ext cx="10972800" cy="0"/>
          </a:xfrm>
          <a:prstGeom prst="line">
            <a:avLst/>
          </a:prstGeom>
          <a:ln w="9525">
            <a:solidFill>
              <a:srgbClr val="DCD5C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80079F35-2F89-BE15-8585-183FD64D8F99}"/>
              </a:ext>
            </a:extLst>
          </p:cNvPr>
          <p:cNvSpPr/>
          <p:nvPr/>
        </p:nvSpPr>
        <p:spPr>
          <a:xfrm>
            <a:off x="609600" y="14986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782445-B086-723F-A4CC-6F61E186E434}"/>
              </a:ext>
            </a:extLst>
          </p:cNvPr>
          <p:cNvSpPr txBox="1"/>
          <p:nvPr/>
        </p:nvSpPr>
        <p:spPr>
          <a:xfrm>
            <a:off x="863600" y="16764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255814-6D85-AE38-A8CB-D337A332CB77}"/>
              </a:ext>
            </a:extLst>
          </p:cNvPr>
          <p:cNvSpPr txBox="1"/>
          <p:nvPr/>
        </p:nvSpPr>
        <p:spPr>
          <a:xfrm>
            <a:off x="1625600" y="16764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Primero el principio, después el producto. La EN 1504-9 da once principios y casi nunca hace falta uno solo.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ECDFA00-7F45-D767-BF8C-AA5F68E8BF9E}"/>
              </a:ext>
            </a:extLst>
          </p:cNvPr>
          <p:cNvSpPr/>
          <p:nvPr/>
        </p:nvSpPr>
        <p:spPr>
          <a:xfrm>
            <a:off x="6248400" y="14986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0C0C5C-521B-8B3F-DFC0-1EEF67C26AF8}"/>
              </a:ext>
            </a:extLst>
          </p:cNvPr>
          <p:cNvSpPr txBox="1"/>
          <p:nvPr/>
        </p:nvSpPr>
        <p:spPr>
          <a:xfrm>
            <a:off x="6502400" y="16764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589D97E-5672-4234-BE19-F79A0DF04ED8}"/>
              </a:ext>
            </a:extLst>
          </p:cNvPr>
          <p:cNvSpPr txBox="1"/>
          <p:nvPr/>
        </p:nvSpPr>
        <p:spPr>
          <a:xfrm>
            <a:off x="7264400" y="16764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El saneo llega hasta donde manda el criterio más exigente de los cuatro, nunca hasta donde acaba lo que se ve.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8B605E-A6F2-1647-EB47-E18808C807E6}"/>
              </a:ext>
            </a:extLst>
          </p:cNvPr>
          <p:cNvSpPr/>
          <p:nvPr/>
        </p:nvSpPr>
        <p:spPr>
          <a:xfrm>
            <a:off x="609600" y="29718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5FB9465-073D-97E3-330C-421A68A77F66}"/>
              </a:ext>
            </a:extLst>
          </p:cNvPr>
          <p:cNvSpPr txBox="1"/>
          <p:nvPr/>
        </p:nvSpPr>
        <p:spPr>
          <a:xfrm>
            <a:off x="863600" y="31496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C6AF822-4EB4-1FCA-C3FD-9A61E7B08755}"/>
              </a:ext>
            </a:extLst>
          </p:cNvPr>
          <p:cNvSpPr txBox="1"/>
          <p:nvPr/>
        </p:nvSpPr>
        <p:spPr>
          <a:xfrm>
            <a:off x="1625600" y="31496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Con cloruros, reparar sin controlar las áreas anódicas provoca un daño nuevo en el borde en seis a veinticuatro meses.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7928D7F-1C4C-5C71-1AA0-481A73C91CA7}"/>
              </a:ext>
            </a:extLst>
          </p:cNvPr>
          <p:cNvSpPr/>
          <p:nvPr/>
        </p:nvSpPr>
        <p:spPr>
          <a:xfrm>
            <a:off x="6248400" y="29718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21E77D-1DB4-52DC-8A3D-846A9FF7392E}"/>
              </a:ext>
            </a:extLst>
          </p:cNvPr>
          <p:cNvSpPr txBox="1"/>
          <p:nvPr/>
        </p:nvSpPr>
        <p:spPr>
          <a:xfrm>
            <a:off x="6502400" y="31496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845C9B-E237-2B63-7E97-1AD447C65EF8}"/>
              </a:ext>
            </a:extLst>
          </p:cNvPr>
          <p:cNvSpPr txBox="1"/>
          <p:nvPr/>
        </p:nvSpPr>
        <p:spPr>
          <a:xfrm>
            <a:off x="7264400" y="31496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Un mortero se elige por clase y por parecerse al soporte: más rígido que el sustrato es peor, no mejor.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CE7AD8E-BF4F-9072-0FC8-F42025614CD9}"/>
              </a:ext>
            </a:extLst>
          </p:cNvPr>
          <p:cNvSpPr/>
          <p:nvPr/>
        </p:nvSpPr>
        <p:spPr>
          <a:xfrm>
            <a:off x="609600" y="44450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D983F1A-F32D-E472-3D57-B3E65CC15590}"/>
              </a:ext>
            </a:extLst>
          </p:cNvPr>
          <p:cNvSpPr txBox="1"/>
          <p:nvPr/>
        </p:nvSpPr>
        <p:spPr>
          <a:xfrm>
            <a:off x="863600" y="46228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05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979A2A7-EF63-F16D-163C-912C31976AAC}"/>
              </a:ext>
            </a:extLst>
          </p:cNvPr>
          <p:cNvSpPr txBox="1"/>
          <p:nvPr/>
        </p:nvSpPr>
        <p:spPr>
          <a:xfrm>
            <a:off x="1625600" y="46228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En el arrancamiento, el modo de rotura dice más que el número: cohesiva en el sustrato no es un defecto de la reparación.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0636D55-5DF1-8421-3320-A7279B47CB4E}"/>
              </a:ext>
            </a:extLst>
          </p:cNvPr>
          <p:cNvSpPr/>
          <p:nvPr/>
        </p:nvSpPr>
        <p:spPr>
          <a:xfrm>
            <a:off x="6248400" y="4445000"/>
            <a:ext cx="5334000" cy="1295400"/>
          </a:xfrm>
          <a:prstGeom prst="rect">
            <a:avLst/>
          </a:prstGeom>
          <a:solidFill>
            <a:srgbClr val="241F18"/>
          </a:solidFill>
          <a:ln w="6350">
            <a:solidFill>
              <a:srgbClr val="3A3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54C061A-2888-F892-DF4B-418CEE54BCCD}"/>
              </a:ext>
            </a:extLst>
          </p:cNvPr>
          <p:cNvSpPr txBox="1"/>
          <p:nvPr/>
        </p:nvSpPr>
        <p:spPr>
          <a:xfrm>
            <a:off x="6502400" y="4622800"/>
            <a:ext cx="762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2800">
                <a:solidFill>
                  <a:srgbClr val="C9A66B"/>
                </a:solidFill>
                <a:latin typeface="Bahnschrift Light" panose="020B0502040204020203" pitchFamily="34" charset="0"/>
              </a:rPr>
              <a:t>06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D630D0-CE40-5BEA-D741-F05292893C6C}"/>
              </a:ext>
            </a:extLst>
          </p:cNvPr>
          <p:cNvSpPr txBox="1"/>
          <p:nvPr/>
        </p:nvSpPr>
        <p:spPr>
          <a:xfrm>
            <a:off x="7264400" y="4622800"/>
            <a:ext cx="40894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250">
                <a:solidFill>
                  <a:srgbClr val="FFFFFF"/>
                </a:solidFill>
                <a:latin typeface="Segoe UI" panose="020B0502040204020203" pitchFamily="34" charset="0"/>
              </a:rPr>
              <a:t>Una reparación termina con el as-built, las actas de los puntos de parada, los ensayos y un plan de mantenimiento fechado.</a:t>
            </a:r>
            <a:endParaRPr lang="es-BO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5AC89092-7316-38BC-447C-B7CBF7C11532}"/>
              </a:ext>
            </a:extLst>
          </p:cNvPr>
          <p:cNvCxnSpPr/>
          <p:nvPr/>
        </p:nvCxnSpPr>
        <p:spPr>
          <a:xfrm>
            <a:off x="609600" y="6527800"/>
            <a:ext cx="10972800" cy="0"/>
          </a:xfrm>
          <a:prstGeom prst="line">
            <a:avLst/>
          </a:prstGeom>
          <a:ln w="6350">
            <a:solidFill>
              <a:srgbClr val="3A322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0FB5A25-2773-5D8B-D83F-64C29BB2F686}"/>
              </a:ext>
            </a:extLst>
          </p:cNvPr>
          <p:cNvSpPr txBox="1"/>
          <p:nvPr/>
        </p:nvSpPr>
        <p:spPr>
          <a:xfrm>
            <a:off x="609600" y="6604000"/>
            <a:ext cx="2794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700" spc="160">
                <a:solidFill>
                  <a:srgbClr val="9C9284"/>
                </a:solidFill>
                <a:latin typeface="Segoe UI Semibold" panose="020B0702040204020203" pitchFamily="34" charset="0"/>
              </a:rPr>
              <a:t>DIAGNÓSTICO DE PATOLOGÍAS, RECUPERACIÓN Y REHABILITACIÓN DEL HORMIGÓN</a:t>
            </a:r>
            <a:endParaRPr lang="es-BO" sz="700" spc="160">
              <a:solidFill>
                <a:srgbClr val="9C928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DCAD914-E516-B178-946A-61887A227925}"/>
              </a:ext>
            </a:extLst>
          </p:cNvPr>
          <p:cNvSpPr txBox="1"/>
          <p:nvPr/>
        </p:nvSpPr>
        <p:spPr>
          <a:xfrm>
            <a:off x="3937000" y="6604000"/>
            <a:ext cx="431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BO" sz="700" spc="130">
                <a:solidFill>
                  <a:srgbClr val="9C9284"/>
                </a:solidFill>
                <a:latin typeface="Segoe UI" panose="020B0502040204020203" pitchFamily="34" charset="0"/>
              </a:rPr>
              <a:t>CLASE 6 · REPARACIÓN</a:t>
            </a:r>
          </a:p>
        </p:txBody>
      </p:sp>
      <p:sp>
        <p:nvSpPr>
          <p:cNvPr id="27" name="PageNo">
            <a:extLst>
              <a:ext uri="{FF2B5EF4-FFF2-40B4-BE49-F238E27FC236}">
                <a16:creationId xmlns:a16="http://schemas.microsoft.com/office/drawing/2014/main" id="{52159541-5AD4-1028-5F0A-7EEBCDFC8BD3}"/>
              </a:ext>
            </a:extLst>
          </p:cNvPr>
          <p:cNvSpPr txBox="1"/>
          <p:nvPr/>
        </p:nvSpPr>
        <p:spPr>
          <a:xfrm>
            <a:off x="10439400" y="6578600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BO" sz="900">
                <a:solidFill>
                  <a:srgbClr val="C9A66B"/>
                </a:solidFill>
                <a:latin typeface="Bahnschrift SemiBold" panose="020B0502040204020203" pitchFamily="34" charset="0"/>
              </a:rPr>
              <a:t>39 / 40</a:t>
            </a:r>
          </a:p>
        </p:txBody>
      </p:sp>
    </p:spTree>
    <p:extLst>
      <p:ext uri="{BB962C8B-B14F-4D97-AF65-F5344CB8AC3E}">
        <p14:creationId xmlns:p14="http://schemas.microsoft.com/office/powerpoint/2010/main" val="4052692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ECED5B-D39B-ED6D-0F67-C7B6F9D3C6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C3997E3-B859-6D2A-2D79-F29E38AB6DAE}"/>
              </a:ext>
            </a:extLst>
          </p:cNvPr>
          <p:cNvSpPr/>
          <p:nvPr/>
        </p:nvSpPr>
        <p:spPr>
          <a:xfrm>
            <a:off x="0" y="0"/>
            <a:ext cx="10668000" cy="6858000"/>
          </a:xfrm>
          <a:prstGeom prst="rect">
            <a:avLst/>
          </a:prstGeom>
          <a:gradFill flip="none" rotWithShape="1">
            <a:gsLst>
              <a:gs pos="0">
                <a:srgbClr val="1C1813"/>
              </a:gs>
              <a:gs pos="100000">
                <a:srgbClr val="1C1813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C6916F-A105-D7FC-9E5A-3B322214E5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813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267AD8-BB48-5ACC-69E3-9B82ACBAA830}"/>
              </a:ext>
            </a:extLst>
          </p:cNvPr>
          <p:cNvSpPr/>
          <p:nvPr/>
        </p:nvSpPr>
        <p:spPr>
          <a:xfrm>
            <a:off x="609600" y="1905000"/>
            <a:ext cx="330200" cy="25400"/>
          </a:xfrm>
          <a:prstGeom prst="rect">
            <a:avLst/>
          </a:prstGeom>
          <a:solidFill>
            <a:srgbClr val="8A6A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6559C9-FD96-34AA-6D75-0F113CE06380}"/>
              </a:ext>
            </a:extLst>
          </p:cNvPr>
          <p:cNvSpPr txBox="1"/>
          <p:nvPr/>
        </p:nvSpPr>
        <p:spPr>
          <a:xfrm>
            <a:off x="1066800" y="1828800"/>
            <a:ext cx="635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00" spc="180">
                <a:solidFill>
                  <a:srgbClr val="C9A66B"/>
                </a:solidFill>
                <a:latin typeface="Segoe UI Semibold" panose="020B0702040204020203" pitchFamily="34" charset="0"/>
              </a:rPr>
              <a:t>FIN DE LA CLASE 6</a:t>
            </a:r>
            <a:endParaRPr lang="es-BO" sz="1000" spc="180">
              <a:solidFill>
                <a:srgbClr val="C9A66B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8C09650-8A14-B073-486C-1AE95C66B1E6}"/>
              </a:ext>
            </a:extLst>
          </p:cNvPr>
          <p:cNvSpPr txBox="1"/>
          <p:nvPr/>
        </p:nvSpPr>
        <p:spPr>
          <a:xfrm>
            <a:off x="584200" y="2184400"/>
            <a:ext cx="7620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4400">
                <a:solidFill>
                  <a:srgbClr val="FFFFFF"/>
                </a:solidFill>
                <a:latin typeface="Bahnschrift SemiBold" panose="020B0502040204020203" pitchFamily="34" charset="0"/>
              </a:rPr>
              <a:t>Gracias. ¿Preguntas?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8944D7-B4FE-4286-E58C-574BEC60F822}"/>
              </a:ext>
            </a:extLst>
          </p:cNvPr>
          <p:cNvSpPr txBox="1"/>
          <p:nvPr/>
        </p:nvSpPr>
        <p:spPr>
          <a:xfrm>
            <a:off x="609600" y="3327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BO" sz="900" spc="180">
                <a:solidFill>
                  <a:srgbClr val="CFC7B8"/>
                </a:solidFill>
                <a:latin typeface="Segoe UI Semibold" panose="020B0702040204020203" pitchFamily="34" charset="0"/>
              </a:rPr>
              <a:t>PRÓXIMA CLASE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8B4831-A266-2936-FF40-ED599940A780}"/>
              </a:ext>
            </a:extLst>
          </p:cNvPr>
          <p:cNvSpPr txBox="1"/>
          <p:nvPr/>
        </p:nvSpPr>
        <p:spPr>
          <a:xfrm>
            <a:off x="609600" y="3581400"/>
            <a:ext cx="711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2000" i="1">
                <a:solidFill>
                  <a:srgbClr val="C9A66B"/>
                </a:solidFill>
                <a:latin typeface="Constantia" panose="02030602050306030303" pitchFamily="18" charset="0"/>
              </a:rPr>
              <a:t>Refuerzo y gestión: recálculo con las propiedades reales, encamisados, fibra de carbono, recalce y gestión del activo</a:t>
            </a:r>
            <a:endParaRPr lang="es-BO" sz="2000" i="1">
              <a:solidFill>
                <a:srgbClr val="C9A66B"/>
              </a:solidFill>
              <a:latin typeface="Constantia" panose="02030602050306030303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5184BAF-04A3-AF1A-6740-9495DE4BB5BE}"/>
              </a:ext>
            </a:extLst>
          </p:cNvPr>
          <p:cNvSpPr txBox="1"/>
          <p:nvPr/>
        </p:nvSpPr>
        <p:spPr>
          <a:xfrm>
            <a:off x="609600" y="5435600"/>
            <a:ext cx="660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nn-NO" sz="1300">
                <a:solidFill>
                  <a:srgbClr val="FFFFFF"/>
                </a:solidFill>
                <a:latin typeface="Bahnschrift SemiBold" panose="020B0502040204020203" pitchFamily="34" charset="0"/>
              </a:rPr>
              <a:t>Ing. Kevin Yerko Vera Careaga</a:t>
            </a:r>
            <a:endParaRPr lang="es-BO" sz="1300">
              <a:solidFill>
                <a:srgbClr val="FFFFFF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3CD7274-2137-7FE5-151E-37B8D97356EF}"/>
              </a:ext>
            </a:extLst>
          </p:cNvPr>
          <p:cNvSpPr txBox="1"/>
          <p:nvPr/>
        </p:nvSpPr>
        <p:spPr>
          <a:xfrm>
            <a:off x="609600" y="5676900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Ingeniero Civil · NRI 57148</a:t>
            </a:r>
          </a:p>
          <a:p>
            <a:pPr algn="l"/>
            <a:r>
              <a:rPr lang="es-MX" sz="1050">
                <a:solidFill>
                  <a:srgbClr val="CFC7B8"/>
                </a:solidFill>
                <a:latin typeface="Segoe UI" panose="020B0502040204020203" pitchFamily="34" charset="0"/>
              </a:rPr>
              <a:t>kevin.yerko.vc@gmail.com  ·  +591 78406014  ·  La Paz, Bolivia</a:t>
            </a:r>
            <a:endParaRPr lang="es-BO" sz="1050">
              <a:solidFill>
                <a:srgbClr val="CFC7B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Monograma">
            <a:extLst>
              <a:ext uri="{FF2B5EF4-FFF2-40B4-BE49-F238E27FC236}">
                <a16:creationId xmlns:a16="http://schemas.microsoft.com/office/drawing/2014/main" id="{59A59828-36A4-422A-975B-700DD19E2A0B}"/>
              </a:ext>
            </a:extLst>
          </p:cNvPr>
          <p:cNvSpPr/>
          <p:nvPr/>
        </p:nvSpPr>
        <p:spPr>
          <a:xfrm>
            <a:off x="10998200" y="508000"/>
            <a:ext cx="584200" cy="584200"/>
          </a:xfrm>
          <a:prstGeom prst="ellipse">
            <a:avLst/>
          </a:prstGeom>
          <a:noFill/>
          <a:ln w="15875">
            <a:solidFill>
              <a:srgbClr val="8A6A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C1813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KY</a:t>
            </a:r>
          </a:p>
          <a:p>
            <a:pPr algn="ctr">
              <a:lnSpc>
                <a:spcPct val="80000"/>
              </a:lnSpc>
            </a:pPr>
            <a:r>
              <a:rPr lang="es-BO" sz="1104">
                <a:solidFill>
                  <a:srgbClr val="8A6A2F"/>
                </a:solidFill>
                <a:latin typeface="Bahnschrift SemiBold" panose="020B0502040204020203" pitchFamily="34" charset="0"/>
              </a:rPr>
              <a:t>VC</a:t>
            </a:r>
          </a:p>
        </p:txBody>
      </p:sp>
    </p:spTree>
    <p:extLst>
      <p:ext uri="{BB962C8B-B14F-4D97-AF65-F5344CB8AC3E}">
        <p14:creationId xmlns:p14="http://schemas.microsoft.com/office/powerpoint/2010/main" val="11958773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proble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soluti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RSO" val="tool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8797</Words>
  <Application>Microsoft Office PowerPoint</Application>
  <PresentationFormat>Personalizado</PresentationFormat>
  <Paragraphs>1024</Paragraphs>
  <Slides>40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9" baseType="lpstr">
      <vt:lpstr>Arial</vt:lpstr>
      <vt:lpstr>Bahnschrift Light</vt:lpstr>
      <vt:lpstr>Bahnschrift SemiBold</vt:lpstr>
      <vt:lpstr>Calibri</vt:lpstr>
      <vt:lpstr>Calibri Light</vt:lpstr>
      <vt:lpstr>Constantia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2026-10-21T04:45:07Z</dcterms:created>
  <dcterms:modified xsi:type="dcterms:W3CDTF">2026-10-21T04:45:07Z</dcterms:modified>
</cp:coreProperties>
</file>