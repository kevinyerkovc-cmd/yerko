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tags/tag1.xml" ContentType="application/vnd.openxmlformats-officedocument.presentationml.tags+xml"/>
  <Override PartName="/ppt/notesSlides/notesSlide24.xml" ContentType="application/vnd.openxmlformats-officedocument.presentationml.notesSlide+xml"/>
  <Override PartName="/ppt/tags/tag2.xml" ContentType="application/vnd.openxmlformats-officedocument.presentationml.tags+xml"/>
  <Override PartName="/ppt/notesSlides/notesSlide25.xml" ContentType="application/vnd.openxmlformats-officedocument.presentationml.notesSlide+xml"/>
  <Override PartName="/ppt/tags/tag3.xml" ContentType="application/vnd.openxmlformats-officedocument.presentationml.tags+xml"/>
  <Override PartName="/ppt/notesSlides/notesSlide26.xml" ContentType="application/vnd.openxmlformats-officedocument.presentationml.notesSlide+xml"/>
  <Override PartName="/ppt/tags/tag4.xml" ContentType="application/vnd.openxmlformats-officedocument.presentationml.tags+xml"/>
  <Override PartName="/ppt/notesSlides/notesSlide27.xml" ContentType="application/vnd.openxmlformats-officedocument.presentationml.notesSlide+xml"/>
  <Override PartName="/ppt/tags/tag5.xml" ContentType="application/vnd.openxmlformats-officedocument.presentationml.tags+xml"/>
  <Override PartName="/ppt/notesSlides/notesSlide28.xml" ContentType="application/vnd.openxmlformats-officedocument.presentationml.notesSlide+xml"/>
  <Override PartName="/ppt/tags/tag6.xml" ContentType="application/vnd.openxmlformats-officedocument.presentationml.tags+xml"/>
  <Override PartName="/ppt/notesSlides/notesSlide29.xml" ContentType="application/vnd.openxmlformats-officedocument.presentationml.notesSlide+xml"/>
  <Override PartName="/ppt/tags/tag7.xml" ContentType="application/vnd.openxmlformats-officedocument.presentationml.tags+xml"/>
  <Override PartName="/ppt/notesSlides/notesSlide30.xml" ContentType="application/vnd.openxmlformats-officedocument.presentationml.notesSlide+xml"/>
  <Override PartName="/ppt/tags/tag8.xml" ContentType="application/vnd.openxmlformats-officedocument.presentationml.tags+xml"/>
  <Override PartName="/ppt/notesSlides/notesSlide31.xml" ContentType="application/vnd.openxmlformats-officedocument.presentationml.notesSlide+xml"/>
  <Override PartName="/ppt/tags/tag9.xml" ContentType="application/vnd.openxmlformats-officedocument.presentationml.tags+xml"/>
  <Override PartName="/ppt/notesSlides/notesSlide32.xml" ContentType="application/vnd.openxmlformats-officedocument.presentationml.notesSlide+xml"/>
  <Override PartName="/ppt/tags/tag10.xml" ContentType="application/vnd.openxmlformats-officedocument.presentationml.tags+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tags/tag11.xml" ContentType="application/vnd.openxmlformats-officedocument.presentationml.tags+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12192000" cy="6858000"/>
  <p:notesSz cx="6858000" cy="9144000"/>
  <p:defaultTextStyle>
    <a:defPPr>
      <a:defRPr lang="es-B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B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0CA5218-4C88-4531-A668-00C433E59B42}" type="datetimeFigureOut">
              <a:rPr lang="es-BO" smtClean="0"/>
              <a:t>21/10/2026</a:t>
            </a:fld>
            <a:endParaRPr lang="es-B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B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B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B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1111EF-BC7E-4821-A73A-CCBC4E96B5F3}" type="slidenum">
              <a:rPr lang="es-BO" smtClean="0"/>
              <a:t>‹Nº›</a:t>
            </a:fld>
            <a:endParaRPr lang="es-BO"/>
          </a:p>
        </p:txBody>
      </p:sp>
    </p:spTree>
    <p:extLst>
      <p:ext uri="{BB962C8B-B14F-4D97-AF65-F5344CB8AC3E}">
        <p14:creationId xmlns:p14="http://schemas.microsoft.com/office/powerpoint/2010/main" val="31778037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Idea fuerza: el refuerzo no es el final del curso, es una de las salidas posibles. La otra, mucho más frecuente, es demostrar con números que no hace falta.</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1</a:t>
            </a:fld>
            <a:endParaRPr lang="es-BO"/>
          </a:p>
        </p:txBody>
      </p:sp>
    </p:spTree>
    <p:extLst>
      <p:ext uri="{BB962C8B-B14F-4D97-AF65-F5344CB8AC3E}">
        <p14:creationId xmlns:p14="http://schemas.microsoft.com/office/powerpoint/2010/main" val="33195310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Última clase. Hay que reservar quince minutos finales para las diez reglas y la lámina de herramientas: es el cierre que se recuerda.</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2</a:t>
            </a:fld>
            <a:endParaRPr lang="es-BO"/>
          </a:p>
        </p:txBody>
      </p:sp>
    </p:spTree>
    <p:extLst>
      <p:ext uri="{BB962C8B-B14F-4D97-AF65-F5344CB8AC3E}">
        <p14:creationId xmlns:p14="http://schemas.microsoft.com/office/powerpoint/2010/main" val="30927697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Repaso en tres minutos. Pregunta de apertura: ¿cuántas veces han visto reforzar algo que no hacía falta reforzar?</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3</a:t>
            </a:fld>
            <a:endParaRPr lang="es-BO"/>
          </a:p>
        </p:txBody>
      </p:sp>
    </p:spTree>
    <p:extLst>
      <p:ext uri="{BB962C8B-B14F-4D97-AF65-F5344CB8AC3E}">
        <p14:creationId xmlns:p14="http://schemas.microsoft.com/office/powerpoint/2010/main" val="23271182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Decirlo al principio: la mitad de los encargos de refuerzo se resuelven demostrando que no hay que reforzar.</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4</a:t>
            </a:fld>
            <a:endParaRPr lang="es-BO"/>
          </a:p>
        </p:txBody>
      </p:sp>
    </p:spTree>
    <p:extLst>
      <p:ext uri="{BB962C8B-B14F-4D97-AF65-F5344CB8AC3E}">
        <p14:creationId xmlns:p14="http://schemas.microsoft.com/office/powerpoint/2010/main" val="17244935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Presentación de la parte 1.</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5</a:t>
            </a:fld>
            <a:endParaRPr lang="es-BO"/>
          </a:p>
        </p:txBody>
      </p:sp>
    </p:spTree>
    <p:extLst>
      <p:ext uri="{BB962C8B-B14F-4D97-AF65-F5344CB8AC3E}">
        <p14:creationId xmlns:p14="http://schemas.microsoft.com/office/powerpoint/2010/main" val="21464007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Esta tabla recorre el curso entero hacia atrás. Nombrar la clase de cada fila en voz alta.</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6</a:t>
            </a:fld>
            <a:endParaRPr lang="es-BO"/>
          </a:p>
        </p:txBody>
      </p:sp>
    </p:spTree>
    <p:extLst>
      <p:ext uri="{BB962C8B-B14F-4D97-AF65-F5344CB8AC3E}">
        <p14:creationId xmlns:p14="http://schemas.microsoft.com/office/powerpoint/2010/main" val="11133699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El caso 8.1 es exactamente esto: la columna cumple en capacidad y se queda a una décima de la cuantía mínima.</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7</a:t>
            </a:fld>
            <a:endParaRPr lang="es-BO"/>
          </a:p>
        </p:txBody>
      </p:sp>
    </p:spTree>
    <p:extLst>
      <p:ext uri="{BB962C8B-B14F-4D97-AF65-F5344CB8AC3E}">
        <p14:creationId xmlns:p14="http://schemas.microsoft.com/office/powerpoint/2010/main" val="4860936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Anticipar el caso 8.2. Es el giro narrativo del caso ejemplo y conviene prepararlo.</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8</a:t>
            </a:fld>
            <a:endParaRPr lang="es-BO"/>
          </a:p>
        </p:txBody>
      </p:sp>
    </p:spTree>
    <p:extLst>
      <p:ext uri="{BB962C8B-B14F-4D97-AF65-F5344CB8AC3E}">
        <p14:creationId xmlns:p14="http://schemas.microsoft.com/office/powerpoint/2010/main" val="40651896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Presentación de la parte 2.</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9</a:t>
            </a:fld>
            <a:endParaRPr lang="es-BO"/>
          </a:p>
        </p:txBody>
      </p:sp>
    </p:spTree>
    <p:extLst>
      <p:ext uri="{BB962C8B-B14F-4D97-AF65-F5344CB8AC3E}">
        <p14:creationId xmlns:p14="http://schemas.microsoft.com/office/powerpoint/2010/main" val="35213524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Preguntar cuál han usado. Casi siempre dicen encamisado; la fila 5 les resulta nueva.</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10</a:t>
            </a:fld>
            <a:endParaRPr lang="es-BO"/>
          </a:p>
        </p:txBody>
      </p:sp>
    </p:spTree>
    <p:extLst>
      <p:ext uri="{BB962C8B-B14F-4D97-AF65-F5344CB8AC3E}">
        <p14:creationId xmlns:p14="http://schemas.microsoft.com/office/powerpoint/2010/main" val="13804352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El apeo es el concepto que más se lleva de esta parte. Insistir.</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11</a:t>
            </a:fld>
            <a:endParaRPr lang="es-BO"/>
          </a:p>
        </p:txBody>
      </p:sp>
    </p:spTree>
    <p:extLst>
      <p:ext uri="{BB962C8B-B14F-4D97-AF65-F5344CB8AC3E}">
        <p14:creationId xmlns:p14="http://schemas.microsoft.com/office/powerpoint/2010/main" val="42890825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El límite de fuego se calcula en el caso 8.3. Dejarlo anunciado.</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12</a:t>
            </a:fld>
            <a:endParaRPr lang="es-BO"/>
          </a:p>
        </p:txBody>
      </p:sp>
    </p:spTree>
    <p:extLst>
      <p:ext uri="{BB962C8B-B14F-4D97-AF65-F5344CB8AC3E}">
        <p14:creationId xmlns:p14="http://schemas.microsoft.com/office/powerpoint/2010/main" val="24315692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Esa frase final es la que enlaza las clases 6 y 7. Repetirla.</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13</a:t>
            </a:fld>
            <a:endParaRPr lang="es-BO"/>
          </a:p>
        </p:txBody>
      </p:sp>
    </p:spTree>
    <p:extLst>
      <p:ext uri="{BB962C8B-B14F-4D97-AF65-F5344CB8AC3E}">
        <p14:creationId xmlns:p14="http://schemas.microsoft.com/office/powerpoint/2010/main" val="11084387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Presentación de la parte 3.</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14</a:t>
            </a:fld>
            <a:endParaRPr lang="es-BO"/>
          </a:p>
        </p:txBody>
      </p:sp>
    </p:spTree>
    <p:extLst>
      <p:ext uri="{BB962C8B-B14F-4D97-AF65-F5344CB8AC3E}">
        <p14:creationId xmlns:p14="http://schemas.microsoft.com/office/powerpoint/2010/main" val="32425771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Recordar que el asiento se comprueba aparte y que en arcillas blandas suele gobernar antes que el hundimiento.</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15</a:t>
            </a:fld>
            <a:endParaRPr lang="es-BO"/>
          </a:p>
        </p:txBody>
      </p:sp>
    </p:spTree>
    <p:extLst>
      <p:ext uri="{BB962C8B-B14F-4D97-AF65-F5344CB8AC3E}">
        <p14:creationId xmlns:p14="http://schemas.microsoft.com/office/powerpoint/2010/main" val="335248694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La regla de los bataches alternos es de seguridad y hay que decirla en voz alta.</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16</a:t>
            </a:fld>
            <a:endParaRPr lang="es-BO"/>
          </a:p>
        </p:txBody>
      </p:sp>
    </p:spTree>
    <p:extLst>
      <p:ext uri="{BB962C8B-B14F-4D97-AF65-F5344CB8AC3E}">
        <p14:creationId xmlns:p14="http://schemas.microsoft.com/office/powerpoint/2010/main" val="46808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El caso 8.2 dimensiona estos conectores. Es el cálculo que cierra el caso ejemplo del curso.</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17</a:t>
            </a:fld>
            <a:endParaRPr lang="es-BO"/>
          </a:p>
        </p:txBody>
      </p:sp>
    </p:spTree>
    <p:extLst>
      <p:ext uri="{BB962C8B-B14F-4D97-AF65-F5344CB8AC3E}">
        <p14:creationId xmlns:p14="http://schemas.microsoft.com/office/powerpoint/2010/main" val="30486616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Enlazar con los puntos de parada de la clase 6: el concepto es el mismo y vale para cualquier tajo.</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18</a:t>
            </a:fld>
            <a:endParaRPr lang="es-BO"/>
          </a:p>
        </p:txBody>
      </p:sp>
    </p:spTree>
    <p:extLst>
      <p:ext uri="{BB962C8B-B14F-4D97-AF65-F5344CB8AC3E}">
        <p14:creationId xmlns:p14="http://schemas.microsoft.com/office/powerpoint/2010/main" val="157338885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Presentación de la parte 4.</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19</a:t>
            </a:fld>
            <a:endParaRPr lang="es-BO"/>
          </a:p>
        </p:txBody>
      </p:sp>
    </p:spTree>
    <p:extLst>
      <p:ext uri="{BB962C8B-B14F-4D97-AF65-F5344CB8AC3E}">
        <p14:creationId xmlns:p14="http://schemas.microsoft.com/office/powerpoint/2010/main" val="10730154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Que copien esta tabla tal cual. Es un entregable que pueden adjuntar a cualquier informe desde mañana.</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20</a:t>
            </a:fld>
            <a:endParaRPr lang="es-BO"/>
          </a:p>
        </p:txBody>
      </p:sp>
    </p:spTree>
    <p:extLst>
      <p:ext uri="{BB962C8B-B14F-4D97-AF65-F5344CB8AC3E}">
        <p14:creationId xmlns:p14="http://schemas.microsoft.com/office/powerpoint/2010/main" val="94127884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Cerrar el círculo con la clase 1. La Ley de Sitter abre y cierra el curso.</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21</a:t>
            </a:fld>
            <a:endParaRPr lang="es-BO"/>
          </a:p>
        </p:txBody>
      </p:sp>
    </p:spTree>
    <p:extLst>
      <p:ext uri="{BB962C8B-B14F-4D97-AF65-F5344CB8AC3E}">
        <p14:creationId xmlns:p14="http://schemas.microsoft.com/office/powerpoint/2010/main" val="29365352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Presentación de los casos. Son los últimos del curso y cierran la nave Sector 4.</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22</a:t>
            </a:fld>
            <a:endParaRPr lang="es-BO"/>
          </a:p>
        </p:txBody>
      </p:sp>
    </p:spTree>
    <p:extLst>
      <p:ext uri="{BB962C8B-B14F-4D97-AF65-F5344CB8AC3E}">
        <p14:creationId xmlns:p14="http://schemas.microsoft.com/office/powerpoint/2010/main" val="185885565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Último uso de la ficha. Decir que el caso termina hoy y que los números han recorrido las siete clases sin cambiar.</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23</a:t>
            </a:fld>
            <a:endParaRPr lang="es-BO"/>
          </a:p>
        </p:txBody>
      </p:sp>
    </p:spTree>
    <p:extLst>
      <p:ext uri="{BB962C8B-B14F-4D97-AF65-F5344CB8AC3E}">
        <p14:creationId xmlns:p14="http://schemas.microsoft.com/office/powerpoint/2010/main" val="31280751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Anunciar que esta es la comprobación completa, sin atajos. Si alguien se pierde en un paso, se para ahí.</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24</a:t>
            </a:fld>
            <a:endParaRPr lang="es-BO"/>
          </a:p>
        </p:txBody>
      </p:sp>
    </p:spTree>
    <p:extLst>
      <p:ext uri="{BB962C8B-B14F-4D97-AF65-F5344CB8AC3E}">
        <p14:creationId xmlns:p14="http://schemas.microsoft.com/office/powerpoint/2010/main" val="47756512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Insistir en las unidades: kN/m³ por m da kN/m², que es kPa. Es el primer sitio donde la gente se equivoca.</a:t>
            </a:r>
          </a:p>
          <a:p>
            <a:endParaRPr lang="es-MX"/>
          </a:p>
          <a:p>
            <a:r>
              <a:rPr lang="es-MX"/>
              <a:t>HIPÓTESIS Y LÍMITES DE VALIDEZ</a:t>
            </a:r>
          </a:p>
          <a:p>
            <a:r>
              <a:rPr lang="es-MX"/>
              <a:t>Supone terreno homogéneo sobre la cota de apoyo y nivel freático por debajo de ella. Si el freático asciende hasta el plano de apoyo, γ pasa a ser el sumergido (unos 7 kN/m³) y q cae a menos de la mitad.</a:t>
            </a:r>
          </a:p>
          <a:p>
            <a:endParaRPr lang="es-MX"/>
          </a:p>
          <a:p>
            <a:r>
              <a:rPr lang="es-MX"/>
              <a:t>INTERPRETACIÓN, RESTO</a:t>
            </a:r>
          </a:p>
          <a:p>
            <a:r>
              <a:rPr lang="es-MX"/>
              <a:t>Cuanto más enterrada está una zapata, más ayuda este término. Por eso profundizar es una de las cuatro familias de recalce.</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25</a:t>
            </a:fld>
            <a:endParaRPr lang="es-BO"/>
          </a:p>
        </p:txBody>
      </p:sp>
    </p:spTree>
    <p:extLst>
      <p:ext uri="{BB962C8B-B14F-4D97-AF65-F5344CB8AC3E}">
        <p14:creationId xmlns:p14="http://schemas.microsoft.com/office/powerpoint/2010/main" val="10535545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Que vean el reparto 78-17-5. Explica por qué ensanchar ayuda poco a la capacidad del terreno y mucho a repartir la carga.</a:t>
            </a:r>
          </a:p>
          <a:p>
            <a:endParaRPr lang="es-MX"/>
          </a:p>
          <a:p>
            <a:r>
              <a:rPr lang="es-MX"/>
              <a:t>HIPÓTESIS Y LÍMITES DE VALIDEZ</a:t>
            </a:r>
          </a:p>
          <a:p>
            <a:r>
              <a:rPr lang="es-MX"/>
              <a:t>Terzaghi supone rotura general por corte, zapata rígida, carga centrada y terreno homogéneo hasta unos 2B de profundidad. No es aplicable con carga excéntrica, terreno estratificado ni arcillas blandas sensibles.</a:t>
            </a:r>
          </a:p>
          <a:p>
            <a:endParaRPr lang="es-MX"/>
          </a:p>
          <a:p>
            <a:r>
              <a:rPr lang="es-MX"/>
              <a:t>INTERPRETACIÓN, RESTO</a:t>
            </a:r>
          </a:p>
          <a:p>
            <a:r>
              <a:rPr lang="es-MX"/>
              <a:t>Fíjese en el reparto: la cohesión aporta el 78 %, la profundidad el 17 % y el ancho solo el 5 %. En este terreno arcilloso manda la cohesión.</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26</a:t>
            </a:fld>
            <a:endParaRPr lang="es-BO"/>
          </a:p>
        </p:txBody>
      </p:sp>
    </p:spTree>
    <p:extLst>
      <p:ext uri="{BB962C8B-B14F-4D97-AF65-F5344CB8AC3E}">
        <p14:creationId xmlns:p14="http://schemas.microsoft.com/office/powerpoint/2010/main" val="7297652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Decir claramente que el asiento se comprueba aparte. Es la limitación honesta de este cálculo.</a:t>
            </a:r>
          </a:p>
          <a:p>
            <a:endParaRPr lang="es-MX"/>
          </a:p>
          <a:p>
            <a:r>
              <a:rPr lang="es-MX"/>
              <a:t>HIPÓTESIS Y LÍMITES DE VALIDEZ</a:t>
            </a:r>
          </a:p>
          <a:p>
            <a:r>
              <a:rPr lang="es-MX"/>
              <a:t>FS = 3 es convencional frente a hundimiento y no cubre el asiento, que es un estado límite distinto. En arcillas blandas el asiento admisible suele gobernar antes, y exige ensayo edométrico.</a:t>
            </a:r>
          </a:p>
          <a:p>
            <a:endParaRPr lang="es-MX"/>
          </a:p>
          <a:p>
            <a:r>
              <a:rPr lang="es-MX"/>
              <a:t>INTERPRETACIÓN, RESTO</a:t>
            </a:r>
          </a:p>
          <a:p>
            <a:r>
              <a:rPr lang="es-MX"/>
              <a:t>Y hay una segunda comprobación que aquí no se hace y que a veces manda antes: el asiento. En arcillas blandas una zapata puede cumplir a hundimiento y asentar más de lo admisible.</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27</a:t>
            </a:fld>
            <a:endParaRPr lang="es-BO"/>
          </a:p>
        </p:txBody>
      </p:sp>
    </p:spTree>
    <p:extLst>
      <p:ext uri="{BB962C8B-B14F-4D97-AF65-F5344CB8AC3E}">
        <p14:creationId xmlns:p14="http://schemas.microsoft.com/office/powerpoint/2010/main" val="12557602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El 0,70 del relleno es 1,20 de profundidad menos 0,50 de canto de la zapata. Que lo vean restado.</a:t>
            </a:r>
          </a:p>
          <a:p>
            <a:endParaRPr lang="es-MX"/>
          </a:p>
          <a:p>
            <a:r>
              <a:rPr lang="es-MX"/>
              <a:t>HIPÓTESIS Y LÍMITES DE VALIDEZ</a:t>
            </a:r>
          </a:p>
          <a:p>
            <a:r>
              <a:rPr lang="es-MX"/>
              <a:t>Supone que el relleno permanece sobre la zapata. Si se excava para ejecutar el recalce y no se repone, ese término desaparece y la comprobación debe rehacerse con el estado de obra.</a:t>
            </a:r>
          </a:p>
          <a:p>
            <a:endParaRPr lang="es-MX"/>
          </a:p>
          <a:p>
            <a:r>
              <a:rPr lang="es-MX"/>
              <a:t>INTERPRETACIÓN, RESTO</a:t>
            </a:r>
          </a:p>
          <a:p>
            <a:r>
              <a:rPr lang="es-MX"/>
              <a:t>Olvidarlo es el error más frecuente de toda la comprobación, y siempre va en contra de la seguridad: deja el resultado más optimista de lo que es.</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28</a:t>
            </a:fld>
            <a:endParaRPr lang="es-BO"/>
          </a:p>
        </p:txBody>
      </p:sp>
    </p:spTree>
    <p:extLst>
      <p:ext uri="{BB962C8B-B14F-4D97-AF65-F5344CB8AC3E}">
        <p14:creationId xmlns:p14="http://schemas.microsoft.com/office/powerpoint/2010/main" val="20868596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Dejar claro que 0,83 no es colapso: es que el coeficiente de seguridad está por debajo del adoptado. Calcular en pizarra: 535,3/215,3 = 2,49.</a:t>
            </a:r>
          </a:p>
          <a:p>
            <a:endParaRPr lang="es-MX"/>
          </a:p>
          <a:p>
            <a:r>
              <a:rPr lang="es-MX"/>
              <a:t>HIPÓTESIS Y LÍMITES DE VALIDEZ</a:t>
            </a:r>
          </a:p>
          <a:p>
            <a:r>
              <a:rPr lang="es-MX"/>
              <a:t>Presión media bajo zapata rígida con carga centrada. Si hay excentricidad, hay que comprobar la presión máxima de borde, que puede ser muy superior a la media.</a:t>
            </a:r>
          </a:p>
          <a:p>
            <a:endParaRPr lang="es-MX"/>
          </a:p>
          <a:p>
            <a:r>
              <a:rPr lang="es-MX"/>
              <a:t>INTERPRETACIÓN, RESTO</a:t>
            </a:r>
          </a:p>
          <a:p>
            <a:r>
              <a:rPr lang="es-MX"/>
              <a:t>No significa que vaya a hundirse mañana. Significa que el coeficiente de seguridad real no es 3 sino 2,5, y que ya no queda margen para nada más.</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29</a:t>
            </a:fld>
            <a:endParaRPr lang="es-BO"/>
          </a:p>
        </p:txBody>
      </p:sp>
    </p:spTree>
    <p:extLst>
      <p:ext uri="{BB962C8B-B14F-4D97-AF65-F5344CB8AC3E}">
        <p14:creationId xmlns:p14="http://schemas.microsoft.com/office/powerpoint/2010/main" val="162530232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El 61 % sale de 289,4/178,4 = 1,62. Es el aumento de área necesario, y lleva directo al paso 7.</a:t>
            </a:r>
          </a:p>
          <a:p>
            <a:endParaRPr lang="es-MX"/>
          </a:p>
          <a:p>
            <a:r>
              <a:rPr lang="es-MX"/>
              <a:t>HIPÓTESIS Y LÍMITES DE VALIDEZ</a:t>
            </a:r>
          </a:p>
          <a:p>
            <a:r>
              <a:rPr lang="es-MX"/>
              <a:t>La carga futura es de SERVICIO, que es la que corresponde a la comprobación geotécnica. No debe confundirse con la mayorada de 1 250 kN, que se emplea en el paso 8 para dimensionar la conexión.</a:t>
            </a:r>
          </a:p>
          <a:p>
            <a:endParaRPr lang="es-MX"/>
          </a:p>
          <a:p>
            <a:r>
              <a:rPr lang="es-MX"/>
              <a:t>INTERPRETACIÓN, RESTO</a:t>
            </a:r>
          </a:p>
          <a:p>
            <a:r>
              <a:rPr lang="es-MX"/>
              <a:t>Y aquí se entiende por qué reforzar la columna habría sido un error: todo refuerzo baja más carga a una zapata que ya estaba al 0,83.</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30</a:t>
            </a:fld>
            <a:endParaRPr lang="es-BO"/>
          </a:p>
        </p:txBody>
      </p:sp>
    </p:spTree>
    <p:extLst>
      <p:ext uri="{BB962C8B-B14F-4D97-AF65-F5344CB8AC3E}">
        <p14:creationId xmlns:p14="http://schemas.microsoft.com/office/powerpoint/2010/main" val="4706030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Este paso distingue un cálculo hecho con criterio: casi nadie recalcula q_adm con el B nuevo.</a:t>
            </a:r>
          </a:p>
          <a:p>
            <a:endParaRPr lang="es-MX"/>
          </a:p>
          <a:p>
            <a:r>
              <a:rPr lang="es-MX"/>
              <a:t>HIPÓTESIS Y LÍMITES DE VALIDEZ</a:t>
            </a:r>
          </a:p>
          <a:p>
            <a:r>
              <a:rPr lang="es-MX"/>
              <a:t>Supone que el ensanche trabaja solidario con la zapata existente, lo que exige la conexión del paso 8. Sin esa conexión ejecutada y comprobada, el ancho eficaz sigue siendo 1,80 m.</a:t>
            </a:r>
          </a:p>
          <a:p>
            <a:endParaRPr lang="es-MX"/>
          </a:p>
          <a:p>
            <a:r>
              <a:rPr lang="es-MX"/>
              <a:t>INTERPRETACIÓN, RESTO</a:t>
            </a:r>
          </a:p>
          <a:p>
            <a:r>
              <a:rPr lang="es-MX"/>
              <a:t>El detalle fino: al ensanchar a 2,50 el tercer sumando pasa de 26,6 a 36,9 kPa, así que q_u sube a 545,6 y q_adm a 181,9. El ensanche no solo reparte mejor: también mejora el terreno que lo recibe.</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31</a:t>
            </a:fld>
            <a:endParaRPr lang="es-BO"/>
          </a:p>
        </p:txBody>
      </p:sp>
    </p:spTree>
    <p:extLst>
      <p:ext uri="{BB962C8B-B14F-4D97-AF65-F5344CB8AC3E}">
        <p14:creationId xmlns:p14="http://schemas.microsoft.com/office/powerpoint/2010/main" val="251894791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Perímetro 4 × 1,80 = 7,20 m. A 400 mm salen 18 barras, que dan 2 036 mm² frente a los 1 911 necesarios.</a:t>
            </a:r>
          </a:p>
          <a:p>
            <a:endParaRPr lang="es-MX"/>
          </a:p>
          <a:p>
            <a:r>
              <a:rPr lang="es-MX"/>
              <a:t>HIPÓTESIS Y LÍMITES DE VALIDEZ</a:t>
            </a:r>
          </a:p>
          <a:p>
            <a:r>
              <a:rPr lang="es-MX"/>
              <a:t>μ = 1,0 exige junta limpia, libre de lechada y rugosa a 6 mm de amplitud, comprobada antes de hormigonar. Si no se acredita esa rugosidad, μ baja a 0,6 y hacen falta un 67 % más de conectores.</a:t>
            </a:r>
          </a:p>
          <a:p>
            <a:endParaRPr lang="es-MX"/>
          </a:p>
          <a:p>
            <a:r>
              <a:rPr lang="es-MX"/>
              <a:t>INTERPRETACIÓN, RESTO</a:t>
            </a:r>
          </a:p>
          <a:p>
            <a:r>
              <a:rPr lang="es-MX"/>
              <a:t>La rugosidad de 6 mm no es un detalle de acabado: es lo que permite usar μ = 1,0. Si la junta queda lisa, el coeficiente baja y hacen falta bastantes más conectores.</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32</a:t>
            </a:fld>
            <a:endParaRPr lang="es-BO"/>
          </a:p>
        </p:txBody>
      </p:sp>
    </p:spTree>
    <p:extLst>
      <p:ext uri="{BB962C8B-B14F-4D97-AF65-F5344CB8AC3E}">
        <p14:creationId xmlns:p14="http://schemas.microsoft.com/office/powerpoint/2010/main" val="23023705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Cierre del caso ejemplo del curso. Es la lámina que resume siete clases de trabajo sobre la misma obra.</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33</a:t>
            </a:fld>
            <a:endParaRPr lang="es-BO"/>
          </a:p>
        </p:txBody>
      </p:sp>
    </p:spTree>
    <p:extLst>
      <p:ext uri="{BB962C8B-B14F-4D97-AF65-F5344CB8AC3E}">
        <p14:creationId xmlns:p14="http://schemas.microsoft.com/office/powerpoint/2010/main" val="160716005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Leer las diez en voz alta, despacio. Es la lámina que se llevan fotografiada.</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34</a:t>
            </a:fld>
            <a:endParaRPr lang="es-BO"/>
          </a:p>
        </p:txBody>
      </p:sp>
    </p:spTree>
    <p:extLst>
      <p:ext uri="{BB962C8B-B14F-4D97-AF65-F5344CB8AC3E}">
        <p14:creationId xmlns:p14="http://schemas.microsoft.com/office/powerpoint/2010/main" val="338124623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Cerrar insistiendo en que son de una página. La extensión no es lo que da valor: el criterio sí.</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35</a:t>
            </a:fld>
            <a:endParaRPr lang="es-BO"/>
          </a:p>
        </p:txBody>
      </p:sp>
    </p:spTree>
    <p:extLst>
      <p:ext uri="{BB962C8B-B14F-4D97-AF65-F5344CB8AC3E}">
        <p14:creationId xmlns:p14="http://schemas.microsoft.com/office/powerpoint/2010/main" val="299303897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Probar en vivo el lado del ensanche: se escribe 2,30 y el margen se queda en rojo; se escribe 2,50 y pasa a verde. Así se dimensiona un recalce delante del cliente.</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36</a:t>
            </a:fld>
            <a:endParaRPr lang="es-BO"/>
          </a:p>
        </p:txBody>
      </p:sp>
    </p:spTree>
    <p:extLst>
      <p:ext uri="{BB962C8B-B14F-4D97-AF65-F5344CB8AC3E}">
        <p14:creationId xmlns:p14="http://schemas.microsoft.com/office/powerpoint/2010/main" val="143772697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Seis ideas finales. La tercera es la que más les va a servir profesionalmente.</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37</a:t>
            </a:fld>
            <a:endParaRPr lang="es-BO"/>
          </a:p>
        </p:txBody>
      </p:sp>
    </p:spTree>
    <p:extLst>
      <p:ext uri="{BB962C8B-B14F-4D97-AF65-F5344CB8AC3E}">
        <p14:creationId xmlns:p14="http://schemas.microsoft.com/office/powerpoint/2010/main" val="288801803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Cierre del curso. Agradecer, recordar que el material queda en la carpeta del alumno y abrir el turno de preguntas final.</a:t>
            </a:r>
            <a:endParaRPr lang="es-BO"/>
          </a:p>
        </p:txBody>
      </p:sp>
      <p:sp>
        <p:nvSpPr>
          <p:cNvPr id="4" name="Marcador de número de diapositiva 3"/>
          <p:cNvSpPr>
            <a:spLocks noGrp="1"/>
          </p:cNvSpPr>
          <p:nvPr>
            <p:ph type="sldNum" sz="quarter" idx="5"/>
          </p:nvPr>
        </p:nvSpPr>
        <p:spPr/>
        <p:txBody>
          <a:bodyPr/>
          <a:lstStyle/>
          <a:p>
            <a:fld id="{271111EF-BC7E-4821-A73A-CCBC4E96B5F3}" type="slidenum">
              <a:rPr lang="es-BO" smtClean="0"/>
              <a:t>38</a:t>
            </a:fld>
            <a:endParaRPr lang="es-BO"/>
          </a:p>
        </p:txBody>
      </p:sp>
    </p:spTree>
    <p:extLst>
      <p:ext uri="{BB962C8B-B14F-4D97-AF65-F5344CB8AC3E}">
        <p14:creationId xmlns:p14="http://schemas.microsoft.com/office/powerpoint/2010/main" val="34508383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2D25574-F45D-234E-5151-7AB406013A38}"/>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BO"/>
          </a:p>
        </p:txBody>
      </p:sp>
      <p:sp>
        <p:nvSpPr>
          <p:cNvPr id="3" name="Subtítulo 2">
            <a:extLst>
              <a:ext uri="{FF2B5EF4-FFF2-40B4-BE49-F238E27FC236}">
                <a16:creationId xmlns:a16="http://schemas.microsoft.com/office/drawing/2014/main" id="{7986390A-C997-18CB-608C-7706396CE78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BO"/>
          </a:p>
        </p:txBody>
      </p:sp>
      <p:sp>
        <p:nvSpPr>
          <p:cNvPr id="4" name="Marcador de fecha 3">
            <a:extLst>
              <a:ext uri="{FF2B5EF4-FFF2-40B4-BE49-F238E27FC236}">
                <a16:creationId xmlns:a16="http://schemas.microsoft.com/office/drawing/2014/main" id="{8D505C6E-8DF4-1753-AC83-2B73EFCBFD0A}"/>
              </a:ext>
            </a:extLst>
          </p:cNvPr>
          <p:cNvSpPr>
            <a:spLocks noGrp="1"/>
          </p:cNvSpPr>
          <p:nvPr>
            <p:ph type="dt" sz="half" idx="10"/>
          </p:nvPr>
        </p:nvSpPr>
        <p:spPr/>
        <p:txBody>
          <a:bodyPr/>
          <a:lstStyle/>
          <a:p>
            <a:fld id="{19BBD5BF-22F9-4819-ABF8-C368EA7914BB}" type="datetimeFigureOut">
              <a:rPr lang="es-BO" smtClean="0"/>
              <a:t>21/10/2026</a:t>
            </a:fld>
            <a:endParaRPr lang="es-BO"/>
          </a:p>
        </p:txBody>
      </p:sp>
      <p:sp>
        <p:nvSpPr>
          <p:cNvPr id="5" name="Marcador de pie de página 4">
            <a:extLst>
              <a:ext uri="{FF2B5EF4-FFF2-40B4-BE49-F238E27FC236}">
                <a16:creationId xmlns:a16="http://schemas.microsoft.com/office/drawing/2014/main" id="{D74DB13F-B4F8-73CE-95F5-51E924412650}"/>
              </a:ext>
            </a:extLst>
          </p:cNvPr>
          <p:cNvSpPr>
            <a:spLocks noGrp="1"/>
          </p:cNvSpPr>
          <p:nvPr>
            <p:ph type="ftr" sz="quarter" idx="11"/>
          </p:nvPr>
        </p:nvSpPr>
        <p:spPr/>
        <p:txBody>
          <a:bodyPr/>
          <a:lstStyle/>
          <a:p>
            <a:endParaRPr lang="es-BO"/>
          </a:p>
        </p:txBody>
      </p:sp>
      <p:sp>
        <p:nvSpPr>
          <p:cNvPr id="6" name="Marcador de número de diapositiva 5">
            <a:extLst>
              <a:ext uri="{FF2B5EF4-FFF2-40B4-BE49-F238E27FC236}">
                <a16:creationId xmlns:a16="http://schemas.microsoft.com/office/drawing/2014/main" id="{5D07D42F-F868-C73A-BD74-CA27E7EF0863}"/>
              </a:ext>
            </a:extLst>
          </p:cNvPr>
          <p:cNvSpPr>
            <a:spLocks noGrp="1"/>
          </p:cNvSpPr>
          <p:nvPr>
            <p:ph type="sldNum" sz="quarter" idx="12"/>
          </p:nvPr>
        </p:nvSpPr>
        <p:spPr/>
        <p:txBody>
          <a:bodyPr/>
          <a:lstStyle/>
          <a:p>
            <a:fld id="{FBC9BBD9-9B11-4435-990D-02AFE4807E3A}" type="slidenum">
              <a:rPr lang="es-BO" smtClean="0"/>
              <a:t>‹Nº›</a:t>
            </a:fld>
            <a:endParaRPr lang="es-BO"/>
          </a:p>
        </p:txBody>
      </p:sp>
    </p:spTree>
    <p:extLst>
      <p:ext uri="{BB962C8B-B14F-4D97-AF65-F5344CB8AC3E}">
        <p14:creationId xmlns:p14="http://schemas.microsoft.com/office/powerpoint/2010/main" val="180157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90EDC58-20F8-0F8E-D582-790492729608}"/>
              </a:ext>
            </a:extLst>
          </p:cNvPr>
          <p:cNvSpPr>
            <a:spLocks noGrp="1"/>
          </p:cNvSpPr>
          <p:nvPr>
            <p:ph type="title"/>
          </p:nvPr>
        </p:nvSpPr>
        <p:spPr/>
        <p:txBody>
          <a:bodyPr/>
          <a:lstStyle/>
          <a:p>
            <a:r>
              <a:rPr lang="es-ES"/>
              <a:t>Haga clic para modificar el estilo de título del patrón</a:t>
            </a:r>
            <a:endParaRPr lang="es-BO"/>
          </a:p>
        </p:txBody>
      </p:sp>
      <p:sp>
        <p:nvSpPr>
          <p:cNvPr id="3" name="Marcador de contenido 2">
            <a:extLst>
              <a:ext uri="{FF2B5EF4-FFF2-40B4-BE49-F238E27FC236}">
                <a16:creationId xmlns:a16="http://schemas.microsoft.com/office/drawing/2014/main" id="{8F9B2E19-45E8-8378-6BB5-121EFDDBA3D7}"/>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BO"/>
          </a:p>
        </p:txBody>
      </p:sp>
      <p:sp>
        <p:nvSpPr>
          <p:cNvPr id="4" name="Marcador de fecha 3">
            <a:extLst>
              <a:ext uri="{FF2B5EF4-FFF2-40B4-BE49-F238E27FC236}">
                <a16:creationId xmlns:a16="http://schemas.microsoft.com/office/drawing/2014/main" id="{EF9C01AF-D1F6-312B-53CF-C91D0C8ADF26}"/>
              </a:ext>
            </a:extLst>
          </p:cNvPr>
          <p:cNvSpPr>
            <a:spLocks noGrp="1"/>
          </p:cNvSpPr>
          <p:nvPr>
            <p:ph type="dt" sz="half" idx="10"/>
          </p:nvPr>
        </p:nvSpPr>
        <p:spPr/>
        <p:txBody>
          <a:bodyPr/>
          <a:lstStyle/>
          <a:p>
            <a:fld id="{19BBD5BF-22F9-4819-ABF8-C368EA7914BB}" type="datetimeFigureOut">
              <a:rPr lang="es-BO" smtClean="0"/>
              <a:t>21/10/2026</a:t>
            </a:fld>
            <a:endParaRPr lang="es-BO"/>
          </a:p>
        </p:txBody>
      </p:sp>
      <p:sp>
        <p:nvSpPr>
          <p:cNvPr id="5" name="Marcador de pie de página 4">
            <a:extLst>
              <a:ext uri="{FF2B5EF4-FFF2-40B4-BE49-F238E27FC236}">
                <a16:creationId xmlns:a16="http://schemas.microsoft.com/office/drawing/2014/main" id="{0EDDC005-1418-8891-27C4-435D574FA0F5}"/>
              </a:ext>
            </a:extLst>
          </p:cNvPr>
          <p:cNvSpPr>
            <a:spLocks noGrp="1"/>
          </p:cNvSpPr>
          <p:nvPr>
            <p:ph type="ftr" sz="quarter" idx="11"/>
          </p:nvPr>
        </p:nvSpPr>
        <p:spPr/>
        <p:txBody>
          <a:bodyPr/>
          <a:lstStyle/>
          <a:p>
            <a:endParaRPr lang="es-BO"/>
          </a:p>
        </p:txBody>
      </p:sp>
      <p:sp>
        <p:nvSpPr>
          <p:cNvPr id="6" name="Marcador de número de diapositiva 5">
            <a:extLst>
              <a:ext uri="{FF2B5EF4-FFF2-40B4-BE49-F238E27FC236}">
                <a16:creationId xmlns:a16="http://schemas.microsoft.com/office/drawing/2014/main" id="{191F014A-4F37-AB53-2D51-E1AEEA80A6E5}"/>
              </a:ext>
            </a:extLst>
          </p:cNvPr>
          <p:cNvSpPr>
            <a:spLocks noGrp="1"/>
          </p:cNvSpPr>
          <p:nvPr>
            <p:ph type="sldNum" sz="quarter" idx="12"/>
          </p:nvPr>
        </p:nvSpPr>
        <p:spPr/>
        <p:txBody>
          <a:bodyPr/>
          <a:lstStyle/>
          <a:p>
            <a:fld id="{FBC9BBD9-9B11-4435-990D-02AFE4807E3A}" type="slidenum">
              <a:rPr lang="es-BO" smtClean="0"/>
              <a:t>‹Nº›</a:t>
            </a:fld>
            <a:endParaRPr lang="es-BO"/>
          </a:p>
        </p:txBody>
      </p:sp>
    </p:spTree>
    <p:extLst>
      <p:ext uri="{BB962C8B-B14F-4D97-AF65-F5344CB8AC3E}">
        <p14:creationId xmlns:p14="http://schemas.microsoft.com/office/powerpoint/2010/main" val="26161528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115DCB5-7687-9CC0-4E84-C511947BC052}"/>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BO"/>
          </a:p>
        </p:txBody>
      </p:sp>
      <p:sp>
        <p:nvSpPr>
          <p:cNvPr id="3" name="Marcador de texto 2">
            <a:extLst>
              <a:ext uri="{FF2B5EF4-FFF2-40B4-BE49-F238E27FC236}">
                <a16:creationId xmlns:a16="http://schemas.microsoft.com/office/drawing/2014/main" id="{076FFD93-B2AC-4958-DAED-9969F63D0AD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6D424499-8CC2-3C01-FCDD-ED50954978CA}"/>
              </a:ext>
            </a:extLst>
          </p:cNvPr>
          <p:cNvSpPr>
            <a:spLocks noGrp="1"/>
          </p:cNvSpPr>
          <p:nvPr>
            <p:ph type="dt" sz="half" idx="10"/>
          </p:nvPr>
        </p:nvSpPr>
        <p:spPr/>
        <p:txBody>
          <a:bodyPr/>
          <a:lstStyle/>
          <a:p>
            <a:fld id="{19BBD5BF-22F9-4819-ABF8-C368EA7914BB}" type="datetimeFigureOut">
              <a:rPr lang="es-BO" smtClean="0"/>
              <a:t>21/10/2026</a:t>
            </a:fld>
            <a:endParaRPr lang="es-BO"/>
          </a:p>
        </p:txBody>
      </p:sp>
      <p:sp>
        <p:nvSpPr>
          <p:cNvPr id="5" name="Marcador de pie de página 4">
            <a:extLst>
              <a:ext uri="{FF2B5EF4-FFF2-40B4-BE49-F238E27FC236}">
                <a16:creationId xmlns:a16="http://schemas.microsoft.com/office/drawing/2014/main" id="{A17BF4B6-002D-6AF3-BE3D-BC5DB6065925}"/>
              </a:ext>
            </a:extLst>
          </p:cNvPr>
          <p:cNvSpPr>
            <a:spLocks noGrp="1"/>
          </p:cNvSpPr>
          <p:nvPr>
            <p:ph type="ftr" sz="quarter" idx="11"/>
          </p:nvPr>
        </p:nvSpPr>
        <p:spPr/>
        <p:txBody>
          <a:bodyPr/>
          <a:lstStyle/>
          <a:p>
            <a:endParaRPr lang="es-BO"/>
          </a:p>
        </p:txBody>
      </p:sp>
      <p:sp>
        <p:nvSpPr>
          <p:cNvPr id="6" name="Marcador de número de diapositiva 5">
            <a:extLst>
              <a:ext uri="{FF2B5EF4-FFF2-40B4-BE49-F238E27FC236}">
                <a16:creationId xmlns:a16="http://schemas.microsoft.com/office/drawing/2014/main" id="{4E0B58FC-E417-DAD0-3452-447F0F2D1593}"/>
              </a:ext>
            </a:extLst>
          </p:cNvPr>
          <p:cNvSpPr>
            <a:spLocks noGrp="1"/>
          </p:cNvSpPr>
          <p:nvPr>
            <p:ph type="sldNum" sz="quarter" idx="12"/>
          </p:nvPr>
        </p:nvSpPr>
        <p:spPr/>
        <p:txBody>
          <a:bodyPr/>
          <a:lstStyle/>
          <a:p>
            <a:fld id="{FBC9BBD9-9B11-4435-990D-02AFE4807E3A}" type="slidenum">
              <a:rPr lang="es-BO" smtClean="0"/>
              <a:t>‹Nº›</a:t>
            </a:fld>
            <a:endParaRPr lang="es-BO"/>
          </a:p>
        </p:txBody>
      </p:sp>
    </p:spTree>
    <p:extLst>
      <p:ext uri="{BB962C8B-B14F-4D97-AF65-F5344CB8AC3E}">
        <p14:creationId xmlns:p14="http://schemas.microsoft.com/office/powerpoint/2010/main" val="41906899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575B08-E256-231D-86D4-80A133BF40DD}"/>
              </a:ext>
            </a:extLst>
          </p:cNvPr>
          <p:cNvSpPr>
            <a:spLocks noGrp="1"/>
          </p:cNvSpPr>
          <p:nvPr>
            <p:ph type="title"/>
          </p:nvPr>
        </p:nvSpPr>
        <p:spPr/>
        <p:txBody>
          <a:bodyPr/>
          <a:lstStyle/>
          <a:p>
            <a:r>
              <a:rPr lang="es-ES"/>
              <a:t>Haga clic para modificar el estilo de título del patrón</a:t>
            </a:r>
            <a:endParaRPr lang="es-BO"/>
          </a:p>
        </p:txBody>
      </p:sp>
      <p:sp>
        <p:nvSpPr>
          <p:cNvPr id="3" name="Marcador de contenido 2">
            <a:extLst>
              <a:ext uri="{FF2B5EF4-FFF2-40B4-BE49-F238E27FC236}">
                <a16:creationId xmlns:a16="http://schemas.microsoft.com/office/drawing/2014/main" id="{2DE64D1B-31F9-AB00-FB9D-A340CC935EAF}"/>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BO"/>
          </a:p>
        </p:txBody>
      </p:sp>
      <p:sp>
        <p:nvSpPr>
          <p:cNvPr id="4" name="Marcador de contenido 3">
            <a:extLst>
              <a:ext uri="{FF2B5EF4-FFF2-40B4-BE49-F238E27FC236}">
                <a16:creationId xmlns:a16="http://schemas.microsoft.com/office/drawing/2014/main" id="{9628A10F-F871-7FC9-F9F2-922A8126A93B}"/>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BO"/>
          </a:p>
        </p:txBody>
      </p:sp>
      <p:sp>
        <p:nvSpPr>
          <p:cNvPr id="5" name="Marcador de fecha 4">
            <a:extLst>
              <a:ext uri="{FF2B5EF4-FFF2-40B4-BE49-F238E27FC236}">
                <a16:creationId xmlns:a16="http://schemas.microsoft.com/office/drawing/2014/main" id="{290F8686-55DC-EA89-6F6F-97CEA9BD25D7}"/>
              </a:ext>
            </a:extLst>
          </p:cNvPr>
          <p:cNvSpPr>
            <a:spLocks noGrp="1"/>
          </p:cNvSpPr>
          <p:nvPr>
            <p:ph type="dt" sz="half" idx="10"/>
          </p:nvPr>
        </p:nvSpPr>
        <p:spPr/>
        <p:txBody>
          <a:bodyPr/>
          <a:lstStyle/>
          <a:p>
            <a:fld id="{19BBD5BF-22F9-4819-ABF8-C368EA7914BB}" type="datetimeFigureOut">
              <a:rPr lang="es-BO" smtClean="0"/>
              <a:t>21/10/2026</a:t>
            </a:fld>
            <a:endParaRPr lang="es-BO"/>
          </a:p>
        </p:txBody>
      </p:sp>
      <p:sp>
        <p:nvSpPr>
          <p:cNvPr id="6" name="Marcador de pie de página 5">
            <a:extLst>
              <a:ext uri="{FF2B5EF4-FFF2-40B4-BE49-F238E27FC236}">
                <a16:creationId xmlns:a16="http://schemas.microsoft.com/office/drawing/2014/main" id="{44494504-FBCD-F55E-C699-FAB77943628F}"/>
              </a:ext>
            </a:extLst>
          </p:cNvPr>
          <p:cNvSpPr>
            <a:spLocks noGrp="1"/>
          </p:cNvSpPr>
          <p:nvPr>
            <p:ph type="ftr" sz="quarter" idx="11"/>
          </p:nvPr>
        </p:nvSpPr>
        <p:spPr/>
        <p:txBody>
          <a:bodyPr/>
          <a:lstStyle/>
          <a:p>
            <a:endParaRPr lang="es-BO"/>
          </a:p>
        </p:txBody>
      </p:sp>
      <p:sp>
        <p:nvSpPr>
          <p:cNvPr id="7" name="Marcador de número de diapositiva 6">
            <a:extLst>
              <a:ext uri="{FF2B5EF4-FFF2-40B4-BE49-F238E27FC236}">
                <a16:creationId xmlns:a16="http://schemas.microsoft.com/office/drawing/2014/main" id="{9EB1463A-477A-256C-1D36-BED839A2927D}"/>
              </a:ext>
            </a:extLst>
          </p:cNvPr>
          <p:cNvSpPr>
            <a:spLocks noGrp="1"/>
          </p:cNvSpPr>
          <p:nvPr>
            <p:ph type="sldNum" sz="quarter" idx="12"/>
          </p:nvPr>
        </p:nvSpPr>
        <p:spPr/>
        <p:txBody>
          <a:bodyPr/>
          <a:lstStyle/>
          <a:p>
            <a:fld id="{FBC9BBD9-9B11-4435-990D-02AFE4807E3A}" type="slidenum">
              <a:rPr lang="es-BO" smtClean="0"/>
              <a:t>‹Nº›</a:t>
            </a:fld>
            <a:endParaRPr lang="es-BO"/>
          </a:p>
        </p:txBody>
      </p:sp>
    </p:spTree>
    <p:extLst>
      <p:ext uri="{BB962C8B-B14F-4D97-AF65-F5344CB8AC3E}">
        <p14:creationId xmlns:p14="http://schemas.microsoft.com/office/powerpoint/2010/main" val="6637905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B076270-65E5-44F1-E71B-89DFDBDB7EFA}"/>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BO"/>
          </a:p>
        </p:txBody>
      </p:sp>
      <p:sp>
        <p:nvSpPr>
          <p:cNvPr id="3" name="Marcador de texto 2">
            <a:extLst>
              <a:ext uri="{FF2B5EF4-FFF2-40B4-BE49-F238E27FC236}">
                <a16:creationId xmlns:a16="http://schemas.microsoft.com/office/drawing/2014/main" id="{3C63BA14-B788-6412-F314-2C579328760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8592FE00-EA0C-2268-A939-7AF66776578A}"/>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BO"/>
          </a:p>
        </p:txBody>
      </p:sp>
      <p:sp>
        <p:nvSpPr>
          <p:cNvPr id="5" name="Marcador de texto 4">
            <a:extLst>
              <a:ext uri="{FF2B5EF4-FFF2-40B4-BE49-F238E27FC236}">
                <a16:creationId xmlns:a16="http://schemas.microsoft.com/office/drawing/2014/main" id="{18E24325-4E32-0BA3-466C-02E2F2E95A5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A8C320BE-6EAD-49D7-88FC-FFD5B365EDC2}"/>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BO"/>
          </a:p>
        </p:txBody>
      </p:sp>
      <p:sp>
        <p:nvSpPr>
          <p:cNvPr id="7" name="Marcador de fecha 6">
            <a:extLst>
              <a:ext uri="{FF2B5EF4-FFF2-40B4-BE49-F238E27FC236}">
                <a16:creationId xmlns:a16="http://schemas.microsoft.com/office/drawing/2014/main" id="{9C395FCC-CCD3-6774-9D87-A0DC229C7FB1}"/>
              </a:ext>
            </a:extLst>
          </p:cNvPr>
          <p:cNvSpPr>
            <a:spLocks noGrp="1"/>
          </p:cNvSpPr>
          <p:nvPr>
            <p:ph type="dt" sz="half" idx="10"/>
          </p:nvPr>
        </p:nvSpPr>
        <p:spPr/>
        <p:txBody>
          <a:bodyPr/>
          <a:lstStyle/>
          <a:p>
            <a:fld id="{19BBD5BF-22F9-4819-ABF8-C368EA7914BB}" type="datetimeFigureOut">
              <a:rPr lang="es-BO" smtClean="0"/>
              <a:t>21/10/2026</a:t>
            </a:fld>
            <a:endParaRPr lang="es-BO"/>
          </a:p>
        </p:txBody>
      </p:sp>
      <p:sp>
        <p:nvSpPr>
          <p:cNvPr id="8" name="Marcador de pie de página 7">
            <a:extLst>
              <a:ext uri="{FF2B5EF4-FFF2-40B4-BE49-F238E27FC236}">
                <a16:creationId xmlns:a16="http://schemas.microsoft.com/office/drawing/2014/main" id="{74B383AE-8E16-4B07-7B04-D3DC138AF47D}"/>
              </a:ext>
            </a:extLst>
          </p:cNvPr>
          <p:cNvSpPr>
            <a:spLocks noGrp="1"/>
          </p:cNvSpPr>
          <p:nvPr>
            <p:ph type="ftr" sz="quarter" idx="11"/>
          </p:nvPr>
        </p:nvSpPr>
        <p:spPr/>
        <p:txBody>
          <a:bodyPr/>
          <a:lstStyle/>
          <a:p>
            <a:endParaRPr lang="es-BO"/>
          </a:p>
        </p:txBody>
      </p:sp>
      <p:sp>
        <p:nvSpPr>
          <p:cNvPr id="9" name="Marcador de número de diapositiva 8">
            <a:extLst>
              <a:ext uri="{FF2B5EF4-FFF2-40B4-BE49-F238E27FC236}">
                <a16:creationId xmlns:a16="http://schemas.microsoft.com/office/drawing/2014/main" id="{2BA2683B-BC13-A08B-774D-F78A9B38E3B0}"/>
              </a:ext>
            </a:extLst>
          </p:cNvPr>
          <p:cNvSpPr>
            <a:spLocks noGrp="1"/>
          </p:cNvSpPr>
          <p:nvPr>
            <p:ph type="sldNum" sz="quarter" idx="12"/>
          </p:nvPr>
        </p:nvSpPr>
        <p:spPr/>
        <p:txBody>
          <a:bodyPr/>
          <a:lstStyle/>
          <a:p>
            <a:fld id="{FBC9BBD9-9B11-4435-990D-02AFE4807E3A}" type="slidenum">
              <a:rPr lang="es-BO" smtClean="0"/>
              <a:t>‹Nº›</a:t>
            </a:fld>
            <a:endParaRPr lang="es-BO"/>
          </a:p>
        </p:txBody>
      </p:sp>
    </p:spTree>
    <p:extLst>
      <p:ext uri="{BB962C8B-B14F-4D97-AF65-F5344CB8AC3E}">
        <p14:creationId xmlns:p14="http://schemas.microsoft.com/office/powerpoint/2010/main" val="35750027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AFCB674-648B-2D3B-1B5E-F9E4998EAA4D}"/>
              </a:ext>
            </a:extLst>
          </p:cNvPr>
          <p:cNvSpPr>
            <a:spLocks noGrp="1"/>
          </p:cNvSpPr>
          <p:nvPr>
            <p:ph type="title"/>
          </p:nvPr>
        </p:nvSpPr>
        <p:spPr/>
        <p:txBody>
          <a:bodyPr/>
          <a:lstStyle/>
          <a:p>
            <a:r>
              <a:rPr lang="es-ES"/>
              <a:t>Haga clic para modificar el estilo de título del patrón</a:t>
            </a:r>
            <a:endParaRPr lang="es-BO"/>
          </a:p>
        </p:txBody>
      </p:sp>
      <p:sp>
        <p:nvSpPr>
          <p:cNvPr id="3" name="Marcador de fecha 2">
            <a:extLst>
              <a:ext uri="{FF2B5EF4-FFF2-40B4-BE49-F238E27FC236}">
                <a16:creationId xmlns:a16="http://schemas.microsoft.com/office/drawing/2014/main" id="{618C79C3-28B0-D05D-EC6E-98CD8FC92D3E}"/>
              </a:ext>
            </a:extLst>
          </p:cNvPr>
          <p:cNvSpPr>
            <a:spLocks noGrp="1"/>
          </p:cNvSpPr>
          <p:nvPr>
            <p:ph type="dt" sz="half" idx="10"/>
          </p:nvPr>
        </p:nvSpPr>
        <p:spPr/>
        <p:txBody>
          <a:bodyPr/>
          <a:lstStyle/>
          <a:p>
            <a:fld id="{19BBD5BF-22F9-4819-ABF8-C368EA7914BB}" type="datetimeFigureOut">
              <a:rPr lang="es-BO" smtClean="0"/>
              <a:t>21/10/2026</a:t>
            </a:fld>
            <a:endParaRPr lang="es-BO"/>
          </a:p>
        </p:txBody>
      </p:sp>
      <p:sp>
        <p:nvSpPr>
          <p:cNvPr id="4" name="Marcador de pie de página 3">
            <a:extLst>
              <a:ext uri="{FF2B5EF4-FFF2-40B4-BE49-F238E27FC236}">
                <a16:creationId xmlns:a16="http://schemas.microsoft.com/office/drawing/2014/main" id="{1EA6F98F-477B-7FC1-04FB-69C3908DBB4D}"/>
              </a:ext>
            </a:extLst>
          </p:cNvPr>
          <p:cNvSpPr>
            <a:spLocks noGrp="1"/>
          </p:cNvSpPr>
          <p:nvPr>
            <p:ph type="ftr" sz="quarter" idx="11"/>
          </p:nvPr>
        </p:nvSpPr>
        <p:spPr/>
        <p:txBody>
          <a:bodyPr/>
          <a:lstStyle/>
          <a:p>
            <a:endParaRPr lang="es-BO"/>
          </a:p>
        </p:txBody>
      </p:sp>
      <p:sp>
        <p:nvSpPr>
          <p:cNvPr id="5" name="Marcador de número de diapositiva 4">
            <a:extLst>
              <a:ext uri="{FF2B5EF4-FFF2-40B4-BE49-F238E27FC236}">
                <a16:creationId xmlns:a16="http://schemas.microsoft.com/office/drawing/2014/main" id="{6EFCF993-2CB9-4A51-1E03-605B6F065A9D}"/>
              </a:ext>
            </a:extLst>
          </p:cNvPr>
          <p:cNvSpPr>
            <a:spLocks noGrp="1"/>
          </p:cNvSpPr>
          <p:nvPr>
            <p:ph type="sldNum" sz="quarter" idx="12"/>
          </p:nvPr>
        </p:nvSpPr>
        <p:spPr/>
        <p:txBody>
          <a:bodyPr/>
          <a:lstStyle/>
          <a:p>
            <a:fld id="{FBC9BBD9-9B11-4435-990D-02AFE4807E3A}" type="slidenum">
              <a:rPr lang="es-BO" smtClean="0"/>
              <a:t>‹Nº›</a:t>
            </a:fld>
            <a:endParaRPr lang="es-BO"/>
          </a:p>
        </p:txBody>
      </p:sp>
    </p:spTree>
    <p:extLst>
      <p:ext uri="{BB962C8B-B14F-4D97-AF65-F5344CB8AC3E}">
        <p14:creationId xmlns:p14="http://schemas.microsoft.com/office/powerpoint/2010/main" val="26656731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122AFB62-FA9A-E578-2D89-F104264EF369}"/>
              </a:ext>
            </a:extLst>
          </p:cNvPr>
          <p:cNvSpPr>
            <a:spLocks noGrp="1"/>
          </p:cNvSpPr>
          <p:nvPr>
            <p:ph type="dt" sz="half" idx="10"/>
          </p:nvPr>
        </p:nvSpPr>
        <p:spPr/>
        <p:txBody>
          <a:bodyPr/>
          <a:lstStyle/>
          <a:p>
            <a:fld id="{19BBD5BF-22F9-4819-ABF8-C368EA7914BB}" type="datetimeFigureOut">
              <a:rPr lang="es-BO" smtClean="0"/>
              <a:t>21/10/2026</a:t>
            </a:fld>
            <a:endParaRPr lang="es-BO"/>
          </a:p>
        </p:txBody>
      </p:sp>
      <p:sp>
        <p:nvSpPr>
          <p:cNvPr id="3" name="Marcador de pie de página 2">
            <a:extLst>
              <a:ext uri="{FF2B5EF4-FFF2-40B4-BE49-F238E27FC236}">
                <a16:creationId xmlns:a16="http://schemas.microsoft.com/office/drawing/2014/main" id="{874015F6-CBC5-604C-A9F3-20AA2EE76274}"/>
              </a:ext>
            </a:extLst>
          </p:cNvPr>
          <p:cNvSpPr>
            <a:spLocks noGrp="1"/>
          </p:cNvSpPr>
          <p:nvPr>
            <p:ph type="ftr" sz="quarter" idx="11"/>
          </p:nvPr>
        </p:nvSpPr>
        <p:spPr/>
        <p:txBody>
          <a:bodyPr/>
          <a:lstStyle/>
          <a:p>
            <a:endParaRPr lang="es-BO"/>
          </a:p>
        </p:txBody>
      </p:sp>
      <p:sp>
        <p:nvSpPr>
          <p:cNvPr id="4" name="Marcador de número de diapositiva 3">
            <a:extLst>
              <a:ext uri="{FF2B5EF4-FFF2-40B4-BE49-F238E27FC236}">
                <a16:creationId xmlns:a16="http://schemas.microsoft.com/office/drawing/2014/main" id="{8F4A1581-F4AD-1DA6-2989-D5F0890D0F99}"/>
              </a:ext>
            </a:extLst>
          </p:cNvPr>
          <p:cNvSpPr>
            <a:spLocks noGrp="1"/>
          </p:cNvSpPr>
          <p:nvPr>
            <p:ph type="sldNum" sz="quarter" idx="12"/>
          </p:nvPr>
        </p:nvSpPr>
        <p:spPr/>
        <p:txBody>
          <a:bodyPr/>
          <a:lstStyle/>
          <a:p>
            <a:fld id="{FBC9BBD9-9B11-4435-990D-02AFE4807E3A}" type="slidenum">
              <a:rPr lang="es-BO" smtClean="0"/>
              <a:t>‹Nº›</a:t>
            </a:fld>
            <a:endParaRPr lang="es-BO"/>
          </a:p>
        </p:txBody>
      </p:sp>
    </p:spTree>
    <p:extLst>
      <p:ext uri="{BB962C8B-B14F-4D97-AF65-F5344CB8AC3E}">
        <p14:creationId xmlns:p14="http://schemas.microsoft.com/office/powerpoint/2010/main" val="26521496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1ADE2F7-576E-6634-9505-ACCEBABC88E4}"/>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BO"/>
          </a:p>
        </p:txBody>
      </p:sp>
      <p:sp>
        <p:nvSpPr>
          <p:cNvPr id="3" name="Marcador de contenido 2">
            <a:extLst>
              <a:ext uri="{FF2B5EF4-FFF2-40B4-BE49-F238E27FC236}">
                <a16:creationId xmlns:a16="http://schemas.microsoft.com/office/drawing/2014/main" id="{3A7322F3-2ED6-FBCA-8EE8-BF8217BF573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BO"/>
          </a:p>
        </p:txBody>
      </p:sp>
      <p:sp>
        <p:nvSpPr>
          <p:cNvPr id="4" name="Marcador de texto 3">
            <a:extLst>
              <a:ext uri="{FF2B5EF4-FFF2-40B4-BE49-F238E27FC236}">
                <a16:creationId xmlns:a16="http://schemas.microsoft.com/office/drawing/2014/main" id="{4C41E06F-30E5-D3C0-CBB4-4EFD3E97D6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DA4CDC56-3F7C-52EF-6EAC-4530F3AA93CB}"/>
              </a:ext>
            </a:extLst>
          </p:cNvPr>
          <p:cNvSpPr>
            <a:spLocks noGrp="1"/>
          </p:cNvSpPr>
          <p:nvPr>
            <p:ph type="dt" sz="half" idx="10"/>
          </p:nvPr>
        </p:nvSpPr>
        <p:spPr/>
        <p:txBody>
          <a:bodyPr/>
          <a:lstStyle/>
          <a:p>
            <a:fld id="{19BBD5BF-22F9-4819-ABF8-C368EA7914BB}" type="datetimeFigureOut">
              <a:rPr lang="es-BO" smtClean="0"/>
              <a:t>21/10/2026</a:t>
            </a:fld>
            <a:endParaRPr lang="es-BO"/>
          </a:p>
        </p:txBody>
      </p:sp>
      <p:sp>
        <p:nvSpPr>
          <p:cNvPr id="6" name="Marcador de pie de página 5">
            <a:extLst>
              <a:ext uri="{FF2B5EF4-FFF2-40B4-BE49-F238E27FC236}">
                <a16:creationId xmlns:a16="http://schemas.microsoft.com/office/drawing/2014/main" id="{F6237BED-0DCD-A4E3-33B2-00BF1B87065B}"/>
              </a:ext>
            </a:extLst>
          </p:cNvPr>
          <p:cNvSpPr>
            <a:spLocks noGrp="1"/>
          </p:cNvSpPr>
          <p:nvPr>
            <p:ph type="ftr" sz="quarter" idx="11"/>
          </p:nvPr>
        </p:nvSpPr>
        <p:spPr/>
        <p:txBody>
          <a:bodyPr/>
          <a:lstStyle/>
          <a:p>
            <a:endParaRPr lang="es-BO"/>
          </a:p>
        </p:txBody>
      </p:sp>
      <p:sp>
        <p:nvSpPr>
          <p:cNvPr id="7" name="Marcador de número de diapositiva 6">
            <a:extLst>
              <a:ext uri="{FF2B5EF4-FFF2-40B4-BE49-F238E27FC236}">
                <a16:creationId xmlns:a16="http://schemas.microsoft.com/office/drawing/2014/main" id="{88F69A38-60B8-9AA9-66ED-4F04A1B4D0D1}"/>
              </a:ext>
            </a:extLst>
          </p:cNvPr>
          <p:cNvSpPr>
            <a:spLocks noGrp="1"/>
          </p:cNvSpPr>
          <p:nvPr>
            <p:ph type="sldNum" sz="quarter" idx="12"/>
          </p:nvPr>
        </p:nvSpPr>
        <p:spPr/>
        <p:txBody>
          <a:bodyPr/>
          <a:lstStyle/>
          <a:p>
            <a:fld id="{FBC9BBD9-9B11-4435-990D-02AFE4807E3A}" type="slidenum">
              <a:rPr lang="es-BO" smtClean="0"/>
              <a:t>‹Nº›</a:t>
            </a:fld>
            <a:endParaRPr lang="es-BO"/>
          </a:p>
        </p:txBody>
      </p:sp>
    </p:spTree>
    <p:extLst>
      <p:ext uri="{BB962C8B-B14F-4D97-AF65-F5344CB8AC3E}">
        <p14:creationId xmlns:p14="http://schemas.microsoft.com/office/powerpoint/2010/main" val="33937494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78BA83-9CDE-E2D1-935B-6DE9D2C0C7FA}"/>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BO"/>
          </a:p>
        </p:txBody>
      </p:sp>
      <p:sp>
        <p:nvSpPr>
          <p:cNvPr id="3" name="Marcador de posición de imagen 2">
            <a:extLst>
              <a:ext uri="{FF2B5EF4-FFF2-40B4-BE49-F238E27FC236}">
                <a16:creationId xmlns:a16="http://schemas.microsoft.com/office/drawing/2014/main" id="{85F60069-BA6E-AC5F-29CF-FE09C5D035D0}"/>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BO"/>
          </a:p>
        </p:txBody>
      </p:sp>
      <p:sp>
        <p:nvSpPr>
          <p:cNvPr id="4" name="Marcador de texto 3">
            <a:extLst>
              <a:ext uri="{FF2B5EF4-FFF2-40B4-BE49-F238E27FC236}">
                <a16:creationId xmlns:a16="http://schemas.microsoft.com/office/drawing/2014/main" id="{905A5532-4057-1D5F-8A1C-F59089EA50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9746354A-0534-40DD-BA7F-AC9530EB99D5}"/>
              </a:ext>
            </a:extLst>
          </p:cNvPr>
          <p:cNvSpPr>
            <a:spLocks noGrp="1"/>
          </p:cNvSpPr>
          <p:nvPr>
            <p:ph type="dt" sz="half" idx="10"/>
          </p:nvPr>
        </p:nvSpPr>
        <p:spPr/>
        <p:txBody>
          <a:bodyPr/>
          <a:lstStyle/>
          <a:p>
            <a:fld id="{19BBD5BF-22F9-4819-ABF8-C368EA7914BB}" type="datetimeFigureOut">
              <a:rPr lang="es-BO" smtClean="0"/>
              <a:t>21/10/2026</a:t>
            </a:fld>
            <a:endParaRPr lang="es-BO"/>
          </a:p>
        </p:txBody>
      </p:sp>
      <p:sp>
        <p:nvSpPr>
          <p:cNvPr id="6" name="Marcador de pie de página 5">
            <a:extLst>
              <a:ext uri="{FF2B5EF4-FFF2-40B4-BE49-F238E27FC236}">
                <a16:creationId xmlns:a16="http://schemas.microsoft.com/office/drawing/2014/main" id="{EF9F3F15-9CE7-E972-AC1F-458856C922B7}"/>
              </a:ext>
            </a:extLst>
          </p:cNvPr>
          <p:cNvSpPr>
            <a:spLocks noGrp="1"/>
          </p:cNvSpPr>
          <p:nvPr>
            <p:ph type="ftr" sz="quarter" idx="11"/>
          </p:nvPr>
        </p:nvSpPr>
        <p:spPr/>
        <p:txBody>
          <a:bodyPr/>
          <a:lstStyle/>
          <a:p>
            <a:endParaRPr lang="es-BO"/>
          </a:p>
        </p:txBody>
      </p:sp>
      <p:sp>
        <p:nvSpPr>
          <p:cNvPr id="7" name="Marcador de número de diapositiva 6">
            <a:extLst>
              <a:ext uri="{FF2B5EF4-FFF2-40B4-BE49-F238E27FC236}">
                <a16:creationId xmlns:a16="http://schemas.microsoft.com/office/drawing/2014/main" id="{B59EA4CF-A824-8920-A76A-AEFA3B90323F}"/>
              </a:ext>
            </a:extLst>
          </p:cNvPr>
          <p:cNvSpPr>
            <a:spLocks noGrp="1"/>
          </p:cNvSpPr>
          <p:nvPr>
            <p:ph type="sldNum" sz="quarter" idx="12"/>
          </p:nvPr>
        </p:nvSpPr>
        <p:spPr/>
        <p:txBody>
          <a:bodyPr/>
          <a:lstStyle/>
          <a:p>
            <a:fld id="{FBC9BBD9-9B11-4435-990D-02AFE4807E3A}" type="slidenum">
              <a:rPr lang="es-BO" smtClean="0"/>
              <a:t>‹Nº›</a:t>
            </a:fld>
            <a:endParaRPr lang="es-BO"/>
          </a:p>
        </p:txBody>
      </p:sp>
    </p:spTree>
    <p:extLst>
      <p:ext uri="{BB962C8B-B14F-4D97-AF65-F5344CB8AC3E}">
        <p14:creationId xmlns:p14="http://schemas.microsoft.com/office/powerpoint/2010/main" val="38949496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B31761F-44E3-1A7C-524F-21CE44AE6C82}"/>
              </a:ext>
            </a:extLst>
          </p:cNvPr>
          <p:cNvSpPr>
            <a:spLocks noGrp="1"/>
          </p:cNvSpPr>
          <p:nvPr>
            <p:ph type="title"/>
          </p:nvPr>
        </p:nvSpPr>
        <p:spPr/>
        <p:txBody>
          <a:bodyPr/>
          <a:lstStyle/>
          <a:p>
            <a:r>
              <a:rPr lang="es-ES"/>
              <a:t>Haga clic para modificar el estilo de título del patrón</a:t>
            </a:r>
            <a:endParaRPr lang="es-BO"/>
          </a:p>
        </p:txBody>
      </p:sp>
      <p:sp>
        <p:nvSpPr>
          <p:cNvPr id="3" name="Marcador de texto vertical 2">
            <a:extLst>
              <a:ext uri="{FF2B5EF4-FFF2-40B4-BE49-F238E27FC236}">
                <a16:creationId xmlns:a16="http://schemas.microsoft.com/office/drawing/2014/main" id="{BA5C0647-C7E7-0CE0-1750-9EC04C199694}"/>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BO"/>
          </a:p>
        </p:txBody>
      </p:sp>
      <p:sp>
        <p:nvSpPr>
          <p:cNvPr id="4" name="Marcador de fecha 3">
            <a:extLst>
              <a:ext uri="{FF2B5EF4-FFF2-40B4-BE49-F238E27FC236}">
                <a16:creationId xmlns:a16="http://schemas.microsoft.com/office/drawing/2014/main" id="{1CE49D6E-DE5C-764C-7B44-24CB23D821C4}"/>
              </a:ext>
            </a:extLst>
          </p:cNvPr>
          <p:cNvSpPr>
            <a:spLocks noGrp="1"/>
          </p:cNvSpPr>
          <p:nvPr>
            <p:ph type="dt" sz="half" idx="10"/>
          </p:nvPr>
        </p:nvSpPr>
        <p:spPr/>
        <p:txBody>
          <a:bodyPr/>
          <a:lstStyle/>
          <a:p>
            <a:fld id="{19BBD5BF-22F9-4819-ABF8-C368EA7914BB}" type="datetimeFigureOut">
              <a:rPr lang="es-BO" smtClean="0"/>
              <a:t>21/10/2026</a:t>
            </a:fld>
            <a:endParaRPr lang="es-BO"/>
          </a:p>
        </p:txBody>
      </p:sp>
      <p:sp>
        <p:nvSpPr>
          <p:cNvPr id="5" name="Marcador de pie de página 4">
            <a:extLst>
              <a:ext uri="{FF2B5EF4-FFF2-40B4-BE49-F238E27FC236}">
                <a16:creationId xmlns:a16="http://schemas.microsoft.com/office/drawing/2014/main" id="{3370AA44-5470-BF1D-251A-531C346F6C90}"/>
              </a:ext>
            </a:extLst>
          </p:cNvPr>
          <p:cNvSpPr>
            <a:spLocks noGrp="1"/>
          </p:cNvSpPr>
          <p:nvPr>
            <p:ph type="ftr" sz="quarter" idx="11"/>
          </p:nvPr>
        </p:nvSpPr>
        <p:spPr/>
        <p:txBody>
          <a:bodyPr/>
          <a:lstStyle/>
          <a:p>
            <a:endParaRPr lang="es-BO"/>
          </a:p>
        </p:txBody>
      </p:sp>
      <p:sp>
        <p:nvSpPr>
          <p:cNvPr id="6" name="Marcador de número de diapositiva 5">
            <a:extLst>
              <a:ext uri="{FF2B5EF4-FFF2-40B4-BE49-F238E27FC236}">
                <a16:creationId xmlns:a16="http://schemas.microsoft.com/office/drawing/2014/main" id="{EE88CB20-E165-E280-6FB5-5A046FC87031}"/>
              </a:ext>
            </a:extLst>
          </p:cNvPr>
          <p:cNvSpPr>
            <a:spLocks noGrp="1"/>
          </p:cNvSpPr>
          <p:nvPr>
            <p:ph type="sldNum" sz="quarter" idx="12"/>
          </p:nvPr>
        </p:nvSpPr>
        <p:spPr/>
        <p:txBody>
          <a:bodyPr/>
          <a:lstStyle/>
          <a:p>
            <a:fld id="{FBC9BBD9-9B11-4435-990D-02AFE4807E3A}" type="slidenum">
              <a:rPr lang="es-BO" smtClean="0"/>
              <a:t>‹Nº›</a:t>
            </a:fld>
            <a:endParaRPr lang="es-BO"/>
          </a:p>
        </p:txBody>
      </p:sp>
    </p:spTree>
    <p:extLst>
      <p:ext uri="{BB962C8B-B14F-4D97-AF65-F5344CB8AC3E}">
        <p14:creationId xmlns:p14="http://schemas.microsoft.com/office/powerpoint/2010/main" val="7082617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77A0263-70F6-F9BC-9C83-17C40098717D}"/>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BO"/>
          </a:p>
        </p:txBody>
      </p:sp>
      <p:sp>
        <p:nvSpPr>
          <p:cNvPr id="3" name="Marcador de texto vertical 2">
            <a:extLst>
              <a:ext uri="{FF2B5EF4-FFF2-40B4-BE49-F238E27FC236}">
                <a16:creationId xmlns:a16="http://schemas.microsoft.com/office/drawing/2014/main" id="{ACEA17B7-E23A-67E7-131C-7904CBEF2B37}"/>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BO"/>
          </a:p>
        </p:txBody>
      </p:sp>
      <p:sp>
        <p:nvSpPr>
          <p:cNvPr id="4" name="Marcador de fecha 3">
            <a:extLst>
              <a:ext uri="{FF2B5EF4-FFF2-40B4-BE49-F238E27FC236}">
                <a16:creationId xmlns:a16="http://schemas.microsoft.com/office/drawing/2014/main" id="{D4F12B93-144F-F910-0748-3D58EB5FAFE6}"/>
              </a:ext>
            </a:extLst>
          </p:cNvPr>
          <p:cNvSpPr>
            <a:spLocks noGrp="1"/>
          </p:cNvSpPr>
          <p:nvPr>
            <p:ph type="dt" sz="half" idx="10"/>
          </p:nvPr>
        </p:nvSpPr>
        <p:spPr/>
        <p:txBody>
          <a:bodyPr/>
          <a:lstStyle/>
          <a:p>
            <a:fld id="{19BBD5BF-22F9-4819-ABF8-C368EA7914BB}" type="datetimeFigureOut">
              <a:rPr lang="es-BO" smtClean="0"/>
              <a:t>21/10/2026</a:t>
            </a:fld>
            <a:endParaRPr lang="es-BO"/>
          </a:p>
        </p:txBody>
      </p:sp>
      <p:sp>
        <p:nvSpPr>
          <p:cNvPr id="5" name="Marcador de pie de página 4">
            <a:extLst>
              <a:ext uri="{FF2B5EF4-FFF2-40B4-BE49-F238E27FC236}">
                <a16:creationId xmlns:a16="http://schemas.microsoft.com/office/drawing/2014/main" id="{C37FA0AB-EA41-BEA6-D252-7B3FF53C08A1}"/>
              </a:ext>
            </a:extLst>
          </p:cNvPr>
          <p:cNvSpPr>
            <a:spLocks noGrp="1"/>
          </p:cNvSpPr>
          <p:nvPr>
            <p:ph type="ftr" sz="quarter" idx="11"/>
          </p:nvPr>
        </p:nvSpPr>
        <p:spPr/>
        <p:txBody>
          <a:bodyPr/>
          <a:lstStyle/>
          <a:p>
            <a:endParaRPr lang="es-BO"/>
          </a:p>
        </p:txBody>
      </p:sp>
      <p:sp>
        <p:nvSpPr>
          <p:cNvPr id="6" name="Marcador de número de diapositiva 5">
            <a:extLst>
              <a:ext uri="{FF2B5EF4-FFF2-40B4-BE49-F238E27FC236}">
                <a16:creationId xmlns:a16="http://schemas.microsoft.com/office/drawing/2014/main" id="{073862B3-F25A-23DA-282F-0C35436232E3}"/>
              </a:ext>
            </a:extLst>
          </p:cNvPr>
          <p:cNvSpPr>
            <a:spLocks noGrp="1"/>
          </p:cNvSpPr>
          <p:nvPr>
            <p:ph type="sldNum" sz="quarter" idx="12"/>
          </p:nvPr>
        </p:nvSpPr>
        <p:spPr/>
        <p:txBody>
          <a:bodyPr/>
          <a:lstStyle/>
          <a:p>
            <a:fld id="{FBC9BBD9-9B11-4435-990D-02AFE4807E3A}" type="slidenum">
              <a:rPr lang="es-BO" smtClean="0"/>
              <a:t>‹Nº›</a:t>
            </a:fld>
            <a:endParaRPr lang="es-BO"/>
          </a:p>
        </p:txBody>
      </p:sp>
    </p:spTree>
    <p:extLst>
      <p:ext uri="{BB962C8B-B14F-4D97-AF65-F5344CB8AC3E}">
        <p14:creationId xmlns:p14="http://schemas.microsoft.com/office/powerpoint/2010/main" val="9944031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DCECF771-4000-D107-8F0A-F911CDD9D38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BO"/>
          </a:p>
        </p:txBody>
      </p:sp>
      <p:sp>
        <p:nvSpPr>
          <p:cNvPr id="3" name="Marcador de texto 2">
            <a:extLst>
              <a:ext uri="{FF2B5EF4-FFF2-40B4-BE49-F238E27FC236}">
                <a16:creationId xmlns:a16="http://schemas.microsoft.com/office/drawing/2014/main" id="{4721AA7B-1EE6-7632-3B5E-2497B22B872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BO"/>
          </a:p>
        </p:txBody>
      </p:sp>
      <p:sp>
        <p:nvSpPr>
          <p:cNvPr id="4" name="Marcador de fecha 3">
            <a:extLst>
              <a:ext uri="{FF2B5EF4-FFF2-40B4-BE49-F238E27FC236}">
                <a16:creationId xmlns:a16="http://schemas.microsoft.com/office/drawing/2014/main" id="{5F2263B6-07CD-08D1-D51F-148DAE4FA5E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9BBD5BF-22F9-4819-ABF8-C368EA7914BB}" type="datetimeFigureOut">
              <a:rPr lang="es-BO" smtClean="0"/>
              <a:t>21/10/2026</a:t>
            </a:fld>
            <a:endParaRPr lang="es-BO"/>
          </a:p>
        </p:txBody>
      </p:sp>
      <p:sp>
        <p:nvSpPr>
          <p:cNvPr id="5" name="Marcador de pie de página 4">
            <a:extLst>
              <a:ext uri="{FF2B5EF4-FFF2-40B4-BE49-F238E27FC236}">
                <a16:creationId xmlns:a16="http://schemas.microsoft.com/office/drawing/2014/main" id="{5D12E87B-F7E4-50FE-FE31-DA5C58D90D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BO"/>
          </a:p>
        </p:txBody>
      </p:sp>
      <p:sp>
        <p:nvSpPr>
          <p:cNvPr id="6" name="Marcador de número de diapositiva 5">
            <a:extLst>
              <a:ext uri="{FF2B5EF4-FFF2-40B4-BE49-F238E27FC236}">
                <a16:creationId xmlns:a16="http://schemas.microsoft.com/office/drawing/2014/main" id="{D4F47AF8-7EE6-01AC-93B5-678F4B87590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BC9BBD9-9B11-4435-990D-02AFE4807E3A}" type="slidenum">
              <a:rPr lang="es-BO" smtClean="0"/>
              <a:t>‹Nº›</a:t>
            </a:fld>
            <a:endParaRPr lang="es-BO"/>
          </a:p>
        </p:txBody>
      </p:sp>
    </p:spTree>
    <p:extLst>
      <p:ext uri="{BB962C8B-B14F-4D97-AF65-F5344CB8AC3E}">
        <p14:creationId xmlns:p14="http://schemas.microsoft.com/office/powerpoint/2010/main" val="19871206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B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 Id="rId100" Type="http://schemas.openxmlformats.org/officeDocument/2006/relationships/image" Target="../media/kyvc_s3a_principio.png"/><Relationship Id="rId101" Type="http://schemas.openxmlformats.org/officeDocument/2006/relationships/image" Target="../media/kyvc_s3b_anodo.png"/><Relationship Id="rId102" Type="http://schemas.openxmlformats.org/officeDocument/2006/relationships/image" Target="../media/kyvc_s3c_rotura.png"/></Relationships>
</file>

<file path=ppt/slides/_rels/slide4.xml.rels><?xml version='1.0' encoding='UTF-8' standalone='yes'?>
<Relationships xmlns="http://schemas.openxmlformats.org/package/2006/relationships"><Relationship Id="rId3" Type="http://schemas.openxmlformats.org/officeDocument/2006/relationships/image" Target="../media/kyvc_s4_mapa.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kyvc_s7_comprobaciones.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kyvc_s8_cambio_uso.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kyvc_s12_frp.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11.jpg"/><Relationship Id="rId4" Type="http://schemas.openxmlformats.org/officeDocument/2006/relationships/image" Target="../media/image10.jpg"/></Relationships>
</file>

<file path=ppt/slides/_rels/slide14.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kyvc_s16_familias.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kyvc_s17_conexion.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8.xml"/><Relationship Id="rId1" Type="http://schemas.openxmlformats.org/officeDocument/2006/relationships/slideLayout" Target="../slideLayouts/slideLayout7.xml"/><Relationship Id="rId5" Type="http://schemas.openxmlformats.org/officeDocument/2006/relationships/image" Target="../media/kyvc_s18_hormigonado.png"/><Relationship Id="rId4" Type="http://schemas.openxmlformats.org/officeDocument/2006/relationships/image" Target="../media/image16.jpg"/></Relationships>
</file>

<file path=ppt/slides/_rels/slide19.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kyvc_s20_calendario.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kyvc_s21_sitter.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kyvc_s23_zapata.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7.xml"/><Relationship Id="rId1" Type="http://schemas.openxmlformats.org/officeDocument/2006/relationships/tags" Target="../tags/tag1.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7.xml"/><Relationship Id="rId1" Type="http://schemas.openxmlformats.org/officeDocument/2006/relationships/tags" Target="../tags/tag2.xml"/><Relationship Id="rId100" Type="http://schemas.openxmlformats.org/officeDocument/2006/relationships/image" Target="../media/kyvc_s25_paso1.png"/></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7.xml"/><Relationship Id="rId1" Type="http://schemas.openxmlformats.org/officeDocument/2006/relationships/tags" Target="../tags/tag3.xml"/><Relationship Id="rId100" Type="http://schemas.openxmlformats.org/officeDocument/2006/relationships/image" Target="../media/kyvc_s26_paso2.png"/></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7.xml"/><Relationship Id="rId1" Type="http://schemas.openxmlformats.org/officeDocument/2006/relationships/tags" Target="../tags/tag4.xml"/><Relationship Id="rId100" Type="http://schemas.openxmlformats.org/officeDocument/2006/relationships/image" Target="../media/kyvc_s27_paso3.png"/></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7.xml"/><Relationship Id="rId1" Type="http://schemas.openxmlformats.org/officeDocument/2006/relationships/tags" Target="../tags/tag5.xml"/><Relationship Id="rId100" Type="http://schemas.openxmlformats.org/officeDocument/2006/relationships/image" Target="../media/kyvc_s28_paso4.pn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7.xml"/><Relationship Id="rId1" Type="http://schemas.openxmlformats.org/officeDocument/2006/relationships/tags" Target="../tags/tag6.xml"/><Relationship Id="rId100" Type="http://schemas.openxmlformats.org/officeDocument/2006/relationships/image" Target="../media/kyvc_s29_paso5.png"/></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7.xml"/><Relationship Id="rId1" Type="http://schemas.openxmlformats.org/officeDocument/2006/relationships/tags" Target="../tags/tag7.xml"/><Relationship Id="rId100" Type="http://schemas.openxmlformats.org/officeDocument/2006/relationships/image" Target="../media/kyvc_s30_paso6.png"/></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7.xml"/><Relationship Id="rId1" Type="http://schemas.openxmlformats.org/officeDocument/2006/relationships/tags" Target="../tags/tag8.xml"/><Relationship Id="rId100" Type="http://schemas.openxmlformats.org/officeDocument/2006/relationships/image" Target="../media/kyvc_s31_paso7.png"/></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32.xml"/><Relationship Id="rId2" Type="http://schemas.openxmlformats.org/officeDocument/2006/relationships/slideLayout" Target="../slideLayouts/slideLayout7.xml"/><Relationship Id="rId1" Type="http://schemas.openxmlformats.org/officeDocument/2006/relationships/tags" Target="../tags/tag9.xml"/><Relationship Id="rId100" Type="http://schemas.openxmlformats.org/officeDocument/2006/relationships/image" Target="../media/kyvc_s32_paso8.png"/></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33.xml"/><Relationship Id="rId2" Type="http://schemas.openxmlformats.org/officeDocument/2006/relationships/slideLayout" Target="../slideLayouts/slideLayout7.xml"/><Relationship Id="rId1" Type="http://schemas.openxmlformats.org/officeDocument/2006/relationships/tags" Target="../tags/tag1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36.xml"/><Relationship Id="rId2" Type="http://schemas.openxmlformats.org/officeDocument/2006/relationships/slideLayout" Target="../slideLayouts/slideLayout7.xml"/><Relationship Id="rId1" Type="http://schemas.openxmlformats.org/officeDocument/2006/relationships/tags" Target="../tags/tag11.xml"/><Relationship Id="rId4" Type="http://schemas.openxmlformats.org/officeDocument/2006/relationships/image" Target="../media/image23.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C1813"/>
        </a:solidFill>
        <a:effectLst/>
      </p:bgPr>
    </p:bg>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7214F871-90ED-004E-7570-5A040FB17A3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Rectángulo 3">
            <a:extLst>
              <a:ext uri="{FF2B5EF4-FFF2-40B4-BE49-F238E27FC236}">
                <a16:creationId xmlns:a16="http://schemas.microsoft.com/office/drawing/2014/main" id="{79AB6642-9DF1-04D2-584C-054C47C5A252}"/>
              </a:ext>
            </a:extLst>
          </p:cNvPr>
          <p:cNvSpPr/>
          <p:nvPr/>
        </p:nvSpPr>
        <p:spPr>
          <a:xfrm>
            <a:off x="0" y="0"/>
            <a:ext cx="10668000" cy="6858000"/>
          </a:xfrm>
          <a:prstGeom prst="rect">
            <a:avLst/>
          </a:prstGeom>
          <a:gradFill flip="none" rotWithShape="1">
            <a:gsLst>
              <a:gs pos="0">
                <a:srgbClr val="1C1813"/>
              </a:gs>
              <a:gs pos="100000">
                <a:srgbClr val="1C1813">
                  <a:alpha val="0"/>
                </a:srgbClr>
              </a:gs>
            </a:gsLst>
            <a:lin ang="0" scaled="1"/>
            <a:tileRect/>
          </a:gra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5" name="Rectángulo 4">
            <a:extLst>
              <a:ext uri="{FF2B5EF4-FFF2-40B4-BE49-F238E27FC236}">
                <a16:creationId xmlns:a16="http://schemas.microsoft.com/office/drawing/2014/main" id="{1C1B04F5-E304-AD10-9EBC-E0F53A9AE215}"/>
              </a:ext>
            </a:extLst>
          </p:cNvPr>
          <p:cNvSpPr/>
          <p:nvPr/>
        </p:nvSpPr>
        <p:spPr>
          <a:xfrm>
            <a:off x="0" y="0"/>
            <a:ext cx="12192000" cy="6858000"/>
          </a:xfrm>
          <a:prstGeom prst="rect">
            <a:avLst/>
          </a:prstGeom>
          <a:solidFill>
            <a:srgbClr val="1C1813">
              <a:alpha val="42000"/>
            </a:srgb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6" name="Rectángulo 5">
            <a:extLst>
              <a:ext uri="{FF2B5EF4-FFF2-40B4-BE49-F238E27FC236}">
                <a16:creationId xmlns:a16="http://schemas.microsoft.com/office/drawing/2014/main" id="{50D18A4A-A182-35D4-794A-A0DA4E1ABFD4}"/>
              </a:ext>
            </a:extLst>
          </p:cNvPr>
          <p:cNvSpPr/>
          <p:nvPr/>
        </p:nvSpPr>
        <p:spPr>
          <a:xfrm>
            <a:off x="609600" y="685800"/>
            <a:ext cx="330200" cy="2540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7" name="CuadroTexto 6">
            <a:extLst>
              <a:ext uri="{FF2B5EF4-FFF2-40B4-BE49-F238E27FC236}">
                <a16:creationId xmlns:a16="http://schemas.microsoft.com/office/drawing/2014/main" id="{61F4AA15-C219-CBB8-86E2-03A70DE0C8D8}"/>
              </a:ext>
            </a:extLst>
          </p:cNvPr>
          <p:cNvSpPr txBox="1"/>
          <p:nvPr/>
        </p:nvSpPr>
        <p:spPr>
          <a:xfrm>
            <a:off x="1066800" y="609600"/>
            <a:ext cx="9652000" cy="177800"/>
          </a:xfrm>
          <a:prstGeom prst="rect">
            <a:avLst/>
          </a:prstGeom>
          <a:noFill/>
        </p:spPr>
        <p:txBody>
          <a:bodyPr vert="horz" wrap="square" lIns="0" tIns="0" rIns="0" bIns="0" rtlCol="0" anchor="t">
            <a:noAutofit/>
          </a:bodyPr>
          <a:lstStyle/>
          <a:p>
            <a:r>
              <a:rPr lang="es-MX" sz="900" spc="180">
                <a:solidFill>
                  <a:srgbClr val="C9A66B"/>
                </a:solidFill>
                <a:latin typeface="Segoe UI Semibold" panose="020B0702040204020203" pitchFamily="34" charset="0"/>
              </a:rPr>
              <a:t>DIAGNÓSTICO DE PATOLOGÍAS, RECUPERACIÓN Y REHABILITACIÓN DEL HORMIGÓN</a:t>
            </a:r>
            <a:endParaRPr lang="es-BO" sz="900" spc="180">
              <a:solidFill>
                <a:srgbClr val="C9A66B"/>
              </a:solidFill>
              <a:latin typeface="Segoe UI Semibold" panose="020B0702040204020203" pitchFamily="34" charset="0"/>
            </a:endParaRPr>
          </a:p>
        </p:txBody>
      </p:sp>
      <p:sp>
        <p:nvSpPr>
          <p:cNvPr id="8" name="CuadroTexto 7">
            <a:extLst>
              <a:ext uri="{FF2B5EF4-FFF2-40B4-BE49-F238E27FC236}">
                <a16:creationId xmlns:a16="http://schemas.microsoft.com/office/drawing/2014/main" id="{4C2A5F4C-7F19-4882-F263-2D796F243AB4}"/>
              </a:ext>
            </a:extLst>
          </p:cNvPr>
          <p:cNvSpPr txBox="1"/>
          <p:nvPr/>
        </p:nvSpPr>
        <p:spPr>
          <a:xfrm>
            <a:off x="584200" y="1498600"/>
            <a:ext cx="5080000" cy="762000"/>
          </a:xfrm>
          <a:prstGeom prst="rect">
            <a:avLst/>
          </a:prstGeom>
          <a:noFill/>
        </p:spPr>
        <p:txBody>
          <a:bodyPr vert="horz" wrap="square" lIns="0" tIns="0" rIns="0" bIns="0" rtlCol="0" anchor="t">
            <a:noAutofit/>
          </a:bodyPr>
          <a:lstStyle/>
          <a:p>
            <a:r>
              <a:rPr lang="es-BO" sz="3000" i="1">
                <a:solidFill>
                  <a:srgbClr val="C9A66B"/>
                </a:solidFill>
                <a:latin typeface="Constantia" panose="02030602050306030303" pitchFamily="18" charset="0"/>
              </a:rPr>
              <a:t>Clase 07</a:t>
            </a:r>
          </a:p>
        </p:txBody>
      </p:sp>
      <p:sp>
        <p:nvSpPr>
          <p:cNvPr id="9" name="Title">
            <a:extLst>
              <a:ext uri="{FF2B5EF4-FFF2-40B4-BE49-F238E27FC236}">
                <a16:creationId xmlns:a16="http://schemas.microsoft.com/office/drawing/2014/main" id="{6871E919-AFE0-037D-0E4C-AE7017A8FBDA}"/>
              </a:ext>
            </a:extLst>
          </p:cNvPr>
          <p:cNvSpPr txBox="1"/>
          <p:nvPr/>
        </p:nvSpPr>
        <p:spPr>
          <a:xfrm>
            <a:off x="584200" y="2108200"/>
            <a:ext cx="8128000" cy="1905000"/>
          </a:xfrm>
          <a:prstGeom prst="rect">
            <a:avLst/>
          </a:prstGeom>
          <a:noFill/>
        </p:spPr>
        <p:txBody>
          <a:bodyPr vert="horz" wrap="square" lIns="0" tIns="0" rIns="0" bIns="0" rtlCol="0" anchor="t">
            <a:noAutofit/>
          </a:bodyPr>
          <a:lstStyle/>
          <a:p>
            <a:pPr>
              <a:lnSpc>
                <a:spcPct val="90000"/>
              </a:lnSpc>
            </a:pPr>
            <a:r>
              <a:rPr lang="es-BO" sz="4400">
                <a:solidFill>
                  <a:srgbClr val="FFFFFF"/>
                </a:solidFill>
                <a:latin typeface="Bahnschrift SemiBold" panose="020B0502040204020203" pitchFamily="34" charset="0"/>
              </a:rPr>
              <a:t>Refuerzo</a:t>
            </a:r>
          </a:p>
          <a:p>
            <a:pPr>
              <a:lnSpc>
                <a:spcPct val="90000"/>
              </a:lnSpc>
            </a:pPr>
            <a:r>
              <a:rPr lang="es-BO" sz="4400">
                <a:solidFill>
                  <a:srgbClr val="FFFFFF"/>
                </a:solidFill>
                <a:latin typeface="Bahnschrift SemiBold" panose="020B0502040204020203" pitchFamily="34" charset="0"/>
              </a:rPr>
              <a:t>y gestión</a:t>
            </a:r>
          </a:p>
        </p:txBody>
      </p:sp>
      <p:sp>
        <p:nvSpPr>
          <p:cNvPr id="10" name="Rectángulo 9">
            <a:extLst>
              <a:ext uri="{FF2B5EF4-FFF2-40B4-BE49-F238E27FC236}">
                <a16:creationId xmlns:a16="http://schemas.microsoft.com/office/drawing/2014/main" id="{5968254B-7D9D-F1DD-BE9A-19FBD3C7032C}"/>
              </a:ext>
            </a:extLst>
          </p:cNvPr>
          <p:cNvSpPr/>
          <p:nvPr/>
        </p:nvSpPr>
        <p:spPr>
          <a:xfrm>
            <a:off x="609600" y="4191000"/>
            <a:ext cx="812800" cy="3810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1" name="CuadroTexto 10">
            <a:extLst>
              <a:ext uri="{FF2B5EF4-FFF2-40B4-BE49-F238E27FC236}">
                <a16:creationId xmlns:a16="http://schemas.microsoft.com/office/drawing/2014/main" id="{2206491C-EE9E-8D2D-D8E2-AA4C9F50D599}"/>
              </a:ext>
            </a:extLst>
          </p:cNvPr>
          <p:cNvSpPr txBox="1"/>
          <p:nvPr/>
        </p:nvSpPr>
        <p:spPr>
          <a:xfrm>
            <a:off x="609600" y="4394200"/>
            <a:ext cx="7620000" cy="635000"/>
          </a:xfrm>
          <a:prstGeom prst="rect">
            <a:avLst/>
          </a:prstGeom>
          <a:noFill/>
        </p:spPr>
        <p:txBody>
          <a:bodyPr vert="horz" wrap="square" lIns="0" tIns="0" rIns="0" bIns="0" rtlCol="0" anchor="t">
            <a:noAutofit/>
          </a:bodyPr>
          <a:lstStyle/>
          <a:p>
            <a:pPr algn="l"/>
            <a:r>
              <a:rPr lang="es-MX" sz="1500">
                <a:solidFill>
                  <a:srgbClr val="E6DFD2"/>
                </a:solidFill>
                <a:latin typeface="Bahnschrift Light" panose="020B0502040204020203" pitchFamily="34" charset="0"/>
              </a:rPr>
              <a:t>Recalcular con lo que hay, reforzar solo lo que lo necesita, y dejarlo gestionado</a:t>
            </a:r>
            <a:endParaRPr lang="es-BO" sz="1500">
              <a:solidFill>
                <a:srgbClr val="E6DFD2"/>
              </a:solidFill>
              <a:latin typeface="Bahnschrift Light" panose="020B0502040204020203" pitchFamily="34" charset="0"/>
            </a:endParaRPr>
          </a:p>
        </p:txBody>
      </p:sp>
      <p:sp>
        <p:nvSpPr>
          <p:cNvPr id="12" name="CuadroTexto 11">
            <a:extLst>
              <a:ext uri="{FF2B5EF4-FFF2-40B4-BE49-F238E27FC236}">
                <a16:creationId xmlns:a16="http://schemas.microsoft.com/office/drawing/2014/main" id="{F7229BA5-12EE-BD39-3D11-C724484B0F06}"/>
              </a:ext>
            </a:extLst>
          </p:cNvPr>
          <p:cNvSpPr txBox="1"/>
          <p:nvPr/>
        </p:nvSpPr>
        <p:spPr>
          <a:xfrm>
            <a:off x="609600" y="5740400"/>
            <a:ext cx="5080000" cy="203200"/>
          </a:xfrm>
          <a:prstGeom prst="rect">
            <a:avLst/>
          </a:prstGeom>
          <a:noFill/>
        </p:spPr>
        <p:txBody>
          <a:bodyPr vert="horz" wrap="square" lIns="0" tIns="0" rIns="0" bIns="0" rtlCol="0" anchor="t">
            <a:noAutofit/>
          </a:bodyPr>
          <a:lstStyle/>
          <a:p>
            <a:pPr algn="l"/>
            <a:r>
              <a:rPr lang="nn-NO" sz="1300">
                <a:solidFill>
                  <a:srgbClr val="FFFFFF"/>
                </a:solidFill>
                <a:latin typeface="Bahnschrift SemiBold" panose="020B0502040204020203" pitchFamily="34" charset="0"/>
              </a:rPr>
              <a:t>Ing. Kevin Yerko Vera Careaga</a:t>
            </a:r>
            <a:endParaRPr lang="es-BO" sz="1300">
              <a:solidFill>
                <a:srgbClr val="FFFFFF"/>
              </a:solidFill>
              <a:latin typeface="Bahnschrift SemiBold" panose="020B0502040204020203" pitchFamily="34" charset="0"/>
            </a:endParaRPr>
          </a:p>
        </p:txBody>
      </p:sp>
      <p:sp>
        <p:nvSpPr>
          <p:cNvPr id="13" name="CuadroTexto 12">
            <a:extLst>
              <a:ext uri="{FF2B5EF4-FFF2-40B4-BE49-F238E27FC236}">
                <a16:creationId xmlns:a16="http://schemas.microsoft.com/office/drawing/2014/main" id="{B6B08AAC-0FCF-E600-8CAA-8E184CD9E9A8}"/>
              </a:ext>
            </a:extLst>
          </p:cNvPr>
          <p:cNvSpPr txBox="1"/>
          <p:nvPr/>
        </p:nvSpPr>
        <p:spPr>
          <a:xfrm>
            <a:off x="609600" y="5969000"/>
            <a:ext cx="5588000" cy="177800"/>
          </a:xfrm>
          <a:prstGeom prst="rect">
            <a:avLst/>
          </a:prstGeom>
          <a:noFill/>
        </p:spPr>
        <p:txBody>
          <a:bodyPr vert="horz" wrap="square" lIns="0" tIns="0" rIns="0" bIns="0" rtlCol="0" anchor="t">
            <a:noAutofit/>
          </a:bodyPr>
          <a:lstStyle/>
          <a:p>
            <a:pPr algn="l"/>
            <a:r>
              <a:rPr lang="es-MX" sz="950">
                <a:solidFill>
                  <a:srgbClr val="CFC7B8"/>
                </a:solidFill>
                <a:latin typeface="Segoe UI" panose="020B0502040204020203" pitchFamily="34" charset="0"/>
              </a:rPr>
              <a:t>Ingeniero Civil  ·  NRI 57148  ·  La Paz, Bolivia</a:t>
            </a:r>
            <a:endParaRPr lang="es-BO" sz="950">
              <a:solidFill>
                <a:srgbClr val="CFC7B8"/>
              </a:solidFill>
              <a:latin typeface="Segoe UI" panose="020B0502040204020203" pitchFamily="34" charset="0"/>
            </a:endParaRPr>
          </a:p>
        </p:txBody>
      </p:sp>
      <p:sp>
        <p:nvSpPr>
          <p:cNvPr id="14" name="Rectángulo 13">
            <a:extLst>
              <a:ext uri="{FF2B5EF4-FFF2-40B4-BE49-F238E27FC236}">
                <a16:creationId xmlns:a16="http://schemas.microsoft.com/office/drawing/2014/main" id="{6D158FD7-AD21-0DFD-8C10-01920FA364A7}"/>
              </a:ext>
            </a:extLst>
          </p:cNvPr>
          <p:cNvSpPr/>
          <p:nvPr/>
        </p:nvSpPr>
        <p:spPr>
          <a:xfrm>
            <a:off x="8483600" y="5918200"/>
            <a:ext cx="342900" cy="38100"/>
          </a:xfrm>
          <a:prstGeom prst="rect">
            <a:avLst/>
          </a:prstGeom>
          <a:solidFill>
            <a:srgbClr val="CFC7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5" name="CuadroTexto 14">
            <a:extLst>
              <a:ext uri="{FF2B5EF4-FFF2-40B4-BE49-F238E27FC236}">
                <a16:creationId xmlns:a16="http://schemas.microsoft.com/office/drawing/2014/main" id="{1BD916A4-54D1-5236-7D39-5026672E17A2}"/>
              </a:ext>
            </a:extLst>
          </p:cNvPr>
          <p:cNvSpPr txBox="1"/>
          <p:nvPr/>
        </p:nvSpPr>
        <p:spPr>
          <a:xfrm>
            <a:off x="8483600" y="6019800"/>
            <a:ext cx="342900" cy="152400"/>
          </a:xfrm>
          <a:prstGeom prst="rect">
            <a:avLst/>
          </a:prstGeom>
          <a:noFill/>
        </p:spPr>
        <p:txBody>
          <a:bodyPr vert="horz" wrap="square" lIns="0" tIns="0" rIns="0" bIns="0" rtlCol="0" anchor="t">
            <a:noAutofit/>
          </a:bodyPr>
          <a:lstStyle/>
          <a:p>
            <a:r>
              <a:rPr lang="es-BO" sz="800" spc="100">
                <a:solidFill>
                  <a:srgbClr val="CFC7B8"/>
                </a:solidFill>
                <a:latin typeface="Segoe UI Semibold" panose="020B0702040204020203" pitchFamily="34" charset="0"/>
              </a:rPr>
              <a:t>S1</a:t>
            </a:r>
          </a:p>
        </p:txBody>
      </p:sp>
      <p:sp>
        <p:nvSpPr>
          <p:cNvPr id="16" name="Rectángulo 15">
            <a:extLst>
              <a:ext uri="{FF2B5EF4-FFF2-40B4-BE49-F238E27FC236}">
                <a16:creationId xmlns:a16="http://schemas.microsoft.com/office/drawing/2014/main" id="{94E72BD0-4284-FB34-7BF6-BE4FEFD70A7D}"/>
              </a:ext>
            </a:extLst>
          </p:cNvPr>
          <p:cNvSpPr/>
          <p:nvPr/>
        </p:nvSpPr>
        <p:spPr>
          <a:xfrm>
            <a:off x="8940800" y="5918200"/>
            <a:ext cx="342900" cy="38100"/>
          </a:xfrm>
          <a:prstGeom prst="rect">
            <a:avLst/>
          </a:prstGeom>
          <a:solidFill>
            <a:srgbClr val="CFC7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7" name="CuadroTexto 16">
            <a:extLst>
              <a:ext uri="{FF2B5EF4-FFF2-40B4-BE49-F238E27FC236}">
                <a16:creationId xmlns:a16="http://schemas.microsoft.com/office/drawing/2014/main" id="{69F646D7-9E55-29CC-075C-26AA7D473ACB}"/>
              </a:ext>
            </a:extLst>
          </p:cNvPr>
          <p:cNvSpPr txBox="1"/>
          <p:nvPr/>
        </p:nvSpPr>
        <p:spPr>
          <a:xfrm>
            <a:off x="8940800" y="6019800"/>
            <a:ext cx="342900" cy="152400"/>
          </a:xfrm>
          <a:prstGeom prst="rect">
            <a:avLst/>
          </a:prstGeom>
          <a:noFill/>
        </p:spPr>
        <p:txBody>
          <a:bodyPr vert="horz" wrap="square" lIns="0" tIns="0" rIns="0" bIns="0" rtlCol="0" anchor="t">
            <a:noAutofit/>
          </a:bodyPr>
          <a:lstStyle/>
          <a:p>
            <a:r>
              <a:rPr lang="es-BO" sz="800" spc="100">
                <a:solidFill>
                  <a:srgbClr val="CFC7B8"/>
                </a:solidFill>
                <a:latin typeface="Segoe UI Semibold" panose="020B0702040204020203" pitchFamily="34" charset="0"/>
              </a:rPr>
              <a:t>S2</a:t>
            </a:r>
          </a:p>
        </p:txBody>
      </p:sp>
      <p:sp>
        <p:nvSpPr>
          <p:cNvPr id="18" name="Rectángulo 17">
            <a:extLst>
              <a:ext uri="{FF2B5EF4-FFF2-40B4-BE49-F238E27FC236}">
                <a16:creationId xmlns:a16="http://schemas.microsoft.com/office/drawing/2014/main" id="{8F8A09B9-3146-587E-817B-DB132657B10F}"/>
              </a:ext>
            </a:extLst>
          </p:cNvPr>
          <p:cNvSpPr/>
          <p:nvPr/>
        </p:nvSpPr>
        <p:spPr>
          <a:xfrm>
            <a:off x="9398000" y="5918200"/>
            <a:ext cx="342900" cy="38100"/>
          </a:xfrm>
          <a:prstGeom prst="rect">
            <a:avLst/>
          </a:prstGeom>
          <a:solidFill>
            <a:srgbClr val="CFC7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9" name="CuadroTexto 18">
            <a:extLst>
              <a:ext uri="{FF2B5EF4-FFF2-40B4-BE49-F238E27FC236}">
                <a16:creationId xmlns:a16="http://schemas.microsoft.com/office/drawing/2014/main" id="{AD2D6624-58FA-C400-5D75-95E1EC6B6D7E}"/>
              </a:ext>
            </a:extLst>
          </p:cNvPr>
          <p:cNvSpPr txBox="1"/>
          <p:nvPr/>
        </p:nvSpPr>
        <p:spPr>
          <a:xfrm>
            <a:off x="9398000" y="6019800"/>
            <a:ext cx="342900" cy="152400"/>
          </a:xfrm>
          <a:prstGeom prst="rect">
            <a:avLst/>
          </a:prstGeom>
          <a:noFill/>
        </p:spPr>
        <p:txBody>
          <a:bodyPr vert="horz" wrap="square" lIns="0" tIns="0" rIns="0" bIns="0" rtlCol="0" anchor="t">
            <a:noAutofit/>
          </a:bodyPr>
          <a:lstStyle/>
          <a:p>
            <a:r>
              <a:rPr lang="es-BO" sz="800" spc="100">
                <a:solidFill>
                  <a:srgbClr val="CFC7B8"/>
                </a:solidFill>
                <a:latin typeface="Segoe UI Semibold" panose="020B0702040204020203" pitchFamily="34" charset="0"/>
              </a:rPr>
              <a:t>S3</a:t>
            </a:r>
          </a:p>
        </p:txBody>
      </p:sp>
      <p:sp>
        <p:nvSpPr>
          <p:cNvPr id="20" name="Rectángulo 19">
            <a:extLst>
              <a:ext uri="{FF2B5EF4-FFF2-40B4-BE49-F238E27FC236}">
                <a16:creationId xmlns:a16="http://schemas.microsoft.com/office/drawing/2014/main" id="{F34F24A5-BB98-BD89-E203-F6456DAE9B74}"/>
              </a:ext>
            </a:extLst>
          </p:cNvPr>
          <p:cNvSpPr/>
          <p:nvPr/>
        </p:nvSpPr>
        <p:spPr>
          <a:xfrm>
            <a:off x="9855200" y="5918200"/>
            <a:ext cx="342900" cy="38100"/>
          </a:xfrm>
          <a:prstGeom prst="rect">
            <a:avLst/>
          </a:prstGeom>
          <a:solidFill>
            <a:srgbClr val="CFC7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1" name="CuadroTexto 20">
            <a:extLst>
              <a:ext uri="{FF2B5EF4-FFF2-40B4-BE49-F238E27FC236}">
                <a16:creationId xmlns:a16="http://schemas.microsoft.com/office/drawing/2014/main" id="{2C916CEE-61DB-A621-4B1D-FE6A1B6E1416}"/>
              </a:ext>
            </a:extLst>
          </p:cNvPr>
          <p:cNvSpPr txBox="1"/>
          <p:nvPr/>
        </p:nvSpPr>
        <p:spPr>
          <a:xfrm>
            <a:off x="9855200" y="6019800"/>
            <a:ext cx="342900" cy="152400"/>
          </a:xfrm>
          <a:prstGeom prst="rect">
            <a:avLst/>
          </a:prstGeom>
          <a:noFill/>
        </p:spPr>
        <p:txBody>
          <a:bodyPr vert="horz" wrap="square" lIns="0" tIns="0" rIns="0" bIns="0" rtlCol="0" anchor="t">
            <a:noAutofit/>
          </a:bodyPr>
          <a:lstStyle/>
          <a:p>
            <a:r>
              <a:rPr lang="es-BO" sz="800" spc="100">
                <a:solidFill>
                  <a:srgbClr val="CFC7B8"/>
                </a:solidFill>
                <a:latin typeface="Segoe UI Semibold" panose="020B0702040204020203" pitchFamily="34" charset="0"/>
              </a:rPr>
              <a:t>S4</a:t>
            </a:r>
          </a:p>
        </p:txBody>
      </p:sp>
      <p:sp>
        <p:nvSpPr>
          <p:cNvPr id="22" name="Rectángulo 21">
            <a:extLst>
              <a:ext uri="{FF2B5EF4-FFF2-40B4-BE49-F238E27FC236}">
                <a16:creationId xmlns:a16="http://schemas.microsoft.com/office/drawing/2014/main" id="{A9977734-3E8C-E45B-3CD3-252501123897}"/>
              </a:ext>
            </a:extLst>
          </p:cNvPr>
          <p:cNvSpPr/>
          <p:nvPr/>
        </p:nvSpPr>
        <p:spPr>
          <a:xfrm>
            <a:off x="10312400" y="5918200"/>
            <a:ext cx="342900" cy="38100"/>
          </a:xfrm>
          <a:prstGeom prst="rect">
            <a:avLst/>
          </a:prstGeom>
          <a:solidFill>
            <a:srgbClr val="CFC7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3" name="CuadroTexto 22">
            <a:extLst>
              <a:ext uri="{FF2B5EF4-FFF2-40B4-BE49-F238E27FC236}">
                <a16:creationId xmlns:a16="http://schemas.microsoft.com/office/drawing/2014/main" id="{D9783538-24F2-5FDC-B517-EDC8D03937AA}"/>
              </a:ext>
            </a:extLst>
          </p:cNvPr>
          <p:cNvSpPr txBox="1"/>
          <p:nvPr/>
        </p:nvSpPr>
        <p:spPr>
          <a:xfrm>
            <a:off x="10312400" y="6019800"/>
            <a:ext cx="342900" cy="152400"/>
          </a:xfrm>
          <a:prstGeom prst="rect">
            <a:avLst/>
          </a:prstGeom>
          <a:noFill/>
        </p:spPr>
        <p:txBody>
          <a:bodyPr vert="horz" wrap="square" lIns="0" tIns="0" rIns="0" bIns="0" rtlCol="0" anchor="t">
            <a:noAutofit/>
          </a:bodyPr>
          <a:lstStyle/>
          <a:p>
            <a:r>
              <a:rPr lang="es-BO" sz="800" spc="100">
                <a:solidFill>
                  <a:srgbClr val="CFC7B8"/>
                </a:solidFill>
                <a:latin typeface="Segoe UI Semibold" panose="020B0702040204020203" pitchFamily="34" charset="0"/>
              </a:rPr>
              <a:t>S5</a:t>
            </a:r>
          </a:p>
        </p:txBody>
      </p:sp>
      <p:sp>
        <p:nvSpPr>
          <p:cNvPr id="24" name="Rectángulo 23">
            <a:extLst>
              <a:ext uri="{FF2B5EF4-FFF2-40B4-BE49-F238E27FC236}">
                <a16:creationId xmlns:a16="http://schemas.microsoft.com/office/drawing/2014/main" id="{5A995CE1-B266-BBC0-1F2E-19C480F78407}"/>
              </a:ext>
            </a:extLst>
          </p:cNvPr>
          <p:cNvSpPr/>
          <p:nvPr/>
        </p:nvSpPr>
        <p:spPr>
          <a:xfrm>
            <a:off x="10769600" y="5918200"/>
            <a:ext cx="342900" cy="38100"/>
          </a:xfrm>
          <a:prstGeom prst="rect">
            <a:avLst/>
          </a:prstGeom>
          <a:solidFill>
            <a:srgbClr val="CFC7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5" name="CuadroTexto 24">
            <a:extLst>
              <a:ext uri="{FF2B5EF4-FFF2-40B4-BE49-F238E27FC236}">
                <a16:creationId xmlns:a16="http://schemas.microsoft.com/office/drawing/2014/main" id="{95EB34ED-EFC7-5521-3F1A-D131906D15CD}"/>
              </a:ext>
            </a:extLst>
          </p:cNvPr>
          <p:cNvSpPr txBox="1"/>
          <p:nvPr/>
        </p:nvSpPr>
        <p:spPr>
          <a:xfrm>
            <a:off x="10769600" y="6019800"/>
            <a:ext cx="342900" cy="152400"/>
          </a:xfrm>
          <a:prstGeom prst="rect">
            <a:avLst/>
          </a:prstGeom>
          <a:noFill/>
        </p:spPr>
        <p:txBody>
          <a:bodyPr vert="horz" wrap="square" lIns="0" tIns="0" rIns="0" bIns="0" rtlCol="0" anchor="t">
            <a:noAutofit/>
          </a:bodyPr>
          <a:lstStyle/>
          <a:p>
            <a:r>
              <a:rPr lang="es-BO" sz="800" spc="100">
                <a:solidFill>
                  <a:srgbClr val="CFC7B8"/>
                </a:solidFill>
                <a:latin typeface="Segoe UI Semibold" panose="020B0702040204020203" pitchFamily="34" charset="0"/>
              </a:rPr>
              <a:t>S6</a:t>
            </a:r>
          </a:p>
        </p:txBody>
      </p:sp>
      <p:sp>
        <p:nvSpPr>
          <p:cNvPr id="26" name="Rectángulo 25">
            <a:extLst>
              <a:ext uri="{FF2B5EF4-FFF2-40B4-BE49-F238E27FC236}">
                <a16:creationId xmlns:a16="http://schemas.microsoft.com/office/drawing/2014/main" id="{DF2477B2-4447-4C30-93B0-F2009109F501}"/>
              </a:ext>
            </a:extLst>
          </p:cNvPr>
          <p:cNvSpPr/>
          <p:nvPr/>
        </p:nvSpPr>
        <p:spPr>
          <a:xfrm>
            <a:off x="11226800" y="5918200"/>
            <a:ext cx="342900" cy="38100"/>
          </a:xfrm>
          <a:prstGeom prst="rect">
            <a:avLst/>
          </a:prstGeom>
          <a:solidFill>
            <a:srgbClr val="C9A66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7" name="CuadroTexto 26">
            <a:extLst>
              <a:ext uri="{FF2B5EF4-FFF2-40B4-BE49-F238E27FC236}">
                <a16:creationId xmlns:a16="http://schemas.microsoft.com/office/drawing/2014/main" id="{FFB27AD3-42BB-C61E-689B-27DFF3ECB082}"/>
              </a:ext>
            </a:extLst>
          </p:cNvPr>
          <p:cNvSpPr txBox="1"/>
          <p:nvPr/>
        </p:nvSpPr>
        <p:spPr>
          <a:xfrm>
            <a:off x="11226800" y="6019800"/>
            <a:ext cx="342900" cy="152400"/>
          </a:xfrm>
          <a:prstGeom prst="rect">
            <a:avLst/>
          </a:prstGeom>
          <a:noFill/>
        </p:spPr>
        <p:txBody>
          <a:bodyPr vert="horz" wrap="square" lIns="0" tIns="0" rIns="0" bIns="0" rtlCol="0" anchor="t">
            <a:noAutofit/>
          </a:bodyPr>
          <a:lstStyle/>
          <a:p>
            <a:r>
              <a:rPr lang="es-BO" sz="800" spc="100">
                <a:solidFill>
                  <a:srgbClr val="C9A66B"/>
                </a:solidFill>
                <a:latin typeface="Segoe UI Semibold" panose="020B0702040204020203" pitchFamily="34" charset="0"/>
              </a:rPr>
              <a:t>S7</a:t>
            </a:r>
          </a:p>
        </p:txBody>
      </p:sp>
      <p:sp>
        <p:nvSpPr>
          <p:cNvPr id="28" name="CuadroTexto 27">
            <a:extLst>
              <a:ext uri="{FF2B5EF4-FFF2-40B4-BE49-F238E27FC236}">
                <a16:creationId xmlns:a16="http://schemas.microsoft.com/office/drawing/2014/main" id="{74BFB252-859B-4E9D-72D3-999C545AA379}"/>
              </a:ext>
            </a:extLst>
          </p:cNvPr>
          <p:cNvSpPr txBox="1"/>
          <p:nvPr/>
        </p:nvSpPr>
        <p:spPr>
          <a:xfrm>
            <a:off x="8483600" y="5664200"/>
            <a:ext cx="3098800" cy="177800"/>
          </a:xfrm>
          <a:prstGeom prst="rect">
            <a:avLst/>
          </a:prstGeom>
          <a:noFill/>
        </p:spPr>
        <p:txBody>
          <a:bodyPr vert="horz" wrap="square" lIns="0" tIns="0" rIns="0" bIns="0" rtlCol="0" anchor="t">
            <a:noAutofit/>
          </a:bodyPr>
          <a:lstStyle/>
          <a:p>
            <a:r>
              <a:rPr lang="es-MX" sz="800" spc="140">
                <a:solidFill>
                  <a:srgbClr val="CFC7B8"/>
                </a:solidFill>
                <a:latin typeface="Segoe UI Semibold" panose="020B0702040204020203" pitchFamily="34" charset="0"/>
              </a:rPr>
              <a:t>CLASE 7 DE 7  ·  MODALIDAD VIRTUAL</a:t>
            </a:r>
            <a:endParaRPr lang="es-BO" sz="800" spc="140">
              <a:solidFill>
                <a:srgbClr val="CFC7B8"/>
              </a:solidFill>
              <a:latin typeface="Segoe UI Semibold" panose="020B0702040204020203" pitchFamily="34" charset="0"/>
            </a:endParaRPr>
          </a:p>
        </p:txBody>
      </p:sp>
      <p:sp>
        <p:nvSpPr>
          <p:cNvPr id="29" name="Monograma">
            <a:extLst>
              <a:ext uri="{FF2B5EF4-FFF2-40B4-BE49-F238E27FC236}">
                <a16:creationId xmlns:a16="http://schemas.microsoft.com/office/drawing/2014/main" id="{B4E39B97-B9B3-4765-0EF2-38E763C06685}"/>
              </a:ext>
            </a:extLst>
          </p:cNvPr>
          <p:cNvSpPr/>
          <p:nvPr/>
        </p:nvSpPr>
        <p:spPr>
          <a:xfrm>
            <a:off x="10998200" y="508000"/>
            <a:ext cx="584200" cy="584200"/>
          </a:xfrm>
          <a:prstGeom prst="ellipse">
            <a:avLst/>
          </a:prstGeom>
          <a:noFill/>
          <a:ln w="15875">
            <a:solidFill>
              <a:srgbClr val="8A6A2F"/>
            </a:solidFill>
          </a:ln>
          <a:extLst>
            <a:ext uri="{909E8E84-426E-40DD-AFC4-6F175D3DCCD1}">
              <a14:hiddenFill xmlns:a14="http://schemas.microsoft.com/office/drawing/2010/main">
                <a:solidFill>
                  <a:srgbClr val="1C1813"/>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pPr>
            <a:r>
              <a:rPr lang="es-BO" sz="1104">
                <a:solidFill>
                  <a:srgbClr val="8A6A2F"/>
                </a:solidFill>
                <a:latin typeface="Bahnschrift SemiBold" panose="020B0502040204020203" pitchFamily="34" charset="0"/>
              </a:rPr>
              <a:t>KY</a:t>
            </a:r>
          </a:p>
          <a:p>
            <a:pPr algn="ctr">
              <a:lnSpc>
                <a:spcPct val="80000"/>
              </a:lnSpc>
            </a:pPr>
            <a:r>
              <a:rPr lang="es-BO" sz="1104">
                <a:solidFill>
                  <a:srgbClr val="8A6A2F"/>
                </a:solidFill>
                <a:latin typeface="Bahnschrift SemiBold" panose="020B0502040204020203" pitchFamily="34" charset="0"/>
              </a:rPr>
              <a:t>VC</a:t>
            </a:r>
          </a:p>
        </p:txBody>
      </p:sp>
    </p:spTree>
    <p:extLst>
      <p:ext uri="{BB962C8B-B14F-4D97-AF65-F5344CB8AC3E}">
        <p14:creationId xmlns:p14="http://schemas.microsoft.com/office/powerpoint/2010/main" val="2714316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Rectángulo 1">
            <a:extLst>
              <a:ext uri="{FF2B5EF4-FFF2-40B4-BE49-F238E27FC236}">
                <a16:creationId xmlns:a16="http://schemas.microsoft.com/office/drawing/2014/main" id="{1569935F-E490-8E6F-9EF8-33AB5917C9B6}"/>
              </a:ext>
            </a:extLst>
          </p:cNvPr>
          <p:cNvSpPr/>
          <p:nvPr/>
        </p:nvSpPr>
        <p:spPr>
          <a:xfrm>
            <a:off x="0" y="0"/>
            <a:ext cx="4572000" cy="6858000"/>
          </a:xfrm>
          <a:prstGeom prst="rect">
            <a:avLst/>
          </a:prstGeom>
          <a:solidFill>
            <a:srgbClr val="1C181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3" name="Rectángulo 2">
            <a:extLst>
              <a:ext uri="{FF2B5EF4-FFF2-40B4-BE49-F238E27FC236}">
                <a16:creationId xmlns:a16="http://schemas.microsoft.com/office/drawing/2014/main" id="{51065DB2-E15A-1833-3A77-8EED8202D7A6}"/>
              </a:ext>
            </a:extLst>
          </p:cNvPr>
          <p:cNvSpPr/>
          <p:nvPr/>
        </p:nvSpPr>
        <p:spPr>
          <a:xfrm>
            <a:off x="609600" y="508000"/>
            <a:ext cx="228600" cy="2540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4" name="CuadroTexto 3">
            <a:extLst>
              <a:ext uri="{FF2B5EF4-FFF2-40B4-BE49-F238E27FC236}">
                <a16:creationId xmlns:a16="http://schemas.microsoft.com/office/drawing/2014/main" id="{17BA79C9-5B91-5A8F-82FA-0EE3AB68591D}"/>
              </a:ext>
            </a:extLst>
          </p:cNvPr>
          <p:cNvSpPr txBox="1"/>
          <p:nvPr/>
        </p:nvSpPr>
        <p:spPr>
          <a:xfrm>
            <a:off x="939800" y="431800"/>
            <a:ext cx="3302000" cy="177800"/>
          </a:xfrm>
          <a:prstGeom prst="rect">
            <a:avLst/>
          </a:prstGeom>
          <a:noFill/>
        </p:spPr>
        <p:txBody>
          <a:bodyPr vert="horz" wrap="square" lIns="0" tIns="0" rIns="0" bIns="0" rtlCol="0" anchor="t">
            <a:noAutofit/>
          </a:bodyPr>
          <a:lstStyle/>
          <a:p>
            <a:r>
              <a:rPr lang="es-BO" sz="900" spc="180">
                <a:solidFill>
                  <a:srgbClr val="8A6A2F"/>
                </a:solidFill>
                <a:latin typeface="Segoe UI Semibold" panose="020B0702040204020203" pitchFamily="34" charset="0"/>
              </a:rPr>
              <a:t>OBJETIVOS DE LA CLASE</a:t>
            </a:r>
          </a:p>
        </p:txBody>
      </p:sp>
      <p:sp>
        <p:nvSpPr>
          <p:cNvPr id="5" name="Title">
            <a:extLst>
              <a:ext uri="{FF2B5EF4-FFF2-40B4-BE49-F238E27FC236}">
                <a16:creationId xmlns:a16="http://schemas.microsoft.com/office/drawing/2014/main" id="{5F9F1070-2EE8-8611-6FB9-2714E05ACA6E}"/>
              </a:ext>
            </a:extLst>
          </p:cNvPr>
          <p:cNvSpPr txBox="1"/>
          <p:nvPr/>
        </p:nvSpPr>
        <p:spPr>
          <a:xfrm>
            <a:off x="609600" y="660400"/>
            <a:ext cx="3683000" cy="889000"/>
          </a:xfrm>
          <a:prstGeom prst="rect">
            <a:avLst/>
          </a:prstGeom>
          <a:noFill/>
        </p:spPr>
        <p:txBody>
          <a:bodyPr vert="horz" wrap="square" lIns="0" tIns="0" rIns="0" bIns="0" rtlCol="0" anchor="t">
            <a:noAutofit/>
          </a:bodyPr>
          <a:lstStyle/>
          <a:p>
            <a:r>
              <a:rPr lang="es-MX" sz="2200">
                <a:solidFill>
                  <a:srgbClr val="FFFFFF"/>
                </a:solidFill>
                <a:latin typeface="Bahnschrift SemiBold" panose="020B0502040204020203" pitchFamily="34" charset="0"/>
              </a:rPr>
              <a:t>Al terminar esta clase podrás…</a:t>
            </a:r>
            <a:endParaRPr lang="es-BO" sz="2200">
              <a:solidFill>
                <a:srgbClr val="FFFFFF"/>
              </a:solidFill>
              <a:latin typeface="Bahnschrift SemiBold" panose="020B0502040204020203" pitchFamily="34" charset="0"/>
            </a:endParaRPr>
          </a:p>
        </p:txBody>
      </p:sp>
      <p:sp>
        <p:nvSpPr>
          <p:cNvPr id="6" name="CuadroTexto 5">
            <a:extLst>
              <a:ext uri="{FF2B5EF4-FFF2-40B4-BE49-F238E27FC236}">
                <a16:creationId xmlns:a16="http://schemas.microsoft.com/office/drawing/2014/main" id="{9522ABA6-EE95-EC50-F98A-81EB3BA55CB5}"/>
              </a:ext>
            </a:extLst>
          </p:cNvPr>
          <p:cNvSpPr txBox="1"/>
          <p:nvPr/>
        </p:nvSpPr>
        <p:spPr>
          <a:xfrm>
            <a:off x="609600" y="1778000"/>
            <a:ext cx="508000" cy="355600"/>
          </a:xfrm>
          <a:prstGeom prst="rect">
            <a:avLst/>
          </a:prstGeom>
          <a:noFill/>
        </p:spPr>
        <p:txBody>
          <a:bodyPr vert="horz" wrap="square" lIns="0" tIns="0" rIns="0" bIns="0" rtlCol="0" anchor="t">
            <a:noAutofit/>
          </a:bodyPr>
          <a:lstStyle/>
          <a:p>
            <a:r>
              <a:rPr lang="es-BO" sz="2000">
                <a:solidFill>
                  <a:srgbClr val="8A6A2F"/>
                </a:solidFill>
                <a:latin typeface="Bahnschrift Light" panose="020B0502040204020203" pitchFamily="34" charset="0"/>
              </a:rPr>
              <a:t>01</a:t>
            </a:r>
          </a:p>
        </p:txBody>
      </p:sp>
      <p:sp>
        <p:nvSpPr>
          <p:cNvPr id="7" name="CuadroTexto 6">
            <a:extLst>
              <a:ext uri="{FF2B5EF4-FFF2-40B4-BE49-F238E27FC236}">
                <a16:creationId xmlns:a16="http://schemas.microsoft.com/office/drawing/2014/main" id="{51FE93B7-D75D-AB84-3F0E-7EB6B0ADA44B}"/>
              </a:ext>
            </a:extLst>
          </p:cNvPr>
          <p:cNvSpPr txBox="1"/>
          <p:nvPr/>
        </p:nvSpPr>
        <p:spPr>
          <a:xfrm>
            <a:off x="1117600" y="1816100"/>
            <a:ext cx="3048000" cy="812800"/>
          </a:xfrm>
          <a:prstGeom prst="rect">
            <a:avLst/>
          </a:prstGeom>
          <a:noFill/>
        </p:spPr>
        <p:txBody>
          <a:bodyPr vert="horz" wrap="square" lIns="0" tIns="0" rIns="0" bIns="0" rtlCol="0" anchor="t">
            <a:noAutofit/>
          </a:bodyPr>
          <a:lstStyle/>
          <a:p>
            <a:pPr algn="l"/>
            <a:r>
              <a:rPr lang="es-MX" sz="1150">
                <a:solidFill>
                  <a:srgbClr val="DCE3EC"/>
                </a:solidFill>
                <a:latin typeface="Segoe UI" panose="020B0502040204020203" pitchFamily="34" charset="0"/>
              </a:rPr>
              <a:t>Recalcular un elemento existente con las propiedades medidas y el criterio vigente.</a:t>
            </a:r>
            <a:endParaRPr lang="es-BO" sz="1150">
              <a:solidFill>
                <a:srgbClr val="DCE3EC"/>
              </a:solidFill>
              <a:latin typeface="Segoe UI" panose="020B0502040204020203" pitchFamily="34" charset="0"/>
            </a:endParaRPr>
          </a:p>
        </p:txBody>
      </p:sp>
      <p:sp>
        <p:nvSpPr>
          <p:cNvPr id="8" name="CuadroTexto 7">
            <a:extLst>
              <a:ext uri="{FF2B5EF4-FFF2-40B4-BE49-F238E27FC236}">
                <a16:creationId xmlns:a16="http://schemas.microsoft.com/office/drawing/2014/main" id="{FE2B74A7-6A2B-E862-ABDF-C340A28A3FA6}"/>
              </a:ext>
            </a:extLst>
          </p:cNvPr>
          <p:cNvSpPr txBox="1"/>
          <p:nvPr/>
        </p:nvSpPr>
        <p:spPr>
          <a:xfrm>
            <a:off x="609600" y="2717800"/>
            <a:ext cx="508000" cy="355600"/>
          </a:xfrm>
          <a:prstGeom prst="rect">
            <a:avLst/>
          </a:prstGeom>
          <a:noFill/>
        </p:spPr>
        <p:txBody>
          <a:bodyPr vert="horz" wrap="square" lIns="0" tIns="0" rIns="0" bIns="0" rtlCol="0" anchor="t">
            <a:noAutofit/>
          </a:bodyPr>
          <a:lstStyle/>
          <a:p>
            <a:r>
              <a:rPr lang="es-BO" sz="2000">
                <a:solidFill>
                  <a:srgbClr val="8A6A2F"/>
                </a:solidFill>
                <a:latin typeface="Bahnschrift Light" panose="020B0502040204020203" pitchFamily="34" charset="0"/>
              </a:rPr>
              <a:t>02</a:t>
            </a:r>
          </a:p>
        </p:txBody>
      </p:sp>
      <p:sp>
        <p:nvSpPr>
          <p:cNvPr id="9" name="CuadroTexto 8">
            <a:extLst>
              <a:ext uri="{FF2B5EF4-FFF2-40B4-BE49-F238E27FC236}">
                <a16:creationId xmlns:a16="http://schemas.microsoft.com/office/drawing/2014/main" id="{848E481B-7A59-F573-D0F1-E054087CE267}"/>
              </a:ext>
            </a:extLst>
          </p:cNvPr>
          <p:cNvSpPr txBox="1"/>
          <p:nvPr/>
        </p:nvSpPr>
        <p:spPr>
          <a:xfrm>
            <a:off x="1117600" y="2755900"/>
            <a:ext cx="3048000" cy="812800"/>
          </a:xfrm>
          <a:prstGeom prst="rect">
            <a:avLst/>
          </a:prstGeom>
          <a:noFill/>
        </p:spPr>
        <p:txBody>
          <a:bodyPr vert="horz" wrap="square" lIns="0" tIns="0" rIns="0" bIns="0" rtlCol="0" anchor="t">
            <a:noAutofit/>
          </a:bodyPr>
          <a:lstStyle/>
          <a:p>
            <a:pPr algn="l"/>
            <a:r>
              <a:rPr lang="es-MX" sz="1150">
                <a:solidFill>
                  <a:srgbClr val="DCE3EC"/>
                </a:solidFill>
                <a:latin typeface="Segoe UI" panose="020B0502040204020203" pitchFamily="34" charset="0"/>
              </a:rPr>
              <a:t>Elegir entre encamisado, refuerzo metálico y fibra de carbono con un criterio propio.</a:t>
            </a:r>
            <a:endParaRPr lang="es-BO" sz="1150">
              <a:solidFill>
                <a:srgbClr val="DCE3EC"/>
              </a:solidFill>
              <a:latin typeface="Segoe UI" panose="020B0502040204020203" pitchFamily="34" charset="0"/>
            </a:endParaRPr>
          </a:p>
        </p:txBody>
      </p:sp>
      <p:sp>
        <p:nvSpPr>
          <p:cNvPr id="10" name="CuadroTexto 9">
            <a:extLst>
              <a:ext uri="{FF2B5EF4-FFF2-40B4-BE49-F238E27FC236}">
                <a16:creationId xmlns:a16="http://schemas.microsoft.com/office/drawing/2014/main" id="{14DF249F-3CC4-918C-6EDD-B66A23B7241A}"/>
              </a:ext>
            </a:extLst>
          </p:cNvPr>
          <p:cNvSpPr txBox="1"/>
          <p:nvPr/>
        </p:nvSpPr>
        <p:spPr>
          <a:xfrm>
            <a:off x="609600" y="3657600"/>
            <a:ext cx="508000" cy="355600"/>
          </a:xfrm>
          <a:prstGeom prst="rect">
            <a:avLst/>
          </a:prstGeom>
          <a:noFill/>
        </p:spPr>
        <p:txBody>
          <a:bodyPr vert="horz" wrap="square" lIns="0" tIns="0" rIns="0" bIns="0" rtlCol="0" anchor="t">
            <a:noAutofit/>
          </a:bodyPr>
          <a:lstStyle/>
          <a:p>
            <a:r>
              <a:rPr lang="es-BO" sz="2000">
                <a:solidFill>
                  <a:srgbClr val="8A6A2F"/>
                </a:solidFill>
                <a:latin typeface="Bahnschrift Light" panose="020B0502040204020203" pitchFamily="34" charset="0"/>
              </a:rPr>
              <a:t>03</a:t>
            </a:r>
          </a:p>
        </p:txBody>
      </p:sp>
      <p:sp>
        <p:nvSpPr>
          <p:cNvPr id="11" name="CuadroTexto 10">
            <a:extLst>
              <a:ext uri="{FF2B5EF4-FFF2-40B4-BE49-F238E27FC236}">
                <a16:creationId xmlns:a16="http://schemas.microsoft.com/office/drawing/2014/main" id="{9223C200-4E6C-F6C9-77D5-713B1D4B0CFF}"/>
              </a:ext>
            </a:extLst>
          </p:cNvPr>
          <p:cNvSpPr txBox="1"/>
          <p:nvPr/>
        </p:nvSpPr>
        <p:spPr>
          <a:xfrm>
            <a:off x="1117600" y="3695700"/>
            <a:ext cx="3048000" cy="812800"/>
          </a:xfrm>
          <a:prstGeom prst="rect">
            <a:avLst/>
          </a:prstGeom>
          <a:noFill/>
        </p:spPr>
        <p:txBody>
          <a:bodyPr vert="horz" wrap="square" lIns="0" tIns="0" rIns="0" bIns="0" rtlCol="0" anchor="t">
            <a:noAutofit/>
          </a:bodyPr>
          <a:lstStyle/>
          <a:p>
            <a:pPr algn="l"/>
            <a:r>
              <a:rPr lang="es-MX" sz="1150">
                <a:solidFill>
                  <a:srgbClr val="DCE3EC"/>
                </a:solidFill>
                <a:latin typeface="Segoe UI" panose="020B0502040204020203" pitchFamily="34" charset="0"/>
              </a:rPr>
              <a:t>Comprobar una cimentación con Terzaghi y dimensionar su recalce y su conexión.</a:t>
            </a:r>
            <a:endParaRPr lang="es-BO" sz="1150">
              <a:solidFill>
                <a:srgbClr val="DCE3EC"/>
              </a:solidFill>
              <a:latin typeface="Segoe UI" panose="020B0502040204020203" pitchFamily="34" charset="0"/>
            </a:endParaRPr>
          </a:p>
        </p:txBody>
      </p:sp>
      <p:sp>
        <p:nvSpPr>
          <p:cNvPr id="12" name="CuadroTexto 11">
            <a:extLst>
              <a:ext uri="{FF2B5EF4-FFF2-40B4-BE49-F238E27FC236}">
                <a16:creationId xmlns:a16="http://schemas.microsoft.com/office/drawing/2014/main" id="{109214E2-8C3F-D79D-668A-FB59E7B73517}"/>
              </a:ext>
            </a:extLst>
          </p:cNvPr>
          <p:cNvSpPr txBox="1"/>
          <p:nvPr/>
        </p:nvSpPr>
        <p:spPr>
          <a:xfrm>
            <a:off x="609600" y="4597400"/>
            <a:ext cx="508000" cy="355600"/>
          </a:xfrm>
          <a:prstGeom prst="rect">
            <a:avLst/>
          </a:prstGeom>
          <a:noFill/>
        </p:spPr>
        <p:txBody>
          <a:bodyPr vert="horz" wrap="square" lIns="0" tIns="0" rIns="0" bIns="0" rtlCol="0" anchor="t">
            <a:noAutofit/>
          </a:bodyPr>
          <a:lstStyle/>
          <a:p>
            <a:r>
              <a:rPr lang="es-BO" sz="2000">
                <a:solidFill>
                  <a:srgbClr val="8A6A2F"/>
                </a:solidFill>
                <a:latin typeface="Bahnschrift Light" panose="020B0502040204020203" pitchFamily="34" charset="0"/>
              </a:rPr>
              <a:t>04</a:t>
            </a:r>
          </a:p>
        </p:txBody>
      </p:sp>
      <p:sp>
        <p:nvSpPr>
          <p:cNvPr id="13" name="CuadroTexto 12">
            <a:extLst>
              <a:ext uri="{FF2B5EF4-FFF2-40B4-BE49-F238E27FC236}">
                <a16:creationId xmlns:a16="http://schemas.microsoft.com/office/drawing/2014/main" id="{8D05515E-D1B0-72F7-A811-8E44398EBF8F}"/>
              </a:ext>
            </a:extLst>
          </p:cNvPr>
          <p:cNvSpPr txBox="1"/>
          <p:nvPr/>
        </p:nvSpPr>
        <p:spPr>
          <a:xfrm>
            <a:off x="1117600" y="4635500"/>
            <a:ext cx="3048000" cy="812800"/>
          </a:xfrm>
          <a:prstGeom prst="rect">
            <a:avLst/>
          </a:prstGeom>
          <a:noFill/>
        </p:spPr>
        <p:txBody>
          <a:bodyPr vert="horz" wrap="square" lIns="0" tIns="0" rIns="0" bIns="0" rtlCol="0" anchor="t">
            <a:noAutofit/>
          </a:bodyPr>
          <a:lstStyle/>
          <a:p>
            <a:pPr algn="l"/>
            <a:r>
              <a:rPr lang="es-MX" sz="1150">
                <a:solidFill>
                  <a:srgbClr val="DCE3EC"/>
                </a:solidFill>
                <a:latin typeface="Segoe UI" panose="020B0502040204020203" pitchFamily="34" charset="0"/>
              </a:rPr>
              <a:t>Dejar la estructura gestionada: plan de mantenimiento con fechas y responsables.</a:t>
            </a:r>
            <a:endParaRPr lang="es-BO" sz="1150">
              <a:solidFill>
                <a:srgbClr val="DCE3EC"/>
              </a:solidFill>
              <a:latin typeface="Segoe UI" panose="020B0502040204020203" pitchFamily="34" charset="0"/>
            </a:endParaRPr>
          </a:p>
        </p:txBody>
      </p:sp>
      <p:sp>
        <p:nvSpPr>
          <p:cNvPr id="14" name="Rectángulo 13">
            <a:extLst>
              <a:ext uri="{FF2B5EF4-FFF2-40B4-BE49-F238E27FC236}">
                <a16:creationId xmlns:a16="http://schemas.microsoft.com/office/drawing/2014/main" id="{7CCBD7D0-12DA-A68E-3F2B-7C1A0B6050B7}"/>
              </a:ext>
            </a:extLst>
          </p:cNvPr>
          <p:cNvSpPr/>
          <p:nvPr/>
        </p:nvSpPr>
        <p:spPr>
          <a:xfrm>
            <a:off x="5080000" y="508000"/>
            <a:ext cx="228600" cy="2540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5" name="CuadroTexto 14">
            <a:extLst>
              <a:ext uri="{FF2B5EF4-FFF2-40B4-BE49-F238E27FC236}">
                <a16:creationId xmlns:a16="http://schemas.microsoft.com/office/drawing/2014/main" id="{29E176C2-4644-625A-ED9B-86E4B2CCCC01}"/>
              </a:ext>
            </a:extLst>
          </p:cNvPr>
          <p:cNvSpPr txBox="1"/>
          <p:nvPr/>
        </p:nvSpPr>
        <p:spPr>
          <a:xfrm>
            <a:off x="5410200" y="431800"/>
            <a:ext cx="3810000" cy="177800"/>
          </a:xfrm>
          <a:prstGeom prst="rect">
            <a:avLst/>
          </a:prstGeom>
          <a:noFill/>
        </p:spPr>
        <p:txBody>
          <a:bodyPr vert="horz" wrap="square" lIns="0" tIns="0" rIns="0" bIns="0" rtlCol="0" anchor="t">
            <a:noAutofit/>
          </a:bodyPr>
          <a:lstStyle/>
          <a:p>
            <a:r>
              <a:rPr lang="es-BO" sz="900" spc="180">
                <a:solidFill>
                  <a:srgbClr val="6A4F20"/>
                </a:solidFill>
                <a:latin typeface="Segoe UI Semibold" panose="020B0702040204020203" pitchFamily="34" charset="0"/>
              </a:rPr>
              <a:t>RUTA DE LA CLASE</a:t>
            </a:r>
          </a:p>
        </p:txBody>
      </p:sp>
      <p:cxnSp>
        <p:nvCxnSpPr>
          <p:cNvPr id="16" name="Conector recto 15">
            <a:extLst>
              <a:ext uri="{FF2B5EF4-FFF2-40B4-BE49-F238E27FC236}">
                <a16:creationId xmlns:a16="http://schemas.microsoft.com/office/drawing/2014/main" id="{DC68FCC7-B0F6-FFC3-9022-135B3481E29E}"/>
              </a:ext>
            </a:extLst>
          </p:cNvPr>
          <p:cNvCxnSpPr/>
          <p:nvPr/>
        </p:nvCxnSpPr>
        <p:spPr>
          <a:xfrm>
            <a:off x="5257800" y="1219200"/>
            <a:ext cx="0" cy="4622800"/>
          </a:xfrm>
          <a:prstGeom prst="line">
            <a:avLst/>
          </a:prstGeom>
          <a:ln w="190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17" name="Elipse 16">
            <a:extLst>
              <a:ext uri="{FF2B5EF4-FFF2-40B4-BE49-F238E27FC236}">
                <a16:creationId xmlns:a16="http://schemas.microsoft.com/office/drawing/2014/main" id="{57D0A83F-F119-B678-6F5B-042425ADDA1E}"/>
              </a:ext>
            </a:extLst>
          </p:cNvPr>
          <p:cNvSpPr/>
          <p:nvPr/>
        </p:nvSpPr>
        <p:spPr>
          <a:xfrm>
            <a:off x="5105400" y="1066800"/>
            <a:ext cx="304800" cy="304800"/>
          </a:xfrm>
          <a:prstGeom prst="ellipse">
            <a:avLst/>
          </a:prstGeom>
          <a:solidFill>
            <a:srgbClr val="1C181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000">
                <a:solidFill>
                  <a:srgbClr val="8A6A2F"/>
                </a:solidFill>
                <a:latin typeface="Bahnschrift SemiBold" panose="020B0502040204020203" pitchFamily="34" charset="0"/>
              </a:rPr>
              <a:t>1</a:t>
            </a:r>
          </a:p>
        </p:txBody>
      </p:sp>
      <p:sp>
        <p:nvSpPr>
          <p:cNvPr id="18" name="CuadroTexto 17">
            <a:extLst>
              <a:ext uri="{FF2B5EF4-FFF2-40B4-BE49-F238E27FC236}">
                <a16:creationId xmlns:a16="http://schemas.microsoft.com/office/drawing/2014/main" id="{C93AF2D7-8BF1-444A-ADE5-A3EB372B4269}"/>
              </a:ext>
            </a:extLst>
          </p:cNvPr>
          <p:cNvSpPr txBox="1"/>
          <p:nvPr/>
        </p:nvSpPr>
        <p:spPr>
          <a:xfrm>
            <a:off x="5715000" y="1028700"/>
            <a:ext cx="5715000" cy="152400"/>
          </a:xfrm>
          <a:prstGeom prst="rect">
            <a:avLst/>
          </a:prstGeom>
          <a:noFill/>
        </p:spPr>
        <p:txBody>
          <a:bodyPr vert="horz" wrap="square" lIns="0" tIns="0" rIns="0" bIns="0" rtlCol="0" anchor="t">
            <a:noAutofit/>
          </a:bodyPr>
          <a:lstStyle/>
          <a:p>
            <a:r>
              <a:rPr lang="es-BO" sz="750" spc="160">
                <a:solidFill>
                  <a:srgbClr val="6A4F20"/>
                </a:solidFill>
                <a:latin typeface="Segoe UI Semibold" panose="020B0702040204020203" pitchFamily="34" charset="0"/>
              </a:rPr>
              <a:t>APERTURA</a:t>
            </a:r>
          </a:p>
        </p:txBody>
      </p:sp>
      <p:sp>
        <p:nvSpPr>
          <p:cNvPr id="19" name="CuadroTexto 18">
            <a:extLst>
              <a:ext uri="{FF2B5EF4-FFF2-40B4-BE49-F238E27FC236}">
                <a16:creationId xmlns:a16="http://schemas.microsoft.com/office/drawing/2014/main" id="{6C8A67F4-7C41-A910-F65D-73585524F091}"/>
              </a:ext>
            </a:extLst>
          </p:cNvPr>
          <p:cNvSpPr txBox="1"/>
          <p:nvPr/>
        </p:nvSpPr>
        <p:spPr>
          <a:xfrm>
            <a:off x="5715000" y="1193800"/>
            <a:ext cx="5715000" cy="228600"/>
          </a:xfrm>
          <a:prstGeom prst="rect">
            <a:avLst/>
          </a:prstGeom>
          <a:noFill/>
        </p:spPr>
        <p:txBody>
          <a:bodyPr vert="horz" wrap="square" lIns="0" tIns="0" rIns="0" bIns="0" rtlCol="0" anchor="t">
            <a:noAutofit/>
          </a:bodyPr>
          <a:lstStyle/>
          <a:p>
            <a:pPr algn="l"/>
            <a:r>
              <a:rPr lang="es-MX" sz="1200">
                <a:solidFill>
                  <a:srgbClr val="1C1813"/>
                </a:solidFill>
                <a:latin typeface="Bahnschrift SemiBold" panose="020B0502040204020203" pitchFamily="34" charset="0"/>
              </a:rPr>
              <a:t>Repaso de la clase anterior y pregunta</a:t>
            </a:r>
            <a:endParaRPr lang="es-BO" sz="1200">
              <a:solidFill>
                <a:srgbClr val="1C1813"/>
              </a:solidFill>
              <a:latin typeface="Bahnschrift SemiBold" panose="020B0502040204020203" pitchFamily="34" charset="0"/>
            </a:endParaRPr>
          </a:p>
        </p:txBody>
      </p:sp>
      <p:sp>
        <p:nvSpPr>
          <p:cNvPr id="20" name="Elipse 19">
            <a:extLst>
              <a:ext uri="{FF2B5EF4-FFF2-40B4-BE49-F238E27FC236}">
                <a16:creationId xmlns:a16="http://schemas.microsoft.com/office/drawing/2014/main" id="{88394A8F-D895-28EC-5D80-DA08CAC88EAA}"/>
              </a:ext>
            </a:extLst>
          </p:cNvPr>
          <p:cNvSpPr/>
          <p:nvPr/>
        </p:nvSpPr>
        <p:spPr>
          <a:xfrm>
            <a:off x="5105400" y="1727200"/>
            <a:ext cx="304800" cy="304800"/>
          </a:xfrm>
          <a:prstGeom prst="ellipse">
            <a:avLst/>
          </a:prstGeom>
          <a:solidFill>
            <a:srgbClr val="1C181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000">
                <a:solidFill>
                  <a:srgbClr val="8A6A2F"/>
                </a:solidFill>
                <a:latin typeface="Bahnschrift SemiBold" panose="020B0502040204020203" pitchFamily="34" charset="0"/>
              </a:rPr>
              <a:t>2</a:t>
            </a:r>
          </a:p>
        </p:txBody>
      </p:sp>
      <p:sp>
        <p:nvSpPr>
          <p:cNvPr id="21" name="CuadroTexto 20">
            <a:extLst>
              <a:ext uri="{FF2B5EF4-FFF2-40B4-BE49-F238E27FC236}">
                <a16:creationId xmlns:a16="http://schemas.microsoft.com/office/drawing/2014/main" id="{0FE01F2B-FE73-62A3-0B39-6C377EAB2DDA}"/>
              </a:ext>
            </a:extLst>
          </p:cNvPr>
          <p:cNvSpPr txBox="1"/>
          <p:nvPr/>
        </p:nvSpPr>
        <p:spPr>
          <a:xfrm>
            <a:off x="5715000" y="1689100"/>
            <a:ext cx="5715000" cy="152400"/>
          </a:xfrm>
          <a:prstGeom prst="rect">
            <a:avLst/>
          </a:prstGeom>
          <a:noFill/>
        </p:spPr>
        <p:txBody>
          <a:bodyPr vert="horz" wrap="square" lIns="0" tIns="0" rIns="0" bIns="0" rtlCol="0" anchor="t">
            <a:noAutofit/>
          </a:bodyPr>
          <a:lstStyle/>
          <a:p>
            <a:r>
              <a:rPr lang="es-BO" sz="750" spc="160">
                <a:solidFill>
                  <a:srgbClr val="6A4F20"/>
                </a:solidFill>
                <a:latin typeface="Segoe UI Semibold" panose="020B0702040204020203" pitchFamily="34" charset="0"/>
              </a:rPr>
              <a:t>PARTE 1</a:t>
            </a:r>
          </a:p>
        </p:txBody>
      </p:sp>
      <p:sp>
        <p:nvSpPr>
          <p:cNvPr id="22" name="CuadroTexto 21">
            <a:extLst>
              <a:ext uri="{FF2B5EF4-FFF2-40B4-BE49-F238E27FC236}">
                <a16:creationId xmlns:a16="http://schemas.microsoft.com/office/drawing/2014/main" id="{072098A6-BA8D-401E-34D6-2115D666A8EF}"/>
              </a:ext>
            </a:extLst>
          </p:cNvPr>
          <p:cNvSpPr txBox="1"/>
          <p:nvPr/>
        </p:nvSpPr>
        <p:spPr>
          <a:xfrm>
            <a:off x="5715000" y="1854200"/>
            <a:ext cx="5715000" cy="228600"/>
          </a:xfrm>
          <a:prstGeom prst="rect">
            <a:avLst/>
          </a:prstGeom>
          <a:noFill/>
        </p:spPr>
        <p:txBody>
          <a:bodyPr vert="horz" wrap="square" lIns="0" tIns="0" rIns="0" bIns="0" rtlCol="0" anchor="t">
            <a:noAutofit/>
          </a:bodyPr>
          <a:lstStyle/>
          <a:p>
            <a:pPr algn="l"/>
            <a:r>
              <a:rPr lang="es-MX" sz="1200">
                <a:solidFill>
                  <a:srgbClr val="1C1813"/>
                </a:solidFill>
                <a:latin typeface="Bahnschrift SemiBold" panose="020B0502040204020203" pitchFamily="34" charset="0"/>
              </a:rPr>
              <a:t>Recálculo con lo que hay</a:t>
            </a:r>
            <a:endParaRPr lang="es-BO" sz="1200">
              <a:solidFill>
                <a:srgbClr val="1C1813"/>
              </a:solidFill>
              <a:latin typeface="Bahnschrift SemiBold" panose="020B0502040204020203" pitchFamily="34" charset="0"/>
            </a:endParaRPr>
          </a:p>
        </p:txBody>
      </p:sp>
      <p:sp>
        <p:nvSpPr>
          <p:cNvPr id="23" name="Elipse 22">
            <a:extLst>
              <a:ext uri="{FF2B5EF4-FFF2-40B4-BE49-F238E27FC236}">
                <a16:creationId xmlns:a16="http://schemas.microsoft.com/office/drawing/2014/main" id="{A8A79890-FD9E-EAC2-077D-CED8B0B3F8A6}"/>
              </a:ext>
            </a:extLst>
          </p:cNvPr>
          <p:cNvSpPr/>
          <p:nvPr/>
        </p:nvSpPr>
        <p:spPr>
          <a:xfrm>
            <a:off x="5105400" y="2387600"/>
            <a:ext cx="304800" cy="304800"/>
          </a:xfrm>
          <a:prstGeom prst="ellipse">
            <a:avLst/>
          </a:prstGeom>
          <a:solidFill>
            <a:srgbClr val="1C181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000">
                <a:solidFill>
                  <a:srgbClr val="8A6A2F"/>
                </a:solidFill>
                <a:latin typeface="Bahnschrift SemiBold" panose="020B0502040204020203" pitchFamily="34" charset="0"/>
              </a:rPr>
              <a:t>3</a:t>
            </a:r>
          </a:p>
        </p:txBody>
      </p:sp>
      <p:sp>
        <p:nvSpPr>
          <p:cNvPr id="24" name="CuadroTexto 23">
            <a:extLst>
              <a:ext uri="{FF2B5EF4-FFF2-40B4-BE49-F238E27FC236}">
                <a16:creationId xmlns:a16="http://schemas.microsoft.com/office/drawing/2014/main" id="{5077D0C2-0F01-8850-5789-14C267012765}"/>
              </a:ext>
            </a:extLst>
          </p:cNvPr>
          <p:cNvSpPr txBox="1"/>
          <p:nvPr/>
        </p:nvSpPr>
        <p:spPr>
          <a:xfrm>
            <a:off x="5715000" y="2349500"/>
            <a:ext cx="5715000" cy="152400"/>
          </a:xfrm>
          <a:prstGeom prst="rect">
            <a:avLst/>
          </a:prstGeom>
          <a:noFill/>
        </p:spPr>
        <p:txBody>
          <a:bodyPr vert="horz" wrap="square" lIns="0" tIns="0" rIns="0" bIns="0" rtlCol="0" anchor="t">
            <a:noAutofit/>
          </a:bodyPr>
          <a:lstStyle/>
          <a:p>
            <a:r>
              <a:rPr lang="es-BO" sz="750" spc="160">
                <a:solidFill>
                  <a:srgbClr val="6A4F20"/>
                </a:solidFill>
                <a:latin typeface="Segoe UI Semibold" panose="020B0702040204020203" pitchFamily="34" charset="0"/>
              </a:rPr>
              <a:t>PARTE 2</a:t>
            </a:r>
          </a:p>
        </p:txBody>
      </p:sp>
      <p:sp>
        <p:nvSpPr>
          <p:cNvPr id="25" name="CuadroTexto 24">
            <a:extLst>
              <a:ext uri="{FF2B5EF4-FFF2-40B4-BE49-F238E27FC236}">
                <a16:creationId xmlns:a16="http://schemas.microsoft.com/office/drawing/2014/main" id="{A65D8F28-8976-5FF5-FB06-25ED7288AF6B}"/>
              </a:ext>
            </a:extLst>
          </p:cNvPr>
          <p:cNvSpPr txBox="1"/>
          <p:nvPr/>
        </p:nvSpPr>
        <p:spPr>
          <a:xfrm>
            <a:off x="5715000" y="2514600"/>
            <a:ext cx="5715000" cy="228600"/>
          </a:xfrm>
          <a:prstGeom prst="rect">
            <a:avLst/>
          </a:prstGeom>
          <a:noFill/>
        </p:spPr>
        <p:txBody>
          <a:bodyPr vert="horz" wrap="square" lIns="0" tIns="0" rIns="0" bIns="0" rtlCol="0" anchor="t">
            <a:noAutofit/>
          </a:bodyPr>
          <a:lstStyle/>
          <a:p>
            <a:pPr algn="l"/>
            <a:r>
              <a:rPr lang="es-BO" sz="1200">
                <a:solidFill>
                  <a:srgbClr val="1C1813"/>
                </a:solidFill>
                <a:latin typeface="Bahnschrift SemiBold" panose="020B0502040204020203" pitchFamily="34" charset="0"/>
              </a:rPr>
              <a:t>Técnicas de refuerzo</a:t>
            </a:r>
          </a:p>
        </p:txBody>
      </p:sp>
      <p:sp>
        <p:nvSpPr>
          <p:cNvPr id="26" name="Elipse 25">
            <a:extLst>
              <a:ext uri="{FF2B5EF4-FFF2-40B4-BE49-F238E27FC236}">
                <a16:creationId xmlns:a16="http://schemas.microsoft.com/office/drawing/2014/main" id="{5FEF58C3-4F01-D113-6835-8129744D9D6C}"/>
              </a:ext>
            </a:extLst>
          </p:cNvPr>
          <p:cNvSpPr/>
          <p:nvPr/>
        </p:nvSpPr>
        <p:spPr>
          <a:xfrm>
            <a:off x="5105400" y="3048000"/>
            <a:ext cx="304800" cy="304800"/>
          </a:xfrm>
          <a:prstGeom prst="ellipse">
            <a:avLst/>
          </a:prstGeom>
          <a:solidFill>
            <a:srgbClr val="1C181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000">
                <a:solidFill>
                  <a:srgbClr val="8A6A2F"/>
                </a:solidFill>
                <a:latin typeface="Bahnschrift SemiBold" panose="020B0502040204020203" pitchFamily="34" charset="0"/>
              </a:rPr>
              <a:t>4</a:t>
            </a:r>
          </a:p>
        </p:txBody>
      </p:sp>
      <p:sp>
        <p:nvSpPr>
          <p:cNvPr id="27" name="CuadroTexto 26">
            <a:extLst>
              <a:ext uri="{FF2B5EF4-FFF2-40B4-BE49-F238E27FC236}">
                <a16:creationId xmlns:a16="http://schemas.microsoft.com/office/drawing/2014/main" id="{CDF6AAC1-5745-3473-87AB-A975DAE8A30E}"/>
              </a:ext>
            </a:extLst>
          </p:cNvPr>
          <p:cNvSpPr txBox="1"/>
          <p:nvPr/>
        </p:nvSpPr>
        <p:spPr>
          <a:xfrm>
            <a:off x="5715000" y="3009900"/>
            <a:ext cx="5715000" cy="152400"/>
          </a:xfrm>
          <a:prstGeom prst="rect">
            <a:avLst/>
          </a:prstGeom>
          <a:noFill/>
        </p:spPr>
        <p:txBody>
          <a:bodyPr vert="horz" wrap="square" lIns="0" tIns="0" rIns="0" bIns="0" rtlCol="0" anchor="t">
            <a:noAutofit/>
          </a:bodyPr>
          <a:lstStyle/>
          <a:p>
            <a:r>
              <a:rPr lang="es-BO" sz="750" spc="160">
                <a:solidFill>
                  <a:srgbClr val="6A4F20"/>
                </a:solidFill>
                <a:latin typeface="Segoe UI Semibold" panose="020B0702040204020203" pitchFamily="34" charset="0"/>
              </a:rPr>
              <a:t>PARTE 3</a:t>
            </a:r>
          </a:p>
        </p:txBody>
      </p:sp>
      <p:sp>
        <p:nvSpPr>
          <p:cNvPr id="28" name="CuadroTexto 27">
            <a:extLst>
              <a:ext uri="{FF2B5EF4-FFF2-40B4-BE49-F238E27FC236}">
                <a16:creationId xmlns:a16="http://schemas.microsoft.com/office/drawing/2014/main" id="{EB6516DF-963F-1C3D-49CD-0A6A3755DF2B}"/>
              </a:ext>
            </a:extLst>
          </p:cNvPr>
          <p:cNvSpPr txBox="1"/>
          <p:nvPr/>
        </p:nvSpPr>
        <p:spPr>
          <a:xfrm>
            <a:off x="5715000" y="3175000"/>
            <a:ext cx="5715000" cy="228600"/>
          </a:xfrm>
          <a:prstGeom prst="rect">
            <a:avLst/>
          </a:prstGeom>
          <a:noFill/>
        </p:spPr>
        <p:txBody>
          <a:bodyPr vert="horz" wrap="square" lIns="0" tIns="0" rIns="0" bIns="0" rtlCol="0" anchor="t">
            <a:noAutofit/>
          </a:bodyPr>
          <a:lstStyle/>
          <a:p>
            <a:pPr algn="l"/>
            <a:r>
              <a:rPr lang="es-BO" sz="1200">
                <a:solidFill>
                  <a:srgbClr val="1C1813"/>
                </a:solidFill>
                <a:latin typeface="Bahnschrift SemiBold" panose="020B0502040204020203" pitchFamily="34" charset="0"/>
              </a:rPr>
              <a:t>Recalce de cimentaciones</a:t>
            </a:r>
          </a:p>
        </p:txBody>
      </p:sp>
      <p:sp>
        <p:nvSpPr>
          <p:cNvPr id="29" name="Elipse 28">
            <a:extLst>
              <a:ext uri="{FF2B5EF4-FFF2-40B4-BE49-F238E27FC236}">
                <a16:creationId xmlns:a16="http://schemas.microsoft.com/office/drawing/2014/main" id="{A37517A9-9EB6-39D2-0B48-9D6C9C4BB7F4}"/>
              </a:ext>
            </a:extLst>
          </p:cNvPr>
          <p:cNvSpPr/>
          <p:nvPr/>
        </p:nvSpPr>
        <p:spPr>
          <a:xfrm>
            <a:off x="5105400" y="3708400"/>
            <a:ext cx="304800" cy="304800"/>
          </a:xfrm>
          <a:prstGeom prst="ellipse">
            <a:avLst/>
          </a:prstGeom>
          <a:solidFill>
            <a:srgbClr val="1C181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000">
                <a:solidFill>
                  <a:srgbClr val="8A6A2F"/>
                </a:solidFill>
                <a:latin typeface="Bahnschrift SemiBold" panose="020B0502040204020203" pitchFamily="34" charset="0"/>
              </a:rPr>
              <a:t>5</a:t>
            </a:r>
          </a:p>
        </p:txBody>
      </p:sp>
      <p:sp>
        <p:nvSpPr>
          <p:cNvPr id="30" name="CuadroTexto 29">
            <a:extLst>
              <a:ext uri="{FF2B5EF4-FFF2-40B4-BE49-F238E27FC236}">
                <a16:creationId xmlns:a16="http://schemas.microsoft.com/office/drawing/2014/main" id="{807A807D-6CA4-488C-B460-639304EA1EF8}"/>
              </a:ext>
            </a:extLst>
          </p:cNvPr>
          <p:cNvSpPr txBox="1"/>
          <p:nvPr/>
        </p:nvSpPr>
        <p:spPr>
          <a:xfrm>
            <a:off x="5715000" y="3670300"/>
            <a:ext cx="5715000" cy="152400"/>
          </a:xfrm>
          <a:prstGeom prst="rect">
            <a:avLst/>
          </a:prstGeom>
          <a:noFill/>
        </p:spPr>
        <p:txBody>
          <a:bodyPr vert="horz" wrap="square" lIns="0" tIns="0" rIns="0" bIns="0" rtlCol="0" anchor="t">
            <a:noAutofit/>
          </a:bodyPr>
          <a:lstStyle/>
          <a:p>
            <a:r>
              <a:rPr lang="es-BO" sz="750" spc="160">
                <a:solidFill>
                  <a:srgbClr val="6A4F20"/>
                </a:solidFill>
                <a:latin typeface="Segoe UI Semibold" panose="020B0702040204020203" pitchFamily="34" charset="0"/>
              </a:rPr>
              <a:t>PARTE 4</a:t>
            </a:r>
          </a:p>
        </p:txBody>
      </p:sp>
      <p:sp>
        <p:nvSpPr>
          <p:cNvPr id="31" name="CuadroTexto 30">
            <a:extLst>
              <a:ext uri="{FF2B5EF4-FFF2-40B4-BE49-F238E27FC236}">
                <a16:creationId xmlns:a16="http://schemas.microsoft.com/office/drawing/2014/main" id="{4DC84D6A-A837-4881-744C-84EC62A7C4E9}"/>
              </a:ext>
            </a:extLst>
          </p:cNvPr>
          <p:cNvSpPr txBox="1"/>
          <p:nvPr/>
        </p:nvSpPr>
        <p:spPr>
          <a:xfrm>
            <a:off x="5715000" y="3835400"/>
            <a:ext cx="5715000" cy="228600"/>
          </a:xfrm>
          <a:prstGeom prst="rect">
            <a:avLst/>
          </a:prstGeom>
          <a:noFill/>
        </p:spPr>
        <p:txBody>
          <a:bodyPr vert="horz" wrap="square" lIns="0" tIns="0" rIns="0" bIns="0" rtlCol="0" anchor="t">
            <a:noAutofit/>
          </a:bodyPr>
          <a:lstStyle/>
          <a:p>
            <a:pPr algn="l"/>
            <a:r>
              <a:rPr lang="es-BO" sz="1200">
                <a:solidFill>
                  <a:srgbClr val="1C1813"/>
                </a:solidFill>
                <a:latin typeface="Bahnschrift SemiBold" panose="020B0502040204020203" pitchFamily="34" charset="0"/>
              </a:rPr>
              <a:t>Gestión del activo</a:t>
            </a:r>
          </a:p>
        </p:txBody>
      </p:sp>
      <p:sp>
        <p:nvSpPr>
          <p:cNvPr id="32" name="Rectángulo 31">
            <a:extLst>
              <a:ext uri="{FF2B5EF4-FFF2-40B4-BE49-F238E27FC236}">
                <a16:creationId xmlns:a16="http://schemas.microsoft.com/office/drawing/2014/main" id="{E419C7B9-A04C-9ECE-E6EB-7E01047B7135}"/>
              </a:ext>
            </a:extLst>
          </p:cNvPr>
          <p:cNvSpPr/>
          <p:nvPr/>
        </p:nvSpPr>
        <p:spPr>
          <a:xfrm>
            <a:off x="5537200" y="4229100"/>
            <a:ext cx="6045200" cy="584200"/>
          </a:xfrm>
          <a:prstGeom prst="rect">
            <a:avLst/>
          </a:prstGeom>
          <a:solidFill>
            <a:srgbClr val="F0E7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33" name="Elipse 32">
            <a:extLst>
              <a:ext uri="{FF2B5EF4-FFF2-40B4-BE49-F238E27FC236}">
                <a16:creationId xmlns:a16="http://schemas.microsoft.com/office/drawing/2014/main" id="{D844963C-0687-CF64-1B70-A0CBCFAC4F36}"/>
              </a:ext>
            </a:extLst>
          </p:cNvPr>
          <p:cNvSpPr/>
          <p:nvPr/>
        </p:nvSpPr>
        <p:spPr>
          <a:xfrm>
            <a:off x="5105400" y="4368800"/>
            <a:ext cx="304800" cy="3048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000">
                <a:solidFill>
                  <a:srgbClr val="1C1813"/>
                </a:solidFill>
                <a:latin typeface="Bahnschrift SemiBold" panose="020B0502040204020203" pitchFamily="34" charset="0"/>
              </a:rPr>
              <a:t>6</a:t>
            </a:r>
          </a:p>
        </p:txBody>
      </p:sp>
      <p:sp>
        <p:nvSpPr>
          <p:cNvPr id="34" name="CuadroTexto 33">
            <a:extLst>
              <a:ext uri="{FF2B5EF4-FFF2-40B4-BE49-F238E27FC236}">
                <a16:creationId xmlns:a16="http://schemas.microsoft.com/office/drawing/2014/main" id="{3DED0A15-25FC-40B5-E3F0-F1050C50FF35}"/>
              </a:ext>
            </a:extLst>
          </p:cNvPr>
          <p:cNvSpPr txBox="1"/>
          <p:nvPr/>
        </p:nvSpPr>
        <p:spPr>
          <a:xfrm>
            <a:off x="5715000" y="4330700"/>
            <a:ext cx="5715000" cy="152400"/>
          </a:xfrm>
          <a:prstGeom prst="rect">
            <a:avLst/>
          </a:prstGeom>
          <a:noFill/>
        </p:spPr>
        <p:txBody>
          <a:bodyPr vert="horz" wrap="square" lIns="0" tIns="0" rIns="0" bIns="0" rtlCol="0" anchor="t">
            <a:noAutofit/>
          </a:bodyPr>
          <a:lstStyle/>
          <a:p>
            <a:r>
              <a:rPr lang="es-BO" sz="750" spc="160">
                <a:solidFill>
                  <a:srgbClr val="6A4F20"/>
                </a:solidFill>
                <a:latin typeface="Segoe UI Semibold" panose="020B0702040204020203" pitchFamily="34" charset="0"/>
              </a:rPr>
              <a:t>CASO RESUELTO</a:t>
            </a:r>
          </a:p>
        </p:txBody>
      </p:sp>
      <p:sp>
        <p:nvSpPr>
          <p:cNvPr id="35" name="CuadroTexto 34">
            <a:extLst>
              <a:ext uri="{FF2B5EF4-FFF2-40B4-BE49-F238E27FC236}">
                <a16:creationId xmlns:a16="http://schemas.microsoft.com/office/drawing/2014/main" id="{FCE9DF9A-913D-AAC1-5E95-AEC3104FB9B7}"/>
              </a:ext>
            </a:extLst>
          </p:cNvPr>
          <p:cNvSpPr txBox="1"/>
          <p:nvPr/>
        </p:nvSpPr>
        <p:spPr>
          <a:xfrm>
            <a:off x="5715000" y="4495800"/>
            <a:ext cx="5715000" cy="228600"/>
          </a:xfrm>
          <a:prstGeom prst="rect">
            <a:avLst/>
          </a:prstGeom>
          <a:noFill/>
        </p:spPr>
        <p:txBody>
          <a:bodyPr vert="horz" wrap="square" lIns="0" tIns="0" rIns="0" bIns="0" rtlCol="0" anchor="t">
            <a:noAutofit/>
          </a:bodyPr>
          <a:lstStyle/>
          <a:p>
            <a:pPr algn="l"/>
            <a:r>
              <a:rPr lang="es-MX" sz="1200">
                <a:solidFill>
                  <a:srgbClr val="1C1813"/>
                </a:solidFill>
                <a:latin typeface="Bahnschrift SemiBold" panose="020B0502040204020203" pitchFamily="34" charset="0"/>
              </a:rPr>
              <a:t>La zapata que nadie estaba mirando</a:t>
            </a:r>
            <a:endParaRPr lang="es-BO" sz="1200">
              <a:solidFill>
                <a:srgbClr val="1C1813"/>
              </a:solidFill>
              <a:latin typeface="Bahnschrift SemiBold" panose="020B0502040204020203" pitchFamily="34" charset="0"/>
            </a:endParaRPr>
          </a:p>
        </p:txBody>
      </p:sp>
      <p:sp>
        <p:nvSpPr>
          <p:cNvPr id="36" name="Elipse 35">
            <a:extLst>
              <a:ext uri="{FF2B5EF4-FFF2-40B4-BE49-F238E27FC236}">
                <a16:creationId xmlns:a16="http://schemas.microsoft.com/office/drawing/2014/main" id="{77CC9D63-4E1F-A3C2-E2B8-8AFB1C4D2DAE}"/>
              </a:ext>
            </a:extLst>
          </p:cNvPr>
          <p:cNvSpPr/>
          <p:nvPr/>
        </p:nvSpPr>
        <p:spPr>
          <a:xfrm>
            <a:off x="5105400" y="5029200"/>
            <a:ext cx="304800" cy="304800"/>
          </a:xfrm>
          <a:prstGeom prst="ellipse">
            <a:avLst/>
          </a:prstGeom>
          <a:solidFill>
            <a:srgbClr val="1C181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000">
                <a:solidFill>
                  <a:srgbClr val="8A6A2F"/>
                </a:solidFill>
                <a:latin typeface="Bahnschrift SemiBold" panose="020B0502040204020203" pitchFamily="34" charset="0"/>
              </a:rPr>
              <a:t>7</a:t>
            </a:r>
          </a:p>
        </p:txBody>
      </p:sp>
      <p:sp>
        <p:nvSpPr>
          <p:cNvPr id="37" name="CuadroTexto 36">
            <a:extLst>
              <a:ext uri="{FF2B5EF4-FFF2-40B4-BE49-F238E27FC236}">
                <a16:creationId xmlns:a16="http://schemas.microsoft.com/office/drawing/2014/main" id="{425CB25A-0038-2416-79E9-07647732C82C}"/>
              </a:ext>
            </a:extLst>
          </p:cNvPr>
          <p:cNvSpPr txBox="1"/>
          <p:nvPr/>
        </p:nvSpPr>
        <p:spPr>
          <a:xfrm>
            <a:off x="5715000" y="4991100"/>
            <a:ext cx="5715000" cy="152400"/>
          </a:xfrm>
          <a:prstGeom prst="rect">
            <a:avLst/>
          </a:prstGeom>
          <a:noFill/>
        </p:spPr>
        <p:txBody>
          <a:bodyPr vert="horz" wrap="square" lIns="0" tIns="0" rIns="0" bIns="0" rtlCol="0" anchor="t">
            <a:noAutofit/>
          </a:bodyPr>
          <a:lstStyle/>
          <a:p>
            <a:r>
              <a:rPr lang="es-BO" sz="750" spc="160">
                <a:solidFill>
                  <a:srgbClr val="6A4F20"/>
                </a:solidFill>
                <a:latin typeface="Segoe UI Semibold" panose="020B0702040204020203" pitchFamily="34" charset="0"/>
              </a:rPr>
              <a:t>HERRAMIENTAS</a:t>
            </a:r>
          </a:p>
        </p:txBody>
      </p:sp>
      <p:sp>
        <p:nvSpPr>
          <p:cNvPr id="38" name="CuadroTexto 37">
            <a:extLst>
              <a:ext uri="{FF2B5EF4-FFF2-40B4-BE49-F238E27FC236}">
                <a16:creationId xmlns:a16="http://schemas.microsoft.com/office/drawing/2014/main" id="{A5D0C26F-E8B6-1066-85CC-A2358A1CA04F}"/>
              </a:ext>
            </a:extLst>
          </p:cNvPr>
          <p:cNvSpPr txBox="1"/>
          <p:nvPr/>
        </p:nvSpPr>
        <p:spPr>
          <a:xfrm>
            <a:off x="5715000" y="5156200"/>
            <a:ext cx="5715000" cy="228600"/>
          </a:xfrm>
          <a:prstGeom prst="rect">
            <a:avLst/>
          </a:prstGeom>
          <a:noFill/>
        </p:spPr>
        <p:txBody>
          <a:bodyPr vert="horz" wrap="square" lIns="0" tIns="0" rIns="0" bIns="0" rtlCol="0" anchor="t">
            <a:noAutofit/>
          </a:bodyPr>
          <a:lstStyle/>
          <a:p>
            <a:pPr algn="l"/>
            <a:r>
              <a:rPr lang="es-MX" sz="1200">
                <a:solidFill>
                  <a:srgbClr val="1C1813"/>
                </a:solidFill>
                <a:latin typeface="Bahnschrift SemiBold" panose="020B0502040204020203" pitchFamily="34" charset="0"/>
              </a:rPr>
              <a:t>La planilla y el formato de esta clase</a:t>
            </a:r>
            <a:endParaRPr lang="es-BO" sz="1200">
              <a:solidFill>
                <a:srgbClr val="1C1813"/>
              </a:solidFill>
              <a:latin typeface="Bahnschrift SemiBold" panose="020B0502040204020203" pitchFamily="34" charset="0"/>
            </a:endParaRPr>
          </a:p>
        </p:txBody>
      </p:sp>
      <p:sp>
        <p:nvSpPr>
          <p:cNvPr id="39" name="Elipse 38">
            <a:extLst>
              <a:ext uri="{FF2B5EF4-FFF2-40B4-BE49-F238E27FC236}">
                <a16:creationId xmlns:a16="http://schemas.microsoft.com/office/drawing/2014/main" id="{3C718E98-F9AD-DE1E-8A9A-5F1CCBF492E2}"/>
              </a:ext>
            </a:extLst>
          </p:cNvPr>
          <p:cNvSpPr/>
          <p:nvPr/>
        </p:nvSpPr>
        <p:spPr>
          <a:xfrm>
            <a:off x="5105400" y="5689600"/>
            <a:ext cx="304800" cy="304800"/>
          </a:xfrm>
          <a:prstGeom prst="ellipse">
            <a:avLst/>
          </a:prstGeom>
          <a:solidFill>
            <a:srgbClr val="1C181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000">
                <a:solidFill>
                  <a:srgbClr val="8A6A2F"/>
                </a:solidFill>
                <a:latin typeface="Bahnschrift SemiBold" panose="020B0502040204020203" pitchFamily="34" charset="0"/>
              </a:rPr>
              <a:t>8</a:t>
            </a:r>
          </a:p>
        </p:txBody>
      </p:sp>
      <p:sp>
        <p:nvSpPr>
          <p:cNvPr id="40" name="CuadroTexto 39">
            <a:extLst>
              <a:ext uri="{FF2B5EF4-FFF2-40B4-BE49-F238E27FC236}">
                <a16:creationId xmlns:a16="http://schemas.microsoft.com/office/drawing/2014/main" id="{1D5B8FE1-DA01-ED57-59EC-F2F4260FFB01}"/>
              </a:ext>
            </a:extLst>
          </p:cNvPr>
          <p:cNvSpPr txBox="1"/>
          <p:nvPr/>
        </p:nvSpPr>
        <p:spPr>
          <a:xfrm>
            <a:off x="5715000" y="5651500"/>
            <a:ext cx="5715000" cy="152400"/>
          </a:xfrm>
          <a:prstGeom prst="rect">
            <a:avLst/>
          </a:prstGeom>
          <a:noFill/>
        </p:spPr>
        <p:txBody>
          <a:bodyPr vert="horz" wrap="square" lIns="0" tIns="0" rIns="0" bIns="0" rtlCol="0" anchor="t">
            <a:noAutofit/>
          </a:bodyPr>
          <a:lstStyle/>
          <a:p>
            <a:r>
              <a:rPr lang="es-BO" sz="750" spc="160">
                <a:solidFill>
                  <a:srgbClr val="6A4F20"/>
                </a:solidFill>
                <a:latin typeface="Segoe UI Semibold" panose="020B0702040204020203" pitchFamily="34" charset="0"/>
              </a:rPr>
              <a:t>CIERRE DEL CURSO</a:t>
            </a:r>
          </a:p>
        </p:txBody>
      </p:sp>
      <p:sp>
        <p:nvSpPr>
          <p:cNvPr id="41" name="CuadroTexto 40">
            <a:extLst>
              <a:ext uri="{FF2B5EF4-FFF2-40B4-BE49-F238E27FC236}">
                <a16:creationId xmlns:a16="http://schemas.microsoft.com/office/drawing/2014/main" id="{9875F743-07B7-0E2D-BA45-3F1B87019B70}"/>
              </a:ext>
            </a:extLst>
          </p:cNvPr>
          <p:cNvSpPr txBox="1"/>
          <p:nvPr/>
        </p:nvSpPr>
        <p:spPr>
          <a:xfrm>
            <a:off x="5715000" y="5816600"/>
            <a:ext cx="5715000" cy="228600"/>
          </a:xfrm>
          <a:prstGeom prst="rect">
            <a:avLst/>
          </a:prstGeom>
          <a:noFill/>
        </p:spPr>
        <p:txBody>
          <a:bodyPr vert="horz" wrap="square" lIns="0" tIns="0" rIns="0" bIns="0" rtlCol="0" anchor="t">
            <a:noAutofit/>
          </a:bodyPr>
          <a:lstStyle/>
          <a:p>
            <a:pPr algn="l"/>
            <a:r>
              <a:rPr lang="es-MX" sz="1200">
                <a:solidFill>
                  <a:srgbClr val="1C1813"/>
                </a:solidFill>
                <a:latin typeface="Bahnschrift SemiBold" panose="020B0502040204020203" pitchFamily="34" charset="0"/>
              </a:rPr>
              <a:t>Diez reglas de oro y lo que te llevas</a:t>
            </a:r>
            <a:endParaRPr lang="es-BO" sz="1200">
              <a:solidFill>
                <a:srgbClr val="1C1813"/>
              </a:solidFill>
              <a:latin typeface="Bahnschrift SemiBold" panose="020B0502040204020203" pitchFamily="34" charset="0"/>
            </a:endParaRPr>
          </a:p>
        </p:txBody>
      </p:sp>
      <p:cxnSp>
        <p:nvCxnSpPr>
          <p:cNvPr id="42" name="Conector recto 41">
            <a:extLst>
              <a:ext uri="{FF2B5EF4-FFF2-40B4-BE49-F238E27FC236}">
                <a16:creationId xmlns:a16="http://schemas.microsoft.com/office/drawing/2014/main" id="{551E5322-5B76-AF93-3543-87F700EE0DF5}"/>
              </a:ext>
            </a:extLst>
          </p:cNvPr>
          <p:cNvCxnSpPr/>
          <p:nvPr/>
        </p:nvCxnSpPr>
        <p:spPr>
          <a:xfrm>
            <a:off x="5080000" y="6527800"/>
            <a:ext cx="65024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43" name="CuadroTexto 42">
            <a:extLst>
              <a:ext uri="{FF2B5EF4-FFF2-40B4-BE49-F238E27FC236}">
                <a16:creationId xmlns:a16="http://schemas.microsoft.com/office/drawing/2014/main" id="{CAB7C947-01EB-0A0F-4C64-D984BF1106CE}"/>
              </a:ext>
            </a:extLst>
          </p:cNvPr>
          <p:cNvSpPr txBox="1"/>
          <p:nvPr/>
        </p:nvSpPr>
        <p:spPr>
          <a:xfrm>
            <a:off x="50800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44" name="PageNo">
            <a:extLst>
              <a:ext uri="{FF2B5EF4-FFF2-40B4-BE49-F238E27FC236}">
                <a16:creationId xmlns:a16="http://schemas.microsoft.com/office/drawing/2014/main" id="{2486B7C3-279A-7AC8-994C-609157DAF57E}"/>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02 / 38</a:t>
            </a:r>
          </a:p>
        </p:txBody>
      </p:sp>
    </p:spTree>
    <p:extLst>
      <p:ext uri="{BB962C8B-B14F-4D97-AF65-F5344CB8AC3E}">
        <p14:creationId xmlns:p14="http://schemas.microsoft.com/office/powerpoint/2010/main" val="6104441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56D1D7B-6F6F-B6BF-DB30-3A936EEEC535}"/>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MX" sz="900" spc="180">
                <a:solidFill>
                  <a:srgbClr val="6A4F20"/>
                </a:solidFill>
                <a:latin typeface="Segoe UI Semibold" panose="020B0702040204020203" pitchFamily="34" charset="0"/>
              </a:rPr>
              <a:t>REPASO DE LA CLASE 6</a:t>
            </a:r>
            <a:endParaRPr lang="es-BO" sz="900" spc="180">
              <a:solidFill>
                <a:srgbClr val="6A4F20"/>
              </a:solidFill>
              <a:latin typeface="Segoe UI Semibold" panose="020B0702040204020203" pitchFamily="34" charset="0"/>
            </a:endParaRPr>
          </a:p>
        </p:txBody>
      </p:sp>
      <p:sp>
        <p:nvSpPr>
          <p:cNvPr id="3" name="Title">
            <a:extLst>
              <a:ext uri="{FF2B5EF4-FFF2-40B4-BE49-F238E27FC236}">
                <a16:creationId xmlns:a16="http://schemas.microsoft.com/office/drawing/2014/main" id="{C53B764A-20D1-E161-B223-130D180D6F37}"/>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Tres ideas que traemos de la clase anterior</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3099461A-2CD0-2DB4-A456-1C7BB23D51B2}"/>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6" name="Rectángulo 5">
            <a:extLst>
              <a:ext uri="{FF2B5EF4-FFF2-40B4-BE49-F238E27FC236}">
                <a16:creationId xmlns:a16="http://schemas.microsoft.com/office/drawing/2014/main" id="{82821F03-C27F-B32A-B18A-CA6A8B61B3D1}"/>
              </a:ext>
            </a:extLst>
          </p:cNvPr>
          <p:cNvSpPr/>
          <p:nvPr/>
        </p:nvSpPr>
        <p:spPr>
          <a:xfrm>
            <a:off x="609600" y="1498600"/>
            <a:ext cx="3454400" cy="3810000"/>
          </a:xfrm>
          <a:prstGeom prst="rect">
            <a:avLst/>
          </a:prstGeom>
          <a:solidFill>
            <a:srgbClr val="FFFFFF"/>
          </a:solidFill>
          <a:ln w="6350">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7" name="CuadroTexto 6">
            <a:extLst>
              <a:ext uri="{FF2B5EF4-FFF2-40B4-BE49-F238E27FC236}">
                <a16:creationId xmlns:a16="http://schemas.microsoft.com/office/drawing/2014/main" id="{1540C87E-C340-21C0-52EB-BC055ACEBFDA}"/>
              </a:ext>
            </a:extLst>
          </p:cNvPr>
          <p:cNvSpPr txBox="1"/>
          <p:nvPr/>
        </p:nvSpPr>
        <p:spPr>
          <a:xfrm>
            <a:off x="863600" y="1727200"/>
            <a:ext cx="1016000" cy="508000"/>
          </a:xfrm>
          <a:prstGeom prst="rect">
            <a:avLst/>
          </a:prstGeom>
          <a:noFill/>
        </p:spPr>
        <p:txBody>
          <a:bodyPr vert="horz" wrap="square" lIns="0" tIns="0" rIns="0" bIns="0" rtlCol="0" anchor="t">
            <a:noAutofit/>
          </a:bodyPr>
          <a:lstStyle/>
          <a:p>
            <a:r>
              <a:rPr lang="es-BO" sz="3400">
                <a:solidFill>
                  <a:srgbClr val="8A6A2F"/>
                </a:solidFill>
                <a:latin typeface="Bahnschrift Light" panose="020B0502040204020203" pitchFamily="34" charset="0"/>
              </a:rPr>
              <a:t>01</a:t>
            </a:r>
          </a:p>
        </p:txBody>
      </p:sp>
      <p:sp>
        <p:nvSpPr>
          <p:cNvPr id="8" name="CuadroTexto 7">
            <a:extLst>
              <a:ext uri="{FF2B5EF4-FFF2-40B4-BE49-F238E27FC236}">
                <a16:creationId xmlns:a16="http://schemas.microsoft.com/office/drawing/2014/main" id="{B9180572-64A6-40E7-1ADA-8ED6D407F792}"/>
              </a:ext>
            </a:extLst>
          </p:cNvPr>
          <p:cNvSpPr txBox="1"/>
          <p:nvPr/>
        </p:nvSpPr>
        <p:spPr>
          <a:xfrm>
            <a:off x="863600" y="2413000"/>
            <a:ext cx="2946400" cy="762000"/>
          </a:xfrm>
          <a:prstGeom prst="rect">
            <a:avLst/>
          </a:prstGeom>
          <a:noFill/>
        </p:spPr>
        <p:txBody>
          <a:bodyPr vert="horz" wrap="square" lIns="0" tIns="0" rIns="0" bIns="0" rtlCol="0" anchor="t">
            <a:noAutofit/>
          </a:bodyPr>
          <a:lstStyle/>
          <a:p>
            <a:r>
              <a:rPr lang="es-BO" sz="1600">
                <a:solidFill>
                  <a:srgbClr val="1C1813"/>
                </a:solidFill>
                <a:latin typeface="Bahnschrift SemiBold" panose="020B0502040204020203" pitchFamily="34" charset="0"/>
              </a:rPr>
              <a:t>Primero el principio</a:t>
            </a:r>
          </a:p>
        </p:txBody>
      </p:sp>
      <p:sp>
        <p:nvSpPr>
          <p:cNvPr id="9" name="CuadroTexto 8">
            <a:extLst>
              <a:ext uri="{FF2B5EF4-FFF2-40B4-BE49-F238E27FC236}">
                <a16:creationId xmlns:a16="http://schemas.microsoft.com/office/drawing/2014/main" id="{E35DB74A-1CC9-4C0A-FABD-38A8D32DAD1B}"/>
              </a:ext>
            </a:extLst>
          </p:cNvPr>
          <p:cNvSpPr txBox="1"/>
          <p:nvPr/>
        </p:nvSpPr>
        <p:spPr>
          <a:xfrm>
            <a:off x="863600" y="3251200"/>
            <a:ext cx="2946400" cy="713232"/>
          </a:xfrm>
          <a:prstGeom prst="rect">
            <a:avLst/>
          </a:prstGeom>
          <a:noFill/>
        </p:spPr>
        <p:txBody>
          <a:bodyPr vert="horz" wrap="square" lIns="0" tIns="0" rIns="0" bIns="0" rtlCol="0" anchor="t">
            <a:noAutofit/>
          </a:bodyPr>
          <a:lstStyle/>
          <a:p>
            <a:pPr algn="l"/>
            <a:r>
              <a:rPr lang="es-MX" sz="1100">
                <a:solidFill>
                  <a:srgbClr val="5A5248"/>
                </a:solidFill>
                <a:latin typeface="Segoe UI" panose="020B0502040204020203" pitchFamily="34" charset="0"/>
              </a:rPr>
              <a:t>EN 1504-9 da once. La viga V-3 necesitó cinco y la columna C-4 solo tres; el que sobraba era el más caro.</a:t>
            </a:r>
            <a:endParaRPr lang="es-BO" sz="1100">
              <a:solidFill>
                <a:srgbClr val="5A5248"/>
              </a:solidFill>
              <a:latin typeface="Segoe UI" panose="020B0502040204020203" pitchFamily="34" charset="0"/>
            </a:endParaRPr>
          </a:p>
        </p:txBody>
      </p:sp>
      <p:sp>
        <p:nvSpPr>
          <p:cNvPr id="10" name="Rectángulo 9">
            <a:extLst>
              <a:ext uri="{FF2B5EF4-FFF2-40B4-BE49-F238E27FC236}">
                <a16:creationId xmlns:a16="http://schemas.microsoft.com/office/drawing/2014/main" id="{EBDEF4D2-96C1-743B-CDDA-078C7D4574E8}"/>
              </a:ext>
            </a:extLst>
          </p:cNvPr>
          <p:cNvSpPr/>
          <p:nvPr/>
        </p:nvSpPr>
        <p:spPr>
          <a:xfrm>
            <a:off x="4368800" y="1498600"/>
            <a:ext cx="3454400" cy="3810000"/>
          </a:xfrm>
          <a:prstGeom prst="rect">
            <a:avLst/>
          </a:prstGeom>
          <a:solidFill>
            <a:srgbClr val="FFFFFF"/>
          </a:solidFill>
          <a:ln w="6350">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1" name="CuadroTexto 10">
            <a:extLst>
              <a:ext uri="{FF2B5EF4-FFF2-40B4-BE49-F238E27FC236}">
                <a16:creationId xmlns:a16="http://schemas.microsoft.com/office/drawing/2014/main" id="{3AE2AA72-906E-9ED6-3F2B-3D371A74C123}"/>
              </a:ext>
            </a:extLst>
          </p:cNvPr>
          <p:cNvSpPr txBox="1"/>
          <p:nvPr/>
        </p:nvSpPr>
        <p:spPr>
          <a:xfrm>
            <a:off x="4622800" y="1727200"/>
            <a:ext cx="1016000" cy="508000"/>
          </a:xfrm>
          <a:prstGeom prst="rect">
            <a:avLst/>
          </a:prstGeom>
          <a:noFill/>
        </p:spPr>
        <p:txBody>
          <a:bodyPr vert="horz" wrap="square" lIns="0" tIns="0" rIns="0" bIns="0" rtlCol="0" anchor="t">
            <a:noAutofit/>
          </a:bodyPr>
          <a:lstStyle/>
          <a:p>
            <a:r>
              <a:rPr lang="es-BO" sz="3400">
                <a:solidFill>
                  <a:srgbClr val="8A6A2F"/>
                </a:solidFill>
                <a:latin typeface="Bahnschrift Light" panose="020B0502040204020203" pitchFamily="34" charset="0"/>
              </a:rPr>
              <a:t>02</a:t>
            </a:r>
          </a:p>
        </p:txBody>
      </p:sp>
      <p:sp>
        <p:nvSpPr>
          <p:cNvPr id="12" name="CuadroTexto 11">
            <a:extLst>
              <a:ext uri="{FF2B5EF4-FFF2-40B4-BE49-F238E27FC236}">
                <a16:creationId xmlns:a16="http://schemas.microsoft.com/office/drawing/2014/main" id="{CFA9175F-40BC-CDFD-495A-D1A60637B2B9}"/>
              </a:ext>
            </a:extLst>
          </p:cNvPr>
          <p:cNvSpPr txBox="1"/>
          <p:nvPr/>
        </p:nvSpPr>
        <p:spPr>
          <a:xfrm>
            <a:off x="4622800" y="2413000"/>
            <a:ext cx="2946400" cy="762000"/>
          </a:xfrm>
          <a:prstGeom prst="rect">
            <a:avLst/>
          </a:prstGeom>
          <a:noFill/>
        </p:spPr>
        <p:txBody>
          <a:bodyPr vert="horz" wrap="square" lIns="0" tIns="0" rIns="0" bIns="0" rtlCol="0" anchor="t">
            <a:noAutofit/>
          </a:bodyPr>
          <a:lstStyle/>
          <a:p>
            <a:r>
              <a:rPr lang="es-BO" sz="1600">
                <a:solidFill>
                  <a:srgbClr val="1C1813"/>
                </a:solidFill>
                <a:latin typeface="Bahnschrift SemiBold" panose="020B0502040204020203" pitchFamily="34" charset="0"/>
              </a:rPr>
              <a:t>El ánodo incipiente</a:t>
            </a:r>
          </a:p>
        </p:txBody>
      </p:sp>
      <p:sp>
        <p:nvSpPr>
          <p:cNvPr id="13" name="CuadroTexto 12">
            <a:extLst>
              <a:ext uri="{FF2B5EF4-FFF2-40B4-BE49-F238E27FC236}">
                <a16:creationId xmlns:a16="http://schemas.microsoft.com/office/drawing/2014/main" id="{BC6355ED-3367-8117-235D-6B39AC2CDDFA}"/>
              </a:ext>
            </a:extLst>
          </p:cNvPr>
          <p:cNvSpPr txBox="1"/>
          <p:nvPr/>
        </p:nvSpPr>
        <p:spPr>
          <a:xfrm>
            <a:off x="4622800" y="3251200"/>
            <a:ext cx="2946400" cy="713232"/>
          </a:xfrm>
          <a:prstGeom prst="rect">
            <a:avLst/>
          </a:prstGeom>
          <a:noFill/>
        </p:spPr>
        <p:txBody>
          <a:bodyPr vert="horz" wrap="square" lIns="0" tIns="0" rIns="0" bIns="0" rtlCol="0" anchor="t">
            <a:noAutofit/>
          </a:bodyPr>
          <a:lstStyle/>
          <a:p>
            <a:pPr algn="l"/>
            <a:r>
              <a:rPr lang="es-MX" sz="1100">
                <a:solidFill>
                  <a:srgbClr val="5A5248"/>
                </a:solidFill>
                <a:latin typeface="Segoe UI" panose="020B0502040204020203" pitchFamily="34" charset="0"/>
              </a:rPr>
              <a:t>Reparar con cloruros sin controlar las áreas anódicas provoca daño nuevo en el borde en seis a veinticuatro meses.</a:t>
            </a:r>
            <a:endParaRPr lang="es-BO" sz="1100">
              <a:solidFill>
                <a:srgbClr val="5A5248"/>
              </a:solidFill>
              <a:latin typeface="Segoe UI" panose="020B0502040204020203" pitchFamily="34" charset="0"/>
            </a:endParaRPr>
          </a:p>
        </p:txBody>
      </p:sp>
      <p:sp>
        <p:nvSpPr>
          <p:cNvPr id="14" name="Rectángulo 13">
            <a:extLst>
              <a:ext uri="{FF2B5EF4-FFF2-40B4-BE49-F238E27FC236}">
                <a16:creationId xmlns:a16="http://schemas.microsoft.com/office/drawing/2014/main" id="{9B8A9EE7-9E64-757E-1B9D-2B3225648AED}"/>
              </a:ext>
            </a:extLst>
          </p:cNvPr>
          <p:cNvSpPr/>
          <p:nvPr/>
        </p:nvSpPr>
        <p:spPr>
          <a:xfrm>
            <a:off x="8128000" y="1498600"/>
            <a:ext cx="3454400" cy="3810000"/>
          </a:xfrm>
          <a:prstGeom prst="rect">
            <a:avLst/>
          </a:prstGeom>
          <a:solidFill>
            <a:srgbClr val="FFFFFF"/>
          </a:solidFill>
          <a:ln w="6350">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5" name="CuadroTexto 14">
            <a:extLst>
              <a:ext uri="{FF2B5EF4-FFF2-40B4-BE49-F238E27FC236}">
                <a16:creationId xmlns:a16="http://schemas.microsoft.com/office/drawing/2014/main" id="{ACCFB4DA-F233-A03C-82E5-B5E4484C509D}"/>
              </a:ext>
            </a:extLst>
          </p:cNvPr>
          <p:cNvSpPr txBox="1"/>
          <p:nvPr/>
        </p:nvSpPr>
        <p:spPr>
          <a:xfrm>
            <a:off x="8382000" y="1727200"/>
            <a:ext cx="1016000" cy="508000"/>
          </a:xfrm>
          <a:prstGeom prst="rect">
            <a:avLst/>
          </a:prstGeom>
          <a:noFill/>
        </p:spPr>
        <p:txBody>
          <a:bodyPr vert="horz" wrap="square" lIns="0" tIns="0" rIns="0" bIns="0" rtlCol="0" anchor="t">
            <a:noAutofit/>
          </a:bodyPr>
          <a:lstStyle/>
          <a:p>
            <a:r>
              <a:rPr lang="es-BO" sz="3400">
                <a:solidFill>
                  <a:srgbClr val="8A6A2F"/>
                </a:solidFill>
                <a:latin typeface="Bahnschrift Light" panose="020B0502040204020203" pitchFamily="34" charset="0"/>
              </a:rPr>
              <a:t>03</a:t>
            </a:r>
          </a:p>
        </p:txBody>
      </p:sp>
      <p:sp>
        <p:nvSpPr>
          <p:cNvPr id="16" name="CuadroTexto 15">
            <a:extLst>
              <a:ext uri="{FF2B5EF4-FFF2-40B4-BE49-F238E27FC236}">
                <a16:creationId xmlns:a16="http://schemas.microsoft.com/office/drawing/2014/main" id="{8EC5310A-9795-F085-38A1-79240F2293BE}"/>
              </a:ext>
            </a:extLst>
          </p:cNvPr>
          <p:cNvSpPr txBox="1"/>
          <p:nvPr/>
        </p:nvSpPr>
        <p:spPr>
          <a:xfrm>
            <a:off x="8382000" y="2413000"/>
            <a:ext cx="2946400" cy="762000"/>
          </a:xfrm>
          <a:prstGeom prst="rect">
            <a:avLst/>
          </a:prstGeom>
          <a:noFill/>
        </p:spPr>
        <p:txBody>
          <a:bodyPr vert="horz" wrap="square" lIns="0" tIns="0" rIns="0" bIns="0" rtlCol="0" anchor="t">
            <a:noAutofit/>
          </a:bodyPr>
          <a:lstStyle/>
          <a:p>
            <a:r>
              <a:rPr lang="es-BO" sz="1600">
                <a:solidFill>
                  <a:srgbClr val="1C1813"/>
                </a:solidFill>
                <a:latin typeface="Bahnschrift SemiBold" panose="020B0502040204020203" pitchFamily="34" charset="0"/>
              </a:rPr>
              <a:t>El modo de rotura</a:t>
            </a:r>
          </a:p>
        </p:txBody>
      </p:sp>
      <p:sp>
        <p:nvSpPr>
          <p:cNvPr id="17" name="CuadroTexto 16">
            <a:extLst>
              <a:ext uri="{FF2B5EF4-FFF2-40B4-BE49-F238E27FC236}">
                <a16:creationId xmlns:a16="http://schemas.microsoft.com/office/drawing/2014/main" id="{B0C8C8E6-1ED3-3714-3803-26EF879EB8F9}"/>
              </a:ext>
            </a:extLst>
          </p:cNvPr>
          <p:cNvSpPr txBox="1"/>
          <p:nvPr/>
        </p:nvSpPr>
        <p:spPr>
          <a:xfrm>
            <a:off x="8382000" y="3251200"/>
            <a:ext cx="2946400" cy="713232"/>
          </a:xfrm>
          <a:prstGeom prst="rect">
            <a:avLst/>
          </a:prstGeom>
          <a:noFill/>
        </p:spPr>
        <p:txBody>
          <a:bodyPr vert="horz" wrap="square" lIns="0" tIns="0" rIns="0" bIns="0" rtlCol="0" anchor="t">
            <a:noAutofit/>
          </a:bodyPr>
          <a:lstStyle/>
          <a:p>
            <a:pPr algn="l"/>
            <a:r>
              <a:rPr lang="es-MX" sz="1100">
                <a:solidFill>
                  <a:srgbClr val="5A5248"/>
                </a:solidFill>
                <a:latin typeface="Segoe UI" panose="020B0502040204020203" pitchFamily="34" charset="0"/>
              </a:rPr>
              <a:t>En el ensayo de arrancamiento dice más que el número: cohesiva en el sustrato no es defecto de la reparación.</a:t>
            </a:r>
            <a:endParaRPr lang="es-BO" sz="1100">
              <a:solidFill>
                <a:srgbClr val="5A5248"/>
              </a:solidFill>
              <a:latin typeface="Segoe UI" panose="020B0502040204020203" pitchFamily="34" charset="0"/>
            </a:endParaRPr>
          </a:p>
        </p:txBody>
      </p:sp>
      <p:pic>
        <p:nvPicPr>
          <p:cNvPr id="25" name="Ilustración 1" descr="Principios de EN 1504-9 usados: cinco en V-3 y tres en C-4"/>
          <p:cNvPicPr>
            <a:picLocks noChangeAspect="1"/>
          </p:cNvPicPr>
          <p:nvPr/>
        </p:nvPicPr>
        <p:blipFill>
          <a:blip r:embed="rId100"/>
          <a:stretch>
            <a:fillRect/>
          </a:stretch>
        </p:blipFill>
        <p:spPr>
          <a:xfrm>
            <a:off x="868680" y="4005072"/>
            <a:ext cx="2944368" cy="1143000"/>
          </a:xfrm>
          <a:prstGeom prst="rect">
            <a:avLst/>
          </a:prstGeom>
        </p:spPr>
      </p:pic>
      <p:pic>
        <p:nvPicPr>
          <p:cNvPr id="26" name="Ilustración 2" descr="Daño nuevo en el borde del parche entre 6 y 24 meses"/>
          <p:cNvPicPr>
            <a:picLocks noChangeAspect="1"/>
          </p:cNvPicPr>
          <p:nvPr/>
        </p:nvPicPr>
        <p:blipFill>
          <a:blip r:embed="rId101"/>
          <a:stretch>
            <a:fillRect/>
          </a:stretch>
        </p:blipFill>
        <p:spPr>
          <a:xfrm>
            <a:off x="4626864" y="4005072"/>
            <a:ext cx="2944368" cy="1143000"/>
          </a:xfrm>
          <a:prstGeom prst="rect">
            <a:avLst/>
          </a:prstGeom>
        </p:spPr>
      </p:pic>
      <p:pic>
        <p:nvPicPr>
          <p:cNvPr id="27" name="Ilustración 3" descr="Arrancamiento con rotura cohesiva en el hormigón viejo"/>
          <p:cNvPicPr>
            <a:picLocks noChangeAspect="1"/>
          </p:cNvPicPr>
          <p:nvPr/>
        </p:nvPicPr>
        <p:blipFill>
          <a:blip r:embed="rId102"/>
          <a:stretch>
            <a:fillRect/>
          </a:stretch>
        </p:blipFill>
        <p:spPr>
          <a:xfrm>
            <a:off x="8385048" y="4005072"/>
            <a:ext cx="2944368" cy="1143000"/>
          </a:xfrm>
          <a:prstGeom prst="rect">
            <a:avLst/>
          </a:prstGeom>
        </p:spPr>
      </p:pic>
      <p:sp>
        <p:nvSpPr>
          <p:cNvPr id="18" name="Rectángulo 17">
            <a:extLst>
              <a:ext uri="{FF2B5EF4-FFF2-40B4-BE49-F238E27FC236}">
                <a16:creationId xmlns:a16="http://schemas.microsoft.com/office/drawing/2014/main" id="{0CE66B2E-803B-7298-0E6C-BDE90B20653D}"/>
              </a:ext>
            </a:extLst>
          </p:cNvPr>
          <p:cNvSpPr/>
          <p:nvPr/>
        </p:nvSpPr>
        <p:spPr>
          <a:xfrm>
            <a:off x="609600" y="5537200"/>
            <a:ext cx="10972800" cy="609600"/>
          </a:xfrm>
          <a:prstGeom prst="rect">
            <a:avLst/>
          </a:prstGeom>
          <a:solidFill>
            <a:srgbClr val="241F1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0" name="CuadroTexto 19">
            <a:extLst>
              <a:ext uri="{FF2B5EF4-FFF2-40B4-BE49-F238E27FC236}">
                <a16:creationId xmlns:a16="http://schemas.microsoft.com/office/drawing/2014/main" id="{59AD72F4-AB3D-7D09-F626-D382ADF9F590}"/>
              </a:ext>
            </a:extLst>
          </p:cNvPr>
          <p:cNvSpPr txBox="1"/>
          <p:nvPr/>
        </p:nvSpPr>
        <p:spPr>
          <a:xfrm>
            <a:off x="838200" y="5588000"/>
            <a:ext cx="10566400" cy="508000"/>
          </a:xfrm>
          <a:prstGeom prst="rect">
            <a:avLst/>
          </a:prstGeom>
          <a:noFill/>
        </p:spPr>
        <p:txBody>
          <a:bodyPr vert="horz" wrap="square" lIns="0" tIns="0" rIns="0" bIns="0" rtlCol="0" anchor="ctr">
            <a:noAutofit/>
          </a:bodyPr>
          <a:lstStyle/>
          <a:p>
            <a:pPr algn="l"/>
            <a:r>
              <a:rPr lang="es-MX" sz="1200">
                <a:solidFill>
                  <a:srgbClr val="FFFFFF"/>
                </a:solidFill>
                <a:latin typeface="Segoe UI" panose="020B0502040204020203" pitchFamily="34" charset="0"/>
              </a:rPr>
              <a:t>Pregunta de apertura: ¿qué aplicaste o qué observaste en tu trabajo desde la última clase?</a:t>
            </a:r>
            <a:endParaRPr lang="es-BO" sz="1200">
              <a:solidFill>
                <a:srgbClr val="FFFFFF"/>
              </a:solidFill>
              <a:latin typeface="Segoe UI" panose="020B0502040204020203" pitchFamily="34" charset="0"/>
            </a:endParaRPr>
          </a:p>
        </p:txBody>
      </p:sp>
      <p:cxnSp>
        <p:nvCxnSpPr>
          <p:cNvPr id="21" name="Conector recto 20">
            <a:extLst>
              <a:ext uri="{FF2B5EF4-FFF2-40B4-BE49-F238E27FC236}">
                <a16:creationId xmlns:a16="http://schemas.microsoft.com/office/drawing/2014/main" id="{8CE588A8-6522-B0B6-1974-251FAA484DDA}"/>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22" name="CuadroTexto 21">
            <a:extLst>
              <a:ext uri="{FF2B5EF4-FFF2-40B4-BE49-F238E27FC236}">
                <a16:creationId xmlns:a16="http://schemas.microsoft.com/office/drawing/2014/main" id="{8B7F9A5A-7371-3153-AD47-07FF6AD16EA9}"/>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23" name="CuadroTexto 22">
            <a:extLst>
              <a:ext uri="{FF2B5EF4-FFF2-40B4-BE49-F238E27FC236}">
                <a16:creationId xmlns:a16="http://schemas.microsoft.com/office/drawing/2014/main" id="{A3E589BC-B5DA-FC50-D40D-56CC125CE2C4}"/>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24" name="PageNo">
            <a:extLst>
              <a:ext uri="{FF2B5EF4-FFF2-40B4-BE49-F238E27FC236}">
                <a16:creationId xmlns:a16="http://schemas.microsoft.com/office/drawing/2014/main" id="{0475AE61-9E87-1377-7E42-FB61BC768C48}"/>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03 / 38</a:t>
            </a:r>
          </a:p>
        </p:txBody>
      </p:sp>
    </p:spTree>
    <p:extLst>
      <p:ext uri="{BB962C8B-B14F-4D97-AF65-F5344CB8AC3E}">
        <p14:creationId xmlns:p14="http://schemas.microsoft.com/office/powerpoint/2010/main" val="2815037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EEF3E504-AD36-AA1D-3D97-31F72E9D3530}"/>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BO" sz="900" spc="180">
                <a:solidFill>
                  <a:srgbClr val="6A4F20"/>
                </a:solidFill>
                <a:latin typeface="Segoe UI Semibold" panose="020B0702040204020203" pitchFamily="34" charset="0"/>
              </a:rPr>
              <a:t>MAPA DE LA CLASE</a:t>
            </a:r>
          </a:p>
        </p:txBody>
      </p:sp>
      <p:sp>
        <p:nvSpPr>
          <p:cNvPr id="3" name="Title">
            <a:extLst>
              <a:ext uri="{FF2B5EF4-FFF2-40B4-BE49-F238E27FC236}">
                <a16:creationId xmlns:a16="http://schemas.microsoft.com/office/drawing/2014/main" id="{8F3F4841-CCBC-477B-C405-995E33519661}"/>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Reforzar es la última opción, no la primera</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1E5B2A16-2B14-A2E5-C7E6-AD62C3718F10}"/>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cxnSp>
        <p:nvCxnSpPr>
          <p:cNvPr id="6" name="Conector recto 5">
            <a:extLst>
              <a:ext uri="{FF2B5EF4-FFF2-40B4-BE49-F238E27FC236}">
                <a16:creationId xmlns:a16="http://schemas.microsoft.com/office/drawing/2014/main" id="{7DA01B67-9057-6AF1-3472-7C95ED4EEAF6}"/>
              </a:ext>
            </a:extLst>
          </p:cNvPr>
          <p:cNvCxnSpPr/>
          <p:nvPr/>
        </p:nvCxnSpPr>
        <p:spPr>
          <a:xfrm>
            <a:off x="1917700" y="1841500"/>
            <a:ext cx="1625600" cy="0"/>
          </a:xfrm>
          <a:prstGeom prst="line">
            <a:avLst/>
          </a:prstGeom>
          <a:ln w="12700">
            <a:solidFill>
              <a:srgbClr val="DCD5C7"/>
            </a:solidFill>
            <a:prstDash val="solid"/>
          </a:ln>
        </p:spPr>
        <p:style>
          <a:lnRef idx="1">
            <a:schemeClr val="accent1"/>
          </a:lnRef>
          <a:fillRef idx="0">
            <a:schemeClr val="accent1"/>
          </a:fillRef>
          <a:effectRef idx="0">
            <a:schemeClr val="accent1"/>
          </a:effectRef>
          <a:fontRef idx="minor">
            <a:schemeClr val="tx1"/>
          </a:fontRef>
        </p:style>
      </p:cxnSp>
      <p:cxnSp>
        <p:nvCxnSpPr>
          <p:cNvPr id="7" name="Conector recto 6">
            <a:extLst>
              <a:ext uri="{FF2B5EF4-FFF2-40B4-BE49-F238E27FC236}">
                <a16:creationId xmlns:a16="http://schemas.microsoft.com/office/drawing/2014/main" id="{1F423056-86E2-D98A-F00B-0EA72EBC5B57}"/>
              </a:ext>
            </a:extLst>
          </p:cNvPr>
          <p:cNvCxnSpPr/>
          <p:nvPr/>
        </p:nvCxnSpPr>
        <p:spPr>
          <a:xfrm>
            <a:off x="4152900" y="1841500"/>
            <a:ext cx="1625600" cy="0"/>
          </a:xfrm>
          <a:prstGeom prst="line">
            <a:avLst/>
          </a:prstGeom>
          <a:ln w="12700">
            <a:solidFill>
              <a:srgbClr val="DCD5C7"/>
            </a:solidFill>
            <a:prstDash val="solid"/>
          </a:ln>
        </p:spPr>
        <p:style>
          <a:lnRef idx="1">
            <a:schemeClr val="accent1"/>
          </a:lnRef>
          <a:fillRef idx="0">
            <a:schemeClr val="accent1"/>
          </a:fillRef>
          <a:effectRef idx="0">
            <a:schemeClr val="accent1"/>
          </a:effectRef>
          <a:fontRef idx="minor">
            <a:schemeClr val="tx1"/>
          </a:fontRef>
        </p:style>
      </p:cxnSp>
      <p:cxnSp>
        <p:nvCxnSpPr>
          <p:cNvPr id="8" name="Conector recto 7">
            <a:extLst>
              <a:ext uri="{FF2B5EF4-FFF2-40B4-BE49-F238E27FC236}">
                <a16:creationId xmlns:a16="http://schemas.microsoft.com/office/drawing/2014/main" id="{01B91923-3C0C-57E5-B806-E80E7162DD6F}"/>
              </a:ext>
            </a:extLst>
          </p:cNvPr>
          <p:cNvCxnSpPr/>
          <p:nvPr/>
        </p:nvCxnSpPr>
        <p:spPr>
          <a:xfrm>
            <a:off x="6388100" y="1841500"/>
            <a:ext cx="1625600" cy="0"/>
          </a:xfrm>
          <a:prstGeom prst="line">
            <a:avLst/>
          </a:prstGeom>
          <a:ln w="12700">
            <a:solidFill>
              <a:srgbClr val="DCD5C7"/>
            </a:solidFill>
            <a:prstDash val="solid"/>
          </a:ln>
        </p:spPr>
        <p:style>
          <a:lnRef idx="1">
            <a:schemeClr val="accent1"/>
          </a:lnRef>
          <a:fillRef idx="0">
            <a:schemeClr val="accent1"/>
          </a:fillRef>
          <a:effectRef idx="0">
            <a:schemeClr val="accent1"/>
          </a:effectRef>
          <a:fontRef idx="minor">
            <a:schemeClr val="tx1"/>
          </a:fontRef>
        </p:style>
      </p:cxnSp>
      <p:cxnSp>
        <p:nvCxnSpPr>
          <p:cNvPr id="9" name="Conector recto 8">
            <a:extLst>
              <a:ext uri="{FF2B5EF4-FFF2-40B4-BE49-F238E27FC236}">
                <a16:creationId xmlns:a16="http://schemas.microsoft.com/office/drawing/2014/main" id="{FAC68583-9C9F-E437-6697-816D3AEBE10E}"/>
              </a:ext>
            </a:extLst>
          </p:cNvPr>
          <p:cNvCxnSpPr/>
          <p:nvPr/>
        </p:nvCxnSpPr>
        <p:spPr>
          <a:xfrm>
            <a:off x="8623300" y="1841500"/>
            <a:ext cx="1625600" cy="0"/>
          </a:xfrm>
          <a:prstGeom prst="line">
            <a:avLst/>
          </a:prstGeom>
          <a:ln w="1270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10" name="Elipse 9">
            <a:extLst>
              <a:ext uri="{FF2B5EF4-FFF2-40B4-BE49-F238E27FC236}">
                <a16:creationId xmlns:a16="http://schemas.microsoft.com/office/drawing/2014/main" id="{A8BB6CFB-530F-CCA6-02E7-27B801BB940E}"/>
              </a:ext>
            </a:extLst>
          </p:cNvPr>
          <p:cNvSpPr/>
          <p:nvPr/>
        </p:nvSpPr>
        <p:spPr>
          <a:xfrm>
            <a:off x="1397000" y="1625600"/>
            <a:ext cx="431800" cy="4318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300">
                <a:solidFill>
                  <a:srgbClr val="FFFFFF"/>
                </a:solidFill>
                <a:latin typeface="Bahnschrift SemiBold" panose="020B0502040204020203" pitchFamily="34" charset="0"/>
              </a:rPr>
              <a:t>01</a:t>
            </a:r>
          </a:p>
        </p:txBody>
      </p:sp>
      <p:sp>
        <p:nvSpPr>
          <p:cNvPr id="11" name="CuadroTexto 10">
            <a:extLst>
              <a:ext uri="{FF2B5EF4-FFF2-40B4-BE49-F238E27FC236}">
                <a16:creationId xmlns:a16="http://schemas.microsoft.com/office/drawing/2014/main" id="{802A9949-2640-2990-1680-43136B773832}"/>
              </a:ext>
            </a:extLst>
          </p:cNvPr>
          <p:cNvSpPr txBox="1"/>
          <p:nvPr/>
        </p:nvSpPr>
        <p:spPr>
          <a:xfrm>
            <a:off x="609600" y="2260600"/>
            <a:ext cx="1981200" cy="508000"/>
          </a:xfrm>
          <a:prstGeom prst="rect">
            <a:avLst/>
          </a:prstGeom>
          <a:noFill/>
        </p:spPr>
        <p:txBody>
          <a:bodyPr vert="horz" wrap="square" lIns="0" tIns="0" rIns="0" bIns="0" rtlCol="0" anchor="t">
            <a:noAutofit/>
          </a:bodyPr>
          <a:lstStyle/>
          <a:p>
            <a:pPr algn="ctr"/>
            <a:r>
              <a:rPr lang="es-BO" sz="1250">
                <a:solidFill>
                  <a:srgbClr val="1C1813"/>
                </a:solidFill>
                <a:latin typeface="Bahnschrift SemiBold" panose="020B0502040204020203" pitchFamily="34" charset="0"/>
              </a:rPr>
              <a:t>La demanda</a:t>
            </a:r>
          </a:p>
        </p:txBody>
      </p:sp>
      <p:sp>
        <p:nvSpPr>
          <p:cNvPr id="12" name="CuadroTexto 11">
            <a:extLst>
              <a:ext uri="{FF2B5EF4-FFF2-40B4-BE49-F238E27FC236}">
                <a16:creationId xmlns:a16="http://schemas.microsoft.com/office/drawing/2014/main" id="{0D7736DE-2102-90AB-9890-CDEA9FC9407F}"/>
              </a:ext>
            </a:extLst>
          </p:cNvPr>
          <p:cNvSpPr txBox="1"/>
          <p:nvPr/>
        </p:nvSpPr>
        <p:spPr>
          <a:xfrm>
            <a:off x="609600" y="2819400"/>
            <a:ext cx="1981200" cy="1219200"/>
          </a:xfrm>
          <a:prstGeom prst="rect">
            <a:avLst/>
          </a:prstGeom>
          <a:noFill/>
        </p:spPr>
        <p:txBody>
          <a:bodyPr vert="horz" wrap="square" lIns="0" tIns="0" rIns="0" bIns="0" rtlCol="0" anchor="t">
            <a:noAutofit/>
          </a:bodyPr>
          <a:lstStyle/>
          <a:p>
            <a:pPr algn="ctr"/>
            <a:r>
              <a:rPr lang="es-MX" sz="1100">
                <a:solidFill>
                  <a:srgbClr val="5A5248"/>
                </a:solidFill>
                <a:latin typeface="Segoe UI" panose="020B0502040204020203" pitchFamily="34" charset="0"/>
              </a:rPr>
              <a:t>Qué se le va a pedir de verdad al elemento, con la combinación y el código vigentes.</a:t>
            </a:r>
            <a:endParaRPr lang="es-BO" sz="1100">
              <a:solidFill>
                <a:srgbClr val="5A5248"/>
              </a:solidFill>
              <a:latin typeface="Segoe UI" panose="020B0502040204020203" pitchFamily="34" charset="0"/>
            </a:endParaRPr>
          </a:p>
        </p:txBody>
      </p:sp>
      <p:sp>
        <p:nvSpPr>
          <p:cNvPr id="13" name="Elipse 12">
            <a:extLst>
              <a:ext uri="{FF2B5EF4-FFF2-40B4-BE49-F238E27FC236}">
                <a16:creationId xmlns:a16="http://schemas.microsoft.com/office/drawing/2014/main" id="{C78BBF62-6665-4B82-A401-0E93D8002516}"/>
              </a:ext>
            </a:extLst>
          </p:cNvPr>
          <p:cNvSpPr/>
          <p:nvPr/>
        </p:nvSpPr>
        <p:spPr>
          <a:xfrm>
            <a:off x="3632200" y="1625600"/>
            <a:ext cx="431800" cy="4318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300">
                <a:solidFill>
                  <a:srgbClr val="FFFFFF"/>
                </a:solidFill>
                <a:latin typeface="Bahnschrift SemiBold" panose="020B0502040204020203" pitchFamily="34" charset="0"/>
              </a:rPr>
              <a:t>02</a:t>
            </a:r>
          </a:p>
        </p:txBody>
      </p:sp>
      <p:sp>
        <p:nvSpPr>
          <p:cNvPr id="14" name="CuadroTexto 13">
            <a:extLst>
              <a:ext uri="{FF2B5EF4-FFF2-40B4-BE49-F238E27FC236}">
                <a16:creationId xmlns:a16="http://schemas.microsoft.com/office/drawing/2014/main" id="{A4BA0EE0-931B-79F6-E159-46152CEAB8F4}"/>
              </a:ext>
            </a:extLst>
          </p:cNvPr>
          <p:cNvSpPr txBox="1"/>
          <p:nvPr/>
        </p:nvSpPr>
        <p:spPr>
          <a:xfrm>
            <a:off x="2844800" y="2260600"/>
            <a:ext cx="1981200" cy="508000"/>
          </a:xfrm>
          <a:prstGeom prst="rect">
            <a:avLst/>
          </a:prstGeom>
          <a:noFill/>
        </p:spPr>
        <p:txBody>
          <a:bodyPr vert="horz" wrap="square" lIns="0" tIns="0" rIns="0" bIns="0" rtlCol="0" anchor="t">
            <a:noAutofit/>
          </a:bodyPr>
          <a:lstStyle/>
          <a:p>
            <a:pPr algn="ctr"/>
            <a:r>
              <a:rPr lang="es-BO" sz="1250">
                <a:solidFill>
                  <a:srgbClr val="1C1813"/>
                </a:solidFill>
                <a:latin typeface="Bahnschrift SemiBold" panose="020B0502040204020203" pitchFamily="34" charset="0"/>
              </a:rPr>
              <a:t>La capacidad</a:t>
            </a:r>
          </a:p>
        </p:txBody>
      </p:sp>
      <p:sp>
        <p:nvSpPr>
          <p:cNvPr id="15" name="CuadroTexto 14">
            <a:extLst>
              <a:ext uri="{FF2B5EF4-FFF2-40B4-BE49-F238E27FC236}">
                <a16:creationId xmlns:a16="http://schemas.microsoft.com/office/drawing/2014/main" id="{0E9C94AC-4F07-30ED-FEE4-A1D7C63C1450}"/>
              </a:ext>
            </a:extLst>
          </p:cNvPr>
          <p:cNvSpPr txBox="1"/>
          <p:nvPr/>
        </p:nvSpPr>
        <p:spPr>
          <a:xfrm>
            <a:off x="2844800" y="2819400"/>
            <a:ext cx="1981200" cy="1219200"/>
          </a:xfrm>
          <a:prstGeom prst="rect">
            <a:avLst/>
          </a:prstGeom>
          <a:noFill/>
        </p:spPr>
        <p:txBody>
          <a:bodyPr vert="horz" wrap="square" lIns="0" tIns="0" rIns="0" bIns="0" rtlCol="0" anchor="t">
            <a:noAutofit/>
          </a:bodyPr>
          <a:lstStyle/>
          <a:p>
            <a:pPr algn="ctr"/>
            <a:r>
              <a:rPr lang="es-MX" sz="1100">
                <a:solidFill>
                  <a:srgbClr val="5A5248"/>
                </a:solidFill>
                <a:latin typeface="Segoe UI" panose="020B0502040204020203" pitchFamily="34" charset="0"/>
              </a:rPr>
              <a:t>Con las propiedades medidas en la clase 5, no con las de proyecto.</a:t>
            </a:r>
            <a:endParaRPr lang="es-BO" sz="1100">
              <a:solidFill>
                <a:srgbClr val="5A5248"/>
              </a:solidFill>
              <a:latin typeface="Segoe UI" panose="020B0502040204020203" pitchFamily="34" charset="0"/>
            </a:endParaRPr>
          </a:p>
        </p:txBody>
      </p:sp>
      <p:sp>
        <p:nvSpPr>
          <p:cNvPr id="16" name="Elipse 15">
            <a:extLst>
              <a:ext uri="{FF2B5EF4-FFF2-40B4-BE49-F238E27FC236}">
                <a16:creationId xmlns:a16="http://schemas.microsoft.com/office/drawing/2014/main" id="{2D45EB7F-EA7F-DFB1-298C-918AA80997B2}"/>
              </a:ext>
            </a:extLst>
          </p:cNvPr>
          <p:cNvSpPr/>
          <p:nvPr/>
        </p:nvSpPr>
        <p:spPr>
          <a:xfrm>
            <a:off x="5867400" y="1625600"/>
            <a:ext cx="431800" cy="4318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300">
                <a:solidFill>
                  <a:srgbClr val="FFFFFF"/>
                </a:solidFill>
                <a:latin typeface="Bahnschrift SemiBold" panose="020B0502040204020203" pitchFamily="34" charset="0"/>
              </a:rPr>
              <a:t>03</a:t>
            </a:r>
          </a:p>
        </p:txBody>
      </p:sp>
      <p:sp>
        <p:nvSpPr>
          <p:cNvPr id="17" name="CuadroTexto 16">
            <a:extLst>
              <a:ext uri="{FF2B5EF4-FFF2-40B4-BE49-F238E27FC236}">
                <a16:creationId xmlns:a16="http://schemas.microsoft.com/office/drawing/2014/main" id="{A6CE9763-3B37-0136-5CED-8ED71F0CB6E3}"/>
              </a:ext>
            </a:extLst>
          </p:cNvPr>
          <p:cNvSpPr txBox="1"/>
          <p:nvPr/>
        </p:nvSpPr>
        <p:spPr>
          <a:xfrm>
            <a:off x="5080000" y="2260600"/>
            <a:ext cx="1981200" cy="508000"/>
          </a:xfrm>
          <a:prstGeom prst="rect">
            <a:avLst/>
          </a:prstGeom>
          <a:noFill/>
        </p:spPr>
        <p:txBody>
          <a:bodyPr vert="horz" wrap="square" lIns="0" tIns="0" rIns="0" bIns="0" rtlCol="0" anchor="t">
            <a:noAutofit/>
          </a:bodyPr>
          <a:lstStyle/>
          <a:p>
            <a:pPr algn="ctr"/>
            <a:r>
              <a:rPr lang="es-BO" sz="1250">
                <a:solidFill>
                  <a:srgbClr val="1C1813"/>
                </a:solidFill>
                <a:latin typeface="Bahnschrift SemiBold" panose="020B0502040204020203" pitchFamily="34" charset="0"/>
              </a:rPr>
              <a:t>La comparación</a:t>
            </a:r>
          </a:p>
        </p:txBody>
      </p:sp>
      <p:sp>
        <p:nvSpPr>
          <p:cNvPr id="18" name="CuadroTexto 17">
            <a:extLst>
              <a:ext uri="{FF2B5EF4-FFF2-40B4-BE49-F238E27FC236}">
                <a16:creationId xmlns:a16="http://schemas.microsoft.com/office/drawing/2014/main" id="{4B961D55-C02D-8C78-F063-8895A395B126}"/>
              </a:ext>
            </a:extLst>
          </p:cNvPr>
          <p:cNvSpPr txBox="1"/>
          <p:nvPr/>
        </p:nvSpPr>
        <p:spPr>
          <a:xfrm>
            <a:off x="5080000" y="2819400"/>
            <a:ext cx="1981200" cy="1219200"/>
          </a:xfrm>
          <a:prstGeom prst="rect">
            <a:avLst/>
          </a:prstGeom>
          <a:noFill/>
        </p:spPr>
        <p:txBody>
          <a:bodyPr vert="horz" wrap="square" lIns="0" tIns="0" rIns="0" bIns="0" rtlCol="0" anchor="t">
            <a:noAutofit/>
          </a:bodyPr>
          <a:lstStyle/>
          <a:p>
            <a:pPr algn="ctr"/>
            <a:r>
              <a:rPr lang="es-MX" sz="1100">
                <a:solidFill>
                  <a:srgbClr val="5A5248"/>
                </a:solidFill>
                <a:latin typeface="Segoe UI" panose="020B0502040204020203" pitchFamily="34" charset="0"/>
              </a:rPr>
              <a:t>Si la capacidad gana, se documenta y no se refuerza. Es la salida más frecuente.</a:t>
            </a:r>
            <a:endParaRPr lang="es-BO" sz="1100">
              <a:solidFill>
                <a:srgbClr val="5A5248"/>
              </a:solidFill>
              <a:latin typeface="Segoe UI" panose="020B0502040204020203" pitchFamily="34" charset="0"/>
            </a:endParaRPr>
          </a:p>
        </p:txBody>
      </p:sp>
      <p:sp>
        <p:nvSpPr>
          <p:cNvPr id="19" name="Elipse 18">
            <a:extLst>
              <a:ext uri="{FF2B5EF4-FFF2-40B4-BE49-F238E27FC236}">
                <a16:creationId xmlns:a16="http://schemas.microsoft.com/office/drawing/2014/main" id="{A3176D8D-2D00-D0E6-CBF6-84A68847D445}"/>
              </a:ext>
            </a:extLst>
          </p:cNvPr>
          <p:cNvSpPr/>
          <p:nvPr/>
        </p:nvSpPr>
        <p:spPr>
          <a:xfrm>
            <a:off x="8102600" y="1625600"/>
            <a:ext cx="431800" cy="4318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300">
                <a:solidFill>
                  <a:srgbClr val="FFFFFF"/>
                </a:solidFill>
                <a:latin typeface="Bahnschrift SemiBold" panose="020B0502040204020203" pitchFamily="34" charset="0"/>
              </a:rPr>
              <a:t>04</a:t>
            </a:r>
          </a:p>
        </p:txBody>
      </p:sp>
      <p:sp>
        <p:nvSpPr>
          <p:cNvPr id="20" name="CuadroTexto 19">
            <a:extLst>
              <a:ext uri="{FF2B5EF4-FFF2-40B4-BE49-F238E27FC236}">
                <a16:creationId xmlns:a16="http://schemas.microsoft.com/office/drawing/2014/main" id="{34A978EA-47E2-7A2C-659A-B116962981FC}"/>
              </a:ext>
            </a:extLst>
          </p:cNvPr>
          <p:cNvSpPr txBox="1"/>
          <p:nvPr/>
        </p:nvSpPr>
        <p:spPr>
          <a:xfrm>
            <a:off x="7315200" y="2260600"/>
            <a:ext cx="1981200" cy="508000"/>
          </a:xfrm>
          <a:prstGeom prst="rect">
            <a:avLst/>
          </a:prstGeom>
          <a:noFill/>
        </p:spPr>
        <p:txBody>
          <a:bodyPr vert="horz" wrap="square" lIns="0" tIns="0" rIns="0" bIns="0" rtlCol="0" anchor="t">
            <a:noAutofit/>
          </a:bodyPr>
          <a:lstStyle/>
          <a:p>
            <a:pPr algn="ctr"/>
            <a:r>
              <a:rPr lang="es-BO" sz="1250">
                <a:solidFill>
                  <a:srgbClr val="1C1813"/>
                </a:solidFill>
                <a:latin typeface="Bahnschrift SemiBold" panose="020B0502040204020203" pitchFamily="34" charset="0"/>
              </a:rPr>
              <a:t>El refuerzo</a:t>
            </a:r>
          </a:p>
        </p:txBody>
      </p:sp>
      <p:sp>
        <p:nvSpPr>
          <p:cNvPr id="21" name="CuadroTexto 20">
            <a:extLst>
              <a:ext uri="{FF2B5EF4-FFF2-40B4-BE49-F238E27FC236}">
                <a16:creationId xmlns:a16="http://schemas.microsoft.com/office/drawing/2014/main" id="{D0CF6D06-42A5-D87D-53CA-29728E86620E}"/>
              </a:ext>
            </a:extLst>
          </p:cNvPr>
          <p:cNvSpPr txBox="1"/>
          <p:nvPr/>
        </p:nvSpPr>
        <p:spPr>
          <a:xfrm>
            <a:off x="7315200" y="2819400"/>
            <a:ext cx="1981200" cy="1219200"/>
          </a:xfrm>
          <a:prstGeom prst="rect">
            <a:avLst/>
          </a:prstGeom>
          <a:noFill/>
        </p:spPr>
        <p:txBody>
          <a:bodyPr vert="horz" wrap="square" lIns="0" tIns="0" rIns="0" bIns="0" rtlCol="0" anchor="t">
            <a:noAutofit/>
          </a:bodyPr>
          <a:lstStyle/>
          <a:p>
            <a:pPr algn="ctr"/>
            <a:r>
              <a:rPr lang="es-MX" sz="1100">
                <a:solidFill>
                  <a:srgbClr val="5A5248"/>
                </a:solidFill>
                <a:latin typeface="Segoe UI" panose="020B0502040204020203" pitchFamily="34" charset="0"/>
              </a:rPr>
              <a:t>Solo donde la comparación falle, y con la técnica que el elemento admita.</a:t>
            </a:r>
            <a:endParaRPr lang="es-BO" sz="1100">
              <a:solidFill>
                <a:srgbClr val="5A5248"/>
              </a:solidFill>
              <a:latin typeface="Segoe UI" panose="020B0502040204020203" pitchFamily="34" charset="0"/>
            </a:endParaRPr>
          </a:p>
        </p:txBody>
      </p:sp>
      <p:sp>
        <p:nvSpPr>
          <p:cNvPr id="22" name="Elipse 21">
            <a:extLst>
              <a:ext uri="{FF2B5EF4-FFF2-40B4-BE49-F238E27FC236}">
                <a16:creationId xmlns:a16="http://schemas.microsoft.com/office/drawing/2014/main" id="{D2C54B14-329A-A06A-5014-496DA30CBB1B}"/>
              </a:ext>
            </a:extLst>
          </p:cNvPr>
          <p:cNvSpPr/>
          <p:nvPr/>
        </p:nvSpPr>
        <p:spPr>
          <a:xfrm>
            <a:off x="10337800" y="1625600"/>
            <a:ext cx="431800" cy="4318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300">
                <a:solidFill>
                  <a:srgbClr val="FFFFFF"/>
                </a:solidFill>
                <a:latin typeface="Bahnschrift SemiBold" panose="020B0502040204020203" pitchFamily="34" charset="0"/>
              </a:rPr>
              <a:t>05</a:t>
            </a:r>
          </a:p>
        </p:txBody>
      </p:sp>
      <p:sp>
        <p:nvSpPr>
          <p:cNvPr id="23" name="CuadroTexto 22">
            <a:extLst>
              <a:ext uri="{FF2B5EF4-FFF2-40B4-BE49-F238E27FC236}">
                <a16:creationId xmlns:a16="http://schemas.microsoft.com/office/drawing/2014/main" id="{328574BC-ADD3-64E4-5893-3C4EEE592C8F}"/>
              </a:ext>
            </a:extLst>
          </p:cNvPr>
          <p:cNvSpPr txBox="1"/>
          <p:nvPr/>
        </p:nvSpPr>
        <p:spPr>
          <a:xfrm>
            <a:off x="9550400" y="2260600"/>
            <a:ext cx="1981200" cy="508000"/>
          </a:xfrm>
          <a:prstGeom prst="rect">
            <a:avLst/>
          </a:prstGeom>
          <a:noFill/>
        </p:spPr>
        <p:txBody>
          <a:bodyPr vert="horz" wrap="square" lIns="0" tIns="0" rIns="0" bIns="0" rtlCol="0" anchor="t">
            <a:noAutofit/>
          </a:bodyPr>
          <a:lstStyle/>
          <a:p>
            <a:pPr algn="ctr"/>
            <a:r>
              <a:rPr lang="es-BO" sz="1250">
                <a:solidFill>
                  <a:srgbClr val="1C1813"/>
                </a:solidFill>
                <a:latin typeface="Bahnschrift SemiBold" panose="020B0502040204020203" pitchFamily="34" charset="0"/>
              </a:rPr>
              <a:t>La gestión</a:t>
            </a:r>
          </a:p>
        </p:txBody>
      </p:sp>
      <p:sp>
        <p:nvSpPr>
          <p:cNvPr id="24" name="CuadroTexto 23">
            <a:extLst>
              <a:ext uri="{FF2B5EF4-FFF2-40B4-BE49-F238E27FC236}">
                <a16:creationId xmlns:a16="http://schemas.microsoft.com/office/drawing/2014/main" id="{D391FC42-3F64-7348-DB39-7708F522FF21}"/>
              </a:ext>
            </a:extLst>
          </p:cNvPr>
          <p:cNvSpPr txBox="1"/>
          <p:nvPr/>
        </p:nvSpPr>
        <p:spPr>
          <a:xfrm>
            <a:off x="9550400" y="2819400"/>
            <a:ext cx="1981200" cy="1219200"/>
          </a:xfrm>
          <a:prstGeom prst="rect">
            <a:avLst/>
          </a:prstGeom>
          <a:noFill/>
        </p:spPr>
        <p:txBody>
          <a:bodyPr vert="horz" wrap="square" lIns="0" tIns="0" rIns="0" bIns="0" rtlCol="0" anchor="t">
            <a:noAutofit/>
          </a:bodyPr>
          <a:lstStyle/>
          <a:p>
            <a:pPr algn="ctr"/>
            <a:r>
              <a:rPr lang="es-MX" sz="1100">
                <a:solidFill>
                  <a:srgbClr val="5A5248"/>
                </a:solidFill>
                <a:latin typeface="Segoe UI" panose="020B0502040204020203" pitchFamily="34" charset="0"/>
              </a:rPr>
              <a:t>Plan de mantenimiento con fechas, responsables y criterio de alarma.</a:t>
            </a:r>
            <a:endParaRPr lang="es-BO" sz="1100">
              <a:solidFill>
                <a:srgbClr val="5A5248"/>
              </a:solidFill>
              <a:latin typeface="Segoe UI" panose="020B0502040204020203" pitchFamily="34" charset="0"/>
            </a:endParaRPr>
          </a:p>
        </p:txBody>
      </p:sp>
      <p:pic>
        <p:nvPicPr>
          <p:cNvPr id="26" name="Imagen 25" descr="Mapa de la clase: demanda, capacidad medida, comparación, refuerzo solo donde falle y plan de gestión">
            <a:extLst>
              <a:ext uri="{FF2B5EF4-FFF2-40B4-BE49-F238E27FC236}">
                <a16:creationId xmlns:a16="http://schemas.microsoft.com/office/drawing/2014/main" id="{7E43FA07-2621-000C-A45E-2C6A620755C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4394200"/>
            <a:ext cx="10972800" cy="1320800"/>
          </a:xfrm>
          <a:prstGeom prst="rect">
            <a:avLst/>
          </a:prstGeom>
        </p:spPr>
      </p:pic>
      <p:sp>
        <p:nvSpPr>
          <p:cNvPr id="27" name="Rectángulo 26">
            <a:extLst>
              <a:ext uri="{FF2B5EF4-FFF2-40B4-BE49-F238E27FC236}">
                <a16:creationId xmlns:a16="http://schemas.microsoft.com/office/drawing/2014/main" id="{CBC8633C-9BA4-6FF5-877F-F6DF38F232F7}"/>
              </a:ext>
            </a:extLst>
          </p:cNvPr>
          <p:cNvSpPr/>
          <p:nvPr/>
        </p:nvSpPr>
        <p:spPr>
          <a:xfrm>
            <a:off x="609600" y="5537200"/>
            <a:ext cx="10972800" cy="635000"/>
          </a:xfrm>
          <a:prstGeom prst="rect">
            <a:avLst/>
          </a:prstGeom>
          <a:solidFill>
            <a:srgbClr val="241F1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9" name="CuadroTexto 28">
            <a:extLst>
              <a:ext uri="{FF2B5EF4-FFF2-40B4-BE49-F238E27FC236}">
                <a16:creationId xmlns:a16="http://schemas.microsoft.com/office/drawing/2014/main" id="{854AD56E-C731-2851-A675-1162FF6EDD8C}"/>
              </a:ext>
            </a:extLst>
          </p:cNvPr>
          <p:cNvSpPr txBox="1"/>
          <p:nvPr/>
        </p:nvSpPr>
        <p:spPr>
          <a:xfrm>
            <a:off x="838200" y="5588000"/>
            <a:ext cx="10566400" cy="533400"/>
          </a:xfrm>
          <a:prstGeom prst="rect">
            <a:avLst/>
          </a:prstGeom>
          <a:noFill/>
        </p:spPr>
        <p:txBody>
          <a:bodyPr vert="horz" wrap="square" lIns="0" tIns="0" rIns="0" bIns="0" rtlCol="0" anchor="ctr">
            <a:noAutofit/>
          </a:bodyPr>
          <a:lstStyle/>
          <a:p>
            <a:pPr algn="l"/>
            <a:r>
              <a:rPr lang="es-MX" sz="1200">
                <a:solidFill>
                  <a:srgbClr val="FFFFFF"/>
                </a:solidFill>
                <a:latin typeface="Segoe UI" panose="020B0502040204020203" pitchFamily="34" charset="0"/>
              </a:rPr>
              <a:t>El paso 3 es el que más dinero ahorra en toda la profesión. </a:t>
            </a:r>
            <a:r>
              <a:rPr lang="es-MX" sz="1200" b="1">
                <a:solidFill>
                  <a:srgbClr val="FFFFFF"/>
                </a:solidFill>
                <a:latin typeface="Segoe UI Semibold" panose="020B0702040204020203" pitchFamily="34" charset="0"/>
              </a:rPr>
              <a:t>Demostrar con números que una estructura sirve</a:t>
            </a:r>
            <a:r>
              <a:rPr lang="es-MX" sz="1200">
                <a:solidFill>
                  <a:srgbClr val="FFFFFF"/>
                </a:solidFill>
                <a:latin typeface="Segoe UI" panose="020B0502040204020203" pitchFamily="34" charset="0"/>
              </a:rPr>
              <a:t> vale tanto como diseñar el refuerzo que no hacía falta, y cuesta mucho menos.</a:t>
            </a:r>
            <a:endParaRPr lang="es-BO" sz="1200">
              <a:solidFill>
                <a:srgbClr val="FFFFFF"/>
              </a:solidFill>
              <a:latin typeface="Segoe UI" panose="020B0502040204020203" pitchFamily="34" charset="0"/>
            </a:endParaRPr>
          </a:p>
        </p:txBody>
      </p:sp>
      <p:sp>
        <p:nvSpPr>
          <p:cNvPr id="30" name="CuadroTexto 29">
            <a:extLst>
              <a:ext uri="{FF2B5EF4-FFF2-40B4-BE49-F238E27FC236}">
                <a16:creationId xmlns:a16="http://schemas.microsoft.com/office/drawing/2014/main" id="{2AC482E8-6AAC-59A9-44FE-6ABC5D10DD21}"/>
              </a:ext>
            </a:extLst>
          </p:cNvPr>
          <p:cNvSpPr txBox="1"/>
          <p:nvPr/>
        </p:nvSpPr>
        <p:spPr>
          <a:xfrm>
            <a:off x="609600" y="6324600"/>
            <a:ext cx="10972800" cy="152400"/>
          </a:xfrm>
          <a:prstGeom prst="rect">
            <a:avLst/>
          </a:prstGeom>
          <a:noFill/>
        </p:spPr>
        <p:txBody>
          <a:bodyPr vert="horz" wrap="square" lIns="0" tIns="0" rIns="0" bIns="0" rtlCol="0" anchor="t">
            <a:noAutofit/>
          </a:bodyPr>
          <a:lstStyle/>
          <a:p>
            <a:pPr algn="l"/>
            <a:r>
              <a:rPr lang="en-US" sz="700">
                <a:solidFill>
                  <a:srgbClr val="938A7C"/>
                </a:solidFill>
                <a:latin typeface="Segoe UI" panose="020B0502040204020203" pitchFamily="34" charset="0"/>
              </a:rPr>
              <a:t>Fuente: ACI 562, Code Requirements for Assessment, Repair and Rehabilitation of Existing Concrete Structures.</a:t>
            </a:r>
            <a:endParaRPr lang="es-BO" sz="700">
              <a:solidFill>
                <a:srgbClr val="938A7C"/>
              </a:solidFill>
              <a:latin typeface="Segoe UI" panose="020B0502040204020203" pitchFamily="34" charset="0"/>
            </a:endParaRPr>
          </a:p>
        </p:txBody>
      </p:sp>
      <p:cxnSp>
        <p:nvCxnSpPr>
          <p:cNvPr id="31" name="Conector recto 30">
            <a:extLst>
              <a:ext uri="{FF2B5EF4-FFF2-40B4-BE49-F238E27FC236}">
                <a16:creationId xmlns:a16="http://schemas.microsoft.com/office/drawing/2014/main" id="{EBFAB6EF-CCD2-3C80-A98A-E02CB3C4211F}"/>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32" name="CuadroTexto 31">
            <a:extLst>
              <a:ext uri="{FF2B5EF4-FFF2-40B4-BE49-F238E27FC236}">
                <a16:creationId xmlns:a16="http://schemas.microsoft.com/office/drawing/2014/main" id="{6C4D7603-EE63-2CF7-92EB-47E0F5E64EE0}"/>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33" name="CuadroTexto 32">
            <a:extLst>
              <a:ext uri="{FF2B5EF4-FFF2-40B4-BE49-F238E27FC236}">
                <a16:creationId xmlns:a16="http://schemas.microsoft.com/office/drawing/2014/main" id="{F191CF11-9C5B-1FA6-A69A-C10DC73D5CB8}"/>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34" name="PageNo">
            <a:extLst>
              <a:ext uri="{FF2B5EF4-FFF2-40B4-BE49-F238E27FC236}">
                <a16:creationId xmlns:a16="http://schemas.microsoft.com/office/drawing/2014/main" id="{C8D97A80-BF67-31AC-0682-A358AC08EAFD}"/>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04 / 38</a:t>
            </a:r>
          </a:p>
        </p:txBody>
      </p:sp>
    </p:spTree>
    <p:extLst>
      <p:ext uri="{BB962C8B-B14F-4D97-AF65-F5344CB8AC3E}">
        <p14:creationId xmlns:p14="http://schemas.microsoft.com/office/powerpoint/2010/main" val="34699585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C1813"/>
        </a:solidFill>
        <a:effectLst/>
      </p:bgPr>
    </p:bg>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68C2F2E-876D-6B7F-DEC6-E9386E49FFD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Rectángulo 3">
            <a:extLst>
              <a:ext uri="{FF2B5EF4-FFF2-40B4-BE49-F238E27FC236}">
                <a16:creationId xmlns:a16="http://schemas.microsoft.com/office/drawing/2014/main" id="{C57150F4-CB5D-D6BD-076B-E19D67F479FE}"/>
              </a:ext>
            </a:extLst>
          </p:cNvPr>
          <p:cNvSpPr/>
          <p:nvPr/>
        </p:nvSpPr>
        <p:spPr>
          <a:xfrm>
            <a:off x="0" y="0"/>
            <a:ext cx="10668000" cy="6858000"/>
          </a:xfrm>
          <a:prstGeom prst="rect">
            <a:avLst/>
          </a:prstGeom>
          <a:gradFill flip="none" rotWithShape="1">
            <a:gsLst>
              <a:gs pos="0">
                <a:srgbClr val="1C1813"/>
              </a:gs>
              <a:gs pos="100000">
                <a:srgbClr val="1C1813">
                  <a:alpha val="0"/>
                </a:srgbClr>
              </a:gs>
            </a:gsLst>
            <a:lin ang="0" scaled="1"/>
            <a:tileRect/>
          </a:gra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5" name="Rectángulo 4">
            <a:extLst>
              <a:ext uri="{FF2B5EF4-FFF2-40B4-BE49-F238E27FC236}">
                <a16:creationId xmlns:a16="http://schemas.microsoft.com/office/drawing/2014/main" id="{6F4E274D-C373-ED83-26CD-380C79E33066}"/>
              </a:ext>
            </a:extLst>
          </p:cNvPr>
          <p:cNvSpPr/>
          <p:nvPr/>
        </p:nvSpPr>
        <p:spPr>
          <a:xfrm>
            <a:off x="0" y="0"/>
            <a:ext cx="12192000" cy="6858000"/>
          </a:xfrm>
          <a:prstGeom prst="rect">
            <a:avLst/>
          </a:prstGeom>
          <a:solidFill>
            <a:srgbClr val="1C1813">
              <a:alpha val="58000"/>
            </a:srgb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6" name="CuadroTexto 5">
            <a:extLst>
              <a:ext uri="{FF2B5EF4-FFF2-40B4-BE49-F238E27FC236}">
                <a16:creationId xmlns:a16="http://schemas.microsoft.com/office/drawing/2014/main" id="{D3D1D5E0-F27E-3C1E-CDA7-7321E0FE11E9}"/>
              </a:ext>
            </a:extLst>
          </p:cNvPr>
          <p:cNvSpPr txBox="1"/>
          <p:nvPr/>
        </p:nvSpPr>
        <p:spPr>
          <a:xfrm>
            <a:off x="609600" y="1905000"/>
            <a:ext cx="3810000" cy="254000"/>
          </a:xfrm>
          <a:prstGeom prst="rect">
            <a:avLst/>
          </a:prstGeom>
          <a:noFill/>
        </p:spPr>
        <p:txBody>
          <a:bodyPr vert="horz" wrap="square" lIns="0" tIns="0" rIns="0" bIns="0" rtlCol="0" anchor="t">
            <a:noAutofit/>
          </a:bodyPr>
          <a:lstStyle/>
          <a:p>
            <a:r>
              <a:rPr lang="es-BO" sz="1100" spc="300">
                <a:solidFill>
                  <a:srgbClr val="C9A66B"/>
                </a:solidFill>
                <a:latin typeface="Segoe UI Semibold" panose="020B0702040204020203" pitchFamily="34" charset="0"/>
              </a:rPr>
              <a:t>PARTE 1</a:t>
            </a:r>
          </a:p>
        </p:txBody>
      </p:sp>
      <p:sp>
        <p:nvSpPr>
          <p:cNvPr id="7" name="Title">
            <a:extLst>
              <a:ext uri="{FF2B5EF4-FFF2-40B4-BE49-F238E27FC236}">
                <a16:creationId xmlns:a16="http://schemas.microsoft.com/office/drawing/2014/main" id="{31469E16-2B7C-470B-1237-1245ADBF79F4}"/>
              </a:ext>
            </a:extLst>
          </p:cNvPr>
          <p:cNvSpPr txBox="1"/>
          <p:nvPr/>
        </p:nvSpPr>
        <p:spPr>
          <a:xfrm>
            <a:off x="584200" y="2235200"/>
            <a:ext cx="7874000" cy="1397000"/>
          </a:xfrm>
          <a:prstGeom prst="rect">
            <a:avLst/>
          </a:prstGeom>
          <a:noFill/>
        </p:spPr>
        <p:txBody>
          <a:bodyPr vert="horz" wrap="square" lIns="0" tIns="0" rIns="0" bIns="0" rtlCol="0" anchor="t">
            <a:noAutofit/>
          </a:bodyPr>
          <a:lstStyle/>
          <a:p>
            <a:r>
              <a:rPr lang="es-MX" sz="3800">
                <a:solidFill>
                  <a:srgbClr val="FFFFFF"/>
                </a:solidFill>
                <a:latin typeface="Bahnschrift SemiBold" panose="020B0502040204020203" pitchFamily="34" charset="0"/>
              </a:rPr>
              <a:t>Recálculo con lo que hay</a:t>
            </a:r>
            <a:endParaRPr lang="es-BO" sz="3800">
              <a:solidFill>
                <a:srgbClr val="FFFFFF"/>
              </a:solidFill>
              <a:latin typeface="Bahnschrift SemiBold" panose="020B0502040204020203" pitchFamily="34" charset="0"/>
            </a:endParaRPr>
          </a:p>
        </p:txBody>
      </p:sp>
      <p:sp>
        <p:nvSpPr>
          <p:cNvPr id="8" name="Rectángulo 7">
            <a:extLst>
              <a:ext uri="{FF2B5EF4-FFF2-40B4-BE49-F238E27FC236}">
                <a16:creationId xmlns:a16="http://schemas.microsoft.com/office/drawing/2014/main" id="{0E52C736-03B0-8AA0-2245-7D278B59FE25}"/>
              </a:ext>
            </a:extLst>
          </p:cNvPr>
          <p:cNvSpPr/>
          <p:nvPr/>
        </p:nvSpPr>
        <p:spPr>
          <a:xfrm>
            <a:off x="609600" y="3810000"/>
            <a:ext cx="609600" cy="3810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9" name="CuadroTexto 8">
            <a:extLst>
              <a:ext uri="{FF2B5EF4-FFF2-40B4-BE49-F238E27FC236}">
                <a16:creationId xmlns:a16="http://schemas.microsoft.com/office/drawing/2014/main" id="{C76CB15C-196B-36CD-F22C-627B674B8D9D}"/>
              </a:ext>
            </a:extLst>
          </p:cNvPr>
          <p:cNvSpPr txBox="1"/>
          <p:nvPr/>
        </p:nvSpPr>
        <p:spPr>
          <a:xfrm>
            <a:off x="609600" y="4013200"/>
            <a:ext cx="6604000" cy="762000"/>
          </a:xfrm>
          <a:prstGeom prst="rect">
            <a:avLst/>
          </a:prstGeom>
          <a:noFill/>
        </p:spPr>
        <p:txBody>
          <a:bodyPr vert="horz" wrap="square" lIns="0" tIns="0" rIns="0" bIns="0" rtlCol="0" anchor="t">
            <a:noAutofit/>
          </a:bodyPr>
          <a:lstStyle/>
          <a:p>
            <a:pPr algn="l"/>
            <a:r>
              <a:rPr lang="es-MX" sz="1400">
                <a:solidFill>
                  <a:srgbClr val="E6DFD2"/>
                </a:solidFill>
                <a:latin typeface="Bahnschrift Light" panose="020B0502040204020203" pitchFamily="34" charset="0"/>
              </a:rPr>
              <a:t>No se recalcula con la memoria de 1998: se recalcula con lo que se midió en 2026.</a:t>
            </a:r>
            <a:endParaRPr lang="es-BO" sz="1400">
              <a:solidFill>
                <a:srgbClr val="E6DFD2"/>
              </a:solidFill>
              <a:latin typeface="Bahnschrift Light" panose="020B0502040204020203" pitchFamily="34" charset="0"/>
            </a:endParaRPr>
          </a:p>
        </p:txBody>
      </p:sp>
      <p:sp>
        <p:nvSpPr>
          <p:cNvPr id="10" name="Rectángulo 9">
            <a:extLst>
              <a:ext uri="{FF2B5EF4-FFF2-40B4-BE49-F238E27FC236}">
                <a16:creationId xmlns:a16="http://schemas.microsoft.com/office/drawing/2014/main" id="{8BBCECB9-B6C5-6005-5691-0412A9FE6F14}"/>
              </a:ext>
            </a:extLst>
          </p:cNvPr>
          <p:cNvSpPr/>
          <p:nvPr/>
        </p:nvSpPr>
        <p:spPr>
          <a:xfrm>
            <a:off x="609600" y="5054600"/>
            <a:ext cx="76200" cy="1524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1" name="CuadroTexto 10">
            <a:extLst>
              <a:ext uri="{FF2B5EF4-FFF2-40B4-BE49-F238E27FC236}">
                <a16:creationId xmlns:a16="http://schemas.microsoft.com/office/drawing/2014/main" id="{F298E95D-B1BA-9AE9-F7F3-8391654C79FC}"/>
              </a:ext>
            </a:extLst>
          </p:cNvPr>
          <p:cNvSpPr txBox="1"/>
          <p:nvPr/>
        </p:nvSpPr>
        <p:spPr>
          <a:xfrm>
            <a:off x="787400" y="4978400"/>
            <a:ext cx="6350000" cy="177800"/>
          </a:xfrm>
          <a:prstGeom prst="rect">
            <a:avLst/>
          </a:prstGeom>
          <a:noFill/>
        </p:spPr>
        <p:txBody>
          <a:bodyPr vert="horz" wrap="square" lIns="0" tIns="0" rIns="0" bIns="0" rtlCol="0" anchor="t">
            <a:noAutofit/>
          </a:bodyPr>
          <a:lstStyle/>
          <a:p>
            <a:pPr algn="l"/>
            <a:r>
              <a:rPr lang="es-BO" sz="1050">
                <a:solidFill>
                  <a:srgbClr val="CFC7B8"/>
                </a:solidFill>
                <a:latin typeface="Segoe UI" panose="020B0502040204020203" pitchFamily="34" charset="0"/>
              </a:rPr>
              <a:t>Qué se recalcula</a:t>
            </a:r>
          </a:p>
        </p:txBody>
      </p:sp>
      <p:sp>
        <p:nvSpPr>
          <p:cNvPr id="12" name="Rectángulo 11">
            <a:extLst>
              <a:ext uri="{FF2B5EF4-FFF2-40B4-BE49-F238E27FC236}">
                <a16:creationId xmlns:a16="http://schemas.microsoft.com/office/drawing/2014/main" id="{21B9839E-520D-C760-6BF7-43EE0313995B}"/>
              </a:ext>
            </a:extLst>
          </p:cNvPr>
          <p:cNvSpPr/>
          <p:nvPr/>
        </p:nvSpPr>
        <p:spPr>
          <a:xfrm>
            <a:off x="609600" y="5283200"/>
            <a:ext cx="76200" cy="1524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3" name="CuadroTexto 12">
            <a:extLst>
              <a:ext uri="{FF2B5EF4-FFF2-40B4-BE49-F238E27FC236}">
                <a16:creationId xmlns:a16="http://schemas.microsoft.com/office/drawing/2014/main" id="{2D56C07E-3F9A-7434-653A-A3373EFE3D1B}"/>
              </a:ext>
            </a:extLst>
          </p:cNvPr>
          <p:cNvSpPr txBox="1"/>
          <p:nvPr/>
        </p:nvSpPr>
        <p:spPr>
          <a:xfrm>
            <a:off x="787400" y="5207000"/>
            <a:ext cx="6350000" cy="177800"/>
          </a:xfrm>
          <a:prstGeom prst="rect">
            <a:avLst/>
          </a:prstGeom>
          <a:noFill/>
        </p:spPr>
        <p:txBody>
          <a:bodyPr vert="horz" wrap="square" lIns="0" tIns="0" rIns="0" bIns="0" rtlCol="0" anchor="t">
            <a:noAutofit/>
          </a:bodyPr>
          <a:lstStyle/>
          <a:p>
            <a:pPr algn="l"/>
            <a:r>
              <a:rPr lang="es-BO" sz="1050">
                <a:solidFill>
                  <a:srgbClr val="CFC7B8"/>
                </a:solidFill>
                <a:latin typeface="Segoe UI" panose="020B0502040204020203" pitchFamily="34" charset="0"/>
              </a:rPr>
              <a:t>Con qué propiedades</a:t>
            </a:r>
          </a:p>
        </p:txBody>
      </p:sp>
      <p:sp>
        <p:nvSpPr>
          <p:cNvPr id="14" name="Rectángulo 13">
            <a:extLst>
              <a:ext uri="{FF2B5EF4-FFF2-40B4-BE49-F238E27FC236}">
                <a16:creationId xmlns:a16="http://schemas.microsoft.com/office/drawing/2014/main" id="{D553FB53-484A-4881-5831-FC8F0C80B4D7}"/>
              </a:ext>
            </a:extLst>
          </p:cNvPr>
          <p:cNvSpPr/>
          <p:nvPr/>
        </p:nvSpPr>
        <p:spPr>
          <a:xfrm>
            <a:off x="609600" y="5511800"/>
            <a:ext cx="76200" cy="1524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5" name="CuadroTexto 14">
            <a:extLst>
              <a:ext uri="{FF2B5EF4-FFF2-40B4-BE49-F238E27FC236}">
                <a16:creationId xmlns:a16="http://schemas.microsoft.com/office/drawing/2014/main" id="{7AD2BAF6-0C19-1757-8E1A-EF7A64FED2D0}"/>
              </a:ext>
            </a:extLst>
          </p:cNvPr>
          <p:cNvSpPr txBox="1"/>
          <p:nvPr/>
        </p:nvSpPr>
        <p:spPr>
          <a:xfrm>
            <a:off x="787400" y="5435600"/>
            <a:ext cx="6350000" cy="177800"/>
          </a:xfrm>
          <a:prstGeom prst="rect">
            <a:avLst/>
          </a:prstGeom>
          <a:noFill/>
        </p:spPr>
        <p:txBody>
          <a:bodyPr vert="horz" wrap="square" lIns="0" tIns="0" rIns="0" bIns="0" rtlCol="0" anchor="t">
            <a:noAutofit/>
          </a:bodyPr>
          <a:lstStyle/>
          <a:p>
            <a:pPr algn="l"/>
            <a:r>
              <a:rPr lang="es-BO" sz="1050">
                <a:solidFill>
                  <a:srgbClr val="CFC7B8"/>
                </a:solidFill>
                <a:latin typeface="Segoe UI" panose="020B0502040204020203" pitchFamily="34" charset="0"/>
              </a:rPr>
              <a:t>Capacidad frente a demanda</a:t>
            </a:r>
          </a:p>
        </p:txBody>
      </p:sp>
      <p:sp>
        <p:nvSpPr>
          <p:cNvPr id="16" name="CuadroTexto 15">
            <a:extLst>
              <a:ext uri="{FF2B5EF4-FFF2-40B4-BE49-F238E27FC236}">
                <a16:creationId xmlns:a16="http://schemas.microsoft.com/office/drawing/2014/main" id="{0F419A12-9DE6-B385-2EAF-D58ADB677517}"/>
              </a:ext>
            </a:extLst>
          </p:cNvPr>
          <p:cNvSpPr txBox="1"/>
          <p:nvPr/>
        </p:nvSpPr>
        <p:spPr>
          <a:xfrm>
            <a:off x="609600" y="6477000"/>
            <a:ext cx="5080000" cy="152400"/>
          </a:xfrm>
          <a:prstGeom prst="rect">
            <a:avLst/>
          </a:prstGeom>
          <a:noFill/>
        </p:spPr>
        <p:txBody>
          <a:bodyPr vert="horz" wrap="square" lIns="0" tIns="0" rIns="0" bIns="0" rtlCol="0" anchor="t">
            <a:noAutofit/>
          </a:bodyPr>
          <a:lstStyle/>
          <a:p>
            <a:r>
              <a:rPr lang="es-MX" sz="700" spc="130">
                <a:solidFill>
                  <a:srgbClr val="9C9284"/>
                </a:solidFill>
                <a:latin typeface="Segoe UI" panose="020B0502040204020203" pitchFamily="34" charset="0"/>
              </a:rPr>
              <a:t>CLASE 7 · REFUERZO, RECALCE Y GESTIÓN</a:t>
            </a:r>
            <a:endParaRPr lang="es-BO" sz="700" spc="130">
              <a:solidFill>
                <a:srgbClr val="9C9284"/>
              </a:solidFill>
              <a:latin typeface="Segoe UI" panose="020B0502040204020203" pitchFamily="34" charset="0"/>
            </a:endParaRPr>
          </a:p>
        </p:txBody>
      </p:sp>
    </p:spTree>
    <p:extLst>
      <p:ext uri="{BB962C8B-B14F-4D97-AF65-F5344CB8AC3E}">
        <p14:creationId xmlns:p14="http://schemas.microsoft.com/office/powerpoint/2010/main" val="25264458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C35DE95B-65DA-8E6B-2970-2B66CA3F883F}"/>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MX" sz="900" spc="180">
                <a:solidFill>
                  <a:srgbClr val="6A4F20"/>
                </a:solidFill>
                <a:latin typeface="Segoe UI Semibold" panose="020B0702040204020203" pitchFamily="34" charset="0"/>
              </a:rPr>
              <a:t>PARTE 1 · DE DÓNDE SALE CADA DATO</a:t>
            </a:r>
            <a:endParaRPr lang="es-BO" sz="900" spc="180">
              <a:solidFill>
                <a:srgbClr val="6A4F20"/>
              </a:solidFill>
              <a:latin typeface="Segoe UI Semibold" panose="020B0702040204020203" pitchFamily="34" charset="0"/>
            </a:endParaRPr>
          </a:p>
        </p:txBody>
      </p:sp>
      <p:sp>
        <p:nvSpPr>
          <p:cNvPr id="3" name="Title">
            <a:extLst>
              <a:ext uri="{FF2B5EF4-FFF2-40B4-BE49-F238E27FC236}">
                <a16:creationId xmlns:a16="http://schemas.microsoft.com/office/drawing/2014/main" id="{77BF9E75-6D7B-79F4-A655-EFA3084E8F58}"/>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Seis propiedades, y ninguna se copia del proyecto original</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EFA04FA6-E831-2397-25F0-D77ECAB16BED}"/>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graphicFrame>
        <p:nvGraphicFramePr>
          <p:cNvPr id="6" name="Tabla 5">
            <a:extLst>
              <a:ext uri="{FF2B5EF4-FFF2-40B4-BE49-F238E27FC236}">
                <a16:creationId xmlns:a16="http://schemas.microsoft.com/office/drawing/2014/main" id="{42D16BEA-3545-40F6-9CF4-FA624E00A943}"/>
              </a:ext>
            </a:extLst>
          </p:cNvPr>
          <p:cNvGraphicFramePr>
            <a:graphicFrameLocks noGrp="1"/>
          </p:cNvGraphicFramePr>
          <p:nvPr>
            <p:extLst>
              <p:ext uri="{D42A27DB-BD31-4B8C-83A1-F6EECF244321}">
                <p14:modId xmlns:p14="http://schemas.microsoft.com/office/powerpoint/2010/main" val="744405050"/>
              </p:ext>
            </p:extLst>
          </p:nvPr>
        </p:nvGraphicFramePr>
        <p:xfrm>
          <a:off x="609600" y="1422400"/>
          <a:ext cx="6299200" cy="3403600"/>
        </p:xfrm>
        <a:graphic>
          <a:graphicData uri="http://schemas.openxmlformats.org/drawingml/2006/table">
            <a:tbl>
              <a:tblPr firstRow="1" bandRow="1">
                <a:tableStyleId>{5C22544A-7EE6-4342-B048-85BDC9FD1C3A}</a:tableStyleId>
              </a:tblPr>
              <a:tblGrid>
                <a:gridCol w="1574800">
                  <a:extLst>
                    <a:ext uri="{9D8B030D-6E8A-4147-A177-3AD203B41FA5}">
                      <a16:colId xmlns:a16="http://schemas.microsoft.com/office/drawing/2014/main" val="4246444198"/>
                    </a:ext>
                  </a:extLst>
                </a:gridCol>
                <a:gridCol w="2184400">
                  <a:extLst>
                    <a:ext uri="{9D8B030D-6E8A-4147-A177-3AD203B41FA5}">
                      <a16:colId xmlns:a16="http://schemas.microsoft.com/office/drawing/2014/main" val="2008809357"/>
                    </a:ext>
                  </a:extLst>
                </a:gridCol>
                <a:gridCol w="622300">
                  <a:extLst>
                    <a:ext uri="{9D8B030D-6E8A-4147-A177-3AD203B41FA5}">
                      <a16:colId xmlns:a16="http://schemas.microsoft.com/office/drawing/2014/main" val="1485012287"/>
                    </a:ext>
                  </a:extLst>
                </a:gridCol>
                <a:gridCol w="1917700">
                  <a:extLst>
                    <a:ext uri="{9D8B030D-6E8A-4147-A177-3AD203B41FA5}">
                      <a16:colId xmlns:a16="http://schemas.microsoft.com/office/drawing/2014/main" val="48701182"/>
                    </a:ext>
                  </a:extLst>
                </a:gridCol>
              </a:tblGrid>
              <a:tr h="486229">
                <a:tc>
                  <a:txBody>
                    <a:bodyPr/>
                    <a:lstStyle/>
                    <a:p>
                      <a:pPr algn="ctr"/>
                      <a:r>
                        <a:rPr lang="es-BO" sz="900" b="0">
                          <a:solidFill>
                            <a:srgbClr val="FFFFFF"/>
                          </a:solidFill>
                          <a:latin typeface="Segoe UI Semibold" panose="020B0702040204020203" pitchFamily="34" charset="0"/>
                        </a:rPr>
                        <a:t>Propiedad</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1C1813"/>
                    </a:solidFill>
                  </a:tcPr>
                </a:tc>
                <a:tc>
                  <a:txBody>
                    <a:bodyPr/>
                    <a:lstStyle/>
                    <a:p>
                      <a:pPr algn="ctr"/>
                      <a:r>
                        <a:rPr lang="es-BO" sz="900" b="0">
                          <a:solidFill>
                            <a:srgbClr val="FFFFFF"/>
                          </a:solidFill>
                          <a:latin typeface="Segoe UI Semibold" panose="020B0702040204020203" pitchFamily="34" charset="0"/>
                        </a:rPr>
                        <a:t>De dónde sale</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1C1813"/>
                    </a:solidFill>
                  </a:tcPr>
                </a:tc>
                <a:tc>
                  <a:txBody>
                    <a:bodyPr/>
                    <a:lstStyle/>
                    <a:p>
                      <a:pPr algn="ctr"/>
                      <a:r>
                        <a:rPr lang="es-BO" sz="900" b="0">
                          <a:solidFill>
                            <a:srgbClr val="FFFFFF"/>
                          </a:solidFill>
                          <a:latin typeface="Segoe UI Semibold" panose="020B0702040204020203" pitchFamily="34" charset="0"/>
                        </a:rPr>
                        <a:t>Clase</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1C1813"/>
                    </a:solidFill>
                  </a:tcPr>
                </a:tc>
                <a:tc>
                  <a:txBody>
                    <a:bodyPr/>
                    <a:lstStyle/>
                    <a:p>
                      <a:pPr algn="ctr"/>
                      <a:r>
                        <a:rPr lang="es-BO" sz="900" b="0">
                          <a:solidFill>
                            <a:srgbClr val="FFFFFF"/>
                          </a:solidFill>
                          <a:latin typeface="Segoe UI Semibold" panose="020B0702040204020203" pitchFamily="34" charset="0"/>
                        </a:rPr>
                        <a:t>Si no se midió</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1C1813"/>
                    </a:solidFill>
                  </a:tcPr>
                </a:tc>
                <a:extLst>
                  <a:ext uri="{0D108BD9-81ED-4DB2-BD59-A6C34878D82A}">
                    <a16:rowId xmlns:a16="http://schemas.microsoft.com/office/drawing/2014/main" val="2803489903"/>
                  </a:ext>
                </a:extLst>
              </a:tr>
              <a:tr h="486229">
                <a:tc>
                  <a:txBody>
                    <a:bodyPr/>
                    <a:lstStyle/>
                    <a:p>
                      <a:pPr algn="ctr"/>
                      <a:r>
                        <a:rPr lang="es-BO" sz="950" b="0">
                          <a:solidFill>
                            <a:srgbClr val="1C1813"/>
                          </a:solidFill>
                          <a:latin typeface="Segoe UI Semibold" panose="020B0702040204020203" pitchFamily="34" charset="0"/>
                        </a:rPr>
                        <a:t>Resistencia del hormigón</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BO" sz="950" b="0">
                          <a:solidFill>
                            <a:srgbClr val="241F18"/>
                          </a:solidFill>
                          <a:latin typeface="Segoe UI" panose="020B0502040204020203" pitchFamily="34" charset="0"/>
                        </a:rPr>
                        <a:t>Testigos corregidos con ACI 214.4R</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BO" sz="950" b="0">
                          <a:solidFill>
                            <a:srgbClr val="241F18"/>
                          </a:solidFill>
                          <a:latin typeface="Segoe UI" panose="020B0502040204020203" pitchFamily="34" charset="0"/>
                        </a:rPr>
                        <a:t>5</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BO" sz="950" b="0">
                          <a:solidFill>
                            <a:srgbClr val="241F18"/>
                          </a:solidFill>
                          <a:latin typeface="Segoe UI" panose="020B0502040204020203" pitchFamily="34" charset="0"/>
                        </a:rPr>
                        <a:t>No se recalcula: se mide primero</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extLst>
                  <a:ext uri="{0D108BD9-81ED-4DB2-BD59-A6C34878D82A}">
                    <a16:rowId xmlns:a16="http://schemas.microsoft.com/office/drawing/2014/main" val="2629835335"/>
                  </a:ext>
                </a:extLst>
              </a:tr>
              <a:tr h="486229">
                <a:tc>
                  <a:txBody>
                    <a:bodyPr/>
                    <a:lstStyle/>
                    <a:p>
                      <a:pPr algn="ctr"/>
                      <a:r>
                        <a:rPr lang="es-BO" sz="950" b="0">
                          <a:solidFill>
                            <a:srgbClr val="1C1813"/>
                          </a:solidFill>
                          <a:latin typeface="Segoe UI Semibold" panose="020B0702040204020203" pitchFamily="34" charset="0"/>
                        </a:rPr>
                        <a:t>Geometría real</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MX" sz="950" b="0">
                          <a:solidFill>
                            <a:srgbClr val="241F18"/>
                          </a:solidFill>
                          <a:latin typeface="Segoe UI" panose="020B0502040204020203" pitchFamily="34" charset="0"/>
                        </a:rPr>
                        <a:t>Levantamiento en obra, no planos</a:t>
                      </a:r>
                      <a:endParaRPr lang="es-BO" sz="95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BO" sz="950" b="0">
                          <a:solidFill>
                            <a:srgbClr val="241F18"/>
                          </a:solidFill>
                          <a:latin typeface="Segoe UI" panose="020B0502040204020203" pitchFamily="34" charset="0"/>
                        </a:rPr>
                        <a:t>5</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MX" sz="950" b="0">
                          <a:solidFill>
                            <a:srgbClr val="241F18"/>
                          </a:solidFill>
                          <a:latin typeface="Segoe UI" panose="020B0502040204020203" pitchFamily="34" charset="0"/>
                        </a:rPr>
                        <a:t>Se levanta: las diferencias son habituales</a:t>
                      </a:r>
                      <a:endParaRPr lang="es-BO" sz="95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extLst>
                  <a:ext uri="{0D108BD9-81ED-4DB2-BD59-A6C34878D82A}">
                    <a16:rowId xmlns:a16="http://schemas.microsoft.com/office/drawing/2014/main" val="176340897"/>
                  </a:ext>
                </a:extLst>
              </a:tr>
              <a:tr h="486229">
                <a:tc>
                  <a:txBody>
                    <a:bodyPr/>
                    <a:lstStyle/>
                    <a:p>
                      <a:pPr algn="ctr"/>
                      <a:r>
                        <a:rPr lang="es-BO" sz="950" b="0">
                          <a:solidFill>
                            <a:srgbClr val="1C1813"/>
                          </a:solidFill>
                          <a:latin typeface="Segoe UI Semibold" panose="020B0702040204020203" pitchFamily="34" charset="0"/>
                        </a:rPr>
                        <a:t>Posición de la armadura</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BO" sz="950" b="0">
                          <a:solidFill>
                            <a:srgbClr val="241F18"/>
                          </a:solidFill>
                          <a:latin typeface="Segoe UI" panose="020B0502040204020203" pitchFamily="34" charset="0"/>
                        </a:rPr>
                        <a:t>Pacómetro, con recubrimiento real</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BO" sz="950" b="0">
                          <a:solidFill>
                            <a:srgbClr val="241F18"/>
                          </a:solidFill>
                          <a:latin typeface="Segoe UI" panose="020B0502040204020203" pitchFamily="34" charset="0"/>
                        </a:rPr>
                        <a:t>5</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MX" sz="950" b="0">
                          <a:solidFill>
                            <a:srgbClr val="241F18"/>
                          </a:solidFill>
                          <a:latin typeface="Segoe UI" panose="020B0502040204020203" pitchFamily="34" charset="0"/>
                        </a:rPr>
                        <a:t>Se mide: cambia el canto útil</a:t>
                      </a:r>
                      <a:endParaRPr lang="es-BO" sz="95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extLst>
                  <a:ext uri="{0D108BD9-81ED-4DB2-BD59-A6C34878D82A}">
                    <a16:rowId xmlns:a16="http://schemas.microsoft.com/office/drawing/2014/main" val="3644658708"/>
                  </a:ext>
                </a:extLst>
              </a:tr>
              <a:tr h="486229">
                <a:tc>
                  <a:txBody>
                    <a:bodyPr/>
                    <a:lstStyle/>
                    <a:p>
                      <a:pPr algn="ctr"/>
                      <a:r>
                        <a:rPr lang="es-BO" sz="950" b="0">
                          <a:solidFill>
                            <a:srgbClr val="1C1813"/>
                          </a:solidFill>
                          <a:latin typeface="Segoe UI Semibold" panose="020B0702040204020203" pitchFamily="34" charset="0"/>
                        </a:rPr>
                        <a:t>Sección residual de barras</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MX" sz="950" b="0">
                          <a:solidFill>
                            <a:srgbClr val="241F18"/>
                          </a:solidFill>
                          <a:latin typeface="Segoe UI" panose="020B0502040204020203" pitchFamily="34" charset="0"/>
                        </a:rPr>
                        <a:t>Ventana de comprobación y pie de rey</a:t>
                      </a:r>
                      <a:endParaRPr lang="es-BO" sz="95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BO" sz="950" b="0">
                          <a:solidFill>
                            <a:srgbClr val="241F18"/>
                          </a:solidFill>
                          <a:latin typeface="Segoe UI" panose="020B0502040204020203" pitchFamily="34" charset="0"/>
                        </a:rPr>
                        <a:t>3 y 5</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MX" sz="950" b="0">
                          <a:solidFill>
                            <a:srgbClr val="241F18"/>
                          </a:solidFill>
                          <a:latin typeface="Segoe UI" panose="020B0502040204020203" pitchFamily="34" charset="0"/>
                        </a:rPr>
                        <a:t>Se estima con Faraday y se declara</a:t>
                      </a:r>
                      <a:endParaRPr lang="es-BO" sz="95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extLst>
                  <a:ext uri="{0D108BD9-81ED-4DB2-BD59-A6C34878D82A}">
                    <a16:rowId xmlns:a16="http://schemas.microsoft.com/office/drawing/2014/main" val="620048680"/>
                  </a:ext>
                </a:extLst>
              </a:tr>
              <a:tr h="486229">
                <a:tc>
                  <a:txBody>
                    <a:bodyPr/>
                    <a:lstStyle/>
                    <a:p>
                      <a:pPr algn="ctr"/>
                      <a:r>
                        <a:rPr lang="es-BO" sz="950" b="0">
                          <a:solidFill>
                            <a:srgbClr val="1C1813"/>
                          </a:solidFill>
                          <a:latin typeface="Segoe UI Semibold" panose="020B0702040204020203" pitchFamily="34" charset="0"/>
                        </a:rPr>
                        <a:t>Límite elástico del acero</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MX" sz="950" b="0">
                          <a:solidFill>
                            <a:srgbClr val="241F18"/>
                          </a:solidFill>
                          <a:latin typeface="Segoe UI" panose="020B0502040204020203" pitchFamily="34" charset="0"/>
                        </a:rPr>
                        <a:t>Proyecto si hay documentación, o ensayo de probeta</a:t>
                      </a:r>
                      <a:endParaRPr lang="es-BO" sz="95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BO" sz="950" b="0">
                          <a:solidFill>
                            <a:srgbClr val="241F18"/>
                          </a:solidFill>
                          <a:latin typeface="Segoe UI" panose="020B0502040204020203" pitchFamily="34" charset="0"/>
                        </a:rPr>
                        <a:t>5</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BO" sz="950" b="0">
                          <a:solidFill>
                            <a:srgbClr val="241F18"/>
                          </a:solidFill>
                          <a:latin typeface="Segoe UI" panose="020B0502040204020203" pitchFamily="34" charset="0"/>
                        </a:rPr>
                        <a:t>Se adopta el valor del código de la época</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extLst>
                  <a:ext uri="{0D108BD9-81ED-4DB2-BD59-A6C34878D82A}">
                    <a16:rowId xmlns:a16="http://schemas.microsoft.com/office/drawing/2014/main" val="1901188317"/>
                  </a:ext>
                </a:extLst>
              </a:tr>
              <a:tr h="486229">
                <a:tc>
                  <a:txBody>
                    <a:bodyPr/>
                    <a:lstStyle/>
                    <a:p>
                      <a:pPr algn="ctr"/>
                      <a:r>
                        <a:rPr lang="es-BO" sz="950" b="0">
                          <a:solidFill>
                            <a:srgbClr val="1C1813"/>
                          </a:solidFill>
                          <a:latin typeface="Segoe UI Semibold" panose="020B0702040204020203" pitchFamily="34" charset="0"/>
                        </a:rPr>
                        <a:t>Cargas reales</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MX" sz="950" b="0">
                          <a:solidFill>
                            <a:srgbClr val="241F18"/>
                          </a:solidFill>
                          <a:latin typeface="Segoe UI" panose="020B0502040204020203" pitchFamily="34" charset="0"/>
                        </a:rPr>
                        <a:t>Uso actual y uso previsto, verificados en obra</a:t>
                      </a:r>
                      <a:endParaRPr lang="es-BO" sz="95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BO" sz="950" b="0">
                          <a:solidFill>
                            <a:srgbClr val="241F18"/>
                          </a:solidFill>
                          <a:latin typeface="Segoe UI" panose="020B0502040204020203" pitchFamily="34" charset="0"/>
                        </a:rPr>
                        <a:t>1</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MX" sz="950" b="0">
                          <a:solidFill>
                            <a:srgbClr val="241F18"/>
                          </a:solidFill>
                          <a:latin typeface="Segoe UI" panose="020B0502040204020203" pitchFamily="34" charset="0"/>
                        </a:rPr>
                        <a:t>Se pregunta: nadie almacena lo que decía el proyecto</a:t>
                      </a:r>
                      <a:endParaRPr lang="es-BO" sz="95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extLst>
                  <a:ext uri="{0D108BD9-81ED-4DB2-BD59-A6C34878D82A}">
                    <a16:rowId xmlns:a16="http://schemas.microsoft.com/office/drawing/2014/main" val="2585819796"/>
                  </a:ext>
                </a:extLst>
              </a:tr>
            </a:tbl>
          </a:graphicData>
        </a:graphic>
      </p:graphicFrame>
      <p:sp>
        <p:nvSpPr>
          <p:cNvPr id="7" name="Rectángulo 6">
            <a:extLst>
              <a:ext uri="{FF2B5EF4-FFF2-40B4-BE49-F238E27FC236}">
                <a16:creationId xmlns:a16="http://schemas.microsoft.com/office/drawing/2014/main" id="{CEB121F9-D767-95C1-6A10-3A4D2961850A}"/>
              </a:ext>
            </a:extLst>
          </p:cNvPr>
          <p:cNvSpPr/>
          <p:nvPr/>
        </p:nvSpPr>
        <p:spPr>
          <a:xfrm>
            <a:off x="7213600" y="1422400"/>
            <a:ext cx="4368800" cy="3403600"/>
          </a:xfrm>
          <a:prstGeom prst="rect">
            <a:avLst/>
          </a:prstGeom>
          <a:solidFill>
            <a:srgbClr val="FFFFFF"/>
          </a:solidFill>
          <a:ln w="9525">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9" name="CuadroTexto 8">
            <a:extLst>
              <a:ext uri="{FF2B5EF4-FFF2-40B4-BE49-F238E27FC236}">
                <a16:creationId xmlns:a16="http://schemas.microsoft.com/office/drawing/2014/main" id="{F5978ED0-FFF0-7AA3-4FFB-94D411AF7012}"/>
              </a:ext>
            </a:extLst>
          </p:cNvPr>
          <p:cNvSpPr txBox="1"/>
          <p:nvPr/>
        </p:nvSpPr>
        <p:spPr>
          <a:xfrm>
            <a:off x="7416800" y="1536700"/>
            <a:ext cx="3987800" cy="165100"/>
          </a:xfrm>
          <a:prstGeom prst="rect">
            <a:avLst/>
          </a:prstGeom>
          <a:noFill/>
        </p:spPr>
        <p:txBody>
          <a:bodyPr vert="horz" wrap="square" lIns="0" tIns="0" rIns="0" bIns="0" rtlCol="0" anchor="t">
            <a:noAutofit/>
          </a:bodyPr>
          <a:lstStyle/>
          <a:p>
            <a:r>
              <a:rPr lang="es-BO" sz="750" spc="160">
                <a:solidFill>
                  <a:srgbClr val="6A4F20"/>
                </a:solidFill>
                <a:latin typeface="Segoe UI Semibold" panose="020B0702040204020203" pitchFamily="34" charset="0"/>
              </a:rPr>
              <a:t>CAPACIDAD FRENTE A DEMANDA  ·  COLUMNA C-4</a:t>
            </a:r>
          </a:p>
        </p:txBody>
      </p:sp>
      <p:sp>
        <p:nvSpPr>
          <p:cNvPr id="10" name="Rectángulo 9">
            <a:extLst>
              <a:ext uri="{FF2B5EF4-FFF2-40B4-BE49-F238E27FC236}">
                <a16:creationId xmlns:a16="http://schemas.microsoft.com/office/drawing/2014/main" id="{66603080-7A99-FE2C-53AE-310A6062D588}"/>
              </a:ext>
            </a:extLst>
          </p:cNvPr>
          <p:cNvSpPr/>
          <p:nvPr/>
        </p:nvSpPr>
        <p:spPr>
          <a:xfrm>
            <a:off x="7645400" y="2667000"/>
            <a:ext cx="905933" cy="660400"/>
          </a:xfrm>
          <a:prstGeom prst="rect">
            <a:avLst/>
          </a:prstGeom>
          <a:solidFill>
            <a:srgbClr val="5A524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1" name="CuadroTexto 10">
            <a:extLst>
              <a:ext uri="{FF2B5EF4-FFF2-40B4-BE49-F238E27FC236}">
                <a16:creationId xmlns:a16="http://schemas.microsoft.com/office/drawing/2014/main" id="{D314D069-1233-6FF8-E993-5A990FEDE6D7}"/>
              </a:ext>
            </a:extLst>
          </p:cNvPr>
          <p:cNvSpPr txBox="1"/>
          <p:nvPr/>
        </p:nvSpPr>
        <p:spPr>
          <a:xfrm>
            <a:off x="7543800" y="2489200"/>
            <a:ext cx="1109133" cy="152400"/>
          </a:xfrm>
          <a:prstGeom prst="rect">
            <a:avLst/>
          </a:prstGeom>
          <a:noFill/>
        </p:spPr>
        <p:txBody>
          <a:bodyPr vert="horz" wrap="square" lIns="0" tIns="0" rIns="0" bIns="0" rtlCol="0" anchor="t">
            <a:noAutofit/>
          </a:bodyPr>
          <a:lstStyle/>
          <a:p>
            <a:pPr algn="ctr"/>
            <a:r>
              <a:rPr lang="es-BO" sz="700">
                <a:solidFill>
                  <a:srgbClr val="5A5248"/>
                </a:solidFill>
                <a:latin typeface="Segoe UI Semibold" panose="020B0702040204020203" pitchFamily="34" charset="0"/>
              </a:rPr>
              <a:t>U = 1 250 kN</a:t>
            </a:r>
          </a:p>
        </p:txBody>
      </p:sp>
      <p:sp>
        <p:nvSpPr>
          <p:cNvPr id="12" name="CuadroTexto 11">
            <a:extLst>
              <a:ext uri="{FF2B5EF4-FFF2-40B4-BE49-F238E27FC236}">
                <a16:creationId xmlns:a16="http://schemas.microsoft.com/office/drawing/2014/main" id="{8DB5F085-7AF9-FDA6-F1EE-A4775FB01611}"/>
              </a:ext>
            </a:extLst>
          </p:cNvPr>
          <p:cNvSpPr txBox="1"/>
          <p:nvPr/>
        </p:nvSpPr>
        <p:spPr>
          <a:xfrm>
            <a:off x="7543800" y="3378200"/>
            <a:ext cx="1109133" cy="381000"/>
          </a:xfrm>
          <a:prstGeom prst="rect">
            <a:avLst/>
          </a:prstGeom>
          <a:noFill/>
        </p:spPr>
        <p:txBody>
          <a:bodyPr vert="horz" wrap="square" lIns="0" tIns="0" rIns="0" bIns="0" rtlCol="0" anchor="t">
            <a:noAutofit/>
          </a:bodyPr>
          <a:lstStyle/>
          <a:p>
            <a:pPr algn="ctr"/>
            <a:r>
              <a:rPr lang="es-BO" sz="600">
                <a:solidFill>
                  <a:srgbClr val="938A7C"/>
                </a:solidFill>
                <a:latin typeface="Segoe UI" panose="020B0502040204020203" pitchFamily="34" charset="0"/>
              </a:rPr>
              <a:t>DEMANDA</a:t>
            </a:r>
          </a:p>
        </p:txBody>
      </p:sp>
      <p:sp>
        <p:nvSpPr>
          <p:cNvPr id="13" name="Rectángulo 12">
            <a:extLst>
              <a:ext uri="{FF2B5EF4-FFF2-40B4-BE49-F238E27FC236}">
                <a16:creationId xmlns:a16="http://schemas.microsoft.com/office/drawing/2014/main" id="{C8FEB8F4-04F6-96B4-50C5-DE5901F1F7F1}"/>
              </a:ext>
            </a:extLst>
          </p:cNvPr>
          <p:cNvSpPr/>
          <p:nvPr/>
        </p:nvSpPr>
        <p:spPr>
          <a:xfrm>
            <a:off x="8856133" y="2587752"/>
            <a:ext cx="905933" cy="739648"/>
          </a:xfrm>
          <a:prstGeom prst="rect">
            <a:avLst/>
          </a:prstGeom>
          <a:solidFill>
            <a:srgbClr val="8C332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4" name="CuadroTexto 13">
            <a:extLst>
              <a:ext uri="{FF2B5EF4-FFF2-40B4-BE49-F238E27FC236}">
                <a16:creationId xmlns:a16="http://schemas.microsoft.com/office/drawing/2014/main" id="{12842947-183F-D7CB-52B4-B6FEC56E4145}"/>
              </a:ext>
            </a:extLst>
          </p:cNvPr>
          <p:cNvSpPr txBox="1"/>
          <p:nvPr/>
        </p:nvSpPr>
        <p:spPr>
          <a:xfrm>
            <a:off x="8754533" y="2409952"/>
            <a:ext cx="1109133" cy="152400"/>
          </a:xfrm>
          <a:prstGeom prst="rect">
            <a:avLst/>
          </a:prstGeom>
          <a:noFill/>
        </p:spPr>
        <p:txBody>
          <a:bodyPr vert="horz" wrap="square" lIns="0" tIns="0" rIns="0" bIns="0" rtlCol="0" anchor="t">
            <a:noAutofit/>
          </a:bodyPr>
          <a:lstStyle/>
          <a:p>
            <a:pPr algn="ctr"/>
            <a:r>
              <a:rPr lang="el-GR" sz="700">
                <a:solidFill>
                  <a:srgbClr val="8C332B"/>
                </a:solidFill>
                <a:latin typeface="Segoe UI Semibold" panose="020B0702040204020203" pitchFamily="34" charset="0"/>
              </a:rPr>
              <a:t>φ</a:t>
            </a:r>
            <a:r>
              <a:rPr lang="es-BO" sz="700">
                <a:solidFill>
                  <a:srgbClr val="8C332B"/>
                </a:solidFill>
                <a:latin typeface="Segoe UI Semibold" panose="020B0702040204020203" pitchFamily="34" charset="0"/>
              </a:rPr>
              <a:t>Pn = 1 400 kN</a:t>
            </a:r>
          </a:p>
        </p:txBody>
      </p:sp>
      <p:sp>
        <p:nvSpPr>
          <p:cNvPr id="15" name="CuadroTexto 14">
            <a:extLst>
              <a:ext uri="{FF2B5EF4-FFF2-40B4-BE49-F238E27FC236}">
                <a16:creationId xmlns:a16="http://schemas.microsoft.com/office/drawing/2014/main" id="{CA3A3B08-2694-73B2-D3FD-2D9A5FF90448}"/>
              </a:ext>
            </a:extLst>
          </p:cNvPr>
          <p:cNvSpPr txBox="1"/>
          <p:nvPr/>
        </p:nvSpPr>
        <p:spPr>
          <a:xfrm>
            <a:off x="8754533" y="3378200"/>
            <a:ext cx="1109133" cy="381000"/>
          </a:xfrm>
          <a:prstGeom prst="rect">
            <a:avLst/>
          </a:prstGeom>
          <a:noFill/>
        </p:spPr>
        <p:txBody>
          <a:bodyPr vert="horz" wrap="square" lIns="0" tIns="0" rIns="0" bIns="0" rtlCol="0" anchor="t">
            <a:noAutofit/>
          </a:bodyPr>
          <a:lstStyle/>
          <a:p>
            <a:pPr algn="ctr"/>
            <a:r>
              <a:rPr lang="es-BO" sz="600">
                <a:solidFill>
                  <a:srgbClr val="938A7C"/>
                </a:solidFill>
                <a:latin typeface="Segoe UI" panose="020B0502040204020203" pitchFamily="34" charset="0"/>
              </a:rPr>
              <a:t>RECUBRIMIENTO</a:t>
            </a:r>
          </a:p>
        </p:txBody>
      </p:sp>
      <p:sp>
        <p:nvSpPr>
          <p:cNvPr id="16" name="Rectángulo 15">
            <a:extLst>
              <a:ext uri="{FF2B5EF4-FFF2-40B4-BE49-F238E27FC236}">
                <a16:creationId xmlns:a16="http://schemas.microsoft.com/office/drawing/2014/main" id="{2215B516-707F-C4F9-8C6F-80FAB38A1610}"/>
              </a:ext>
            </a:extLst>
          </p:cNvPr>
          <p:cNvSpPr/>
          <p:nvPr/>
        </p:nvSpPr>
        <p:spPr>
          <a:xfrm>
            <a:off x="10066867" y="2468880"/>
            <a:ext cx="905933" cy="858520"/>
          </a:xfrm>
          <a:prstGeom prst="rect">
            <a:avLst/>
          </a:prstGeom>
          <a:solidFill>
            <a:srgbClr val="4C5F3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7" name="CuadroTexto 16">
            <a:extLst>
              <a:ext uri="{FF2B5EF4-FFF2-40B4-BE49-F238E27FC236}">
                <a16:creationId xmlns:a16="http://schemas.microsoft.com/office/drawing/2014/main" id="{C5C4A853-3816-8D23-4BCB-68DFCD68BD58}"/>
              </a:ext>
            </a:extLst>
          </p:cNvPr>
          <p:cNvSpPr txBox="1"/>
          <p:nvPr/>
        </p:nvSpPr>
        <p:spPr>
          <a:xfrm>
            <a:off x="9965267" y="2291080"/>
            <a:ext cx="1109133" cy="152400"/>
          </a:xfrm>
          <a:prstGeom prst="rect">
            <a:avLst/>
          </a:prstGeom>
          <a:noFill/>
        </p:spPr>
        <p:txBody>
          <a:bodyPr vert="horz" wrap="square" lIns="0" tIns="0" rIns="0" bIns="0" rtlCol="0" anchor="t">
            <a:noAutofit/>
          </a:bodyPr>
          <a:lstStyle/>
          <a:p>
            <a:pPr algn="ctr"/>
            <a:r>
              <a:rPr lang="el-GR" sz="700">
                <a:solidFill>
                  <a:srgbClr val="4C5F33"/>
                </a:solidFill>
                <a:latin typeface="Segoe UI Semibold" panose="020B0702040204020203" pitchFamily="34" charset="0"/>
              </a:rPr>
              <a:t>φ</a:t>
            </a:r>
            <a:r>
              <a:rPr lang="es-BO" sz="700">
                <a:solidFill>
                  <a:srgbClr val="4C5F33"/>
                </a:solidFill>
                <a:latin typeface="Segoe UI Semibold" panose="020B0702040204020203" pitchFamily="34" charset="0"/>
              </a:rPr>
              <a:t>Pn = 1 625 kN</a:t>
            </a:r>
          </a:p>
        </p:txBody>
      </p:sp>
      <p:sp>
        <p:nvSpPr>
          <p:cNvPr id="18" name="CuadroTexto 17">
            <a:extLst>
              <a:ext uri="{FF2B5EF4-FFF2-40B4-BE49-F238E27FC236}">
                <a16:creationId xmlns:a16="http://schemas.microsoft.com/office/drawing/2014/main" id="{7A7BBF31-7572-46E4-7330-065F3F08B283}"/>
              </a:ext>
            </a:extLst>
          </p:cNvPr>
          <p:cNvSpPr txBox="1"/>
          <p:nvPr/>
        </p:nvSpPr>
        <p:spPr>
          <a:xfrm>
            <a:off x="9965267" y="3378200"/>
            <a:ext cx="1109133" cy="381000"/>
          </a:xfrm>
          <a:prstGeom prst="rect">
            <a:avLst/>
          </a:prstGeom>
          <a:noFill/>
        </p:spPr>
        <p:txBody>
          <a:bodyPr vert="horz" wrap="square" lIns="0" tIns="0" rIns="0" bIns="0" rtlCol="0" anchor="t">
            <a:noAutofit/>
          </a:bodyPr>
          <a:lstStyle/>
          <a:p>
            <a:pPr algn="ctr"/>
            <a:r>
              <a:rPr lang="es-BO" sz="600">
                <a:solidFill>
                  <a:srgbClr val="938A7C"/>
                </a:solidFill>
                <a:latin typeface="Segoe UI" panose="020B0502040204020203" pitchFamily="34" charset="0"/>
              </a:rPr>
              <a:t>REPUESTO</a:t>
            </a:r>
          </a:p>
        </p:txBody>
      </p:sp>
      <p:cxnSp>
        <p:nvCxnSpPr>
          <p:cNvPr id="19" name="Conector recto 18">
            <a:extLst>
              <a:ext uri="{FF2B5EF4-FFF2-40B4-BE49-F238E27FC236}">
                <a16:creationId xmlns:a16="http://schemas.microsoft.com/office/drawing/2014/main" id="{729AC146-A6B0-6D1E-8C81-8B53957535A5}"/>
              </a:ext>
            </a:extLst>
          </p:cNvPr>
          <p:cNvCxnSpPr/>
          <p:nvPr/>
        </p:nvCxnSpPr>
        <p:spPr>
          <a:xfrm>
            <a:off x="7569200" y="3327400"/>
            <a:ext cx="3657600" cy="0"/>
          </a:xfrm>
          <a:prstGeom prst="line">
            <a:avLst/>
          </a:prstGeom>
          <a:ln w="12700">
            <a:solidFill>
              <a:srgbClr val="5A5248"/>
            </a:solidFill>
            <a:prstDash val="solid"/>
          </a:ln>
        </p:spPr>
        <p:style>
          <a:lnRef idx="1">
            <a:schemeClr val="accent1"/>
          </a:lnRef>
          <a:fillRef idx="0">
            <a:schemeClr val="accent1"/>
          </a:fillRef>
          <a:effectRef idx="0">
            <a:schemeClr val="accent1"/>
          </a:effectRef>
          <a:fontRef idx="minor">
            <a:schemeClr val="tx1"/>
          </a:fontRef>
        </p:style>
      </p:cxnSp>
      <p:cxnSp>
        <p:nvCxnSpPr>
          <p:cNvPr id="20" name="Conector recto 19">
            <a:extLst>
              <a:ext uri="{FF2B5EF4-FFF2-40B4-BE49-F238E27FC236}">
                <a16:creationId xmlns:a16="http://schemas.microsoft.com/office/drawing/2014/main" id="{15CAE521-807B-F038-62F6-CC97220BEDE2}"/>
              </a:ext>
            </a:extLst>
          </p:cNvPr>
          <p:cNvCxnSpPr/>
          <p:nvPr/>
        </p:nvCxnSpPr>
        <p:spPr>
          <a:xfrm>
            <a:off x="7569200" y="2667000"/>
            <a:ext cx="3657600" cy="0"/>
          </a:xfrm>
          <a:prstGeom prst="line">
            <a:avLst/>
          </a:prstGeom>
          <a:ln w="12700" cap="sq">
            <a:solidFill>
              <a:srgbClr val="1C1813"/>
            </a:solidFill>
            <a:prstDash val="dot"/>
          </a:ln>
        </p:spPr>
        <p:style>
          <a:lnRef idx="1">
            <a:schemeClr val="accent1"/>
          </a:lnRef>
          <a:fillRef idx="0">
            <a:schemeClr val="accent1"/>
          </a:fillRef>
          <a:effectRef idx="0">
            <a:schemeClr val="accent1"/>
          </a:effectRef>
          <a:fontRef idx="minor">
            <a:schemeClr val="tx1"/>
          </a:fontRef>
        </p:style>
      </p:cxnSp>
      <p:sp>
        <p:nvSpPr>
          <p:cNvPr id="21" name="CuadroTexto 20">
            <a:extLst>
              <a:ext uri="{FF2B5EF4-FFF2-40B4-BE49-F238E27FC236}">
                <a16:creationId xmlns:a16="http://schemas.microsoft.com/office/drawing/2014/main" id="{055558A7-B2A3-C3BE-63E5-9981EEEEA727}"/>
              </a:ext>
            </a:extLst>
          </p:cNvPr>
          <p:cNvSpPr txBox="1"/>
          <p:nvPr/>
        </p:nvSpPr>
        <p:spPr>
          <a:xfrm>
            <a:off x="10185400" y="2527300"/>
            <a:ext cx="1041400" cy="152400"/>
          </a:xfrm>
          <a:prstGeom prst="rect">
            <a:avLst/>
          </a:prstGeom>
          <a:noFill/>
        </p:spPr>
        <p:txBody>
          <a:bodyPr vert="horz" wrap="square" lIns="0" tIns="0" rIns="0" bIns="0" rtlCol="0" anchor="t">
            <a:noAutofit/>
          </a:bodyPr>
          <a:lstStyle/>
          <a:p>
            <a:pPr algn="r"/>
            <a:r>
              <a:rPr lang="es-BO" sz="600">
                <a:solidFill>
                  <a:srgbClr val="1C1813"/>
                </a:solidFill>
                <a:latin typeface="Segoe UI Semibold" panose="020B0702040204020203" pitchFamily="34" charset="0"/>
              </a:rPr>
              <a:t>nivel de demanda</a:t>
            </a:r>
          </a:p>
        </p:txBody>
      </p:sp>
      <p:sp>
        <p:nvSpPr>
          <p:cNvPr id="22" name="Rectángulo 21">
            <a:extLst>
              <a:ext uri="{FF2B5EF4-FFF2-40B4-BE49-F238E27FC236}">
                <a16:creationId xmlns:a16="http://schemas.microsoft.com/office/drawing/2014/main" id="{BCD813DD-BC33-B1E2-2862-DDE056919F59}"/>
              </a:ext>
            </a:extLst>
          </p:cNvPr>
          <p:cNvSpPr/>
          <p:nvPr/>
        </p:nvSpPr>
        <p:spPr>
          <a:xfrm>
            <a:off x="7569200" y="3606800"/>
            <a:ext cx="38100" cy="228600"/>
          </a:xfrm>
          <a:prstGeom prst="rect">
            <a:avLst/>
          </a:prstGeom>
          <a:solidFill>
            <a:srgbClr val="8C332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3" name="CuadroTexto 22">
            <a:extLst>
              <a:ext uri="{FF2B5EF4-FFF2-40B4-BE49-F238E27FC236}">
                <a16:creationId xmlns:a16="http://schemas.microsoft.com/office/drawing/2014/main" id="{22D8AC5C-9D12-3AC8-2361-4AB412751364}"/>
              </a:ext>
            </a:extLst>
          </p:cNvPr>
          <p:cNvSpPr txBox="1"/>
          <p:nvPr/>
        </p:nvSpPr>
        <p:spPr>
          <a:xfrm>
            <a:off x="7670800" y="3581400"/>
            <a:ext cx="3505200" cy="152400"/>
          </a:xfrm>
          <a:prstGeom prst="rect">
            <a:avLst/>
          </a:prstGeom>
          <a:noFill/>
        </p:spPr>
        <p:txBody>
          <a:bodyPr vert="horz" wrap="square" lIns="0" tIns="0" rIns="0" bIns="0" rtlCol="0" anchor="t">
            <a:noAutofit/>
          </a:bodyPr>
          <a:lstStyle/>
          <a:p>
            <a:pPr algn="l"/>
            <a:r>
              <a:rPr lang="es-BO" sz="700">
                <a:solidFill>
                  <a:srgbClr val="1C1813"/>
                </a:solidFill>
                <a:latin typeface="Segoe UI Semibold" panose="020B0702040204020203" pitchFamily="34" charset="0"/>
              </a:rPr>
              <a:t>Con el recubrimiento desprendido</a:t>
            </a:r>
          </a:p>
        </p:txBody>
      </p:sp>
      <p:sp>
        <p:nvSpPr>
          <p:cNvPr id="24" name="CuadroTexto 23">
            <a:extLst>
              <a:ext uri="{FF2B5EF4-FFF2-40B4-BE49-F238E27FC236}">
                <a16:creationId xmlns:a16="http://schemas.microsoft.com/office/drawing/2014/main" id="{9ED9FD86-3FF2-4400-7A3A-4A11A7B0C3F7}"/>
              </a:ext>
            </a:extLst>
          </p:cNvPr>
          <p:cNvSpPr txBox="1"/>
          <p:nvPr/>
        </p:nvSpPr>
        <p:spPr>
          <a:xfrm>
            <a:off x="7670800" y="3708400"/>
            <a:ext cx="3505200" cy="381000"/>
          </a:xfrm>
          <a:prstGeom prst="rect">
            <a:avLst/>
          </a:prstGeom>
          <a:noFill/>
        </p:spPr>
        <p:txBody>
          <a:bodyPr vert="horz" wrap="square" lIns="0" tIns="0" rIns="0" bIns="0" rtlCol="0" anchor="t">
            <a:noAutofit/>
          </a:bodyPr>
          <a:lstStyle/>
          <a:p>
            <a:pPr algn="l"/>
            <a:r>
              <a:rPr lang="es-MX" sz="650">
                <a:solidFill>
                  <a:srgbClr val="8C332B"/>
                </a:solidFill>
                <a:latin typeface="Segoe UI" panose="020B0502040204020203" pitchFamily="34" charset="0"/>
              </a:rPr>
              <a:t>margen 1,12  ·  cumple, pero sin reserva</a:t>
            </a:r>
            <a:endParaRPr lang="es-BO" sz="650">
              <a:solidFill>
                <a:srgbClr val="8C332B"/>
              </a:solidFill>
              <a:latin typeface="Segoe UI" panose="020B0502040204020203" pitchFamily="34" charset="0"/>
            </a:endParaRPr>
          </a:p>
        </p:txBody>
      </p:sp>
      <p:sp>
        <p:nvSpPr>
          <p:cNvPr id="25" name="Rectángulo 24">
            <a:extLst>
              <a:ext uri="{FF2B5EF4-FFF2-40B4-BE49-F238E27FC236}">
                <a16:creationId xmlns:a16="http://schemas.microsoft.com/office/drawing/2014/main" id="{A9205CCC-5D4B-494E-E1D5-514E1B008457}"/>
              </a:ext>
            </a:extLst>
          </p:cNvPr>
          <p:cNvSpPr/>
          <p:nvPr/>
        </p:nvSpPr>
        <p:spPr>
          <a:xfrm>
            <a:off x="7569200" y="3911600"/>
            <a:ext cx="38100" cy="228600"/>
          </a:xfrm>
          <a:prstGeom prst="rect">
            <a:avLst/>
          </a:prstGeom>
          <a:solidFill>
            <a:srgbClr val="4C5F3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6" name="CuadroTexto 25">
            <a:extLst>
              <a:ext uri="{FF2B5EF4-FFF2-40B4-BE49-F238E27FC236}">
                <a16:creationId xmlns:a16="http://schemas.microsoft.com/office/drawing/2014/main" id="{35B5CB10-944E-3EF6-6620-095D43FCCFEE}"/>
              </a:ext>
            </a:extLst>
          </p:cNvPr>
          <p:cNvSpPr txBox="1"/>
          <p:nvPr/>
        </p:nvSpPr>
        <p:spPr>
          <a:xfrm>
            <a:off x="7670800" y="3886200"/>
            <a:ext cx="3505200" cy="152400"/>
          </a:xfrm>
          <a:prstGeom prst="rect">
            <a:avLst/>
          </a:prstGeom>
          <a:noFill/>
        </p:spPr>
        <p:txBody>
          <a:bodyPr vert="horz" wrap="square" lIns="0" tIns="0" rIns="0" bIns="0" rtlCol="0" anchor="t">
            <a:noAutofit/>
          </a:bodyPr>
          <a:lstStyle/>
          <a:p>
            <a:pPr algn="l"/>
            <a:r>
              <a:rPr lang="es-BO" sz="700">
                <a:solidFill>
                  <a:srgbClr val="1C1813"/>
                </a:solidFill>
                <a:latin typeface="Segoe UI Semibold" panose="020B0702040204020203" pitchFamily="34" charset="0"/>
              </a:rPr>
              <a:t>Con el recubrimiento repuesto</a:t>
            </a:r>
          </a:p>
        </p:txBody>
      </p:sp>
      <p:sp>
        <p:nvSpPr>
          <p:cNvPr id="27" name="CuadroTexto 26">
            <a:extLst>
              <a:ext uri="{FF2B5EF4-FFF2-40B4-BE49-F238E27FC236}">
                <a16:creationId xmlns:a16="http://schemas.microsoft.com/office/drawing/2014/main" id="{C29C9012-EA37-D6A5-92D5-DBC55C65D9FB}"/>
              </a:ext>
            </a:extLst>
          </p:cNvPr>
          <p:cNvSpPr txBox="1"/>
          <p:nvPr/>
        </p:nvSpPr>
        <p:spPr>
          <a:xfrm>
            <a:off x="7670800" y="4013200"/>
            <a:ext cx="3505200" cy="381000"/>
          </a:xfrm>
          <a:prstGeom prst="rect">
            <a:avLst/>
          </a:prstGeom>
          <a:noFill/>
        </p:spPr>
        <p:txBody>
          <a:bodyPr vert="horz" wrap="square" lIns="0" tIns="0" rIns="0" bIns="0" rtlCol="0" anchor="t">
            <a:noAutofit/>
          </a:bodyPr>
          <a:lstStyle/>
          <a:p>
            <a:pPr algn="l"/>
            <a:r>
              <a:rPr lang="es-MX" sz="650">
                <a:solidFill>
                  <a:srgbClr val="4C5F33"/>
                </a:solidFill>
                <a:latin typeface="Segoe UI" panose="020B0502040204020203" pitchFamily="34" charset="0"/>
              </a:rPr>
              <a:t>margen 1,30  ·  no hace falta reforzar</a:t>
            </a:r>
            <a:endParaRPr lang="es-BO" sz="650">
              <a:solidFill>
                <a:srgbClr val="4C5F33"/>
              </a:solidFill>
              <a:latin typeface="Segoe UI" panose="020B0502040204020203" pitchFamily="34" charset="0"/>
            </a:endParaRPr>
          </a:p>
        </p:txBody>
      </p:sp>
      <p:sp>
        <p:nvSpPr>
          <p:cNvPr id="28" name="CuadroTexto 27">
            <a:extLst>
              <a:ext uri="{FF2B5EF4-FFF2-40B4-BE49-F238E27FC236}">
                <a16:creationId xmlns:a16="http://schemas.microsoft.com/office/drawing/2014/main" id="{859614C4-1826-C715-6656-E7262E22288C}"/>
              </a:ext>
            </a:extLst>
          </p:cNvPr>
          <p:cNvSpPr txBox="1"/>
          <p:nvPr/>
        </p:nvSpPr>
        <p:spPr>
          <a:xfrm>
            <a:off x="7569200" y="4241800"/>
            <a:ext cx="3657600" cy="381000"/>
          </a:xfrm>
          <a:prstGeom prst="rect">
            <a:avLst/>
          </a:prstGeom>
          <a:noFill/>
        </p:spPr>
        <p:txBody>
          <a:bodyPr vert="horz" wrap="square" lIns="0" tIns="0" rIns="0" bIns="0" rtlCol="0" anchor="t">
            <a:noAutofit/>
          </a:bodyPr>
          <a:lstStyle/>
          <a:p>
            <a:pPr algn="l"/>
            <a:r>
              <a:rPr lang="es-MX" sz="700">
                <a:solidFill>
                  <a:srgbClr val="5A5248"/>
                </a:solidFill>
                <a:latin typeface="Segoe UI" panose="020B0502040204020203" pitchFamily="34" charset="0"/>
              </a:rPr>
              <a:t>Si la capacidad gana, </a:t>
            </a:r>
            <a:r>
              <a:rPr lang="es-MX" sz="700" b="1">
                <a:solidFill>
                  <a:srgbClr val="5A5248"/>
                </a:solidFill>
                <a:latin typeface="Segoe UI Semibold" panose="020B0702040204020203" pitchFamily="34" charset="0"/>
              </a:rPr>
              <a:t>se documenta y no se refuerza</a:t>
            </a:r>
            <a:r>
              <a:rPr lang="es-MX" sz="700">
                <a:solidFill>
                  <a:srgbClr val="5A5248"/>
                </a:solidFill>
                <a:latin typeface="Segoe UI" panose="020B0502040204020203" pitchFamily="34" charset="0"/>
              </a:rPr>
              <a:t>: es la salida más frecuente, y la que más dinero ahorra en toda la profesión.</a:t>
            </a:r>
            <a:endParaRPr lang="es-BO" sz="700">
              <a:solidFill>
                <a:srgbClr val="5A5248"/>
              </a:solidFill>
              <a:latin typeface="Segoe UI" panose="020B0502040204020203" pitchFamily="34" charset="0"/>
            </a:endParaRPr>
          </a:p>
        </p:txBody>
      </p:sp>
      <p:sp>
        <p:nvSpPr>
          <p:cNvPr id="29" name="Rectángulo 28">
            <a:extLst>
              <a:ext uri="{FF2B5EF4-FFF2-40B4-BE49-F238E27FC236}">
                <a16:creationId xmlns:a16="http://schemas.microsoft.com/office/drawing/2014/main" id="{2755144F-E1DF-DA24-2DE3-A0DA7EBCB8F7}"/>
              </a:ext>
            </a:extLst>
          </p:cNvPr>
          <p:cNvSpPr/>
          <p:nvPr/>
        </p:nvSpPr>
        <p:spPr>
          <a:xfrm>
            <a:off x="609600" y="5029200"/>
            <a:ext cx="10972800" cy="711200"/>
          </a:xfrm>
          <a:prstGeom prst="rect">
            <a:avLst/>
          </a:prstGeom>
          <a:solidFill>
            <a:srgbClr val="241F1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31" name="CuadroTexto 30">
            <a:extLst>
              <a:ext uri="{FF2B5EF4-FFF2-40B4-BE49-F238E27FC236}">
                <a16:creationId xmlns:a16="http://schemas.microsoft.com/office/drawing/2014/main" id="{A43984E3-6CFB-5838-25F7-B1C5239855BA}"/>
              </a:ext>
            </a:extLst>
          </p:cNvPr>
          <p:cNvSpPr txBox="1"/>
          <p:nvPr/>
        </p:nvSpPr>
        <p:spPr>
          <a:xfrm>
            <a:off x="838200" y="5080000"/>
            <a:ext cx="10566400" cy="609600"/>
          </a:xfrm>
          <a:prstGeom prst="rect">
            <a:avLst/>
          </a:prstGeom>
          <a:noFill/>
        </p:spPr>
        <p:txBody>
          <a:bodyPr vert="horz" wrap="square" lIns="0" tIns="0" rIns="0" bIns="0" rtlCol="0" anchor="ctr">
            <a:noAutofit/>
          </a:bodyPr>
          <a:lstStyle/>
          <a:p>
            <a:pPr algn="l"/>
            <a:r>
              <a:rPr lang="es-MX" sz="1200">
                <a:solidFill>
                  <a:srgbClr val="FFFFFF"/>
                </a:solidFill>
                <a:latin typeface="Segoe UI" panose="020B0502040204020203" pitchFamily="34" charset="0"/>
              </a:rPr>
              <a:t>La cuarta fila es la que distingue este curso. </a:t>
            </a:r>
            <a:r>
              <a:rPr lang="es-MX" sz="1200" b="1">
                <a:solidFill>
                  <a:srgbClr val="FFFFFF"/>
                </a:solidFill>
                <a:latin typeface="Segoe UI Semibold" panose="020B0702040204020203" pitchFamily="34" charset="0"/>
              </a:rPr>
              <a:t>Una barra con el 7 % de sección perdida sigue siendo 4 Ø20 en el plano</a:t>
            </a:r>
            <a:r>
              <a:rPr lang="es-MX" sz="1200">
                <a:solidFill>
                  <a:srgbClr val="FFFFFF"/>
                </a:solidFill>
                <a:latin typeface="Segoe UI" panose="020B0502040204020203" pitchFamily="34" charset="0"/>
              </a:rPr>
              <a:t>, y en el recálculo tiene que entrar con el diámetro que de verdad le queda.</a:t>
            </a:r>
            <a:endParaRPr lang="es-BO" sz="1200">
              <a:solidFill>
                <a:srgbClr val="FFFFFF"/>
              </a:solidFill>
              <a:latin typeface="Segoe UI" panose="020B0502040204020203" pitchFamily="34" charset="0"/>
            </a:endParaRPr>
          </a:p>
        </p:txBody>
      </p:sp>
      <p:sp>
        <p:nvSpPr>
          <p:cNvPr id="32" name="CuadroTexto 31">
            <a:extLst>
              <a:ext uri="{FF2B5EF4-FFF2-40B4-BE49-F238E27FC236}">
                <a16:creationId xmlns:a16="http://schemas.microsoft.com/office/drawing/2014/main" id="{19688205-9D8E-E11A-D4EC-957D10FC6877}"/>
              </a:ext>
            </a:extLst>
          </p:cNvPr>
          <p:cNvSpPr txBox="1"/>
          <p:nvPr/>
        </p:nvSpPr>
        <p:spPr>
          <a:xfrm>
            <a:off x="609600" y="6324600"/>
            <a:ext cx="10972800" cy="152400"/>
          </a:xfrm>
          <a:prstGeom prst="rect">
            <a:avLst/>
          </a:prstGeom>
          <a:noFill/>
        </p:spPr>
        <p:txBody>
          <a:bodyPr vert="horz" wrap="square" lIns="0" tIns="0" rIns="0" bIns="0" rtlCol="0" anchor="t">
            <a:noAutofit/>
          </a:bodyPr>
          <a:lstStyle/>
          <a:p>
            <a:pPr algn="l"/>
            <a:r>
              <a:rPr lang="es-BO" sz="700">
                <a:solidFill>
                  <a:srgbClr val="938A7C"/>
                </a:solidFill>
                <a:latin typeface="Segoe UI" panose="020B0502040204020203" pitchFamily="34" charset="0"/>
              </a:rPr>
              <a:t>Fuente: ACI 562 §6; ACI 364.1R.</a:t>
            </a:r>
          </a:p>
        </p:txBody>
      </p:sp>
      <p:cxnSp>
        <p:nvCxnSpPr>
          <p:cNvPr id="33" name="Conector recto 32">
            <a:extLst>
              <a:ext uri="{FF2B5EF4-FFF2-40B4-BE49-F238E27FC236}">
                <a16:creationId xmlns:a16="http://schemas.microsoft.com/office/drawing/2014/main" id="{3736C917-DF3A-BB30-F0A8-2C14ADC75B94}"/>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34" name="CuadroTexto 33">
            <a:extLst>
              <a:ext uri="{FF2B5EF4-FFF2-40B4-BE49-F238E27FC236}">
                <a16:creationId xmlns:a16="http://schemas.microsoft.com/office/drawing/2014/main" id="{3BB033E7-7ACB-CAD7-3752-23775C9B5167}"/>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35" name="CuadroTexto 34">
            <a:extLst>
              <a:ext uri="{FF2B5EF4-FFF2-40B4-BE49-F238E27FC236}">
                <a16:creationId xmlns:a16="http://schemas.microsoft.com/office/drawing/2014/main" id="{075B49C6-0569-FE1D-4079-D8C412B384F8}"/>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36" name="PageNo">
            <a:extLst>
              <a:ext uri="{FF2B5EF4-FFF2-40B4-BE49-F238E27FC236}">
                <a16:creationId xmlns:a16="http://schemas.microsoft.com/office/drawing/2014/main" id="{90616DE5-5E55-CCF6-A209-FA42A23C7829}"/>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06 / 38</a:t>
            </a:r>
          </a:p>
        </p:txBody>
      </p:sp>
    </p:spTree>
    <p:extLst>
      <p:ext uri="{BB962C8B-B14F-4D97-AF65-F5344CB8AC3E}">
        <p14:creationId xmlns:p14="http://schemas.microsoft.com/office/powerpoint/2010/main" val="35453562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B38A9FC-56EE-E63C-A07C-BC3B18B2BDB6}"/>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BO" sz="900" spc="180">
                <a:solidFill>
                  <a:srgbClr val="6A4F20"/>
                </a:solidFill>
                <a:latin typeface="Segoe UI Semibold" panose="020B0702040204020203" pitchFamily="34" charset="0"/>
              </a:rPr>
              <a:t>PARTE 1 · CAPACIDAD FRENTE A DEMANDA</a:t>
            </a:r>
          </a:p>
        </p:txBody>
      </p:sp>
      <p:sp>
        <p:nvSpPr>
          <p:cNvPr id="3" name="Title">
            <a:extLst>
              <a:ext uri="{FF2B5EF4-FFF2-40B4-BE49-F238E27FC236}">
                <a16:creationId xmlns:a16="http://schemas.microsoft.com/office/drawing/2014/main" id="{5FE4FE8E-0454-677F-92B2-5FDD65D0AED9}"/>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Dos comprobaciones distintas, y una de ellas no es negociable</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BDB898AA-280B-84B6-4BCE-D99D30F3A4BA}"/>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6" name="Rectángulo 5">
            <a:extLst>
              <a:ext uri="{FF2B5EF4-FFF2-40B4-BE49-F238E27FC236}">
                <a16:creationId xmlns:a16="http://schemas.microsoft.com/office/drawing/2014/main" id="{B31419BD-CA37-C4C6-2FAB-FC84CD24AEF5}"/>
              </a:ext>
            </a:extLst>
          </p:cNvPr>
          <p:cNvSpPr/>
          <p:nvPr/>
        </p:nvSpPr>
        <p:spPr>
          <a:xfrm>
            <a:off x="609600" y="1422400"/>
            <a:ext cx="2641600" cy="27940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8" name="CuadroTexto 7">
            <a:extLst>
              <a:ext uri="{FF2B5EF4-FFF2-40B4-BE49-F238E27FC236}">
                <a16:creationId xmlns:a16="http://schemas.microsoft.com/office/drawing/2014/main" id="{1A0686B5-1699-510E-C3B5-3A68FF9998A7}"/>
              </a:ext>
            </a:extLst>
          </p:cNvPr>
          <p:cNvSpPr txBox="1"/>
          <p:nvPr/>
        </p:nvSpPr>
        <p:spPr>
          <a:xfrm>
            <a:off x="812800" y="1600200"/>
            <a:ext cx="1016000" cy="304800"/>
          </a:xfrm>
          <a:prstGeom prst="rect">
            <a:avLst/>
          </a:prstGeom>
          <a:noFill/>
        </p:spPr>
        <p:txBody>
          <a:bodyPr vert="horz" wrap="square" lIns="0" tIns="0" rIns="0" bIns="0" rtlCol="0" anchor="t">
            <a:noAutofit/>
          </a:bodyPr>
          <a:lstStyle/>
          <a:p>
            <a:r>
              <a:rPr lang="es-BO" sz="2000">
                <a:solidFill>
                  <a:srgbClr val="8A6A2F"/>
                </a:solidFill>
                <a:latin typeface="Bahnschrift Light" panose="020B0502040204020203" pitchFamily="34" charset="0"/>
              </a:rPr>
              <a:t>01</a:t>
            </a:r>
          </a:p>
        </p:txBody>
      </p:sp>
      <p:sp>
        <p:nvSpPr>
          <p:cNvPr id="9" name="CuadroTexto 8">
            <a:extLst>
              <a:ext uri="{FF2B5EF4-FFF2-40B4-BE49-F238E27FC236}">
                <a16:creationId xmlns:a16="http://schemas.microsoft.com/office/drawing/2014/main" id="{958963B8-6D5D-7911-4AD7-4FE3A6AEC7C9}"/>
              </a:ext>
            </a:extLst>
          </p:cNvPr>
          <p:cNvSpPr txBox="1"/>
          <p:nvPr/>
        </p:nvSpPr>
        <p:spPr>
          <a:xfrm>
            <a:off x="812800" y="1981200"/>
            <a:ext cx="2260600" cy="279400"/>
          </a:xfrm>
          <a:prstGeom prst="rect">
            <a:avLst/>
          </a:prstGeom>
          <a:noFill/>
        </p:spPr>
        <p:txBody>
          <a:bodyPr vert="horz" wrap="square" lIns="0" tIns="0" rIns="0" bIns="0" rtlCol="0" anchor="t">
            <a:noAutofit/>
          </a:bodyPr>
          <a:lstStyle/>
          <a:p>
            <a:r>
              <a:rPr lang="es-BO" sz="1300">
                <a:solidFill>
                  <a:srgbClr val="1C1813"/>
                </a:solidFill>
                <a:latin typeface="Bahnschrift SemiBold" panose="020B0502040204020203" pitchFamily="34" charset="0"/>
              </a:rPr>
              <a:t>La capacidad</a:t>
            </a:r>
          </a:p>
        </p:txBody>
      </p:sp>
      <p:sp>
        <p:nvSpPr>
          <p:cNvPr id="10" name="CuadroTexto 9">
            <a:extLst>
              <a:ext uri="{FF2B5EF4-FFF2-40B4-BE49-F238E27FC236}">
                <a16:creationId xmlns:a16="http://schemas.microsoft.com/office/drawing/2014/main" id="{8AD7A92E-F133-BA8C-DC05-C7CB9DA2E21B}"/>
              </a:ext>
            </a:extLst>
          </p:cNvPr>
          <p:cNvSpPr txBox="1"/>
          <p:nvPr/>
        </p:nvSpPr>
        <p:spPr>
          <a:xfrm>
            <a:off x="812800" y="2247900"/>
            <a:ext cx="2235200" cy="1854200"/>
          </a:xfrm>
          <a:prstGeom prst="rect">
            <a:avLst/>
          </a:prstGeom>
          <a:noFill/>
        </p:spPr>
        <p:txBody>
          <a:bodyPr vert="horz" wrap="square" lIns="0" tIns="0" rIns="0" bIns="0" rtlCol="0" anchor="t">
            <a:noAutofit/>
          </a:bodyPr>
          <a:lstStyle/>
          <a:p>
            <a:pPr algn="l"/>
            <a:r>
              <a:rPr lang="es-MX" sz="1100">
                <a:solidFill>
                  <a:srgbClr val="5A5248"/>
                </a:solidFill>
                <a:latin typeface="Segoe UI" panose="020B0502040204020203" pitchFamily="34" charset="0"/>
              </a:rPr>
              <a:t>φRn ≥ U con la demanda del uso previsto. Es la que decide si la estructura sirve, y se hace con las propiedades medidas.</a:t>
            </a:r>
            <a:endParaRPr lang="es-BO" sz="1100">
              <a:solidFill>
                <a:srgbClr val="5A5248"/>
              </a:solidFill>
              <a:latin typeface="Segoe UI" panose="020B0502040204020203" pitchFamily="34" charset="0"/>
            </a:endParaRPr>
          </a:p>
        </p:txBody>
      </p:sp>
      <p:sp>
        <p:nvSpPr>
          <p:cNvPr id="11" name="Rectángulo 10">
            <a:extLst>
              <a:ext uri="{FF2B5EF4-FFF2-40B4-BE49-F238E27FC236}">
                <a16:creationId xmlns:a16="http://schemas.microsoft.com/office/drawing/2014/main" id="{B89AF9E5-5660-EE39-C201-55D588F971D3}"/>
              </a:ext>
            </a:extLst>
          </p:cNvPr>
          <p:cNvSpPr/>
          <p:nvPr/>
        </p:nvSpPr>
        <p:spPr>
          <a:xfrm>
            <a:off x="3403600" y="1422400"/>
            <a:ext cx="2641600" cy="27940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3" name="CuadroTexto 12">
            <a:extLst>
              <a:ext uri="{FF2B5EF4-FFF2-40B4-BE49-F238E27FC236}">
                <a16:creationId xmlns:a16="http://schemas.microsoft.com/office/drawing/2014/main" id="{6DDE9416-1EC4-253D-894C-7AB78923E809}"/>
              </a:ext>
            </a:extLst>
          </p:cNvPr>
          <p:cNvSpPr txBox="1"/>
          <p:nvPr/>
        </p:nvSpPr>
        <p:spPr>
          <a:xfrm>
            <a:off x="3606800" y="1600200"/>
            <a:ext cx="1016000" cy="304800"/>
          </a:xfrm>
          <a:prstGeom prst="rect">
            <a:avLst/>
          </a:prstGeom>
          <a:noFill/>
        </p:spPr>
        <p:txBody>
          <a:bodyPr vert="horz" wrap="square" lIns="0" tIns="0" rIns="0" bIns="0" rtlCol="0" anchor="t">
            <a:noAutofit/>
          </a:bodyPr>
          <a:lstStyle/>
          <a:p>
            <a:r>
              <a:rPr lang="es-BO" sz="2000">
                <a:solidFill>
                  <a:srgbClr val="8A6A2F"/>
                </a:solidFill>
                <a:latin typeface="Bahnschrift Light" panose="020B0502040204020203" pitchFamily="34" charset="0"/>
              </a:rPr>
              <a:t>02</a:t>
            </a:r>
          </a:p>
        </p:txBody>
      </p:sp>
      <p:sp>
        <p:nvSpPr>
          <p:cNvPr id="14" name="CuadroTexto 13">
            <a:extLst>
              <a:ext uri="{FF2B5EF4-FFF2-40B4-BE49-F238E27FC236}">
                <a16:creationId xmlns:a16="http://schemas.microsoft.com/office/drawing/2014/main" id="{1A8AA36A-92DB-C440-D0BB-5D3856A2F2F9}"/>
              </a:ext>
            </a:extLst>
          </p:cNvPr>
          <p:cNvSpPr txBox="1"/>
          <p:nvPr/>
        </p:nvSpPr>
        <p:spPr>
          <a:xfrm>
            <a:off x="3606800" y="1981200"/>
            <a:ext cx="2260600" cy="279400"/>
          </a:xfrm>
          <a:prstGeom prst="rect">
            <a:avLst/>
          </a:prstGeom>
          <a:noFill/>
        </p:spPr>
        <p:txBody>
          <a:bodyPr vert="horz" wrap="square" lIns="0" tIns="0" rIns="0" bIns="0" rtlCol="0" anchor="t">
            <a:noAutofit/>
          </a:bodyPr>
          <a:lstStyle/>
          <a:p>
            <a:r>
              <a:rPr lang="es-BO" sz="1300">
                <a:solidFill>
                  <a:srgbClr val="1C1813"/>
                </a:solidFill>
                <a:latin typeface="Bahnschrift SemiBold" panose="020B0502040204020203" pitchFamily="34" charset="0"/>
              </a:rPr>
              <a:t>Los prescriptivos</a:t>
            </a:r>
          </a:p>
        </p:txBody>
      </p:sp>
      <p:sp>
        <p:nvSpPr>
          <p:cNvPr id="15" name="CuadroTexto 14">
            <a:extLst>
              <a:ext uri="{FF2B5EF4-FFF2-40B4-BE49-F238E27FC236}">
                <a16:creationId xmlns:a16="http://schemas.microsoft.com/office/drawing/2014/main" id="{658E1273-5FA1-54EB-F24D-A11CF4D5E361}"/>
              </a:ext>
            </a:extLst>
          </p:cNvPr>
          <p:cNvSpPr txBox="1"/>
          <p:nvPr/>
        </p:nvSpPr>
        <p:spPr>
          <a:xfrm>
            <a:off x="3606800" y="2247900"/>
            <a:ext cx="2235200" cy="1854200"/>
          </a:xfrm>
          <a:prstGeom prst="rect">
            <a:avLst/>
          </a:prstGeom>
          <a:noFill/>
        </p:spPr>
        <p:txBody>
          <a:bodyPr vert="horz" wrap="square" lIns="0" tIns="0" rIns="0" bIns="0" rtlCol="0" anchor="t">
            <a:noAutofit/>
          </a:bodyPr>
          <a:lstStyle/>
          <a:p>
            <a:pPr algn="l"/>
            <a:r>
              <a:rPr lang="es-MX" sz="1100">
                <a:solidFill>
                  <a:srgbClr val="5A5248"/>
                </a:solidFill>
                <a:latin typeface="Segoe UI" panose="020B0502040204020203" pitchFamily="34" charset="0"/>
              </a:rPr>
              <a:t>Cuantías mínimas, separaciones de estribos, longitudes de anclaje. Son reglas de obra nueva, pensadas para asegurar comportamiento, no capacidad.</a:t>
            </a:r>
            <a:endParaRPr lang="es-BO" sz="1100">
              <a:solidFill>
                <a:srgbClr val="5A5248"/>
              </a:solidFill>
              <a:latin typeface="Segoe UI" panose="020B0502040204020203" pitchFamily="34" charset="0"/>
            </a:endParaRPr>
          </a:p>
        </p:txBody>
      </p:sp>
      <p:sp>
        <p:nvSpPr>
          <p:cNvPr id="16" name="Rectángulo 15">
            <a:extLst>
              <a:ext uri="{FF2B5EF4-FFF2-40B4-BE49-F238E27FC236}">
                <a16:creationId xmlns:a16="http://schemas.microsoft.com/office/drawing/2014/main" id="{1E05DB19-8F02-0125-6179-2A0565D0D85A}"/>
              </a:ext>
            </a:extLst>
          </p:cNvPr>
          <p:cNvSpPr/>
          <p:nvPr/>
        </p:nvSpPr>
        <p:spPr>
          <a:xfrm>
            <a:off x="6197600" y="1422400"/>
            <a:ext cx="2641600" cy="27940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8" name="CuadroTexto 17">
            <a:extLst>
              <a:ext uri="{FF2B5EF4-FFF2-40B4-BE49-F238E27FC236}">
                <a16:creationId xmlns:a16="http://schemas.microsoft.com/office/drawing/2014/main" id="{CCF1D62E-1A05-7180-E4D6-37CEBDF617CD}"/>
              </a:ext>
            </a:extLst>
          </p:cNvPr>
          <p:cNvSpPr txBox="1"/>
          <p:nvPr/>
        </p:nvSpPr>
        <p:spPr>
          <a:xfrm>
            <a:off x="6400800" y="1600200"/>
            <a:ext cx="1016000" cy="304800"/>
          </a:xfrm>
          <a:prstGeom prst="rect">
            <a:avLst/>
          </a:prstGeom>
          <a:noFill/>
        </p:spPr>
        <p:txBody>
          <a:bodyPr vert="horz" wrap="square" lIns="0" tIns="0" rIns="0" bIns="0" rtlCol="0" anchor="t">
            <a:noAutofit/>
          </a:bodyPr>
          <a:lstStyle/>
          <a:p>
            <a:r>
              <a:rPr lang="es-BO" sz="2000">
                <a:solidFill>
                  <a:srgbClr val="8A6A2F"/>
                </a:solidFill>
                <a:latin typeface="Bahnschrift Light" panose="020B0502040204020203" pitchFamily="34" charset="0"/>
              </a:rPr>
              <a:t>03</a:t>
            </a:r>
          </a:p>
        </p:txBody>
      </p:sp>
      <p:sp>
        <p:nvSpPr>
          <p:cNvPr id="19" name="CuadroTexto 18">
            <a:extLst>
              <a:ext uri="{FF2B5EF4-FFF2-40B4-BE49-F238E27FC236}">
                <a16:creationId xmlns:a16="http://schemas.microsoft.com/office/drawing/2014/main" id="{93C1CF14-72AC-4E8F-72CE-F96A50B6003C}"/>
              </a:ext>
            </a:extLst>
          </p:cNvPr>
          <p:cNvSpPr txBox="1"/>
          <p:nvPr/>
        </p:nvSpPr>
        <p:spPr>
          <a:xfrm>
            <a:off x="6400800" y="1981200"/>
            <a:ext cx="2260600" cy="279400"/>
          </a:xfrm>
          <a:prstGeom prst="rect">
            <a:avLst/>
          </a:prstGeom>
          <a:noFill/>
        </p:spPr>
        <p:txBody>
          <a:bodyPr vert="horz" wrap="square" lIns="0" tIns="0" rIns="0" bIns="0" rtlCol="0" anchor="t">
            <a:noAutofit/>
          </a:bodyPr>
          <a:lstStyle/>
          <a:p>
            <a:r>
              <a:rPr lang="es-BO" sz="1300">
                <a:solidFill>
                  <a:srgbClr val="1C1813"/>
                </a:solidFill>
                <a:latin typeface="Bahnschrift SemiBold" panose="020B0502040204020203" pitchFamily="34" charset="0"/>
              </a:rPr>
              <a:t>Si falla uno</a:t>
            </a:r>
          </a:p>
        </p:txBody>
      </p:sp>
      <p:sp>
        <p:nvSpPr>
          <p:cNvPr id="20" name="CuadroTexto 19">
            <a:extLst>
              <a:ext uri="{FF2B5EF4-FFF2-40B4-BE49-F238E27FC236}">
                <a16:creationId xmlns:a16="http://schemas.microsoft.com/office/drawing/2014/main" id="{E479A73D-23EF-DF0B-7246-D1F81248FFA8}"/>
              </a:ext>
            </a:extLst>
          </p:cNvPr>
          <p:cNvSpPr txBox="1"/>
          <p:nvPr/>
        </p:nvSpPr>
        <p:spPr>
          <a:xfrm>
            <a:off x="6400800" y="2247900"/>
            <a:ext cx="2235200" cy="1854200"/>
          </a:xfrm>
          <a:prstGeom prst="rect">
            <a:avLst/>
          </a:prstGeom>
          <a:noFill/>
        </p:spPr>
        <p:txBody>
          <a:bodyPr vert="horz" wrap="square" lIns="0" tIns="0" rIns="0" bIns="0" rtlCol="0" anchor="t">
            <a:noAutofit/>
          </a:bodyPr>
          <a:lstStyle/>
          <a:p>
            <a:pPr algn="l"/>
            <a:r>
              <a:rPr lang="es-MX" sz="1100">
                <a:solidFill>
                  <a:srgbClr val="5A5248"/>
                </a:solidFill>
                <a:latin typeface="Segoe UI" panose="020B0502040204020203" pitchFamily="34" charset="0"/>
              </a:rPr>
              <a:t>Declararlo, evaluar la consecuencia concreta y decidir. No se demuele una columna porque le falte una décima de cuantía mínima.</a:t>
            </a:r>
            <a:endParaRPr lang="es-BO" sz="1100">
              <a:solidFill>
                <a:srgbClr val="5A5248"/>
              </a:solidFill>
              <a:latin typeface="Segoe UI" panose="020B0502040204020203" pitchFamily="34" charset="0"/>
            </a:endParaRPr>
          </a:p>
        </p:txBody>
      </p:sp>
      <p:sp>
        <p:nvSpPr>
          <p:cNvPr id="21" name="Rectángulo 20">
            <a:extLst>
              <a:ext uri="{FF2B5EF4-FFF2-40B4-BE49-F238E27FC236}">
                <a16:creationId xmlns:a16="http://schemas.microsoft.com/office/drawing/2014/main" id="{9FE8D91B-757E-06EE-DD52-1DD3A6543069}"/>
              </a:ext>
            </a:extLst>
          </p:cNvPr>
          <p:cNvSpPr/>
          <p:nvPr/>
        </p:nvSpPr>
        <p:spPr>
          <a:xfrm>
            <a:off x="8991600" y="1422400"/>
            <a:ext cx="2641600" cy="27940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3" name="CuadroTexto 22">
            <a:extLst>
              <a:ext uri="{FF2B5EF4-FFF2-40B4-BE49-F238E27FC236}">
                <a16:creationId xmlns:a16="http://schemas.microsoft.com/office/drawing/2014/main" id="{05826D2B-99B1-7DA4-A13C-5B846BDE0DCD}"/>
              </a:ext>
            </a:extLst>
          </p:cNvPr>
          <p:cNvSpPr txBox="1"/>
          <p:nvPr/>
        </p:nvSpPr>
        <p:spPr>
          <a:xfrm>
            <a:off x="9194800" y="1600200"/>
            <a:ext cx="1016000" cy="304800"/>
          </a:xfrm>
          <a:prstGeom prst="rect">
            <a:avLst/>
          </a:prstGeom>
          <a:noFill/>
        </p:spPr>
        <p:txBody>
          <a:bodyPr vert="horz" wrap="square" lIns="0" tIns="0" rIns="0" bIns="0" rtlCol="0" anchor="t">
            <a:noAutofit/>
          </a:bodyPr>
          <a:lstStyle/>
          <a:p>
            <a:r>
              <a:rPr lang="es-BO" sz="2000">
                <a:solidFill>
                  <a:srgbClr val="8A6A2F"/>
                </a:solidFill>
                <a:latin typeface="Bahnschrift Light" panose="020B0502040204020203" pitchFamily="34" charset="0"/>
              </a:rPr>
              <a:t>04</a:t>
            </a:r>
          </a:p>
        </p:txBody>
      </p:sp>
      <p:sp>
        <p:nvSpPr>
          <p:cNvPr id="24" name="CuadroTexto 23">
            <a:extLst>
              <a:ext uri="{FF2B5EF4-FFF2-40B4-BE49-F238E27FC236}">
                <a16:creationId xmlns:a16="http://schemas.microsoft.com/office/drawing/2014/main" id="{5774AD89-5F6C-253B-6D3A-BDC556500190}"/>
              </a:ext>
            </a:extLst>
          </p:cNvPr>
          <p:cNvSpPr txBox="1"/>
          <p:nvPr/>
        </p:nvSpPr>
        <p:spPr>
          <a:xfrm>
            <a:off x="9194800" y="1981200"/>
            <a:ext cx="2260600" cy="279400"/>
          </a:xfrm>
          <a:prstGeom prst="rect">
            <a:avLst/>
          </a:prstGeom>
          <a:noFill/>
        </p:spPr>
        <p:txBody>
          <a:bodyPr vert="horz" wrap="square" lIns="0" tIns="0" rIns="0" bIns="0" rtlCol="0" anchor="t">
            <a:noAutofit/>
          </a:bodyPr>
          <a:lstStyle/>
          <a:p>
            <a:r>
              <a:rPr lang="es-MX" sz="1300">
                <a:solidFill>
                  <a:srgbClr val="1C1813"/>
                </a:solidFill>
                <a:latin typeface="Bahnschrift SemiBold" panose="020B0502040204020203" pitchFamily="34" charset="0"/>
              </a:rPr>
              <a:t>Lo que no se puede</a:t>
            </a:r>
            <a:endParaRPr lang="es-BO" sz="1300">
              <a:solidFill>
                <a:srgbClr val="1C1813"/>
              </a:solidFill>
              <a:latin typeface="Bahnschrift SemiBold" panose="020B0502040204020203" pitchFamily="34" charset="0"/>
            </a:endParaRPr>
          </a:p>
        </p:txBody>
      </p:sp>
      <p:sp>
        <p:nvSpPr>
          <p:cNvPr id="25" name="CuadroTexto 24">
            <a:extLst>
              <a:ext uri="{FF2B5EF4-FFF2-40B4-BE49-F238E27FC236}">
                <a16:creationId xmlns:a16="http://schemas.microsoft.com/office/drawing/2014/main" id="{60F24604-1922-DCC3-FC56-C2D217DDD60C}"/>
              </a:ext>
            </a:extLst>
          </p:cNvPr>
          <p:cNvSpPr txBox="1"/>
          <p:nvPr/>
        </p:nvSpPr>
        <p:spPr>
          <a:xfrm>
            <a:off x="9194800" y="2247900"/>
            <a:ext cx="2235200" cy="1854200"/>
          </a:xfrm>
          <a:prstGeom prst="rect">
            <a:avLst/>
          </a:prstGeom>
          <a:noFill/>
        </p:spPr>
        <p:txBody>
          <a:bodyPr vert="horz" wrap="square" lIns="0" tIns="0" rIns="0" bIns="0" rtlCol="0" anchor="t">
            <a:noAutofit/>
          </a:bodyPr>
          <a:lstStyle/>
          <a:p>
            <a:pPr algn="l"/>
            <a:r>
              <a:rPr lang="es-MX" sz="1100">
                <a:solidFill>
                  <a:srgbClr val="5A5248"/>
                </a:solidFill>
                <a:latin typeface="Segoe UI" panose="020B0502040204020203" pitchFamily="34" charset="0"/>
              </a:rPr>
              <a:t>Callarlo. Un incumplimiento prescriptivo no declarado es exactamente el tipo de cosa que aparece cuando alguien revisa el informe.</a:t>
            </a:r>
            <a:endParaRPr lang="es-BO" sz="1100">
              <a:solidFill>
                <a:srgbClr val="5A5248"/>
              </a:solidFill>
              <a:latin typeface="Segoe UI" panose="020B0502040204020203" pitchFamily="34" charset="0"/>
            </a:endParaRPr>
          </a:p>
        </p:txBody>
      </p:sp>
      <p:pic>
        <p:nvPicPr>
          <p:cNvPr id="27" name="Imagen 26" descr="Capacidad frente a demanda, prescriptivos, cuantía de 0,99 % frente a 1 % y lo que no se puede callar">
            <a:extLst>
              <a:ext uri="{FF2B5EF4-FFF2-40B4-BE49-F238E27FC236}">
                <a16:creationId xmlns:a16="http://schemas.microsoft.com/office/drawing/2014/main" id="{F703F625-E60A-5C62-EBAD-4E22212D4B3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4318000"/>
            <a:ext cx="10972800" cy="1320800"/>
          </a:xfrm>
          <a:prstGeom prst="rect">
            <a:avLst/>
          </a:prstGeom>
        </p:spPr>
      </p:pic>
      <p:sp>
        <p:nvSpPr>
          <p:cNvPr id="28" name="Rectángulo 27">
            <a:extLst>
              <a:ext uri="{FF2B5EF4-FFF2-40B4-BE49-F238E27FC236}">
                <a16:creationId xmlns:a16="http://schemas.microsoft.com/office/drawing/2014/main" id="{E98B4C6A-B74A-96B5-F26D-B9EC56575FB1}"/>
              </a:ext>
            </a:extLst>
          </p:cNvPr>
          <p:cNvSpPr/>
          <p:nvPr/>
        </p:nvSpPr>
        <p:spPr>
          <a:xfrm>
            <a:off x="609600" y="5765800"/>
            <a:ext cx="10972800" cy="406400"/>
          </a:xfrm>
          <a:prstGeom prst="rect">
            <a:avLst/>
          </a:prstGeom>
          <a:solidFill>
            <a:srgbClr val="241F1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30" name="CuadroTexto 29">
            <a:extLst>
              <a:ext uri="{FF2B5EF4-FFF2-40B4-BE49-F238E27FC236}">
                <a16:creationId xmlns:a16="http://schemas.microsoft.com/office/drawing/2014/main" id="{6A2AC964-C91D-22C7-8945-8B12CC969DF1}"/>
              </a:ext>
            </a:extLst>
          </p:cNvPr>
          <p:cNvSpPr txBox="1"/>
          <p:nvPr/>
        </p:nvSpPr>
        <p:spPr>
          <a:xfrm>
            <a:off x="838200" y="5816600"/>
            <a:ext cx="10566400" cy="304800"/>
          </a:xfrm>
          <a:prstGeom prst="rect">
            <a:avLst/>
          </a:prstGeom>
          <a:noFill/>
        </p:spPr>
        <p:txBody>
          <a:bodyPr vert="horz" wrap="square" lIns="0" tIns="0" rIns="0" bIns="0" rtlCol="0" anchor="ctr">
            <a:noAutofit/>
          </a:bodyPr>
          <a:lstStyle/>
          <a:p>
            <a:pPr algn="l"/>
            <a:r>
              <a:rPr lang="es-MX" sz="1200">
                <a:solidFill>
                  <a:srgbClr val="FFFFFF"/>
                </a:solidFill>
                <a:latin typeface="Segoe UI" panose="020B0502040204020203" pitchFamily="34" charset="0"/>
              </a:rPr>
              <a:t>ACI 562 evalúa lo existente </a:t>
            </a:r>
            <a:r>
              <a:rPr lang="es-MX" sz="1200" b="1">
                <a:solidFill>
                  <a:srgbClr val="FFFFFF"/>
                </a:solidFill>
                <a:latin typeface="Segoe UI Semibold" panose="020B0702040204020203" pitchFamily="34" charset="0"/>
              </a:rPr>
              <a:t>frente a la demanda</a:t>
            </a:r>
            <a:r>
              <a:rPr lang="es-MX" sz="1200">
                <a:solidFill>
                  <a:srgbClr val="FFFFFF"/>
                </a:solidFill>
                <a:latin typeface="Segoe UI" panose="020B0502040204020203" pitchFamily="34" charset="0"/>
              </a:rPr>
              <a:t>, no frente al recetario de obra nueva. Pero exige identificar las deficiencias de detalle y razonar su efecto: es un criterio, no una exención.</a:t>
            </a:r>
            <a:endParaRPr lang="es-BO" sz="1200">
              <a:solidFill>
                <a:srgbClr val="FFFFFF"/>
              </a:solidFill>
              <a:latin typeface="Segoe UI" panose="020B0502040204020203" pitchFamily="34" charset="0"/>
            </a:endParaRPr>
          </a:p>
        </p:txBody>
      </p:sp>
      <p:sp>
        <p:nvSpPr>
          <p:cNvPr id="31" name="CuadroTexto 30">
            <a:extLst>
              <a:ext uri="{FF2B5EF4-FFF2-40B4-BE49-F238E27FC236}">
                <a16:creationId xmlns:a16="http://schemas.microsoft.com/office/drawing/2014/main" id="{08F1BDB3-CBA1-A01B-8D95-EE5D9154D2BB}"/>
              </a:ext>
            </a:extLst>
          </p:cNvPr>
          <p:cNvSpPr txBox="1"/>
          <p:nvPr/>
        </p:nvSpPr>
        <p:spPr>
          <a:xfrm>
            <a:off x="609600" y="6324600"/>
            <a:ext cx="10972800" cy="152400"/>
          </a:xfrm>
          <a:prstGeom prst="rect">
            <a:avLst/>
          </a:prstGeom>
          <a:noFill/>
        </p:spPr>
        <p:txBody>
          <a:bodyPr vert="horz" wrap="square" lIns="0" tIns="0" rIns="0" bIns="0" rtlCol="0" anchor="t">
            <a:noAutofit/>
          </a:bodyPr>
          <a:lstStyle/>
          <a:p>
            <a:pPr algn="l"/>
            <a:r>
              <a:rPr lang="es-MX" sz="700">
                <a:solidFill>
                  <a:srgbClr val="938A7C"/>
                </a:solidFill>
                <a:latin typeface="Segoe UI" panose="020B0502040204020203" pitchFamily="34" charset="0"/>
              </a:rPr>
              <a:t>Fuente: ACI 562 §5 y §6; ACI 318-19 §10.6.1.1 y §25.7.2 para los prescriptivos citados.</a:t>
            </a:r>
            <a:endParaRPr lang="es-BO" sz="700">
              <a:solidFill>
                <a:srgbClr val="938A7C"/>
              </a:solidFill>
              <a:latin typeface="Segoe UI" panose="020B0502040204020203" pitchFamily="34" charset="0"/>
            </a:endParaRPr>
          </a:p>
        </p:txBody>
      </p:sp>
      <p:cxnSp>
        <p:nvCxnSpPr>
          <p:cNvPr id="32" name="Conector recto 31">
            <a:extLst>
              <a:ext uri="{FF2B5EF4-FFF2-40B4-BE49-F238E27FC236}">
                <a16:creationId xmlns:a16="http://schemas.microsoft.com/office/drawing/2014/main" id="{EDE0298C-C7D1-3FF1-7BB5-336C6F6CC9D8}"/>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33" name="CuadroTexto 32">
            <a:extLst>
              <a:ext uri="{FF2B5EF4-FFF2-40B4-BE49-F238E27FC236}">
                <a16:creationId xmlns:a16="http://schemas.microsoft.com/office/drawing/2014/main" id="{CCE53FB9-A306-DB7C-2C96-BDA8C809F162}"/>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34" name="CuadroTexto 33">
            <a:extLst>
              <a:ext uri="{FF2B5EF4-FFF2-40B4-BE49-F238E27FC236}">
                <a16:creationId xmlns:a16="http://schemas.microsoft.com/office/drawing/2014/main" id="{620BA291-6A51-872A-75DE-18B99CBBF9CB}"/>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35" name="PageNo">
            <a:extLst>
              <a:ext uri="{FF2B5EF4-FFF2-40B4-BE49-F238E27FC236}">
                <a16:creationId xmlns:a16="http://schemas.microsoft.com/office/drawing/2014/main" id="{7697ED65-14CF-89C9-9672-F758715A88C9}"/>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07 / 38</a:t>
            </a:r>
          </a:p>
        </p:txBody>
      </p:sp>
    </p:spTree>
    <p:extLst>
      <p:ext uri="{BB962C8B-B14F-4D97-AF65-F5344CB8AC3E}">
        <p14:creationId xmlns:p14="http://schemas.microsoft.com/office/powerpoint/2010/main" val="39780784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509ADE3A-BD82-7722-808E-C7E1C4A79A24}"/>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MX" sz="900" spc="180">
                <a:solidFill>
                  <a:srgbClr val="6A4F20"/>
                </a:solidFill>
                <a:latin typeface="Segoe UI Semibold" panose="020B0702040204020203" pitchFamily="34" charset="0"/>
              </a:rPr>
              <a:t>PARTE 1 · EL CAMBIO DE USO</a:t>
            </a:r>
            <a:endParaRPr lang="es-BO" sz="900" spc="180">
              <a:solidFill>
                <a:srgbClr val="6A4F20"/>
              </a:solidFill>
              <a:latin typeface="Segoe UI Semibold" panose="020B0702040204020203" pitchFamily="34" charset="0"/>
            </a:endParaRPr>
          </a:p>
        </p:txBody>
      </p:sp>
      <p:sp>
        <p:nvSpPr>
          <p:cNvPr id="3" name="Title">
            <a:extLst>
              <a:ext uri="{FF2B5EF4-FFF2-40B4-BE49-F238E27FC236}">
                <a16:creationId xmlns:a16="http://schemas.microsoft.com/office/drawing/2014/main" id="{A11F468D-40E5-A1AA-CE1A-8DCB1576854D}"/>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Casi todos los encargos de este curso empiezan aquí</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EDAEE392-D564-A38D-BCC7-1B367B022819}"/>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6" name="Elipse 5">
            <a:extLst>
              <a:ext uri="{FF2B5EF4-FFF2-40B4-BE49-F238E27FC236}">
                <a16:creationId xmlns:a16="http://schemas.microsoft.com/office/drawing/2014/main" id="{68F02EB0-2CCE-9D17-1884-6A4EB10D7E7E}"/>
              </a:ext>
            </a:extLst>
          </p:cNvPr>
          <p:cNvSpPr/>
          <p:nvPr/>
        </p:nvSpPr>
        <p:spPr>
          <a:xfrm>
            <a:off x="609600" y="1422400"/>
            <a:ext cx="355600" cy="3556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250">
                <a:solidFill>
                  <a:srgbClr val="1C1813"/>
                </a:solidFill>
                <a:latin typeface="Bahnschrift SemiBold" panose="020B0502040204020203" pitchFamily="34" charset="0"/>
              </a:rPr>
              <a:t>1</a:t>
            </a:r>
          </a:p>
        </p:txBody>
      </p:sp>
      <p:sp>
        <p:nvSpPr>
          <p:cNvPr id="7" name="CuadroTexto 6">
            <a:extLst>
              <a:ext uri="{FF2B5EF4-FFF2-40B4-BE49-F238E27FC236}">
                <a16:creationId xmlns:a16="http://schemas.microsoft.com/office/drawing/2014/main" id="{0E2516C2-F165-4B19-095E-1682C52993DF}"/>
              </a:ext>
            </a:extLst>
          </p:cNvPr>
          <p:cNvSpPr txBox="1"/>
          <p:nvPr/>
        </p:nvSpPr>
        <p:spPr>
          <a:xfrm>
            <a:off x="1143000" y="1435100"/>
            <a:ext cx="5842000" cy="228600"/>
          </a:xfrm>
          <a:prstGeom prst="rect">
            <a:avLst/>
          </a:prstGeom>
          <a:noFill/>
        </p:spPr>
        <p:txBody>
          <a:bodyPr vert="horz" wrap="square" lIns="0" tIns="0" rIns="0" bIns="0" rtlCol="0" anchor="t">
            <a:noAutofit/>
          </a:bodyPr>
          <a:lstStyle/>
          <a:p>
            <a:pPr algn="l"/>
            <a:r>
              <a:rPr lang="es-BO" sz="1350">
                <a:solidFill>
                  <a:srgbClr val="1C1813"/>
                </a:solidFill>
                <a:latin typeface="Bahnschrift SemiBold" panose="020B0502040204020203" pitchFamily="34" charset="0"/>
              </a:rPr>
              <a:t>Cambia la carga</a:t>
            </a:r>
          </a:p>
        </p:txBody>
      </p:sp>
      <p:sp>
        <p:nvSpPr>
          <p:cNvPr id="8" name="CuadroTexto 7">
            <a:extLst>
              <a:ext uri="{FF2B5EF4-FFF2-40B4-BE49-F238E27FC236}">
                <a16:creationId xmlns:a16="http://schemas.microsoft.com/office/drawing/2014/main" id="{4CA480D0-8C01-0E31-4882-E5EB92FC05D6}"/>
              </a:ext>
            </a:extLst>
          </p:cNvPr>
          <p:cNvSpPr txBox="1"/>
          <p:nvPr/>
        </p:nvSpPr>
        <p:spPr>
          <a:xfrm>
            <a:off x="1143000" y="1689100"/>
            <a:ext cx="6858000" cy="584200"/>
          </a:xfrm>
          <a:prstGeom prst="rect">
            <a:avLst/>
          </a:prstGeom>
          <a:noFill/>
        </p:spPr>
        <p:txBody>
          <a:bodyPr vert="horz" wrap="square" lIns="0" tIns="0" rIns="0" bIns="0" rtlCol="0" anchor="t">
            <a:noAutofit/>
          </a:bodyPr>
          <a:lstStyle/>
          <a:p>
            <a:pPr algn="l"/>
            <a:r>
              <a:rPr lang="es-MX" sz="1150">
                <a:solidFill>
                  <a:srgbClr val="5A5248"/>
                </a:solidFill>
                <a:latin typeface="Segoe UI" panose="020B0502040204020203" pitchFamily="34" charset="0"/>
              </a:rPr>
              <a:t>Una nave de almacén ligero que pasa a almacenamiento pesado puede duplicar la sobrecarga de uso. Es el caso de la nave Sector 4.</a:t>
            </a:r>
            <a:endParaRPr lang="es-BO" sz="1150">
              <a:solidFill>
                <a:srgbClr val="5A5248"/>
              </a:solidFill>
              <a:latin typeface="Segoe UI" panose="020B0502040204020203" pitchFamily="34" charset="0"/>
            </a:endParaRPr>
          </a:p>
        </p:txBody>
      </p:sp>
      <p:sp>
        <p:nvSpPr>
          <p:cNvPr id="9" name="Elipse 8">
            <a:extLst>
              <a:ext uri="{FF2B5EF4-FFF2-40B4-BE49-F238E27FC236}">
                <a16:creationId xmlns:a16="http://schemas.microsoft.com/office/drawing/2014/main" id="{3FA9923E-647D-A152-8BE2-E740EB7ABF4A}"/>
              </a:ext>
            </a:extLst>
          </p:cNvPr>
          <p:cNvSpPr/>
          <p:nvPr/>
        </p:nvSpPr>
        <p:spPr>
          <a:xfrm>
            <a:off x="609600" y="2387600"/>
            <a:ext cx="355600" cy="3556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250">
                <a:solidFill>
                  <a:srgbClr val="1C1813"/>
                </a:solidFill>
                <a:latin typeface="Bahnschrift SemiBold" panose="020B0502040204020203" pitchFamily="34" charset="0"/>
              </a:rPr>
              <a:t>2</a:t>
            </a:r>
          </a:p>
        </p:txBody>
      </p:sp>
      <p:sp>
        <p:nvSpPr>
          <p:cNvPr id="10" name="CuadroTexto 9">
            <a:extLst>
              <a:ext uri="{FF2B5EF4-FFF2-40B4-BE49-F238E27FC236}">
                <a16:creationId xmlns:a16="http://schemas.microsoft.com/office/drawing/2014/main" id="{62D4C0D7-77DA-EFBC-2621-06A372F4A023}"/>
              </a:ext>
            </a:extLst>
          </p:cNvPr>
          <p:cNvSpPr txBox="1"/>
          <p:nvPr/>
        </p:nvSpPr>
        <p:spPr>
          <a:xfrm>
            <a:off x="1143000" y="2400300"/>
            <a:ext cx="5842000" cy="228600"/>
          </a:xfrm>
          <a:prstGeom prst="rect">
            <a:avLst/>
          </a:prstGeom>
          <a:noFill/>
        </p:spPr>
        <p:txBody>
          <a:bodyPr vert="horz" wrap="square" lIns="0" tIns="0" rIns="0" bIns="0" rtlCol="0" anchor="t">
            <a:noAutofit/>
          </a:bodyPr>
          <a:lstStyle/>
          <a:p>
            <a:pPr algn="l"/>
            <a:r>
              <a:rPr lang="es-BO" sz="1350">
                <a:solidFill>
                  <a:srgbClr val="1C1813"/>
                </a:solidFill>
                <a:latin typeface="Bahnschrift SemiBold" panose="020B0502040204020203" pitchFamily="34" charset="0"/>
              </a:rPr>
              <a:t>Cambia la combinación</a:t>
            </a:r>
          </a:p>
        </p:txBody>
      </p:sp>
      <p:sp>
        <p:nvSpPr>
          <p:cNvPr id="11" name="CuadroTexto 10">
            <a:extLst>
              <a:ext uri="{FF2B5EF4-FFF2-40B4-BE49-F238E27FC236}">
                <a16:creationId xmlns:a16="http://schemas.microsoft.com/office/drawing/2014/main" id="{F7435C16-E0C1-6329-9BA0-CE7989C9C618}"/>
              </a:ext>
            </a:extLst>
          </p:cNvPr>
          <p:cNvSpPr txBox="1"/>
          <p:nvPr/>
        </p:nvSpPr>
        <p:spPr>
          <a:xfrm>
            <a:off x="1143000" y="2654300"/>
            <a:ext cx="6858000" cy="584200"/>
          </a:xfrm>
          <a:prstGeom prst="rect">
            <a:avLst/>
          </a:prstGeom>
          <a:noFill/>
        </p:spPr>
        <p:txBody>
          <a:bodyPr vert="horz" wrap="square" lIns="0" tIns="0" rIns="0" bIns="0" rtlCol="0" anchor="t">
            <a:noAutofit/>
          </a:bodyPr>
          <a:lstStyle/>
          <a:p>
            <a:pPr algn="l"/>
            <a:r>
              <a:rPr lang="es-MX" sz="1150">
                <a:solidFill>
                  <a:srgbClr val="5A5248"/>
                </a:solidFill>
                <a:latin typeface="Segoe UI" panose="020B0502040204020203" pitchFamily="34" charset="0"/>
              </a:rPr>
              <a:t>Más carga permanente, más sobrecarga, y a veces una categoría sísmica distinta. Se recalcula con NBDS-2023, no con lo que rigiera en 1998.</a:t>
            </a:r>
            <a:endParaRPr lang="es-BO" sz="1150">
              <a:solidFill>
                <a:srgbClr val="5A5248"/>
              </a:solidFill>
              <a:latin typeface="Segoe UI" panose="020B0502040204020203" pitchFamily="34" charset="0"/>
            </a:endParaRPr>
          </a:p>
        </p:txBody>
      </p:sp>
      <p:sp>
        <p:nvSpPr>
          <p:cNvPr id="12" name="Elipse 11">
            <a:extLst>
              <a:ext uri="{FF2B5EF4-FFF2-40B4-BE49-F238E27FC236}">
                <a16:creationId xmlns:a16="http://schemas.microsoft.com/office/drawing/2014/main" id="{82DAC946-B758-A87C-938D-C61A739689DD}"/>
              </a:ext>
            </a:extLst>
          </p:cNvPr>
          <p:cNvSpPr/>
          <p:nvPr/>
        </p:nvSpPr>
        <p:spPr>
          <a:xfrm>
            <a:off x="609600" y="3352800"/>
            <a:ext cx="355600" cy="3556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250">
                <a:solidFill>
                  <a:srgbClr val="1C1813"/>
                </a:solidFill>
                <a:latin typeface="Bahnschrift SemiBold" panose="020B0502040204020203" pitchFamily="34" charset="0"/>
              </a:rPr>
              <a:t>3</a:t>
            </a:r>
          </a:p>
        </p:txBody>
      </p:sp>
      <p:sp>
        <p:nvSpPr>
          <p:cNvPr id="13" name="CuadroTexto 12">
            <a:extLst>
              <a:ext uri="{FF2B5EF4-FFF2-40B4-BE49-F238E27FC236}">
                <a16:creationId xmlns:a16="http://schemas.microsoft.com/office/drawing/2014/main" id="{85A82987-D472-CF78-A50E-86C711B10745}"/>
              </a:ext>
            </a:extLst>
          </p:cNvPr>
          <p:cNvSpPr txBox="1"/>
          <p:nvPr/>
        </p:nvSpPr>
        <p:spPr>
          <a:xfrm>
            <a:off x="1143000" y="3365500"/>
            <a:ext cx="5842000" cy="228600"/>
          </a:xfrm>
          <a:prstGeom prst="rect">
            <a:avLst/>
          </a:prstGeom>
          <a:noFill/>
        </p:spPr>
        <p:txBody>
          <a:bodyPr vert="horz" wrap="square" lIns="0" tIns="0" rIns="0" bIns="0" rtlCol="0" anchor="t">
            <a:noAutofit/>
          </a:bodyPr>
          <a:lstStyle/>
          <a:p>
            <a:pPr algn="l"/>
            <a:r>
              <a:rPr lang="es-BO" sz="1350">
                <a:solidFill>
                  <a:srgbClr val="1C1813"/>
                </a:solidFill>
                <a:latin typeface="Bahnschrift SemiBold" panose="020B0502040204020203" pitchFamily="34" charset="0"/>
              </a:rPr>
              <a:t>Cambia el elemento crítico</a:t>
            </a:r>
          </a:p>
        </p:txBody>
      </p:sp>
      <p:sp>
        <p:nvSpPr>
          <p:cNvPr id="14" name="CuadroTexto 13">
            <a:extLst>
              <a:ext uri="{FF2B5EF4-FFF2-40B4-BE49-F238E27FC236}">
                <a16:creationId xmlns:a16="http://schemas.microsoft.com/office/drawing/2014/main" id="{4C34BBB1-8C0F-0F3F-1A10-F4B8BEADF1DF}"/>
              </a:ext>
            </a:extLst>
          </p:cNvPr>
          <p:cNvSpPr txBox="1"/>
          <p:nvPr/>
        </p:nvSpPr>
        <p:spPr>
          <a:xfrm>
            <a:off x="1143000" y="3619500"/>
            <a:ext cx="6858000" cy="584200"/>
          </a:xfrm>
          <a:prstGeom prst="rect">
            <a:avLst/>
          </a:prstGeom>
          <a:noFill/>
        </p:spPr>
        <p:txBody>
          <a:bodyPr vert="horz" wrap="square" lIns="0" tIns="0" rIns="0" bIns="0" rtlCol="0" anchor="t">
            <a:noAutofit/>
          </a:bodyPr>
          <a:lstStyle/>
          <a:p>
            <a:pPr algn="l"/>
            <a:r>
              <a:rPr lang="es-MX" sz="1150">
                <a:solidFill>
                  <a:srgbClr val="5A5248"/>
                </a:solidFill>
                <a:latin typeface="Segoe UI" panose="020B0502040204020203" pitchFamily="34" charset="0"/>
              </a:rPr>
              <a:t>Lo que falla con la carga nueva casi nunca es lo que estaba dañado. En esta nave lo dañado es la viga y lo que falla es la zapata.</a:t>
            </a:r>
            <a:endParaRPr lang="es-BO" sz="1150">
              <a:solidFill>
                <a:srgbClr val="5A5248"/>
              </a:solidFill>
              <a:latin typeface="Segoe UI" panose="020B0502040204020203" pitchFamily="34" charset="0"/>
            </a:endParaRPr>
          </a:p>
        </p:txBody>
      </p:sp>
      <p:sp>
        <p:nvSpPr>
          <p:cNvPr id="15" name="Elipse 14">
            <a:extLst>
              <a:ext uri="{FF2B5EF4-FFF2-40B4-BE49-F238E27FC236}">
                <a16:creationId xmlns:a16="http://schemas.microsoft.com/office/drawing/2014/main" id="{37C77C9A-1A68-E778-9B91-AD8793E6A14B}"/>
              </a:ext>
            </a:extLst>
          </p:cNvPr>
          <p:cNvSpPr/>
          <p:nvPr/>
        </p:nvSpPr>
        <p:spPr>
          <a:xfrm>
            <a:off x="609600" y="4318000"/>
            <a:ext cx="355600" cy="3556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250">
                <a:solidFill>
                  <a:srgbClr val="1C1813"/>
                </a:solidFill>
                <a:latin typeface="Bahnschrift SemiBold" panose="020B0502040204020203" pitchFamily="34" charset="0"/>
              </a:rPr>
              <a:t>4</a:t>
            </a:r>
          </a:p>
        </p:txBody>
      </p:sp>
      <p:sp>
        <p:nvSpPr>
          <p:cNvPr id="16" name="CuadroTexto 15">
            <a:extLst>
              <a:ext uri="{FF2B5EF4-FFF2-40B4-BE49-F238E27FC236}">
                <a16:creationId xmlns:a16="http://schemas.microsoft.com/office/drawing/2014/main" id="{101E71AC-C3F4-8839-E916-9CF8AC3060C4}"/>
              </a:ext>
            </a:extLst>
          </p:cNvPr>
          <p:cNvSpPr txBox="1"/>
          <p:nvPr/>
        </p:nvSpPr>
        <p:spPr>
          <a:xfrm>
            <a:off x="1143000" y="4330700"/>
            <a:ext cx="5842000" cy="228600"/>
          </a:xfrm>
          <a:prstGeom prst="rect">
            <a:avLst/>
          </a:prstGeom>
          <a:noFill/>
        </p:spPr>
        <p:txBody>
          <a:bodyPr vert="horz" wrap="square" lIns="0" tIns="0" rIns="0" bIns="0" rtlCol="0" anchor="t">
            <a:noAutofit/>
          </a:bodyPr>
          <a:lstStyle/>
          <a:p>
            <a:pPr algn="l"/>
            <a:r>
              <a:rPr lang="es-BO" sz="1350">
                <a:solidFill>
                  <a:srgbClr val="1C1813"/>
                </a:solidFill>
                <a:latin typeface="Bahnschrift SemiBold" panose="020B0502040204020203" pitchFamily="34" charset="0"/>
              </a:rPr>
              <a:t>Cambia la exposición</a:t>
            </a:r>
          </a:p>
        </p:txBody>
      </p:sp>
      <p:sp>
        <p:nvSpPr>
          <p:cNvPr id="17" name="CuadroTexto 16">
            <a:extLst>
              <a:ext uri="{FF2B5EF4-FFF2-40B4-BE49-F238E27FC236}">
                <a16:creationId xmlns:a16="http://schemas.microsoft.com/office/drawing/2014/main" id="{2C45A725-850F-5E8D-3D1B-C4166793F99F}"/>
              </a:ext>
            </a:extLst>
          </p:cNvPr>
          <p:cNvSpPr txBox="1"/>
          <p:nvPr/>
        </p:nvSpPr>
        <p:spPr>
          <a:xfrm>
            <a:off x="1143000" y="4584700"/>
            <a:ext cx="6858000" cy="584200"/>
          </a:xfrm>
          <a:prstGeom prst="rect">
            <a:avLst/>
          </a:prstGeom>
          <a:noFill/>
        </p:spPr>
        <p:txBody>
          <a:bodyPr vert="horz" wrap="square" lIns="0" tIns="0" rIns="0" bIns="0" rtlCol="0" anchor="t">
            <a:noAutofit/>
          </a:bodyPr>
          <a:lstStyle/>
          <a:p>
            <a:pPr algn="l"/>
            <a:r>
              <a:rPr lang="es-MX" sz="1150">
                <a:solidFill>
                  <a:srgbClr val="5A5248"/>
                </a:solidFill>
                <a:latin typeface="Segoe UI" panose="020B0502040204020203" pitchFamily="34" charset="0"/>
              </a:rPr>
              <a:t>Un uso nuevo puede traer humedad, productos químicos o lavados que la estructura no tenía previstos. Ocurrió en 2012 y explica medio curso.</a:t>
            </a:r>
            <a:endParaRPr lang="es-BO" sz="1150">
              <a:solidFill>
                <a:srgbClr val="5A5248"/>
              </a:solidFill>
              <a:latin typeface="Segoe UI" panose="020B0502040204020203" pitchFamily="34" charset="0"/>
            </a:endParaRPr>
          </a:p>
        </p:txBody>
      </p:sp>
      <p:pic>
        <p:nvPicPr>
          <p:cNvPr id="19" name="Imagen 18" descr="Corte de la nave Sector 4 con los cuatro cambios del nuevo uso; lo que falla es la zapata">
            <a:extLst>
              <a:ext uri="{FF2B5EF4-FFF2-40B4-BE49-F238E27FC236}">
                <a16:creationId xmlns:a16="http://schemas.microsoft.com/office/drawing/2014/main" id="{AAB939C5-CF7D-9C4F-5668-F9DF7735A9C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229600" y="1422400"/>
            <a:ext cx="3352800" cy="3759200"/>
          </a:xfrm>
          <a:prstGeom prst="rect">
            <a:avLst/>
          </a:prstGeom>
        </p:spPr>
      </p:pic>
      <p:sp>
        <p:nvSpPr>
          <p:cNvPr id="20" name="Rectángulo 19">
            <a:extLst>
              <a:ext uri="{FF2B5EF4-FFF2-40B4-BE49-F238E27FC236}">
                <a16:creationId xmlns:a16="http://schemas.microsoft.com/office/drawing/2014/main" id="{D09A13E2-7464-7F62-45B2-5CC4C0ACC972}"/>
              </a:ext>
            </a:extLst>
          </p:cNvPr>
          <p:cNvSpPr/>
          <p:nvPr/>
        </p:nvSpPr>
        <p:spPr>
          <a:xfrm>
            <a:off x="609600" y="5384800"/>
            <a:ext cx="7366000" cy="660400"/>
          </a:xfrm>
          <a:prstGeom prst="rect">
            <a:avLst/>
          </a:prstGeom>
          <a:solidFill>
            <a:srgbClr val="241F1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2" name="CuadroTexto 21">
            <a:extLst>
              <a:ext uri="{FF2B5EF4-FFF2-40B4-BE49-F238E27FC236}">
                <a16:creationId xmlns:a16="http://schemas.microsoft.com/office/drawing/2014/main" id="{41DC07C3-1C83-C90E-6A7E-CE21A4A2DCDA}"/>
              </a:ext>
            </a:extLst>
          </p:cNvPr>
          <p:cNvSpPr txBox="1"/>
          <p:nvPr/>
        </p:nvSpPr>
        <p:spPr>
          <a:xfrm>
            <a:off x="838200" y="5435600"/>
            <a:ext cx="6959600" cy="558800"/>
          </a:xfrm>
          <a:prstGeom prst="rect">
            <a:avLst/>
          </a:prstGeom>
          <a:noFill/>
        </p:spPr>
        <p:txBody>
          <a:bodyPr vert="horz" wrap="square" lIns="0" tIns="0" rIns="0" bIns="0" rtlCol="0" anchor="ctr">
            <a:noAutofit/>
          </a:bodyPr>
          <a:lstStyle/>
          <a:p>
            <a:pPr algn="l"/>
            <a:r>
              <a:rPr lang="es-MX" sz="1150">
                <a:solidFill>
                  <a:srgbClr val="FFFFFF"/>
                </a:solidFill>
                <a:latin typeface="Segoe UI" panose="020B0502040204020203" pitchFamily="34" charset="0"/>
              </a:rPr>
              <a:t>La tercera es la que más sorprende al cliente: </a:t>
            </a:r>
            <a:r>
              <a:rPr lang="es-MX" sz="1150" b="1">
                <a:solidFill>
                  <a:srgbClr val="FFFFFF"/>
                </a:solidFill>
                <a:latin typeface="Segoe UI Semibold" panose="020B0702040204020203" pitchFamily="34" charset="0"/>
              </a:rPr>
              <a:t>se paga un diagnóstico por las fisuras de la viga y el problema serio está bajo tierra</a:t>
            </a:r>
            <a:r>
              <a:rPr lang="es-MX" sz="1150">
                <a:solidFill>
                  <a:srgbClr val="FFFFFF"/>
                </a:solidFill>
                <a:latin typeface="Segoe UI" panose="020B0502040204020203" pitchFamily="34" charset="0"/>
              </a:rPr>
              <a:t>.</a:t>
            </a:r>
            <a:endParaRPr lang="es-BO" sz="1150">
              <a:solidFill>
                <a:srgbClr val="FFFFFF"/>
              </a:solidFill>
              <a:latin typeface="Segoe UI" panose="020B0502040204020203" pitchFamily="34" charset="0"/>
            </a:endParaRPr>
          </a:p>
        </p:txBody>
      </p:sp>
      <p:sp>
        <p:nvSpPr>
          <p:cNvPr id="23" name="CuadroTexto 22">
            <a:extLst>
              <a:ext uri="{FF2B5EF4-FFF2-40B4-BE49-F238E27FC236}">
                <a16:creationId xmlns:a16="http://schemas.microsoft.com/office/drawing/2014/main" id="{B16E41B1-209D-44C6-EF83-725CCAF8AF2E}"/>
              </a:ext>
            </a:extLst>
          </p:cNvPr>
          <p:cNvSpPr txBox="1"/>
          <p:nvPr/>
        </p:nvSpPr>
        <p:spPr>
          <a:xfrm>
            <a:off x="609600" y="6324600"/>
            <a:ext cx="10972800" cy="152400"/>
          </a:xfrm>
          <a:prstGeom prst="rect">
            <a:avLst/>
          </a:prstGeom>
          <a:noFill/>
        </p:spPr>
        <p:txBody>
          <a:bodyPr vert="horz" wrap="square" lIns="0" tIns="0" rIns="0" bIns="0" rtlCol="0" anchor="t">
            <a:noAutofit/>
          </a:bodyPr>
          <a:lstStyle/>
          <a:p>
            <a:pPr algn="l"/>
            <a:r>
              <a:rPr lang="es-MX" sz="700">
                <a:solidFill>
                  <a:srgbClr val="938A7C"/>
                </a:solidFill>
                <a:latin typeface="Segoe UI" panose="020B0502040204020203" pitchFamily="34" charset="0"/>
              </a:rPr>
              <a:t>Fuente: ACI 562 §4; NBDS-2023 (RM 271 del 27/11/2023) para la demanda sísmica.</a:t>
            </a:r>
            <a:endParaRPr lang="es-BO" sz="700">
              <a:solidFill>
                <a:srgbClr val="938A7C"/>
              </a:solidFill>
              <a:latin typeface="Segoe UI" panose="020B0502040204020203" pitchFamily="34" charset="0"/>
            </a:endParaRPr>
          </a:p>
        </p:txBody>
      </p:sp>
      <p:cxnSp>
        <p:nvCxnSpPr>
          <p:cNvPr id="24" name="Conector recto 23">
            <a:extLst>
              <a:ext uri="{FF2B5EF4-FFF2-40B4-BE49-F238E27FC236}">
                <a16:creationId xmlns:a16="http://schemas.microsoft.com/office/drawing/2014/main" id="{08C4C490-DFCF-0427-1BD5-5C3AB3935D3A}"/>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25" name="CuadroTexto 24">
            <a:extLst>
              <a:ext uri="{FF2B5EF4-FFF2-40B4-BE49-F238E27FC236}">
                <a16:creationId xmlns:a16="http://schemas.microsoft.com/office/drawing/2014/main" id="{0BC1F889-AF8B-074D-4C8F-1B2DB055D441}"/>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26" name="CuadroTexto 25">
            <a:extLst>
              <a:ext uri="{FF2B5EF4-FFF2-40B4-BE49-F238E27FC236}">
                <a16:creationId xmlns:a16="http://schemas.microsoft.com/office/drawing/2014/main" id="{BFFF1116-FB35-4F5D-BD4E-904FAA897CC8}"/>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27" name="PageNo">
            <a:extLst>
              <a:ext uri="{FF2B5EF4-FFF2-40B4-BE49-F238E27FC236}">
                <a16:creationId xmlns:a16="http://schemas.microsoft.com/office/drawing/2014/main" id="{001F6B30-8F31-8450-894A-39C5FCA6F707}"/>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08 / 38</a:t>
            </a:r>
          </a:p>
        </p:txBody>
      </p:sp>
    </p:spTree>
    <p:extLst>
      <p:ext uri="{BB962C8B-B14F-4D97-AF65-F5344CB8AC3E}">
        <p14:creationId xmlns:p14="http://schemas.microsoft.com/office/powerpoint/2010/main" val="33056712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C1813"/>
        </a:solidFill>
        <a:effectLst/>
      </p:bgPr>
    </p:bg>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84767B42-0B01-BE80-A0B5-9649D841B8D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Rectángulo 3">
            <a:extLst>
              <a:ext uri="{FF2B5EF4-FFF2-40B4-BE49-F238E27FC236}">
                <a16:creationId xmlns:a16="http://schemas.microsoft.com/office/drawing/2014/main" id="{FF6F6B3C-8613-E013-3AD7-E562280A0342}"/>
              </a:ext>
            </a:extLst>
          </p:cNvPr>
          <p:cNvSpPr/>
          <p:nvPr/>
        </p:nvSpPr>
        <p:spPr>
          <a:xfrm>
            <a:off x="0" y="0"/>
            <a:ext cx="10668000" cy="6858000"/>
          </a:xfrm>
          <a:prstGeom prst="rect">
            <a:avLst/>
          </a:prstGeom>
          <a:gradFill flip="none" rotWithShape="1">
            <a:gsLst>
              <a:gs pos="0">
                <a:srgbClr val="1C1813"/>
              </a:gs>
              <a:gs pos="100000">
                <a:srgbClr val="1C1813">
                  <a:alpha val="0"/>
                </a:srgbClr>
              </a:gs>
            </a:gsLst>
            <a:lin ang="0" scaled="1"/>
            <a:tileRect/>
          </a:gra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5" name="Rectángulo 4">
            <a:extLst>
              <a:ext uri="{FF2B5EF4-FFF2-40B4-BE49-F238E27FC236}">
                <a16:creationId xmlns:a16="http://schemas.microsoft.com/office/drawing/2014/main" id="{A235171D-8DB9-3FF4-05BB-67B829E18606}"/>
              </a:ext>
            </a:extLst>
          </p:cNvPr>
          <p:cNvSpPr/>
          <p:nvPr/>
        </p:nvSpPr>
        <p:spPr>
          <a:xfrm>
            <a:off x="0" y="0"/>
            <a:ext cx="12192000" cy="6858000"/>
          </a:xfrm>
          <a:prstGeom prst="rect">
            <a:avLst/>
          </a:prstGeom>
          <a:solidFill>
            <a:srgbClr val="1C1813">
              <a:alpha val="58000"/>
            </a:srgb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6" name="CuadroTexto 5">
            <a:extLst>
              <a:ext uri="{FF2B5EF4-FFF2-40B4-BE49-F238E27FC236}">
                <a16:creationId xmlns:a16="http://schemas.microsoft.com/office/drawing/2014/main" id="{CE208BFA-4E99-2B2F-78E4-3A3707CAD3BC}"/>
              </a:ext>
            </a:extLst>
          </p:cNvPr>
          <p:cNvSpPr txBox="1"/>
          <p:nvPr/>
        </p:nvSpPr>
        <p:spPr>
          <a:xfrm>
            <a:off x="609600" y="1905000"/>
            <a:ext cx="3810000" cy="254000"/>
          </a:xfrm>
          <a:prstGeom prst="rect">
            <a:avLst/>
          </a:prstGeom>
          <a:noFill/>
        </p:spPr>
        <p:txBody>
          <a:bodyPr vert="horz" wrap="square" lIns="0" tIns="0" rIns="0" bIns="0" rtlCol="0" anchor="t">
            <a:noAutofit/>
          </a:bodyPr>
          <a:lstStyle/>
          <a:p>
            <a:r>
              <a:rPr lang="es-BO" sz="1100" spc="300">
                <a:solidFill>
                  <a:srgbClr val="C9A66B"/>
                </a:solidFill>
                <a:latin typeface="Segoe UI Semibold" panose="020B0702040204020203" pitchFamily="34" charset="0"/>
              </a:rPr>
              <a:t>PARTE 2</a:t>
            </a:r>
          </a:p>
        </p:txBody>
      </p:sp>
      <p:sp>
        <p:nvSpPr>
          <p:cNvPr id="7" name="Title">
            <a:extLst>
              <a:ext uri="{FF2B5EF4-FFF2-40B4-BE49-F238E27FC236}">
                <a16:creationId xmlns:a16="http://schemas.microsoft.com/office/drawing/2014/main" id="{BFC84C84-F5B1-9E20-DAC8-B9C0B1C63799}"/>
              </a:ext>
            </a:extLst>
          </p:cNvPr>
          <p:cNvSpPr txBox="1"/>
          <p:nvPr/>
        </p:nvSpPr>
        <p:spPr>
          <a:xfrm>
            <a:off x="584200" y="2235200"/>
            <a:ext cx="7874000" cy="1397000"/>
          </a:xfrm>
          <a:prstGeom prst="rect">
            <a:avLst/>
          </a:prstGeom>
          <a:noFill/>
        </p:spPr>
        <p:txBody>
          <a:bodyPr vert="horz" wrap="square" lIns="0" tIns="0" rIns="0" bIns="0" rtlCol="0" anchor="t">
            <a:noAutofit/>
          </a:bodyPr>
          <a:lstStyle/>
          <a:p>
            <a:r>
              <a:rPr lang="es-BO" sz="3800">
                <a:solidFill>
                  <a:srgbClr val="FFFFFF"/>
                </a:solidFill>
                <a:latin typeface="Bahnschrift SemiBold" panose="020B0502040204020203" pitchFamily="34" charset="0"/>
              </a:rPr>
              <a:t>Técnicas de refuerzo</a:t>
            </a:r>
          </a:p>
        </p:txBody>
      </p:sp>
      <p:sp>
        <p:nvSpPr>
          <p:cNvPr id="8" name="Rectángulo 7">
            <a:extLst>
              <a:ext uri="{FF2B5EF4-FFF2-40B4-BE49-F238E27FC236}">
                <a16:creationId xmlns:a16="http://schemas.microsoft.com/office/drawing/2014/main" id="{E3DC330D-2DC7-53E3-95BF-8A253D9E31CC}"/>
              </a:ext>
            </a:extLst>
          </p:cNvPr>
          <p:cNvSpPr/>
          <p:nvPr/>
        </p:nvSpPr>
        <p:spPr>
          <a:xfrm>
            <a:off x="609600" y="3810000"/>
            <a:ext cx="609600" cy="3810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9" name="CuadroTexto 8">
            <a:extLst>
              <a:ext uri="{FF2B5EF4-FFF2-40B4-BE49-F238E27FC236}">
                <a16:creationId xmlns:a16="http://schemas.microsoft.com/office/drawing/2014/main" id="{09B33FE4-D94C-C9FF-E0FC-0D764E593781}"/>
              </a:ext>
            </a:extLst>
          </p:cNvPr>
          <p:cNvSpPr txBox="1"/>
          <p:nvPr/>
        </p:nvSpPr>
        <p:spPr>
          <a:xfrm>
            <a:off x="609600" y="4013200"/>
            <a:ext cx="6604000" cy="762000"/>
          </a:xfrm>
          <a:prstGeom prst="rect">
            <a:avLst/>
          </a:prstGeom>
          <a:noFill/>
        </p:spPr>
        <p:txBody>
          <a:bodyPr vert="horz" wrap="square" lIns="0" tIns="0" rIns="0" bIns="0" rtlCol="0" anchor="t">
            <a:noAutofit/>
          </a:bodyPr>
          <a:lstStyle/>
          <a:p>
            <a:pPr algn="l"/>
            <a:r>
              <a:rPr lang="es-MX" sz="1400">
                <a:solidFill>
                  <a:srgbClr val="E6DFD2"/>
                </a:solidFill>
                <a:latin typeface="Bahnschrift Light" panose="020B0502040204020203" pitchFamily="34" charset="0"/>
              </a:rPr>
              <a:t>Cinco familias, y la elección depende más del acceso y del uso que del cálculo.</a:t>
            </a:r>
            <a:endParaRPr lang="es-BO" sz="1400">
              <a:solidFill>
                <a:srgbClr val="E6DFD2"/>
              </a:solidFill>
              <a:latin typeface="Bahnschrift Light" panose="020B0502040204020203" pitchFamily="34" charset="0"/>
            </a:endParaRPr>
          </a:p>
        </p:txBody>
      </p:sp>
      <p:sp>
        <p:nvSpPr>
          <p:cNvPr id="10" name="Rectángulo 9">
            <a:extLst>
              <a:ext uri="{FF2B5EF4-FFF2-40B4-BE49-F238E27FC236}">
                <a16:creationId xmlns:a16="http://schemas.microsoft.com/office/drawing/2014/main" id="{911D7A74-BCAD-B717-B775-7E105502991C}"/>
              </a:ext>
            </a:extLst>
          </p:cNvPr>
          <p:cNvSpPr/>
          <p:nvPr/>
        </p:nvSpPr>
        <p:spPr>
          <a:xfrm>
            <a:off x="609600" y="5054600"/>
            <a:ext cx="76200" cy="1524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1" name="CuadroTexto 10">
            <a:extLst>
              <a:ext uri="{FF2B5EF4-FFF2-40B4-BE49-F238E27FC236}">
                <a16:creationId xmlns:a16="http://schemas.microsoft.com/office/drawing/2014/main" id="{30B5A51C-AFF8-FB42-60AF-4F91B2708BC6}"/>
              </a:ext>
            </a:extLst>
          </p:cNvPr>
          <p:cNvSpPr txBox="1"/>
          <p:nvPr/>
        </p:nvSpPr>
        <p:spPr>
          <a:xfrm>
            <a:off x="787400" y="4978400"/>
            <a:ext cx="6350000" cy="177800"/>
          </a:xfrm>
          <a:prstGeom prst="rect">
            <a:avLst/>
          </a:prstGeom>
          <a:noFill/>
        </p:spPr>
        <p:txBody>
          <a:bodyPr vert="horz" wrap="square" lIns="0" tIns="0" rIns="0" bIns="0" rtlCol="0" anchor="t">
            <a:noAutofit/>
          </a:bodyPr>
          <a:lstStyle/>
          <a:p>
            <a:pPr algn="l"/>
            <a:r>
              <a:rPr lang="es-BO" sz="1050">
                <a:solidFill>
                  <a:srgbClr val="CFC7B8"/>
                </a:solidFill>
                <a:latin typeface="Segoe UI" panose="020B0502040204020203" pitchFamily="34" charset="0"/>
              </a:rPr>
              <a:t>Las cinco familias</a:t>
            </a:r>
          </a:p>
        </p:txBody>
      </p:sp>
      <p:sp>
        <p:nvSpPr>
          <p:cNvPr id="12" name="Rectángulo 11">
            <a:extLst>
              <a:ext uri="{FF2B5EF4-FFF2-40B4-BE49-F238E27FC236}">
                <a16:creationId xmlns:a16="http://schemas.microsoft.com/office/drawing/2014/main" id="{D8D19930-65D5-2D24-50A4-AFC586AF02F5}"/>
              </a:ext>
            </a:extLst>
          </p:cNvPr>
          <p:cNvSpPr/>
          <p:nvPr/>
        </p:nvSpPr>
        <p:spPr>
          <a:xfrm>
            <a:off x="609600" y="5283200"/>
            <a:ext cx="76200" cy="1524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3" name="CuadroTexto 12">
            <a:extLst>
              <a:ext uri="{FF2B5EF4-FFF2-40B4-BE49-F238E27FC236}">
                <a16:creationId xmlns:a16="http://schemas.microsoft.com/office/drawing/2014/main" id="{0234EFFB-E6F2-C17D-79B1-E0CE0D52BD74}"/>
              </a:ext>
            </a:extLst>
          </p:cNvPr>
          <p:cNvSpPr txBox="1"/>
          <p:nvPr/>
        </p:nvSpPr>
        <p:spPr>
          <a:xfrm>
            <a:off x="787400" y="5207000"/>
            <a:ext cx="6350000" cy="177800"/>
          </a:xfrm>
          <a:prstGeom prst="rect">
            <a:avLst/>
          </a:prstGeom>
          <a:noFill/>
        </p:spPr>
        <p:txBody>
          <a:bodyPr vert="horz" wrap="square" lIns="0" tIns="0" rIns="0" bIns="0" rtlCol="0" anchor="t">
            <a:noAutofit/>
          </a:bodyPr>
          <a:lstStyle/>
          <a:p>
            <a:pPr algn="l"/>
            <a:r>
              <a:rPr lang="es-BO" sz="1050">
                <a:solidFill>
                  <a:srgbClr val="CFC7B8"/>
                </a:solidFill>
                <a:latin typeface="Segoe UI" panose="020B0502040204020203" pitchFamily="34" charset="0"/>
              </a:rPr>
              <a:t>Encamisados</a:t>
            </a:r>
          </a:p>
        </p:txBody>
      </p:sp>
      <p:sp>
        <p:nvSpPr>
          <p:cNvPr id="14" name="Rectángulo 13">
            <a:extLst>
              <a:ext uri="{FF2B5EF4-FFF2-40B4-BE49-F238E27FC236}">
                <a16:creationId xmlns:a16="http://schemas.microsoft.com/office/drawing/2014/main" id="{3377FF24-F5EF-41C6-937D-E975E978F6A7}"/>
              </a:ext>
            </a:extLst>
          </p:cNvPr>
          <p:cNvSpPr/>
          <p:nvPr/>
        </p:nvSpPr>
        <p:spPr>
          <a:xfrm>
            <a:off x="609600" y="5511800"/>
            <a:ext cx="76200" cy="1524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5" name="CuadroTexto 14">
            <a:extLst>
              <a:ext uri="{FF2B5EF4-FFF2-40B4-BE49-F238E27FC236}">
                <a16:creationId xmlns:a16="http://schemas.microsoft.com/office/drawing/2014/main" id="{68429EF6-CC07-A6E8-BE9E-1B7E387E8435}"/>
              </a:ext>
            </a:extLst>
          </p:cNvPr>
          <p:cNvSpPr txBox="1"/>
          <p:nvPr/>
        </p:nvSpPr>
        <p:spPr>
          <a:xfrm>
            <a:off x="787400" y="5435600"/>
            <a:ext cx="6350000" cy="177800"/>
          </a:xfrm>
          <a:prstGeom prst="rect">
            <a:avLst/>
          </a:prstGeom>
          <a:noFill/>
        </p:spPr>
        <p:txBody>
          <a:bodyPr vert="horz" wrap="square" lIns="0" tIns="0" rIns="0" bIns="0" rtlCol="0" anchor="t">
            <a:noAutofit/>
          </a:bodyPr>
          <a:lstStyle/>
          <a:p>
            <a:pPr algn="l"/>
            <a:r>
              <a:rPr lang="es-BO" sz="1050">
                <a:solidFill>
                  <a:srgbClr val="CFC7B8"/>
                </a:solidFill>
                <a:latin typeface="Segoe UI" panose="020B0502040204020203" pitchFamily="34" charset="0"/>
              </a:rPr>
              <a:t>Fibra de carbono</a:t>
            </a:r>
          </a:p>
        </p:txBody>
      </p:sp>
      <p:sp>
        <p:nvSpPr>
          <p:cNvPr id="16" name="CuadroTexto 15">
            <a:extLst>
              <a:ext uri="{FF2B5EF4-FFF2-40B4-BE49-F238E27FC236}">
                <a16:creationId xmlns:a16="http://schemas.microsoft.com/office/drawing/2014/main" id="{DAE74CFA-1DB2-31F3-D973-53B3540D6921}"/>
              </a:ext>
            </a:extLst>
          </p:cNvPr>
          <p:cNvSpPr txBox="1"/>
          <p:nvPr/>
        </p:nvSpPr>
        <p:spPr>
          <a:xfrm>
            <a:off x="609600" y="6477000"/>
            <a:ext cx="5080000" cy="152400"/>
          </a:xfrm>
          <a:prstGeom prst="rect">
            <a:avLst/>
          </a:prstGeom>
          <a:noFill/>
        </p:spPr>
        <p:txBody>
          <a:bodyPr vert="horz" wrap="square" lIns="0" tIns="0" rIns="0" bIns="0" rtlCol="0" anchor="t">
            <a:noAutofit/>
          </a:bodyPr>
          <a:lstStyle/>
          <a:p>
            <a:r>
              <a:rPr lang="es-MX" sz="700" spc="130">
                <a:solidFill>
                  <a:srgbClr val="9C9284"/>
                </a:solidFill>
                <a:latin typeface="Segoe UI" panose="020B0502040204020203" pitchFamily="34" charset="0"/>
              </a:rPr>
              <a:t>CLASE 7 · REFUERZO, RECALCE Y GESTIÓN</a:t>
            </a:r>
            <a:endParaRPr lang="es-BO" sz="700" spc="130">
              <a:solidFill>
                <a:srgbClr val="9C9284"/>
              </a:solidFill>
              <a:latin typeface="Segoe UI" panose="020B0502040204020203" pitchFamily="34" charset="0"/>
            </a:endParaRPr>
          </a:p>
        </p:txBody>
      </p:sp>
    </p:spTree>
    <p:extLst>
      <p:ext uri="{BB962C8B-B14F-4D97-AF65-F5344CB8AC3E}">
        <p14:creationId xmlns:p14="http://schemas.microsoft.com/office/powerpoint/2010/main" val="10486377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EDF6F557-3B5E-30FC-3AD8-44115F136DCF}"/>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MX" sz="900" spc="180">
                <a:solidFill>
                  <a:srgbClr val="6A4F20"/>
                </a:solidFill>
                <a:latin typeface="Segoe UI Semibold" panose="020B0702040204020203" pitchFamily="34" charset="0"/>
              </a:rPr>
              <a:t>PARTE 2 · LAS CINCO FAMILIAS</a:t>
            </a:r>
            <a:endParaRPr lang="es-BO" sz="900" spc="180">
              <a:solidFill>
                <a:srgbClr val="6A4F20"/>
              </a:solidFill>
              <a:latin typeface="Segoe UI Semibold" panose="020B0702040204020203" pitchFamily="34" charset="0"/>
            </a:endParaRPr>
          </a:p>
        </p:txBody>
      </p:sp>
      <p:sp>
        <p:nvSpPr>
          <p:cNvPr id="3" name="Title">
            <a:extLst>
              <a:ext uri="{FF2B5EF4-FFF2-40B4-BE49-F238E27FC236}">
                <a16:creationId xmlns:a16="http://schemas.microsoft.com/office/drawing/2014/main" id="{0DEFFBFC-09A3-2953-29CF-76A36F2CF982}"/>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Qué aporta cada una, y qué pide a cambio</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9C519B13-1A7B-9546-EB83-FB0A62BD6C14}"/>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graphicFrame>
        <p:nvGraphicFramePr>
          <p:cNvPr id="6" name="Tabla 5">
            <a:extLst>
              <a:ext uri="{FF2B5EF4-FFF2-40B4-BE49-F238E27FC236}">
                <a16:creationId xmlns:a16="http://schemas.microsoft.com/office/drawing/2014/main" id="{E1607A91-079C-B5A1-AA35-778A08F82A32}"/>
              </a:ext>
            </a:extLst>
          </p:cNvPr>
          <p:cNvGraphicFramePr>
            <a:graphicFrameLocks noGrp="1"/>
          </p:cNvGraphicFramePr>
          <p:nvPr>
            <p:extLst>
              <p:ext uri="{D42A27DB-BD31-4B8C-83A1-F6EECF244321}">
                <p14:modId xmlns:p14="http://schemas.microsoft.com/office/powerpoint/2010/main" val="2289933519"/>
              </p:ext>
            </p:extLst>
          </p:nvPr>
        </p:nvGraphicFramePr>
        <p:xfrm>
          <a:off x="609600" y="1422400"/>
          <a:ext cx="6299200" cy="3403600"/>
        </p:xfrm>
        <a:graphic>
          <a:graphicData uri="http://schemas.openxmlformats.org/drawingml/2006/table">
            <a:tbl>
              <a:tblPr firstRow="1" bandRow="1">
                <a:tableStyleId>{5C22544A-7EE6-4342-B048-85BDC9FD1C3A}</a:tableStyleId>
              </a:tblPr>
              <a:tblGrid>
                <a:gridCol w="1397000">
                  <a:extLst>
                    <a:ext uri="{9D8B030D-6E8A-4147-A177-3AD203B41FA5}">
                      <a16:colId xmlns:a16="http://schemas.microsoft.com/office/drawing/2014/main" val="2033331652"/>
                    </a:ext>
                  </a:extLst>
                </a:gridCol>
                <a:gridCol w="1549400">
                  <a:extLst>
                    <a:ext uri="{9D8B030D-6E8A-4147-A177-3AD203B41FA5}">
                      <a16:colId xmlns:a16="http://schemas.microsoft.com/office/drawing/2014/main" val="4027411193"/>
                    </a:ext>
                  </a:extLst>
                </a:gridCol>
                <a:gridCol w="1828800">
                  <a:extLst>
                    <a:ext uri="{9D8B030D-6E8A-4147-A177-3AD203B41FA5}">
                      <a16:colId xmlns:a16="http://schemas.microsoft.com/office/drawing/2014/main" val="846836916"/>
                    </a:ext>
                  </a:extLst>
                </a:gridCol>
                <a:gridCol w="1524000">
                  <a:extLst>
                    <a:ext uri="{9D8B030D-6E8A-4147-A177-3AD203B41FA5}">
                      <a16:colId xmlns:a16="http://schemas.microsoft.com/office/drawing/2014/main" val="14648527"/>
                    </a:ext>
                  </a:extLst>
                </a:gridCol>
              </a:tblGrid>
              <a:tr h="567267">
                <a:tc>
                  <a:txBody>
                    <a:bodyPr/>
                    <a:lstStyle/>
                    <a:p>
                      <a:pPr algn="ctr"/>
                      <a:r>
                        <a:rPr lang="es-BO" sz="850" b="0">
                          <a:solidFill>
                            <a:srgbClr val="FFFFFF"/>
                          </a:solidFill>
                          <a:latin typeface="Segoe UI Semibold" panose="020B0702040204020203" pitchFamily="34" charset="0"/>
                        </a:rPr>
                        <a:t>Técnica</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1C1813"/>
                    </a:solidFill>
                  </a:tcPr>
                </a:tc>
                <a:tc>
                  <a:txBody>
                    <a:bodyPr/>
                    <a:lstStyle/>
                    <a:p>
                      <a:pPr algn="ctr"/>
                      <a:r>
                        <a:rPr lang="es-BO" sz="850" b="0">
                          <a:solidFill>
                            <a:srgbClr val="FFFFFF"/>
                          </a:solidFill>
                          <a:latin typeface="Segoe UI Semibold" panose="020B0702040204020203" pitchFamily="34" charset="0"/>
                        </a:rPr>
                        <a:t>Qué aporta</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1C1813"/>
                    </a:solidFill>
                  </a:tcPr>
                </a:tc>
                <a:tc>
                  <a:txBody>
                    <a:bodyPr/>
                    <a:lstStyle/>
                    <a:p>
                      <a:pPr algn="ctr"/>
                      <a:r>
                        <a:rPr lang="es-BO" sz="850" b="0">
                          <a:solidFill>
                            <a:srgbClr val="FFFFFF"/>
                          </a:solidFill>
                          <a:latin typeface="Segoe UI Semibold" panose="020B0702040204020203" pitchFamily="34" charset="0"/>
                        </a:rPr>
                        <a:t>Ventaja</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1C1813"/>
                    </a:solidFill>
                  </a:tcPr>
                </a:tc>
                <a:tc>
                  <a:txBody>
                    <a:bodyPr/>
                    <a:lstStyle/>
                    <a:p>
                      <a:pPr algn="ctr"/>
                      <a:r>
                        <a:rPr lang="es-BO" sz="850" b="0">
                          <a:solidFill>
                            <a:srgbClr val="FFFFFF"/>
                          </a:solidFill>
                          <a:latin typeface="Segoe UI Semibold" panose="020B0702040204020203" pitchFamily="34" charset="0"/>
                        </a:rPr>
                        <a:t>Qué pide a cambio</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1C1813"/>
                    </a:solidFill>
                  </a:tcPr>
                </a:tc>
                <a:extLst>
                  <a:ext uri="{0D108BD9-81ED-4DB2-BD59-A6C34878D82A}">
                    <a16:rowId xmlns:a16="http://schemas.microsoft.com/office/drawing/2014/main" val="3552582105"/>
                  </a:ext>
                </a:extLst>
              </a:tr>
              <a:tr h="567267">
                <a:tc>
                  <a:txBody>
                    <a:bodyPr/>
                    <a:lstStyle/>
                    <a:p>
                      <a:pPr algn="ctr"/>
                      <a:r>
                        <a:rPr lang="es-BO" sz="900" b="0">
                          <a:solidFill>
                            <a:srgbClr val="1C1813"/>
                          </a:solidFill>
                          <a:latin typeface="Segoe UI Semibold" panose="020B0702040204020203" pitchFamily="34" charset="0"/>
                        </a:rPr>
                        <a:t>Encamisado de hormigón</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BO" sz="900" b="0">
                          <a:solidFill>
                            <a:srgbClr val="241F18"/>
                          </a:solidFill>
                          <a:latin typeface="Segoe UI" panose="020B0502040204020203" pitchFamily="34" charset="0"/>
                        </a:rPr>
                        <a:t>Sección, armadura y confinamiento</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MX" sz="900" b="0">
                          <a:solidFill>
                            <a:srgbClr val="241F18"/>
                          </a:solidFill>
                          <a:latin typeface="Segoe UI" panose="020B0502040204020203" pitchFamily="34" charset="0"/>
                        </a:rPr>
                        <a:t>Barato, duradero y conocido por cualquier contratista</a:t>
                      </a:r>
                      <a:endParaRPr lang="es-BO" sz="9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MX" sz="900" b="0">
                          <a:solidFill>
                            <a:srgbClr val="241F18"/>
                          </a:solidFill>
                          <a:latin typeface="Segoe UI" panose="020B0502040204020203" pitchFamily="34" charset="0"/>
                        </a:rPr>
                        <a:t>Aumenta mucho la sección y el peso; obra húmeda</a:t>
                      </a:r>
                      <a:endParaRPr lang="es-BO" sz="9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extLst>
                  <a:ext uri="{0D108BD9-81ED-4DB2-BD59-A6C34878D82A}">
                    <a16:rowId xmlns:a16="http://schemas.microsoft.com/office/drawing/2014/main" val="3150659883"/>
                  </a:ext>
                </a:extLst>
              </a:tr>
              <a:tr h="567267">
                <a:tc>
                  <a:txBody>
                    <a:bodyPr/>
                    <a:lstStyle/>
                    <a:p>
                      <a:pPr algn="ctr"/>
                      <a:r>
                        <a:rPr lang="es-BO" sz="900" b="0">
                          <a:solidFill>
                            <a:srgbClr val="1C1813"/>
                          </a:solidFill>
                          <a:latin typeface="Segoe UI Semibold" panose="020B0702040204020203" pitchFamily="34" charset="0"/>
                        </a:rPr>
                        <a:t>Encamisado metálico</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MX" sz="900" b="0">
                          <a:solidFill>
                            <a:srgbClr val="241F18"/>
                          </a:solidFill>
                          <a:latin typeface="Segoe UI" panose="020B0502040204020203" pitchFamily="34" charset="0"/>
                        </a:rPr>
                        <a:t>Confinamiento y capacidad a cortante</a:t>
                      </a:r>
                      <a:endParaRPr lang="es-BO" sz="9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MX" sz="900" b="0">
                          <a:solidFill>
                            <a:srgbClr val="241F18"/>
                          </a:solidFill>
                          <a:latin typeface="Segoe UI" panose="020B0502040204020203" pitchFamily="34" charset="0"/>
                        </a:rPr>
                        <a:t>Rápido, poco espesor, se pone con la nave en uso</a:t>
                      </a:r>
                      <a:endParaRPr lang="es-BO" sz="9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MX" sz="900" b="0">
                          <a:solidFill>
                            <a:srgbClr val="241F18"/>
                          </a:solidFill>
                          <a:latin typeface="Segoe UI" panose="020B0502040204020203" pitchFamily="34" charset="0"/>
                        </a:rPr>
                        <a:t>Hay que protegerlo del fuego y de la corrosión</a:t>
                      </a:r>
                      <a:endParaRPr lang="es-BO" sz="9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extLst>
                  <a:ext uri="{0D108BD9-81ED-4DB2-BD59-A6C34878D82A}">
                    <a16:rowId xmlns:a16="http://schemas.microsoft.com/office/drawing/2014/main" val="3074127511"/>
                  </a:ext>
                </a:extLst>
              </a:tr>
              <a:tr h="567267">
                <a:tc>
                  <a:txBody>
                    <a:bodyPr/>
                    <a:lstStyle/>
                    <a:p>
                      <a:pPr algn="ctr"/>
                      <a:r>
                        <a:rPr lang="es-BO" sz="900" b="0">
                          <a:solidFill>
                            <a:srgbClr val="1C1813"/>
                          </a:solidFill>
                          <a:latin typeface="Segoe UI Semibold" panose="020B0702040204020203" pitchFamily="34" charset="0"/>
                        </a:rPr>
                        <a:t>Fibra de carbono  (FRP)</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MX" sz="900" b="0">
                          <a:solidFill>
                            <a:srgbClr val="241F18"/>
                          </a:solidFill>
                          <a:latin typeface="Segoe UI" panose="020B0502040204020203" pitchFamily="34" charset="0"/>
                        </a:rPr>
                        <a:t>Tracción: flexión, cortante y confinamiento</a:t>
                      </a:r>
                      <a:endParaRPr lang="es-BO" sz="9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BO" sz="900" b="0">
                          <a:solidFill>
                            <a:srgbClr val="241F18"/>
                          </a:solidFill>
                          <a:latin typeface="Segoe UI" panose="020B0502040204020203" pitchFamily="34" charset="0"/>
                        </a:rPr>
                        <a:t>Espesor milimétrico, no añade peso ni cambia la geometría</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MX" sz="900" b="0">
                          <a:solidFill>
                            <a:srgbClr val="241F18"/>
                          </a:solidFill>
                          <a:latin typeface="Segoe UI" panose="020B0502040204020203" pitchFamily="34" charset="0"/>
                        </a:rPr>
                        <a:t>Caro, exige soporte perfecto y no resiste fuego</a:t>
                      </a:r>
                      <a:endParaRPr lang="es-BO" sz="9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extLst>
                  <a:ext uri="{0D108BD9-81ED-4DB2-BD59-A6C34878D82A}">
                    <a16:rowId xmlns:a16="http://schemas.microsoft.com/office/drawing/2014/main" val="1389186798"/>
                  </a:ext>
                </a:extLst>
              </a:tr>
              <a:tr h="567267">
                <a:tc>
                  <a:txBody>
                    <a:bodyPr/>
                    <a:lstStyle/>
                    <a:p>
                      <a:pPr algn="ctr"/>
                      <a:r>
                        <a:rPr lang="es-BO" sz="900" b="0">
                          <a:solidFill>
                            <a:srgbClr val="1C1813"/>
                          </a:solidFill>
                          <a:latin typeface="Segoe UI Semibold" panose="020B0702040204020203" pitchFamily="34" charset="0"/>
                        </a:rPr>
                        <a:t>Postesado exterior</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MX" sz="900" b="0">
                          <a:solidFill>
                            <a:srgbClr val="241F18"/>
                          </a:solidFill>
                          <a:latin typeface="Segoe UI" panose="020B0502040204020203" pitchFamily="34" charset="0"/>
                        </a:rPr>
                        <a:t>Compresión impuesta y control de flecha</a:t>
                      </a:r>
                      <a:endParaRPr lang="es-BO" sz="9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MX" sz="900" b="0">
                          <a:solidFill>
                            <a:srgbClr val="241F18"/>
                          </a:solidFill>
                          <a:latin typeface="Segoe UI" panose="020B0502040204020203" pitchFamily="34" charset="0"/>
                        </a:rPr>
                        <a:t>Reversible y ajustable; muy eficaz en vigas largas</a:t>
                      </a:r>
                      <a:endParaRPr lang="es-BO" sz="9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MX" sz="900" b="0">
                          <a:solidFill>
                            <a:srgbClr val="241F18"/>
                          </a:solidFill>
                          <a:latin typeface="Segoe UI" panose="020B0502040204020203" pitchFamily="34" charset="0"/>
                        </a:rPr>
                        <a:t>Anclajes, desviadores y mantenimiento del tesado</a:t>
                      </a:r>
                      <a:endParaRPr lang="es-BO" sz="9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extLst>
                  <a:ext uri="{0D108BD9-81ED-4DB2-BD59-A6C34878D82A}">
                    <a16:rowId xmlns:a16="http://schemas.microsoft.com/office/drawing/2014/main" val="442988551"/>
                  </a:ext>
                </a:extLst>
              </a:tr>
              <a:tr h="567267">
                <a:tc>
                  <a:txBody>
                    <a:bodyPr/>
                    <a:lstStyle/>
                    <a:p>
                      <a:pPr algn="ctr"/>
                      <a:r>
                        <a:rPr lang="es-BO" sz="900" b="0">
                          <a:solidFill>
                            <a:srgbClr val="1C1813"/>
                          </a:solidFill>
                          <a:latin typeface="Segoe UI Semibold" panose="020B0702040204020203" pitchFamily="34" charset="0"/>
                        </a:rPr>
                        <a:t>Adición de elementos</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MX" sz="900" b="0">
                          <a:solidFill>
                            <a:srgbClr val="241F18"/>
                          </a:solidFill>
                          <a:latin typeface="Segoe UI" panose="020B0502040204020203" pitchFamily="34" charset="0"/>
                        </a:rPr>
                        <a:t>Reparte la carga en apoyos nuevos</a:t>
                      </a:r>
                      <a:endParaRPr lang="es-BO" sz="9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MX" sz="900" b="0">
                          <a:solidFill>
                            <a:srgbClr val="241F18"/>
                          </a:solidFill>
                          <a:latin typeface="Segoe UI" panose="020B0502040204020203" pitchFamily="34" charset="0"/>
                        </a:rPr>
                        <a:t>A veces es la solución más barata de todas</a:t>
                      </a:r>
                      <a:endParaRPr lang="es-BO" sz="9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MX" sz="900" b="0">
                          <a:solidFill>
                            <a:srgbClr val="241F18"/>
                          </a:solidFill>
                          <a:latin typeface="Segoe UI" panose="020B0502040204020203" pitchFamily="34" charset="0"/>
                        </a:rPr>
                        <a:t>Cambia el esquema estructural: hay que recalcular todo</a:t>
                      </a:r>
                      <a:endParaRPr lang="es-BO" sz="9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extLst>
                  <a:ext uri="{0D108BD9-81ED-4DB2-BD59-A6C34878D82A}">
                    <a16:rowId xmlns:a16="http://schemas.microsoft.com/office/drawing/2014/main" val="4293332064"/>
                  </a:ext>
                </a:extLst>
              </a:tr>
            </a:tbl>
          </a:graphicData>
        </a:graphic>
      </p:graphicFrame>
      <p:sp>
        <p:nvSpPr>
          <p:cNvPr id="7" name="Rectángulo 6">
            <a:extLst>
              <a:ext uri="{FF2B5EF4-FFF2-40B4-BE49-F238E27FC236}">
                <a16:creationId xmlns:a16="http://schemas.microsoft.com/office/drawing/2014/main" id="{10E3471C-0F61-2A0E-02FC-DF1AD74A4699}"/>
              </a:ext>
            </a:extLst>
          </p:cNvPr>
          <p:cNvSpPr/>
          <p:nvPr/>
        </p:nvSpPr>
        <p:spPr>
          <a:xfrm>
            <a:off x="7213600" y="1422400"/>
            <a:ext cx="4368800" cy="3403600"/>
          </a:xfrm>
          <a:prstGeom prst="rect">
            <a:avLst/>
          </a:prstGeom>
          <a:solidFill>
            <a:srgbClr val="FFFFFF"/>
          </a:solidFill>
          <a:ln w="9525">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9" name="CuadroTexto 8">
            <a:extLst>
              <a:ext uri="{FF2B5EF4-FFF2-40B4-BE49-F238E27FC236}">
                <a16:creationId xmlns:a16="http://schemas.microsoft.com/office/drawing/2014/main" id="{878C3A2D-6BC7-DFA0-4693-DE08303E60D7}"/>
              </a:ext>
            </a:extLst>
          </p:cNvPr>
          <p:cNvSpPr txBox="1"/>
          <p:nvPr/>
        </p:nvSpPr>
        <p:spPr>
          <a:xfrm>
            <a:off x="7416800" y="1536700"/>
            <a:ext cx="3987800" cy="165100"/>
          </a:xfrm>
          <a:prstGeom prst="rect">
            <a:avLst/>
          </a:prstGeom>
          <a:noFill/>
        </p:spPr>
        <p:txBody>
          <a:bodyPr vert="horz" wrap="square" lIns="0" tIns="0" rIns="0" bIns="0" rtlCol="0" anchor="t">
            <a:noAutofit/>
          </a:bodyPr>
          <a:lstStyle/>
          <a:p>
            <a:r>
              <a:rPr lang="es-BO" sz="750" spc="160">
                <a:solidFill>
                  <a:srgbClr val="6A4F20"/>
                </a:solidFill>
                <a:latin typeface="Segoe UI Semibold" panose="020B0702040204020203" pitchFamily="34" charset="0"/>
              </a:rPr>
              <a:t>LA FIBRA NO ROMPE: SE DESPEGA</a:t>
            </a:r>
          </a:p>
        </p:txBody>
      </p:sp>
      <p:sp>
        <p:nvSpPr>
          <p:cNvPr id="10" name="Rectángulo 9">
            <a:extLst>
              <a:ext uri="{FF2B5EF4-FFF2-40B4-BE49-F238E27FC236}">
                <a16:creationId xmlns:a16="http://schemas.microsoft.com/office/drawing/2014/main" id="{1EBAFCFC-F156-792F-558C-8D4BE1A0C75F}"/>
              </a:ext>
            </a:extLst>
          </p:cNvPr>
          <p:cNvSpPr/>
          <p:nvPr/>
        </p:nvSpPr>
        <p:spPr>
          <a:xfrm>
            <a:off x="7543800" y="3225800"/>
            <a:ext cx="177800" cy="203200"/>
          </a:xfrm>
          <a:prstGeom prst="rect">
            <a:avLst/>
          </a:prstGeom>
          <a:solidFill>
            <a:srgbClr val="5A524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1" name="Rectángulo 10">
            <a:extLst>
              <a:ext uri="{FF2B5EF4-FFF2-40B4-BE49-F238E27FC236}">
                <a16:creationId xmlns:a16="http://schemas.microsoft.com/office/drawing/2014/main" id="{6520677A-82C0-F841-071B-C6B90296F3A8}"/>
              </a:ext>
            </a:extLst>
          </p:cNvPr>
          <p:cNvSpPr/>
          <p:nvPr/>
        </p:nvSpPr>
        <p:spPr>
          <a:xfrm>
            <a:off x="11074400" y="3225800"/>
            <a:ext cx="177800" cy="203200"/>
          </a:xfrm>
          <a:prstGeom prst="rect">
            <a:avLst/>
          </a:prstGeom>
          <a:solidFill>
            <a:srgbClr val="5A524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2" name="Rectángulo 11">
            <a:extLst>
              <a:ext uri="{FF2B5EF4-FFF2-40B4-BE49-F238E27FC236}">
                <a16:creationId xmlns:a16="http://schemas.microsoft.com/office/drawing/2014/main" id="{62264EBC-D4B7-9098-41FF-C1429F73142E}"/>
              </a:ext>
            </a:extLst>
          </p:cNvPr>
          <p:cNvSpPr/>
          <p:nvPr/>
        </p:nvSpPr>
        <p:spPr>
          <a:xfrm>
            <a:off x="7721600" y="2133600"/>
            <a:ext cx="3352800" cy="1092200"/>
          </a:xfrm>
          <a:prstGeom prst="rect">
            <a:avLst/>
          </a:prstGeom>
          <a:solidFill>
            <a:srgbClr val="C9C3B4"/>
          </a:solidFill>
          <a:ln w="9525">
            <a:solidFill>
              <a:srgbClr val="A69E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3" name="Rectángulo 12">
            <a:extLst>
              <a:ext uri="{FF2B5EF4-FFF2-40B4-BE49-F238E27FC236}">
                <a16:creationId xmlns:a16="http://schemas.microsoft.com/office/drawing/2014/main" id="{35AAC46A-5DE4-336E-3445-30F26EDFB0F8}"/>
              </a:ext>
            </a:extLst>
          </p:cNvPr>
          <p:cNvSpPr/>
          <p:nvPr/>
        </p:nvSpPr>
        <p:spPr>
          <a:xfrm>
            <a:off x="7848600" y="3022600"/>
            <a:ext cx="3098800" cy="50800"/>
          </a:xfrm>
          <a:prstGeom prst="rect">
            <a:avLst/>
          </a:prstGeom>
          <a:solidFill>
            <a:srgbClr val="5A524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4" name="CuadroTexto 13">
            <a:extLst>
              <a:ext uri="{FF2B5EF4-FFF2-40B4-BE49-F238E27FC236}">
                <a16:creationId xmlns:a16="http://schemas.microsoft.com/office/drawing/2014/main" id="{063653F9-FB67-B9FF-3CBF-709D823F7A3D}"/>
              </a:ext>
            </a:extLst>
          </p:cNvPr>
          <p:cNvSpPr txBox="1"/>
          <p:nvPr/>
        </p:nvSpPr>
        <p:spPr>
          <a:xfrm>
            <a:off x="7899400" y="2844800"/>
            <a:ext cx="1778000" cy="152400"/>
          </a:xfrm>
          <a:prstGeom prst="rect">
            <a:avLst/>
          </a:prstGeom>
          <a:noFill/>
        </p:spPr>
        <p:txBody>
          <a:bodyPr vert="horz" wrap="square" lIns="0" tIns="0" rIns="0" bIns="0" rtlCol="0" anchor="t">
            <a:noAutofit/>
          </a:bodyPr>
          <a:lstStyle/>
          <a:p>
            <a:pPr algn="l"/>
            <a:r>
              <a:rPr lang="es-BO" sz="700">
                <a:solidFill>
                  <a:srgbClr val="5A5248"/>
                </a:solidFill>
                <a:latin typeface="Segoe UI Semibold" panose="020B0702040204020203" pitchFamily="34" charset="0"/>
              </a:rPr>
              <a:t>armadura existente</a:t>
            </a:r>
          </a:p>
        </p:txBody>
      </p:sp>
      <p:cxnSp>
        <p:nvCxnSpPr>
          <p:cNvPr id="15" name="Conector recto 14">
            <a:extLst>
              <a:ext uri="{FF2B5EF4-FFF2-40B4-BE49-F238E27FC236}">
                <a16:creationId xmlns:a16="http://schemas.microsoft.com/office/drawing/2014/main" id="{755AF70F-67C9-955E-1E90-51EFFD91A6F8}"/>
              </a:ext>
            </a:extLst>
          </p:cNvPr>
          <p:cNvCxnSpPr/>
          <p:nvPr/>
        </p:nvCxnSpPr>
        <p:spPr>
          <a:xfrm>
            <a:off x="8001000" y="1879600"/>
            <a:ext cx="0" cy="215900"/>
          </a:xfrm>
          <a:prstGeom prst="line">
            <a:avLst/>
          </a:prstGeom>
          <a:ln w="13970">
            <a:solidFill>
              <a:srgbClr val="8C332B"/>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6" name="Conector recto 15">
            <a:extLst>
              <a:ext uri="{FF2B5EF4-FFF2-40B4-BE49-F238E27FC236}">
                <a16:creationId xmlns:a16="http://schemas.microsoft.com/office/drawing/2014/main" id="{EE9529F4-2F24-271B-BAF8-109B22B876B0}"/>
              </a:ext>
            </a:extLst>
          </p:cNvPr>
          <p:cNvCxnSpPr/>
          <p:nvPr/>
        </p:nvCxnSpPr>
        <p:spPr>
          <a:xfrm>
            <a:off x="8559800" y="1879600"/>
            <a:ext cx="0" cy="215900"/>
          </a:xfrm>
          <a:prstGeom prst="line">
            <a:avLst/>
          </a:prstGeom>
          <a:ln w="13970">
            <a:solidFill>
              <a:srgbClr val="8C332B"/>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7" name="Conector recto 16">
            <a:extLst>
              <a:ext uri="{FF2B5EF4-FFF2-40B4-BE49-F238E27FC236}">
                <a16:creationId xmlns:a16="http://schemas.microsoft.com/office/drawing/2014/main" id="{2DA13434-F28D-C2FB-B9D4-545100B95999}"/>
              </a:ext>
            </a:extLst>
          </p:cNvPr>
          <p:cNvCxnSpPr/>
          <p:nvPr/>
        </p:nvCxnSpPr>
        <p:spPr>
          <a:xfrm>
            <a:off x="9118600" y="1879600"/>
            <a:ext cx="0" cy="215900"/>
          </a:xfrm>
          <a:prstGeom prst="line">
            <a:avLst/>
          </a:prstGeom>
          <a:ln w="13970">
            <a:solidFill>
              <a:srgbClr val="8C332B"/>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8" name="Conector recto 17">
            <a:extLst>
              <a:ext uri="{FF2B5EF4-FFF2-40B4-BE49-F238E27FC236}">
                <a16:creationId xmlns:a16="http://schemas.microsoft.com/office/drawing/2014/main" id="{76A3C9D9-16EB-A386-D021-875BF62F7452}"/>
              </a:ext>
            </a:extLst>
          </p:cNvPr>
          <p:cNvCxnSpPr/>
          <p:nvPr/>
        </p:nvCxnSpPr>
        <p:spPr>
          <a:xfrm>
            <a:off x="9677400" y="1879600"/>
            <a:ext cx="0" cy="215900"/>
          </a:xfrm>
          <a:prstGeom prst="line">
            <a:avLst/>
          </a:prstGeom>
          <a:ln w="13970">
            <a:solidFill>
              <a:srgbClr val="8C332B"/>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9" name="Conector recto 18">
            <a:extLst>
              <a:ext uri="{FF2B5EF4-FFF2-40B4-BE49-F238E27FC236}">
                <a16:creationId xmlns:a16="http://schemas.microsoft.com/office/drawing/2014/main" id="{7C8CB8AE-00EB-3B2B-A21B-E8F4741A055E}"/>
              </a:ext>
            </a:extLst>
          </p:cNvPr>
          <p:cNvCxnSpPr/>
          <p:nvPr/>
        </p:nvCxnSpPr>
        <p:spPr>
          <a:xfrm>
            <a:off x="10236200" y="1879600"/>
            <a:ext cx="0" cy="215900"/>
          </a:xfrm>
          <a:prstGeom prst="line">
            <a:avLst/>
          </a:prstGeom>
          <a:ln w="13970">
            <a:solidFill>
              <a:srgbClr val="8C332B"/>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0" name="Conector recto 19">
            <a:extLst>
              <a:ext uri="{FF2B5EF4-FFF2-40B4-BE49-F238E27FC236}">
                <a16:creationId xmlns:a16="http://schemas.microsoft.com/office/drawing/2014/main" id="{C0AFAB6B-C2FE-EFBA-47B5-016E00DF620D}"/>
              </a:ext>
            </a:extLst>
          </p:cNvPr>
          <p:cNvCxnSpPr/>
          <p:nvPr/>
        </p:nvCxnSpPr>
        <p:spPr>
          <a:xfrm>
            <a:off x="10795000" y="1879600"/>
            <a:ext cx="0" cy="215900"/>
          </a:xfrm>
          <a:prstGeom prst="line">
            <a:avLst/>
          </a:prstGeom>
          <a:ln w="13970">
            <a:solidFill>
              <a:srgbClr val="8C332B"/>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1" name="Rectángulo 20">
            <a:extLst>
              <a:ext uri="{FF2B5EF4-FFF2-40B4-BE49-F238E27FC236}">
                <a16:creationId xmlns:a16="http://schemas.microsoft.com/office/drawing/2014/main" id="{CF4DB75B-39A5-FE2E-F779-66D08C8E9778}"/>
              </a:ext>
            </a:extLst>
          </p:cNvPr>
          <p:cNvSpPr/>
          <p:nvPr/>
        </p:nvSpPr>
        <p:spPr>
          <a:xfrm>
            <a:off x="7721600" y="3225800"/>
            <a:ext cx="3352800" cy="88900"/>
          </a:xfrm>
          <a:prstGeom prst="rect">
            <a:avLst/>
          </a:prstGeom>
          <a:solidFill>
            <a:srgbClr val="1C181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2" name="CuadroTexto 21">
            <a:extLst>
              <a:ext uri="{FF2B5EF4-FFF2-40B4-BE49-F238E27FC236}">
                <a16:creationId xmlns:a16="http://schemas.microsoft.com/office/drawing/2014/main" id="{95FAAB94-E224-446F-16C8-7C7D1AC230EA}"/>
              </a:ext>
            </a:extLst>
          </p:cNvPr>
          <p:cNvSpPr txBox="1"/>
          <p:nvPr/>
        </p:nvSpPr>
        <p:spPr>
          <a:xfrm>
            <a:off x="8593328" y="3352800"/>
            <a:ext cx="1609344" cy="152400"/>
          </a:xfrm>
          <a:prstGeom prst="rect">
            <a:avLst/>
          </a:prstGeom>
          <a:noFill/>
        </p:spPr>
        <p:txBody>
          <a:bodyPr vert="horz" wrap="square" lIns="0" tIns="0" rIns="0" bIns="0" rtlCol="0" anchor="t">
            <a:noAutofit/>
          </a:bodyPr>
          <a:lstStyle/>
          <a:p>
            <a:pPr algn="ctr"/>
            <a:r>
              <a:rPr lang="es-BO" sz="750">
                <a:solidFill>
                  <a:srgbClr val="1C1813"/>
                </a:solidFill>
                <a:latin typeface="Segoe UI Semibold" panose="020B0702040204020203" pitchFamily="34" charset="0"/>
              </a:rPr>
              <a:t>lámina de fibra de carbono</a:t>
            </a:r>
          </a:p>
        </p:txBody>
      </p:sp>
      <p:sp>
        <p:nvSpPr>
          <p:cNvPr id="23" name="Rectángulo 22">
            <a:extLst>
              <a:ext uri="{FF2B5EF4-FFF2-40B4-BE49-F238E27FC236}">
                <a16:creationId xmlns:a16="http://schemas.microsoft.com/office/drawing/2014/main" id="{948D40FA-D62F-537B-9149-16500808CEC3}"/>
              </a:ext>
            </a:extLst>
          </p:cNvPr>
          <p:cNvSpPr/>
          <p:nvPr/>
        </p:nvSpPr>
        <p:spPr>
          <a:xfrm>
            <a:off x="7721600" y="3225800"/>
            <a:ext cx="330200" cy="88900"/>
          </a:xfrm>
          <a:prstGeom prst="rect">
            <a:avLst/>
          </a:prstGeom>
          <a:solidFill>
            <a:srgbClr val="8C332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cxnSp>
        <p:nvCxnSpPr>
          <p:cNvPr id="24" name="Conector recto 23">
            <a:extLst>
              <a:ext uri="{FF2B5EF4-FFF2-40B4-BE49-F238E27FC236}">
                <a16:creationId xmlns:a16="http://schemas.microsoft.com/office/drawing/2014/main" id="{09095E18-5C6E-583F-72BD-6F3E4DBB66D8}"/>
              </a:ext>
            </a:extLst>
          </p:cNvPr>
          <p:cNvCxnSpPr/>
          <p:nvPr/>
        </p:nvCxnSpPr>
        <p:spPr>
          <a:xfrm flipV="1">
            <a:off x="7886700" y="3352800"/>
            <a:ext cx="0" cy="304800"/>
          </a:xfrm>
          <a:prstGeom prst="line">
            <a:avLst/>
          </a:prstGeom>
          <a:ln w="17780">
            <a:solidFill>
              <a:srgbClr val="8C332B"/>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5" name="Rectángulo 24">
            <a:extLst>
              <a:ext uri="{FF2B5EF4-FFF2-40B4-BE49-F238E27FC236}">
                <a16:creationId xmlns:a16="http://schemas.microsoft.com/office/drawing/2014/main" id="{13D4F534-5E67-6F64-C315-CDCC225FD9CE}"/>
              </a:ext>
            </a:extLst>
          </p:cNvPr>
          <p:cNvSpPr/>
          <p:nvPr/>
        </p:nvSpPr>
        <p:spPr>
          <a:xfrm>
            <a:off x="10744200" y="3225800"/>
            <a:ext cx="330200" cy="88900"/>
          </a:xfrm>
          <a:prstGeom prst="rect">
            <a:avLst/>
          </a:prstGeom>
          <a:solidFill>
            <a:srgbClr val="8C332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cxnSp>
        <p:nvCxnSpPr>
          <p:cNvPr id="26" name="Conector recto 25">
            <a:extLst>
              <a:ext uri="{FF2B5EF4-FFF2-40B4-BE49-F238E27FC236}">
                <a16:creationId xmlns:a16="http://schemas.microsoft.com/office/drawing/2014/main" id="{CAFF70A0-FBFB-DA8A-16E8-FC013B1F70F5}"/>
              </a:ext>
            </a:extLst>
          </p:cNvPr>
          <p:cNvCxnSpPr/>
          <p:nvPr/>
        </p:nvCxnSpPr>
        <p:spPr>
          <a:xfrm flipV="1">
            <a:off x="10909300" y="3352800"/>
            <a:ext cx="0" cy="304800"/>
          </a:xfrm>
          <a:prstGeom prst="line">
            <a:avLst/>
          </a:prstGeom>
          <a:ln w="17780">
            <a:solidFill>
              <a:srgbClr val="8C332B"/>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7" name="CuadroTexto 26">
            <a:extLst>
              <a:ext uri="{FF2B5EF4-FFF2-40B4-BE49-F238E27FC236}">
                <a16:creationId xmlns:a16="http://schemas.microsoft.com/office/drawing/2014/main" id="{6566651D-3C85-F6DE-1B6A-21B873A3BDE4}"/>
              </a:ext>
            </a:extLst>
          </p:cNvPr>
          <p:cNvSpPr txBox="1"/>
          <p:nvPr/>
        </p:nvSpPr>
        <p:spPr>
          <a:xfrm>
            <a:off x="7721600" y="3683000"/>
            <a:ext cx="3352800" cy="381000"/>
          </a:xfrm>
          <a:prstGeom prst="rect">
            <a:avLst/>
          </a:prstGeom>
          <a:noFill/>
        </p:spPr>
        <p:txBody>
          <a:bodyPr vert="horz" wrap="square" lIns="0" tIns="0" rIns="0" bIns="0" rtlCol="0" anchor="t">
            <a:noAutofit/>
          </a:bodyPr>
          <a:lstStyle/>
          <a:p>
            <a:pPr algn="ctr"/>
            <a:r>
              <a:rPr lang="es-MX" sz="750">
                <a:solidFill>
                  <a:srgbClr val="8C332B"/>
                </a:solidFill>
                <a:latin typeface="Segoe UI" panose="020B0502040204020203" pitchFamily="34" charset="0"/>
              </a:rPr>
              <a:t>El fallo empieza en los extremos de la lámina, mucho antes de agotar la fibra.</a:t>
            </a:r>
            <a:endParaRPr lang="es-BO" sz="750">
              <a:solidFill>
                <a:srgbClr val="8C332B"/>
              </a:solidFill>
              <a:latin typeface="Segoe UI" panose="020B0502040204020203" pitchFamily="34" charset="0"/>
            </a:endParaRPr>
          </a:p>
        </p:txBody>
      </p:sp>
      <p:sp>
        <p:nvSpPr>
          <p:cNvPr id="28" name="Rectángulo 27">
            <a:extLst>
              <a:ext uri="{FF2B5EF4-FFF2-40B4-BE49-F238E27FC236}">
                <a16:creationId xmlns:a16="http://schemas.microsoft.com/office/drawing/2014/main" id="{941428C4-07CC-A221-2634-51EB31C5FEB5}"/>
              </a:ext>
            </a:extLst>
          </p:cNvPr>
          <p:cNvSpPr/>
          <p:nvPr/>
        </p:nvSpPr>
        <p:spPr>
          <a:xfrm>
            <a:off x="7569200" y="4216400"/>
            <a:ext cx="3657600" cy="381000"/>
          </a:xfrm>
          <a:prstGeom prst="rect">
            <a:avLst/>
          </a:prstGeom>
          <a:solidFill>
            <a:srgbClr val="F0E7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38100" rIns="101600" bIns="38100" rtlCol="0" anchor="ctr"/>
          <a:lstStyle/>
          <a:p>
            <a:pPr algn="ctr"/>
            <a:r>
              <a:rPr lang="de-DE" sz="900">
                <a:solidFill>
                  <a:srgbClr val="6A4F20"/>
                </a:solidFill>
                <a:latin typeface="Bahnschrift SemiBold" panose="020B0502040204020203" pitchFamily="34" charset="0"/>
              </a:rPr>
              <a:t>ε_fd = 0,41 · raíz( f′c / (n · E_f · t_f) )   ≤   0,9 · ε_fu</a:t>
            </a:r>
            <a:endParaRPr lang="es-BO" sz="900">
              <a:solidFill>
                <a:srgbClr val="6A4F20"/>
              </a:solidFill>
              <a:latin typeface="Bahnschrift SemiBold" panose="020B0502040204020203" pitchFamily="34" charset="0"/>
            </a:endParaRPr>
          </a:p>
        </p:txBody>
      </p:sp>
      <p:sp>
        <p:nvSpPr>
          <p:cNvPr id="29" name="Rectángulo 28">
            <a:extLst>
              <a:ext uri="{FF2B5EF4-FFF2-40B4-BE49-F238E27FC236}">
                <a16:creationId xmlns:a16="http://schemas.microsoft.com/office/drawing/2014/main" id="{E5BE116B-57BC-09AE-C434-168BD627DCB6}"/>
              </a:ext>
            </a:extLst>
          </p:cNvPr>
          <p:cNvSpPr/>
          <p:nvPr/>
        </p:nvSpPr>
        <p:spPr>
          <a:xfrm>
            <a:off x="609600" y="5029200"/>
            <a:ext cx="10972800" cy="711200"/>
          </a:xfrm>
          <a:prstGeom prst="rect">
            <a:avLst/>
          </a:prstGeom>
          <a:solidFill>
            <a:srgbClr val="241F1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31" name="CuadroTexto 30">
            <a:extLst>
              <a:ext uri="{FF2B5EF4-FFF2-40B4-BE49-F238E27FC236}">
                <a16:creationId xmlns:a16="http://schemas.microsoft.com/office/drawing/2014/main" id="{1D492410-463B-4C94-4A24-11ADDBCCF70C}"/>
              </a:ext>
            </a:extLst>
          </p:cNvPr>
          <p:cNvSpPr txBox="1"/>
          <p:nvPr/>
        </p:nvSpPr>
        <p:spPr>
          <a:xfrm>
            <a:off x="838200" y="5080000"/>
            <a:ext cx="10566400" cy="609600"/>
          </a:xfrm>
          <a:prstGeom prst="rect">
            <a:avLst/>
          </a:prstGeom>
          <a:noFill/>
        </p:spPr>
        <p:txBody>
          <a:bodyPr vert="horz" wrap="square" lIns="0" tIns="0" rIns="0" bIns="0" rtlCol="0" anchor="ctr">
            <a:noAutofit/>
          </a:bodyPr>
          <a:lstStyle/>
          <a:p>
            <a:pPr algn="l"/>
            <a:r>
              <a:rPr lang="es-MX" sz="1200">
                <a:solidFill>
                  <a:srgbClr val="FFFFFF"/>
                </a:solidFill>
                <a:latin typeface="Segoe UI" panose="020B0502040204020203" pitchFamily="34" charset="0"/>
              </a:rPr>
              <a:t>La última fila es la que menos se considera y la que más veces gana. </a:t>
            </a:r>
            <a:r>
              <a:rPr lang="es-MX" sz="1200" b="1">
                <a:solidFill>
                  <a:srgbClr val="FFFFFF"/>
                </a:solidFill>
                <a:latin typeface="Segoe UI Semibold" panose="020B0702040204020203" pitchFamily="34" charset="0"/>
              </a:rPr>
              <a:t>Un pilar nuevo bien colocado puede costar menos que reforzar tres vigas</a:t>
            </a:r>
            <a:r>
              <a:rPr lang="es-MX" sz="1200">
                <a:solidFill>
                  <a:srgbClr val="FFFFFF"/>
                </a:solidFill>
                <a:latin typeface="Segoe UI" panose="020B0502040204020203" pitchFamily="34" charset="0"/>
              </a:rPr>
              <a:t>, y resolver el problema sin tocar lo existente.</a:t>
            </a:r>
            <a:endParaRPr lang="es-BO" sz="1200">
              <a:solidFill>
                <a:srgbClr val="FFFFFF"/>
              </a:solidFill>
              <a:latin typeface="Segoe UI" panose="020B0502040204020203" pitchFamily="34" charset="0"/>
            </a:endParaRPr>
          </a:p>
        </p:txBody>
      </p:sp>
      <p:sp>
        <p:nvSpPr>
          <p:cNvPr id="32" name="CuadroTexto 31">
            <a:extLst>
              <a:ext uri="{FF2B5EF4-FFF2-40B4-BE49-F238E27FC236}">
                <a16:creationId xmlns:a16="http://schemas.microsoft.com/office/drawing/2014/main" id="{C5118ACB-B8BE-1948-C2D2-00FCF2EB2DAA}"/>
              </a:ext>
            </a:extLst>
          </p:cNvPr>
          <p:cNvSpPr txBox="1"/>
          <p:nvPr/>
        </p:nvSpPr>
        <p:spPr>
          <a:xfrm>
            <a:off x="609600" y="6324600"/>
            <a:ext cx="10972800" cy="152400"/>
          </a:xfrm>
          <a:prstGeom prst="rect">
            <a:avLst/>
          </a:prstGeom>
          <a:noFill/>
        </p:spPr>
        <p:txBody>
          <a:bodyPr vert="horz" wrap="square" lIns="0" tIns="0" rIns="0" bIns="0" rtlCol="0" anchor="t">
            <a:noAutofit/>
          </a:bodyPr>
          <a:lstStyle/>
          <a:p>
            <a:pPr algn="l"/>
            <a:r>
              <a:rPr lang="es-BO" sz="700">
                <a:solidFill>
                  <a:srgbClr val="938A7C"/>
                </a:solidFill>
                <a:latin typeface="Segoe UI" panose="020B0502040204020203" pitchFamily="34" charset="0"/>
              </a:rPr>
              <a:t>Fuente: ACI 562 §7; ACI 440.2R para FRP; ACI 369.1 para rehabilitación sísmica.</a:t>
            </a:r>
          </a:p>
        </p:txBody>
      </p:sp>
      <p:cxnSp>
        <p:nvCxnSpPr>
          <p:cNvPr id="33" name="Conector recto 32">
            <a:extLst>
              <a:ext uri="{FF2B5EF4-FFF2-40B4-BE49-F238E27FC236}">
                <a16:creationId xmlns:a16="http://schemas.microsoft.com/office/drawing/2014/main" id="{5FC462D2-53EB-1C6C-7839-8C8E86D089BF}"/>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34" name="CuadroTexto 33">
            <a:extLst>
              <a:ext uri="{FF2B5EF4-FFF2-40B4-BE49-F238E27FC236}">
                <a16:creationId xmlns:a16="http://schemas.microsoft.com/office/drawing/2014/main" id="{37129E80-5923-2E32-5F5D-14FC9DEA0EAD}"/>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35" name="CuadroTexto 34">
            <a:extLst>
              <a:ext uri="{FF2B5EF4-FFF2-40B4-BE49-F238E27FC236}">
                <a16:creationId xmlns:a16="http://schemas.microsoft.com/office/drawing/2014/main" id="{31DC0AC9-3A3E-AAD6-C5B8-F821E5C5A60C}"/>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36" name="PageNo">
            <a:extLst>
              <a:ext uri="{FF2B5EF4-FFF2-40B4-BE49-F238E27FC236}">
                <a16:creationId xmlns:a16="http://schemas.microsoft.com/office/drawing/2014/main" id="{DFD8AAD7-665E-CF68-0374-ADF81A41331B}"/>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10 / 38</a:t>
            </a:r>
          </a:p>
        </p:txBody>
      </p:sp>
    </p:spTree>
    <p:extLst>
      <p:ext uri="{BB962C8B-B14F-4D97-AF65-F5344CB8AC3E}">
        <p14:creationId xmlns:p14="http://schemas.microsoft.com/office/powerpoint/2010/main" val="26883019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BB62B73-71F9-9760-DFFC-AD885338AD49}"/>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BO" sz="900" spc="180">
                <a:solidFill>
                  <a:srgbClr val="6A4F20"/>
                </a:solidFill>
                <a:latin typeface="Segoe UI Semibold" panose="020B0702040204020203" pitchFamily="34" charset="0"/>
              </a:rPr>
              <a:t>PARTE 2 · LOS ENCAMISADOS</a:t>
            </a:r>
          </a:p>
        </p:txBody>
      </p:sp>
      <p:sp>
        <p:nvSpPr>
          <p:cNvPr id="3" name="Title">
            <a:extLst>
              <a:ext uri="{FF2B5EF4-FFF2-40B4-BE49-F238E27FC236}">
                <a16:creationId xmlns:a16="http://schemas.microsoft.com/office/drawing/2014/main" id="{1C47EF69-BAE6-0C0D-8BF3-82DA43DA4DED}"/>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La técnica de siempre, y lo que de verdad decide si funciona</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A89E6707-00EB-77A9-A881-D411D11D3E5F}"/>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6" name="Rectángulo 5">
            <a:extLst>
              <a:ext uri="{FF2B5EF4-FFF2-40B4-BE49-F238E27FC236}">
                <a16:creationId xmlns:a16="http://schemas.microsoft.com/office/drawing/2014/main" id="{51933D98-18AB-640E-2A40-B604BFB2388E}"/>
              </a:ext>
            </a:extLst>
          </p:cNvPr>
          <p:cNvSpPr/>
          <p:nvPr/>
        </p:nvSpPr>
        <p:spPr>
          <a:xfrm>
            <a:off x="609600" y="1422400"/>
            <a:ext cx="2641600" cy="27940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8" name="CuadroTexto 7">
            <a:extLst>
              <a:ext uri="{FF2B5EF4-FFF2-40B4-BE49-F238E27FC236}">
                <a16:creationId xmlns:a16="http://schemas.microsoft.com/office/drawing/2014/main" id="{FE58006D-33BE-4827-F1A2-C507ED9C8A0B}"/>
              </a:ext>
            </a:extLst>
          </p:cNvPr>
          <p:cNvSpPr txBox="1"/>
          <p:nvPr/>
        </p:nvSpPr>
        <p:spPr>
          <a:xfrm>
            <a:off x="812800" y="1600200"/>
            <a:ext cx="1016000" cy="304800"/>
          </a:xfrm>
          <a:prstGeom prst="rect">
            <a:avLst/>
          </a:prstGeom>
          <a:noFill/>
        </p:spPr>
        <p:txBody>
          <a:bodyPr vert="horz" wrap="square" lIns="0" tIns="0" rIns="0" bIns="0" rtlCol="0" anchor="t">
            <a:noAutofit/>
          </a:bodyPr>
          <a:lstStyle/>
          <a:p>
            <a:r>
              <a:rPr lang="es-BO" sz="2000">
                <a:solidFill>
                  <a:srgbClr val="8A6A2F"/>
                </a:solidFill>
                <a:latin typeface="Bahnschrift Light" panose="020B0502040204020203" pitchFamily="34" charset="0"/>
              </a:rPr>
              <a:t>01</a:t>
            </a:r>
          </a:p>
        </p:txBody>
      </p:sp>
      <p:sp>
        <p:nvSpPr>
          <p:cNvPr id="9" name="CuadroTexto 8">
            <a:extLst>
              <a:ext uri="{FF2B5EF4-FFF2-40B4-BE49-F238E27FC236}">
                <a16:creationId xmlns:a16="http://schemas.microsoft.com/office/drawing/2014/main" id="{7F2EDD3A-39A8-97C8-4E3A-656F1996BBDD}"/>
              </a:ext>
            </a:extLst>
          </p:cNvPr>
          <p:cNvSpPr txBox="1"/>
          <p:nvPr/>
        </p:nvSpPr>
        <p:spPr>
          <a:xfrm>
            <a:off x="812800" y="1981200"/>
            <a:ext cx="2260600" cy="279400"/>
          </a:xfrm>
          <a:prstGeom prst="rect">
            <a:avLst/>
          </a:prstGeom>
          <a:noFill/>
        </p:spPr>
        <p:txBody>
          <a:bodyPr vert="horz" wrap="square" lIns="0" tIns="0" rIns="0" bIns="0" rtlCol="0" anchor="t">
            <a:noAutofit/>
          </a:bodyPr>
          <a:lstStyle/>
          <a:p>
            <a:r>
              <a:rPr lang="es-BO" sz="1300">
                <a:solidFill>
                  <a:srgbClr val="1C1813"/>
                </a:solidFill>
                <a:latin typeface="Bahnschrift SemiBold" panose="020B0502040204020203" pitchFamily="34" charset="0"/>
              </a:rPr>
              <a:t>La conexión manda</a:t>
            </a:r>
          </a:p>
        </p:txBody>
      </p:sp>
      <p:sp>
        <p:nvSpPr>
          <p:cNvPr id="10" name="CuadroTexto 9">
            <a:extLst>
              <a:ext uri="{FF2B5EF4-FFF2-40B4-BE49-F238E27FC236}">
                <a16:creationId xmlns:a16="http://schemas.microsoft.com/office/drawing/2014/main" id="{0B60A79A-4F1C-7CA2-AD2E-23634E7C18BE}"/>
              </a:ext>
            </a:extLst>
          </p:cNvPr>
          <p:cNvSpPr txBox="1"/>
          <p:nvPr/>
        </p:nvSpPr>
        <p:spPr>
          <a:xfrm>
            <a:off x="812800" y="2247900"/>
            <a:ext cx="2235200" cy="1854200"/>
          </a:xfrm>
          <a:prstGeom prst="rect">
            <a:avLst/>
          </a:prstGeom>
          <a:noFill/>
        </p:spPr>
        <p:txBody>
          <a:bodyPr vert="horz" wrap="square" lIns="0" tIns="0" rIns="0" bIns="0" rtlCol="0" anchor="t">
            <a:noAutofit/>
          </a:bodyPr>
          <a:lstStyle/>
          <a:p>
            <a:pPr algn="l"/>
            <a:r>
              <a:rPr lang="es-MX" sz="1100">
                <a:solidFill>
                  <a:srgbClr val="5A5248"/>
                </a:solidFill>
                <a:latin typeface="Segoe UI" panose="020B0502040204020203" pitchFamily="34" charset="0"/>
              </a:rPr>
              <a:t>El encamisado solo trabaja si está conectado al núcleo. Conectores, superficie rugosa y, en pilares, continuidad a través del forjado.</a:t>
            </a:r>
            <a:endParaRPr lang="es-BO" sz="1100">
              <a:solidFill>
                <a:srgbClr val="5A5248"/>
              </a:solidFill>
              <a:latin typeface="Segoe UI" panose="020B0502040204020203" pitchFamily="34" charset="0"/>
            </a:endParaRPr>
          </a:p>
        </p:txBody>
      </p:sp>
      <p:sp>
        <p:nvSpPr>
          <p:cNvPr id="11" name="Rectángulo 10">
            <a:extLst>
              <a:ext uri="{FF2B5EF4-FFF2-40B4-BE49-F238E27FC236}">
                <a16:creationId xmlns:a16="http://schemas.microsoft.com/office/drawing/2014/main" id="{953ED7B2-1351-218B-5552-D67314A59765}"/>
              </a:ext>
            </a:extLst>
          </p:cNvPr>
          <p:cNvSpPr/>
          <p:nvPr/>
        </p:nvSpPr>
        <p:spPr>
          <a:xfrm>
            <a:off x="3403600" y="1422400"/>
            <a:ext cx="2641600" cy="27940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3" name="CuadroTexto 12">
            <a:extLst>
              <a:ext uri="{FF2B5EF4-FFF2-40B4-BE49-F238E27FC236}">
                <a16:creationId xmlns:a16="http://schemas.microsoft.com/office/drawing/2014/main" id="{50C705FD-92F3-31EB-9545-6400EBEBB653}"/>
              </a:ext>
            </a:extLst>
          </p:cNvPr>
          <p:cNvSpPr txBox="1"/>
          <p:nvPr/>
        </p:nvSpPr>
        <p:spPr>
          <a:xfrm>
            <a:off x="3606800" y="1600200"/>
            <a:ext cx="1016000" cy="304800"/>
          </a:xfrm>
          <a:prstGeom prst="rect">
            <a:avLst/>
          </a:prstGeom>
          <a:noFill/>
        </p:spPr>
        <p:txBody>
          <a:bodyPr vert="horz" wrap="square" lIns="0" tIns="0" rIns="0" bIns="0" rtlCol="0" anchor="t">
            <a:noAutofit/>
          </a:bodyPr>
          <a:lstStyle/>
          <a:p>
            <a:r>
              <a:rPr lang="es-BO" sz="2000">
                <a:solidFill>
                  <a:srgbClr val="8A6A2F"/>
                </a:solidFill>
                <a:latin typeface="Bahnschrift Light" panose="020B0502040204020203" pitchFamily="34" charset="0"/>
              </a:rPr>
              <a:t>02</a:t>
            </a:r>
          </a:p>
        </p:txBody>
      </p:sp>
      <p:sp>
        <p:nvSpPr>
          <p:cNvPr id="14" name="CuadroTexto 13">
            <a:extLst>
              <a:ext uri="{FF2B5EF4-FFF2-40B4-BE49-F238E27FC236}">
                <a16:creationId xmlns:a16="http://schemas.microsoft.com/office/drawing/2014/main" id="{C2B482DB-CEFB-D088-1684-101C5100FD84}"/>
              </a:ext>
            </a:extLst>
          </p:cNvPr>
          <p:cNvSpPr txBox="1"/>
          <p:nvPr/>
        </p:nvSpPr>
        <p:spPr>
          <a:xfrm>
            <a:off x="3606800" y="1981200"/>
            <a:ext cx="2260600" cy="279400"/>
          </a:xfrm>
          <a:prstGeom prst="rect">
            <a:avLst/>
          </a:prstGeom>
          <a:noFill/>
        </p:spPr>
        <p:txBody>
          <a:bodyPr vert="horz" wrap="square" lIns="0" tIns="0" rIns="0" bIns="0" rtlCol="0" anchor="t">
            <a:noAutofit/>
          </a:bodyPr>
          <a:lstStyle/>
          <a:p>
            <a:r>
              <a:rPr lang="es-BO" sz="1300">
                <a:solidFill>
                  <a:srgbClr val="1C1813"/>
                </a:solidFill>
                <a:latin typeface="Bahnschrift SemiBold" panose="020B0502040204020203" pitchFamily="34" charset="0"/>
              </a:rPr>
              <a:t>El espesor mínimo</a:t>
            </a:r>
          </a:p>
        </p:txBody>
      </p:sp>
      <p:sp>
        <p:nvSpPr>
          <p:cNvPr id="15" name="CuadroTexto 14">
            <a:extLst>
              <a:ext uri="{FF2B5EF4-FFF2-40B4-BE49-F238E27FC236}">
                <a16:creationId xmlns:a16="http://schemas.microsoft.com/office/drawing/2014/main" id="{B0BFAD4C-E5BC-B2F2-2AA4-455A1CFD934F}"/>
              </a:ext>
            </a:extLst>
          </p:cNvPr>
          <p:cNvSpPr txBox="1"/>
          <p:nvPr/>
        </p:nvSpPr>
        <p:spPr>
          <a:xfrm>
            <a:off x="3606800" y="2247900"/>
            <a:ext cx="2235200" cy="1854200"/>
          </a:xfrm>
          <a:prstGeom prst="rect">
            <a:avLst/>
          </a:prstGeom>
          <a:noFill/>
        </p:spPr>
        <p:txBody>
          <a:bodyPr vert="horz" wrap="square" lIns="0" tIns="0" rIns="0" bIns="0" rtlCol="0" anchor="t">
            <a:noAutofit/>
          </a:bodyPr>
          <a:lstStyle/>
          <a:p>
            <a:pPr algn="l"/>
            <a:r>
              <a:rPr lang="es-MX" sz="1100">
                <a:solidFill>
                  <a:srgbClr val="5A5248"/>
                </a:solidFill>
                <a:latin typeface="Segoe UI" panose="020B0502040204020203" pitchFamily="34" charset="0"/>
              </a:rPr>
              <a:t>De 70 a 100 mm en hormigón armado para que quepa la armadura con su recubrimiento. Por debajo de eso, el encamisado es decorativo.</a:t>
            </a:r>
            <a:endParaRPr lang="es-BO" sz="1100">
              <a:solidFill>
                <a:srgbClr val="5A5248"/>
              </a:solidFill>
              <a:latin typeface="Segoe UI" panose="020B0502040204020203" pitchFamily="34" charset="0"/>
            </a:endParaRPr>
          </a:p>
        </p:txBody>
      </p:sp>
      <p:sp>
        <p:nvSpPr>
          <p:cNvPr id="16" name="Rectángulo 15">
            <a:extLst>
              <a:ext uri="{FF2B5EF4-FFF2-40B4-BE49-F238E27FC236}">
                <a16:creationId xmlns:a16="http://schemas.microsoft.com/office/drawing/2014/main" id="{589AA46E-3D6D-D92E-9C9C-1C8A9D97135F}"/>
              </a:ext>
            </a:extLst>
          </p:cNvPr>
          <p:cNvSpPr/>
          <p:nvPr/>
        </p:nvSpPr>
        <p:spPr>
          <a:xfrm>
            <a:off x="6197600" y="1422400"/>
            <a:ext cx="2641600" cy="27940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8" name="CuadroTexto 17">
            <a:extLst>
              <a:ext uri="{FF2B5EF4-FFF2-40B4-BE49-F238E27FC236}">
                <a16:creationId xmlns:a16="http://schemas.microsoft.com/office/drawing/2014/main" id="{22848177-81AD-E10C-53B2-3095D6995943}"/>
              </a:ext>
            </a:extLst>
          </p:cNvPr>
          <p:cNvSpPr txBox="1"/>
          <p:nvPr/>
        </p:nvSpPr>
        <p:spPr>
          <a:xfrm>
            <a:off x="6400800" y="1600200"/>
            <a:ext cx="1016000" cy="304800"/>
          </a:xfrm>
          <a:prstGeom prst="rect">
            <a:avLst/>
          </a:prstGeom>
          <a:noFill/>
        </p:spPr>
        <p:txBody>
          <a:bodyPr vert="horz" wrap="square" lIns="0" tIns="0" rIns="0" bIns="0" rtlCol="0" anchor="t">
            <a:noAutofit/>
          </a:bodyPr>
          <a:lstStyle/>
          <a:p>
            <a:r>
              <a:rPr lang="es-BO" sz="2000">
                <a:solidFill>
                  <a:srgbClr val="8A6A2F"/>
                </a:solidFill>
                <a:latin typeface="Bahnschrift Light" panose="020B0502040204020203" pitchFamily="34" charset="0"/>
              </a:rPr>
              <a:t>03</a:t>
            </a:r>
          </a:p>
        </p:txBody>
      </p:sp>
      <p:sp>
        <p:nvSpPr>
          <p:cNvPr id="19" name="CuadroTexto 18">
            <a:extLst>
              <a:ext uri="{FF2B5EF4-FFF2-40B4-BE49-F238E27FC236}">
                <a16:creationId xmlns:a16="http://schemas.microsoft.com/office/drawing/2014/main" id="{DB61B16F-6D1B-8074-C77B-0BE249C83B8D}"/>
              </a:ext>
            </a:extLst>
          </p:cNvPr>
          <p:cNvSpPr txBox="1"/>
          <p:nvPr/>
        </p:nvSpPr>
        <p:spPr>
          <a:xfrm>
            <a:off x="6400800" y="1981200"/>
            <a:ext cx="2260600" cy="279400"/>
          </a:xfrm>
          <a:prstGeom prst="rect">
            <a:avLst/>
          </a:prstGeom>
          <a:noFill/>
        </p:spPr>
        <p:txBody>
          <a:bodyPr vert="horz" wrap="square" lIns="0" tIns="0" rIns="0" bIns="0" rtlCol="0" anchor="t">
            <a:noAutofit/>
          </a:bodyPr>
          <a:lstStyle/>
          <a:p>
            <a:r>
              <a:rPr lang="es-BO" sz="1300">
                <a:solidFill>
                  <a:srgbClr val="1C1813"/>
                </a:solidFill>
                <a:latin typeface="Bahnschrift SemiBold" panose="020B0502040204020203" pitchFamily="34" charset="0"/>
              </a:rPr>
              <a:t>El apeo previo</a:t>
            </a:r>
          </a:p>
        </p:txBody>
      </p:sp>
      <p:sp>
        <p:nvSpPr>
          <p:cNvPr id="20" name="CuadroTexto 19">
            <a:extLst>
              <a:ext uri="{FF2B5EF4-FFF2-40B4-BE49-F238E27FC236}">
                <a16:creationId xmlns:a16="http://schemas.microsoft.com/office/drawing/2014/main" id="{AC592EC7-05B8-D319-FE54-93F886C7FABE}"/>
              </a:ext>
            </a:extLst>
          </p:cNvPr>
          <p:cNvSpPr txBox="1"/>
          <p:nvPr/>
        </p:nvSpPr>
        <p:spPr>
          <a:xfrm>
            <a:off x="6400800" y="2247900"/>
            <a:ext cx="2235200" cy="1854200"/>
          </a:xfrm>
          <a:prstGeom prst="rect">
            <a:avLst/>
          </a:prstGeom>
          <a:noFill/>
        </p:spPr>
        <p:txBody>
          <a:bodyPr vert="horz" wrap="square" lIns="0" tIns="0" rIns="0" bIns="0" rtlCol="0" anchor="t">
            <a:noAutofit/>
          </a:bodyPr>
          <a:lstStyle/>
          <a:p>
            <a:pPr algn="l"/>
            <a:r>
              <a:rPr lang="es-MX" sz="1100">
                <a:solidFill>
                  <a:srgbClr val="5A5248"/>
                </a:solidFill>
                <a:latin typeface="Segoe UI" panose="020B0502040204020203" pitchFamily="34" charset="0"/>
              </a:rPr>
              <a:t>Si el elemento está cargado, el encamisado no recibe la carga ya existente: solo la que venga después. Apear es lo que hace que trabaje de verdad.</a:t>
            </a:r>
            <a:endParaRPr lang="es-BO" sz="1100">
              <a:solidFill>
                <a:srgbClr val="5A5248"/>
              </a:solidFill>
              <a:latin typeface="Segoe UI" panose="020B0502040204020203" pitchFamily="34" charset="0"/>
            </a:endParaRPr>
          </a:p>
        </p:txBody>
      </p:sp>
      <p:sp>
        <p:nvSpPr>
          <p:cNvPr id="21" name="Rectángulo 20">
            <a:extLst>
              <a:ext uri="{FF2B5EF4-FFF2-40B4-BE49-F238E27FC236}">
                <a16:creationId xmlns:a16="http://schemas.microsoft.com/office/drawing/2014/main" id="{E931B765-9D47-C58E-B340-130E04F7FC94}"/>
              </a:ext>
            </a:extLst>
          </p:cNvPr>
          <p:cNvSpPr/>
          <p:nvPr/>
        </p:nvSpPr>
        <p:spPr>
          <a:xfrm>
            <a:off x="8991600" y="1422400"/>
            <a:ext cx="2641600" cy="27940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3" name="CuadroTexto 22">
            <a:extLst>
              <a:ext uri="{FF2B5EF4-FFF2-40B4-BE49-F238E27FC236}">
                <a16:creationId xmlns:a16="http://schemas.microsoft.com/office/drawing/2014/main" id="{20A94753-32FA-D207-9FCD-C58350B8889D}"/>
              </a:ext>
            </a:extLst>
          </p:cNvPr>
          <p:cNvSpPr txBox="1"/>
          <p:nvPr/>
        </p:nvSpPr>
        <p:spPr>
          <a:xfrm>
            <a:off x="9194800" y="1600200"/>
            <a:ext cx="1016000" cy="304800"/>
          </a:xfrm>
          <a:prstGeom prst="rect">
            <a:avLst/>
          </a:prstGeom>
          <a:noFill/>
        </p:spPr>
        <p:txBody>
          <a:bodyPr vert="horz" wrap="square" lIns="0" tIns="0" rIns="0" bIns="0" rtlCol="0" anchor="t">
            <a:noAutofit/>
          </a:bodyPr>
          <a:lstStyle/>
          <a:p>
            <a:r>
              <a:rPr lang="es-BO" sz="2000">
                <a:solidFill>
                  <a:srgbClr val="8A6A2F"/>
                </a:solidFill>
                <a:latin typeface="Bahnschrift Light" panose="020B0502040204020203" pitchFamily="34" charset="0"/>
              </a:rPr>
              <a:t>04</a:t>
            </a:r>
          </a:p>
        </p:txBody>
      </p:sp>
      <p:sp>
        <p:nvSpPr>
          <p:cNvPr id="24" name="CuadroTexto 23">
            <a:extLst>
              <a:ext uri="{FF2B5EF4-FFF2-40B4-BE49-F238E27FC236}">
                <a16:creationId xmlns:a16="http://schemas.microsoft.com/office/drawing/2014/main" id="{6789936E-A731-083B-4F06-CDF777125842}"/>
              </a:ext>
            </a:extLst>
          </p:cNvPr>
          <p:cNvSpPr txBox="1"/>
          <p:nvPr/>
        </p:nvSpPr>
        <p:spPr>
          <a:xfrm>
            <a:off x="9194800" y="1981200"/>
            <a:ext cx="2260600" cy="279400"/>
          </a:xfrm>
          <a:prstGeom prst="rect">
            <a:avLst/>
          </a:prstGeom>
          <a:noFill/>
        </p:spPr>
        <p:txBody>
          <a:bodyPr vert="horz" wrap="square" lIns="0" tIns="0" rIns="0" bIns="0" rtlCol="0" anchor="t">
            <a:noAutofit/>
          </a:bodyPr>
          <a:lstStyle/>
          <a:p>
            <a:r>
              <a:rPr lang="es-MX" sz="1300">
                <a:solidFill>
                  <a:srgbClr val="1C1813"/>
                </a:solidFill>
                <a:latin typeface="Bahnschrift SemiBold" panose="020B0502040204020203" pitchFamily="34" charset="0"/>
              </a:rPr>
              <a:t>El metálico es otro juego</a:t>
            </a:r>
            <a:endParaRPr lang="es-BO" sz="1300">
              <a:solidFill>
                <a:srgbClr val="1C1813"/>
              </a:solidFill>
              <a:latin typeface="Bahnschrift SemiBold" panose="020B0502040204020203" pitchFamily="34" charset="0"/>
            </a:endParaRPr>
          </a:p>
        </p:txBody>
      </p:sp>
      <p:sp>
        <p:nvSpPr>
          <p:cNvPr id="25" name="CuadroTexto 24">
            <a:extLst>
              <a:ext uri="{FF2B5EF4-FFF2-40B4-BE49-F238E27FC236}">
                <a16:creationId xmlns:a16="http://schemas.microsoft.com/office/drawing/2014/main" id="{3636B812-F94E-AF5F-AC0A-EF876A032CFA}"/>
              </a:ext>
            </a:extLst>
          </p:cNvPr>
          <p:cNvSpPr txBox="1"/>
          <p:nvPr/>
        </p:nvSpPr>
        <p:spPr>
          <a:xfrm>
            <a:off x="9194800" y="2247900"/>
            <a:ext cx="2235200" cy="1854200"/>
          </a:xfrm>
          <a:prstGeom prst="rect">
            <a:avLst/>
          </a:prstGeom>
          <a:noFill/>
        </p:spPr>
        <p:txBody>
          <a:bodyPr vert="horz" wrap="square" lIns="0" tIns="0" rIns="0" bIns="0" rtlCol="0" anchor="t">
            <a:noAutofit/>
          </a:bodyPr>
          <a:lstStyle/>
          <a:p>
            <a:pPr algn="l"/>
            <a:r>
              <a:rPr lang="es-MX" sz="1100">
                <a:solidFill>
                  <a:srgbClr val="5A5248"/>
                </a:solidFill>
                <a:latin typeface="Segoe UI" panose="020B0502040204020203" pitchFamily="34" charset="0"/>
              </a:rPr>
              <a:t>Angulares en las esquinas y presillas soldadas. Aporta sobre todo </a:t>
            </a:r>
            <a:r>
              <a:rPr lang="es-MX" sz="1100" b="1">
                <a:solidFill>
                  <a:srgbClr val="5A5248"/>
                </a:solidFill>
                <a:latin typeface="Segoe UI Semibold" panose="020B0702040204020203" pitchFamily="34" charset="0"/>
              </a:rPr>
              <a:t>confinamiento</a:t>
            </a:r>
            <a:r>
              <a:rPr lang="es-MX" sz="1100">
                <a:solidFill>
                  <a:srgbClr val="5A5248"/>
                </a:solidFill>
                <a:latin typeface="Segoe UI" panose="020B0502040204020203" pitchFamily="34" charset="0"/>
              </a:rPr>
              <a:t>, y en pilares cortos eso vale más que la sección añadida.</a:t>
            </a:r>
            <a:endParaRPr lang="es-BO" sz="1100">
              <a:solidFill>
                <a:srgbClr val="5A5248"/>
              </a:solidFill>
              <a:latin typeface="Segoe UI" panose="020B0502040204020203" pitchFamily="34" charset="0"/>
            </a:endParaRPr>
          </a:p>
        </p:txBody>
      </p:sp>
      <p:pic>
        <p:nvPicPr>
          <p:cNvPr id="27" name="Imagen 26">
            <a:extLst>
              <a:ext uri="{FF2B5EF4-FFF2-40B4-BE49-F238E27FC236}">
                <a16:creationId xmlns:a16="http://schemas.microsoft.com/office/drawing/2014/main" id="{FD1494B7-870F-5D2C-87B5-827127795EB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4368800"/>
            <a:ext cx="5334000" cy="1625600"/>
          </a:xfrm>
          <a:prstGeom prst="rect">
            <a:avLst/>
          </a:prstGeom>
        </p:spPr>
      </p:pic>
      <p:sp>
        <p:nvSpPr>
          <p:cNvPr id="28" name="Rectángulo 27">
            <a:extLst>
              <a:ext uri="{FF2B5EF4-FFF2-40B4-BE49-F238E27FC236}">
                <a16:creationId xmlns:a16="http://schemas.microsoft.com/office/drawing/2014/main" id="{ECDEDE76-D574-CA5F-3202-D476E65C60D0}"/>
              </a:ext>
            </a:extLst>
          </p:cNvPr>
          <p:cNvSpPr/>
          <p:nvPr/>
        </p:nvSpPr>
        <p:spPr>
          <a:xfrm>
            <a:off x="6248400" y="4368800"/>
            <a:ext cx="5334000" cy="1625600"/>
          </a:xfrm>
          <a:prstGeom prst="rect">
            <a:avLst/>
          </a:prstGeom>
          <a:solidFill>
            <a:srgbClr val="241F1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30" name="CuadroTexto 29">
            <a:extLst>
              <a:ext uri="{FF2B5EF4-FFF2-40B4-BE49-F238E27FC236}">
                <a16:creationId xmlns:a16="http://schemas.microsoft.com/office/drawing/2014/main" id="{F5D56C11-9457-BB7A-9646-A8D5698B79AB}"/>
              </a:ext>
            </a:extLst>
          </p:cNvPr>
          <p:cNvSpPr txBox="1"/>
          <p:nvPr/>
        </p:nvSpPr>
        <p:spPr>
          <a:xfrm>
            <a:off x="6477000" y="4546600"/>
            <a:ext cx="4927600" cy="1320800"/>
          </a:xfrm>
          <a:prstGeom prst="rect">
            <a:avLst/>
          </a:prstGeom>
          <a:noFill/>
        </p:spPr>
        <p:txBody>
          <a:bodyPr vert="horz" wrap="square" lIns="0" tIns="0" rIns="0" bIns="0" rtlCol="0" anchor="t">
            <a:noAutofit/>
          </a:bodyPr>
          <a:lstStyle/>
          <a:p>
            <a:pPr algn="l"/>
            <a:r>
              <a:rPr lang="es-MX" sz="1150">
                <a:solidFill>
                  <a:srgbClr val="FFFFFF"/>
                </a:solidFill>
                <a:latin typeface="Segoe UI" panose="020B0502040204020203" pitchFamily="34" charset="0"/>
              </a:rPr>
              <a:t>El punto 3 es el que más se omite y el que más diferencia hay entre lo calculado y lo que ocurre. </a:t>
            </a:r>
            <a:r>
              <a:rPr lang="es-MX" sz="1150" b="1">
                <a:solidFill>
                  <a:srgbClr val="FFFFFF"/>
                </a:solidFill>
                <a:latin typeface="Segoe UI Semibold" panose="020B0702040204020203" pitchFamily="34" charset="0"/>
              </a:rPr>
              <a:t>Sin apeo, el refuerzo no recibe la carga permanente que ya estaba actuando</a:t>
            </a:r>
            <a:r>
              <a:rPr lang="es-MX" sz="1150">
                <a:solidFill>
                  <a:srgbClr val="FFFFFF"/>
                </a:solidFill>
                <a:latin typeface="Segoe UI" panose="020B0502040204020203" pitchFamily="34" charset="0"/>
              </a:rPr>
              <a:t>, y el elemento sigue trabajando casi como antes.</a:t>
            </a:r>
            <a:endParaRPr lang="es-BO" sz="1150">
              <a:solidFill>
                <a:srgbClr val="FFFFFF"/>
              </a:solidFill>
              <a:latin typeface="Segoe UI" panose="020B0502040204020203" pitchFamily="34" charset="0"/>
            </a:endParaRPr>
          </a:p>
        </p:txBody>
      </p:sp>
      <p:sp>
        <p:nvSpPr>
          <p:cNvPr id="31" name="CuadroTexto 30">
            <a:extLst>
              <a:ext uri="{FF2B5EF4-FFF2-40B4-BE49-F238E27FC236}">
                <a16:creationId xmlns:a16="http://schemas.microsoft.com/office/drawing/2014/main" id="{5950CBFA-7825-36A4-9200-64976B11DAE7}"/>
              </a:ext>
            </a:extLst>
          </p:cNvPr>
          <p:cNvSpPr txBox="1"/>
          <p:nvPr/>
        </p:nvSpPr>
        <p:spPr>
          <a:xfrm>
            <a:off x="609600" y="6324600"/>
            <a:ext cx="10972800" cy="152400"/>
          </a:xfrm>
          <a:prstGeom prst="rect">
            <a:avLst/>
          </a:prstGeom>
          <a:noFill/>
        </p:spPr>
        <p:txBody>
          <a:bodyPr vert="horz" wrap="square" lIns="0" tIns="0" rIns="0" bIns="0" rtlCol="0" anchor="t">
            <a:noAutofit/>
          </a:bodyPr>
          <a:lstStyle/>
          <a:p>
            <a:pPr algn="l"/>
            <a:r>
              <a:rPr lang="it-IT" sz="700">
                <a:solidFill>
                  <a:srgbClr val="938A7C"/>
                </a:solidFill>
                <a:latin typeface="Segoe UI" panose="020B0502040204020203" pitchFamily="34" charset="0"/>
              </a:rPr>
              <a:t>Fuente: ACI 562 §7; ACI 369.1.</a:t>
            </a:r>
            <a:endParaRPr lang="es-BO" sz="700">
              <a:solidFill>
                <a:srgbClr val="938A7C"/>
              </a:solidFill>
              <a:latin typeface="Segoe UI" panose="020B0502040204020203" pitchFamily="34" charset="0"/>
            </a:endParaRPr>
          </a:p>
        </p:txBody>
      </p:sp>
      <p:cxnSp>
        <p:nvCxnSpPr>
          <p:cNvPr id="32" name="Conector recto 31">
            <a:extLst>
              <a:ext uri="{FF2B5EF4-FFF2-40B4-BE49-F238E27FC236}">
                <a16:creationId xmlns:a16="http://schemas.microsoft.com/office/drawing/2014/main" id="{86CEA9CE-7326-6BB9-FA7F-B8E396671ADA}"/>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33" name="CuadroTexto 32">
            <a:extLst>
              <a:ext uri="{FF2B5EF4-FFF2-40B4-BE49-F238E27FC236}">
                <a16:creationId xmlns:a16="http://schemas.microsoft.com/office/drawing/2014/main" id="{4377D2E2-FED4-760B-3C41-26E9CD470A34}"/>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34" name="CuadroTexto 33">
            <a:extLst>
              <a:ext uri="{FF2B5EF4-FFF2-40B4-BE49-F238E27FC236}">
                <a16:creationId xmlns:a16="http://schemas.microsoft.com/office/drawing/2014/main" id="{4D7D7671-67D5-B4FD-466E-EC9391EDCAD5}"/>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35" name="PageNo">
            <a:extLst>
              <a:ext uri="{FF2B5EF4-FFF2-40B4-BE49-F238E27FC236}">
                <a16:creationId xmlns:a16="http://schemas.microsoft.com/office/drawing/2014/main" id="{38369EFA-DFB7-9EA1-62E0-8070C70EE4EF}"/>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11 / 38</a:t>
            </a:r>
          </a:p>
        </p:txBody>
      </p:sp>
    </p:spTree>
    <p:extLst>
      <p:ext uri="{BB962C8B-B14F-4D97-AF65-F5344CB8AC3E}">
        <p14:creationId xmlns:p14="http://schemas.microsoft.com/office/powerpoint/2010/main" val="18028916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58E0EDF0-596A-C136-97BB-25E8BCE87CEC}"/>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BO" sz="900" spc="180">
                <a:solidFill>
                  <a:srgbClr val="6A4F20"/>
                </a:solidFill>
                <a:latin typeface="Segoe UI Semibold" panose="020B0702040204020203" pitchFamily="34" charset="0"/>
              </a:rPr>
              <a:t>PARTE 2 · LA FIBRA DE CARBONO</a:t>
            </a:r>
          </a:p>
        </p:txBody>
      </p:sp>
      <p:sp>
        <p:nvSpPr>
          <p:cNvPr id="3" name="Title">
            <a:extLst>
              <a:ext uri="{FF2B5EF4-FFF2-40B4-BE49-F238E27FC236}">
                <a16:creationId xmlns:a16="http://schemas.microsoft.com/office/drawing/2014/main" id="{7F1EF08D-A75D-C388-E783-C6BB9D15938C}"/>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Milímetros que añaden tracción, con tres límites que hay que saber</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CC750BD9-520D-49F7-CCEF-F0AB30BFE580}"/>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6" name="Elipse 5">
            <a:extLst>
              <a:ext uri="{FF2B5EF4-FFF2-40B4-BE49-F238E27FC236}">
                <a16:creationId xmlns:a16="http://schemas.microsoft.com/office/drawing/2014/main" id="{4ED7A969-05FE-B529-75B8-86A8BAB843A6}"/>
              </a:ext>
            </a:extLst>
          </p:cNvPr>
          <p:cNvSpPr/>
          <p:nvPr/>
        </p:nvSpPr>
        <p:spPr>
          <a:xfrm>
            <a:off x="609600" y="1422400"/>
            <a:ext cx="355600" cy="3556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250">
                <a:solidFill>
                  <a:srgbClr val="1C1813"/>
                </a:solidFill>
                <a:latin typeface="Bahnschrift SemiBold" panose="020B0502040204020203" pitchFamily="34" charset="0"/>
              </a:rPr>
              <a:t>1</a:t>
            </a:r>
          </a:p>
        </p:txBody>
      </p:sp>
      <p:sp>
        <p:nvSpPr>
          <p:cNvPr id="7" name="CuadroTexto 6">
            <a:extLst>
              <a:ext uri="{FF2B5EF4-FFF2-40B4-BE49-F238E27FC236}">
                <a16:creationId xmlns:a16="http://schemas.microsoft.com/office/drawing/2014/main" id="{4E8ECD05-2490-104B-040F-FDA7F037299D}"/>
              </a:ext>
            </a:extLst>
          </p:cNvPr>
          <p:cNvSpPr txBox="1"/>
          <p:nvPr/>
        </p:nvSpPr>
        <p:spPr>
          <a:xfrm>
            <a:off x="1143000" y="1435100"/>
            <a:ext cx="5842000" cy="228600"/>
          </a:xfrm>
          <a:prstGeom prst="rect">
            <a:avLst/>
          </a:prstGeom>
          <a:noFill/>
        </p:spPr>
        <p:txBody>
          <a:bodyPr vert="horz" wrap="square" lIns="0" tIns="0" rIns="0" bIns="0" rtlCol="0" anchor="t">
            <a:noAutofit/>
          </a:bodyPr>
          <a:lstStyle/>
          <a:p>
            <a:pPr algn="l"/>
            <a:r>
              <a:rPr lang="es-BO" sz="1350">
                <a:solidFill>
                  <a:srgbClr val="1C1813"/>
                </a:solidFill>
                <a:latin typeface="Bahnschrift SemiBold" panose="020B0502040204020203" pitchFamily="34" charset="0"/>
              </a:rPr>
              <a:t>Lo que aporta</a:t>
            </a:r>
          </a:p>
        </p:txBody>
      </p:sp>
      <p:sp>
        <p:nvSpPr>
          <p:cNvPr id="8" name="CuadroTexto 7">
            <a:extLst>
              <a:ext uri="{FF2B5EF4-FFF2-40B4-BE49-F238E27FC236}">
                <a16:creationId xmlns:a16="http://schemas.microsoft.com/office/drawing/2014/main" id="{BCAA1CD1-111E-C7D2-04A5-31125931F106}"/>
              </a:ext>
            </a:extLst>
          </p:cNvPr>
          <p:cNvSpPr txBox="1"/>
          <p:nvPr/>
        </p:nvSpPr>
        <p:spPr>
          <a:xfrm>
            <a:off x="1143000" y="1689100"/>
            <a:ext cx="6858000" cy="584200"/>
          </a:xfrm>
          <a:prstGeom prst="rect">
            <a:avLst/>
          </a:prstGeom>
          <a:noFill/>
        </p:spPr>
        <p:txBody>
          <a:bodyPr vert="horz" wrap="square" lIns="0" tIns="0" rIns="0" bIns="0" rtlCol="0" anchor="t">
            <a:noAutofit/>
          </a:bodyPr>
          <a:lstStyle/>
          <a:p>
            <a:pPr algn="l"/>
            <a:r>
              <a:rPr lang="es-MX" sz="1150">
                <a:solidFill>
                  <a:srgbClr val="5A5248"/>
                </a:solidFill>
                <a:latin typeface="Segoe UI" panose="020B0502040204020203" pitchFamily="34" charset="0"/>
              </a:rPr>
              <a:t>Tracción pura. A flexión se pega en la cara traccionada; a cortante se envuelve el alma; a compresión se confina el pilar. Módulo del orden de 165 GPa.</a:t>
            </a:r>
            <a:endParaRPr lang="es-BO" sz="1150">
              <a:solidFill>
                <a:srgbClr val="5A5248"/>
              </a:solidFill>
              <a:latin typeface="Segoe UI" panose="020B0502040204020203" pitchFamily="34" charset="0"/>
            </a:endParaRPr>
          </a:p>
        </p:txBody>
      </p:sp>
      <p:sp>
        <p:nvSpPr>
          <p:cNvPr id="9" name="Elipse 8">
            <a:extLst>
              <a:ext uri="{FF2B5EF4-FFF2-40B4-BE49-F238E27FC236}">
                <a16:creationId xmlns:a16="http://schemas.microsoft.com/office/drawing/2014/main" id="{2A138B63-F87F-9751-EF29-C87D26519863}"/>
              </a:ext>
            </a:extLst>
          </p:cNvPr>
          <p:cNvSpPr/>
          <p:nvPr/>
        </p:nvSpPr>
        <p:spPr>
          <a:xfrm>
            <a:off x="609600" y="2387600"/>
            <a:ext cx="355600" cy="3556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250">
                <a:solidFill>
                  <a:srgbClr val="1C1813"/>
                </a:solidFill>
                <a:latin typeface="Bahnschrift SemiBold" panose="020B0502040204020203" pitchFamily="34" charset="0"/>
              </a:rPr>
              <a:t>2</a:t>
            </a:r>
          </a:p>
        </p:txBody>
      </p:sp>
      <p:sp>
        <p:nvSpPr>
          <p:cNvPr id="10" name="CuadroTexto 9">
            <a:extLst>
              <a:ext uri="{FF2B5EF4-FFF2-40B4-BE49-F238E27FC236}">
                <a16:creationId xmlns:a16="http://schemas.microsoft.com/office/drawing/2014/main" id="{C738EEAB-EEBD-4766-5AC5-67F927372AB4}"/>
              </a:ext>
            </a:extLst>
          </p:cNvPr>
          <p:cNvSpPr txBox="1"/>
          <p:nvPr/>
        </p:nvSpPr>
        <p:spPr>
          <a:xfrm>
            <a:off x="1143000" y="2400300"/>
            <a:ext cx="5842000" cy="228600"/>
          </a:xfrm>
          <a:prstGeom prst="rect">
            <a:avLst/>
          </a:prstGeom>
          <a:noFill/>
        </p:spPr>
        <p:txBody>
          <a:bodyPr vert="horz" wrap="square" lIns="0" tIns="0" rIns="0" bIns="0" rtlCol="0" anchor="t">
            <a:noAutofit/>
          </a:bodyPr>
          <a:lstStyle/>
          <a:p>
            <a:pPr algn="l"/>
            <a:r>
              <a:rPr lang="es-BO" sz="1350">
                <a:solidFill>
                  <a:srgbClr val="1C1813"/>
                </a:solidFill>
                <a:latin typeface="Bahnschrift SemiBold" panose="020B0502040204020203" pitchFamily="34" charset="0"/>
              </a:rPr>
              <a:t>El límite del despegue</a:t>
            </a:r>
          </a:p>
        </p:txBody>
      </p:sp>
      <p:sp>
        <p:nvSpPr>
          <p:cNvPr id="11" name="CuadroTexto 10">
            <a:extLst>
              <a:ext uri="{FF2B5EF4-FFF2-40B4-BE49-F238E27FC236}">
                <a16:creationId xmlns:a16="http://schemas.microsoft.com/office/drawing/2014/main" id="{726B53D7-DD3B-DA83-1777-001E597654F7}"/>
              </a:ext>
            </a:extLst>
          </p:cNvPr>
          <p:cNvSpPr txBox="1"/>
          <p:nvPr/>
        </p:nvSpPr>
        <p:spPr>
          <a:xfrm>
            <a:off x="1143000" y="2654300"/>
            <a:ext cx="6858000" cy="584200"/>
          </a:xfrm>
          <a:prstGeom prst="rect">
            <a:avLst/>
          </a:prstGeom>
          <a:noFill/>
        </p:spPr>
        <p:txBody>
          <a:bodyPr vert="horz" wrap="square" lIns="0" tIns="0" rIns="0" bIns="0" rtlCol="0" anchor="t">
            <a:noAutofit/>
          </a:bodyPr>
          <a:lstStyle/>
          <a:p>
            <a:pPr algn="l"/>
            <a:r>
              <a:rPr lang="es-MX" sz="1150">
                <a:solidFill>
                  <a:srgbClr val="5A5248"/>
                </a:solidFill>
                <a:latin typeface="Segoe UI" panose="020B0502040204020203" pitchFamily="34" charset="0"/>
              </a:rPr>
              <a:t>Casi nunca se agota la fibra: el sistema falla antes </a:t>
            </a:r>
            <a:r>
              <a:rPr lang="es-MX" sz="1150" b="1">
                <a:solidFill>
                  <a:srgbClr val="5A5248"/>
                </a:solidFill>
                <a:latin typeface="Segoe UI Semibold" panose="020B0702040204020203" pitchFamily="34" charset="0"/>
              </a:rPr>
              <a:t>por despegue de la lámina</a:t>
            </a:r>
            <a:r>
              <a:rPr lang="es-MX" sz="1150">
                <a:solidFill>
                  <a:srgbClr val="5A5248"/>
                </a:solidFill>
                <a:latin typeface="Segoe UI" panose="020B0502040204020203" pitchFamily="34" charset="0"/>
              </a:rPr>
              <a:t>. ACI 440.2R acota la deformación efectiva, y ese límite es el que manda en el cálculo.</a:t>
            </a:r>
            <a:endParaRPr lang="es-BO" sz="1150">
              <a:solidFill>
                <a:srgbClr val="5A5248"/>
              </a:solidFill>
              <a:latin typeface="Segoe UI" panose="020B0502040204020203" pitchFamily="34" charset="0"/>
            </a:endParaRPr>
          </a:p>
        </p:txBody>
      </p:sp>
      <p:sp>
        <p:nvSpPr>
          <p:cNvPr id="12" name="Elipse 11">
            <a:extLst>
              <a:ext uri="{FF2B5EF4-FFF2-40B4-BE49-F238E27FC236}">
                <a16:creationId xmlns:a16="http://schemas.microsoft.com/office/drawing/2014/main" id="{96371AF0-C6C2-865C-2740-496D5F7ED3CF}"/>
              </a:ext>
            </a:extLst>
          </p:cNvPr>
          <p:cNvSpPr/>
          <p:nvPr/>
        </p:nvSpPr>
        <p:spPr>
          <a:xfrm>
            <a:off x="609600" y="3352800"/>
            <a:ext cx="355600" cy="3556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250">
                <a:solidFill>
                  <a:srgbClr val="1C1813"/>
                </a:solidFill>
                <a:latin typeface="Bahnschrift SemiBold" panose="020B0502040204020203" pitchFamily="34" charset="0"/>
              </a:rPr>
              <a:t>3</a:t>
            </a:r>
          </a:p>
        </p:txBody>
      </p:sp>
      <p:sp>
        <p:nvSpPr>
          <p:cNvPr id="13" name="CuadroTexto 12">
            <a:extLst>
              <a:ext uri="{FF2B5EF4-FFF2-40B4-BE49-F238E27FC236}">
                <a16:creationId xmlns:a16="http://schemas.microsoft.com/office/drawing/2014/main" id="{38BC1147-15DF-6816-2ECC-7A0E3958239D}"/>
              </a:ext>
            </a:extLst>
          </p:cNvPr>
          <p:cNvSpPr txBox="1"/>
          <p:nvPr/>
        </p:nvSpPr>
        <p:spPr>
          <a:xfrm>
            <a:off x="1143000" y="3365500"/>
            <a:ext cx="5842000" cy="228600"/>
          </a:xfrm>
          <a:prstGeom prst="rect">
            <a:avLst/>
          </a:prstGeom>
          <a:noFill/>
        </p:spPr>
        <p:txBody>
          <a:bodyPr vert="horz" wrap="square" lIns="0" tIns="0" rIns="0" bIns="0" rtlCol="0" anchor="t">
            <a:noAutofit/>
          </a:bodyPr>
          <a:lstStyle/>
          <a:p>
            <a:pPr algn="l"/>
            <a:r>
              <a:rPr lang="es-BO" sz="1350">
                <a:solidFill>
                  <a:srgbClr val="1C1813"/>
                </a:solidFill>
                <a:latin typeface="Bahnschrift SemiBold" panose="020B0502040204020203" pitchFamily="34" charset="0"/>
              </a:rPr>
              <a:t>El límite del fuego</a:t>
            </a:r>
          </a:p>
        </p:txBody>
      </p:sp>
      <p:sp>
        <p:nvSpPr>
          <p:cNvPr id="14" name="CuadroTexto 13">
            <a:extLst>
              <a:ext uri="{FF2B5EF4-FFF2-40B4-BE49-F238E27FC236}">
                <a16:creationId xmlns:a16="http://schemas.microsoft.com/office/drawing/2014/main" id="{F994BFEC-BC83-323F-3A44-EAF0F65CEB1B}"/>
              </a:ext>
            </a:extLst>
          </p:cNvPr>
          <p:cNvSpPr txBox="1"/>
          <p:nvPr/>
        </p:nvSpPr>
        <p:spPr>
          <a:xfrm>
            <a:off x="1143000" y="3619500"/>
            <a:ext cx="6858000" cy="584200"/>
          </a:xfrm>
          <a:prstGeom prst="rect">
            <a:avLst/>
          </a:prstGeom>
          <a:noFill/>
        </p:spPr>
        <p:txBody>
          <a:bodyPr vert="horz" wrap="square" lIns="0" tIns="0" rIns="0" bIns="0" rtlCol="0" anchor="t">
            <a:noAutofit/>
          </a:bodyPr>
          <a:lstStyle/>
          <a:p>
            <a:pPr algn="l"/>
            <a:r>
              <a:rPr lang="es-MX" sz="1150">
                <a:solidFill>
                  <a:srgbClr val="5A5248"/>
                </a:solidFill>
                <a:latin typeface="Segoe UI" panose="020B0502040204020203" pitchFamily="34" charset="0"/>
              </a:rPr>
              <a:t>La resina pierde adherencia por encima de unos 60 a 80 °C. ACI 440.2R exige que </a:t>
            </a:r>
            <a:r>
              <a:rPr lang="es-MX" sz="1150" b="1">
                <a:solidFill>
                  <a:srgbClr val="5A5248"/>
                </a:solidFill>
                <a:latin typeface="Segoe UI Semibold" panose="020B0702040204020203" pitchFamily="34" charset="0"/>
              </a:rPr>
              <a:t>la estructura sin el refuerzo</a:t>
            </a:r>
            <a:r>
              <a:rPr lang="es-MX" sz="1150">
                <a:solidFill>
                  <a:srgbClr val="5A5248"/>
                </a:solidFill>
                <a:latin typeface="Segoe UI" panose="020B0502040204020203" pitchFamily="34" charset="0"/>
              </a:rPr>
              <a:t> siga aguantando una combinación reducida, por si el FRP desaparece.</a:t>
            </a:r>
            <a:endParaRPr lang="es-BO" sz="1150">
              <a:solidFill>
                <a:srgbClr val="5A5248"/>
              </a:solidFill>
              <a:latin typeface="Segoe UI" panose="020B0502040204020203" pitchFamily="34" charset="0"/>
            </a:endParaRPr>
          </a:p>
        </p:txBody>
      </p:sp>
      <p:sp>
        <p:nvSpPr>
          <p:cNvPr id="15" name="Elipse 14">
            <a:extLst>
              <a:ext uri="{FF2B5EF4-FFF2-40B4-BE49-F238E27FC236}">
                <a16:creationId xmlns:a16="http://schemas.microsoft.com/office/drawing/2014/main" id="{18B65D91-772A-08A7-3F9E-4C1293E95CB0}"/>
              </a:ext>
            </a:extLst>
          </p:cNvPr>
          <p:cNvSpPr/>
          <p:nvPr/>
        </p:nvSpPr>
        <p:spPr>
          <a:xfrm>
            <a:off x="609600" y="4318000"/>
            <a:ext cx="355600" cy="3556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250">
                <a:solidFill>
                  <a:srgbClr val="1C1813"/>
                </a:solidFill>
                <a:latin typeface="Bahnschrift SemiBold" panose="020B0502040204020203" pitchFamily="34" charset="0"/>
              </a:rPr>
              <a:t>4</a:t>
            </a:r>
          </a:p>
        </p:txBody>
      </p:sp>
      <p:sp>
        <p:nvSpPr>
          <p:cNvPr id="16" name="CuadroTexto 15">
            <a:extLst>
              <a:ext uri="{FF2B5EF4-FFF2-40B4-BE49-F238E27FC236}">
                <a16:creationId xmlns:a16="http://schemas.microsoft.com/office/drawing/2014/main" id="{124A496E-C78E-37BC-3172-94C2F427B95C}"/>
              </a:ext>
            </a:extLst>
          </p:cNvPr>
          <p:cNvSpPr txBox="1"/>
          <p:nvPr/>
        </p:nvSpPr>
        <p:spPr>
          <a:xfrm>
            <a:off x="1143000" y="4330700"/>
            <a:ext cx="5842000" cy="228600"/>
          </a:xfrm>
          <a:prstGeom prst="rect">
            <a:avLst/>
          </a:prstGeom>
          <a:noFill/>
        </p:spPr>
        <p:txBody>
          <a:bodyPr vert="horz" wrap="square" lIns="0" tIns="0" rIns="0" bIns="0" rtlCol="0" anchor="t">
            <a:noAutofit/>
          </a:bodyPr>
          <a:lstStyle/>
          <a:p>
            <a:pPr algn="l"/>
            <a:r>
              <a:rPr lang="es-BO" sz="1350">
                <a:solidFill>
                  <a:srgbClr val="1C1813"/>
                </a:solidFill>
                <a:latin typeface="Bahnschrift SemiBold" panose="020B0502040204020203" pitchFamily="34" charset="0"/>
              </a:rPr>
              <a:t>El límite del soporte</a:t>
            </a:r>
          </a:p>
        </p:txBody>
      </p:sp>
      <p:sp>
        <p:nvSpPr>
          <p:cNvPr id="17" name="CuadroTexto 16">
            <a:extLst>
              <a:ext uri="{FF2B5EF4-FFF2-40B4-BE49-F238E27FC236}">
                <a16:creationId xmlns:a16="http://schemas.microsoft.com/office/drawing/2014/main" id="{B30C899B-B258-9C34-87E5-36BA743E93B6}"/>
              </a:ext>
            </a:extLst>
          </p:cNvPr>
          <p:cNvSpPr txBox="1"/>
          <p:nvPr/>
        </p:nvSpPr>
        <p:spPr>
          <a:xfrm>
            <a:off x="1143000" y="4584700"/>
            <a:ext cx="6858000" cy="584200"/>
          </a:xfrm>
          <a:prstGeom prst="rect">
            <a:avLst/>
          </a:prstGeom>
          <a:noFill/>
        </p:spPr>
        <p:txBody>
          <a:bodyPr vert="horz" wrap="square" lIns="0" tIns="0" rIns="0" bIns="0" rtlCol="0" anchor="t">
            <a:noAutofit/>
          </a:bodyPr>
          <a:lstStyle/>
          <a:p>
            <a:pPr algn="l"/>
            <a:r>
              <a:rPr lang="es-MX" sz="1150">
                <a:solidFill>
                  <a:srgbClr val="5A5248"/>
                </a:solidFill>
                <a:latin typeface="Segoe UI" panose="020B0502040204020203" pitchFamily="34" charset="0"/>
              </a:rPr>
              <a:t>Se pega sobre hormigón sano, seco y plano. Si el soporte está carbonatado o la armadura corroída, </a:t>
            </a:r>
            <a:r>
              <a:rPr lang="es-MX" sz="1150" b="1">
                <a:solidFill>
                  <a:srgbClr val="5A5248"/>
                </a:solidFill>
                <a:latin typeface="Segoe UI Semibold" panose="020B0702040204020203" pitchFamily="34" charset="0"/>
              </a:rPr>
              <a:t>primero la clase 6 completa</a:t>
            </a:r>
            <a:r>
              <a:rPr lang="es-MX" sz="1150">
                <a:solidFill>
                  <a:srgbClr val="5A5248"/>
                </a:solidFill>
                <a:latin typeface="Segoe UI" panose="020B0502040204020203" pitchFamily="34" charset="0"/>
              </a:rPr>
              <a:t> y después la fibra.</a:t>
            </a:r>
            <a:endParaRPr lang="es-BO" sz="1150">
              <a:solidFill>
                <a:srgbClr val="5A5248"/>
              </a:solidFill>
              <a:latin typeface="Segoe UI" panose="020B0502040204020203" pitchFamily="34" charset="0"/>
            </a:endParaRPr>
          </a:p>
        </p:txBody>
      </p:sp>
      <p:pic>
        <p:nvPicPr>
          <p:cNvPr id="19" name="Imagen 18" descr="Fibra de carbono: lo que aporta, despegue del extremo, límite de 60 a 80 °C y soporte sano">
            <a:extLst>
              <a:ext uri="{FF2B5EF4-FFF2-40B4-BE49-F238E27FC236}">
                <a16:creationId xmlns:a16="http://schemas.microsoft.com/office/drawing/2014/main" id="{8F42C8D7-E4ED-8D51-897F-3EEF951153D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229600" y="1422400"/>
            <a:ext cx="3352800" cy="3759200"/>
          </a:xfrm>
          <a:prstGeom prst="rect">
            <a:avLst/>
          </a:prstGeom>
        </p:spPr>
      </p:pic>
      <p:sp>
        <p:nvSpPr>
          <p:cNvPr id="20" name="Rectángulo 19">
            <a:extLst>
              <a:ext uri="{FF2B5EF4-FFF2-40B4-BE49-F238E27FC236}">
                <a16:creationId xmlns:a16="http://schemas.microsoft.com/office/drawing/2014/main" id="{81F13A0D-9F70-0FCF-5A3A-718A965B76B0}"/>
              </a:ext>
            </a:extLst>
          </p:cNvPr>
          <p:cNvSpPr/>
          <p:nvPr/>
        </p:nvSpPr>
        <p:spPr>
          <a:xfrm>
            <a:off x="609600" y="5384800"/>
            <a:ext cx="7366000" cy="660400"/>
          </a:xfrm>
          <a:prstGeom prst="rect">
            <a:avLst/>
          </a:prstGeom>
          <a:solidFill>
            <a:srgbClr val="241F1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2" name="CuadroTexto 21">
            <a:extLst>
              <a:ext uri="{FF2B5EF4-FFF2-40B4-BE49-F238E27FC236}">
                <a16:creationId xmlns:a16="http://schemas.microsoft.com/office/drawing/2014/main" id="{17DC8B47-B8DE-EE99-D86D-A90DC8926ABE}"/>
              </a:ext>
            </a:extLst>
          </p:cNvPr>
          <p:cNvSpPr txBox="1"/>
          <p:nvPr/>
        </p:nvSpPr>
        <p:spPr>
          <a:xfrm>
            <a:off x="838200" y="5435600"/>
            <a:ext cx="6959600" cy="558800"/>
          </a:xfrm>
          <a:prstGeom prst="rect">
            <a:avLst/>
          </a:prstGeom>
          <a:noFill/>
        </p:spPr>
        <p:txBody>
          <a:bodyPr vert="horz" wrap="square" lIns="0" tIns="0" rIns="0" bIns="0" rtlCol="0" anchor="ctr">
            <a:noAutofit/>
          </a:bodyPr>
          <a:lstStyle/>
          <a:p>
            <a:pPr algn="l"/>
            <a:r>
              <a:rPr lang="es-MX" sz="1150">
                <a:solidFill>
                  <a:srgbClr val="FFFFFF"/>
                </a:solidFill>
                <a:latin typeface="Segoe UI" panose="020B0502040204020203" pitchFamily="34" charset="0"/>
              </a:rPr>
              <a:t>El tercer límite es el que más proyectos tumba: </a:t>
            </a:r>
            <a:r>
              <a:rPr lang="es-MX" sz="1150" b="1">
                <a:solidFill>
                  <a:srgbClr val="FFFFFF"/>
                </a:solidFill>
                <a:latin typeface="Segoe UI Semibold" panose="020B0702040204020203" pitchFamily="34" charset="0"/>
              </a:rPr>
              <a:t>si la estructura sin FRP no pasa la combinación reducida, la fibra no es una solución admisible</a:t>
            </a:r>
            <a:r>
              <a:rPr lang="es-MX" sz="1150">
                <a:solidFill>
                  <a:srgbClr val="FFFFFF"/>
                </a:solidFill>
                <a:latin typeface="Segoe UI" panose="020B0502040204020203" pitchFamily="34" charset="0"/>
              </a:rPr>
              <a:t>.</a:t>
            </a:r>
            <a:endParaRPr lang="es-BO" sz="1150">
              <a:solidFill>
                <a:srgbClr val="FFFFFF"/>
              </a:solidFill>
              <a:latin typeface="Segoe UI" panose="020B0502040204020203" pitchFamily="34" charset="0"/>
            </a:endParaRPr>
          </a:p>
        </p:txBody>
      </p:sp>
      <p:sp>
        <p:nvSpPr>
          <p:cNvPr id="23" name="CuadroTexto 22">
            <a:extLst>
              <a:ext uri="{FF2B5EF4-FFF2-40B4-BE49-F238E27FC236}">
                <a16:creationId xmlns:a16="http://schemas.microsoft.com/office/drawing/2014/main" id="{54978DBB-1096-47C4-E826-D85A972C1182}"/>
              </a:ext>
            </a:extLst>
          </p:cNvPr>
          <p:cNvSpPr txBox="1"/>
          <p:nvPr/>
        </p:nvSpPr>
        <p:spPr>
          <a:xfrm>
            <a:off x="609600" y="6324600"/>
            <a:ext cx="10972800" cy="152400"/>
          </a:xfrm>
          <a:prstGeom prst="rect">
            <a:avLst/>
          </a:prstGeom>
          <a:noFill/>
        </p:spPr>
        <p:txBody>
          <a:bodyPr vert="horz" wrap="square" lIns="0" tIns="0" rIns="0" bIns="0" rtlCol="0" anchor="t">
            <a:noAutofit/>
          </a:bodyPr>
          <a:lstStyle/>
          <a:p>
            <a:pPr algn="l"/>
            <a:r>
              <a:rPr lang="es-MX" sz="700">
                <a:solidFill>
                  <a:srgbClr val="938A7C"/>
                </a:solidFill>
                <a:latin typeface="Segoe UI" panose="020B0502040204020203" pitchFamily="34" charset="0"/>
              </a:rPr>
              <a:t>Fuente: ACI 440.2R-17 §9 y §10; factor ambiental y límite de despegue.</a:t>
            </a:r>
            <a:endParaRPr lang="es-BO" sz="700">
              <a:solidFill>
                <a:srgbClr val="938A7C"/>
              </a:solidFill>
              <a:latin typeface="Segoe UI" panose="020B0502040204020203" pitchFamily="34" charset="0"/>
            </a:endParaRPr>
          </a:p>
        </p:txBody>
      </p:sp>
      <p:cxnSp>
        <p:nvCxnSpPr>
          <p:cNvPr id="24" name="Conector recto 23">
            <a:extLst>
              <a:ext uri="{FF2B5EF4-FFF2-40B4-BE49-F238E27FC236}">
                <a16:creationId xmlns:a16="http://schemas.microsoft.com/office/drawing/2014/main" id="{6F30F5CE-4C85-5F5A-B7F0-BC4F9297280A}"/>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25" name="CuadroTexto 24">
            <a:extLst>
              <a:ext uri="{FF2B5EF4-FFF2-40B4-BE49-F238E27FC236}">
                <a16:creationId xmlns:a16="http://schemas.microsoft.com/office/drawing/2014/main" id="{23722A8E-28C9-951B-40FB-95CC4EE91F78}"/>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26" name="CuadroTexto 25">
            <a:extLst>
              <a:ext uri="{FF2B5EF4-FFF2-40B4-BE49-F238E27FC236}">
                <a16:creationId xmlns:a16="http://schemas.microsoft.com/office/drawing/2014/main" id="{5E2B00B9-4715-D8D3-53B8-4803F9416DD5}"/>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27" name="PageNo">
            <a:extLst>
              <a:ext uri="{FF2B5EF4-FFF2-40B4-BE49-F238E27FC236}">
                <a16:creationId xmlns:a16="http://schemas.microsoft.com/office/drawing/2014/main" id="{AC064F2A-1533-2F18-54AD-F6B52CDDFDEE}"/>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12 / 38</a:t>
            </a:r>
          </a:p>
        </p:txBody>
      </p:sp>
    </p:spTree>
    <p:extLst>
      <p:ext uri="{BB962C8B-B14F-4D97-AF65-F5344CB8AC3E}">
        <p14:creationId xmlns:p14="http://schemas.microsoft.com/office/powerpoint/2010/main" val="14186202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7B791386-5340-ABDB-A99D-E7CFF9B64938}"/>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MX" sz="900" spc="180">
                <a:solidFill>
                  <a:srgbClr val="6A4F20"/>
                </a:solidFill>
                <a:latin typeface="Segoe UI Semibold" panose="020B0702040204020203" pitchFamily="34" charset="0"/>
              </a:rPr>
              <a:t>PARTE 2 · LO QUE SE VE EN OBRA</a:t>
            </a:r>
            <a:endParaRPr lang="es-BO" sz="900" spc="180">
              <a:solidFill>
                <a:srgbClr val="6A4F20"/>
              </a:solidFill>
              <a:latin typeface="Segoe UI Semibold" panose="020B0702040204020203" pitchFamily="34" charset="0"/>
            </a:endParaRPr>
          </a:p>
        </p:txBody>
      </p:sp>
      <p:sp>
        <p:nvSpPr>
          <p:cNvPr id="3" name="Title">
            <a:extLst>
              <a:ext uri="{FF2B5EF4-FFF2-40B4-BE49-F238E27FC236}">
                <a16:creationId xmlns:a16="http://schemas.microsoft.com/office/drawing/2014/main" id="{501ED138-E74B-8EA0-6889-CF3C355B2287}"/>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Tres refuerzos que resuelven tres problemas distintos</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AA7496CD-A6D2-5C17-176C-5E537D9BFD5A}"/>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pic>
        <p:nvPicPr>
          <p:cNvPr id="7" name="Imagen 6">
            <a:extLst>
              <a:ext uri="{FF2B5EF4-FFF2-40B4-BE49-F238E27FC236}">
                <a16:creationId xmlns:a16="http://schemas.microsoft.com/office/drawing/2014/main" id="{CA1B01BD-5DDD-3BDB-7A06-58FE30AB03D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524000"/>
            <a:ext cx="3454400" cy="2336800"/>
          </a:xfrm>
          <a:prstGeom prst="rect">
            <a:avLst/>
          </a:prstGeom>
        </p:spPr>
      </p:pic>
      <p:sp>
        <p:nvSpPr>
          <p:cNvPr id="8" name="CuadroTexto 7">
            <a:extLst>
              <a:ext uri="{FF2B5EF4-FFF2-40B4-BE49-F238E27FC236}">
                <a16:creationId xmlns:a16="http://schemas.microsoft.com/office/drawing/2014/main" id="{0A5AEFFD-D6CB-0A1B-2F96-447149C2CF4B}"/>
              </a:ext>
            </a:extLst>
          </p:cNvPr>
          <p:cNvSpPr txBox="1"/>
          <p:nvPr/>
        </p:nvSpPr>
        <p:spPr>
          <a:xfrm>
            <a:off x="609600" y="3987800"/>
            <a:ext cx="3454400" cy="279400"/>
          </a:xfrm>
          <a:prstGeom prst="rect">
            <a:avLst/>
          </a:prstGeom>
          <a:noFill/>
        </p:spPr>
        <p:txBody>
          <a:bodyPr vert="horz" wrap="square" lIns="0" tIns="0" rIns="0" bIns="0" rtlCol="0" anchor="t">
            <a:noAutofit/>
          </a:bodyPr>
          <a:lstStyle/>
          <a:p>
            <a:pPr algn="l"/>
            <a:r>
              <a:rPr lang="es-BO" sz="1350">
                <a:solidFill>
                  <a:srgbClr val="1C1813"/>
                </a:solidFill>
                <a:latin typeface="Bahnschrift SemiBold" panose="020B0502040204020203" pitchFamily="34" charset="0"/>
              </a:rPr>
              <a:t>Encamisado de pilar</a:t>
            </a:r>
          </a:p>
        </p:txBody>
      </p:sp>
      <p:sp>
        <p:nvSpPr>
          <p:cNvPr id="9" name="CuadroTexto 8">
            <a:extLst>
              <a:ext uri="{FF2B5EF4-FFF2-40B4-BE49-F238E27FC236}">
                <a16:creationId xmlns:a16="http://schemas.microsoft.com/office/drawing/2014/main" id="{995C313F-FA1A-F9CE-4EF3-8AF98AB4BA3C}"/>
              </a:ext>
            </a:extLst>
          </p:cNvPr>
          <p:cNvSpPr txBox="1"/>
          <p:nvPr/>
        </p:nvSpPr>
        <p:spPr>
          <a:xfrm>
            <a:off x="609600" y="4292600"/>
            <a:ext cx="3454400" cy="965200"/>
          </a:xfrm>
          <a:prstGeom prst="rect">
            <a:avLst/>
          </a:prstGeom>
          <a:noFill/>
        </p:spPr>
        <p:txBody>
          <a:bodyPr vert="horz" wrap="square" lIns="0" tIns="0" rIns="0" bIns="0" rtlCol="0" anchor="t">
            <a:noAutofit/>
          </a:bodyPr>
          <a:lstStyle/>
          <a:p>
            <a:pPr algn="l"/>
            <a:r>
              <a:rPr lang="es-MX" sz="1150">
                <a:solidFill>
                  <a:srgbClr val="5A5248"/>
                </a:solidFill>
                <a:latin typeface="Segoe UI" panose="020B0502040204020203" pitchFamily="34" charset="0"/>
              </a:rPr>
              <a:t>Sección, armadura y confinamiento. La solución más robusta cuando hay sitio y se puede apear.</a:t>
            </a:r>
            <a:endParaRPr lang="es-BO" sz="1150">
              <a:solidFill>
                <a:srgbClr val="5A5248"/>
              </a:solidFill>
              <a:latin typeface="Segoe UI" panose="020B0502040204020203" pitchFamily="34" charset="0"/>
            </a:endParaRPr>
          </a:p>
        </p:txBody>
      </p:sp>
      <p:pic>
        <p:nvPicPr>
          <p:cNvPr id="11" name="Imagen 10">
            <a:extLst>
              <a:ext uri="{FF2B5EF4-FFF2-40B4-BE49-F238E27FC236}">
                <a16:creationId xmlns:a16="http://schemas.microsoft.com/office/drawing/2014/main" id="{D9CDDF9F-678C-5049-22A8-BC3039513A0A}"/>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368800" y="1524000"/>
            <a:ext cx="3454400" cy="2336800"/>
          </a:xfrm>
          <a:prstGeom prst="rect">
            <a:avLst/>
          </a:prstGeom>
        </p:spPr>
      </p:pic>
      <p:sp>
        <p:nvSpPr>
          <p:cNvPr id="12" name="CuadroTexto 11">
            <a:extLst>
              <a:ext uri="{FF2B5EF4-FFF2-40B4-BE49-F238E27FC236}">
                <a16:creationId xmlns:a16="http://schemas.microsoft.com/office/drawing/2014/main" id="{356CFFFD-8488-5D4E-899C-99C82CEA742A}"/>
              </a:ext>
            </a:extLst>
          </p:cNvPr>
          <p:cNvSpPr txBox="1"/>
          <p:nvPr/>
        </p:nvSpPr>
        <p:spPr>
          <a:xfrm>
            <a:off x="4368800" y="3987800"/>
            <a:ext cx="3454400" cy="279400"/>
          </a:xfrm>
          <a:prstGeom prst="rect">
            <a:avLst/>
          </a:prstGeom>
          <a:noFill/>
        </p:spPr>
        <p:txBody>
          <a:bodyPr vert="horz" wrap="square" lIns="0" tIns="0" rIns="0" bIns="0" rtlCol="0" anchor="t">
            <a:noAutofit/>
          </a:bodyPr>
          <a:lstStyle/>
          <a:p>
            <a:pPr algn="l"/>
            <a:r>
              <a:rPr lang="es-BO" sz="1350">
                <a:solidFill>
                  <a:srgbClr val="1C1813"/>
                </a:solidFill>
                <a:latin typeface="Bahnschrift SemiBold" panose="020B0502040204020203" pitchFamily="34" charset="0"/>
              </a:rPr>
              <a:t>Refuerzo metálico</a:t>
            </a:r>
          </a:p>
        </p:txBody>
      </p:sp>
      <p:sp>
        <p:nvSpPr>
          <p:cNvPr id="13" name="CuadroTexto 12">
            <a:extLst>
              <a:ext uri="{FF2B5EF4-FFF2-40B4-BE49-F238E27FC236}">
                <a16:creationId xmlns:a16="http://schemas.microsoft.com/office/drawing/2014/main" id="{0A3795CC-0C66-8A08-283F-6866F0C4057F}"/>
              </a:ext>
            </a:extLst>
          </p:cNvPr>
          <p:cNvSpPr txBox="1"/>
          <p:nvPr/>
        </p:nvSpPr>
        <p:spPr>
          <a:xfrm>
            <a:off x="4368800" y="4292600"/>
            <a:ext cx="3454400" cy="965200"/>
          </a:xfrm>
          <a:prstGeom prst="rect">
            <a:avLst/>
          </a:prstGeom>
          <a:noFill/>
        </p:spPr>
        <p:txBody>
          <a:bodyPr vert="horz" wrap="square" lIns="0" tIns="0" rIns="0" bIns="0" rtlCol="0" anchor="t">
            <a:noAutofit/>
          </a:bodyPr>
          <a:lstStyle/>
          <a:p>
            <a:pPr algn="l"/>
            <a:r>
              <a:rPr lang="es-MX" sz="1150">
                <a:solidFill>
                  <a:srgbClr val="5A5248"/>
                </a:solidFill>
                <a:latin typeface="Segoe UI" panose="020B0502040204020203" pitchFamily="34" charset="0"/>
              </a:rPr>
              <a:t>Angulares y presillas. Rápido y de poco espesor, pero exige protección contra fuego y corrosión.</a:t>
            </a:r>
            <a:endParaRPr lang="es-BO" sz="1150">
              <a:solidFill>
                <a:srgbClr val="5A5248"/>
              </a:solidFill>
              <a:latin typeface="Segoe UI" panose="020B0502040204020203" pitchFamily="34" charset="0"/>
            </a:endParaRPr>
          </a:p>
        </p:txBody>
      </p:sp>
      <p:pic>
        <p:nvPicPr>
          <p:cNvPr id="15" name="Imagen 14">
            <a:extLst>
              <a:ext uri="{FF2B5EF4-FFF2-40B4-BE49-F238E27FC236}">
                <a16:creationId xmlns:a16="http://schemas.microsoft.com/office/drawing/2014/main" id="{CAA29381-1C75-4310-2BD4-925F29B8787D}"/>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8128000" y="1524000"/>
            <a:ext cx="3454400" cy="2336800"/>
          </a:xfrm>
          <a:prstGeom prst="rect">
            <a:avLst/>
          </a:prstGeom>
        </p:spPr>
      </p:pic>
      <p:sp>
        <p:nvSpPr>
          <p:cNvPr id="16" name="CuadroTexto 15">
            <a:extLst>
              <a:ext uri="{FF2B5EF4-FFF2-40B4-BE49-F238E27FC236}">
                <a16:creationId xmlns:a16="http://schemas.microsoft.com/office/drawing/2014/main" id="{32C8DCB0-E1CB-5358-B68E-F3596525B259}"/>
              </a:ext>
            </a:extLst>
          </p:cNvPr>
          <p:cNvSpPr txBox="1"/>
          <p:nvPr/>
        </p:nvSpPr>
        <p:spPr>
          <a:xfrm>
            <a:off x="8128000" y="3987800"/>
            <a:ext cx="3454400" cy="279400"/>
          </a:xfrm>
          <a:prstGeom prst="rect">
            <a:avLst/>
          </a:prstGeom>
          <a:noFill/>
        </p:spPr>
        <p:txBody>
          <a:bodyPr vert="horz" wrap="square" lIns="0" tIns="0" rIns="0" bIns="0" rtlCol="0" anchor="t">
            <a:noAutofit/>
          </a:bodyPr>
          <a:lstStyle/>
          <a:p>
            <a:pPr algn="l"/>
            <a:r>
              <a:rPr lang="es-BO" sz="1350">
                <a:solidFill>
                  <a:srgbClr val="1C1813"/>
                </a:solidFill>
                <a:latin typeface="Bahnschrift SemiBold" panose="020B0502040204020203" pitchFamily="34" charset="0"/>
              </a:rPr>
              <a:t>Postesado exterior</a:t>
            </a:r>
          </a:p>
        </p:txBody>
      </p:sp>
      <p:sp>
        <p:nvSpPr>
          <p:cNvPr id="17" name="CuadroTexto 16">
            <a:extLst>
              <a:ext uri="{FF2B5EF4-FFF2-40B4-BE49-F238E27FC236}">
                <a16:creationId xmlns:a16="http://schemas.microsoft.com/office/drawing/2014/main" id="{BC8FC027-49F8-6536-38D7-9852FCC0B1AD}"/>
              </a:ext>
            </a:extLst>
          </p:cNvPr>
          <p:cNvSpPr txBox="1"/>
          <p:nvPr/>
        </p:nvSpPr>
        <p:spPr>
          <a:xfrm>
            <a:off x="8128000" y="4292600"/>
            <a:ext cx="3454400" cy="965200"/>
          </a:xfrm>
          <a:prstGeom prst="rect">
            <a:avLst/>
          </a:prstGeom>
          <a:noFill/>
        </p:spPr>
        <p:txBody>
          <a:bodyPr vert="horz" wrap="square" lIns="0" tIns="0" rIns="0" bIns="0" rtlCol="0" anchor="t">
            <a:noAutofit/>
          </a:bodyPr>
          <a:lstStyle/>
          <a:p>
            <a:pPr algn="l"/>
            <a:r>
              <a:rPr lang="es-MX" sz="1150">
                <a:solidFill>
                  <a:srgbClr val="5A5248"/>
                </a:solidFill>
                <a:latin typeface="Segoe UI" panose="020B0502040204020203" pitchFamily="34" charset="0"/>
              </a:rPr>
              <a:t>Compresión impuesta sobre la viga. Reversible, ajustable y muy eficaz en luces grandes.</a:t>
            </a:r>
            <a:endParaRPr lang="es-BO" sz="1150">
              <a:solidFill>
                <a:srgbClr val="5A5248"/>
              </a:solidFill>
              <a:latin typeface="Segoe UI" panose="020B0502040204020203" pitchFamily="34" charset="0"/>
            </a:endParaRPr>
          </a:p>
        </p:txBody>
      </p:sp>
      <p:sp>
        <p:nvSpPr>
          <p:cNvPr id="18" name="Rectángulo 17">
            <a:extLst>
              <a:ext uri="{FF2B5EF4-FFF2-40B4-BE49-F238E27FC236}">
                <a16:creationId xmlns:a16="http://schemas.microsoft.com/office/drawing/2014/main" id="{2D1F5E28-D23B-34DB-53C8-C6116259E633}"/>
              </a:ext>
            </a:extLst>
          </p:cNvPr>
          <p:cNvSpPr/>
          <p:nvPr/>
        </p:nvSpPr>
        <p:spPr>
          <a:xfrm>
            <a:off x="609600" y="5410200"/>
            <a:ext cx="10972800" cy="660400"/>
          </a:xfrm>
          <a:prstGeom prst="rect">
            <a:avLst/>
          </a:prstGeom>
          <a:solidFill>
            <a:srgbClr val="241F1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0" name="CuadroTexto 19">
            <a:extLst>
              <a:ext uri="{FF2B5EF4-FFF2-40B4-BE49-F238E27FC236}">
                <a16:creationId xmlns:a16="http://schemas.microsoft.com/office/drawing/2014/main" id="{6AE4694F-20AD-8DAA-5AAE-15684223D1C6}"/>
              </a:ext>
            </a:extLst>
          </p:cNvPr>
          <p:cNvSpPr txBox="1"/>
          <p:nvPr/>
        </p:nvSpPr>
        <p:spPr>
          <a:xfrm>
            <a:off x="838200" y="5461000"/>
            <a:ext cx="10566400" cy="558800"/>
          </a:xfrm>
          <a:prstGeom prst="rect">
            <a:avLst/>
          </a:prstGeom>
          <a:noFill/>
        </p:spPr>
        <p:txBody>
          <a:bodyPr vert="horz" wrap="square" lIns="0" tIns="0" rIns="0" bIns="0" rtlCol="0" anchor="ctr">
            <a:noAutofit/>
          </a:bodyPr>
          <a:lstStyle/>
          <a:p>
            <a:pPr algn="l"/>
            <a:r>
              <a:rPr lang="es-MX" sz="1200">
                <a:solidFill>
                  <a:srgbClr val="FFFFFF"/>
                </a:solidFill>
                <a:latin typeface="Segoe UI" panose="020B0502040204020203" pitchFamily="34" charset="0"/>
              </a:rPr>
              <a:t>Las tres exigen lo mismo antes de empezar: </a:t>
            </a:r>
            <a:r>
              <a:rPr lang="es-MX" sz="1200" b="1">
                <a:solidFill>
                  <a:srgbClr val="FFFFFF"/>
                </a:solidFill>
                <a:latin typeface="Segoe UI Semibold" panose="020B0702040204020203" pitchFamily="34" charset="0"/>
              </a:rPr>
              <a:t>que la reparación de la clase 6 esté terminada y recibida</a:t>
            </a:r>
            <a:r>
              <a:rPr lang="es-MX" sz="1200">
                <a:solidFill>
                  <a:srgbClr val="FFFFFF"/>
                </a:solidFill>
                <a:latin typeface="Segoe UI" panose="020B0502040204020203" pitchFamily="34" charset="0"/>
              </a:rPr>
              <a:t>. Reforzar sobre hormigón enfermo es reforzar algo que se sigue degradando por debajo.</a:t>
            </a:r>
            <a:endParaRPr lang="es-BO" sz="1200">
              <a:solidFill>
                <a:srgbClr val="FFFFFF"/>
              </a:solidFill>
              <a:latin typeface="Segoe UI" panose="020B0502040204020203" pitchFamily="34" charset="0"/>
            </a:endParaRPr>
          </a:p>
        </p:txBody>
      </p:sp>
      <p:cxnSp>
        <p:nvCxnSpPr>
          <p:cNvPr id="21" name="Conector recto 20">
            <a:extLst>
              <a:ext uri="{FF2B5EF4-FFF2-40B4-BE49-F238E27FC236}">
                <a16:creationId xmlns:a16="http://schemas.microsoft.com/office/drawing/2014/main" id="{34E36C98-DB1B-B4F7-7341-04894FD6A3E2}"/>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22" name="CuadroTexto 21">
            <a:extLst>
              <a:ext uri="{FF2B5EF4-FFF2-40B4-BE49-F238E27FC236}">
                <a16:creationId xmlns:a16="http://schemas.microsoft.com/office/drawing/2014/main" id="{C3C0EF8B-BC9F-41E9-C493-2854BD829171}"/>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23" name="CuadroTexto 22">
            <a:extLst>
              <a:ext uri="{FF2B5EF4-FFF2-40B4-BE49-F238E27FC236}">
                <a16:creationId xmlns:a16="http://schemas.microsoft.com/office/drawing/2014/main" id="{5895FE3A-D7AB-4D51-DEFD-D13DF35196B9}"/>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24" name="PageNo">
            <a:extLst>
              <a:ext uri="{FF2B5EF4-FFF2-40B4-BE49-F238E27FC236}">
                <a16:creationId xmlns:a16="http://schemas.microsoft.com/office/drawing/2014/main" id="{C2FCA81D-D3C4-4EED-0B46-D5ED2766D188}"/>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13 / 38</a:t>
            </a:r>
          </a:p>
        </p:txBody>
      </p:sp>
    </p:spTree>
    <p:extLst>
      <p:ext uri="{BB962C8B-B14F-4D97-AF65-F5344CB8AC3E}">
        <p14:creationId xmlns:p14="http://schemas.microsoft.com/office/powerpoint/2010/main" val="31391134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C1813"/>
        </a:solidFill>
        <a:effectLst/>
      </p:bgPr>
    </p:bg>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7D8DD708-14F1-EF89-FB35-7386229B991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Rectángulo 3">
            <a:extLst>
              <a:ext uri="{FF2B5EF4-FFF2-40B4-BE49-F238E27FC236}">
                <a16:creationId xmlns:a16="http://schemas.microsoft.com/office/drawing/2014/main" id="{20489E42-DB91-CE48-7341-38BFDF78EEC1}"/>
              </a:ext>
            </a:extLst>
          </p:cNvPr>
          <p:cNvSpPr/>
          <p:nvPr/>
        </p:nvSpPr>
        <p:spPr>
          <a:xfrm>
            <a:off x="0" y="0"/>
            <a:ext cx="10668000" cy="6858000"/>
          </a:xfrm>
          <a:prstGeom prst="rect">
            <a:avLst/>
          </a:prstGeom>
          <a:gradFill flip="none" rotWithShape="1">
            <a:gsLst>
              <a:gs pos="0">
                <a:srgbClr val="1C1813"/>
              </a:gs>
              <a:gs pos="100000">
                <a:srgbClr val="1C1813">
                  <a:alpha val="0"/>
                </a:srgbClr>
              </a:gs>
            </a:gsLst>
            <a:lin ang="0" scaled="1"/>
            <a:tileRect/>
          </a:gra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5" name="Rectángulo 4">
            <a:extLst>
              <a:ext uri="{FF2B5EF4-FFF2-40B4-BE49-F238E27FC236}">
                <a16:creationId xmlns:a16="http://schemas.microsoft.com/office/drawing/2014/main" id="{DE61B932-3C5F-3A4D-019C-5BD6BF67A669}"/>
              </a:ext>
            </a:extLst>
          </p:cNvPr>
          <p:cNvSpPr/>
          <p:nvPr/>
        </p:nvSpPr>
        <p:spPr>
          <a:xfrm>
            <a:off x="0" y="0"/>
            <a:ext cx="12192000" cy="6858000"/>
          </a:xfrm>
          <a:prstGeom prst="rect">
            <a:avLst/>
          </a:prstGeom>
          <a:solidFill>
            <a:srgbClr val="1C1813">
              <a:alpha val="58000"/>
            </a:srgb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6" name="CuadroTexto 5">
            <a:extLst>
              <a:ext uri="{FF2B5EF4-FFF2-40B4-BE49-F238E27FC236}">
                <a16:creationId xmlns:a16="http://schemas.microsoft.com/office/drawing/2014/main" id="{088EA80A-12A7-9CB3-ED46-D13269DAEA30}"/>
              </a:ext>
            </a:extLst>
          </p:cNvPr>
          <p:cNvSpPr txBox="1"/>
          <p:nvPr/>
        </p:nvSpPr>
        <p:spPr>
          <a:xfrm>
            <a:off x="609600" y="1905000"/>
            <a:ext cx="3810000" cy="254000"/>
          </a:xfrm>
          <a:prstGeom prst="rect">
            <a:avLst/>
          </a:prstGeom>
          <a:noFill/>
        </p:spPr>
        <p:txBody>
          <a:bodyPr vert="horz" wrap="square" lIns="0" tIns="0" rIns="0" bIns="0" rtlCol="0" anchor="t">
            <a:noAutofit/>
          </a:bodyPr>
          <a:lstStyle/>
          <a:p>
            <a:r>
              <a:rPr lang="es-BO" sz="1100" spc="300">
                <a:solidFill>
                  <a:srgbClr val="C9A66B"/>
                </a:solidFill>
                <a:latin typeface="Segoe UI Semibold" panose="020B0702040204020203" pitchFamily="34" charset="0"/>
              </a:rPr>
              <a:t>PARTE 3</a:t>
            </a:r>
          </a:p>
        </p:txBody>
      </p:sp>
      <p:sp>
        <p:nvSpPr>
          <p:cNvPr id="7" name="Title">
            <a:extLst>
              <a:ext uri="{FF2B5EF4-FFF2-40B4-BE49-F238E27FC236}">
                <a16:creationId xmlns:a16="http://schemas.microsoft.com/office/drawing/2014/main" id="{1D4F6B8C-D2AD-25F5-4B5D-DCABE475918B}"/>
              </a:ext>
            </a:extLst>
          </p:cNvPr>
          <p:cNvSpPr txBox="1"/>
          <p:nvPr/>
        </p:nvSpPr>
        <p:spPr>
          <a:xfrm>
            <a:off x="584200" y="2235200"/>
            <a:ext cx="7874000" cy="1397000"/>
          </a:xfrm>
          <a:prstGeom prst="rect">
            <a:avLst/>
          </a:prstGeom>
          <a:noFill/>
        </p:spPr>
        <p:txBody>
          <a:bodyPr vert="horz" wrap="square" lIns="0" tIns="0" rIns="0" bIns="0" rtlCol="0" anchor="t">
            <a:noAutofit/>
          </a:bodyPr>
          <a:lstStyle/>
          <a:p>
            <a:r>
              <a:rPr lang="es-BO" sz="3800">
                <a:solidFill>
                  <a:srgbClr val="FFFFFF"/>
                </a:solidFill>
                <a:latin typeface="Bahnschrift SemiBold" panose="020B0502040204020203" pitchFamily="34" charset="0"/>
              </a:rPr>
              <a:t>Recalce de cimentaciones</a:t>
            </a:r>
          </a:p>
        </p:txBody>
      </p:sp>
      <p:sp>
        <p:nvSpPr>
          <p:cNvPr id="8" name="Rectángulo 7">
            <a:extLst>
              <a:ext uri="{FF2B5EF4-FFF2-40B4-BE49-F238E27FC236}">
                <a16:creationId xmlns:a16="http://schemas.microsoft.com/office/drawing/2014/main" id="{D96FF1FB-1F6D-9E21-E4A5-ED5BB84FD9A8}"/>
              </a:ext>
            </a:extLst>
          </p:cNvPr>
          <p:cNvSpPr/>
          <p:nvPr/>
        </p:nvSpPr>
        <p:spPr>
          <a:xfrm>
            <a:off x="609600" y="3810000"/>
            <a:ext cx="609600" cy="3810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9" name="CuadroTexto 8">
            <a:extLst>
              <a:ext uri="{FF2B5EF4-FFF2-40B4-BE49-F238E27FC236}">
                <a16:creationId xmlns:a16="http://schemas.microsoft.com/office/drawing/2014/main" id="{86B3D6EC-C55E-BF4C-1F0C-51594EEC656E}"/>
              </a:ext>
            </a:extLst>
          </p:cNvPr>
          <p:cNvSpPr txBox="1"/>
          <p:nvPr/>
        </p:nvSpPr>
        <p:spPr>
          <a:xfrm>
            <a:off x="609600" y="4013200"/>
            <a:ext cx="6604000" cy="762000"/>
          </a:xfrm>
          <a:prstGeom prst="rect">
            <a:avLst/>
          </a:prstGeom>
          <a:noFill/>
        </p:spPr>
        <p:txBody>
          <a:bodyPr vert="horz" wrap="square" lIns="0" tIns="0" rIns="0" bIns="0" rtlCol="0" anchor="t">
            <a:noAutofit/>
          </a:bodyPr>
          <a:lstStyle/>
          <a:p>
            <a:pPr algn="l"/>
            <a:r>
              <a:rPr lang="es-MX" sz="1400">
                <a:solidFill>
                  <a:srgbClr val="E6DFD2"/>
                </a:solidFill>
                <a:latin typeface="Bahnschrift Light" panose="020B0502040204020203" pitchFamily="34" charset="0"/>
              </a:rPr>
              <a:t>El elemento que nadie mira y el que más veces decide si la obra sirve.</a:t>
            </a:r>
            <a:endParaRPr lang="es-BO" sz="1400">
              <a:solidFill>
                <a:srgbClr val="E6DFD2"/>
              </a:solidFill>
              <a:latin typeface="Bahnschrift Light" panose="020B0502040204020203" pitchFamily="34" charset="0"/>
            </a:endParaRPr>
          </a:p>
        </p:txBody>
      </p:sp>
      <p:sp>
        <p:nvSpPr>
          <p:cNvPr id="10" name="Rectángulo 9">
            <a:extLst>
              <a:ext uri="{FF2B5EF4-FFF2-40B4-BE49-F238E27FC236}">
                <a16:creationId xmlns:a16="http://schemas.microsoft.com/office/drawing/2014/main" id="{EE29A9C0-6364-DDFE-2E81-08A069A89B7A}"/>
              </a:ext>
            </a:extLst>
          </p:cNvPr>
          <p:cNvSpPr/>
          <p:nvPr/>
        </p:nvSpPr>
        <p:spPr>
          <a:xfrm>
            <a:off x="609600" y="5054600"/>
            <a:ext cx="76200" cy="1524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1" name="CuadroTexto 10">
            <a:extLst>
              <a:ext uri="{FF2B5EF4-FFF2-40B4-BE49-F238E27FC236}">
                <a16:creationId xmlns:a16="http://schemas.microsoft.com/office/drawing/2014/main" id="{7B50FE8C-A9F6-B45F-E433-DC8B7A7EE99A}"/>
              </a:ext>
            </a:extLst>
          </p:cNvPr>
          <p:cNvSpPr txBox="1"/>
          <p:nvPr/>
        </p:nvSpPr>
        <p:spPr>
          <a:xfrm>
            <a:off x="787400" y="4978400"/>
            <a:ext cx="6350000" cy="177800"/>
          </a:xfrm>
          <a:prstGeom prst="rect">
            <a:avLst/>
          </a:prstGeom>
          <a:noFill/>
        </p:spPr>
        <p:txBody>
          <a:bodyPr vert="horz" wrap="square" lIns="0" tIns="0" rIns="0" bIns="0" rtlCol="0" anchor="t">
            <a:noAutofit/>
          </a:bodyPr>
          <a:lstStyle/>
          <a:p>
            <a:pPr algn="l"/>
            <a:r>
              <a:rPr lang="es-BO" sz="1050">
                <a:solidFill>
                  <a:srgbClr val="CFC7B8"/>
                </a:solidFill>
                <a:latin typeface="Segoe UI" panose="020B0502040204020203" pitchFamily="34" charset="0"/>
              </a:rPr>
              <a:t>Cuándo hace falta</a:t>
            </a:r>
          </a:p>
        </p:txBody>
      </p:sp>
      <p:sp>
        <p:nvSpPr>
          <p:cNvPr id="12" name="Rectángulo 11">
            <a:extLst>
              <a:ext uri="{FF2B5EF4-FFF2-40B4-BE49-F238E27FC236}">
                <a16:creationId xmlns:a16="http://schemas.microsoft.com/office/drawing/2014/main" id="{D485726F-E407-D4A7-2CA6-3C9BBDFCD189}"/>
              </a:ext>
            </a:extLst>
          </p:cNvPr>
          <p:cNvSpPr/>
          <p:nvPr/>
        </p:nvSpPr>
        <p:spPr>
          <a:xfrm>
            <a:off x="609600" y="5283200"/>
            <a:ext cx="76200" cy="1524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3" name="CuadroTexto 12">
            <a:extLst>
              <a:ext uri="{FF2B5EF4-FFF2-40B4-BE49-F238E27FC236}">
                <a16:creationId xmlns:a16="http://schemas.microsoft.com/office/drawing/2014/main" id="{A9BAC0D8-2B59-CC27-AC25-6123742A9F6C}"/>
              </a:ext>
            </a:extLst>
          </p:cNvPr>
          <p:cNvSpPr txBox="1"/>
          <p:nvPr/>
        </p:nvSpPr>
        <p:spPr>
          <a:xfrm>
            <a:off x="787400" y="5207000"/>
            <a:ext cx="6350000" cy="177800"/>
          </a:xfrm>
          <a:prstGeom prst="rect">
            <a:avLst/>
          </a:prstGeom>
          <a:noFill/>
        </p:spPr>
        <p:txBody>
          <a:bodyPr vert="horz" wrap="square" lIns="0" tIns="0" rIns="0" bIns="0" rtlCol="0" anchor="t">
            <a:noAutofit/>
          </a:bodyPr>
          <a:lstStyle/>
          <a:p>
            <a:pPr algn="l"/>
            <a:r>
              <a:rPr lang="es-BO" sz="1050">
                <a:solidFill>
                  <a:srgbClr val="CFC7B8"/>
                </a:solidFill>
                <a:latin typeface="Segoe UI" panose="020B0502040204020203" pitchFamily="34" charset="0"/>
              </a:rPr>
              <a:t>Las cuatro familias</a:t>
            </a:r>
          </a:p>
        </p:txBody>
      </p:sp>
      <p:sp>
        <p:nvSpPr>
          <p:cNvPr id="14" name="Rectángulo 13">
            <a:extLst>
              <a:ext uri="{FF2B5EF4-FFF2-40B4-BE49-F238E27FC236}">
                <a16:creationId xmlns:a16="http://schemas.microsoft.com/office/drawing/2014/main" id="{3037F1CE-C160-203E-9714-ADC7802E261F}"/>
              </a:ext>
            </a:extLst>
          </p:cNvPr>
          <p:cNvSpPr/>
          <p:nvPr/>
        </p:nvSpPr>
        <p:spPr>
          <a:xfrm>
            <a:off x="609600" y="5511800"/>
            <a:ext cx="76200" cy="1524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5" name="CuadroTexto 14">
            <a:extLst>
              <a:ext uri="{FF2B5EF4-FFF2-40B4-BE49-F238E27FC236}">
                <a16:creationId xmlns:a16="http://schemas.microsoft.com/office/drawing/2014/main" id="{FFDC7D6F-39A4-2738-8318-82DCA387C521}"/>
              </a:ext>
            </a:extLst>
          </p:cNvPr>
          <p:cNvSpPr txBox="1"/>
          <p:nvPr/>
        </p:nvSpPr>
        <p:spPr>
          <a:xfrm>
            <a:off x="787400" y="5435600"/>
            <a:ext cx="6350000" cy="177800"/>
          </a:xfrm>
          <a:prstGeom prst="rect">
            <a:avLst/>
          </a:prstGeom>
          <a:noFill/>
        </p:spPr>
        <p:txBody>
          <a:bodyPr vert="horz" wrap="square" lIns="0" tIns="0" rIns="0" bIns="0" rtlCol="0" anchor="t">
            <a:noAutofit/>
          </a:bodyPr>
          <a:lstStyle/>
          <a:p>
            <a:pPr algn="l"/>
            <a:r>
              <a:rPr lang="es-MX" sz="1050">
                <a:solidFill>
                  <a:srgbClr val="CFC7B8"/>
                </a:solidFill>
                <a:latin typeface="Segoe UI" panose="020B0502040204020203" pitchFamily="34" charset="0"/>
              </a:rPr>
              <a:t>La conexión con lo existente</a:t>
            </a:r>
            <a:endParaRPr lang="es-BO" sz="1050">
              <a:solidFill>
                <a:srgbClr val="CFC7B8"/>
              </a:solidFill>
              <a:latin typeface="Segoe UI" panose="020B0502040204020203" pitchFamily="34" charset="0"/>
            </a:endParaRPr>
          </a:p>
        </p:txBody>
      </p:sp>
      <p:sp>
        <p:nvSpPr>
          <p:cNvPr id="16" name="CuadroTexto 15">
            <a:extLst>
              <a:ext uri="{FF2B5EF4-FFF2-40B4-BE49-F238E27FC236}">
                <a16:creationId xmlns:a16="http://schemas.microsoft.com/office/drawing/2014/main" id="{34027CEC-EC35-21E3-4AA6-B50B2EA5B764}"/>
              </a:ext>
            </a:extLst>
          </p:cNvPr>
          <p:cNvSpPr txBox="1"/>
          <p:nvPr/>
        </p:nvSpPr>
        <p:spPr>
          <a:xfrm>
            <a:off x="609600" y="6477000"/>
            <a:ext cx="5080000" cy="152400"/>
          </a:xfrm>
          <a:prstGeom prst="rect">
            <a:avLst/>
          </a:prstGeom>
          <a:noFill/>
        </p:spPr>
        <p:txBody>
          <a:bodyPr vert="horz" wrap="square" lIns="0" tIns="0" rIns="0" bIns="0" rtlCol="0" anchor="t">
            <a:noAutofit/>
          </a:bodyPr>
          <a:lstStyle/>
          <a:p>
            <a:r>
              <a:rPr lang="es-MX" sz="700" spc="130">
                <a:solidFill>
                  <a:srgbClr val="9C9284"/>
                </a:solidFill>
                <a:latin typeface="Segoe UI" panose="020B0502040204020203" pitchFamily="34" charset="0"/>
              </a:rPr>
              <a:t>CLASE 7 · REFUERZO, RECALCE Y GESTIÓN</a:t>
            </a:r>
            <a:endParaRPr lang="es-BO" sz="700" spc="130">
              <a:solidFill>
                <a:srgbClr val="9C9284"/>
              </a:solidFill>
              <a:latin typeface="Segoe UI" panose="020B0502040204020203" pitchFamily="34" charset="0"/>
            </a:endParaRPr>
          </a:p>
        </p:txBody>
      </p:sp>
    </p:spTree>
    <p:extLst>
      <p:ext uri="{BB962C8B-B14F-4D97-AF65-F5344CB8AC3E}">
        <p14:creationId xmlns:p14="http://schemas.microsoft.com/office/powerpoint/2010/main" val="5147120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15D4933-61E0-5DA5-E9F0-8B75F6C7B6CF}"/>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MX" sz="900" spc="180">
                <a:solidFill>
                  <a:srgbClr val="6A4F20"/>
                </a:solidFill>
                <a:latin typeface="Segoe UI Semibold" panose="020B0702040204020203" pitchFamily="34" charset="0"/>
              </a:rPr>
              <a:t>PARTE 3 · CUÁNDO HACE FALTA</a:t>
            </a:r>
            <a:endParaRPr lang="es-BO" sz="900" spc="180">
              <a:solidFill>
                <a:srgbClr val="6A4F20"/>
              </a:solidFill>
              <a:latin typeface="Segoe UI Semibold" panose="020B0702040204020203" pitchFamily="34" charset="0"/>
            </a:endParaRPr>
          </a:p>
        </p:txBody>
      </p:sp>
      <p:sp>
        <p:nvSpPr>
          <p:cNvPr id="3" name="Title">
            <a:extLst>
              <a:ext uri="{FF2B5EF4-FFF2-40B4-BE49-F238E27FC236}">
                <a16:creationId xmlns:a16="http://schemas.microsoft.com/office/drawing/2014/main" id="{4AE272DF-BF70-B6BA-C40E-23CFD810295E}"/>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Terzaghi, tres sumandos y un coeficiente de seguridad de tres</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EE28A236-0382-568C-747C-4174CEE62959}"/>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6" name="Rectángulo 5">
            <a:extLst>
              <a:ext uri="{FF2B5EF4-FFF2-40B4-BE49-F238E27FC236}">
                <a16:creationId xmlns:a16="http://schemas.microsoft.com/office/drawing/2014/main" id="{AF60453F-B0F2-610B-41D0-8658551F99BA}"/>
              </a:ext>
            </a:extLst>
          </p:cNvPr>
          <p:cNvSpPr/>
          <p:nvPr/>
        </p:nvSpPr>
        <p:spPr>
          <a:xfrm>
            <a:off x="609600" y="1422400"/>
            <a:ext cx="10972800" cy="711200"/>
          </a:xfrm>
          <a:prstGeom prst="rect">
            <a:avLst/>
          </a:prstGeom>
          <a:solidFill>
            <a:srgbClr val="1C181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38100" rIns="101600" bIns="38100" rtlCol="0" anchor="ctr"/>
          <a:lstStyle/>
          <a:p>
            <a:pPr algn="ctr"/>
            <a:r>
              <a:rPr lang="pt-BR" sz="1500">
                <a:solidFill>
                  <a:srgbClr val="FFFFFF"/>
                </a:solidFill>
                <a:latin typeface="Bahnschrift SemiBold" panose="020B0502040204020203" pitchFamily="34" charset="0"/>
              </a:rPr>
              <a:t>q_u  =  1,3 · c · N_c   +   q · N_q   +   0,4 · γ · B · N_γ        (zapata cuadrada)</a:t>
            </a:r>
            <a:endParaRPr lang="es-BO" sz="1500">
              <a:solidFill>
                <a:srgbClr val="FFFFFF"/>
              </a:solidFill>
              <a:latin typeface="Bahnschrift SemiBold" panose="020B0502040204020203" pitchFamily="34" charset="0"/>
            </a:endParaRPr>
          </a:p>
        </p:txBody>
      </p:sp>
      <p:sp>
        <p:nvSpPr>
          <p:cNvPr id="7" name="Rectángulo 6">
            <a:extLst>
              <a:ext uri="{FF2B5EF4-FFF2-40B4-BE49-F238E27FC236}">
                <a16:creationId xmlns:a16="http://schemas.microsoft.com/office/drawing/2014/main" id="{CEC10E94-C3AE-15AD-6937-E48665CD043F}"/>
              </a:ext>
            </a:extLst>
          </p:cNvPr>
          <p:cNvSpPr/>
          <p:nvPr/>
        </p:nvSpPr>
        <p:spPr>
          <a:xfrm>
            <a:off x="609600" y="2362200"/>
            <a:ext cx="2641600" cy="17272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9" name="CuadroTexto 8">
            <a:extLst>
              <a:ext uri="{FF2B5EF4-FFF2-40B4-BE49-F238E27FC236}">
                <a16:creationId xmlns:a16="http://schemas.microsoft.com/office/drawing/2014/main" id="{5A16D9FC-21B5-8E84-B59C-7AAEEA09F1DD}"/>
              </a:ext>
            </a:extLst>
          </p:cNvPr>
          <p:cNvSpPr txBox="1"/>
          <p:nvPr/>
        </p:nvSpPr>
        <p:spPr>
          <a:xfrm>
            <a:off x="812800" y="2540000"/>
            <a:ext cx="1016000" cy="304800"/>
          </a:xfrm>
          <a:prstGeom prst="rect">
            <a:avLst/>
          </a:prstGeom>
          <a:noFill/>
        </p:spPr>
        <p:txBody>
          <a:bodyPr vert="horz" wrap="square" lIns="0" tIns="0" rIns="0" bIns="0" rtlCol="0" anchor="t">
            <a:noAutofit/>
          </a:bodyPr>
          <a:lstStyle/>
          <a:p>
            <a:r>
              <a:rPr lang="es-BO" sz="2000">
                <a:solidFill>
                  <a:srgbClr val="8A6A2F"/>
                </a:solidFill>
                <a:latin typeface="Bahnschrift Light" panose="020B0502040204020203" pitchFamily="34" charset="0"/>
              </a:rPr>
              <a:t>c·Nc</a:t>
            </a:r>
          </a:p>
        </p:txBody>
      </p:sp>
      <p:sp>
        <p:nvSpPr>
          <p:cNvPr id="10" name="CuadroTexto 9">
            <a:extLst>
              <a:ext uri="{FF2B5EF4-FFF2-40B4-BE49-F238E27FC236}">
                <a16:creationId xmlns:a16="http://schemas.microsoft.com/office/drawing/2014/main" id="{0CBDB257-B751-5E30-E42E-AA4B008A2189}"/>
              </a:ext>
            </a:extLst>
          </p:cNvPr>
          <p:cNvSpPr txBox="1"/>
          <p:nvPr/>
        </p:nvSpPr>
        <p:spPr>
          <a:xfrm>
            <a:off x="812800" y="2921000"/>
            <a:ext cx="2260600" cy="279400"/>
          </a:xfrm>
          <a:prstGeom prst="rect">
            <a:avLst/>
          </a:prstGeom>
          <a:noFill/>
        </p:spPr>
        <p:txBody>
          <a:bodyPr vert="horz" wrap="square" lIns="0" tIns="0" rIns="0" bIns="0" rtlCol="0" anchor="t">
            <a:noAutofit/>
          </a:bodyPr>
          <a:lstStyle/>
          <a:p>
            <a:r>
              <a:rPr lang="es-BO" sz="1350">
                <a:solidFill>
                  <a:srgbClr val="1C1813"/>
                </a:solidFill>
                <a:latin typeface="Bahnschrift SemiBold" panose="020B0502040204020203" pitchFamily="34" charset="0"/>
              </a:rPr>
              <a:t>La cohesión</a:t>
            </a:r>
          </a:p>
        </p:txBody>
      </p:sp>
      <p:sp>
        <p:nvSpPr>
          <p:cNvPr id="11" name="CuadroTexto 10">
            <a:extLst>
              <a:ext uri="{FF2B5EF4-FFF2-40B4-BE49-F238E27FC236}">
                <a16:creationId xmlns:a16="http://schemas.microsoft.com/office/drawing/2014/main" id="{C5A52959-3865-D6E5-34DB-49F102BC9CC6}"/>
              </a:ext>
            </a:extLst>
          </p:cNvPr>
          <p:cNvSpPr txBox="1"/>
          <p:nvPr/>
        </p:nvSpPr>
        <p:spPr>
          <a:xfrm>
            <a:off x="812800" y="3200400"/>
            <a:ext cx="2235200" cy="787400"/>
          </a:xfrm>
          <a:prstGeom prst="rect">
            <a:avLst/>
          </a:prstGeom>
          <a:noFill/>
        </p:spPr>
        <p:txBody>
          <a:bodyPr vert="horz" wrap="square" lIns="0" tIns="0" rIns="0" bIns="0" rtlCol="0" anchor="t">
            <a:noAutofit/>
          </a:bodyPr>
          <a:lstStyle/>
          <a:p>
            <a:pPr algn="l"/>
            <a:r>
              <a:rPr lang="es-MX" sz="1100">
                <a:solidFill>
                  <a:srgbClr val="5A5248"/>
                </a:solidFill>
                <a:latin typeface="Segoe UI" panose="020B0502040204020203" pitchFamily="34" charset="0"/>
              </a:rPr>
              <a:t>Lo que aporta el propio suelo por cohesión. En arcillas es casi todo; en arenas limpias es cero.</a:t>
            </a:r>
            <a:endParaRPr lang="es-BO" sz="1100">
              <a:solidFill>
                <a:srgbClr val="5A5248"/>
              </a:solidFill>
              <a:latin typeface="Segoe UI" panose="020B0502040204020203" pitchFamily="34" charset="0"/>
            </a:endParaRPr>
          </a:p>
        </p:txBody>
      </p:sp>
      <p:sp>
        <p:nvSpPr>
          <p:cNvPr id="12" name="Rectángulo 11">
            <a:extLst>
              <a:ext uri="{FF2B5EF4-FFF2-40B4-BE49-F238E27FC236}">
                <a16:creationId xmlns:a16="http://schemas.microsoft.com/office/drawing/2014/main" id="{D40DF3E2-720D-31B4-19E4-744B2FFB1057}"/>
              </a:ext>
            </a:extLst>
          </p:cNvPr>
          <p:cNvSpPr/>
          <p:nvPr/>
        </p:nvSpPr>
        <p:spPr>
          <a:xfrm>
            <a:off x="3403600" y="2362200"/>
            <a:ext cx="2641600" cy="17272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4" name="CuadroTexto 13">
            <a:extLst>
              <a:ext uri="{FF2B5EF4-FFF2-40B4-BE49-F238E27FC236}">
                <a16:creationId xmlns:a16="http://schemas.microsoft.com/office/drawing/2014/main" id="{EB170A22-DD7F-1AFA-700E-A1EC5DEE603A}"/>
              </a:ext>
            </a:extLst>
          </p:cNvPr>
          <p:cNvSpPr txBox="1"/>
          <p:nvPr/>
        </p:nvSpPr>
        <p:spPr>
          <a:xfrm>
            <a:off x="3606800" y="2540000"/>
            <a:ext cx="1016000" cy="304800"/>
          </a:xfrm>
          <a:prstGeom prst="rect">
            <a:avLst/>
          </a:prstGeom>
          <a:noFill/>
        </p:spPr>
        <p:txBody>
          <a:bodyPr vert="horz" wrap="square" lIns="0" tIns="0" rIns="0" bIns="0" rtlCol="0" anchor="t">
            <a:noAutofit/>
          </a:bodyPr>
          <a:lstStyle/>
          <a:p>
            <a:r>
              <a:rPr lang="es-BO" sz="2000">
                <a:solidFill>
                  <a:srgbClr val="8A6A2F"/>
                </a:solidFill>
                <a:latin typeface="Bahnschrift Light" panose="020B0502040204020203" pitchFamily="34" charset="0"/>
              </a:rPr>
              <a:t>q·Nq</a:t>
            </a:r>
          </a:p>
        </p:txBody>
      </p:sp>
      <p:sp>
        <p:nvSpPr>
          <p:cNvPr id="15" name="CuadroTexto 14">
            <a:extLst>
              <a:ext uri="{FF2B5EF4-FFF2-40B4-BE49-F238E27FC236}">
                <a16:creationId xmlns:a16="http://schemas.microsoft.com/office/drawing/2014/main" id="{9AF552BC-29D6-842F-0152-076362AE246E}"/>
              </a:ext>
            </a:extLst>
          </p:cNvPr>
          <p:cNvSpPr txBox="1"/>
          <p:nvPr/>
        </p:nvSpPr>
        <p:spPr>
          <a:xfrm>
            <a:off x="3606800" y="2921000"/>
            <a:ext cx="2260600" cy="279400"/>
          </a:xfrm>
          <a:prstGeom prst="rect">
            <a:avLst/>
          </a:prstGeom>
          <a:noFill/>
        </p:spPr>
        <p:txBody>
          <a:bodyPr vert="horz" wrap="square" lIns="0" tIns="0" rIns="0" bIns="0" rtlCol="0" anchor="t">
            <a:noAutofit/>
          </a:bodyPr>
          <a:lstStyle/>
          <a:p>
            <a:r>
              <a:rPr lang="es-BO" sz="1350">
                <a:solidFill>
                  <a:srgbClr val="1C1813"/>
                </a:solidFill>
                <a:latin typeface="Bahnschrift SemiBold" panose="020B0502040204020203" pitchFamily="34" charset="0"/>
              </a:rPr>
              <a:t>La sobrecarga</a:t>
            </a:r>
          </a:p>
        </p:txBody>
      </p:sp>
      <p:sp>
        <p:nvSpPr>
          <p:cNvPr id="16" name="CuadroTexto 15">
            <a:extLst>
              <a:ext uri="{FF2B5EF4-FFF2-40B4-BE49-F238E27FC236}">
                <a16:creationId xmlns:a16="http://schemas.microsoft.com/office/drawing/2014/main" id="{D3BC1CFD-6A98-5712-239B-5D65A9945BDC}"/>
              </a:ext>
            </a:extLst>
          </p:cNvPr>
          <p:cNvSpPr txBox="1"/>
          <p:nvPr/>
        </p:nvSpPr>
        <p:spPr>
          <a:xfrm>
            <a:off x="3606800" y="3200400"/>
            <a:ext cx="2235200" cy="787400"/>
          </a:xfrm>
          <a:prstGeom prst="rect">
            <a:avLst/>
          </a:prstGeom>
          <a:noFill/>
        </p:spPr>
        <p:txBody>
          <a:bodyPr vert="horz" wrap="square" lIns="0" tIns="0" rIns="0" bIns="0" rtlCol="0" anchor="t">
            <a:noAutofit/>
          </a:bodyPr>
          <a:lstStyle/>
          <a:p>
            <a:pPr algn="l"/>
            <a:r>
              <a:rPr lang="es-MX" sz="1100">
                <a:solidFill>
                  <a:srgbClr val="5A5248"/>
                </a:solidFill>
                <a:latin typeface="Segoe UI" panose="020B0502040204020203" pitchFamily="34" charset="0"/>
              </a:rPr>
              <a:t>Lo que aporta el terreno que hay por encima de la cota de apoyo. Por eso enterrar más una zapata la mejora.</a:t>
            </a:r>
            <a:endParaRPr lang="es-BO" sz="1100">
              <a:solidFill>
                <a:srgbClr val="5A5248"/>
              </a:solidFill>
              <a:latin typeface="Segoe UI" panose="020B0502040204020203" pitchFamily="34" charset="0"/>
            </a:endParaRPr>
          </a:p>
        </p:txBody>
      </p:sp>
      <p:sp>
        <p:nvSpPr>
          <p:cNvPr id="17" name="Rectángulo 16">
            <a:extLst>
              <a:ext uri="{FF2B5EF4-FFF2-40B4-BE49-F238E27FC236}">
                <a16:creationId xmlns:a16="http://schemas.microsoft.com/office/drawing/2014/main" id="{CBC0B0E8-E26F-D50D-12DD-51E1C660124D}"/>
              </a:ext>
            </a:extLst>
          </p:cNvPr>
          <p:cNvSpPr/>
          <p:nvPr/>
        </p:nvSpPr>
        <p:spPr>
          <a:xfrm>
            <a:off x="6197600" y="2362200"/>
            <a:ext cx="2641600" cy="17272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9" name="CuadroTexto 18">
            <a:extLst>
              <a:ext uri="{FF2B5EF4-FFF2-40B4-BE49-F238E27FC236}">
                <a16:creationId xmlns:a16="http://schemas.microsoft.com/office/drawing/2014/main" id="{1CD3F667-5E86-D727-4F98-E99F6D81B1E4}"/>
              </a:ext>
            </a:extLst>
          </p:cNvPr>
          <p:cNvSpPr txBox="1"/>
          <p:nvPr/>
        </p:nvSpPr>
        <p:spPr>
          <a:xfrm>
            <a:off x="6400800" y="2540000"/>
            <a:ext cx="1016000" cy="304800"/>
          </a:xfrm>
          <a:prstGeom prst="rect">
            <a:avLst/>
          </a:prstGeom>
          <a:noFill/>
        </p:spPr>
        <p:txBody>
          <a:bodyPr vert="horz" wrap="square" lIns="0" tIns="0" rIns="0" bIns="0" rtlCol="0" anchor="t">
            <a:noAutofit/>
          </a:bodyPr>
          <a:lstStyle/>
          <a:p>
            <a:r>
              <a:rPr lang="el-GR" sz="2000">
                <a:solidFill>
                  <a:srgbClr val="8A6A2F"/>
                </a:solidFill>
                <a:latin typeface="Bahnschrift Light" panose="020B0502040204020203" pitchFamily="34" charset="0"/>
              </a:rPr>
              <a:t>γ·</a:t>
            </a:r>
            <a:r>
              <a:rPr lang="es-BO" sz="2000">
                <a:solidFill>
                  <a:srgbClr val="8A6A2F"/>
                </a:solidFill>
                <a:latin typeface="Bahnschrift Light" panose="020B0502040204020203" pitchFamily="34" charset="0"/>
              </a:rPr>
              <a:t>B·N</a:t>
            </a:r>
            <a:r>
              <a:rPr lang="el-GR" sz="2000">
                <a:solidFill>
                  <a:srgbClr val="8A6A2F"/>
                </a:solidFill>
                <a:latin typeface="Bahnschrift Light" panose="020B0502040204020203" pitchFamily="34" charset="0"/>
              </a:rPr>
              <a:t>γ</a:t>
            </a:r>
            <a:endParaRPr lang="es-BO" sz="2000">
              <a:solidFill>
                <a:srgbClr val="8A6A2F"/>
              </a:solidFill>
              <a:latin typeface="Bahnschrift Light" panose="020B0502040204020203" pitchFamily="34" charset="0"/>
            </a:endParaRPr>
          </a:p>
        </p:txBody>
      </p:sp>
      <p:sp>
        <p:nvSpPr>
          <p:cNvPr id="20" name="CuadroTexto 19">
            <a:extLst>
              <a:ext uri="{FF2B5EF4-FFF2-40B4-BE49-F238E27FC236}">
                <a16:creationId xmlns:a16="http://schemas.microsoft.com/office/drawing/2014/main" id="{0EC06CB1-68AC-E96F-20D0-BD26EA88A82C}"/>
              </a:ext>
            </a:extLst>
          </p:cNvPr>
          <p:cNvSpPr txBox="1"/>
          <p:nvPr/>
        </p:nvSpPr>
        <p:spPr>
          <a:xfrm>
            <a:off x="6400800" y="2921000"/>
            <a:ext cx="2260600" cy="279400"/>
          </a:xfrm>
          <a:prstGeom prst="rect">
            <a:avLst/>
          </a:prstGeom>
          <a:noFill/>
        </p:spPr>
        <p:txBody>
          <a:bodyPr vert="horz" wrap="square" lIns="0" tIns="0" rIns="0" bIns="0" rtlCol="0" anchor="t">
            <a:noAutofit/>
          </a:bodyPr>
          <a:lstStyle/>
          <a:p>
            <a:r>
              <a:rPr lang="es-BO" sz="1350">
                <a:solidFill>
                  <a:srgbClr val="1C1813"/>
                </a:solidFill>
                <a:latin typeface="Bahnschrift SemiBold" panose="020B0502040204020203" pitchFamily="34" charset="0"/>
              </a:rPr>
              <a:t>El tamaño</a:t>
            </a:r>
          </a:p>
        </p:txBody>
      </p:sp>
      <p:sp>
        <p:nvSpPr>
          <p:cNvPr id="21" name="CuadroTexto 20">
            <a:extLst>
              <a:ext uri="{FF2B5EF4-FFF2-40B4-BE49-F238E27FC236}">
                <a16:creationId xmlns:a16="http://schemas.microsoft.com/office/drawing/2014/main" id="{AE294862-3254-6815-B09A-AA2D209DE552}"/>
              </a:ext>
            </a:extLst>
          </p:cNvPr>
          <p:cNvSpPr txBox="1"/>
          <p:nvPr/>
        </p:nvSpPr>
        <p:spPr>
          <a:xfrm>
            <a:off x="6400800" y="3200400"/>
            <a:ext cx="2235200" cy="787400"/>
          </a:xfrm>
          <a:prstGeom prst="rect">
            <a:avLst/>
          </a:prstGeom>
          <a:noFill/>
        </p:spPr>
        <p:txBody>
          <a:bodyPr vert="horz" wrap="square" lIns="0" tIns="0" rIns="0" bIns="0" rtlCol="0" anchor="t">
            <a:noAutofit/>
          </a:bodyPr>
          <a:lstStyle/>
          <a:p>
            <a:pPr algn="l"/>
            <a:r>
              <a:rPr lang="es-MX" sz="1100">
                <a:solidFill>
                  <a:srgbClr val="5A5248"/>
                </a:solidFill>
                <a:latin typeface="Segoe UI" panose="020B0502040204020203" pitchFamily="34" charset="0"/>
              </a:rPr>
              <a:t>Lo que aporta el ancho de la propia zapata. Crece con B, y por eso ensanchar es el recalce más directo.</a:t>
            </a:r>
            <a:endParaRPr lang="es-BO" sz="1100">
              <a:solidFill>
                <a:srgbClr val="5A5248"/>
              </a:solidFill>
              <a:latin typeface="Segoe UI" panose="020B0502040204020203" pitchFamily="34" charset="0"/>
            </a:endParaRPr>
          </a:p>
        </p:txBody>
      </p:sp>
      <p:sp>
        <p:nvSpPr>
          <p:cNvPr id="22" name="Rectángulo 21">
            <a:extLst>
              <a:ext uri="{FF2B5EF4-FFF2-40B4-BE49-F238E27FC236}">
                <a16:creationId xmlns:a16="http://schemas.microsoft.com/office/drawing/2014/main" id="{9455AB89-F86D-0C1C-A167-2764D1430849}"/>
              </a:ext>
            </a:extLst>
          </p:cNvPr>
          <p:cNvSpPr/>
          <p:nvPr/>
        </p:nvSpPr>
        <p:spPr>
          <a:xfrm>
            <a:off x="8991600" y="2362200"/>
            <a:ext cx="2641600" cy="17272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4" name="CuadroTexto 23">
            <a:extLst>
              <a:ext uri="{FF2B5EF4-FFF2-40B4-BE49-F238E27FC236}">
                <a16:creationId xmlns:a16="http://schemas.microsoft.com/office/drawing/2014/main" id="{C895DBED-3E5C-633E-6136-2B97423E4FDB}"/>
              </a:ext>
            </a:extLst>
          </p:cNvPr>
          <p:cNvSpPr txBox="1"/>
          <p:nvPr/>
        </p:nvSpPr>
        <p:spPr>
          <a:xfrm>
            <a:off x="9194800" y="2540000"/>
            <a:ext cx="1016000" cy="304800"/>
          </a:xfrm>
          <a:prstGeom prst="rect">
            <a:avLst/>
          </a:prstGeom>
          <a:noFill/>
        </p:spPr>
        <p:txBody>
          <a:bodyPr vert="horz" wrap="square" lIns="0" tIns="0" rIns="0" bIns="0" rtlCol="0" anchor="t">
            <a:noAutofit/>
          </a:bodyPr>
          <a:lstStyle/>
          <a:p>
            <a:r>
              <a:rPr lang="es-BO" sz="2000">
                <a:solidFill>
                  <a:srgbClr val="8A6A2F"/>
                </a:solidFill>
                <a:latin typeface="Bahnschrift Light" panose="020B0502040204020203" pitchFamily="34" charset="0"/>
              </a:rPr>
              <a:t>FS 3</a:t>
            </a:r>
          </a:p>
        </p:txBody>
      </p:sp>
      <p:sp>
        <p:nvSpPr>
          <p:cNvPr id="25" name="CuadroTexto 24">
            <a:extLst>
              <a:ext uri="{FF2B5EF4-FFF2-40B4-BE49-F238E27FC236}">
                <a16:creationId xmlns:a16="http://schemas.microsoft.com/office/drawing/2014/main" id="{F4A3D273-B8A3-6259-2FE3-E1869E6F84BC}"/>
              </a:ext>
            </a:extLst>
          </p:cNvPr>
          <p:cNvSpPr txBox="1"/>
          <p:nvPr/>
        </p:nvSpPr>
        <p:spPr>
          <a:xfrm>
            <a:off x="9194800" y="2921000"/>
            <a:ext cx="2260600" cy="279400"/>
          </a:xfrm>
          <a:prstGeom prst="rect">
            <a:avLst/>
          </a:prstGeom>
          <a:noFill/>
        </p:spPr>
        <p:txBody>
          <a:bodyPr vert="horz" wrap="square" lIns="0" tIns="0" rIns="0" bIns="0" rtlCol="0" anchor="t">
            <a:noAutofit/>
          </a:bodyPr>
          <a:lstStyle/>
          <a:p>
            <a:r>
              <a:rPr lang="es-BO" sz="1350">
                <a:solidFill>
                  <a:srgbClr val="1C1813"/>
                </a:solidFill>
                <a:latin typeface="Bahnschrift SemiBold" panose="020B0502040204020203" pitchFamily="34" charset="0"/>
              </a:rPr>
              <a:t>El coeficiente</a:t>
            </a:r>
          </a:p>
        </p:txBody>
      </p:sp>
      <p:sp>
        <p:nvSpPr>
          <p:cNvPr id="26" name="CuadroTexto 25">
            <a:extLst>
              <a:ext uri="{FF2B5EF4-FFF2-40B4-BE49-F238E27FC236}">
                <a16:creationId xmlns:a16="http://schemas.microsoft.com/office/drawing/2014/main" id="{2569D19D-8C80-2E86-3A43-C952D4608893}"/>
              </a:ext>
            </a:extLst>
          </p:cNvPr>
          <p:cNvSpPr txBox="1"/>
          <p:nvPr/>
        </p:nvSpPr>
        <p:spPr>
          <a:xfrm>
            <a:off x="9194800" y="3200400"/>
            <a:ext cx="2235200" cy="787400"/>
          </a:xfrm>
          <a:prstGeom prst="rect">
            <a:avLst/>
          </a:prstGeom>
          <a:noFill/>
        </p:spPr>
        <p:txBody>
          <a:bodyPr vert="horz" wrap="square" lIns="0" tIns="0" rIns="0" bIns="0" rtlCol="0" anchor="t">
            <a:noAutofit/>
          </a:bodyPr>
          <a:lstStyle/>
          <a:p>
            <a:pPr algn="l"/>
            <a:r>
              <a:rPr lang="es-MX" sz="1100">
                <a:solidFill>
                  <a:srgbClr val="5A5248"/>
                </a:solidFill>
                <a:latin typeface="Segoe UI" panose="020B0502040204020203" pitchFamily="34" charset="0"/>
              </a:rPr>
              <a:t>Tres, por convención, sobre la carga de hundimiento. Y aparte hay que comprobar el asiento, que a veces manda antes.</a:t>
            </a:r>
            <a:endParaRPr lang="es-BO" sz="1100">
              <a:solidFill>
                <a:srgbClr val="5A5248"/>
              </a:solidFill>
              <a:latin typeface="Segoe UI" panose="020B0502040204020203" pitchFamily="34" charset="0"/>
            </a:endParaRPr>
          </a:p>
        </p:txBody>
      </p:sp>
      <p:sp>
        <p:nvSpPr>
          <p:cNvPr id="27" name="Rectángulo 26">
            <a:extLst>
              <a:ext uri="{FF2B5EF4-FFF2-40B4-BE49-F238E27FC236}">
                <a16:creationId xmlns:a16="http://schemas.microsoft.com/office/drawing/2014/main" id="{B62410A5-8764-8563-4552-92FDECAE9FEC}"/>
              </a:ext>
            </a:extLst>
          </p:cNvPr>
          <p:cNvSpPr/>
          <p:nvPr/>
        </p:nvSpPr>
        <p:spPr>
          <a:xfrm>
            <a:off x="609600" y="4191000"/>
            <a:ext cx="6604000" cy="1905000"/>
          </a:xfrm>
          <a:prstGeom prst="rect">
            <a:avLst/>
          </a:prstGeom>
          <a:solidFill>
            <a:srgbClr val="FFFFFF"/>
          </a:solidFill>
          <a:ln w="9525">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9" name="CuadroTexto 28">
            <a:extLst>
              <a:ext uri="{FF2B5EF4-FFF2-40B4-BE49-F238E27FC236}">
                <a16:creationId xmlns:a16="http://schemas.microsoft.com/office/drawing/2014/main" id="{E5606700-AA32-E058-7C11-9C6DAE716260}"/>
              </a:ext>
            </a:extLst>
          </p:cNvPr>
          <p:cNvSpPr txBox="1"/>
          <p:nvPr/>
        </p:nvSpPr>
        <p:spPr>
          <a:xfrm>
            <a:off x="812800" y="4305300"/>
            <a:ext cx="6223000" cy="165100"/>
          </a:xfrm>
          <a:prstGeom prst="rect">
            <a:avLst/>
          </a:prstGeom>
          <a:noFill/>
        </p:spPr>
        <p:txBody>
          <a:bodyPr vert="horz" wrap="square" lIns="0" tIns="0" rIns="0" bIns="0" rtlCol="0" anchor="t">
            <a:noAutofit/>
          </a:bodyPr>
          <a:lstStyle/>
          <a:p>
            <a:r>
              <a:rPr lang="es-MX" sz="750" spc="160">
                <a:solidFill>
                  <a:srgbClr val="6A4F20"/>
                </a:solidFill>
                <a:latin typeface="Segoe UI Semibold" panose="020B0702040204020203" pitchFamily="34" charset="0"/>
              </a:rPr>
              <a:t>LOS FACTORES DE TERZAGHI DEPENDEN SOLO DE Φ</a:t>
            </a:r>
            <a:endParaRPr lang="es-BO" sz="750" spc="160">
              <a:solidFill>
                <a:srgbClr val="6A4F20"/>
              </a:solidFill>
              <a:latin typeface="Segoe UI Semibold" panose="020B0702040204020203" pitchFamily="34" charset="0"/>
            </a:endParaRPr>
          </a:p>
        </p:txBody>
      </p:sp>
      <p:cxnSp>
        <p:nvCxnSpPr>
          <p:cNvPr id="30" name="Conector recto 29">
            <a:extLst>
              <a:ext uri="{FF2B5EF4-FFF2-40B4-BE49-F238E27FC236}">
                <a16:creationId xmlns:a16="http://schemas.microsoft.com/office/drawing/2014/main" id="{2D5EBD21-D92D-F0EB-B0A8-63C161BB3D87}"/>
              </a:ext>
            </a:extLst>
          </p:cNvPr>
          <p:cNvCxnSpPr/>
          <p:nvPr/>
        </p:nvCxnSpPr>
        <p:spPr>
          <a:xfrm>
            <a:off x="2438400" y="4546600"/>
            <a:ext cx="0" cy="1041400"/>
          </a:xfrm>
          <a:prstGeom prst="line">
            <a:avLst/>
          </a:prstGeom>
          <a:ln w="6350" cap="sq">
            <a:solidFill>
              <a:srgbClr val="C9C3B4"/>
            </a:solidFill>
            <a:prstDash val="dot"/>
          </a:ln>
        </p:spPr>
        <p:style>
          <a:lnRef idx="1">
            <a:schemeClr val="accent1"/>
          </a:lnRef>
          <a:fillRef idx="0">
            <a:schemeClr val="accent1"/>
          </a:fillRef>
          <a:effectRef idx="0">
            <a:schemeClr val="accent1"/>
          </a:effectRef>
          <a:fontRef idx="minor">
            <a:schemeClr val="tx1"/>
          </a:fontRef>
        </p:style>
      </p:cxnSp>
      <p:cxnSp>
        <p:nvCxnSpPr>
          <p:cNvPr id="31" name="Conector recto 30">
            <a:extLst>
              <a:ext uri="{FF2B5EF4-FFF2-40B4-BE49-F238E27FC236}">
                <a16:creationId xmlns:a16="http://schemas.microsoft.com/office/drawing/2014/main" id="{FDA9FEDB-331B-5EEF-0FC1-DF4BDD1F5854}"/>
              </a:ext>
            </a:extLst>
          </p:cNvPr>
          <p:cNvCxnSpPr/>
          <p:nvPr/>
        </p:nvCxnSpPr>
        <p:spPr>
          <a:xfrm>
            <a:off x="3632200" y="4546600"/>
            <a:ext cx="0" cy="1041400"/>
          </a:xfrm>
          <a:prstGeom prst="line">
            <a:avLst/>
          </a:prstGeom>
          <a:ln w="6350" cap="sq">
            <a:solidFill>
              <a:srgbClr val="C9C3B4"/>
            </a:solidFill>
            <a:prstDash val="dot"/>
          </a:ln>
        </p:spPr>
        <p:style>
          <a:lnRef idx="1">
            <a:schemeClr val="accent1"/>
          </a:lnRef>
          <a:fillRef idx="0">
            <a:schemeClr val="accent1"/>
          </a:fillRef>
          <a:effectRef idx="0">
            <a:schemeClr val="accent1"/>
          </a:effectRef>
          <a:fontRef idx="minor">
            <a:schemeClr val="tx1"/>
          </a:fontRef>
        </p:style>
      </p:cxnSp>
      <p:cxnSp>
        <p:nvCxnSpPr>
          <p:cNvPr id="32" name="Conector recto 31">
            <a:extLst>
              <a:ext uri="{FF2B5EF4-FFF2-40B4-BE49-F238E27FC236}">
                <a16:creationId xmlns:a16="http://schemas.microsoft.com/office/drawing/2014/main" id="{7E40B875-B8CE-9657-E891-7AB09842B8F1}"/>
              </a:ext>
            </a:extLst>
          </p:cNvPr>
          <p:cNvCxnSpPr/>
          <p:nvPr/>
        </p:nvCxnSpPr>
        <p:spPr>
          <a:xfrm>
            <a:off x="4826000" y="4546600"/>
            <a:ext cx="0" cy="1041400"/>
          </a:xfrm>
          <a:prstGeom prst="line">
            <a:avLst/>
          </a:prstGeom>
          <a:ln w="6350" cap="sq">
            <a:solidFill>
              <a:srgbClr val="C9C3B4"/>
            </a:solidFill>
            <a:prstDash val="dot"/>
          </a:ln>
        </p:spPr>
        <p:style>
          <a:lnRef idx="1">
            <a:schemeClr val="accent1"/>
          </a:lnRef>
          <a:fillRef idx="0">
            <a:schemeClr val="accent1"/>
          </a:fillRef>
          <a:effectRef idx="0">
            <a:schemeClr val="accent1"/>
          </a:effectRef>
          <a:fontRef idx="minor">
            <a:schemeClr val="tx1"/>
          </a:fontRef>
        </p:style>
      </p:cxnSp>
      <p:cxnSp>
        <p:nvCxnSpPr>
          <p:cNvPr id="33" name="Conector recto 32">
            <a:extLst>
              <a:ext uri="{FF2B5EF4-FFF2-40B4-BE49-F238E27FC236}">
                <a16:creationId xmlns:a16="http://schemas.microsoft.com/office/drawing/2014/main" id="{AEDBF4B5-CE39-325B-694B-6E54B78A326E}"/>
              </a:ext>
            </a:extLst>
          </p:cNvPr>
          <p:cNvCxnSpPr/>
          <p:nvPr/>
        </p:nvCxnSpPr>
        <p:spPr>
          <a:xfrm>
            <a:off x="6019800" y="4546600"/>
            <a:ext cx="0" cy="1041400"/>
          </a:xfrm>
          <a:prstGeom prst="line">
            <a:avLst/>
          </a:prstGeom>
          <a:ln w="6350" cap="sq">
            <a:solidFill>
              <a:srgbClr val="C9C3B4"/>
            </a:solidFill>
            <a:prstDash val="dot"/>
          </a:ln>
        </p:spPr>
        <p:style>
          <a:lnRef idx="1">
            <a:schemeClr val="accent1"/>
          </a:lnRef>
          <a:fillRef idx="0">
            <a:schemeClr val="accent1"/>
          </a:fillRef>
          <a:effectRef idx="0">
            <a:schemeClr val="accent1"/>
          </a:effectRef>
          <a:fontRef idx="minor">
            <a:schemeClr val="tx1"/>
          </a:fontRef>
        </p:style>
      </p:cxnSp>
      <p:cxnSp>
        <p:nvCxnSpPr>
          <p:cNvPr id="34" name="Conector recto 33">
            <a:extLst>
              <a:ext uri="{FF2B5EF4-FFF2-40B4-BE49-F238E27FC236}">
                <a16:creationId xmlns:a16="http://schemas.microsoft.com/office/drawing/2014/main" id="{913E1194-FD78-6BB1-A85B-E857E022689F}"/>
              </a:ext>
            </a:extLst>
          </p:cNvPr>
          <p:cNvCxnSpPr/>
          <p:nvPr/>
        </p:nvCxnSpPr>
        <p:spPr>
          <a:xfrm>
            <a:off x="1244600" y="5240867"/>
            <a:ext cx="4775200" cy="0"/>
          </a:xfrm>
          <a:prstGeom prst="line">
            <a:avLst/>
          </a:prstGeom>
          <a:ln w="6350" cap="sq">
            <a:solidFill>
              <a:srgbClr val="C9C3B4"/>
            </a:solidFill>
            <a:prstDash val="dot"/>
          </a:ln>
        </p:spPr>
        <p:style>
          <a:lnRef idx="1">
            <a:schemeClr val="accent1"/>
          </a:lnRef>
          <a:fillRef idx="0">
            <a:schemeClr val="accent1"/>
          </a:fillRef>
          <a:effectRef idx="0">
            <a:schemeClr val="accent1"/>
          </a:effectRef>
          <a:fontRef idx="minor">
            <a:schemeClr val="tx1"/>
          </a:fontRef>
        </p:style>
      </p:cxnSp>
      <p:cxnSp>
        <p:nvCxnSpPr>
          <p:cNvPr id="35" name="Conector recto 34">
            <a:extLst>
              <a:ext uri="{FF2B5EF4-FFF2-40B4-BE49-F238E27FC236}">
                <a16:creationId xmlns:a16="http://schemas.microsoft.com/office/drawing/2014/main" id="{C8E86145-2479-5880-0C06-051E15CF0D7F}"/>
              </a:ext>
            </a:extLst>
          </p:cNvPr>
          <p:cNvCxnSpPr/>
          <p:nvPr/>
        </p:nvCxnSpPr>
        <p:spPr>
          <a:xfrm>
            <a:off x="1244600" y="4893733"/>
            <a:ext cx="4775200" cy="0"/>
          </a:xfrm>
          <a:prstGeom prst="line">
            <a:avLst/>
          </a:prstGeom>
          <a:ln w="6350" cap="sq">
            <a:solidFill>
              <a:srgbClr val="C9C3B4"/>
            </a:solidFill>
            <a:prstDash val="dot"/>
          </a:ln>
        </p:spPr>
        <p:style>
          <a:lnRef idx="1">
            <a:schemeClr val="accent1"/>
          </a:lnRef>
          <a:fillRef idx="0">
            <a:schemeClr val="accent1"/>
          </a:fillRef>
          <a:effectRef idx="0">
            <a:schemeClr val="accent1"/>
          </a:effectRef>
          <a:fontRef idx="minor">
            <a:schemeClr val="tx1"/>
          </a:fontRef>
        </p:style>
      </p:cxnSp>
      <p:cxnSp>
        <p:nvCxnSpPr>
          <p:cNvPr id="36" name="Conector recto 35">
            <a:extLst>
              <a:ext uri="{FF2B5EF4-FFF2-40B4-BE49-F238E27FC236}">
                <a16:creationId xmlns:a16="http://schemas.microsoft.com/office/drawing/2014/main" id="{A828E263-25C8-E2B6-036A-0E06EF2385E4}"/>
              </a:ext>
            </a:extLst>
          </p:cNvPr>
          <p:cNvCxnSpPr/>
          <p:nvPr/>
        </p:nvCxnSpPr>
        <p:spPr>
          <a:xfrm>
            <a:off x="1244600" y="4546600"/>
            <a:ext cx="4775200" cy="0"/>
          </a:xfrm>
          <a:prstGeom prst="line">
            <a:avLst/>
          </a:prstGeom>
          <a:ln w="6350" cap="sq">
            <a:solidFill>
              <a:srgbClr val="C9C3B4"/>
            </a:solidFill>
            <a:prstDash val="dot"/>
          </a:ln>
        </p:spPr>
        <p:style>
          <a:lnRef idx="1">
            <a:schemeClr val="accent1"/>
          </a:lnRef>
          <a:fillRef idx="0">
            <a:schemeClr val="accent1"/>
          </a:fillRef>
          <a:effectRef idx="0">
            <a:schemeClr val="accent1"/>
          </a:effectRef>
          <a:fontRef idx="minor">
            <a:schemeClr val="tx1"/>
          </a:fontRef>
        </p:style>
      </p:cxnSp>
      <p:cxnSp>
        <p:nvCxnSpPr>
          <p:cNvPr id="37" name="Conector recto 36">
            <a:extLst>
              <a:ext uri="{FF2B5EF4-FFF2-40B4-BE49-F238E27FC236}">
                <a16:creationId xmlns:a16="http://schemas.microsoft.com/office/drawing/2014/main" id="{BC48D9AF-EEDF-A762-309A-39A81243CE26}"/>
              </a:ext>
            </a:extLst>
          </p:cNvPr>
          <p:cNvCxnSpPr/>
          <p:nvPr/>
        </p:nvCxnSpPr>
        <p:spPr>
          <a:xfrm>
            <a:off x="1244600" y="5588000"/>
            <a:ext cx="4775200" cy="0"/>
          </a:xfrm>
          <a:prstGeom prst="line">
            <a:avLst/>
          </a:prstGeom>
          <a:ln w="12700">
            <a:solidFill>
              <a:srgbClr val="5A5248"/>
            </a:solidFill>
            <a:prstDash val="solid"/>
          </a:ln>
        </p:spPr>
        <p:style>
          <a:lnRef idx="1">
            <a:schemeClr val="accent1"/>
          </a:lnRef>
          <a:fillRef idx="0">
            <a:schemeClr val="accent1"/>
          </a:fillRef>
          <a:effectRef idx="0">
            <a:schemeClr val="accent1"/>
          </a:effectRef>
          <a:fontRef idx="minor">
            <a:schemeClr val="tx1"/>
          </a:fontRef>
        </p:style>
      </p:cxnSp>
      <p:cxnSp>
        <p:nvCxnSpPr>
          <p:cNvPr id="38" name="Conector recto 37">
            <a:extLst>
              <a:ext uri="{FF2B5EF4-FFF2-40B4-BE49-F238E27FC236}">
                <a16:creationId xmlns:a16="http://schemas.microsoft.com/office/drawing/2014/main" id="{9C04657B-A444-D794-0A6F-7038D61B7DAE}"/>
              </a:ext>
            </a:extLst>
          </p:cNvPr>
          <p:cNvCxnSpPr/>
          <p:nvPr/>
        </p:nvCxnSpPr>
        <p:spPr>
          <a:xfrm>
            <a:off x="1244600" y="4546600"/>
            <a:ext cx="0" cy="1041400"/>
          </a:xfrm>
          <a:prstGeom prst="line">
            <a:avLst/>
          </a:prstGeom>
          <a:ln w="12700">
            <a:solidFill>
              <a:srgbClr val="5A5248"/>
            </a:solidFill>
            <a:prstDash val="solid"/>
          </a:ln>
        </p:spPr>
        <p:style>
          <a:lnRef idx="1">
            <a:schemeClr val="accent1"/>
          </a:lnRef>
          <a:fillRef idx="0">
            <a:schemeClr val="accent1"/>
          </a:fillRef>
          <a:effectRef idx="0">
            <a:schemeClr val="accent1"/>
          </a:effectRef>
          <a:fontRef idx="minor">
            <a:schemeClr val="tx1"/>
          </a:fontRef>
        </p:style>
      </p:cxnSp>
      <p:cxnSp>
        <p:nvCxnSpPr>
          <p:cNvPr id="39" name="Conector recto 38">
            <a:extLst>
              <a:ext uri="{FF2B5EF4-FFF2-40B4-BE49-F238E27FC236}">
                <a16:creationId xmlns:a16="http://schemas.microsoft.com/office/drawing/2014/main" id="{0B9F2D3B-7C1F-52AD-5E1B-DFCF454B9759}"/>
              </a:ext>
            </a:extLst>
          </p:cNvPr>
          <p:cNvCxnSpPr/>
          <p:nvPr/>
        </p:nvCxnSpPr>
        <p:spPr>
          <a:xfrm>
            <a:off x="6019800" y="5588000"/>
            <a:ext cx="127000" cy="0"/>
          </a:xfrm>
          <a:prstGeom prst="line">
            <a:avLst/>
          </a:prstGeom>
          <a:ln w="12700">
            <a:solidFill>
              <a:srgbClr val="5A5248"/>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0" name="Conector recto 39">
            <a:extLst>
              <a:ext uri="{FF2B5EF4-FFF2-40B4-BE49-F238E27FC236}">
                <a16:creationId xmlns:a16="http://schemas.microsoft.com/office/drawing/2014/main" id="{72637842-6261-A293-64DD-44A657AF9262}"/>
              </a:ext>
            </a:extLst>
          </p:cNvPr>
          <p:cNvCxnSpPr/>
          <p:nvPr/>
        </p:nvCxnSpPr>
        <p:spPr>
          <a:xfrm flipV="1">
            <a:off x="1244600" y="4419600"/>
            <a:ext cx="0" cy="127000"/>
          </a:xfrm>
          <a:prstGeom prst="line">
            <a:avLst/>
          </a:prstGeom>
          <a:ln w="12700">
            <a:solidFill>
              <a:srgbClr val="5A5248"/>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1" name="Conector recto 40">
            <a:extLst>
              <a:ext uri="{FF2B5EF4-FFF2-40B4-BE49-F238E27FC236}">
                <a16:creationId xmlns:a16="http://schemas.microsoft.com/office/drawing/2014/main" id="{AB88C989-FCD1-4C94-B40B-819AC691CABF}"/>
              </a:ext>
            </a:extLst>
          </p:cNvPr>
          <p:cNvCxnSpPr/>
          <p:nvPr/>
        </p:nvCxnSpPr>
        <p:spPr>
          <a:xfrm>
            <a:off x="1244600" y="5588000"/>
            <a:ext cx="0" cy="50800"/>
          </a:xfrm>
          <a:prstGeom prst="line">
            <a:avLst/>
          </a:prstGeom>
          <a:ln w="9525">
            <a:solidFill>
              <a:srgbClr val="5A5248"/>
            </a:solidFill>
            <a:prstDash val="solid"/>
          </a:ln>
        </p:spPr>
        <p:style>
          <a:lnRef idx="1">
            <a:schemeClr val="accent1"/>
          </a:lnRef>
          <a:fillRef idx="0">
            <a:schemeClr val="accent1"/>
          </a:fillRef>
          <a:effectRef idx="0">
            <a:schemeClr val="accent1"/>
          </a:effectRef>
          <a:fontRef idx="minor">
            <a:schemeClr val="tx1"/>
          </a:fontRef>
        </p:style>
      </p:cxnSp>
      <p:sp>
        <p:nvSpPr>
          <p:cNvPr id="42" name="CuadroTexto 41">
            <a:extLst>
              <a:ext uri="{FF2B5EF4-FFF2-40B4-BE49-F238E27FC236}">
                <a16:creationId xmlns:a16="http://schemas.microsoft.com/office/drawing/2014/main" id="{EB939D6A-2729-4CEB-B012-F6F7FAB273BE}"/>
              </a:ext>
            </a:extLst>
          </p:cNvPr>
          <p:cNvSpPr txBox="1"/>
          <p:nvPr/>
        </p:nvSpPr>
        <p:spPr>
          <a:xfrm>
            <a:off x="939800" y="5651500"/>
            <a:ext cx="609600" cy="152400"/>
          </a:xfrm>
          <a:prstGeom prst="rect">
            <a:avLst/>
          </a:prstGeom>
          <a:noFill/>
        </p:spPr>
        <p:txBody>
          <a:bodyPr vert="horz" wrap="square" lIns="0" tIns="0" rIns="0" bIns="0" rtlCol="0" anchor="t">
            <a:noAutofit/>
          </a:bodyPr>
          <a:lstStyle/>
          <a:p>
            <a:pPr algn="ctr"/>
            <a:r>
              <a:rPr lang="es-BO" sz="650">
                <a:solidFill>
                  <a:srgbClr val="938A7C"/>
                </a:solidFill>
                <a:latin typeface="Segoe UI Semibold" panose="020B0702040204020203" pitchFamily="34" charset="0"/>
              </a:rPr>
              <a:t>0</a:t>
            </a:r>
          </a:p>
        </p:txBody>
      </p:sp>
      <p:cxnSp>
        <p:nvCxnSpPr>
          <p:cNvPr id="43" name="Conector recto 42">
            <a:extLst>
              <a:ext uri="{FF2B5EF4-FFF2-40B4-BE49-F238E27FC236}">
                <a16:creationId xmlns:a16="http://schemas.microsoft.com/office/drawing/2014/main" id="{E8096F29-7819-AAC9-685B-48DF62AF7E77}"/>
              </a:ext>
            </a:extLst>
          </p:cNvPr>
          <p:cNvCxnSpPr/>
          <p:nvPr/>
        </p:nvCxnSpPr>
        <p:spPr>
          <a:xfrm>
            <a:off x="2438400" y="5588000"/>
            <a:ext cx="0" cy="50800"/>
          </a:xfrm>
          <a:prstGeom prst="line">
            <a:avLst/>
          </a:prstGeom>
          <a:ln w="9525">
            <a:solidFill>
              <a:srgbClr val="5A5248"/>
            </a:solidFill>
            <a:prstDash val="solid"/>
          </a:ln>
        </p:spPr>
        <p:style>
          <a:lnRef idx="1">
            <a:schemeClr val="accent1"/>
          </a:lnRef>
          <a:fillRef idx="0">
            <a:schemeClr val="accent1"/>
          </a:fillRef>
          <a:effectRef idx="0">
            <a:schemeClr val="accent1"/>
          </a:effectRef>
          <a:fontRef idx="minor">
            <a:schemeClr val="tx1"/>
          </a:fontRef>
        </p:style>
      </p:cxnSp>
      <p:sp>
        <p:nvSpPr>
          <p:cNvPr id="44" name="CuadroTexto 43">
            <a:extLst>
              <a:ext uri="{FF2B5EF4-FFF2-40B4-BE49-F238E27FC236}">
                <a16:creationId xmlns:a16="http://schemas.microsoft.com/office/drawing/2014/main" id="{5D9729C4-0DDB-F954-D49B-EFBA7EEC4B9E}"/>
              </a:ext>
            </a:extLst>
          </p:cNvPr>
          <p:cNvSpPr txBox="1"/>
          <p:nvPr/>
        </p:nvSpPr>
        <p:spPr>
          <a:xfrm>
            <a:off x="2133600" y="5651500"/>
            <a:ext cx="609600" cy="152400"/>
          </a:xfrm>
          <a:prstGeom prst="rect">
            <a:avLst/>
          </a:prstGeom>
          <a:noFill/>
        </p:spPr>
        <p:txBody>
          <a:bodyPr vert="horz" wrap="square" lIns="0" tIns="0" rIns="0" bIns="0" rtlCol="0" anchor="t">
            <a:noAutofit/>
          </a:bodyPr>
          <a:lstStyle/>
          <a:p>
            <a:pPr algn="ctr"/>
            <a:r>
              <a:rPr lang="es-BO" sz="650">
                <a:solidFill>
                  <a:srgbClr val="938A7C"/>
                </a:solidFill>
                <a:latin typeface="Segoe UI Semibold" panose="020B0702040204020203" pitchFamily="34" charset="0"/>
              </a:rPr>
              <a:t>10</a:t>
            </a:r>
          </a:p>
        </p:txBody>
      </p:sp>
      <p:cxnSp>
        <p:nvCxnSpPr>
          <p:cNvPr id="45" name="Conector recto 44">
            <a:extLst>
              <a:ext uri="{FF2B5EF4-FFF2-40B4-BE49-F238E27FC236}">
                <a16:creationId xmlns:a16="http://schemas.microsoft.com/office/drawing/2014/main" id="{787C94C5-FD17-D74A-FE66-594BC875C839}"/>
              </a:ext>
            </a:extLst>
          </p:cNvPr>
          <p:cNvCxnSpPr/>
          <p:nvPr/>
        </p:nvCxnSpPr>
        <p:spPr>
          <a:xfrm>
            <a:off x="3632200" y="5588000"/>
            <a:ext cx="0" cy="50800"/>
          </a:xfrm>
          <a:prstGeom prst="line">
            <a:avLst/>
          </a:prstGeom>
          <a:ln w="9525">
            <a:solidFill>
              <a:srgbClr val="5A5248"/>
            </a:solidFill>
            <a:prstDash val="solid"/>
          </a:ln>
        </p:spPr>
        <p:style>
          <a:lnRef idx="1">
            <a:schemeClr val="accent1"/>
          </a:lnRef>
          <a:fillRef idx="0">
            <a:schemeClr val="accent1"/>
          </a:fillRef>
          <a:effectRef idx="0">
            <a:schemeClr val="accent1"/>
          </a:effectRef>
          <a:fontRef idx="minor">
            <a:schemeClr val="tx1"/>
          </a:fontRef>
        </p:style>
      </p:cxnSp>
      <p:sp>
        <p:nvSpPr>
          <p:cNvPr id="46" name="CuadroTexto 45">
            <a:extLst>
              <a:ext uri="{FF2B5EF4-FFF2-40B4-BE49-F238E27FC236}">
                <a16:creationId xmlns:a16="http://schemas.microsoft.com/office/drawing/2014/main" id="{EE4E6408-18F7-C9BA-D7AE-FAB634BEC534}"/>
              </a:ext>
            </a:extLst>
          </p:cNvPr>
          <p:cNvSpPr txBox="1"/>
          <p:nvPr/>
        </p:nvSpPr>
        <p:spPr>
          <a:xfrm>
            <a:off x="3327400" y="5651500"/>
            <a:ext cx="609600" cy="152400"/>
          </a:xfrm>
          <a:prstGeom prst="rect">
            <a:avLst/>
          </a:prstGeom>
          <a:noFill/>
        </p:spPr>
        <p:txBody>
          <a:bodyPr vert="horz" wrap="square" lIns="0" tIns="0" rIns="0" bIns="0" rtlCol="0" anchor="t">
            <a:noAutofit/>
          </a:bodyPr>
          <a:lstStyle/>
          <a:p>
            <a:pPr algn="ctr"/>
            <a:r>
              <a:rPr lang="es-BO" sz="650">
                <a:solidFill>
                  <a:srgbClr val="938A7C"/>
                </a:solidFill>
                <a:latin typeface="Segoe UI Semibold" panose="020B0702040204020203" pitchFamily="34" charset="0"/>
              </a:rPr>
              <a:t>20</a:t>
            </a:r>
          </a:p>
        </p:txBody>
      </p:sp>
      <p:cxnSp>
        <p:nvCxnSpPr>
          <p:cNvPr id="47" name="Conector recto 46">
            <a:extLst>
              <a:ext uri="{FF2B5EF4-FFF2-40B4-BE49-F238E27FC236}">
                <a16:creationId xmlns:a16="http://schemas.microsoft.com/office/drawing/2014/main" id="{2923573D-6C8E-DE80-8C57-9A523450E53F}"/>
              </a:ext>
            </a:extLst>
          </p:cNvPr>
          <p:cNvCxnSpPr/>
          <p:nvPr/>
        </p:nvCxnSpPr>
        <p:spPr>
          <a:xfrm>
            <a:off x="4826000" y="5588000"/>
            <a:ext cx="0" cy="50800"/>
          </a:xfrm>
          <a:prstGeom prst="line">
            <a:avLst/>
          </a:prstGeom>
          <a:ln w="9525">
            <a:solidFill>
              <a:srgbClr val="5A5248"/>
            </a:solidFill>
            <a:prstDash val="solid"/>
          </a:ln>
        </p:spPr>
        <p:style>
          <a:lnRef idx="1">
            <a:schemeClr val="accent1"/>
          </a:lnRef>
          <a:fillRef idx="0">
            <a:schemeClr val="accent1"/>
          </a:fillRef>
          <a:effectRef idx="0">
            <a:schemeClr val="accent1"/>
          </a:effectRef>
          <a:fontRef idx="minor">
            <a:schemeClr val="tx1"/>
          </a:fontRef>
        </p:style>
      </p:cxnSp>
      <p:sp>
        <p:nvSpPr>
          <p:cNvPr id="48" name="CuadroTexto 47">
            <a:extLst>
              <a:ext uri="{FF2B5EF4-FFF2-40B4-BE49-F238E27FC236}">
                <a16:creationId xmlns:a16="http://schemas.microsoft.com/office/drawing/2014/main" id="{CABBA31D-4098-33FE-4852-90F8E77ADD82}"/>
              </a:ext>
            </a:extLst>
          </p:cNvPr>
          <p:cNvSpPr txBox="1"/>
          <p:nvPr/>
        </p:nvSpPr>
        <p:spPr>
          <a:xfrm>
            <a:off x="4521200" y="5651500"/>
            <a:ext cx="609600" cy="152400"/>
          </a:xfrm>
          <a:prstGeom prst="rect">
            <a:avLst/>
          </a:prstGeom>
          <a:noFill/>
        </p:spPr>
        <p:txBody>
          <a:bodyPr vert="horz" wrap="square" lIns="0" tIns="0" rIns="0" bIns="0" rtlCol="0" anchor="t">
            <a:noAutofit/>
          </a:bodyPr>
          <a:lstStyle/>
          <a:p>
            <a:pPr algn="ctr"/>
            <a:r>
              <a:rPr lang="es-BO" sz="650">
                <a:solidFill>
                  <a:srgbClr val="938A7C"/>
                </a:solidFill>
                <a:latin typeface="Segoe UI Semibold" panose="020B0702040204020203" pitchFamily="34" charset="0"/>
              </a:rPr>
              <a:t>30</a:t>
            </a:r>
          </a:p>
        </p:txBody>
      </p:sp>
      <p:cxnSp>
        <p:nvCxnSpPr>
          <p:cNvPr id="49" name="Conector recto 48">
            <a:extLst>
              <a:ext uri="{FF2B5EF4-FFF2-40B4-BE49-F238E27FC236}">
                <a16:creationId xmlns:a16="http://schemas.microsoft.com/office/drawing/2014/main" id="{7533A40F-A7DD-7A7C-F753-87239801C25A}"/>
              </a:ext>
            </a:extLst>
          </p:cNvPr>
          <p:cNvCxnSpPr/>
          <p:nvPr/>
        </p:nvCxnSpPr>
        <p:spPr>
          <a:xfrm>
            <a:off x="6019800" y="5588000"/>
            <a:ext cx="0" cy="50800"/>
          </a:xfrm>
          <a:prstGeom prst="line">
            <a:avLst/>
          </a:prstGeom>
          <a:ln w="9525">
            <a:solidFill>
              <a:srgbClr val="5A5248"/>
            </a:solidFill>
            <a:prstDash val="solid"/>
          </a:ln>
        </p:spPr>
        <p:style>
          <a:lnRef idx="1">
            <a:schemeClr val="accent1"/>
          </a:lnRef>
          <a:fillRef idx="0">
            <a:schemeClr val="accent1"/>
          </a:fillRef>
          <a:effectRef idx="0">
            <a:schemeClr val="accent1"/>
          </a:effectRef>
          <a:fontRef idx="minor">
            <a:schemeClr val="tx1"/>
          </a:fontRef>
        </p:style>
      </p:cxnSp>
      <p:sp>
        <p:nvSpPr>
          <p:cNvPr id="50" name="CuadroTexto 49">
            <a:extLst>
              <a:ext uri="{FF2B5EF4-FFF2-40B4-BE49-F238E27FC236}">
                <a16:creationId xmlns:a16="http://schemas.microsoft.com/office/drawing/2014/main" id="{0F420C02-C167-6F58-765A-2AEDCEBC5AFA}"/>
              </a:ext>
            </a:extLst>
          </p:cNvPr>
          <p:cNvSpPr txBox="1"/>
          <p:nvPr/>
        </p:nvSpPr>
        <p:spPr>
          <a:xfrm>
            <a:off x="5715000" y="5651500"/>
            <a:ext cx="609600" cy="152400"/>
          </a:xfrm>
          <a:prstGeom prst="rect">
            <a:avLst/>
          </a:prstGeom>
          <a:noFill/>
        </p:spPr>
        <p:txBody>
          <a:bodyPr vert="horz" wrap="square" lIns="0" tIns="0" rIns="0" bIns="0" rtlCol="0" anchor="t">
            <a:noAutofit/>
          </a:bodyPr>
          <a:lstStyle/>
          <a:p>
            <a:pPr algn="ctr"/>
            <a:r>
              <a:rPr lang="es-BO" sz="650">
                <a:solidFill>
                  <a:srgbClr val="938A7C"/>
                </a:solidFill>
                <a:latin typeface="Segoe UI Semibold" panose="020B0702040204020203" pitchFamily="34" charset="0"/>
              </a:rPr>
              <a:t>40°</a:t>
            </a:r>
          </a:p>
        </p:txBody>
      </p:sp>
      <p:cxnSp>
        <p:nvCxnSpPr>
          <p:cNvPr id="51" name="Conector recto 50">
            <a:extLst>
              <a:ext uri="{FF2B5EF4-FFF2-40B4-BE49-F238E27FC236}">
                <a16:creationId xmlns:a16="http://schemas.microsoft.com/office/drawing/2014/main" id="{12C86B85-C50A-C1E0-BB6D-86F69B164971}"/>
              </a:ext>
            </a:extLst>
          </p:cNvPr>
          <p:cNvCxnSpPr/>
          <p:nvPr/>
        </p:nvCxnSpPr>
        <p:spPr>
          <a:xfrm>
            <a:off x="1193800" y="5588000"/>
            <a:ext cx="50800" cy="0"/>
          </a:xfrm>
          <a:prstGeom prst="line">
            <a:avLst/>
          </a:prstGeom>
          <a:ln w="9525">
            <a:solidFill>
              <a:srgbClr val="5A5248"/>
            </a:solidFill>
            <a:prstDash val="solid"/>
          </a:ln>
        </p:spPr>
        <p:style>
          <a:lnRef idx="1">
            <a:schemeClr val="accent1"/>
          </a:lnRef>
          <a:fillRef idx="0">
            <a:schemeClr val="accent1"/>
          </a:fillRef>
          <a:effectRef idx="0">
            <a:schemeClr val="accent1"/>
          </a:effectRef>
          <a:fontRef idx="minor">
            <a:schemeClr val="tx1"/>
          </a:fontRef>
        </p:style>
      </p:cxnSp>
      <p:sp>
        <p:nvSpPr>
          <p:cNvPr id="52" name="CuadroTexto 51">
            <a:extLst>
              <a:ext uri="{FF2B5EF4-FFF2-40B4-BE49-F238E27FC236}">
                <a16:creationId xmlns:a16="http://schemas.microsoft.com/office/drawing/2014/main" id="{BB25EA95-458E-9608-EA8E-0CCEE99E4465}"/>
              </a:ext>
            </a:extLst>
          </p:cNvPr>
          <p:cNvSpPr txBox="1"/>
          <p:nvPr/>
        </p:nvSpPr>
        <p:spPr>
          <a:xfrm>
            <a:off x="711200" y="5524500"/>
            <a:ext cx="457200" cy="152400"/>
          </a:xfrm>
          <a:prstGeom prst="rect">
            <a:avLst/>
          </a:prstGeom>
          <a:noFill/>
        </p:spPr>
        <p:txBody>
          <a:bodyPr vert="horz" wrap="square" lIns="0" tIns="0" rIns="0" bIns="0" rtlCol="0" anchor="t">
            <a:noAutofit/>
          </a:bodyPr>
          <a:lstStyle/>
          <a:p>
            <a:pPr algn="r"/>
            <a:r>
              <a:rPr lang="es-BO" sz="650">
                <a:solidFill>
                  <a:srgbClr val="938A7C"/>
                </a:solidFill>
                <a:latin typeface="Segoe UI Semibold" panose="020B0702040204020203" pitchFamily="34" charset="0"/>
              </a:rPr>
              <a:t>0</a:t>
            </a:r>
          </a:p>
        </p:txBody>
      </p:sp>
      <p:cxnSp>
        <p:nvCxnSpPr>
          <p:cNvPr id="53" name="Conector recto 52">
            <a:extLst>
              <a:ext uri="{FF2B5EF4-FFF2-40B4-BE49-F238E27FC236}">
                <a16:creationId xmlns:a16="http://schemas.microsoft.com/office/drawing/2014/main" id="{C0E47FCD-2694-3864-45FD-9738A09C0240}"/>
              </a:ext>
            </a:extLst>
          </p:cNvPr>
          <p:cNvCxnSpPr/>
          <p:nvPr/>
        </p:nvCxnSpPr>
        <p:spPr>
          <a:xfrm>
            <a:off x="1193800" y="5240867"/>
            <a:ext cx="50800" cy="0"/>
          </a:xfrm>
          <a:prstGeom prst="line">
            <a:avLst/>
          </a:prstGeom>
          <a:ln w="9525">
            <a:solidFill>
              <a:srgbClr val="5A5248"/>
            </a:solidFill>
            <a:prstDash val="solid"/>
          </a:ln>
        </p:spPr>
        <p:style>
          <a:lnRef idx="1">
            <a:schemeClr val="accent1"/>
          </a:lnRef>
          <a:fillRef idx="0">
            <a:schemeClr val="accent1"/>
          </a:fillRef>
          <a:effectRef idx="0">
            <a:schemeClr val="accent1"/>
          </a:effectRef>
          <a:fontRef idx="minor">
            <a:schemeClr val="tx1"/>
          </a:fontRef>
        </p:style>
      </p:cxnSp>
      <p:sp>
        <p:nvSpPr>
          <p:cNvPr id="54" name="CuadroTexto 53">
            <a:extLst>
              <a:ext uri="{FF2B5EF4-FFF2-40B4-BE49-F238E27FC236}">
                <a16:creationId xmlns:a16="http://schemas.microsoft.com/office/drawing/2014/main" id="{F1861A5A-53DA-7E8D-BA42-CDFA3ADA7B9E}"/>
              </a:ext>
            </a:extLst>
          </p:cNvPr>
          <p:cNvSpPr txBox="1"/>
          <p:nvPr/>
        </p:nvSpPr>
        <p:spPr>
          <a:xfrm>
            <a:off x="711200" y="5177367"/>
            <a:ext cx="457200" cy="152400"/>
          </a:xfrm>
          <a:prstGeom prst="rect">
            <a:avLst/>
          </a:prstGeom>
          <a:noFill/>
        </p:spPr>
        <p:txBody>
          <a:bodyPr vert="horz" wrap="square" lIns="0" tIns="0" rIns="0" bIns="0" rtlCol="0" anchor="t">
            <a:noAutofit/>
          </a:bodyPr>
          <a:lstStyle/>
          <a:p>
            <a:pPr algn="r"/>
            <a:r>
              <a:rPr lang="es-BO" sz="650">
                <a:solidFill>
                  <a:srgbClr val="938A7C"/>
                </a:solidFill>
                <a:latin typeface="Segoe UI Semibold" panose="020B0702040204020203" pitchFamily="34" charset="0"/>
              </a:rPr>
              <a:t>40</a:t>
            </a:r>
          </a:p>
        </p:txBody>
      </p:sp>
      <p:cxnSp>
        <p:nvCxnSpPr>
          <p:cNvPr id="55" name="Conector recto 54">
            <a:extLst>
              <a:ext uri="{FF2B5EF4-FFF2-40B4-BE49-F238E27FC236}">
                <a16:creationId xmlns:a16="http://schemas.microsoft.com/office/drawing/2014/main" id="{059CF15D-3894-B1A3-3473-BF46D5B5F71A}"/>
              </a:ext>
            </a:extLst>
          </p:cNvPr>
          <p:cNvCxnSpPr/>
          <p:nvPr/>
        </p:nvCxnSpPr>
        <p:spPr>
          <a:xfrm>
            <a:off x="1193800" y="4893733"/>
            <a:ext cx="50800" cy="0"/>
          </a:xfrm>
          <a:prstGeom prst="line">
            <a:avLst/>
          </a:prstGeom>
          <a:ln w="9525">
            <a:solidFill>
              <a:srgbClr val="5A5248"/>
            </a:solidFill>
            <a:prstDash val="solid"/>
          </a:ln>
        </p:spPr>
        <p:style>
          <a:lnRef idx="1">
            <a:schemeClr val="accent1"/>
          </a:lnRef>
          <a:fillRef idx="0">
            <a:schemeClr val="accent1"/>
          </a:fillRef>
          <a:effectRef idx="0">
            <a:schemeClr val="accent1"/>
          </a:effectRef>
          <a:fontRef idx="minor">
            <a:schemeClr val="tx1"/>
          </a:fontRef>
        </p:style>
      </p:cxnSp>
      <p:sp>
        <p:nvSpPr>
          <p:cNvPr id="56" name="CuadroTexto 55">
            <a:extLst>
              <a:ext uri="{FF2B5EF4-FFF2-40B4-BE49-F238E27FC236}">
                <a16:creationId xmlns:a16="http://schemas.microsoft.com/office/drawing/2014/main" id="{15620E92-48AA-694A-0E56-05FE01A12F0A}"/>
              </a:ext>
            </a:extLst>
          </p:cNvPr>
          <p:cNvSpPr txBox="1"/>
          <p:nvPr/>
        </p:nvSpPr>
        <p:spPr>
          <a:xfrm>
            <a:off x="711200" y="4830233"/>
            <a:ext cx="457200" cy="152400"/>
          </a:xfrm>
          <a:prstGeom prst="rect">
            <a:avLst/>
          </a:prstGeom>
          <a:noFill/>
        </p:spPr>
        <p:txBody>
          <a:bodyPr vert="horz" wrap="square" lIns="0" tIns="0" rIns="0" bIns="0" rtlCol="0" anchor="t">
            <a:noAutofit/>
          </a:bodyPr>
          <a:lstStyle/>
          <a:p>
            <a:pPr algn="r"/>
            <a:r>
              <a:rPr lang="es-BO" sz="650">
                <a:solidFill>
                  <a:srgbClr val="938A7C"/>
                </a:solidFill>
                <a:latin typeface="Segoe UI Semibold" panose="020B0702040204020203" pitchFamily="34" charset="0"/>
              </a:rPr>
              <a:t>80</a:t>
            </a:r>
          </a:p>
        </p:txBody>
      </p:sp>
      <p:cxnSp>
        <p:nvCxnSpPr>
          <p:cNvPr id="57" name="Conector recto 56">
            <a:extLst>
              <a:ext uri="{FF2B5EF4-FFF2-40B4-BE49-F238E27FC236}">
                <a16:creationId xmlns:a16="http://schemas.microsoft.com/office/drawing/2014/main" id="{DBF8C81F-2AC6-08CE-229E-D14B505D74D5}"/>
              </a:ext>
            </a:extLst>
          </p:cNvPr>
          <p:cNvCxnSpPr/>
          <p:nvPr/>
        </p:nvCxnSpPr>
        <p:spPr>
          <a:xfrm>
            <a:off x="1193800" y="4546600"/>
            <a:ext cx="50800" cy="0"/>
          </a:xfrm>
          <a:prstGeom prst="line">
            <a:avLst/>
          </a:prstGeom>
          <a:ln w="9525">
            <a:solidFill>
              <a:srgbClr val="5A5248"/>
            </a:solidFill>
            <a:prstDash val="solid"/>
          </a:ln>
        </p:spPr>
        <p:style>
          <a:lnRef idx="1">
            <a:schemeClr val="accent1"/>
          </a:lnRef>
          <a:fillRef idx="0">
            <a:schemeClr val="accent1"/>
          </a:fillRef>
          <a:effectRef idx="0">
            <a:schemeClr val="accent1"/>
          </a:effectRef>
          <a:fontRef idx="minor">
            <a:schemeClr val="tx1"/>
          </a:fontRef>
        </p:style>
      </p:cxnSp>
      <p:sp>
        <p:nvSpPr>
          <p:cNvPr id="58" name="CuadroTexto 57">
            <a:extLst>
              <a:ext uri="{FF2B5EF4-FFF2-40B4-BE49-F238E27FC236}">
                <a16:creationId xmlns:a16="http://schemas.microsoft.com/office/drawing/2014/main" id="{6D84443F-5542-DEFA-280D-BDB46C090439}"/>
              </a:ext>
            </a:extLst>
          </p:cNvPr>
          <p:cNvSpPr txBox="1"/>
          <p:nvPr/>
        </p:nvSpPr>
        <p:spPr>
          <a:xfrm>
            <a:off x="711200" y="4483100"/>
            <a:ext cx="457200" cy="152400"/>
          </a:xfrm>
          <a:prstGeom prst="rect">
            <a:avLst/>
          </a:prstGeom>
          <a:noFill/>
        </p:spPr>
        <p:txBody>
          <a:bodyPr vert="horz" wrap="square" lIns="0" tIns="0" rIns="0" bIns="0" rtlCol="0" anchor="t">
            <a:noAutofit/>
          </a:bodyPr>
          <a:lstStyle/>
          <a:p>
            <a:pPr algn="r"/>
            <a:r>
              <a:rPr lang="es-BO" sz="650">
                <a:solidFill>
                  <a:srgbClr val="938A7C"/>
                </a:solidFill>
                <a:latin typeface="Segoe UI Semibold" panose="020B0702040204020203" pitchFamily="34" charset="0"/>
              </a:rPr>
              <a:t>120</a:t>
            </a:r>
          </a:p>
        </p:txBody>
      </p:sp>
      <p:sp>
        <p:nvSpPr>
          <p:cNvPr id="59" name="Forma libre: forma 58">
            <a:extLst>
              <a:ext uri="{FF2B5EF4-FFF2-40B4-BE49-F238E27FC236}">
                <a16:creationId xmlns:a16="http://schemas.microsoft.com/office/drawing/2014/main" id="{2125EBFE-818B-9E49-8CD7-9DFA12572FF7}"/>
              </a:ext>
            </a:extLst>
          </p:cNvPr>
          <p:cNvSpPr/>
          <p:nvPr/>
        </p:nvSpPr>
        <p:spPr>
          <a:xfrm>
            <a:off x="1244600" y="4716695"/>
            <a:ext cx="4775201" cy="871306"/>
          </a:xfrm>
          <a:custGeom>
            <a:avLst/>
            <a:gdLst/>
            <a:ahLst/>
            <a:cxnLst/>
            <a:rect l="0" t="0" r="0" b="0"/>
            <a:pathLst>
              <a:path w="4775201" h="871306">
                <a:moveTo>
                  <a:pt x="0" y="871305"/>
                </a:moveTo>
                <a:lnTo>
                  <a:pt x="1193800" y="860891"/>
                </a:lnTo>
                <a:lnTo>
                  <a:pt x="2387600" y="827913"/>
                </a:lnTo>
                <a:lnTo>
                  <a:pt x="3581400" y="700342"/>
                </a:lnTo>
                <a:lnTo>
                  <a:pt x="4775200" y="0"/>
                </a:lnTo>
              </a:path>
            </a:pathLst>
          </a:custGeom>
          <a:ln w="25400">
            <a:solidFill>
              <a:srgbClr val="8A6A2F"/>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BO"/>
          </a:p>
        </p:txBody>
      </p:sp>
      <p:cxnSp>
        <p:nvCxnSpPr>
          <p:cNvPr id="60" name="Conector recto 59">
            <a:extLst>
              <a:ext uri="{FF2B5EF4-FFF2-40B4-BE49-F238E27FC236}">
                <a16:creationId xmlns:a16="http://schemas.microsoft.com/office/drawing/2014/main" id="{C49048E3-4CB3-7E11-8181-4DDCF54C23E0}"/>
              </a:ext>
            </a:extLst>
          </p:cNvPr>
          <p:cNvCxnSpPr/>
          <p:nvPr/>
        </p:nvCxnSpPr>
        <p:spPr>
          <a:xfrm flipV="1">
            <a:off x="6019800" y="4610100"/>
            <a:ext cx="88900" cy="106595"/>
          </a:xfrm>
          <a:prstGeom prst="line">
            <a:avLst/>
          </a:prstGeom>
          <a:ln w="7620">
            <a:solidFill>
              <a:srgbClr val="8A6A2F"/>
            </a:solidFill>
            <a:prstDash val="solid"/>
          </a:ln>
        </p:spPr>
        <p:style>
          <a:lnRef idx="1">
            <a:schemeClr val="accent1"/>
          </a:lnRef>
          <a:fillRef idx="0">
            <a:schemeClr val="accent1"/>
          </a:fillRef>
          <a:effectRef idx="0">
            <a:schemeClr val="accent1"/>
          </a:effectRef>
          <a:fontRef idx="minor">
            <a:schemeClr val="tx1"/>
          </a:fontRef>
        </p:style>
      </p:cxnSp>
      <p:sp>
        <p:nvSpPr>
          <p:cNvPr id="61" name="CuadroTexto 60">
            <a:extLst>
              <a:ext uri="{FF2B5EF4-FFF2-40B4-BE49-F238E27FC236}">
                <a16:creationId xmlns:a16="http://schemas.microsoft.com/office/drawing/2014/main" id="{02446DA2-EB74-93FD-E524-FDCD1B0179E6}"/>
              </a:ext>
            </a:extLst>
          </p:cNvPr>
          <p:cNvSpPr txBox="1"/>
          <p:nvPr/>
        </p:nvSpPr>
        <p:spPr>
          <a:xfrm>
            <a:off x="6134100" y="4546600"/>
            <a:ext cx="304800" cy="152400"/>
          </a:xfrm>
          <a:prstGeom prst="rect">
            <a:avLst/>
          </a:prstGeom>
          <a:noFill/>
        </p:spPr>
        <p:txBody>
          <a:bodyPr vert="horz" wrap="square" lIns="0" tIns="0" rIns="0" bIns="0" rtlCol="0" anchor="t">
            <a:noAutofit/>
          </a:bodyPr>
          <a:lstStyle/>
          <a:p>
            <a:r>
              <a:rPr lang="es-BO" sz="700">
                <a:solidFill>
                  <a:srgbClr val="8A6A2F"/>
                </a:solidFill>
                <a:latin typeface="Segoe UI Semibold" panose="020B0702040204020203" pitchFamily="34" charset="0"/>
              </a:rPr>
              <a:t>N_</a:t>
            </a:r>
            <a:r>
              <a:rPr lang="el-GR" sz="700">
                <a:solidFill>
                  <a:srgbClr val="8A6A2F"/>
                </a:solidFill>
                <a:latin typeface="Segoe UI Semibold" panose="020B0702040204020203" pitchFamily="34" charset="0"/>
              </a:rPr>
              <a:t>γ</a:t>
            </a:r>
            <a:endParaRPr lang="es-BO" sz="700">
              <a:solidFill>
                <a:srgbClr val="8A6A2F"/>
              </a:solidFill>
              <a:latin typeface="Segoe UI Semibold" panose="020B0702040204020203" pitchFamily="34" charset="0"/>
            </a:endParaRPr>
          </a:p>
        </p:txBody>
      </p:sp>
      <p:sp>
        <p:nvSpPr>
          <p:cNvPr id="62" name="Forma libre: forma 61">
            <a:extLst>
              <a:ext uri="{FF2B5EF4-FFF2-40B4-BE49-F238E27FC236}">
                <a16:creationId xmlns:a16="http://schemas.microsoft.com/office/drawing/2014/main" id="{E8BDC5F7-F7EC-8E9A-1FAB-07E4308C7CC6}"/>
              </a:ext>
            </a:extLst>
          </p:cNvPr>
          <p:cNvSpPr/>
          <p:nvPr/>
        </p:nvSpPr>
        <p:spPr>
          <a:xfrm>
            <a:off x="1244600" y="4757484"/>
            <a:ext cx="4775201" cy="781051"/>
          </a:xfrm>
          <a:custGeom>
            <a:avLst/>
            <a:gdLst/>
            <a:ahLst/>
            <a:cxnLst/>
            <a:rect l="0" t="0" r="0" b="0"/>
            <a:pathLst>
              <a:path w="4775201" h="781051">
                <a:moveTo>
                  <a:pt x="0" y="781050"/>
                </a:moveTo>
                <a:lnTo>
                  <a:pt x="1193800" y="747204"/>
                </a:lnTo>
                <a:lnTo>
                  <a:pt x="2387600" y="676909"/>
                </a:lnTo>
                <a:lnTo>
                  <a:pt x="3581400" y="507682"/>
                </a:lnTo>
                <a:lnTo>
                  <a:pt x="4775200" y="0"/>
                </a:lnTo>
              </a:path>
            </a:pathLst>
          </a:custGeom>
          <a:ln w="25400">
            <a:solidFill>
              <a:srgbClr val="4C5F33"/>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BO"/>
          </a:p>
        </p:txBody>
      </p:sp>
      <p:cxnSp>
        <p:nvCxnSpPr>
          <p:cNvPr id="63" name="Conector recto 62">
            <a:extLst>
              <a:ext uri="{FF2B5EF4-FFF2-40B4-BE49-F238E27FC236}">
                <a16:creationId xmlns:a16="http://schemas.microsoft.com/office/drawing/2014/main" id="{9F322CF7-D3A9-910E-26EA-13FAF1D2C908}"/>
              </a:ext>
            </a:extLst>
          </p:cNvPr>
          <p:cNvCxnSpPr/>
          <p:nvPr/>
        </p:nvCxnSpPr>
        <p:spPr>
          <a:xfrm flipV="1">
            <a:off x="6019800" y="4749800"/>
            <a:ext cx="88900" cy="7684"/>
          </a:xfrm>
          <a:prstGeom prst="line">
            <a:avLst/>
          </a:prstGeom>
          <a:ln w="7620">
            <a:solidFill>
              <a:srgbClr val="4C5F33"/>
            </a:solidFill>
            <a:prstDash val="solid"/>
          </a:ln>
        </p:spPr>
        <p:style>
          <a:lnRef idx="1">
            <a:schemeClr val="accent1"/>
          </a:lnRef>
          <a:fillRef idx="0">
            <a:schemeClr val="accent1"/>
          </a:fillRef>
          <a:effectRef idx="0">
            <a:schemeClr val="accent1"/>
          </a:effectRef>
          <a:fontRef idx="minor">
            <a:schemeClr val="tx1"/>
          </a:fontRef>
        </p:style>
      </p:cxnSp>
      <p:sp>
        <p:nvSpPr>
          <p:cNvPr id="64" name="CuadroTexto 63">
            <a:extLst>
              <a:ext uri="{FF2B5EF4-FFF2-40B4-BE49-F238E27FC236}">
                <a16:creationId xmlns:a16="http://schemas.microsoft.com/office/drawing/2014/main" id="{7C171A5E-0896-3FE5-F70E-B72396DDFEB4}"/>
              </a:ext>
            </a:extLst>
          </p:cNvPr>
          <p:cNvSpPr txBox="1"/>
          <p:nvPr/>
        </p:nvSpPr>
        <p:spPr>
          <a:xfrm>
            <a:off x="6134100" y="4686300"/>
            <a:ext cx="304800" cy="152400"/>
          </a:xfrm>
          <a:prstGeom prst="rect">
            <a:avLst/>
          </a:prstGeom>
          <a:noFill/>
        </p:spPr>
        <p:txBody>
          <a:bodyPr vert="horz" wrap="square" lIns="0" tIns="0" rIns="0" bIns="0" rtlCol="0" anchor="t">
            <a:noAutofit/>
          </a:bodyPr>
          <a:lstStyle/>
          <a:p>
            <a:r>
              <a:rPr lang="es-BO" sz="700">
                <a:solidFill>
                  <a:srgbClr val="4C5F33"/>
                </a:solidFill>
                <a:latin typeface="Segoe UI Semibold" panose="020B0702040204020203" pitchFamily="34" charset="0"/>
              </a:rPr>
              <a:t>N_c</a:t>
            </a:r>
          </a:p>
        </p:txBody>
      </p:sp>
      <p:sp>
        <p:nvSpPr>
          <p:cNvPr id="65" name="Forma libre: forma 64">
            <a:extLst>
              <a:ext uri="{FF2B5EF4-FFF2-40B4-BE49-F238E27FC236}">
                <a16:creationId xmlns:a16="http://schemas.microsoft.com/office/drawing/2014/main" id="{854370C6-A337-FF72-9A41-43CB686BD5DC}"/>
              </a:ext>
            </a:extLst>
          </p:cNvPr>
          <p:cNvSpPr/>
          <p:nvPr/>
        </p:nvSpPr>
        <p:spPr>
          <a:xfrm>
            <a:off x="1244600" y="4882452"/>
            <a:ext cx="4775201" cy="696871"/>
          </a:xfrm>
          <a:custGeom>
            <a:avLst/>
            <a:gdLst/>
            <a:ahLst/>
            <a:cxnLst/>
            <a:rect l="0" t="0" r="0" b="0"/>
            <a:pathLst>
              <a:path w="4775201" h="696871">
                <a:moveTo>
                  <a:pt x="0" y="696870"/>
                </a:moveTo>
                <a:lnTo>
                  <a:pt x="1193800" y="682116"/>
                </a:lnTo>
                <a:lnTo>
                  <a:pt x="2387600" y="641328"/>
                </a:lnTo>
                <a:lnTo>
                  <a:pt x="3581400" y="510286"/>
                </a:lnTo>
                <a:lnTo>
                  <a:pt x="4775200" y="0"/>
                </a:lnTo>
              </a:path>
            </a:pathLst>
          </a:custGeom>
          <a:ln w="25400">
            <a:solidFill>
              <a:srgbClr val="4A5559"/>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BO"/>
          </a:p>
        </p:txBody>
      </p:sp>
      <p:cxnSp>
        <p:nvCxnSpPr>
          <p:cNvPr id="66" name="Conector recto 65">
            <a:extLst>
              <a:ext uri="{FF2B5EF4-FFF2-40B4-BE49-F238E27FC236}">
                <a16:creationId xmlns:a16="http://schemas.microsoft.com/office/drawing/2014/main" id="{ECBD05EA-5611-4395-0EED-6CF22C3091A6}"/>
              </a:ext>
            </a:extLst>
          </p:cNvPr>
          <p:cNvCxnSpPr/>
          <p:nvPr/>
        </p:nvCxnSpPr>
        <p:spPr>
          <a:xfrm>
            <a:off x="6019800" y="4882452"/>
            <a:ext cx="88900" cy="7048"/>
          </a:xfrm>
          <a:prstGeom prst="line">
            <a:avLst/>
          </a:prstGeom>
          <a:ln w="7620">
            <a:solidFill>
              <a:srgbClr val="4A5559"/>
            </a:solidFill>
            <a:prstDash val="solid"/>
          </a:ln>
        </p:spPr>
        <p:style>
          <a:lnRef idx="1">
            <a:schemeClr val="accent1"/>
          </a:lnRef>
          <a:fillRef idx="0">
            <a:schemeClr val="accent1"/>
          </a:fillRef>
          <a:effectRef idx="0">
            <a:schemeClr val="accent1"/>
          </a:effectRef>
          <a:fontRef idx="minor">
            <a:schemeClr val="tx1"/>
          </a:fontRef>
        </p:style>
      </p:cxnSp>
      <p:sp>
        <p:nvSpPr>
          <p:cNvPr id="67" name="CuadroTexto 66">
            <a:extLst>
              <a:ext uri="{FF2B5EF4-FFF2-40B4-BE49-F238E27FC236}">
                <a16:creationId xmlns:a16="http://schemas.microsoft.com/office/drawing/2014/main" id="{E97D393E-4A09-E341-9DA1-BDAC0AA4D725}"/>
              </a:ext>
            </a:extLst>
          </p:cNvPr>
          <p:cNvSpPr txBox="1"/>
          <p:nvPr/>
        </p:nvSpPr>
        <p:spPr>
          <a:xfrm>
            <a:off x="6134100" y="4826000"/>
            <a:ext cx="304800" cy="152400"/>
          </a:xfrm>
          <a:prstGeom prst="rect">
            <a:avLst/>
          </a:prstGeom>
          <a:noFill/>
        </p:spPr>
        <p:txBody>
          <a:bodyPr vert="horz" wrap="square" lIns="0" tIns="0" rIns="0" bIns="0" rtlCol="0" anchor="t">
            <a:noAutofit/>
          </a:bodyPr>
          <a:lstStyle/>
          <a:p>
            <a:r>
              <a:rPr lang="es-BO" sz="700">
                <a:solidFill>
                  <a:srgbClr val="4A5559"/>
                </a:solidFill>
                <a:latin typeface="Segoe UI Semibold" panose="020B0702040204020203" pitchFamily="34" charset="0"/>
              </a:rPr>
              <a:t>N_q</a:t>
            </a:r>
          </a:p>
        </p:txBody>
      </p:sp>
      <p:cxnSp>
        <p:nvCxnSpPr>
          <p:cNvPr id="68" name="Conector recto 67">
            <a:extLst>
              <a:ext uri="{FF2B5EF4-FFF2-40B4-BE49-F238E27FC236}">
                <a16:creationId xmlns:a16="http://schemas.microsoft.com/office/drawing/2014/main" id="{443B5F26-C3A8-7596-B2A8-22329599E85D}"/>
              </a:ext>
            </a:extLst>
          </p:cNvPr>
          <p:cNvCxnSpPr/>
          <p:nvPr/>
        </p:nvCxnSpPr>
        <p:spPr>
          <a:xfrm>
            <a:off x="3035300" y="4546600"/>
            <a:ext cx="0" cy="1041400"/>
          </a:xfrm>
          <a:prstGeom prst="line">
            <a:avLst/>
          </a:prstGeom>
          <a:ln w="12700" cap="sq">
            <a:solidFill>
              <a:srgbClr val="8C332B"/>
            </a:solidFill>
            <a:prstDash val="dot"/>
          </a:ln>
        </p:spPr>
        <p:style>
          <a:lnRef idx="1">
            <a:schemeClr val="accent1"/>
          </a:lnRef>
          <a:fillRef idx="0">
            <a:schemeClr val="accent1"/>
          </a:fillRef>
          <a:effectRef idx="0">
            <a:schemeClr val="accent1"/>
          </a:effectRef>
          <a:fontRef idx="minor">
            <a:schemeClr val="tx1"/>
          </a:fontRef>
        </p:style>
      </p:cxnSp>
      <p:sp>
        <p:nvSpPr>
          <p:cNvPr id="69" name="CuadroTexto 68">
            <a:extLst>
              <a:ext uri="{FF2B5EF4-FFF2-40B4-BE49-F238E27FC236}">
                <a16:creationId xmlns:a16="http://schemas.microsoft.com/office/drawing/2014/main" id="{773BEB02-203A-9808-3E3C-DD2679C927F8}"/>
              </a:ext>
            </a:extLst>
          </p:cNvPr>
          <p:cNvSpPr txBox="1"/>
          <p:nvPr/>
        </p:nvSpPr>
        <p:spPr>
          <a:xfrm>
            <a:off x="2527300" y="4406900"/>
            <a:ext cx="1016000" cy="152400"/>
          </a:xfrm>
          <a:prstGeom prst="rect">
            <a:avLst/>
          </a:prstGeom>
          <a:noFill/>
        </p:spPr>
        <p:txBody>
          <a:bodyPr vert="horz" wrap="square" lIns="0" tIns="0" rIns="0" bIns="0" rtlCol="0" anchor="t">
            <a:noAutofit/>
          </a:bodyPr>
          <a:lstStyle/>
          <a:p>
            <a:pPr algn="ctr"/>
            <a:r>
              <a:rPr lang="el-GR" sz="650">
                <a:solidFill>
                  <a:srgbClr val="8C332B"/>
                </a:solidFill>
                <a:latin typeface="Segoe UI Semibold" panose="020B0702040204020203" pitchFamily="34" charset="0"/>
              </a:rPr>
              <a:t>φ = 15°</a:t>
            </a:r>
            <a:endParaRPr lang="es-BO" sz="650">
              <a:solidFill>
                <a:srgbClr val="8C332B"/>
              </a:solidFill>
              <a:latin typeface="Segoe UI Semibold" panose="020B0702040204020203" pitchFamily="34" charset="0"/>
            </a:endParaRPr>
          </a:p>
        </p:txBody>
      </p:sp>
      <p:sp>
        <p:nvSpPr>
          <p:cNvPr id="70" name="CuadroTexto 69">
            <a:extLst>
              <a:ext uri="{FF2B5EF4-FFF2-40B4-BE49-F238E27FC236}">
                <a16:creationId xmlns:a16="http://schemas.microsoft.com/office/drawing/2014/main" id="{FE77C781-C8B3-6E80-5A1C-9542D4371CB1}"/>
              </a:ext>
            </a:extLst>
          </p:cNvPr>
          <p:cNvSpPr txBox="1"/>
          <p:nvPr/>
        </p:nvSpPr>
        <p:spPr>
          <a:xfrm>
            <a:off x="6426200" y="4572000"/>
            <a:ext cx="685800" cy="152400"/>
          </a:xfrm>
          <a:prstGeom prst="rect">
            <a:avLst/>
          </a:prstGeom>
          <a:noFill/>
        </p:spPr>
        <p:txBody>
          <a:bodyPr vert="horz" wrap="square" lIns="0" tIns="0" rIns="0" bIns="0" rtlCol="0" anchor="t">
            <a:noAutofit/>
          </a:bodyPr>
          <a:lstStyle/>
          <a:p>
            <a:r>
              <a:rPr lang="es-BO" sz="600">
                <a:solidFill>
                  <a:srgbClr val="6A4F20"/>
                </a:solidFill>
                <a:latin typeface="Segoe UI Semibold" panose="020B0702040204020203" pitchFamily="34" charset="0"/>
              </a:rPr>
              <a:t>NAVE SECTOR 4</a:t>
            </a:r>
          </a:p>
        </p:txBody>
      </p:sp>
      <p:sp>
        <p:nvSpPr>
          <p:cNvPr id="71" name="CuadroTexto 70">
            <a:extLst>
              <a:ext uri="{FF2B5EF4-FFF2-40B4-BE49-F238E27FC236}">
                <a16:creationId xmlns:a16="http://schemas.microsoft.com/office/drawing/2014/main" id="{8B346E63-2ED1-3A32-2A5C-E5B2303A4A7E}"/>
              </a:ext>
            </a:extLst>
          </p:cNvPr>
          <p:cNvSpPr txBox="1"/>
          <p:nvPr/>
        </p:nvSpPr>
        <p:spPr>
          <a:xfrm>
            <a:off x="6426200" y="4749800"/>
            <a:ext cx="711200" cy="381000"/>
          </a:xfrm>
          <a:prstGeom prst="rect">
            <a:avLst/>
          </a:prstGeom>
          <a:noFill/>
        </p:spPr>
        <p:txBody>
          <a:bodyPr vert="horz" wrap="square" lIns="0" tIns="0" rIns="0" bIns="0" rtlCol="0" anchor="t">
            <a:noAutofit/>
          </a:bodyPr>
          <a:lstStyle/>
          <a:p>
            <a:r>
              <a:rPr lang="es-BO" sz="650">
                <a:solidFill>
                  <a:srgbClr val="4C5F33"/>
                </a:solidFill>
                <a:latin typeface="Segoe UI" panose="020B0502040204020203" pitchFamily="34" charset="0"/>
              </a:rPr>
              <a:t>N_c = 12,86</a:t>
            </a:r>
          </a:p>
        </p:txBody>
      </p:sp>
      <p:sp>
        <p:nvSpPr>
          <p:cNvPr id="72" name="CuadroTexto 71">
            <a:extLst>
              <a:ext uri="{FF2B5EF4-FFF2-40B4-BE49-F238E27FC236}">
                <a16:creationId xmlns:a16="http://schemas.microsoft.com/office/drawing/2014/main" id="{D234EEBF-2D06-4F6C-D6AF-595DDBC7F80B}"/>
              </a:ext>
            </a:extLst>
          </p:cNvPr>
          <p:cNvSpPr txBox="1"/>
          <p:nvPr/>
        </p:nvSpPr>
        <p:spPr>
          <a:xfrm>
            <a:off x="6426200" y="4914900"/>
            <a:ext cx="711200" cy="381000"/>
          </a:xfrm>
          <a:prstGeom prst="rect">
            <a:avLst/>
          </a:prstGeom>
          <a:noFill/>
        </p:spPr>
        <p:txBody>
          <a:bodyPr vert="horz" wrap="square" lIns="0" tIns="0" rIns="0" bIns="0" rtlCol="0" anchor="t">
            <a:noAutofit/>
          </a:bodyPr>
          <a:lstStyle/>
          <a:p>
            <a:r>
              <a:rPr lang="es-BO" sz="650">
                <a:solidFill>
                  <a:srgbClr val="4A5559"/>
                </a:solidFill>
                <a:latin typeface="Segoe UI" panose="020B0502040204020203" pitchFamily="34" charset="0"/>
              </a:rPr>
              <a:t>N_q = 4,45</a:t>
            </a:r>
          </a:p>
        </p:txBody>
      </p:sp>
      <p:sp>
        <p:nvSpPr>
          <p:cNvPr id="73" name="CuadroTexto 72">
            <a:extLst>
              <a:ext uri="{FF2B5EF4-FFF2-40B4-BE49-F238E27FC236}">
                <a16:creationId xmlns:a16="http://schemas.microsoft.com/office/drawing/2014/main" id="{EC04B52A-2C7C-D039-68BB-D61ACCF98EF7}"/>
              </a:ext>
            </a:extLst>
          </p:cNvPr>
          <p:cNvSpPr txBox="1"/>
          <p:nvPr/>
        </p:nvSpPr>
        <p:spPr>
          <a:xfrm>
            <a:off x="6426200" y="5080000"/>
            <a:ext cx="711200" cy="381000"/>
          </a:xfrm>
          <a:prstGeom prst="rect">
            <a:avLst/>
          </a:prstGeom>
          <a:noFill/>
        </p:spPr>
        <p:txBody>
          <a:bodyPr vert="horz" wrap="square" lIns="0" tIns="0" rIns="0" bIns="0" rtlCol="0" anchor="t">
            <a:noAutofit/>
          </a:bodyPr>
          <a:lstStyle/>
          <a:p>
            <a:r>
              <a:rPr lang="es-BO" sz="650">
                <a:solidFill>
                  <a:srgbClr val="8A6A2F"/>
                </a:solidFill>
                <a:latin typeface="Segoe UI" panose="020B0502040204020203" pitchFamily="34" charset="0"/>
              </a:rPr>
              <a:t>N_</a:t>
            </a:r>
            <a:r>
              <a:rPr lang="el-GR" sz="650">
                <a:solidFill>
                  <a:srgbClr val="8A6A2F"/>
                </a:solidFill>
                <a:latin typeface="Segoe UI" panose="020B0502040204020203" pitchFamily="34" charset="0"/>
              </a:rPr>
              <a:t>γ = 2,17</a:t>
            </a:r>
            <a:endParaRPr lang="es-BO" sz="650">
              <a:solidFill>
                <a:srgbClr val="8A6A2F"/>
              </a:solidFill>
              <a:latin typeface="Segoe UI" panose="020B0502040204020203" pitchFamily="34" charset="0"/>
            </a:endParaRPr>
          </a:p>
        </p:txBody>
      </p:sp>
      <p:sp>
        <p:nvSpPr>
          <p:cNvPr id="74" name="CuadroTexto 73">
            <a:extLst>
              <a:ext uri="{FF2B5EF4-FFF2-40B4-BE49-F238E27FC236}">
                <a16:creationId xmlns:a16="http://schemas.microsoft.com/office/drawing/2014/main" id="{F633AC64-8535-CD04-08A2-7CAB23553C05}"/>
              </a:ext>
            </a:extLst>
          </p:cNvPr>
          <p:cNvSpPr txBox="1"/>
          <p:nvPr/>
        </p:nvSpPr>
        <p:spPr>
          <a:xfrm>
            <a:off x="965200" y="5867400"/>
            <a:ext cx="5892800" cy="381000"/>
          </a:xfrm>
          <a:prstGeom prst="rect">
            <a:avLst/>
          </a:prstGeom>
          <a:noFill/>
        </p:spPr>
        <p:txBody>
          <a:bodyPr vert="horz" wrap="square" lIns="0" tIns="0" rIns="0" bIns="0" rtlCol="0" anchor="t">
            <a:noAutofit/>
          </a:bodyPr>
          <a:lstStyle/>
          <a:p>
            <a:pPr algn="ctr"/>
            <a:r>
              <a:rPr lang="es-MX" sz="700">
                <a:solidFill>
                  <a:srgbClr val="5A5248"/>
                </a:solidFill>
                <a:latin typeface="Segoe UI" panose="020B0502040204020203" pitchFamily="34" charset="0"/>
              </a:rPr>
              <a:t>Crecen de forma exponencial con φ: </a:t>
            </a:r>
            <a:r>
              <a:rPr lang="es-MX" sz="700" b="1">
                <a:solidFill>
                  <a:srgbClr val="5A5248"/>
                </a:solidFill>
                <a:latin typeface="Segoe UI Semibold" panose="020B0702040204020203" pitchFamily="34" charset="0"/>
              </a:rPr>
              <a:t>un grado de más en el estudio de suelos cambia la capacidad mucho más que un centímetro de zapata.</a:t>
            </a:r>
            <a:endParaRPr lang="es-BO" sz="700" b="1">
              <a:solidFill>
                <a:srgbClr val="5A5248"/>
              </a:solidFill>
              <a:latin typeface="Segoe UI Semibold" panose="020B0702040204020203" pitchFamily="34" charset="0"/>
            </a:endParaRPr>
          </a:p>
        </p:txBody>
      </p:sp>
      <p:sp>
        <p:nvSpPr>
          <p:cNvPr id="75" name="Rectángulo 74">
            <a:extLst>
              <a:ext uri="{FF2B5EF4-FFF2-40B4-BE49-F238E27FC236}">
                <a16:creationId xmlns:a16="http://schemas.microsoft.com/office/drawing/2014/main" id="{428F9F04-BA39-454D-D549-695DB47EAEF7}"/>
              </a:ext>
            </a:extLst>
          </p:cNvPr>
          <p:cNvSpPr/>
          <p:nvPr/>
        </p:nvSpPr>
        <p:spPr>
          <a:xfrm>
            <a:off x="7061200" y="4191000"/>
            <a:ext cx="4521200" cy="1905000"/>
          </a:xfrm>
          <a:prstGeom prst="rect">
            <a:avLst/>
          </a:prstGeom>
          <a:solidFill>
            <a:srgbClr val="241F1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77" name="CuadroTexto 76">
            <a:extLst>
              <a:ext uri="{FF2B5EF4-FFF2-40B4-BE49-F238E27FC236}">
                <a16:creationId xmlns:a16="http://schemas.microsoft.com/office/drawing/2014/main" id="{FFBC739F-B850-DA56-A872-1954CDEFD57B}"/>
              </a:ext>
            </a:extLst>
          </p:cNvPr>
          <p:cNvSpPr txBox="1"/>
          <p:nvPr/>
        </p:nvSpPr>
        <p:spPr>
          <a:xfrm>
            <a:off x="7289800" y="4368800"/>
            <a:ext cx="4114800" cy="1600200"/>
          </a:xfrm>
          <a:prstGeom prst="rect">
            <a:avLst/>
          </a:prstGeom>
          <a:noFill/>
        </p:spPr>
        <p:txBody>
          <a:bodyPr vert="horz" wrap="square" lIns="0" tIns="0" rIns="0" bIns="0" rtlCol="0" anchor="t">
            <a:noAutofit/>
          </a:bodyPr>
          <a:lstStyle/>
          <a:p>
            <a:pPr algn="l"/>
            <a:r>
              <a:rPr lang="es-MX" sz="1200">
                <a:solidFill>
                  <a:srgbClr val="FFFFFF"/>
                </a:solidFill>
                <a:latin typeface="Segoe UI" panose="020B0502040204020203" pitchFamily="34" charset="0"/>
              </a:rPr>
              <a:t>En la nave Sector 4: c = 25 kPa, φ = 15°, γ = 17 kN/m³, con zapata de 1,80 m a 1,20 m de profundidad. Los factores son N_c = 12.86, N_q = 4.45 y N_γ = 2.17. Se resuelve en el caso 7.2.</a:t>
            </a:r>
            <a:endParaRPr lang="es-BO" sz="1200">
              <a:solidFill>
                <a:srgbClr val="FFFFFF"/>
              </a:solidFill>
              <a:latin typeface="Segoe UI" panose="020B0502040204020203" pitchFamily="34" charset="0"/>
            </a:endParaRPr>
          </a:p>
        </p:txBody>
      </p:sp>
      <p:sp>
        <p:nvSpPr>
          <p:cNvPr id="78" name="CuadroTexto 77">
            <a:extLst>
              <a:ext uri="{FF2B5EF4-FFF2-40B4-BE49-F238E27FC236}">
                <a16:creationId xmlns:a16="http://schemas.microsoft.com/office/drawing/2014/main" id="{673E037D-BC8A-68BB-9C5C-1C226BD2C910}"/>
              </a:ext>
            </a:extLst>
          </p:cNvPr>
          <p:cNvSpPr txBox="1"/>
          <p:nvPr/>
        </p:nvSpPr>
        <p:spPr>
          <a:xfrm>
            <a:off x="609600" y="6324600"/>
            <a:ext cx="10972800" cy="152400"/>
          </a:xfrm>
          <a:prstGeom prst="rect">
            <a:avLst/>
          </a:prstGeom>
          <a:noFill/>
        </p:spPr>
        <p:txBody>
          <a:bodyPr vert="horz" wrap="square" lIns="0" tIns="0" rIns="0" bIns="0" rtlCol="0" anchor="t">
            <a:noAutofit/>
          </a:bodyPr>
          <a:lstStyle/>
          <a:p>
            <a:pPr algn="l"/>
            <a:r>
              <a:rPr lang="es-MX" sz="700">
                <a:solidFill>
                  <a:srgbClr val="938A7C"/>
                </a:solidFill>
                <a:latin typeface="Segoe UI" panose="020B0502040204020203" pitchFamily="34" charset="0"/>
              </a:rPr>
              <a:t>Fuente: Terzaghi (1943); NB 1225001 y criterio de cimentaciones superficiales.</a:t>
            </a:r>
            <a:endParaRPr lang="es-BO" sz="700">
              <a:solidFill>
                <a:srgbClr val="938A7C"/>
              </a:solidFill>
              <a:latin typeface="Segoe UI" panose="020B0502040204020203" pitchFamily="34" charset="0"/>
            </a:endParaRPr>
          </a:p>
        </p:txBody>
      </p:sp>
      <p:cxnSp>
        <p:nvCxnSpPr>
          <p:cNvPr id="79" name="Conector recto 78">
            <a:extLst>
              <a:ext uri="{FF2B5EF4-FFF2-40B4-BE49-F238E27FC236}">
                <a16:creationId xmlns:a16="http://schemas.microsoft.com/office/drawing/2014/main" id="{3752B76F-3C61-7839-2335-DA213C985930}"/>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80" name="CuadroTexto 79">
            <a:extLst>
              <a:ext uri="{FF2B5EF4-FFF2-40B4-BE49-F238E27FC236}">
                <a16:creationId xmlns:a16="http://schemas.microsoft.com/office/drawing/2014/main" id="{ACCDA9F6-0D99-B32C-E28C-88300C2F13CB}"/>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81" name="CuadroTexto 80">
            <a:extLst>
              <a:ext uri="{FF2B5EF4-FFF2-40B4-BE49-F238E27FC236}">
                <a16:creationId xmlns:a16="http://schemas.microsoft.com/office/drawing/2014/main" id="{03420774-F65A-99C2-3310-24FE9776BEA3}"/>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82" name="PageNo">
            <a:extLst>
              <a:ext uri="{FF2B5EF4-FFF2-40B4-BE49-F238E27FC236}">
                <a16:creationId xmlns:a16="http://schemas.microsoft.com/office/drawing/2014/main" id="{D30541C6-3541-9250-6384-B8402CF41A3A}"/>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15 / 38</a:t>
            </a:r>
          </a:p>
        </p:txBody>
      </p:sp>
    </p:spTree>
    <p:extLst>
      <p:ext uri="{BB962C8B-B14F-4D97-AF65-F5344CB8AC3E}">
        <p14:creationId xmlns:p14="http://schemas.microsoft.com/office/powerpoint/2010/main" val="16379530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E64F4798-38EF-3780-8DE3-7B07B5090DD8}"/>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MX" sz="900" spc="180">
                <a:solidFill>
                  <a:srgbClr val="6A4F20"/>
                </a:solidFill>
                <a:latin typeface="Segoe UI Semibold" panose="020B0702040204020203" pitchFamily="34" charset="0"/>
              </a:rPr>
              <a:t>PARTE 3 · LAS CUATRO FAMILIAS</a:t>
            </a:r>
            <a:endParaRPr lang="es-BO" sz="900" spc="180">
              <a:solidFill>
                <a:srgbClr val="6A4F20"/>
              </a:solidFill>
              <a:latin typeface="Segoe UI Semibold" panose="020B0702040204020203" pitchFamily="34" charset="0"/>
            </a:endParaRPr>
          </a:p>
        </p:txBody>
      </p:sp>
      <p:sp>
        <p:nvSpPr>
          <p:cNvPr id="3" name="Title">
            <a:extLst>
              <a:ext uri="{FF2B5EF4-FFF2-40B4-BE49-F238E27FC236}">
                <a16:creationId xmlns:a16="http://schemas.microsoft.com/office/drawing/2014/main" id="{37B3527E-FBE5-9E8E-6441-43196ED31358}"/>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Ensanchar, profundizar, mejorar el terreno o transferir a otro apoyo</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509C8F63-2327-CE44-7D04-0CCA3392D4F1}"/>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graphicFrame>
        <p:nvGraphicFramePr>
          <p:cNvPr id="6" name="Tabla 5">
            <a:extLst>
              <a:ext uri="{FF2B5EF4-FFF2-40B4-BE49-F238E27FC236}">
                <a16:creationId xmlns:a16="http://schemas.microsoft.com/office/drawing/2014/main" id="{7D0F31D2-125F-B6A9-1D49-61744C29E4A1}"/>
              </a:ext>
            </a:extLst>
          </p:cNvPr>
          <p:cNvGraphicFramePr>
            <a:graphicFrameLocks noGrp="1"/>
          </p:cNvGraphicFramePr>
          <p:nvPr>
            <p:extLst>
              <p:ext uri="{D42A27DB-BD31-4B8C-83A1-F6EECF244321}">
                <p14:modId xmlns:p14="http://schemas.microsoft.com/office/powerpoint/2010/main" val="3782138587"/>
              </p:ext>
            </p:extLst>
          </p:nvPr>
        </p:nvGraphicFramePr>
        <p:xfrm>
          <a:off x="609600" y="1422400"/>
          <a:ext cx="10972800" cy="3149600"/>
        </p:xfrm>
        <a:graphic>
          <a:graphicData uri="http://schemas.openxmlformats.org/drawingml/2006/table">
            <a:tbl>
              <a:tblPr firstRow="1" bandRow="1">
                <a:tableStyleId>{5C22544A-7EE6-4342-B048-85BDC9FD1C3A}</a:tableStyleId>
              </a:tblPr>
              <a:tblGrid>
                <a:gridCol w="2489200">
                  <a:extLst>
                    <a:ext uri="{9D8B030D-6E8A-4147-A177-3AD203B41FA5}">
                      <a16:colId xmlns:a16="http://schemas.microsoft.com/office/drawing/2014/main" val="761832624"/>
                    </a:ext>
                  </a:extLst>
                </a:gridCol>
                <a:gridCol w="3048000">
                  <a:extLst>
                    <a:ext uri="{9D8B030D-6E8A-4147-A177-3AD203B41FA5}">
                      <a16:colId xmlns:a16="http://schemas.microsoft.com/office/drawing/2014/main" val="1594387001"/>
                    </a:ext>
                  </a:extLst>
                </a:gridCol>
                <a:gridCol w="2794000">
                  <a:extLst>
                    <a:ext uri="{9D8B030D-6E8A-4147-A177-3AD203B41FA5}">
                      <a16:colId xmlns:a16="http://schemas.microsoft.com/office/drawing/2014/main" val="4086998158"/>
                    </a:ext>
                  </a:extLst>
                </a:gridCol>
                <a:gridCol w="2641600">
                  <a:extLst>
                    <a:ext uri="{9D8B030D-6E8A-4147-A177-3AD203B41FA5}">
                      <a16:colId xmlns:a16="http://schemas.microsoft.com/office/drawing/2014/main" val="2446449492"/>
                    </a:ext>
                  </a:extLst>
                </a:gridCol>
              </a:tblGrid>
              <a:tr h="629920">
                <a:tc>
                  <a:txBody>
                    <a:bodyPr/>
                    <a:lstStyle/>
                    <a:p>
                      <a:pPr algn="ctr"/>
                      <a:r>
                        <a:rPr lang="es-BO" sz="950" b="0">
                          <a:solidFill>
                            <a:srgbClr val="FFFFFF"/>
                          </a:solidFill>
                          <a:latin typeface="Segoe UI Semibold" panose="020B0702040204020203" pitchFamily="34" charset="0"/>
                        </a:rPr>
                        <a:t>Familia</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1C1813"/>
                    </a:solidFill>
                  </a:tcPr>
                </a:tc>
                <a:tc>
                  <a:txBody>
                    <a:bodyPr/>
                    <a:lstStyle/>
                    <a:p>
                      <a:pPr algn="ctr"/>
                      <a:r>
                        <a:rPr lang="es-BO" sz="950" b="0">
                          <a:solidFill>
                            <a:srgbClr val="FFFFFF"/>
                          </a:solidFill>
                          <a:latin typeface="Segoe UI Semibold" panose="020B0702040204020203" pitchFamily="34" charset="0"/>
                        </a:rPr>
                        <a:t>Qué hace</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1C1813"/>
                    </a:solidFill>
                  </a:tcPr>
                </a:tc>
                <a:tc>
                  <a:txBody>
                    <a:bodyPr/>
                    <a:lstStyle/>
                    <a:p>
                      <a:pPr algn="ctr"/>
                      <a:r>
                        <a:rPr lang="es-BO" sz="950" b="0">
                          <a:solidFill>
                            <a:srgbClr val="FFFFFF"/>
                          </a:solidFill>
                          <a:latin typeface="Segoe UI Semibold" panose="020B0702040204020203" pitchFamily="34" charset="0"/>
                        </a:rPr>
                        <a:t>Cuándo se elige</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1C1813"/>
                    </a:solidFill>
                  </a:tcPr>
                </a:tc>
                <a:tc>
                  <a:txBody>
                    <a:bodyPr/>
                    <a:lstStyle/>
                    <a:p>
                      <a:pPr algn="ctr"/>
                      <a:r>
                        <a:rPr lang="es-BO" sz="950" b="0">
                          <a:solidFill>
                            <a:srgbClr val="FFFFFF"/>
                          </a:solidFill>
                          <a:latin typeface="Segoe UI Semibold" panose="020B0702040204020203" pitchFamily="34" charset="0"/>
                        </a:rPr>
                        <a:t>Lo crítico</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1C1813"/>
                    </a:solidFill>
                  </a:tcPr>
                </a:tc>
                <a:extLst>
                  <a:ext uri="{0D108BD9-81ED-4DB2-BD59-A6C34878D82A}">
                    <a16:rowId xmlns:a16="http://schemas.microsoft.com/office/drawing/2014/main" val="2393787027"/>
                  </a:ext>
                </a:extLst>
              </a:tr>
              <a:tr h="629920">
                <a:tc>
                  <a:txBody>
                    <a:bodyPr/>
                    <a:lstStyle/>
                    <a:p>
                      <a:pPr algn="ctr"/>
                      <a:r>
                        <a:rPr lang="es-BO" sz="1000" b="0">
                          <a:solidFill>
                            <a:srgbClr val="1C1813"/>
                          </a:solidFill>
                          <a:latin typeface="Segoe UI Semibold" panose="020B0702040204020203" pitchFamily="34" charset="0"/>
                        </a:rPr>
                        <a:t>Ensanche de la zapata</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MX" sz="1000" b="0">
                          <a:solidFill>
                            <a:srgbClr val="241F18"/>
                          </a:solidFill>
                          <a:latin typeface="Segoe UI" panose="020B0502040204020203" pitchFamily="34" charset="0"/>
                        </a:rPr>
                        <a:t>Aumenta el área de apoyo y el término de B</a:t>
                      </a:r>
                      <a:endParaRPr lang="es-BO" sz="10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MX" sz="1000" b="0">
                          <a:solidFill>
                            <a:srgbClr val="241F18"/>
                          </a:solidFill>
                          <a:latin typeface="Segoe UI" panose="020B0502040204020203" pitchFamily="34" charset="0"/>
                        </a:rPr>
                        <a:t>Hay espacio alrededor y el terreno sirve</a:t>
                      </a:r>
                      <a:endParaRPr lang="es-BO" sz="10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MX" sz="1000" b="0">
                          <a:solidFill>
                            <a:srgbClr val="241F18"/>
                          </a:solidFill>
                          <a:latin typeface="Segoe UI" panose="020B0502040204020203" pitchFamily="34" charset="0"/>
                        </a:rPr>
                        <a:t>La conexión con la zapata vieja: cortante-fricción</a:t>
                      </a:r>
                      <a:endParaRPr lang="es-BO" sz="10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extLst>
                  <a:ext uri="{0D108BD9-81ED-4DB2-BD59-A6C34878D82A}">
                    <a16:rowId xmlns:a16="http://schemas.microsoft.com/office/drawing/2014/main" val="1765821857"/>
                  </a:ext>
                </a:extLst>
              </a:tr>
              <a:tr h="629920">
                <a:tc>
                  <a:txBody>
                    <a:bodyPr/>
                    <a:lstStyle/>
                    <a:p>
                      <a:pPr algn="ctr"/>
                      <a:r>
                        <a:rPr lang="es-BO" sz="1000" b="0">
                          <a:solidFill>
                            <a:srgbClr val="1C1813"/>
                          </a:solidFill>
                          <a:latin typeface="Segoe UI Semibold" panose="020B0702040204020203" pitchFamily="34" charset="0"/>
                        </a:rPr>
                        <a:t>Profundización por bataches</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MX" sz="1000" b="0">
                          <a:solidFill>
                            <a:srgbClr val="241F18"/>
                          </a:solidFill>
                          <a:latin typeface="Segoe UI" panose="020B0502040204020203" pitchFamily="34" charset="0"/>
                        </a:rPr>
                        <a:t>Lleva el apoyo a un estrato mejor</a:t>
                      </a:r>
                      <a:endParaRPr lang="es-BO" sz="10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MX" sz="1000" b="0">
                          <a:solidFill>
                            <a:srgbClr val="241F18"/>
                          </a:solidFill>
                          <a:latin typeface="Segoe UI" panose="020B0502040204020203" pitchFamily="34" charset="0"/>
                        </a:rPr>
                        <a:t>El estrato bueno está a poca profundidad</a:t>
                      </a:r>
                      <a:endParaRPr lang="es-BO" sz="10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BO" sz="1000" b="0">
                          <a:solidFill>
                            <a:srgbClr val="241F18"/>
                          </a:solidFill>
                          <a:latin typeface="Segoe UI" panose="020B0502040204020203" pitchFamily="34" charset="0"/>
                        </a:rPr>
                        <a:t>Excavar por tramos alternos, nunca todo a la vez</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extLst>
                  <a:ext uri="{0D108BD9-81ED-4DB2-BD59-A6C34878D82A}">
                    <a16:rowId xmlns:a16="http://schemas.microsoft.com/office/drawing/2014/main" val="1742317669"/>
                  </a:ext>
                </a:extLst>
              </a:tr>
              <a:tr h="629920">
                <a:tc>
                  <a:txBody>
                    <a:bodyPr/>
                    <a:lstStyle/>
                    <a:p>
                      <a:pPr algn="ctr"/>
                      <a:r>
                        <a:rPr lang="es-BO" sz="1000" b="0">
                          <a:solidFill>
                            <a:srgbClr val="1C1813"/>
                          </a:solidFill>
                          <a:latin typeface="Segoe UI Semibold" panose="020B0702040204020203" pitchFamily="34" charset="0"/>
                        </a:rPr>
                        <a:t>Mejora del terreno</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BO" sz="1000" b="0">
                          <a:solidFill>
                            <a:srgbClr val="241F18"/>
                          </a:solidFill>
                          <a:latin typeface="Segoe UI" panose="020B0502040204020203" pitchFamily="34" charset="0"/>
                        </a:rPr>
                        <a:t>Inyección, jet grouting, columnas de grava</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MX" sz="1000" b="0">
                          <a:solidFill>
                            <a:srgbClr val="241F18"/>
                          </a:solidFill>
                          <a:latin typeface="Segoe UI" panose="020B0502040204020203" pitchFamily="34" charset="0"/>
                        </a:rPr>
                        <a:t>No hay acceso para excavar bajo la zapata</a:t>
                      </a:r>
                      <a:endParaRPr lang="es-BO" sz="10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MX" sz="1000" b="0">
                          <a:solidFill>
                            <a:srgbClr val="241F18"/>
                          </a:solidFill>
                          <a:latin typeface="Segoe UI" panose="020B0502040204020203" pitchFamily="34" charset="0"/>
                        </a:rPr>
                        <a:t>Control de la inyección: puede levantar la estructura</a:t>
                      </a:r>
                      <a:endParaRPr lang="es-BO" sz="10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extLst>
                  <a:ext uri="{0D108BD9-81ED-4DB2-BD59-A6C34878D82A}">
                    <a16:rowId xmlns:a16="http://schemas.microsoft.com/office/drawing/2014/main" val="22628889"/>
                  </a:ext>
                </a:extLst>
              </a:tr>
              <a:tr h="629920">
                <a:tc>
                  <a:txBody>
                    <a:bodyPr/>
                    <a:lstStyle/>
                    <a:p>
                      <a:pPr algn="ctr"/>
                      <a:r>
                        <a:rPr lang="es-BO" sz="1000" b="0">
                          <a:solidFill>
                            <a:srgbClr val="1C1813"/>
                          </a:solidFill>
                          <a:latin typeface="Segoe UI Semibold" panose="020B0702040204020203" pitchFamily="34" charset="0"/>
                        </a:rPr>
                        <a:t>Micropilotes</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MX" sz="1000" b="0">
                          <a:solidFill>
                            <a:srgbClr val="241F18"/>
                          </a:solidFill>
                          <a:latin typeface="Segoe UI" panose="020B0502040204020203" pitchFamily="34" charset="0"/>
                        </a:rPr>
                        <a:t>Transfiere la carga a un estrato profundo</a:t>
                      </a:r>
                      <a:endParaRPr lang="es-BO" sz="10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MX" sz="1000" b="0">
                          <a:solidFill>
                            <a:srgbClr val="241F18"/>
                          </a:solidFill>
                          <a:latin typeface="Segoe UI" panose="020B0502040204020203" pitchFamily="34" charset="0"/>
                        </a:rPr>
                        <a:t>Terreno malo en varios metros o nivel freático alto</a:t>
                      </a:r>
                      <a:endParaRPr lang="es-BO" sz="10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MX" sz="1000" b="0">
                          <a:solidFill>
                            <a:srgbClr val="241F18"/>
                          </a:solidFill>
                          <a:latin typeface="Segoe UI" panose="020B0502040204020203" pitchFamily="34" charset="0"/>
                        </a:rPr>
                        <a:t>El encepado que recoge la carga de la zapata existente</a:t>
                      </a:r>
                      <a:endParaRPr lang="es-BO" sz="10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extLst>
                  <a:ext uri="{0D108BD9-81ED-4DB2-BD59-A6C34878D82A}">
                    <a16:rowId xmlns:a16="http://schemas.microsoft.com/office/drawing/2014/main" val="4181255131"/>
                  </a:ext>
                </a:extLst>
              </a:tr>
            </a:tbl>
          </a:graphicData>
        </a:graphic>
      </p:graphicFrame>
      <p:pic>
        <p:nvPicPr>
          <p:cNvPr id="8" name="Imagen 7" descr="Las cuatro familias de recalce: ensanche, bataches alternos, mejora del terreno y micropilotes">
            <a:extLst>
              <a:ext uri="{FF2B5EF4-FFF2-40B4-BE49-F238E27FC236}">
                <a16:creationId xmlns:a16="http://schemas.microsoft.com/office/drawing/2014/main" id="{83C87CC3-A299-F763-CAD7-238CDBAB222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4775200"/>
            <a:ext cx="5334000" cy="1371600"/>
          </a:xfrm>
          <a:prstGeom prst="rect">
            <a:avLst/>
          </a:prstGeom>
        </p:spPr>
      </p:pic>
      <p:sp>
        <p:nvSpPr>
          <p:cNvPr id="9" name="Rectángulo 8">
            <a:extLst>
              <a:ext uri="{FF2B5EF4-FFF2-40B4-BE49-F238E27FC236}">
                <a16:creationId xmlns:a16="http://schemas.microsoft.com/office/drawing/2014/main" id="{0B1BABA4-D46F-4ABD-4909-EDCC2EC32C59}"/>
              </a:ext>
            </a:extLst>
          </p:cNvPr>
          <p:cNvSpPr/>
          <p:nvPr/>
        </p:nvSpPr>
        <p:spPr>
          <a:xfrm>
            <a:off x="6248400" y="4775200"/>
            <a:ext cx="5334000" cy="1371600"/>
          </a:xfrm>
          <a:prstGeom prst="rect">
            <a:avLst/>
          </a:prstGeom>
          <a:solidFill>
            <a:srgbClr val="241F1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1" name="CuadroTexto 10">
            <a:extLst>
              <a:ext uri="{FF2B5EF4-FFF2-40B4-BE49-F238E27FC236}">
                <a16:creationId xmlns:a16="http://schemas.microsoft.com/office/drawing/2014/main" id="{81D3CEC2-8E77-3280-E334-4DCE44E0E9B7}"/>
              </a:ext>
            </a:extLst>
          </p:cNvPr>
          <p:cNvSpPr txBox="1"/>
          <p:nvPr/>
        </p:nvSpPr>
        <p:spPr>
          <a:xfrm>
            <a:off x="6477000" y="4953000"/>
            <a:ext cx="4927600" cy="1066800"/>
          </a:xfrm>
          <a:prstGeom prst="rect">
            <a:avLst/>
          </a:prstGeom>
          <a:noFill/>
        </p:spPr>
        <p:txBody>
          <a:bodyPr vert="horz" wrap="square" lIns="0" tIns="0" rIns="0" bIns="0" rtlCol="0" anchor="t">
            <a:noAutofit/>
          </a:bodyPr>
          <a:lstStyle/>
          <a:p>
            <a:pPr algn="l"/>
            <a:r>
              <a:rPr lang="es-MX" sz="1150">
                <a:solidFill>
                  <a:srgbClr val="FFFFFF"/>
                </a:solidFill>
                <a:latin typeface="Segoe UI" panose="020B0502040204020203" pitchFamily="34" charset="0"/>
              </a:rPr>
              <a:t>La segunda familia tiene una regla que no se negocia: </a:t>
            </a:r>
            <a:r>
              <a:rPr lang="es-MX" sz="1150" b="1">
                <a:solidFill>
                  <a:srgbClr val="FFFFFF"/>
                </a:solidFill>
                <a:latin typeface="Segoe UI Semibold" panose="020B0702040204020203" pitchFamily="34" charset="0"/>
              </a:rPr>
              <a:t>por bataches alternos y nunca más de un tercio de la longitud a la vez</a:t>
            </a:r>
            <a:r>
              <a:rPr lang="es-MX" sz="1150">
                <a:solidFill>
                  <a:srgbClr val="FFFFFF"/>
                </a:solidFill>
                <a:latin typeface="Segoe UI" panose="020B0502040204020203" pitchFamily="34" charset="0"/>
              </a:rPr>
              <a:t>. Excavar bajo una zapata en continuo es provocar el asiento que se quería evitar.</a:t>
            </a:r>
            <a:endParaRPr lang="es-BO" sz="1150">
              <a:solidFill>
                <a:srgbClr val="FFFFFF"/>
              </a:solidFill>
              <a:latin typeface="Segoe UI" panose="020B0502040204020203" pitchFamily="34" charset="0"/>
            </a:endParaRPr>
          </a:p>
        </p:txBody>
      </p:sp>
      <p:sp>
        <p:nvSpPr>
          <p:cNvPr id="12" name="CuadroTexto 11">
            <a:extLst>
              <a:ext uri="{FF2B5EF4-FFF2-40B4-BE49-F238E27FC236}">
                <a16:creationId xmlns:a16="http://schemas.microsoft.com/office/drawing/2014/main" id="{0A3EF94A-9E53-163F-4C27-D2031241D1AA}"/>
              </a:ext>
            </a:extLst>
          </p:cNvPr>
          <p:cNvSpPr txBox="1"/>
          <p:nvPr/>
        </p:nvSpPr>
        <p:spPr>
          <a:xfrm>
            <a:off x="609600" y="6324600"/>
            <a:ext cx="10972800" cy="152400"/>
          </a:xfrm>
          <a:prstGeom prst="rect">
            <a:avLst/>
          </a:prstGeom>
          <a:noFill/>
        </p:spPr>
        <p:txBody>
          <a:bodyPr vert="horz" wrap="square" lIns="0" tIns="0" rIns="0" bIns="0" rtlCol="0" anchor="t">
            <a:noAutofit/>
          </a:bodyPr>
          <a:lstStyle/>
          <a:p>
            <a:pPr algn="l"/>
            <a:r>
              <a:rPr lang="es-MX" sz="700">
                <a:solidFill>
                  <a:srgbClr val="938A7C"/>
                </a:solidFill>
                <a:latin typeface="Segoe UI" panose="020B0502040204020203" pitchFamily="34" charset="0"/>
              </a:rPr>
              <a:t>Fuente: ACI 562 §7; práctica habitual de recalce; NB 1225001.</a:t>
            </a:r>
            <a:endParaRPr lang="es-BO" sz="700">
              <a:solidFill>
                <a:srgbClr val="938A7C"/>
              </a:solidFill>
              <a:latin typeface="Segoe UI" panose="020B0502040204020203" pitchFamily="34" charset="0"/>
            </a:endParaRPr>
          </a:p>
        </p:txBody>
      </p:sp>
      <p:cxnSp>
        <p:nvCxnSpPr>
          <p:cNvPr id="13" name="Conector recto 12">
            <a:extLst>
              <a:ext uri="{FF2B5EF4-FFF2-40B4-BE49-F238E27FC236}">
                <a16:creationId xmlns:a16="http://schemas.microsoft.com/office/drawing/2014/main" id="{C809D72E-C52D-A7D3-910D-A790E1AA8691}"/>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14" name="CuadroTexto 13">
            <a:extLst>
              <a:ext uri="{FF2B5EF4-FFF2-40B4-BE49-F238E27FC236}">
                <a16:creationId xmlns:a16="http://schemas.microsoft.com/office/drawing/2014/main" id="{70D398C1-7ED9-516E-F2F0-DFDC36EA2F83}"/>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15" name="CuadroTexto 14">
            <a:extLst>
              <a:ext uri="{FF2B5EF4-FFF2-40B4-BE49-F238E27FC236}">
                <a16:creationId xmlns:a16="http://schemas.microsoft.com/office/drawing/2014/main" id="{D48D6448-6C40-D669-968A-027C4AE2630C}"/>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16" name="PageNo">
            <a:extLst>
              <a:ext uri="{FF2B5EF4-FFF2-40B4-BE49-F238E27FC236}">
                <a16:creationId xmlns:a16="http://schemas.microsoft.com/office/drawing/2014/main" id="{69C5BA9A-5B97-90BB-EA7B-1A21E80B2A2D}"/>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16 / 38</a:t>
            </a:r>
          </a:p>
        </p:txBody>
      </p:sp>
    </p:spTree>
    <p:extLst>
      <p:ext uri="{BB962C8B-B14F-4D97-AF65-F5344CB8AC3E}">
        <p14:creationId xmlns:p14="http://schemas.microsoft.com/office/powerpoint/2010/main" val="11997913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549644DD-F705-EEC8-F721-CDCB31E80AF6}"/>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BO" sz="900" spc="180">
                <a:solidFill>
                  <a:srgbClr val="6A4F20"/>
                </a:solidFill>
                <a:latin typeface="Segoe UI Semibold" panose="020B0702040204020203" pitchFamily="34" charset="0"/>
              </a:rPr>
              <a:t>PARTE 3 · LA CONEXIÓN</a:t>
            </a:r>
          </a:p>
        </p:txBody>
      </p:sp>
      <p:sp>
        <p:nvSpPr>
          <p:cNvPr id="3" name="Title">
            <a:extLst>
              <a:ext uri="{FF2B5EF4-FFF2-40B4-BE49-F238E27FC236}">
                <a16:creationId xmlns:a16="http://schemas.microsoft.com/office/drawing/2014/main" id="{F412315D-0090-316E-E191-551F8808AD20}"/>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El ensanche solo trabaja si la carga consigue llegar hasta él</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3E53AE25-C4E9-BAB5-E7E8-24A82194326F}"/>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6" name="Rectángulo 5">
            <a:extLst>
              <a:ext uri="{FF2B5EF4-FFF2-40B4-BE49-F238E27FC236}">
                <a16:creationId xmlns:a16="http://schemas.microsoft.com/office/drawing/2014/main" id="{0683696F-ED88-6563-1128-E7715DC33365}"/>
              </a:ext>
            </a:extLst>
          </p:cNvPr>
          <p:cNvSpPr/>
          <p:nvPr/>
        </p:nvSpPr>
        <p:spPr>
          <a:xfrm>
            <a:off x="609600" y="1422400"/>
            <a:ext cx="10972800" cy="711200"/>
          </a:xfrm>
          <a:prstGeom prst="rect">
            <a:avLst/>
          </a:prstGeom>
          <a:solidFill>
            <a:srgbClr val="1C181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38100" rIns="101600" bIns="38100" rtlCol="0" anchor="ctr"/>
          <a:lstStyle/>
          <a:p>
            <a:pPr algn="ctr"/>
            <a:r>
              <a:rPr lang="es-MX" sz="1450">
                <a:solidFill>
                  <a:srgbClr val="FFFFFF"/>
                </a:solidFill>
                <a:latin typeface="Bahnschrift SemiBold" panose="020B0502040204020203" pitchFamily="34" charset="0"/>
              </a:rPr>
              <a:t>V_n  =  μ · A_vf · f_y          con  μ = 1,0 λ  para hormigón contra hormigón endurecido y rugoso</a:t>
            </a:r>
            <a:endParaRPr lang="es-BO" sz="1450">
              <a:solidFill>
                <a:srgbClr val="FFFFFF"/>
              </a:solidFill>
              <a:latin typeface="Bahnschrift SemiBold" panose="020B0502040204020203" pitchFamily="34" charset="0"/>
            </a:endParaRPr>
          </a:p>
        </p:txBody>
      </p:sp>
      <p:sp>
        <p:nvSpPr>
          <p:cNvPr id="7" name="Elipse 6">
            <a:extLst>
              <a:ext uri="{FF2B5EF4-FFF2-40B4-BE49-F238E27FC236}">
                <a16:creationId xmlns:a16="http://schemas.microsoft.com/office/drawing/2014/main" id="{CE0F1144-0826-22EF-64E3-CE4E12FF2603}"/>
              </a:ext>
            </a:extLst>
          </p:cNvPr>
          <p:cNvSpPr/>
          <p:nvPr/>
        </p:nvSpPr>
        <p:spPr>
          <a:xfrm>
            <a:off x="609600" y="2362200"/>
            <a:ext cx="355600" cy="3556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250">
                <a:solidFill>
                  <a:srgbClr val="1C1813"/>
                </a:solidFill>
                <a:latin typeface="Bahnschrift SemiBold" panose="020B0502040204020203" pitchFamily="34" charset="0"/>
              </a:rPr>
              <a:t>1</a:t>
            </a:r>
          </a:p>
        </p:txBody>
      </p:sp>
      <p:sp>
        <p:nvSpPr>
          <p:cNvPr id="8" name="CuadroTexto 7">
            <a:extLst>
              <a:ext uri="{FF2B5EF4-FFF2-40B4-BE49-F238E27FC236}">
                <a16:creationId xmlns:a16="http://schemas.microsoft.com/office/drawing/2014/main" id="{AB22CD39-A775-2D85-9BD2-91E7749BBF1D}"/>
              </a:ext>
            </a:extLst>
          </p:cNvPr>
          <p:cNvSpPr txBox="1"/>
          <p:nvPr/>
        </p:nvSpPr>
        <p:spPr>
          <a:xfrm>
            <a:off x="1143000" y="2374900"/>
            <a:ext cx="6096000" cy="228600"/>
          </a:xfrm>
          <a:prstGeom prst="rect">
            <a:avLst/>
          </a:prstGeom>
          <a:noFill/>
        </p:spPr>
        <p:txBody>
          <a:bodyPr vert="horz" wrap="square" lIns="0" tIns="0" rIns="0" bIns="0" rtlCol="0" anchor="t">
            <a:noAutofit/>
          </a:bodyPr>
          <a:lstStyle/>
          <a:p>
            <a:pPr algn="l"/>
            <a:r>
              <a:rPr lang="es-BO" sz="1350">
                <a:solidFill>
                  <a:srgbClr val="1C1813"/>
                </a:solidFill>
                <a:latin typeface="Bahnschrift SemiBold" panose="020B0502040204020203" pitchFamily="34" charset="0"/>
              </a:rPr>
              <a:t>La superficie</a:t>
            </a:r>
          </a:p>
        </p:txBody>
      </p:sp>
      <p:sp>
        <p:nvSpPr>
          <p:cNvPr id="9" name="CuadroTexto 8">
            <a:extLst>
              <a:ext uri="{FF2B5EF4-FFF2-40B4-BE49-F238E27FC236}">
                <a16:creationId xmlns:a16="http://schemas.microsoft.com/office/drawing/2014/main" id="{527C2006-46AF-B3AE-DF9F-113B7C1666B5}"/>
              </a:ext>
            </a:extLst>
          </p:cNvPr>
          <p:cNvSpPr txBox="1"/>
          <p:nvPr/>
        </p:nvSpPr>
        <p:spPr>
          <a:xfrm>
            <a:off x="1143000" y="2628900"/>
            <a:ext cx="7112000" cy="584200"/>
          </a:xfrm>
          <a:prstGeom prst="rect">
            <a:avLst/>
          </a:prstGeom>
          <a:noFill/>
        </p:spPr>
        <p:txBody>
          <a:bodyPr vert="horz" wrap="square" lIns="0" tIns="0" rIns="0" bIns="0" rtlCol="0" anchor="t">
            <a:noAutofit/>
          </a:bodyPr>
          <a:lstStyle/>
          <a:p>
            <a:pPr algn="l"/>
            <a:r>
              <a:rPr lang="es-MX" sz="1150">
                <a:solidFill>
                  <a:srgbClr val="5A5248"/>
                </a:solidFill>
                <a:latin typeface="Segoe UI" panose="020B0502040204020203" pitchFamily="34" charset="0"/>
              </a:rPr>
              <a:t>Intencionalmente rugosa, con amplitud del orden de 6 mm, limpia y sin lechada. Es la condición que permite usar μ = 1,0; si no se cumple, el coeficiente baja mucho.</a:t>
            </a:r>
            <a:endParaRPr lang="es-BO" sz="1150">
              <a:solidFill>
                <a:srgbClr val="5A5248"/>
              </a:solidFill>
              <a:latin typeface="Segoe UI" panose="020B0502040204020203" pitchFamily="34" charset="0"/>
            </a:endParaRPr>
          </a:p>
        </p:txBody>
      </p:sp>
      <p:sp>
        <p:nvSpPr>
          <p:cNvPr id="10" name="Elipse 9">
            <a:extLst>
              <a:ext uri="{FF2B5EF4-FFF2-40B4-BE49-F238E27FC236}">
                <a16:creationId xmlns:a16="http://schemas.microsoft.com/office/drawing/2014/main" id="{2679895C-1A46-4B93-FA1F-4F935997FB4F}"/>
              </a:ext>
            </a:extLst>
          </p:cNvPr>
          <p:cNvSpPr/>
          <p:nvPr/>
        </p:nvSpPr>
        <p:spPr>
          <a:xfrm>
            <a:off x="609600" y="3276600"/>
            <a:ext cx="355600" cy="3556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250">
                <a:solidFill>
                  <a:srgbClr val="1C1813"/>
                </a:solidFill>
                <a:latin typeface="Bahnschrift SemiBold" panose="020B0502040204020203" pitchFamily="34" charset="0"/>
              </a:rPr>
              <a:t>2</a:t>
            </a:r>
          </a:p>
        </p:txBody>
      </p:sp>
      <p:sp>
        <p:nvSpPr>
          <p:cNvPr id="11" name="CuadroTexto 10">
            <a:extLst>
              <a:ext uri="{FF2B5EF4-FFF2-40B4-BE49-F238E27FC236}">
                <a16:creationId xmlns:a16="http://schemas.microsoft.com/office/drawing/2014/main" id="{2E789A64-37AC-0878-7684-7DC11956E398}"/>
              </a:ext>
            </a:extLst>
          </p:cNvPr>
          <p:cNvSpPr txBox="1"/>
          <p:nvPr/>
        </p:nvSpPr>
        <p:spPr>
          <a:xfrm>
            <a:off x="1143000" y="3289300"/>
            <a:ext cx="6096000" cy="228600"/>
          </a:xfrm>
          <a:prstGeom prst="rect">
            <a:avLst/>
          </a:prstGeom>
          <a:noFill/>
        </p:spPr>
        <p:txBody>
          <a:bodyPr vert="horz" wrap="square" lIns="0" tIns="0" rIns="0" bIns="0" rtlCol="0" anchor="t">
            <a:noAutofit/>
          </a:bodyPr>
          <a:lstStyle/>
          <a:p>
            <a:pPr algn="l"/>
            <a:r>
              <a:rPr lang="es-BO" sz="1350">
                <a:solidFill>
                  <a:srgbClr val="1C1813"/>
                </a:solidFill>
                <a:latin typeface="Bahnschrift SemiBold" panose="020B0502040204020203" pitchFamily="34" charset="0"/>
              </a:rPr>
              <a:t>Los conectores</a:t>
            </a:r>
          </a:p>
        </p:txBody>
      </p:sp>
      <p:sp>
        <p:nvSpPr>
          <p:cNvPr id="12" name="CuadroTexto 11">
            <a:extLst>
              <a:ext uri="{FF2B5EF4-FFF2-40B4-BE49-F238E27FC236}">
                <a16:creationId xmlns:a16="http://schemas.microsoft.com/office/drawing/2014/main" id="{46DF4D66-B61B-D281-E4C6-62A205EDD72D}"/>
              </a:ext>
            </a:extLst>
          </p:cNvPr>
          <p:cNvSpPr txBox="1"/>
          <p:nvPr/>
        </p:nvSpPr>
        <p:spPr>
          <a:xfrm>
            <a:off x="1143000" y="3543300"/>
            <a:ext cx="7112000" cy="584200"/>
          </a:xfrm>
          <a:prstGeom prst="rect">
            <a:avLst/>
          </a:prstGeom>
          <a:noFill/>
        </p:spPr>
        <p:txBody>
          <a:bodyPr vert="horz" wrap="square" lIns="0" tIns="0" rIns="0" bIns="0" rtlCol="0" anchor="t">
            <a:noAutofit/>
          </a:bodyPr>
          <a:lstStyle/>
          <a:p>
            <a:pPr algn="l"/>
            <a:r>
              <a:rPr lang="es-MX" sz="1150">
                <a:solidFill>
                  <a:srgbClr val="5A5248"/>
                </a:solidFill>
                <a:latin typeface="Segoe UI" panose="020B0502040204020203" pitchFamily="34" charset="0"/>
              </a:rPr>
              <a:t>Barras ancladas con resina en la zapata vieja, repartidas en todo el perímetro, con la longitud de anclaje que exija la norma a cada lado de la junta.</a:t>
            </a:r>
            <a:endParaRPr lang="es-BO" sz="1150">
              <a:solidFill>
                <a:srgbClr val="5A5248"/>
              </a:solidFill>
              <a:latin typeface="Segoe UI" panose="020B0502040204020203" pitchFamily="34" charset="0"/>
            </a:endParaRPr>
          </a:p>
        </p:txBody>
      </p:sp>
      <p:sp>
        <p:nvSpPr>
          <p:cNvPr id="13" name="Elipse 12">
            <a:extLst>
              <a:ext uri="{FF2B5EF4-FFF2-40B4-BE49-F238E27FC236}">
                <a16:creationId xmlns:a16="http://schemas.microsoft.com/office/drawing/2014/main" id="{0F107219-2119-18BC-674F-D5F853A1026A}"/>
              </a:ext>
            </a:extLst>
          </p:cNvPr>
          <p:cNvSpPr/>
          <p:nvPr/>
        </p:nvSpPr>
        <p:spPr>
          <a:xfrm>
            <a:off x="609600" y="4191000"/>
            <a:ext cx="355600" cy="3556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250">
                <a:solidFill>
                  <a:srgbClr val="1C1813"/>
                </a:solidFill>
                <a:latin typeface="Bahnschrift SemiBold" panose="020B0502040204020203" pitchFamily="34" charset="0"/>
              </a:rPr>
              <a:t>3</a:t>
            </a:r>
          </a:p>
        </p:txBody>
      </p:sp>
      <p:sp>
        <p:nvSpPr>
          <p:cNvPr id="14" name="CuadroTexto 13">
            <a:extLst>
              <a:ext uri="{FF2B5EF4-FFF2-40B4-BE49-F238E27FC236}">
                <a16:creationId xmlns:a16="http://schemas.microsoft.com/office/drawing/2014/main" id="{ACA11E97-8C88-C014-1006-76156C5442AA}"/>
              </a:ext>
            </a:extLst>
          </p:cNvPr>
          <p:cNvSpPr txBox="1"/>
          <p:nvPr/>
        </p:nvSpPr>
        <p:spPr>
          <a:xfrm>
            <a:off x="1143000" y="4203700"/>
            <a:ext cx="6096000" cy="228600"/>
          </a:xfrm>
          <a:prstGeom prst="rect">
            <a:avLst/>
          </a:prstGeom>
          <a:noFill/>
        </p:spPr>
        <p:txBody>
          <a:bodyPr vert="horz" wrap="square" lIns="0" tIns="0" rIns="0" bIns="0" rtlCol="0" anchor="t">
            <a:noAutofit/>
          </a:bodyPr>
          <a:lstStyle/>
          <a:p>
            <a:pPr algn="l"/>
            <a:r>
              <a:rPr lang="es-BO" sz="1350">
                <a:solidFill>
                  <a:srgbClr val="1C1813"/>
                </a:solidFill>
                <a:latin typeface="Bahnschrift SemiBold" panose="020B0502040204020203" pitchFamily="34" charset="0"/>
              </a:rPr>
              <a:t>Cuánta carga pasa</a:t>
            </a:r>
          </a:p>
        </p:txBody>
      </p:sp>
      <p:sp>
        <p:nvSpPr>
          <p:cNvPr id="15" name="CuadroTexto 14">
            <a:extLst>
              <a:ext uri="{FF2B5EF4-FFF2-40B4-BE49-F238E27FC236}">
                <a16:creationId xmlns:a16="http://schemas.microsoft.com/office/drawing/2014/main" id="{17AE4C9D-7AEB-D0E6-1FA4-27A03AD5DCBF}"/>
              </a:ext>
            </a:extLst>
          </p:cNvPr>
          <p:cNvSpPr txBox="1"/>
          <p:nvPr/>
        </p:nvSpPr>
        <p:spPr>
          <a:xfrm>
            <a:off x="1143000" y="4457700"/>
            <a:ext cx="7112000" cy="584200"/>
          </a:xfrm>
          <a:prstGeom prst="rect">
            <a:avLst/>
          </a:prstGeom>
          <a:noFill/>
        </p:spPr>
        <p:txBody>
          <a:bodyPr vert="horz" wrap="square" lIns="0" tIns="0" rIns="0" bIns="0" rtlCol="0" anchor="t">
            <a:noAutofit/>
          </a:bodyPr>
          <a:lstStyle/>
          <a:p>
            <a:pPr algn="l"/>
            <a:r>
              <a:rPr lang="es-MX" sz="1150">
                <a:solidFill>
                  <a:srgbClr val="5A5248"/>
                </a:solidFill>
                <a:latin typeface="Segoe UI" panose="020B0502040204020203" pitchFamily="34" charset="0"/>
              </a:rPr>
              <a:t>La proporción de área que aporta el ensanche. Si el ensanche añade el 48 % del área nueva, por la junta tiene que pasar el 48 % de la carga mayorada.</a:t>
            </a:r>
            <a:endParaRPr lang="es-BO" sz="1150">
              <a:solidFill>
                <a:srgbClr val="5A5248"/>
              </a:solidFill>
              <a:latin typeface="Segoe UI" panose="020B0502040204020203" pitchFamily="34" charset="0"/>
            </a:endParaRPr>
          </a:p>
        </p:txBody>
      </p:sp>
      <p:sp>
        <p:nvSpPr>
          <p:cNvPr id="16" name="Elipse 15">
            <a:extLst>
              <a:ext uri="{FF2B5EF4-FFF2-40B4-BE49-F238E27FC236}">
                <a16:creationId xmlns:a16="http://schemas.microsoft.com/office/drawing/2014/main" id="{5E2118F1-DF1E-CA2D-201B-6BC1CFACF7C9}"/>
              </a:ext>
            </a:extLst>
          </p:cNvPr>
          <p:cNvSpPr/>
          <p:nvPr/>
        </p:nvSpPr>
        <p:spPr>
          <a:xfrm>
            <a:off x="609600" y="5105400"/>
            <a:ext cx="355600" cy="3556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250">
                <a:solidFill>
                  <a:srgbClr val="1C1813"/>
                </a:solidFill>
                <a:latin typeface="Bahnschrift SemiBold" panose="020B0502040204020203" pitchFamily="34" charset="0"/>
              </a:rPr>
              <a:t>4</a:t>
            </a:r>
          </a:p>
        </p:txBody>
      </p:sp>
      <p:sp>
        <p:nvSpPr>
          <p:cNvPr id="17" name="CuadroTexto 16">
            <a:extLst>
              <a:ext uri="{FF2B5EF4-FFF2-40B4-BE49-F238E27FC236}">
                <a16:creationId xmlns:a16="http://schemas.microsoft.com/office/drawing/2014/main" id="{377FA1FD-A04F-8E77-477C-33DB0B3322E6}"/>
              </a:ext>
            </a:extLst>
          </p:cNvPr>
          <p:cNvSpPr txBox="1"/>
          <p:nvPr/>
        </p:nvSpPr>
        <p:spPr>
          <a:xfrm>
            <a:off x="1143000" y="5118100"/>
            <a:ext cx="6096000" cy="228600"/>
          </a:xfrm>
          <a:prstGeom prst="rect">
            <a:avLst/>
          </a:prstGeom>
          <a:noFill/>
        </p:spPr>
        <p:txBody>
          <a:bodyPr vert="horz" wrap="square" lIns="0" tIns="0" rIns="0" bIns="0" rtlCol="0" anchor="t">
            <a:noAutofit/>
          </a:bodyPr>
          <a:lstStyle/>
          <a:p>
            <a:pPr algn="l"/>
            <a:r>
              <a:rPr lang="es-BO" sz="1350">
                <a:solidFill>
                  <a:srgbClr val="1C1813"/>
                </a:solidFill>
                <a:latin typeface="Bahnschrift SemiBold" panose="020B0502040204020203" pitchFamily="34" charset="0"/>
              </a:rPr>
              <a:t>Qué se comprueba</a:t>
            </a:r>
          </a:p>
        </p:txBody>
      </p:sp>
      <p:sp>
        <p:nvSpPr>
          <p:cNvPr id="18" name="CuadroTexto 17">
            <a:extLst>
              <a:ext uri="{FF2B5EF4-FFF2-40B4-BE49-F238E27FC236}">
                <a16:creationId xmlns:a16="http://schemas.microsoft.com/office/drawing/2014/main" id="{AB8A58EB-1C7C-234A-39FE-30D1055E23D6}"/>
              </a:ext>
            </a:extLst>
          </p:cNvPr>
          <p:cNvSpPr txBox="1"/>
          <p:nvPr/>
        </p:nvSpPr>
        <p:spPr>
          <a:xfrm>
            <a:off x="1143000" y="5372100"/>
            <a:ext cx="7112000" cy="584200"/>
          </a:xfrm>
          <a:prstGeom prst="rect">
            <a:avLst/>
          </a:prstGeom>
          <a:noFill/>
        </p:spPr>
        <p:txBody>
          <a:bodyPr vert="horz" wrap="square" lIns="0" tIns="0" rIns="0" bIns="0" rtlCol="0" anchor="t">
            <a:noAutofit/>
          </a:bodyPr>
          <a:lstStyle/>
          <a:p>
            <a:pPr algn="l"/>
            <a:r>
              <a:rPr lang="es-MX" sz="1150">
                <a:solidFill>
                  <a:srgbClr val="5A5248"/>
                </a:solidFill>
                <a:latin typeface="Segoe UI" panose="020B0502040204020203" pitchFamily="34" charset="0"/>
              </a:rPr>
              <a:t>A_vf ≥ V_u / (φ · μ · f_y), con φ = 0,75. Y después, que las barras quepan en el perímetro con una separación razonable.</a:t>
            </a:r>
            <a:endParaRPr lang="es-BO" sz="1150">
              <a:solidFill>
                <a:srgbClr val="5A5248"/>
              </a:solidFill>
              <a:latin typeface="Segoe UI" panose="020B0502040204020203" pitchFamily="34" charset="0"/>
            </a:endParaRPr>
          </a:p>
        </p:txBody>
      </p:sp>
      <p:pic>
        <p:nvPicPr>
          <p:cNvPr id="20" name="Imagen 19" descr="Corte de la junta entre zapata vieja y ensanche, con interfaz rugosa y barras ancladas con resina">
            <a:extLst>
              <a:ext uri="{FF2B5EF4-FFF2-40B4-BE49-F238E27FC236}">
                <a16:creationId xmlns:a16="http://schemas.microsoft.com/office/drawing/2014/main" id="{4E0456CE-FEDF-778E-938A-24F7E8376F7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483600" y="2362200"/>
            <a:ext cx="3098800" cy="3225800"/>
          </a:xfrm>
          <a:prstGeom prst="rect">
            <a:avLst/>
          </a:prstGeom>
        </p:spPr>
      </p:pic>
      <p:sp>
        <p:nvSpPr>
          <p:cNvPr id="21" name="Rectángulo 20">
            <a:extLst>
              <a:ext uri="{FF2B5EF4-FFF2-40B4-BE49-F238E27FC236}">
                <a16:creationId xmlns:a16="http://schemas.microsoft.com/office/drawing/2014/main" id="{456DC3AB-6ABC-13CF-7196-664E78737AF2}"/>
              </a:ext>
            </a:extLst>
          </p:cNvPr>
          <p:cNvSpPr/>
          <p:nvPr/>
        </p:nvSpPr>
        <p:spPr>
          <a:xfrm>
            <a:off x="609600" y="6019800"/>
            <a:ext cx="10972800" cy="330200"/>
          </a:xfrm>
          <a:prstGeom prst="rect">
            <a:avLst/>
          </a:prstGeom>
          <a:solidFill>
            <a:srgbClr val="241F1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3" name="CuadroTexto 22">
            <a:extLst>
              <a:ext uri="{FF2B5EF4-FFF2-40B4-BE49-F238E27FC236}">
                <a16:creationId xmlns:a16="http://schemas.microsoft.com/office/drawing/2014/main" id="{0E66B532-CCF3-DCD4-7E39-E4392B8DF9AB}"/>
              </a:ext>
            </a:extLst>
          </p:cNvPr>
          <p:cNvSpPr txBox="1"/>
          <p:nvPr/>
        </p:nvSpPr>
        <p:spPr>
          <a:xfrm>
            <a:off x="838200" y="6070600"/>
            <a:ext cx="10566400" cy="228600"/>
          </a:xfrm>
          <a:prstGeom prst="rect">
            <a:avLst/>
          </a:prstGeom>
          <a:noFill/>
        </p:spPr>
        <p:txBody>
          <a:bodyPr vert="horz" wrap="square" lIns="0" tIns="0" rIns="0" bIns="0" rtlCol="0" anchor="ctr">
            <a:noAutofit/>
          </a:bodyPr>
          <a:lstStyle/>
          <a:p>
            <a:pPr algn="l"/>
            <a:r>
              <a:rPr lang="es-MX" sz="1150">
                <a:solidFill>
                  <a:srgbClr val="FFFFFF"/>
                </a:solidFill>
                <a:latin typeface="Segoe UI" panose="020B0502040204020203" pitchFamily="34" charset="0"/>
              </a:rPr>
              <a:t>Sin conexión comprobada, un ensanche es hormigón decorativo alrededor de la zapata vieja.</a:t>
            </a:r>
            <a:endParaRPr lang="es-BO" sz="1150">
              <a:solidFill>
                <a:srgbClr val="FFFFFF"/>
              </a:solidFill>
              <a:latin typeface="Segoe UI" panose="020B0502040204020203" pitchFamily="34" charset="0"/>
            </a:endParaRPr>
          </a:p>
        </p:txBody>
      </p:sp>
      <p:sp>
        <p:nvSpPr>
          <p:cNvPr id="24" name="CuadroTexto 23">
            <a:extLst>
              <a:ext uri="{FF2B5EF4-FFF2-40B4-BE49-F238E27FC236}">
                <a16:creationId xmlns:a16="http://schemas.microsoft.com/office/drawing/2014/main" id="{DE218E18-AC35-42F3-A223-120A95665D99}"/>
              </a:ext>
            </a:extLst>
          </p:cNvPr>
          <p:cNvSpPr txBox="1"/>
          <p:nvPr/>
        </p:nvSpPr>
        <p:spPr>
          <a:xfrm>
            <a:off x="609600" y="6324600"/>
            <a:ext cx="10972800" cy="152400"/>
          </a:xfrm>
          <a:prstGeom prst="rect">
            <a:avLst/>
          </a:prstGeom>
          <a:noFill/>
        </p:spPr>
        <p:txBody>
          <a:bodyPr vert="horz" wrap="square" lIns="0" tIns="0" rIns="0" bIns="0" rtlCol="0" anchor="t">
            <a:noAutofit/>
          </a:bodyPr>
          <a:lstStyle/>
          <a:p>
            <a:pPr algn="l"/>
            <a:r>
              <a:rPr lang="es-MX" sz="700">
                <a:solidFill>
                  <a:srgbClr val="938A7C"/>
                </a:solidFill>
                <a:latin typeface="Segoe UI" panose="020B0502040204020203" pitchFamily="34" charset="0"/>
              </a:rPr>
              <a:t>Fuente: ACI 318-19 §22.9, cortante por fricción.</a:t>
            </a:r>
            <a:endParaRPr lang="es-BO" sz="700">
              <a:solidFill>
                <a:srgbClr val="938A7C"/>
              </a:solidFill>
              <a:latin typeface="Segoe UI" panose="020B0502040204020203" pitchFamily="34" charset="0"/>
            </a:endParaRPr>
          </a:p>
        </p:txBody>
      </p:sp>
      <p:cxnSp>
        <p:nvCxnSpPr>
          <p:cNvPr id="25" name="Conector recto 24">
            <a:extLst>
              <a:ext uri="{FF2B5EF4-FFF2-40B4-BE49-F238E27FC236}">
                <a16:creationId xmlns:a16="http://schemas.microsoft.com/office/drawing/2014/main" id="{74A4D270-FBD1-8633-BD2B-D0A3A11EAD70}"/>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26" name="CuadroTexto 25">
            <a:extLst>
              <a:ext uri="{FF2B5EF4-FFF2-40B4-BE49-F238E27FC236}">
                <a16:creationId xmlns:a16="http://schemas.microsoft.com/office/drawing/2014/main" id="{7442EB09-2C25-D731-0E10-238864AB65D7}"/>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27" name="CuadroTexto 26">
            <a:extLst>
              <a:ext uri="{FF2B5EF4-FFF2-40B4-BE49-F238E27FC236}">
                <a16:creationId xmlns:a16="http://schemas.microsoft.com/office/drawing/2014/main" id="{2FC8EC63-7C05-F492-FB09-BB825B8911DA}"/>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28" name="PageNo">
            <a:extLst>
              <a:ext uri="{FF2B5EF4-FFF2-40B4-BE49-F238E27FC236}">
                <a16:creationId xmlns:a16="http://schemas.microsoft.com/office/drawing/2014/main" id="{83884631-BCC9-58F0-DFB9-925C7BAA05BA}"/>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17 / 38</a:t>
            </a:r>
          </a:p>
        </p:txBody>
      </p:sp>
    </p:spTree>
    <p:extLst>
      <p:ext uri="{BB962C8B-B14F-4D97-AF65-F5344CB8AC3E}">
        <p14:creationId xmlns:p14="http://schemas.microsoft.com/office/powerpoint/2010/main" val="799345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0DE634F3-8FDF-A13A-AFAE-D437463E251A}"/>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MX" sz="900" spc="180">
                <a:solidFill>
                  <a:srgbClr val="6A4F20"/>
                </a:solidFill>
                <a:latin typeface="Segoe UI Semibold" panose="020B0702040204020203" pitchFamily="34" charset="0"/>
              </a:rPr>
              <a:t>PARTE 3 · EL RECALCE EN OBRA</a:t>
            </a:r>
            <a:endParaRPr lang="es-BO" sz="900" spc="180">
              <a:solidFill>
                <a:srgbClr val="6A4F20"/>
              </a:solidFill>
              <a:latin typeface="Segoe UI Semibold" panose="020B0702040204020203" pitchFamily="34" charset="0"/>
            </a:endParaRPr>
          </a:p>
        </p:txBody>
      </p:sp>
      <p:sp>
        <p:nvSpPr>
          <p:cNvPr id="3" name="Title">
            <a:extLst>
              <a:ext uri="{FF2B5EF4-FFF2-40B4-BE49-F238E27FC236}">
                <a16:creationId xmlns:a16="http://schemas.microsoft.com/office/drawing/2014/main" id="{8EC912B4-ECE9-28C0-84D6-BAD5562ED497}"/>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Tres momentos de un tajo que se ejecuta con la estructura en pie</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D20B6896-E7A4-D323-7384-56326FDBDCB4}"/>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pic>
        <p:nvPicPr>
          <p:cNvPr id="7" name="Imagen 6">
            <a:extLst>
              <a:ext uri="{FF2B5EF4-FFF2-40B4-BE49-F238E27FC236}">
                <a16:creationId xmlns:a16="http://schemas.microsoft.com/office/drawing/2014/main" id="{DC55EFB3-072D-A930-FDF7-0C8F782577F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524000"/>
            <a:ext cx="3454400" cy="2336800"/>
          </a:xfrm>
          <a:prstGeom prst="rect">
            <a:avLst/>
          </a:prstGeom>
        </p:spPr>
      </p:pic>
      <p:sp>
        <p:nvSpPr>
          <p:cNvPr id="8" name="CuadroTexto 7">
            <a:extLst>
              <a:ext uri="{FF2B5EF4-FFF2-40B4-BE49-F238E27FC236}">
                <a16:creationId xmlns:a16="http://schemas.microsoft.com/office/drawing/2014/main" id="{EE955664-9451-F6E2-E441-C9CC812953F0}"/>
              </a:ext>
            </a:extLst>
          </p:cNvPr>
          <p:cNvSpPr txBox="1"/>
          <p:nvPr/>
        </p:nvSpPr>
        <p:spPr>
          <a:xfrm>
            <a:off x="609600" y="3987800"/>
            <a:ext cx="3454400" cy="279400"/>
          </a:xfrm>
          <a:prstGeom prst="rect">
            <a:avLst/>
          </a:prstGeom>
          <a:noFill/>
        </p:spPr>
        <p:txBody>
          <a:bodyPr vert="horz" wrap="square" lIns="0" tIns="0" rIns="0" bIns="0" rtlCol="0" anchor="t">
            <a:noAutofit/>
          </a:bodyPr>
          <a:lstStyle/>
          <a:p>
            <a:pPr algn="l"/>
            <a:r>
              <a:rPr lang="es-BO" sz="1350">
                <a:solidFill>
                  <a:srgbClr val="1C1813"/>
                </a:solidFill>
                <a:latin typeface="Bahnschrift SemiBold" panose="020B0502040204020203" pitchFamily="34" charset="0"/>
              </a:rPr>
              <a:t>El apeo</a:t>
            </a:r>
          </a:p>
        </p:txBody>
      </p:sp>
      <p:sp>
        <p:nvSpPr>
          <p:cNvPr id="9" name="CuadroTexto 8">
            <a:extLst>
              <a:ext uri="{FF2B5EF4-FFF2-40B4-BE49-F238E27FC236}">
                <a16:creationId xmlns:a16="http://schemas.microsoft.com/office/drawing/2014/main" id="{45F68271-A04A-16DE-4926-86DED29B0374}"/>
              </a:ext>
            </a:extLst>
          </p:cNvPr>
          <p:cNvSpPr txBox="1"/>
          <p:nvPr/>
        </p:nvSpPr>
        <p:spPr>
          <a:xfrm>
            <a:off x="609600" y="4292600"/>
            <a:ext cx="3454400" cy="965200"/>
          </a:xfrm>
          <a:prstGeom prst="rect">
            <a:avLst/>
          </a:prstGeom>
          <a:noFill/>
        </p:spPr>
        <p:txBody>
          <a:bodyPr vert="horz" wrap="square" lIns="0" tIns="0" rIns="0" bIns="0" rtlCol="0" anchor="t">
            <a:noAutofit/>
          </a:bodyPr>
          <a:lstStyle/>
          <a:p>
            <a:pPr algn="l"/>
            <a:r>
              <a:rPr lang="es-MX" sz="1150">
                <a:solidFill>
                  <a:srgbClr val="5A5248"/>
                </a:solidFill>
                <a:latin typeface="Segoe UI" panose="020B0502040204020203" pitchFamily="34" charset="0"/>
              </a:rPr>
              <a:t>Antes de tocar nada. Lo que no se apea trabaja mientras se excava debajo, y eso es exactamente lo que no debe pasar.</a:t>
            </a:r>
            <a:endParaRPr lang="es-BO" sz="1150">
              <a:solidFill>
                <a:srgbClr val="5A5248"/>
              </a:solidFill>
              <a:latin typeface="Segoe UI" panose="020B0502040204020203" pitchFamily="34" charset="0"/>
            </a:endParaRPr>
          </a:p>
        </p:txBody>
      </p:sp>
      <p:pic>
        <p:nvPicPr>
          <p:cNvPr id="11" name="Imagen 10">
            <a:extLst>
              <a:ext uri="{FF2B5EF4-FFF2-40B4-BE49-F238E27FC236}">
                <a16:creationId xmlns:a16="http://schemas.microsoft.com/office/drawing/2014/main" id="{865A35E8-52D6-422E-0140-06E99B5054D9}"/>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368800" y="1524000"/>
            <a:ext cx="3454400" cy="2336800"/>
          </a:xfrm>
          <a:prstGeom prst="rect">
            <a:avLst/>
          </a:prstGeom>
        </p:spPr>
      </p:pic>
      <p:sp>
        <p:nvSpPr>
          <p:cNvPr id="12" name="CuadroTexto 11">
            <a:extLst>
              <a:ext uri="{FF2B5EF4-FFF2-40B4-BE49-F238E27FC236}">
                <a16:creationId xmlns:a16="http://schemas.microsoft.com/office/drawing/2014/main" id="{099E3A2E-EA5F-D113-1A54-F69D277E45D7}"/>
              </a:ext>
            </a:extLst>
          </p:cNvPr>
          <p:cNvSpPr txBox="1"/>
          <p:nvPr/>
        </p:nvSpPr>
        <p:spPr>
          <a:xfrm>
            <a:off x="4368800" y="3987800"/>
            <a:ext cx="3454400" cy="279400"/>
          </a:xfrm>
          <a:prstGeom prst="rect">
            <a:avLst/>
          </a:prstGeom>
          <a:noFill/>
        </p:spPr>
        <p:txBody>
          <a:bodyPr vert="horz" wrap="square" lIns="0" tIns="0" rIns="0" bIns="0" rtlCol="0" anchor="t">
            <a:noAutofit/>
          </a:bodyPr>
          <a:lstStyle/>
          <a:p>
            <a:pPr algn="l"/>
            <a:r>
              <a:rPr lang="es-BO" sz="1350">
                <a:solidFill>
                  <a:srgbClr val="1C1813"/>
                </a:solidFill>
                <a:latin typeface="Bahnschrift SemiBold" panose="020B0502040204020203" pitchFamily="34" charset="0"/>
              </a:rPr>
              <a:t>La armadura del ensanche</a:t>
            </a:r>
          </a:p>
        </p:txBody>
      </p:sp>
      <p:sp>
        <p:nvSpPr>
          <p:cNvPr id="13" name="CuadroTexto 12">
            <a:extLst>
              <a:ext uri="{FF2B5EF4-FFF2-40B4-BE49-F238E27FC236}">
                <a16:creationId xmlns:a16="http://schemas.microsoft.com/office/drawing/2014/main" id="{2AE8643E-0C3D-1E83-3B3D-6BD9A5B4DE25}"/>
              </a:ext>
            </a:extLst>
          </p:cNvPr>
          <p:cNvSpPr txBox="1"/>
          <p:nvPr/>
        </p:nvSpPr>
        <p:spPr>
          <a:xfrm>
            <a:off x="4368800" y="4292600"/>
            <a:ext cx="3454400" cy="965200"/>
          </a:xfrm>
          <a:prstGeom prst="rect">
            <a:avLst/>
          </a:prstGeom>
          <a:noFill/>
        </p:spPr>
        <p:txBody>
          <a:bodyPr vert="horz" wrap="square" lIns="0" tIns="0" rIns="0" bIns="0" rtlCol="0" anchor="t">
            <a:noAutofit/>
          </a:bodyPr>
          <a:lstStyle/>
          <a:p>
            <a:pPr algn="l"/>
            <a:r>
              <a:rPr lang="es-MX" sz="1150">
                <a:solidFill>
                  <a:srgbClr val="5A5248"/>
                </a:solidFill>
                <a:latin typeface="Segoe UI" panose="020B0502040204020203" pitchFamily="34" charset="0"/>
              </a:rPr>
              <a:t>Conectada a la zapata vieja con barras ancladas y solapada según la norma vigente, no la de 1998.</a:t>
            </a:r>
            <a:endParaRPr lang="es-BO" sz="1150">
              <a:solidFill>
                <a:srgbClr val="5A5248"/>
              </a:solidFill>
              <a:latin typeface="Segoe UI" panose="020B0502040204020203" pitchFamily="34" charset="0"/>
            </a:endParaRPr>
          </a:p>
        </p:txBody>
      </p:sp>
      <p:pic>
        <p:nvPicPr>
          <p:cNvPr id="15" name="Imagen 14" descr="Hormigonado del ensanche con vibrado que llega bajo la zapata existente">
            <a:extLst>
              <a:ext uri="{FF2B5EF4-FFF2-40B4-BE49-F238E27FC236}">
                <a16:creationId xmlns:a16="http://schemas.microsoft.com/office/drawing/2014/main" id="{A567B64F-F1FA-31A2-C78A-26C5A3B88315}"/>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8128000" y="1524000"/>
            <a:ext cx="3454400" cy="2336800"/>
          </a:xfrm>
          <a:prstGeom prst="rect">
            <a:avLst/>
          </a:prstGeom>
        </p:spPr>
      </p:pic>
      <p:sp>
        <p:nvSpPr>
          <p:cNvPr id="16" name="CuadroTexto 15">
            <a:extLst>
              <a:ext uri="{FF2B5EF4-FFF2-40B4-BE49-F238E27FC236}">
                <a16:creationId xmlns:a16="http://schemas.microsoft.com/office/drawing/2014/main" id="{6091B704-F2DD-84FB-3BF6-C6D9A44BBFAE}"/>
              </a:ext>
            </a:extLst>
          </p:cNvPr>
          <p:cNvSpPr txBox="1"/>
          <p:nvPr/>
        </p:nvSpPr>
        <p:spPr>
          <a:xfrm>
            <a:off x="8128000" y="3987800"/>
            <a:ext cx="3454400" cy="279400"/>
          </a:xfrm>
          <a:prstGeom prst="rect">
            <a:avLst/>
          </a:prstGeom>
          <a:noFill/>
        </p:spPr>
        <p:txBody>
          <a:bodyPr vert="horz" wrap="square" lIns="0" tIns="0" rIns="0" bIns="0" rtlCol="0" anchor="t">
            <a:noAutofit/>
          </a:bodyPr>
          <a:lstStyle/>
          <a:p>
            <a:pPr algn="l"/>
            <a:r>
              <a:rPr lang="es-BO" sz="1350">
                <a:solidFill>
                  <a:srgbClr val="1C1813"/>
                </a:solidFill>
                <a:latin typeface="Bahnschrift SemiBold" panose="020B0502040204020203" pitchFamily="34" charset="0"/>
              </a:rPr>
              <a:t>El hormigonado</a:t>
            </a:r>
          </a:p>
        </p:txBody>
      </p:sp>
      <p:sp>
        <p:nvSpPr>
          <p:cNvPr id="17" name="CuadroTexto 16">
            <a:extLst>
              <a:ext uri="{FF2B5EF4-FFF2-40B4-BE49-F238E27FC236}">
                <a16:creationId xmlns:a16="http://schemas.microsoft.com/office/drawing/2014/main" id="{DE4D6FDA-C69F-6F10-D6D7-6F73BC9FF158}"/>
              </a:ext>
            </a:extLst>
          </p:cNvPr>
          <p:cNvSpPr txBox="1"/>
          <p:nvPr/>
        </p:nvSpPr>
        <p:spPr>
          <a:xfrm>
            <a:off x="8128000" y="4292600"/>
            <a:ext cx="3454400" cy="965200"/>
          </a:xfrm>
          <a:prstGeom prst="rect">
            <a:avLst/>
          </a:prstGeom>
          <a:noFill/>
        </p:spPr>
        <p:txBody>
          <a:bodyPr vert="horz" wrap="square" lIns="0" tIns="0" rIns="0" bIns="0" rtlCol="0" anchor="t">
            <a:noAutofit/>
          </a:bodyPr>
          <a:lstStyle/>
          <a:p>
            <a:pPr algn="l"/>
            <a:r>
              <a:rPr lang="es-MX" sz="1150">
                <a:solidFill>
                  <a:srgbClr val="5A5248"/>
                </a:solidFill>
                <a:latin typeface="Segoe UI" panose="020B0502040204020203" pitchFamily="34" charset="0"/>
              </a:rPr>
              <a:t>Con retracción compensada y vibrado que llegue bajo la zapata existente. Un hueco bajo el ensanche lo anula.</a:t>
            </a:r>
            <a:endParaRPr lang="es-BO" sz="1150">
              <a:solidFill>
                <a:srgbClr val="5A5248"/>
              </a:solidFill>
              <a:latin typeface="Segoe UI" panose="020B0502040204020203" pitchFamily="34" charset="0"/>
            </a:endParaRPr>
          </a:p>
        </p:txBody>
      </p:sp>
      <p:sp>
        <p:nvSpPr>
          <p:cNvPr id="18" name="Rectángulo 17">
            <a:extLst>
              <a:ext uri="{FF2B5EF4-FFF2-40B4-BE49-F238E27FC236}">
                <a16:creationId xmlns:a16="http://schemas.microsoft.com/office/drawing/2014/main" id="{3ACA7BBF-8640-145F-C74E-3E2611217835}"/>
              </a:ext>
            </a:extLst>
          </p:cNvPr>
          <p:cNvSpPr/>
          <p:nvPr/>
        </p:nvSpPr>
        <p:spPr>
          <a:xfrm>
            <a:off x="609600" y="5410200"/>
            <a:ext cx="10972800" cy="660400"/>
          </a:xfrm>
          <a:prstGeom prst="rect">
            <a:avLst/>
          </a:prstGeom>
          <a:solidFill>
            <a:srgbClr val="241F1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0" name="CuadroTexto 19">
            <a:extLst>
              <a:ext uri="{FF2B5EF4-FFF2-40B4-BE49-F238E27FC236}">
                <a16:creationId xmlns:a16="http://schemas.microsoft.com/office/drawing/2014/main" id="{34CEEFB3-11F9-A46F-7E92-35D578CE48F7}"/>
              </a:ext>
            </a:extLst>
          </p:cNvPr>
          <p:cNvSpPr txBox="1"/>
          <p:nvPr/>
        </p:nvSpPr>
        <p:spPr>
          <a:xfrm>
            <a:off x="838200" y="5461000"/>
            <a:ext cx="10566400" cy="558800"/>
          </a:xfrm>
          <a:prstGeom prst="rect">
            <a:avLst/>
          </a:prstGeom>
          <a:noFill/>
        </p:spPr>
        <p:txBody>
          <a:bodyPr vert="horz" wrap="square" lIns="0" tIns="0" rIns="0" bIns="0" rtlCol="0" anchor="ctr">
            <a:noAutofit/>
          </a:bodyPr>
          <a:lstStyle/>
          <a:p>
            <a:pPr algn="l"/>
            <a:r>
              <a:rPr lang="es-MX" sz="1200">
                <a:solidFill>
                  <a:srgbClr val="FFFFFF"/>
                </a:solidFill>
                <a:latin typeface="Segoe UI" panose="020B0502040204020203" pitchFamily="34" charset="0"/>
              </a:rPr>
              <a:t>Las tres son </a:t>
            </a:r>
            <a:r>
              <a:rPr lang="es-MX" sz="1200" b="1">
                <a:solidFill>
                  <a:srgbClr val="FFFFFF"/>
                </a:solidFill>
                <a:latin typeface="Segoe UI Semibold" panose="020B0702040204020203" pitchFamily="34" charset="0"/>
              </a:rPr>
              <a:t>puntos de parada</a:t>
            </a:r>
            <a:r>
              <a:rPr lang="es-MX" sz="1200">
                <a:solidFill>
                  <a:srgbClr val="FFFFFF"/>
                </a:solidFill>
                <a:latin typeface="Segoe UI" panose="020B0502040204020203" pitchFamily="34" charset="0"/>
              </a:rPr>
              <a:t>, igual que en la clase 6. Y la tercera es la única que, si sale mal, no se detecta hasta que la estructura asienta.</a:t>
            </a:r>
            <a:endParaRPr lang="es-BO" sz="1200">
              <a:solidFill>
                <a:srgbClr val="FFFFFF"/>
              </a:solidFill>
              <a:latin typeface="Segoe UI" panose="020B0502040204020203" pitchFamily="34" charset="0"/>
            </a:endParaRPr>
          </a:p>
        </p:txBody>
      </p:sp>
      <p:cxnSp>
        <p:nvCxnSpPr>
          <p:cNvPr id="21" name="Conector recto 20">
            <a:extLst>
              <a:ext uri="{FF2B5EF4-FFF2-40B4-BE49-F238E27FC236}">
                <a16:creationId xmlns:a16="http://schemas.microsoft.com/office/drawing/2014/main" id="{6F23631F-EE22-A2EA-7CE6-929A3ADF3B00}"/>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22" name="CuadroTexto 21">
            <a:extLst>
              <a:ext uri="{FF2B5EF4-FFF2-40B4-BE49-F238E27FC236}">
                <a16:creationId xmlns:a16="http://schemas.microsoft.com/office/drawing/2014/main" id="{2E787281-2035-3128-BB11-B0D14D365B33}"/>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23" name="CuadroTexto 22">
            <a:extLst>
              <a:ext uri="{FF2B5EF4-FFF2-40B4-BE49-F238E27FC236}">
                <a16:creationId xmlns:a16="http://schemas.microsoft.com/office/drawing/2014/main" id="{D488CD7D-B8DD-F9B2-C6E8-DC14C1F8305C}"/>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24" name="PageNo">
            <a:extLst>
              <a:ext uri="{FF2B5EF4-FFF2-40B4-BE49-F238E27FC236}">
                <a16:creationId xmlns:a16="http://schemas.microsoft.com/office/drawing/2014/main" id="{E61C7A36-C2D6-8387-8138-B852A99B83DB}"/>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18 / 38</a:t>
            </a:r>
          </a:p>
        </p:txBody>
      </p:sp>
    </p:spTree>
    <p:extLst>
      <p:ext uri="{BB962C8B-B14F-4D97-AF65-F5344CB8AC3E}">
        <p14:creationId xmlns:p14="http://schemas.microsoft.com/office/powerpoint/2010/main" val="21351578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C1813"/>
        </a:solidFill>
        <a:effectLst/>
      </p:bgPr>
    </p:bg>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EDC7B126-E21A-041A-E2E1-E7007FA09F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Rectángulo 3">
            <a:extLst>
              <a:ext uri="{FF2B5EF4-FFF2-40B4-BE49-F238E27FC236}">
                <a16:creationId xmlns:a16="http://schemas.microsoft.com/office/drawing/2014/main" id="{DC63A6A2-4313-0A07-0DAB-3CB6E510F230}"/>
              </a:ext>
            </a:extLst>
          </p:cNvPr>
          <p:cNvSpPr/>
          <p:nvPr/>
        </p:nvSpPr>
        <p:spPr>
          <a:xfrm>
            <a:off x="0" y="0"/>
            <a:ext cx="10668000" cy="6858000"/>
          </a:xfrm>
          <a:prstGeom prst="rect">
            <a:avLst/>
          </a:prstGeom>
          <a:gradFill flip="none" rotWithShape="1">
            <a:gsLst>
              <a:gs pos="0">
                <a:srgbClr val="1C1813"/>
              </a:gs>
              <a:gs pos="100000">
                <a:srgbClr val="1C1813">
                  <a:alpha val="0"/>
                </a:srgbClr>
              </a:gs>
            </a:gsLst>
            <a:lin ang="0" scaled="1"/>
            <a:tileRect/>
          </a:gra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5" name="Rectángulo 4">
            <a:extLst>
              <a:ext uri="{FF2B5EF4-FFF2-40B4-BE49-F238E27FC236}">
                <a16:creationId xmlns:a16="http://schemas.microsoft.com/office/drawing/2014/main" id="{DE843336-1E9E-D9DD-DF9C-1B451358036C}"/>
              </a:ext>
            </a:extLst>
          </p:cNvPr>
          <p:cNvSpPr/>
          <p:nvPr/>
        </p:nvSpPr>
        <p:spPr>
          <a:xfrm>
            <a:off x="0" y="0"/>
            <a:ext cx="12192000" cy="6858000"/>
          </a:xfrm>
          <a:prstGeom prst="rect">
            <a:avLst/>
          </a:prstGeom>
          <a:solidFill>
            <a:srgbClr val="1C1813">
              <a:alpha val="58000"/>
            </a:srgb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6" name="CuadroTexto 5">
            <a:extLst>
              <a:ext uri="{FF2B5EF4-FFF2-40B4-BE49-F238E27FC236}">
                <a16:creationId xmlns:a16="http://schemas.microsoft.com/office/drawing/2014/main" id="{EE1B9CF0-C976-ADFD-0E38-114F026898E3}"/>
              </a:ext>
            </a:extLst>
          </p:cNvPr>
          <p:cNvSpPr txBox="1"/>
          <p:nvPr/>
        </p:nvSpPr>
        <p:spPr>
          <a:xfrm>
            <a:off x="609600" y="1905000"/>
            <a:ext cx="3810000" cy="254000"/>
          </a:xfrm>
          <a:prstGeom prst="rect">
            <a:avLst/>
          </a:prstGeom>
          <a:noFill/>
        </p:spPr>
        <p:txBody>
          <a:bodyPr vert="horz" wrap="square" lIns="0" tIns="0" rIns="0" bIns="0" rtlCol="0" anchor="t">
            <a:noAutofit/>
          </a:bodyPr>
          <a:lstStyle/>
          <a:p>
            <a:r>
              <a:rPr lang="es-BO" sz="1100" spc="300">
                <a:solidFill>
                  <a:srgbClr val="C9A66B"/>
                </a:solidFill>
                <a:latin typeface="Segoe UI Semibold" panose="020B0702040204020203" pitchFamily="34" charset="0"/>
              </a:rPr>
              <a:t>PARTE 4</a:t>
            </a:r>
          </a:p>
        </p:txBody>
      </p:sp>
      <p:sp>
        <p:nvSpPr>
          <p:cNvPr id="7" name="Title">
            <a:extLst>
              <a:ext uri="{FF2B5EF4-FFF2-40B4-BE49-F238E27FC236}">
                <a16:creationId xmlns:a16="http://schemas.microsoft.com/office/drawing/2014/main" id="{61B1A052-AF3A-C952-DB63-E6B9F8B2CACA}"/>
              </a:ext>
            </a:extLst>
          </p:cNvPr>
          <p:cNvSpPr txBox="1"/>
          <p:nvPr/>
        </p:nvSpPr>
        <p:spPr>
          <a:xfrm>
            <a:off x="584200" y="2235200"/>
            <a:ext cx="7874000" cy="1397000"/>
          </a:xfrm>
          <a:prstGeom prst="rect">
            <a:avLst/>
          </a:prstGeom>
          <a:noFill/>
        </p:spPr>
        <p:txBody>
          <a:bodyPr vert="horz" wrap="square" lIns="0" tIns="0" rIns="0" bIns="0" rtlCol="0" anchor="t">
            <a:noAutofit/>
          </a:bodyPr>
          <a:lstStyle/>
          <a:p>
            <a:r>
              <a:rPr lang="es-BO" sz="3800">
                <a:solidFill>
                  <a:srgbClr val="FFFFFF"/>
                </a:solidFill>
                <a:latin typeface="Bahnschrift SemiBold" panose="020B0502040204020203" pitchFamily="34" charset="0"/>
              </a:rPr>
              <a:t>Gestión del activo</a:t>
            </a:r>
          </a:p>
        </p:txBody>
      </p:sp>
      <p:sp>
        <p:nvSpPr>
          <p:cNvPr id="8" name="Rectángulo 7">
            <a:extLst>
              <a:ext uri="{FF2B5EF4-FFF2-40B4-BE49-F238E27FC236}">
                <a16:creationId xmlns:a16="http://schemas.microsoft.com/office/drawing/2014/main" id="{30EDCB9D-FE53-B577-C88B-F6AF48862A0C}"/>
              </a:ext>
            </a:extLst>
          </p:cNvPr>
          <p:cNvSpPr/>
          <p:nvPr/>
        </p:nvSpPr>
        <p:spPr>
          <a:xfrm>
            <a:off x="609600" y="3810000"/>
            <a:ext cx="609600" cy="3810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9" name="CuadroTexto 8">
            <a:extLst>
              <a:ext uri="{FF2B5EF4-FFF2-40B4-BE49-F238E27FC236}">
                <a16:creationId xmlns:a16="http://schemas.microsoft.com/office/drawing/2014/main" id="{25F29A88-BE15-EC66-6642-90B371858108}"/>
              </a:ext>
            </a:extLst>
          </p:cNvPr>
          <p:cNvSpPr txBox="1"/>
          <p:nvPr/>
        </p:nvSpPr>
        <p:spPr>
          <a:xfrm>
            <a:off x="609600" y="4013200"/>
            <a:ext cx="6604000" cy="762000"/>
          </a:xfrm>
          <a:prstGeom prst="rect">
            <a:avLst/>
          </a:prstGeom>
          <a:noFill/>
        </p:spPr>
        <p:txBody>
          <a:bodyPr vert="horz" wrap="square" lIns="0" tIns="0" rIns="0" bIns="0" rtlCol="0" anchor="t">
            <a:noAutofit/>
          </a:bodyPr>
          <a:lstStyle/>
          <a:p>
            <a:pPr algn="l"/>
            <a:r>
              <a:rPr lang="es-MX" sz="1400">
                <a:solidFill>
                  <a:srgbClr val="E6DFD2"/>
                </a:solidFill>
                <a:latin typeface="Bahnschrift Light" panose="020B0502040204020203" pitchFamily="34" charset="0"/>
              </a:rPr>
              <a:t>Un diagnóstico sin plan de mantenimiento caduca el día que se entrega.</a:t>
            </a:r>
            <a:endParaRPr lang="es-BO" sz="1400">
              <a:solidFill>
                <a:srgbClr val="E6DFD2"/>
              </a:solidFill>
              <a:latin typeface="Bahnschrift Light" panose="020B0502040204020203" pitchFamily="34" charset="0"/>
            </a:endParaRPr>
          </a:p>
        </p:txBody>
      </p:sp>
      <p:sp>
        <p:nvSpPr>
          <p:cNvPr id="10" name="Rectángulo 9">
            <a:extLst>
              <a:ext uri="{FF2B5EF4-FFF2-40B4-BE49-F238E27FC236}">
                <a16:creationId xmlns:a16="http://schemas.microsoft.com/office/drawing/2014/main" id="{F2C1F774-DC2A-5D39-8F58-AAEB052EF892}"/>
              </a:ext>
            </a:extLst>
          </p:cNvPr>
          <p:cNvSpPr/>
          <p:nvPr/>
        </p:nvSpPr>
        <p:spPr>
          <a:xfrm>
            <a:off x="609600" y="5054600"/>
            <a:ext cx="76200" cy="1524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1" name="CuadroTexto 10">
            <a:extLst>
              <a:ext uri="{FF2B5EF4-FFF2-40B4-BE49-F238E27FC236}">
                <a16:creationId xmlns:a16="http://schemas.microsoft.com/office/drawing/2014/main" id="{9D5FF80B-705C-53A8-DE08-A0A96F7C8571}"/>
              </a:ext>
            </a:extLst>
          </p:cNvPr>
          <p:cNvSpPr txBox="1"/>
          <p:nvPr/>
        </p:nvSpPr>
        <p:spPr>
          <a:xfrm>
            <a:off x="787400" y="4978400"/>
            <a:ext cx="6350000" cy="177800"/>
          </a:xfrm>
          <a:prstGeom prst="rect">
            <a:avLst/>
          </a:prstGeom>
          <a:noFill/>
        </p:spPr>
        <p:txBody>
          <a:bodyPr vert="horz" wrap="square" lIns="0" tIns="0" rIns="0" bIns="0" rtlCol="0" anchor="t">
            <a:noAutofit/>
          </a:bodyPr>
          <a:lstStyle/>
          <a:p>
            <a:pPr algn="l"/>
            <a:r>
              <a:rPr lang="es-BO" sz="1050">
                <a:solidFill>
                  <a:srgbClr val="CFC7B8"/>
                </a:solidFill>
                <a:latin typeface="Segoe UI" panose="020B0502040204020203" pitchFamily="34" charset="0"/>
              </a:rPr>
              <a:t>El plan de mantenimiento</a:t>
            </a:r>
          </a:p>
        </p:txBody>
      </p:sp>
      <p:sp>
        <p:nvSpPr>
          <p:cNvPr id="12" name="Rectángulo 11">
            <a:extLst>
              <a:ext uri="{FF2B5EF4-FFF2-40B4-BE49-F238E27FC236}">
                <a16:creationId xmlns:a16="http://schemas.microsoft.com/office/drawing/2014/main" id="{EC2D955D-E1B2-45AE-B788-6C8697E8BDE1}"/>
              </a:ext>
            </a:extLst>
          </p:cNvPr>
          <p:cNvSpPr/>
          <p:nvPr/>
        </p:nvSpPr>
        <p:spPr>
          <a:xfrm>
            <a:off x="609600" y="5283200"/>
            <a:ext cx="76200" cy="1524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3" name="CuadroTexto 12">
            <a:extLst>
              <a:ext uri="{FF2B5EF4-FFF2-40B4-BE49-F238E27FC236}">
                <a16:creationId xmlns:a16="http://schemas.microsoft.com/office/drawing/2014/main" id="{2A7C953B-15F5-30FA-E3CA-A465F585C0E1}"/>
              </a:ext>
            </a:extLst>
          </p:cNvPr>
          <p:cNvSpPr txBox="1"/>
          <p:nvPr/>
        </p:nvSpPr>
        <p:spPr>
          <a:xfrm>
            <a:off x="787400" y="5207000"/>
            <a:ext cx="6350000" cy="177800"/>
          </a:xfrm>
          <a:prstGeom prst="rect">
            <a:avLst/>
          </a:prstGeom>
          <a:noFill/>
        </p:spPr>
        <p:txBody>
          <a:bodyPr vert="horz" wrap="square" lIns="0" tIns="0" rIns="0" bIns="0" rtlCol="0" anchor="t">
            <a:noAutofit/>
          </a:bodyPr>
          <a:lstStyle/>
          <a:p>
            <a:pPr algn="l"/>
            <a:r>
              <a:rPr lang="es-BO" sz="1050">
                <a:solidFill>
                  <a:srgbClr val="CFC7B8"/>
                </a:solidFill>
                <a:latin typeface="Segoe UI" panose="020B0502040204020203" pitchFamily="34" charset="0"/>
              </a:rPr>
              <a:t>La inspección periódica</a:t>
            </a:r>
          </a:p>
        </p:txBody>
      </p:sp>
      <p:sp>
        <p:nvSpPr>
          <p:cNvPr id="14" name="Rectángulo 13">
            <a:extLst>
              <a:ext uri="{FF2B5EF4-FFF2-40B4-BE49-F238E27FC236}">
                <a16:creationId xmlns:a16="http://schemas.microsoft.com/office/drawing/2014/main" id="{7BDC4BA7-9373-8DD5-DE87-8EC501F00DE9}"/>
              </a:ext>
            </a:extLst>
          </p:cNvPr>
          <p:cNvSpPr/>
          <p:nvPr/>
        </p:nvSpPr>
        <p:spPr>
          <a:xfrm>
            <a:off x="609600" y="5511800"/>
            <a:ext cx="76200" cy="1524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5" name="CuadroTexto 14">
            <a:extLst>
              <a:ext uri="{FF2B5EF4-FFF2-40B4-BE49-F238E27FC236}">
                <a16:creationId xmlns:a16="http://schemas.microsoft.com/office/drawing/2014/main" id="{C7A9DE7F-C2E5-7276-C6D8-C7AE0BCDC571}"/>
              </a:ext>
            </a:extLst>
          </p:cNvPr>
          <p:cNvSpPr txBox="1"/>
          <p:nvPr/>
        </p:nvSpPr>
        <p:spPr>
          <a:xfrm>
            <a:off x="787400" y="5435600"/>
            <a:ext cx="6350000" cy="177800"/>
          </a:xfrm>
          <a:prstGeom prst="rect">
            <a:avLst/>
          </a:prstGeom>
          <a:noFill/>
        </p:spPr>
        <p:txBody>
          <a:bodyPr vert="horz" wrap="square" lIns="0" tIns="0" rIns="0" bIns="0" rtlCol="0" anchor="t">
            <a:noAutofit/>
          </a:bodyPr>
          <a:lstStyle/>
          <a:p>
            <a:pPr algn="l"/>
            <a:r>
              <a:rPr lang="es-MX" sz="1050">
                <a:solidFill>
                  <a:srgbClr val="CFC7B8"/>
                </a:solidFill>
                <a:latin typeface="Segoe UI" panose="020B0502040204020203" pitchFamily="34" charset="0"/>
              </a:rPr>
              <a:t>El coste del ciclo de vida</a:t>
            </a:r>
            <a:endParaRPr lang="es-BO" sz="1050">
              <a:solidFill>
                <a:srgbClr val="CFC7B8"/>
              </a:solidFill>
              <a:latin typeface="Segoe UI" panose="020B0502040204020203" pitchFamily="34" charset="0"/>
            </a:endParaRPr>
          </a:p>
        </p:txBody>
      </p:sp>
      <p:sp>
        <p:nvSpPr>
          <p:cNvPr id="16" name="CuadroTexto 15">
            <a:extLst>
              <a:ext uri="{FF2B5EF4-FFF2-40B4-BE49-F238E27FC236}">
                <a16:creationId xmlns:a16="http://schemas.microsoft.com/office/drawing/2014/main" id="{8BE2EF4B-35D8-8884-7839-B8D2CBF67F25}"/>
              </a:ext>
            </a:extLst>
          </p:cNvPr>
          <p:cNvSpPr txBox="1"/>
          <p:nvPr/>
        </p:nvSpPr>
        <p:spPr>
          <a:xfrm>
            <a:off x="609600" y="6477000"/>
            <a:ext cx="5080000" cy="152400"/>
          </a:xfrm>
          <a:prstGeom prst="rect">
            <a:avLst/>
          </a:prstGeom>
          <a:noFill/>
        </p:spPr>
        <p:txBody>
          <a:bodyPr vert="horz" wrap="square" lIns="0" tIns="0" rIns="0" bIns="0" rtlCol="0" anchor="t">
            <a:noAutofit/>
          </a:bodyPr>
          <a:lstStyle/>
          <a:p>
            <a:r>
              <a:rPr lang="es-MX" sz="700" spc="130">
                <a:solidFill>
                  <a:srgbClr val="9C9284"/>
                </a:solidFill>
                <a:latin typeface="Segoe UI" panose="020B0502040204020203" pitchFamily="34" charset="0"/>
              </a:rPr>
              <a:t>CLASE 7 · REFUERZO, RECALCE Y GESTIÓN</a:t>
            </a:r>
            <a:endParaRPr lang="es-BO" sz="700" spc="130">
              <a:solidFill>
                <a:srgbClr val="9C9284"/>
              </a:solidFill>
              <a:latin typeface="Segoe UI" panose="020B0502040204020203" pitchFamily="34" charset="0"/>
            </a:endParaRPr>
          </a:p>
        </p:txBody>
      </p:sp>
    </p:spTree>
    <p:extLst>
      <p:ext uri="{BB962C8B-B14F-4D97-AF65-F5344CB8AC3E}">
        <p14:creationId xmlns:p14="http://schemas.microsoft.com/office/powerpoint/2010/main" val="10183795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404E53B-032F-5B59-7A5A-71473E49762F}"/>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MX" sz="900" spc="180">
                <a:solidFill>
                  <a:srgbClr val="6A4F20"/>
                </a:solidFill>
                <a:latin typeface="Segoe UI Semibold" panose="020B0702040204020203" pitchFamily="34" charset="0"/>
              </a:rPr>
              <a:t>PARTE 4 · EL PLAN DE MANTENIMIENTO</a:t>
            </a:r>
            <a:endParaRPr lang="es-BO" sz="900" spc="180">
              <a:solidFill>
                <a:srgbClr val="6A4F20"/>
              </a:solidFill>
              <a:latin typeface="Segoe UI Semibold" panose="020B0702040204020203" pitchFamily="34" charset="0"/>
            </a:endParaRPr>
          </a:p>
        </p:txBody>
      </p:sp>
      <p:sp>
        <p:nvSpPr>
          <p:cNvPr id="3" name="Title">
            <a:extLst>
              <a:ext uri="{FF2B5EF4-FFF2-40B4-BE49-F238E27FC236}">
                <a16:creationId xmlns:a16="http://schemas.microsoft.com/office/drawing/2014/main" id="{5317E0B0-9BB3-BD21-FAD3-551D0484C0C4}"/>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Cinco columnas, y la que falta siempre es la del responsable</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58DA806D-F9C5-02D8-CC32-7F51B6B576E6}"/>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graphicFrame>
        <p:nvGraphicFramePr>
          <p:cNvPr id="6" name="Tabla 5">
            <a:extLst>
              <a:ext uri="{FF2B5EF4-FFF2-40B4-BE49-F238E27FC236}">
                <a16:creationId xmlns:a16="http://schemas.microsoft.com/office/drawing/2014/main" id="{702FD97E-489C-2E81-322F-6DE9478A2166}"/>
              </a:ext>
            </a:extLst>
          </p:cNvPr>
          <p:cNvGraphicFramePr>
            <a:graphicFrameLocks noGrp="1"/>
          </p:cNvGraphicFramePr>
          <p:nvPr>
            <p:extLst>
              <p:ext uri="{D42A27DB-BD31-4B8C-83A1-F6EECF244321}">
                <p14:modId xmlns:p14="http://schemas.microsoft.com/office/powerpoint/2010/main" val="3111756222"/>
              </p:ext>
            </p:extLst>
          </p:nvPr>
        </p:nvGraphicFramePr>
        <p:xfrm>
          <a:off x="609600" y="1422400"/>
          <a:ext cx="6299200" cy="3149600"/>
        </p:xfrm>
        <a:graphic>
          <a:graphicData uri="http://schemas.openxmlformats.org/drawingml/2006/table">
            <a:tbl>
              <a:tblPr firstRow="1" bandRow="1">
                <a:tableStyleId>{5C22544A-7EE6-4342-B048-85BDC9FD1C3A}</a:tableStyleId>
              </a:tblPr>
              <a:tblGrid>
                <a:gridCol w="1219200">
                  <a:extLst>
                    <a:ext uri="{9D8B030D-6E8A-4147-A177-3AD203B41FA5}">
                      <a16:colId xmlns:a16="http://schemas.microsoft.com/office/drawing/2014/main" val="1091486653"/>
                    </a:ext>
                  </a:extLst>
                </a:gridCol>
                <a:gridCol w="1803400">
                  <a:extLst>
                    <a:ext uri="{9D8B030D-6E8A-4147-A177-3AD203B41FA5}">
                      <a16:colId xmlns:a16="http://schemas.microsoft.com/office/drawing/2014/main" val="2096431295"/>
                    </a:ext>
                  </a:extLst>
                </a:gridCol>
                <a:gridCol w="1308100">
                  <a:extLst>
                    <a:ext uri="{9D8B030D-6E8A-4147-A177-3AD203B41FA5}">
                      <a16:colId xmlns:a16="http://schemas.microsoft.com/office/drawing/2014/main" val="1583012874"/>
                    </a:ext>
                  </a:extLst>
                </a:gridCol>
                <a:gridCol w="1320800">
                  <a:extLst>
                    <a:ext uri="{9D8B030D-6E8A-4147-A177-3AD203B41FA5}">
                      <a16:colId xmlns:a16="http://schemas.microsoft.com/office/drawing/2014/main" val="3538111151"/>
                    </a:ext>
                  </a:extLst>
                </a:gridCol>
                <a:gridCol w="647700">
                  <a:extLst>
                    <a:ext uri="{9D8B030D-6E8A-4147-A177-3AD203B41FA5}">
                      <a16:colId xmlns:a16="http://schemas.microsoft.com/office/drawing/2014/main" val="4120279645"/>
                    </a:ext>
                  </a:extLst>
                </a:gridCol>
              </a:tblGrid>
              <a:tr h="524933">
                <a:tc>
                  <a:txBody>
                    <a:bodyPr/>
                    <a:lstStyle/>
                    <a:p>
                      <a:pPr algn="ctr"/>
                      <a:r>
                        <a:rPr lang="es-BO" sz="850" b="0">
                          <a:solidFill>
                            <a:srgbClr val="FFFFFF"/>
                          </a:solidFill>
                          <a:latin typeface="Segoe UI Semibold" panose="020B0702040204020203" pitchFamily="34" charset="0"/>
                        </a:rPr>
                        <a:t>Elemento</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1C1813"/>
                    </a:solidFill>
                  </a:tcPr>
                </a:tc>
                <a:tc>
                  <a:txBody>
                    <a:bodyPr/>
                    <a:lstStyle/>
                    <a:p>
                      <a:pPr algn="ctr"/>
                      <a:r>
                        <a:rPr lang="es-BO" sz="850" b="0">
                          <a:solidFill>
                            <a:srgbClr val="FFFFFF"/>
                          </a:solidFill>
                          <a:latin typeface="Segoe UI Semibold" panose="020B0702040204020203" pitchFamily="34" charset="0"/>
                        </a:rPr>
                        <a:t>Qué se revisa</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1C1813"/>
                    </a:solidFill>
                  </a:tcPr>
                </a:tc>
                <a:tc>
                  <a:txBody>
                    <a:bodyPr/>
                    <a:lstStyle/>
                    <a:p>
                      <a:pPr algn="ctr"/>
                      <a:r>
                        <a:rPr lang="es-BO" sz="850" b="0">
                          <a:solidFill>
                            <a:srgbClr val="FFFFFF"/>
                          </a:solidFill>
                          <a:latin typeface="Segoe UI Semibold" panose="020B0702040204020203" pitchFamily="34" charset="0"/>
                        </a:rPr>
                        <a:t>Cada cuánto</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1C1813"/>
                    </a:solidFill>
                  </a:tcPr>
                </a:tc>
                <a:tc>
                  <a:txBody>
                    <a:bodyPr/>
                    <a:lstStyle/>
                    <a:p>
                      <a:pPr algn="ctr"/>
                      <a:r>
                        <a:rPr lang="es-BO" sz="850" b="0">
                          <a:solidFill>
                            <a:srgbClr val="FFFFFF"/>
                          </a:solidFill>
                          <a:latin typeface="Segoe UI Semibold" panose="020B0702040204020203" pitchFamily="34" charset="0"/>
                        </a:rPr>
                        <a:t>Criterio de alarma</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1C1813"/>
                    </a:solidFill>
                  </a:tcPr>
                </a:tc>
                <a:tc>
                  <a:txBody>
                    <a:bodyPr/>
                    <a:lstStyle/>
                    <a:p>
                      <a:pPr algn="ctr"/>
                      <a:r>
                        <a:rPr lang="es-BO" sz="850" b="0">
                          <a:solidFill>
                            <a:srgbClr val="FFFFFF"/>
                          </a:solidFill>
                          <a:latin typeface="Segoe UI Semibold" panose="020B0702040204020203" pitchFamily="34" charset="0"/>
                        </a:rPr>
                        <a:t>Quién</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1C1813"/>
                    </a:solidFill>
                  </a:tcPr>
                </a:tc>
                <a:extLst>
                  <a:ext uri="{0D108BD9-81ED-4DB2-BD59-A6C34878D82A}">
                    <a16:rowId xmlns:a16="http://schemas.microsoft.com/office/drawing/2014/main" val="3474877533"/>
                  </a:ext>
                </a:extLst>
              </a:tr>
              <a:tr h="524933">
                <a:tc>
                  <a:txBody>
                    <a:bodyPr/>
                    <a:lstStyle/>
                    <a:p>
                      <a:pPr algn="ctr"/>
                      <a:r>
                        <a:rPr lang="es-BO" sz="900" b="0">
                          <a:solidFill>
                            <a:srgbClr val="1C1813"/>
                          </a:solidFill>
                          <a:latin typeface="Segoe UI Semibold" panose="020B0702040204020203" pitchFamily="34" charset="0"/>
                        </a:rPr>
                        <a:t>Viga V-3 reparada</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MX" sz="900" b="0">
                          <a:solidFill>
                            <a:srgbClr val="241F18"/>
                          </a:solidFill>
                          <a:latin typeface="Segoe UI" panose="020B0502040204020203" pitchFamily="34" charset="0"/>
                        </a:rPr>
                        <a:t>Fisuras en el borde del parche, manchas de óxido</a:t>
                      </a:r>
                      <a:endParaRPr lang="es-BO" sz="9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MX" sz="900" b="0">
                          <a:solidFill>
                            <a:srgbClr val="241F18"/>
                          </a:solidFill>
                          <a:latin typeface="Segoe UI" panose="020B0502040204020203" pitchFamily="34" charset="0"/>
                        </a:rPr>
                        <a:t>6 meses el primer año; luego anual</a:t>
                      </a:r>
                      <a:endParaRPr lang="es-BO" sz="9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MX" sz="900" b="0">
                          <a:solidFill>
                            <a:srgbClr val="241F18"/>
                          </a:solidFill>
                          <a:latin typeface="Segoe UI" panose="020B0502040204020203" pitchFamily="34" charset="0"/>
                        </a:rPr>
                        <a:t>Cualquier fisura nueva en el perímetro</a:t>
                      </a:r>
                      <a:endParaRPr lang="es-BO" sz="9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BO" sz="900" b="0">
                          <a:solidFill>
                            <a:srgbClr val="241F18"/>
                          </a:solidFill>
                          <a:latin typeface="Segoe UI" panose="020B0502040204020203" pitchFamily="34" charset="0"/>
                        </a:rPr>
                        <a:t>Mantenimiento</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extLst>
                  <a:ext uri="{0D108BD9-81ED-4DB2-BD59-A6C34878D82A}">
                    <a16:rowId xmlns:a16="http://schemas.microsoft.com/office/drawing/2014/main" val="2873723816"/>
                  </a:ext>
                </a:extLst>
              </a:tr>
              <a:tr h="524933">
                <a:tc>
                  <a:txBody>
                    <a:bodyPr/>
                    <a:lstStyle/>
                    <a:p>
                      <a:pPr algn="ctr"/>
                      <a:r>
                        <a:rPr lang="es-BO" sz="900" b="0">
                          <a:solidFill>
                            <a:srgbClr val="1C1813"/>
                          </a:solidFill>
                          <a:latin typeface="Segoe UI Semibold" panose="020B0702040204020203" pitchFamily="34" charset="0"/>
                        </a:rPr>
                        <a:t>Ánodos galvánicos</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BO" sz="900" b="0">
                          <a:solidFill>
                            <a:srgbClr val="241F18"/>
                          </a:solidFill>
                          <a:latin typeface="Segoe UI" panose="020B0502040204020203" pitchFamily="34" charset="0"/>
                        </a:rPr>
                        <a:t>Continuidad eléctrica y potencial</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BO" sz="900" b="0">
                          <a:solidFill>
                            <a:srgbClr val="241F18"/>
                          </a:solidFill>
                          <a:latin typeface="Segoe UI" panose="020B0502040204020203" pitchFamily="34" charset="0"/>
                        </a:rPr>
                        <a:t>Cada 3 años</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MX" sz="900" b="0">
                          <a:solidFill>
                            <a:srgbClr val="241F18"/>
                          </a:solidFill>
                          <a:latin typeface="Segoe UI" panose="020B0502040204020203" pitchFamily="34" charset="0"/>
                        </a:rPr>
                        <a:t>Potencial por encima de −200 mV</a:t>
                      </a:r>
                      <a:endParaRPr lang="es-BO" sz="9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BO" sz="900" b="0">
                          <a:solidFill>
                            <a:srgbClr val="241F18"/>
                          </a:solidFill>
                          <a:latin typeface="Segoe UI" panose="020B0502040204020203" pitchFamily="34" charset="0"/>
                        </a:rPr>
                        <a:t>Especialista</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extLst>
                  <a:ext uri="{0D108BD9-81ED-4DB2-BD59-A6C34878D82A}">
                    <a16:rowId xmlns:a16="http://schemas.microsoft.com/office/drawing/2014/main" val="4055487912"/>
                  </a:ext>
                </a:extLst>
              </a:tr>
              <a:tr h="524933">
                <a:tc>
                  <a:txBody>
                    <a:bodyPr/>
                    <a:lstStyle/>
                    <a:p>
                      <a:pPr algn="ctr"/>
                      <a:r>
                        <a:rPr lang="es-BO" sz="900" b="0">
                          <a:solidFill>
                            <a:srgbClr val="1C1813"/>
                          </a:solidFill>
                          <a:latin typeface="Segoe UI Semibold" panose="020B0702040204020203" pitchFamily="34" charset="0"/>
                        </a:rPr>
                        <a:t>Columna C-4</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BO" sz="900" b="0">
                          <a:solidFill>
                            <a:srgbClr val="241F18"/>
                          </a:solidFill>
                          <a:latin typeface="Segoe UI" panose="020B0502040204020203" pitchFamily="34" charset="0"/>
                        </a:rPr>
                        <a:t>Recubrimiento repuesto y revestimiento</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BO" sz="900" b="0">
                          <a:solidFill>
                            <a:srgbClr val="241F18"/>
                          </a:solidFill>
                          <a:latin typeface="Segoe UI" panose="020B0502040204020203" pitchFamily="34" charset="0"/>
                        </a:rPr>
                        <a:t>Anual</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MX" sz="900" b="0">
                          <a:solidFill>
                            <a:srgbClr val="241F18"/>
                          </a:solidFill>
                          <a:latin typeface="Segoe UI" panose="020B0502040204020203" pitchFamily="34" charset="0"/>
                        </a:rPr>
                        <a:t>Ampollas o pérdida de película</a:t>
                      </a:r>
                      <a:endParaRPr lang="es-BO" sz="9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BO" sz="900" b="0">
                          <a:solidFill>
                            <a:srgbClr val="241F18"/>
                          </a:solidFill>
                          <a:latin typeface="Segoe UI" panose="020B0502040204020203" pitchFamily="34" charset="0"/>
                        </a:rPr>
                        <a:t>Mantenimiento</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extLst>
                  <a:ext uri="{0D108BD9-81ED-4DB2-BD59-A6C34878D82A}">
                    <a16:rowId xmlns:a16="http://schemas.microsoft.com/office/drawing/2014/main" val="1203668614"/>
                  </a:ext>
                </a:extLst>
              </a:tr>
              <a:tr h="524933">
                <a:tc>
                  <a:txBody>
                    <a:bodyPr/>
                    <a:lstStyle/>
                    <a:p>
                      <a:pPr algn="ctr"/>
                      <a:r>
                        <a:rPr lang="es-BO" sz="900" b="0">
                          <a:solidFill>
                            <a:srgbClr val="1C1813"/>
                          </a:solidFill>
                          <a:latin typeface="Segoe UI Semibold" panose="020B0702040204020203" pitchFamily="34" charset="0"/>
                        </a:rPr>
                        <a:t>Pavimento exterior</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BO" sz="900" b="0">
                          <a:solidFill>
                            <a:srgbClr val="241F18"/>
                          </a:solidFill>
                          <a:latin typeface="Segoe UI" panose="020B0502040204020203" pitchFamily="34" charset="0"/>
                        </a:rPr>
                        <a:t>Descamación, juntas y drenaje</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pt-BR" sz="900" b="0">
                          <a:solidFill>
                            <a:srgbClr val="241F18"/>
                          </a:solidFill>
                          <a:latin typeface="Segoe UI" panose="020B0502040204020203" pitchFamily="34" charset="0"/>
                        </a:rPr>
                        <a:t>Anual, antes de la época de heladas</a:t>
                      </a:r>
                      <a:endParaRPr lang="es-BO" sz="9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MX" sz="900" b="0">
                          <a:solidFill>
                            <a:srgbClr val="241F18"/>
                          </a:solidFill>
                          <a:latin typeface="Segoe UI" panose="020B0502040204020203" pitchFamily="34" charset="0"/>
                        </a:rPr>
                        <a:t>Pérdida de más de 1 mm al año</a:t>
                      </a:r>
                      <a:endParaRPr lang="es-BO" sz="9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BO" sz="900" b="0">
                          <a:solidFill>
                            <a:srgbClr val="241F18"/>
                          </a:solidFill>
                          <a:latin typeface="Segoe UI" panose="020B0502040204020203" pitchFamily="34" charset="0"/>
                        </a:rPr>
                        <a:t>Mantenimiento</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extLst>
                  <a:ext uri="{0D108BD9-81ED-4DB2-BD59-A6C34878D82A}">
                    <a16:rowId xmlns:a16="http://schemas.microsoft.com/office/drawing/2014/main" val="3180751259"/>
                  </a:ext>
                </a:extLst>
              </a:tr>
              <a:tr h="524933">
                <a:tc>
                  <a:txBody>
                    <a:bodyPr/>
                    <a:lstStyle/>
                    <a:p>
                      <a:pPr algn="ctr"/>
                      <a:r>
                        <a:rPr lang="es-BO" sz="900" b="0">
                          <a:solidFill>
                            <a:srgbClr val="1C1813"/>
                          </a:solidFill>
                          <a:latin typeface="Segoe UI Semibold" panose="020B0702040204020203" pitchFamily="34" charset="0"/>
                        </a:rPr>
                        <a:t>Cámara de bombeo</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MX" sz="900" b="0">
                          <a:solidFill>
                            <a:srgbClr val="241F18"/>
                          </a:solidFill>
                          <a:latin typeface="Segoe UI" panose="020B0502040204020203" pitchFamily="34" charset="0"/>
                        </a:rPr>
                        <a:t>pH de la pared y espesor residual</a:t>
                      </a:r>
                      <a:endParaRPr lang="es-BO" sz="9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BO" sz="900" b="0">
                          <a:solidFill>
                            <a:srgbClr val="241F18"/>
                          </a:solidFill>
                          <a:latin typeface="Segoe UI" panose="020B0502040204020203" pitchFamily="34" charset="0"/>
                        </a:rPr>
                        <a:t>Anual</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BO" sz="900" b="0">
                          <a:solidFill>
                            <a:srgbClr val="241F18"/>
                          </a:solidFill>
                          <a:latin typeface="Segoe UI" panose="020B0502040204020203" pitchFamily="34" charset="0"/>
                        </a:rPr>
                        <a:t>pH por debajo de 4 o pérdida acelerada</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BO" sz="900" b="0">
                          <a:solidFill>
                            <a:srgbClr val="241F18"/>
                          </a:solidFill>
                          <a:latin typeface="Segoe UI" panose="020B0502040204020203" pitchFamily="34" charset="0"/>
                        </a:rPr>
                        <a:t>Especialista</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extLst>
                  <a:ext uri="{0D108BD9-81ED-4DB2-BD59-A6C34878D82A}">
                    <a16:rowId xmlns:a16="http://schemas.microsoft.com/office/drawing/2014/main" val="3422696280"/>
                  </a:ext>
                </a:extLst>
              </a:tr>
            </a:tbl>
          </a:graphicData>
        </a:graphic>
      </p:graphicFrame>
      <p:pic>
        <p:nvPicPr>
          <p:cNvPr id="8" name="Imagen 7" descr="Calendario de mantenimiento 2026–2031 por elemento y responsable">
            <a:extLst>
              <a:ext uri="{FF2B5EF4-FFF2-40B4-BE49-F238E27FC236}">
                <a16:creationId xmlns:a16="http://schemas.microsoft.com/office/drawing/2014/main" id="{F0778657-B9F4-9D91-D5CA-B379B6AA017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7112000" y="1422400"/>
            <a:ext cx="4470400" cy="3149600"/>
          </a:xfrm>
          <a:prstGeom prst="rect">
            <a:avLst/>
          </a:prstGeom>
        </p:spPr>
      </p:pic>
      <p:sp>
        <p:nvSpPr>
          <p:cNvPr id="9" name="Rectángulo 8">
            <a:extLst>
              <a:ext uri="{FF2B5EF4-FFF2-40B4-BE49-F238E27FC236}">
                <a16:creationId xmlns:a16="http://schemas.microsoft.com/office/drawing/2014/main" id="{1496D8DB-3837-B54E-5D4B-0C845204B94A}"/>
              </a:ext>
            </a:extLst>
          </p:cNvPr>
          <p:cNvSpPr/>
          <p:nvPr/>
        </p:nvSpPr>
        <p:spPr>
          <a:xfrm>
            <a:off x="609600" y="4775200"/>
            <a:ext cx="10972800" cy="711200"/>
          </a:xfrm>
          <a:prstGeom prst="rect">
            <a:avLst/>
          </a:prstGeom>
          <a:solidFill>
            <a:srgbClr val="241F1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1" name="CuadroTexto 10">
            <a:extLst>
              <a:ext uri="{FF2B5EF4-FFF2-40B4-BE49-F238E27FC236}">
                <a16:creationId xmlns:a16="http://schemas.microsoft.com/office/drawing/2014/main" id="{2F6B7F89-4502-8431-7A5B-A820DF225B16}"/>
              </a:ext>
            </a:extLst>
          </p:cNvPr>
          <p:cNvSpPr txBox="1"/>
          <p:nvPr/>
        </p:nvSpPr>
        <p:spPr>
          <a:xfrm>
            <a:off x="838200" y="4826000"/>
            <a:ext cx="10566400" cy="609600"/>
          </a:xfrm>
          <a:prstGeom prst="rect">
            <a:avLst/>
          </a:prstGeom>
          <a:noFill/>
        </p:spPr>
        <p:txBody>
          <a:bodyPr vert="horz" wrap="square" lIns="0" tIns="0" rIns="0" bIns="0" rtlCol="0" anchor="ctr">
            <a:noAutofit/>
          </a:bodyPr>
          <a:lstStyle/>
          <a:p>
            <a:pPr algn="l"/>
            <a:r>
              <a:rPr lang="es-MX" sz="1200">
                <a:solidFill>
                  <a:srgbClr val="FFFFFF"/>
                </a:solidFill>
                <a:latin typeface="Segoe UI" panose="020B0502040204020203" pitchFamily="34" charset="0"/>
              </a:rPr>
              <a:t>La última columna es la que convierte el plan en algo que ocurre. </a:t>
            </a:r>
            <a:r>
              <a:rPr lang="es-MX" sz="1200" b="1">
                <a:solidFill>
                  <a:srgbClr val="FFFFFF"/>
                </a:solidFill>
                <a:latin typeface="Segoe UI Semibold" panose="020B0702040204020203" pitchFamily="34" charset="0"/>
              </a:rPr>
              <a:t>Un plan sin nombre y sin fecha es una lista de buenas intenciones</a:t>
            </a:r>
            <a:r>
              <a:rPr lang="es-MX" sz="1200">
                <a:solidFill>
                  <a:srgbClr val="FFFFFF"/>
                </a:solidFill>
                <a:latin typeface="Segoe UI" panose="020B0502040204020203" pitchFamily="34" charset="0"/>
              </a:rPr>
              <a:t> que nadie ejecuta y que no protege a nadie.</a:t>
            </a:r>
            <a:endParaRPr lang="es-BO" sz="1200">
              <a:solidFill>
                <a:srgbClr val="FFFFFF"/>
              </a:solidFill>
              <a:latin typeface="Segoe UI" panose="020B0502040204020203" pitchFamily="34" charset="0"/>
            </a:endParaRPr>
          </a:p>
        </p:txBody>
      </p:sp>
      <p:sp>
        <p:nvSpPr>
          <p:cNvPr id="12" name="CuadroTexto 11">
            <a:extLst>
              <a:ext uri="{FF2B5EF4-FFF2-40B4-BE49-F238E27FC236}">
                <a16:creationId xmlns:a16="http://schemas.microsoft.com/office/drawing/2014/main" id="{2033D25A-D4D9-DD38-5F80-9A2586810EE0}"/>
              </a:ext>
            </a:extLst>
          </p:cNvPr>
          <p:cNvSpPr txBox="1"/>
          <p:nvPr/>
        </p:nvSpPr>
        <p:spPr>
          <a:xfrm>
            <a:off x="609600" y="6324600"/>
            <a:ext cx="10972800" cy="152400"/>
          </a:xfrm>
          <a:prstGeom prst="rect">
            <a:avLst/>
          </a:prstGeom>
          <a:noFill/>
        </p:spPr>
        <p:txBody>
          <a:bodyPr vert="horz" wrap="square" lIns="0" tIns="0" rIns="0" bIns="0" rtlCol="0" anchor="t">
            <a:noAutofit/>
          </a:bodyPr>
          <a:lstStyle/>
          <a:p>
            <a:pPr algn="l"/>
            <a:r>
              <a:rPr lang="es-MX" sz="700">
                <a:solidFill>
                  <a:srgbClr val="938A7C"/>
                </a:solidFill>
                <a:latin typeface="Segoe UI" panose="020B0502040204020203" pitchFamily="34" charset="0"/>
              </a:rPr>
              <a:t>Fuente: ACI 562 §9; EN 1504-10 §8.</a:t>
            </a:r>
            <a:endParaRPr lang="es-BO" sz="700">
              <a:solidFill>
                <a:srgbClr val="938A7C"/>
              </a:solidFill>
              <a:latin typeface="Segoe UI" panose="020B0502040204020203" pitchFamily="34" charset="0"/>
            </a:endParaRPr>
          </a:p>
        </p:txBody>
      </p:sp>
      <p:cxnSp>
        <p:nvCxnSpPr>
          <p:cNvPr id="13" name="Conector recto 12">
            <a:extLst>
              <a:ext uri="{FF2B5EF4-FFF2-40B4-BE49-F238E27FC236}">
                <a16:creationId xmlns:a16="http://schemas.microsoft.com/office/drawing/2014/main" id="{6A7E7E91-2815-8B16-844B-D858528DAF78}"/>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14" name="CuadroTexto 13">
            <a:extLst>
              <a:ext uri="{FF2B5EF4-FFF2-40B4-BE49-F238E27FC236}">
                <a16:creationId xmlns:a16="http://schemas.microsoft.com/office/drawing/2014/main" id="{58116ACD-219E-D8AC-B128-D5E1EA239BDA}"/>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15" name="CuadroTexto 14">
            <a:extLst>
              <a:ext uri="{FF2B5EF4-FFF2-40B4-BE49-F238E27FC236}">
                <a16:creationId xmlns:a16="http://schemas.microsoft.com/office/drawing/2014/main" id="{A8CA3F43-74D8-B678-A317-79FDC2BC6B9B}"/>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16" name="PageNo">
            <a:extLst>
              <a:ext uri="{FF2B5EF4-FFF2-40B4-BE49-F238E27FC236}">
                <a16:creationId xmlns:a16="http://schemas.microsoft.com/office/drawing/2014/main" id="{DC10F3D3-0560-AC69-795B-EA498D050AC9}"/>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20 / 38</a:t>
            </a:r>
          </a:p>
        </p:txBody>
      </p:sp>
    </p:spTree>
    <p:extLst>
      <p:ext uri="{BB962C8B-B14F-4D97-AF65-F5344CB8AC3E}">
        <p14:creationId xmlns:p14="http://schemas.microsoft.com/office/powerpoint/2010/main" val="31883703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166108C-5ABE-2DE9-D27E-2E0A2A8A8407}"/>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MX" sz="900" spc="180">
                <a:solidFill>
                  <a:srgbClr val="6A4F20"/>
                </a:solidFill>
                <a:latin typeface="Segoe UI Semibold" panose="020B0702040204020203" pitchFamily="34" charset="0"/>
              </a:rPr>
              <a:t>PARTE 4 · EL COSTE DEL CICLO DE VIDA</a:t>
            </a:r>
            <a:endParaRPr lang="es-BO" sz="900" spc="180">
              <a:solidFill>
                <a:srgbClr val="6A4F20"/>
              </a:solidFill>
              <a:latin typeface="Segoe UI Semibold" panose="020B0702040204020203" pitchFamily="34" charset="0"/>
            </a:endParaRPr>
          </a:p>
        </p:txBody>
      </p:sp>
      <p:sp>
        <p:nvSpPr>
          <p:cNvPr id="3" name="Title">
            <a:extLst>
              <a:ext uri="{FF2B5EF4-FFF2-40B4-BE49-F238E27FC236}">
                <a16:creationId xmlns:a16="http://schemas.microsoft.com/office/drawing/2014/main" id="{671AA0C0-2B36-D8CF-439C-1CC74C2B5AFD}"/>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La Ley de Sitter vuelve, y ahora con la factura delante</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D48C9634-3D97-8708-A57D-455BC34BBE4F}"/>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6" name="Rectángulo 5">
            <a:extLst>
              <a:ext uri="{FF2B5EF4-FFF2-40B4-BE49-F238E27FC236}">
                <a16:creationId xmlns:a16="http://schemas.microsoft.com/office/drawing/2014/main" id="{EABE154C-BFD1-3417-C47F-66C168996F44}"/>
              </a:ext>
            </a:extLst>
          </p:cNvPr>
          <p:cNvSpPr/>
          <p:nvPr/>
        </p:nvSpPr>
        <p:spPr>
          <a:xfrm>
            <a:off x="609600" y="1422400"/>
            <a:ext cx="2641600" cy="27940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8" name="CuadroTexto 7">
            <a:extLst>
              <a:ext uri="{FF2B5EF4-FFF2-40B4-BE49-F238E27FC236}">
                <a16:creationId xmlns:a16="http://schemas.microsoft.com/office/drawing/2014/main" id="{2218885B-47F0-CF46-6A5B-E14A2EF93727}"/>
              </a:ext>
            </a:extLst>
          </p:cNvPr>
          <p:cNvSpPr txBox="1"/>
          <p:nvPr/>
        </p:nvSpPr>
        <p:spPr>
          <a:xfrm>
            <a:off x="812800" y="1600200"/>
            <a:ext cx="1016000" cy="304800"/>
          </a:xfrm>
          <a:prstGeom prst="rect">
            <a:avLst/>
          </a:prstGeom>
          <a:noFill/>
        </p:spPr>
        <p:txBody>
          <a:bodyPr vert="horz" wrap="square" lIns="0" tIns="0" rIns="0" bIns="0" rtlCol="0" anchor="t">
            <a:noAutofit/>
          </a:bodyPr>
          <a:lstStyle/>
          <a:p>
            <a:r>
              <a:rPr lang="es-BO" sz="2000">
                <a:solidFill>
                  <a:srgbClr val="8A6A2F"/>
                </a:solidFill>
                <a:latin typeface="Bahnschrift Light" panose="020B0502040204020203" pitchFamily="34" charset="0"/>
              </a:rPr>
              <a:t>1</a:t>
            </a:r>
          </a:p>
        </p:txBody>
      </p:sp>
      <p:sp>
        <p:nvSpPr>
          <p:cNvPr id="9" name="CuadroTexto 8">
            <a:extLst>
              <a:ext uri="{FF2B5EF4-FFF2-40B4-BE49-F238E27FC236}">
                <a16:creationId xmlns:a16="http://schemas.microsoft.com/office/drawing/2014/main" id="{8A7C9EDE-197D-D349-20A8-637BFE57C6D1}"/>
              </a:ext>
            </a:extLst>
          </p:cNvPr>
          <p:cNvSpPr txBox="1"/>
          <p:nvPr/>
        </p:nvSpPr>
        <p:spPr>
          <a:xfrm>
            <a:off x="812800" y="1981200"/>
            <a:ext cx="2260600" cy="279400"/>
          </a:xfrm>
          <a:prstGeom prst="rect">
            <a:avLst/>
          </a:prstGeom>
          <a:noFill/>
        </p:spPr>
        <p:txBody>
          <a:bodyPr vert="horz" wrap="square" lIns="0" tIns="0" rIns="0" bIns="0" rtlCol="0" anchor="t">
            <a:noAutofit/>
          </a:bodyPr>
          <a:lstStyle/>
          <a:p>
            <a:r>
              <a:rPr lang="es-BO" sz="1400">
                <a:solidFill>
                  <a:srgbClr val="1C1813"/>
                </a:solidFill>
                <a:latin typeface="Bahnschrift SemiBold" panose="020B0502040204020203" pitchFamily="34" charset="0"/>
              </a:rPr>
              <a:t>Proyecto</a:t>
            </a:r>
          </a:p>
        </p:txBody>
      </p:sp>
      <p:sp>
        <p:nvSpPr>
          <p:cNvPr id="10" name="CuadroTexto 9">
            <a:extLst>
              <a:ext uri="{FF2B5EF4-FFF2-40B4-BE49-F238E27FC236}">
                <a16:creationId xmlns:a16="http://schemas.microsoft.com/office/drawing/2014/main" id="{0C8C6386-17B5-2530-F9FA-D2F7032134A6}"/>
              </a:ext>
            </a:extLst>
          </p:cNvPr>
          <p:cNvSpPr txBox="1"/>
          <p:nvPr/>
        </p:nvSpPr>
        <p:spPr>
          <a:xfrm>
            <a:off x="812800" y="2273300"/>
            <a:ext cx="2235200" cy="1854200"/>
          </a:xfrm>
          <a:prstGeom prst="rect">
            <a:avLst/>
          </a:prstGeom>
          <a:noFill/>
        </p:spPr>
        <p:txBody>
          <a:bodyPr vert="horz" wrap="square" lIns="0" tIns="0" rIns="0" bIns="0" rtlCol="0" anchor="t">
            <a:noAutofit/>
          </a:bodyPr>
          <a:lstStyle/>
          <a:p>
            <a:pPr algn="l"/>
            <a:r>
              <a:rPr lang="es-MX" sz="1100">
                <a:solidFill>
                  <a:srgbClr val="5A5248"/>
                </a:solidFill>
                <a:latin typeface="Segoe UI" panose="020B0502040204020203" pitchFamily="34" charset="0"/>
              </a:rPr>
              <a:t>Especificar bien la clase de exposición, el recubrimiento y el curado. Es el único momento en que la durabilidad es gratis.</a:t>
            </a:r>
            <a:endParaRPr lang="es-BO" sz="1100">
              <a:solidFill>
                <a:srgbClr val="5A5248"/>
              </a:solidFill>
              <a:latin typeface="Segoe UI" panose="020B0502040204020203" pitchFamily="34" charset="0"/>
            </a:endParaRPr>
          </a:p>
        </p:txBody>
      </p:sp>
      <p:sp>
        <p:nvSpPr>
          <p:cNvPr id="11" name="Rectángulo 10">
            <a:extLst>
              <a:ext uri="{FF2B5EF4-FFF2-40B4-BE49-F238E27FC236}">
                <a16:creationId xmlns:a16="http://schemas.microsoft.com/office/drawing/2014/main" id="{4500B617-2683-1321-9BBB-23037277F0BD}"/>
              </a:ext>
            </a:extLst>
          </p:cNvPr>
          <p:cNvSpPr/>
          <p:nvPr/>
        </p:nvSpPr>
        <p:spPr>
          <a:xfrm>
            <a:off x="3403600" y="1422400"/>
            <a:ext cx="2641600" cy="27940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3" name="CuadroTexto 12">
            <a:extLst>
              <a:ext uri="{FF2B5EF4-FFF2-40B4-BE49-F238E27FC236}">
                <a16:creationId xmlns:a16="http://schemas.microsoft.com/office/drawing/2014/main" id="{9979BBB1-65FA-2B8E-79F4-509222B9EC69}"/>
              </a:ext>
            </a:extLst>
          </p:cNvPr>
          <p:cNvSpPr txBox="1"/>
          <p:nvPr/>
        </p:nvSpPr>
        <p:spPr>
          <a:xfrm>
            <a:off x="3606800" y="1600200"/>
            <a:ext cx="1016000" cy="304800"/>
          </a:xfrm>
          <a:prstGeom prst="rect">
            <a:avLst/>
          </a:prstGeom>
          <a:noFill/>
        </p:spPr>
        <p:txBody>
          <a:bodyPr vert="horz" wrap="square" lIns="0" tIns="0" rIns="0" bIns="0" rtlCol="0" anchor="t">
            <a:noAutofit/>
          </a:bodyPr>
          <a:lstStyle/>
          <a:p>
            <a:r>
              <a:rPr lang="es-BO" sz="2000">
                <a:solidFill>
                  <a:srgbClr val="8A6A2F"/>
                </a:solidFill>
                <a:latin typeface="Bahnschrift Light" panose="020B0502040204020203" pitchFamily="34" charset="0"/>
              </a:rPr>
              <a:t>5</a:t>
            </a:r>
          </a:p>
        </p:txBody>
      </p:sp>
      <p:sp>
        <p:nvSpPr>
          <p:cNvPr id="14" name="CuadroTexto 13">
            <a:extLst>
              <a:ext uri="{FF2B5EF4-FFF2-40B4-BE49-F238E27FC236}">
                <a16:creationId xmlns:a16="http://schemas.microsoft.com/office/drawing/2014/main" id="{81FED7AF-6CF9-4D3E-AEA9-153D2153B849}"/>
              </a:ext>
            </a:extLst>
          </p:cNvPr>
          <p:cNvSpPr txBox="1"/>
          <p:nvPr/>
        </p:nvSpPr>
        <p:spPr>
          <a:xfrm>
            <a:off x="3606800" y="1981200"/>
            <a:ext cx="2260600" cy="279400"/>
          </a:xfrm>
          <a:prstGeom prst="rect">
            <a:avLst/>
          </a:prstGeom>
          <a:noFill/>
        </p:spPr>
        <p:txBody>
          <a:bodyPr vert="horz" wrap="square" lIns="0" tIns="0" rIns="0" bIns="0" rtlCol="0" anchor="t">
            <a:noAutofit/>
          </a:bodyPr>
          <a:lstStyle/>
          <a:p>
            <a:r>
              <a:rPr lang="es-BO" sz="1400">
                <a:solidFill>
                  <a:srgbClr val="1C1813"/>
                </a:solidFill>
                <a:latin typeface="Bahnschrift SemiBold" panose="020B0502040204020203" pitchFamily="34" charset="0"/>
              </a:rPr>
              <a:t>Ejecución</a:t>
            </a:r>
          </a:p>
        </p:txBody>
      </p:sp>
      <p:sp>
        <p:nvSpPr>
          <p:cNvPr id="15" name="CuadroTexto 14">
            <a:extLst>
              <a:ext uri="{FF2B5EF4-FFF2-40B4-BE49-F238E27FC236}">
                <a16:creationId xmlns:a16="http://schemas.microsoft.com/office/drawing/2014/main" id="{1FCBD771-D766-87E5-B1F2-45A3FE58E5E2}"/>
              </a:ext>
            </a:extLst>
          </p:cNvPr>
          <p:cNvSpPr txBox="1"/>
          <p:nvPr/>
        </p:nvSpPr>
        <p:spPr>
          <a:xfrm>
            <a:off x="3606800" y="2273300"/>
            <a:ext cx="2235200" cy="1854200"/>
          </a:xfrm>
          <a:prstGeom prst="rect">
            <a:avLst/>
          </a:prstGeom>
          <a:noFill/>
        </p:spPr>
        <p:txBody>
          <a:bodyPr vert="horz" wrap="square" lIns="0" tIns="0" rIns="0" bIns="0" rtlCol="0" anchor="t">
            <a:noAutofit/>
          </a:bodyPr>
          <a:lstStyle/>
          <a:p>
            <a:pPr algn="l"/>
            <a:r>
              <a:rPr lang="es-MX" sz="1100">
                <a:solidFill>
                  <a:srgbClr val="5A5248"/>
                </a:solidFill>
                <a:latin typeface="Segoe UI" panose="020B0502040204020203" pitchFamily="34" charset="0"/>
              </a:rPr>
              <a:t>Corregir en obra lo que el proyecto dejó mal. Todavía barato, y es cuando se pierde casi toda la durabilidad.</a:t>
            </a:r>
            <a:endParaRPr lang="es-BO" sz="1100">
              <a:solidFill>
                <a:srgbClr val="5A5248"/>
              </a:solidFill>
              <a:latin typeface="Segoe UI" panose="020B0502040204020203" pitchFamily="34" charset="0"/>
            </a:endParaRPr>
          </a:p>
        </p:txBody>
      </p:sp>
      <p:sp>
        <p:nvSpPr>
          <p:cNvPr id="16" name="Rectángulo 15">
            <a:extLst>
              <a:ext uri="{FF2B5EF4-FFF2-40B4-BE49-F238E27FC236}">
                <a16:creationId xmlns:a16="http://schemas.microsoft.com/office/drawing/2014/main" id="{4B7544B9-9008-F487-ABE6-0C4900100BE8}"/>
              </a:ext>
            </a:extLst>
          </p:cNvPr>
          <p:cNvSpPr/>
          <p:nvPr/>
        </p:nvSpPr>
        <p:spPr>
          <a:xfrm>
            <a:off x="6197600" y="1422400"/>
            <a:ext cx="2641600" cy="27940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8" name="CuadroTexto 17">
            <a:extLst>
              <a:ext uri="{FF2B5EF4-FFF2-40B4-BE49-F238E27FC236}">
                <a16:creationId xmlns:a16="http://schemas.microsoft.com/office/drawing/2014/main" id="{24D048F2-480F-90BE-921D-83E417B65EBA}"/>
              </a:ext>
            </a:extLst>
          </p:cNvPr>
          <p:cNvSpPr txBox="1"/>
          <p:nvPr/>
        </p:nvSpPr>
        <p:spPr>
          <a:xfrm>
            <a:off x="6400800" y="1600200"/>
            <a:ext cx="1016000" cy="304800"/>
          </a:xfrm>
          <a:prstGeom prst="rect">
            <a:avLst/>
          </a:prstGeom>
          <a:noFill/>
        </p:spPr>
        <p:txBody>
          <a:bodyPr vert="horz" wrap="square" lIns="0" tIns="0" rIns="0" bIns="0" rtlCol="0" anchor="t">
            <a:noAutofit/>
          </a:bodyPr>
          <a:lstStyle/>
          <a:p>
            <a:r>
              <a:rPr lang="es-BO" sz="2000">
                <a:solidFill>
                  <a:srgbClr val="8A6A2F"/>
                </a:solidFill>
                <a:latin typeface="Bahnschrift Light" panose="020B0502040204020203" pitchFamily="34" charset="0"/>
              </a:rPr>
              <a:t>25</a:t>
            </a:r>
          </a:p>
        </p:txBody>
      </p:sp>
      <p:sp>
        <p:nvSpPr>
          <p:cNvPr id="19" name="CuadroTexto 18">
            <a:extLst>
              <a:ext uri="{FF2B5EF4-FFF2-40B4-BE49-F238E27FC236}">
                <a16:creationId xmlns:a16="http://schemas.microsoft.com/office/drawing/2014/main" id="{FD94C5C1-1B2B-E729-7BAA-73AC4568CA9C}"/>
              </a:ext>
            </a:extLst>
          </p:cNvPr>
          <p:cNvSpPr txBox="1"/>
          <p:nvPr/>
        </p:nvSpPr>
        <p:spPr>
          <a:xfrm>
            <a:off x="6400800" y="1981200"/>
            <a:ext cx="2260600" cy="279400"/>
          </a:xfrm>
          <a:prstGeom prst="rect">
            <a:avLst/>
          </a:prstGeom>
          <a:noFill/>
        </p:spPr>
        <p:txBody>
          <a:bodyPr vert="horz" wrap="square" lIns="0" tIns="0" rIns="0" bIns="0" rtlCol="0" anchor="t">
            <a:noAutofit/>
          </a:bodyPr>
          <a:lstStyle/>
          <a:p>
            <a:r>
              <a:rPr lang="es-BO" sz="1400">
                <a:solidFill>
                  <a:srgbClr val="1C1813"/>
                </a:solidFill>
                <a:latin typeface="Bahnschrift SemiBold" panose="020B0502040204020203" pitchFamily="34" charset="0"/>
              </a:rPr>
              <a:t>Mantenimiento</a:t>
            </a:r>
          </a:p>
        </p:txBody>
      </p:sp>
      <p:sp>
        <p:nvSpPr>
          <p:cNvPr id="20" name="CuadroTexto 19">
            <a:extLst>
              <a:ext uri="{FF2B5EF4-FFF2-40B4-BE49-F238E27FC236}">
                <a16:creationId xmlns:a16="http://schemas.microsoft.com/office/drawing/2014/main" id="{10AB9B4C-838F-8ED4-BF1F-9B0BAB7064DE}"/>
              </a:ext>
            </a:extLst>
          </p:cNvPr>
          <p:cNvSpPr txBox="1"/>
          <p:nvPr/>
        </p:nvSpPr>
        <p:spPr>
          <a:xfrm>
            <a:off x="6400800" y="2273300"/>
            <a:ext cx="2235200" cy="1854200"/>
          </a:xfrm>
          <a:prstGeom prst="rect">
            <a:avLst/>
          </a:prstGeom>
          <a:noFill/>
        </p:spPr>
        <p:txBody>
          <a:bodyPr vert="horz" wrap="square" lIns="0" tIns="0" rIns="0" bIns="0" rtlCol="0" anchor="t">
            <a:noAutofit/>
          </a:bodyPr>
          <a:lstStyle/>
          <a:p>
            <a:pPr algn="l"/>
            <a:r>
              <a:rPr lang="es-MX" sz="1100">
                <a:solidFill>
                  <a:srgbClr val="5A5248"/>
                </a:solidFill>
                <a:latin typeface="Segoe UI" panose="020B0502040204020203" pitchFamily="34" charset="0"/>
              </a:rPr>
              <a:t>Intervenir cuando el deterioro ya empezó pero aún es superficial. Aquí es donde actúa un plan de mantenimiento que funciona.</a:t>
            </a:r>
            <a:endParaRPr lang="es-BO" sz="1100">
              <a:solidFill>
                <a:srgbClr val="5A5248"/>
              </a:solidFill>
              <a:latin typeface="Segoe UI" panose="020B0502040204020203" pitchFamily="34" charset="0"/>
            </a:endParaRPr>
          </a:p>
        </p:txBody>
      </p:sp>
      <p:sp>
        <p:nvSpPr>
          <p:cNvPr id="21" name="Rectángulo 20">
            <a:extLst>
              <a:ext uri="{FF2B5EF4-FFF2-40B4-BE49-F238E27FC236}">
                <a16:creationId xmlns:a16="http://schemas.microsoft.com/office/drawing/2014/main" id="{68A50756-D190-7BE0-43D1-4F985CE5325F}"/>
              </a:ext>
            </a:extLst>
          </p:cNvPr>
          <p:cNvSpPr/>
          <p:nvPr/>
        </p:nvSpPr>
        <p:spPr>
          <a:xfrm>
            <a:off x="8991600" y="1422400"/>
            <a:ext cx="2641600" cy="27940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3" name="CuadroTexto 22">
            <a:extLst>
              <a:ext uri="{FF2B5EF4-FFF2-40B4-BE49-F238E27FC236}">
                <a16:creationId xmlns:a16="http://schemas.microsoft.com/office/drawing/2014/main" id="{449F47AB-6963-A49D-9D1D-E8A7C5866425}"/>
              </a:ext>
            </a:extLst>
          </p:cNvPr>
          <p:cNvSpPr txBox="1"/>
          <p:nvPr/>
        </p:nvSpPr>
        <p:spPr>
          <a:xfrm>
            <a:off x="9194800" y="1600200"/>
            <a:ext cx="1016000" cy="304800"/>
          </a:xfrm>
          <a:prstGeom prst="rect">
            <a:avLst/>
          </a:prstGeom>
          <a:noFill/>
        </p:spPr>
        <p:txBody>
          <a:bodyPr vert="horz" wrap="square" lIns="0" tIns="0" rIns="0" bIns="0" rtlCol="0" anchor="t">
            <a:noAutofit/>
          </a:bodyPr>
          <a:lstStyle/>
          <a:p>
            <a:r>
              <a:rPr lang="es-BO" sz="2000">
                <a:solidFill>
                  <a:srgbClr val="8A6A2F"/>
                </a:solidFill>
                <a:latin typeface="Bahnschrift Light" panose="020B0502040204020203" pitchFamily="34" charset="0"/>
              </a:rPr>
              <a:t>125</a:t>
            </a:r>
          </a:p>
        </p:txBody>
      </p:sp>
      <p:sp>
        <p:nvSpPr>
          <p:cNvPr id="24" name="CuadroTexto 23">
            <a:extLst>
              <a:ext uri="{FF2B5EF4-FFF2-40B4-BE49-F238E27FC236}">
                <a16:creationId xmlns:a16="http://schemas.microsoft.com/office/drawing/2014/main" id="{246EC0D8-72C8-98EB-7D53-07749E4EC626}"/>
              </a:ext>
            </a:extLst>
          </p:cNvPr>
          <p:cNvSpPr txBox="1"/>
          <p:nvPr/>
        </p:nvSpPr>
        <p:spPr>
          <a:xfrm>
            <a:off x="9194800" y="1981200"/>
            <a:ext cx="2260600" cy="279400"/>
          </a:xfrm>
          <a:prstGeom prst="rect">
            <a:avLst/>
          </a:prstGeom>
          <a:noFill/>
        </p:spPr>
        <p:txBody>
          <a:bodyPr vert="horz" wrap="square" lIns="0" tIns="0" rIns="0" bIns="0" rtlCol="0" anchor="t">
            <a:noAutofit/>
          </a:bodyPr>
          <a:lstStyle/>
          <a:p>
            <a:r>
              <a:rPr lang="es-BO" sz="1400">
                <a:solidFill>
                  <a:srgbClr val="1C1813"/>
                </a:solidFill>
                <a:latin typeface="Bahnschrift SemiBold" panose="020B0502040204020203" pitchFamily="34" charset="0"/>
              </a:rPr>
              <a:t>Reparación</a:t>
            </a:r>
          </a:p>
        </p:txBody>
      </p:sp>
      <p:sp>
        <p:nvSpPr>
          <p:cNvPr id="25" name="CuadroTexto 24">
            <a:extLst>
              <a:ext uri="{FF2B5EF4-FFF2-40B4-BE49-F238E27FC236}">
                <a16:creationId xmlns:a16="http://schemas.microsoft.com/office/drawing/2014/main" id="{E5E5F372-FA7E-3651-AF11-20334F7F8029}"/>
              </a:ext>
            </a:extLst>
          </p:cNvPr>
          <p:cNvSpPr txBox="1"/>
          <p:nvPr/>
        </p:nvSpPr>
        <p:spPr>
          <a:xfrm>
            <a:off x="9194800" y="2273300"/>
            <a:ext cx="2235200" cy="1854200"/>
          </a:xfrm>
          <a:prstGeom prst="rect">
            <a:avLst/>
          </a:prstGeom>
          <a:noFill/>
        </p:spPr>
        <p:txBody>
          <a:bodyPr vert="horz" wrap="square" lIns="0" tIns="0" rIns="0" bIns="0" rtlCol="0" anchor="t">
            <a:noAutofit/>
          </a:bodyPr>
          <a:lstStyle/>
          <a:p>
            <a:pPr algn="l"/>
            <a:r>
              <a:rPr lang="es-MX" sz="1100">
                <a:solidFill>
                  <a:srgbClr val="5A5248"/>
                </a:solidFill>
                <a:latin typeface="Segoe UI" panose="020B0502040204020203" pitchFamily="34" charset="0"/>
              </a:rPr>
              <a:t>Intervenir cuando el daño es visible y estructural. Es toda la clase 6 y buena parte de la 7.</a:t>
            </a:r>
            <a:endParaRPr lang="es-BO" sz="1100">
              <a:solidFill>
                <a:srgbClr val="5A5248"/>
              </a:solidFill>
              <a:latin typeface="Segoe UI" panose="020B0502040204020203" pitchFamily="34" charset="0"/>
            </a:endParaRPr>
          </a:p>
        </p:txBody>
      </p:sp>
      <p:pic>
        <p:nvPicPr>
          <p:cNvPr id="27" name="Imagen 26" descr="Ley de Sitter: coste relativo 1, 5, 25 y 125 según la etapa del deterioro">
            <a:extLst>
              <a:ext uri="{FF2B5EF4-FFF2-40B4-BE49-F238E27FC236}">
                <a16:creationId xmlns:a16="http://schemas.microsoft.com/office/drawing/2014/main" id="{BBEB4FA9-A793-9066-02BE-810B2F98233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4318000"/>
            <a:ext cx="10972800" cy="1320800"/>
          </a:xfrm>
          <a:prstGeom prst="rect">
            <a:avLst/>
          </a:prstGeom>
        </p:spPr>
      </p:pic>
      <p:sp>
        <p:nvSpPr>
          <p:cNvPr id="28" name="Rectángulo 27">
            <a:extLst>
              <a:ext uri="{FF2B5EF4-FFF2-40B4-BE49-F238E27FC236}">
                <a16:creationId xmlns:a16="http://schemas.microsoft.com/office/drawing/2014/main" id="{9F71678D-56B6-2F98-6AF0-1E5B3A66588A}"/>
              </a:ext>
            </a:extLst>
          </p:cNvPr>
          <p:cNvSpPr/>
          <p:nvPr/>
        </p:nvSpPr>
        <p:spPr>
          <a:xfrm>
            <a:off x="609600" y="5765800"/>
            <a:ext cx="10972800" cy="406400"/>
          </a:xfrm>
          <a:prstGeom prst="rect">
            <a:avLst/>
          </a:prstGeom>
          <a:solidFill>
            <a:srgbClr val="241F1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30" name="CuadroTexto 29">
            <a:extLst>
              <a:ext uri="{FF2B5EF4-FFF2-40B4-BE49-F238E27FC236}">
                <a16:creationId xmlns:a16="http://schemas.microsoft.com/office/drawing/2014/main" id="{77B69171-89E3-7E2C-7CEA-57408279C74B}"/>
              </a:ext>
            </a:extLst>
          </p:cNvPr>
          <p:cNvSpPr txBox="1"/>
          <p:nvPr/>
        </p:nvSpPr>
        <p:spPr>
          <a:xfrm>
            <a:off x="838200" y="5816600"/>
            <a:ext cx="10566400" cy="304800"/>
          </a:xfrm>
          <a:prstGeom prst="rect">
            <a:avLst/>
          </a:prstGeom>
          <a:noFill/>
        </p:spPr>
        <p:txBody>
          <a:bodyPr vert="horz" wrap="square" lIns="0" tIns="0" rIns="0" bIns="0" rtlCol="0" anchor="ctr">
            <a:noAutofit/>
          </a:bodyPr>
          <a:lstStyle/>
          <a:p>
            <a:pPr algn="l"/>
            <a:r>
              <a:rPr lang="es-MX" sz="1200">
                <a:solidFill>
                  <a:srgbClr val="FFFFFF"/>
                </a:solidFill>
                <a:latin typeface="Segoe UI" panose="020B0502040204020203" pitchFamily="34" charset="0"/>
              </a:rPr>
              <a:t>La columna 25 es la que este curso pretende ocupar. </a:t>
            </a:r>
            <a:r>
              <a:rPr lang="es-MX" sz="1200" b="1">
                <a:solidFill>
                  <a:srgbClr val="FFFFFF"/>
                </a:solidFill>
                <a:latin typeface="Segoe UI Semibold" panose="020B0702040204020203" pitchFamily="34" charset="0"/>
              </a:rPr>
              <a:t>No se trata de reparar mejor: se trata de intervenir antes</a:t>
            </a:r>
            <a:r>
              <a:rPr lang="es-MX" sz="1200">
                <a:solidFill>
                  <a:srgbClr val="FFFFFF"/>
                </a:solidFill>
                <a:latin typeface="Segoe UI" panose="020B0502040204020203" pitchFamily="34" charset="0"/>
              </a:rPr>
              <a:t>, y para eso hace falta exactamente lo que se ha hecho en las clases 1 a 5.</a:t>
            </a:r>
            <a:endParaRPr lang="es-BO" sz="1200">
              <a:solidFill>
                <a:srgbClr val="FFFFFF"/>
              </a:solidFill>
              <a:latin typeface="Segoe UI" panose="020B0502040204020203" pitchFamily="34" charset="0"/>
            </a:endParaRPr>
          </a:p>
        </p:txBody>
      </p:sp>
      <p:sp>
        <p:nvSpPr>
          <p:cNvPr id="31" name="CuadroTexto 30">
            <a:extLst>
              <a:ext uri="{FF2B5EF4-FFF2-40B4-BE49-F238E27FC236}">
                <a16:creationId xmlns:a16="http://schemas.microsoft.com/office/drawing/2014/main" id="{7CCB3D54-F051-0E95-3883-E0BA86AA76ED}"/>
              </a:ext>
            </a:extLst>
          </p:cNvPr>
          <p:cNvSpPr txBox="1"/>
          <p:nvPr/>
        </p:nvSpPr>
        <p:spPr>
          <a:xfrm>
            <a:off x="609600" y="6324600"/>
            <a:ext cx="10972800" cy="152400"/>
          </a:xfrm>
          <a:prstGeom prst="rect">
            <a:avLst/>
          </a:prstGeom>
          <a:noFill/>
        </p:spPr>
        <p:txBody>
          <a:bodyPr vert="horz" wrap="square" lIns="0" tIns="0" rIns="0" bIns="0" rtlCol="0" anchor="t">
            <a:noAutofit/>
          </a:bodyPr>
          <a:lstStyle/>
          <a:p>
            <a:pPr algn="l"/>
            <a:r>
              <a:rPr lang="es-MX" sz="700">
                <a:solidFill>
                  <a:srgbClr val="938A7C"/>
                </a:solidFill>
                <a:latin typeface="Segoe UI" panose="020B0502040204020203" pitchFamily="34" charset="0"/>
              </a:rPr>
              <a:t>Fuente: Ley de Sitter (CEB); se introdujo en la clase 1.</a:t>
            </a:r>
            <a:endParaRPr lang="es-BO" sz="700">
              <a:solidFill>
                <a:srgbClr val="938A7C"/>
              </a:solidFill>
              <a:latin typeface="Segoe UI" panose="020B0502040204020203" pitchFamily="34" charset="0"/>
            </a:endParaRPr>
          </a:p>
        </p:txBody>
      </p:sp>
      <p:cxnSp>
        <p:nvCxnSpPr>
          <p:cNvPr id="32" name="Conector recto 31">
            <a:extLst>
              <a:ext uri="{FF2B5EF4-FFF2-40B4-BE49-F238E27FC236}">
                <a16:creationId xmlns:a16="http://schemas.microsoft.com/office/drawing/2014/main" id="{83550ECE-107F-A4C1-40B1-9350B34572D8}"/>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33" name="CuadroTexto 32">
            <a:extLst>
              <a:ext uri="{FF2B5EF4-FFF2-40B4-BE49-F238E27FC236}">
                <a16:creationId xmlns:a16="http://schemas.microsoft.com/office/drawing/2014/main" id="{01E20401-44AE-FE5E-AE6A-EDAA3102F55A}"/>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34" name="CuadroTexto 33">
            <a:extLst>
              <a:ext uri="{FF2B5EF4-FFF2-40B4-BE49-F238E27FC236}">
                <a16:creationId xmlns:a16="http://schemas.microsoft.com/office/drawing/2014/main" id="{E7A61F87-299D-7084-F5E5-78AD36612759}"/>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35" name="PageNo">
            <a:extLst>
              <a:ext uri="{FF2B5EF4-FFF2-40B4-BE49-F238E27FC236}">
                <a16:creationId xmlns:a16="http://schemas.microsoft.com/office/drawing/2014/main" id="{C9F09337-AA7F-3B49-B998-16371E51995E}"/>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21 / 38</a:t>
            </a:r>
          </a:p>
        </p:txBody>
      </p:sp>
    </p:spTree>
    <p:extLst>
      <p:ext uri="{BB962C8B-B14F-4D97-AF65-F5344CB8AC3E}">
        <p14:creationId xmlns:p14="http://schemas.microsoft.com/office/powerpoint/2010/main" val="27229647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C1813"/>
        </a:solidFill>
        <a:effectLst/>
      </p:bgPr>
    </p:bg>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4A225819-475F-8C77-6AD4-9206CEB0368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Rectángulo 3">
            <a:extLst>
              <a:ext uri="{FF2B5EF4-FFF2-40B4-BE49-F238E27FC236}">
                <a16:creationId xmlns:a16="http://schemas.microsoft.com/office/drawing/2014/main" id="{F3BEFF55-E083-7303-EEDD-DED18C06C0E9}"/>
              </a:ext>
            </a:extLst>
          </p:cNvPr>
          <p:cNvSpPr/>
          <p:nvPr/>
        </p:nvSpPr>
        <p:spPr>
          <a:xfrm>
            <a:off x="0" y="0"/>
            <a:ext cx="10668000" cy="6858000"/>
          </a:xfrm>
          <a:prstGeom prst="rect">
            <a:avLst/>
          </a:prstGeom>
          <a:gradFill flip="none" rotWithShape="1">
            <a:gsLst>
              <a:gs pos="0">
                <a:srgbClr val="1C1813"/>
              </a:gs>
              <a:gs pos="100000">
                <a:srgbClr val="1C1813">
                  <a:alpha val="0"/>
                </a:srgbClr>
              </a:gs>
            </a:gsLst>
            <a:lin ang="0" scaled="1"/>
            <a:tileRect/>
          </a:gra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5" name="Rectángulo 4">
            <a:extLst>
              <a:ext uri="{FF2B5EF4-FFF2-40B4-BE49-F238E27FC236}">
                <a16:creationId xmlns:a16="http://schemas.microsoft.com/office/drawing/2014/main" id="{CBD20BE4-B5B9-2D90-235F-4AB9142D0DE1}"/>
              </a:ext>
            </a:extLst>
          </p:cNvPr>
          <p:cNvSpPr/>
          <p:nvPr/>
        </p:nvSpPr>
        <p:spPr>
          <a:xfrm>
            <a:off x="0" y="0"/>
            <a:ext cx="12192000" cy="6858000"/>
          </a:xfrm>
          <a:prstGeom prst="rect">
            <a:avLst/>
          </a:prstGeom>
          <a:solidFill>
            <a:srgbClr val="1C1813">
              <a:alpha val="58000"/>
            </a:srgb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6" name="CuadroTexto 5">
            <a:extLst>
              <a:ext uri="{FF2B5EF4-FFF2-40B4-BE49-F238E27FC236}">
                <a16:creationId xmlns:a16="http://schemas.microsoft.com/office/drawing/2014/main" id="{5A25EC0B-9A37-4185-475C-4367F941540F}"/>
              </a:ext>
            </a:extLst>
          </p:cNvPr>
          <p:cNvSpPr txBox="1"/>
          <p:nvPr/>
        </p:nvSpPr>
        <p:spPr>
          <a:xfrm>
            <a:off x="609600" y="1905000"/>
            <a:ext cx="3810000" cy="254000"/>
          </a:xfrm>
          <a:prstGeom prst="rect">
            <a:avLst/>
          </a:prstGeom>
          <a:noFill/>
        </p:spPr>
        <p:txBody>
          <a:bodyPr vert="horz" wrap="square" lIns="0" tIns="0" rIns="0" bIns="0" rtlCol="0" anchor="t">
            <a:noAutofit/>
          </a:bodyPr>
          <a:lstStyle/>
          <a:p>
            <a:r>
              <a:rPr lang="es-BO" sz="1100" spc="300">
                <a:solidFill>
                  <a:srgbClr val="C9A66B"/>
                </a:solidFill>
                <a:latin typeface="Segoe UI Semibold" panose="020B0702040204020203" pitchFamily="34" charset="0"/>
              </a:rPr>
              <a:t>CASO RESUELTO</a:t>
            </a:r>
          </a:p>
        </p:txBody>
      </p:sp>
      <p:sp>
        <p:nvSpPr>
          <p:cNvPr id="7" name="Title">
            <a:extLst>
              <a:ext uri="{FF2B5EF4-FFF2-40B4-BE49-F238E27FC236}">
                <a16:creationId xmlns:a16="http://schemas.microsoft.com/office/drawing/2014/main" id="{F546A7C6-6570-84E3-41B1-AC40F1FAAB07}"/>
              </a:ext>
            </a:extLst>
          </p:cNvPr>
          <p:cNvSpPr txBox="1"/>
          <p:nvPr/>
        </p:nvSpPr>
        <p:spPr>
          <a:xfrm>
            <a:off x="584200" y="2235200"/>
            <a:ext cx="7874000" cy="1397000"/>
          </a:xfrm>
          <a:prstGeom prst="rect">
            <a:avLst/>
          </a:prstGeom>
          <a:noFill/>
        </p:spPr>
        <p:txBody>
          <a:bodyPr vert="horz" wrap="square" lIns="0" tIns="0" rIns="0" bIns="0" rtlCol="0" anchor="t">
            <a:noAutofit/>
          </a:bodyPr>
          <a:lstStyle/>
          <a:p>
            <a:r>
              <a:rPr lang="es-MX" sz="3800">
                <a:solidFill>
                  <a:srgbClr val="FFFFFF"/>
                </a:solidFill>
                <a:latin typeface="Bahnschrift SemiBold" panose="020B0502040204020203" pitchFamily="34" charset="0"/>
              </a:rPr>
              <a:t>La zapata que nadie estaba mirando</a:t>
            </a:r>
            <a:endParaRPr lang="es-BO" sz="3800">
              <a:solidFill>
                <a:srgbClr val="FFFFFF"/>
              </a:solidFill>
              <a:latin typeface="Bahnschrift SemiBold" panose="020B0502040204020203" pitchFamily="34" charset="0"/>
            </a:endParaRPr>
          </a:p>
        </p:txBody>
      </p:sp>
      <p:sp>
        <p:nvSpPr>
          <p:cNvPr id="8" name="Rectángulo 7">
            <a:extLst>
              <a:ext uri="{FF2B5EF4-FFF2-40B4-BE49-F238E27FC236}">
                <a16:creationId xmlns:a16="http://schemas.microsoft.com/office/drawing/2014/main" id="{8B8995E2-824E-2B05-F905-AF3467C840AE}"/>
              </a:ext>
            </a:extLst>
          </p:cNvPr>
          <p:cNvSpPr/>
          <p:nvPr/>
        </p:nvSpPr>
        <p:spPr>
          <a:xfrm>
            <a:off x="609600" y="3810000"/>
            <a:ext cx="609600" cy="3810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9" name="CuadroTexto 8">
            <a:extLst>
              <a:ext uri="{FF2B5EF4-FFF2-40B4-BE49-F238E27FC236}">
                <a16:creationId xmlns:a16="http://schemas.microsoft.com/office/drawing/2014/main" id="{60AAD0B9-E587-1FAB-773F-FE055F3D72FD}"/>
              </a:ext>
            </a:extLst>
          </p:cNvPr>
          <p:cNvSpPr txBox="1"/>
          <p:nvPr/>
        </p:nvSpPr>
        <p:spPr>
          <a:xfrm>
            <a:off x="609600" y="4013200"/>
            <a:ext cx="6604000" cy="762000"/>
          </a:xfrm>
          <a:prstGeom prst="rect">
            <a:avLst/>
          </a:prstGeom>
          <a:noFill/>
        </p:spPr>
        <p:txBody>
          <a:bodyPr vert="horz" wrap="square" lIns="0" tIns="0" rIns="0" bIns="0" rtlCol="0" anchor="t">
            <a:noAutofit/>
          </a:bodyPr>
          <a:lstStyle/>
          <a:p>
            <a:pPr algn="l"/>
            <a:r>
              <a:rPr lang="es-MX" sz="1400">
                <a:solidFill>
                  <a:srgbClr val="E6DFD2"/>
                </a:solidFill>
                <a:latin typeface="Bahnschrift Light" panose="020B0502040204020203" pitchFamily="34" charset="0"/>
              </a:rPr>
              <a:t>Un solo ejercicio, ocho pasos, una lámina por paso: de Terzaghi al ensanche y su conexión.</a:t>
            </a:r>
            <a:endParaRPr lang="es-BO" sz="1400">
              <a:solidFill>
                <a:srgbClr val="E6DFD2"/>
              </a:solidFill>
              <a:latin typeface="Bahnschrift Light" panose="020B0502040204020203" pitchFamily="34" charset="0"/>
            </a:endParaRPr>
          </a:p>
        </p:txBody>
      </p:sp>
      <p:sp>
        <p:nvSpPr>
          <p:cNvPr id="10" name="Rectángulo 9">
            <a:extLst>
              <a:ext uri="{FF2B5EF4-FFF2-40B4-BE49-F238E27FC236}">
                <a16:creationId xmlns:a16="http://schemas.microsoft.com/office/drawing/2014/main" id="{3504D60F-3113-BE58-CE9E-3F709227FF74}"/>
              </a:ext>
            </a:extLst>
          </p:cNvPr>
          <p:cNvSpPr/>
          <p:nvPr/>
        </p:nvSpPr>
        <p:spPr>
          <a:xfrm>
            <a:off x="609600" y="5054600"/>
            <a:ext cx="76200" cy="1524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1" name="CuadroTexto 10">
            <a:extLst>
              <a:ext uri="{FF2B5EF4-FFF2-40B4-BE49-F238E27FC236}">
                <a16:creationId xmlns:a16="http://schemas.microsoft.com/office/drawing/2014/main" id="{557D9AF6-BFF1-078E-6C1E-F2E4AD5EA400}"/>
              </a:ext>
            </a:extLst>
          </p:cNvPr>
          <p:cNvSpPr txBox="1"/>
          <p:nvPr/>
        </p:nvSpPr>
        <p:spPr>
          <a:xfrm>
            <a:off x="787400" y="4978400"/>
            <a:ext cx="6350000" cy="177800"/>
          </a:xfrm>
          <a:prstGeom prst="rect">
            <a:avLst/>
          </a:prstGeom>
          <a:noFill/>
        </p:spPr>
        <p:txBody>
          <a:bodyPr vert="horz" wrap="square" lIns="0" tIns="0" rIns="0" bIns="0" rtlCol="0" anchor="t">
            <a:noAutofit/>
          </a:bodyPr>
          <a:lstStyle/>
          <a:p>
            <a:pPr algn="l"/>
            <a:r>
              <a:rPr lang="es-MX" sz="1050">
                <a:solidFill>
                  <a:srgbClr val="CFC7B8"/>
                </a:solidFill>
                <a:latin typeface="Segoe UI" panose="020B0502040204020203" pitchFamily="34" charset="0"/>
              </a:rPr>
              <a:t>Caso 8.1 · ¿Hay que reforzar C-4?</a:t>
            </a:r>
            <a:endParaRPr lang="es-BO" sz="1050">
              <a:solidFill>
                <a:srgbClr val="CFC7B8"/>
              </a:solidFill>
              <a:latin typeface="Segoe UI" panose="020B0502040204020203" pitchFamily="34" charset="0"/>
            </a:endParaRPr>
          </a:p>
        </p:txBody>
      </p:sp>
      <p:sp>
        <p:nvSpPr>
          <p:cNvPr id="12" name="Rectángulo 11">
            <a:extLst>
              <a:ext uri="{FF2B5EF4-FFF2-40B4-BE49-F238E27FC236}">
                <a16:creationId xmlns:a16="http://schemas.microsoft.com/office/drawing/2014/main" id="{11539559-F73D-E9DB-D23C-25E9E7B63DF0}"/>
              </a:ext>
            </a:extLst>
          </p:cNvPr>
          <p:cNvSpPr/>
          <p:nvPr/>
        </p:nvSpPr>
        <p:spPr>
          <a:xfrm>
            <a:off x="609600" y="5283200"/>
            <a:ext cx="76200" cy="1524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3" name="CuadroTexto 12">
            <a:extLst>
              <a:ext uri="{FF2B5EF4-FFF2-40B4-BE49-F238E27FC236}">
                <a16:creationId xmlns:a16="http://schemas.microsoft.com/office/drawing/2014/main" id="{20B54047-4054-3506-9408-5FBF721E1030}"/>
              </a:ext>
            </a:extLst>
          </p:cNvPr>
          <p:cNvSpPr txBox="1"/>
          <p:nvPr/>
        </p:nvSpPr>
        <p:spPr>
          <a:xfrm>
            <a:off x="787400" y="5207000"/>
            <a:ext cx="6350000" cy="177800"/>
          </a:xfrm>
          <a:prstGeom prst="rect">
            <a:avLst/>
          </a:prstGeom>
          <a:noFill/>
        </p:spPr>
        <p:txBody>
          <a:bodyPr vert="horz" wrap="square" lIns="0" tIns="0" rIns="0" bIns="0" rtlCol="0" anchor="t">
            <a:noAutofit/>
          </a:bodyPr>
          <a:lstStyle/>
          <a:p>
            <a:pPr algn="l"/>
            <a:r>
              <a:rPr lang="es-MX" sz="1050">
                <a:solidFill>
                  <a:srgbClr val="CFC7B8"/>
                </a:solidFill>
                <a:latin typeface="Segoe UI" panose="020B0502040204020203" pitchFamily="34" charset="0"/>
              </a:rPr>
              <a:t>Caso 8.2 · La zapata y su recalce</a:t>
            </a:r>
            <a:endParaRPr lang="es-BO" sz="1050">
              <a:solidFill>
                <a:srgbClr val="CFC7B8"/>
              </a:solidFill>
              <a:latin typeface="Segoe UI" panose="020B0502040204020203" pitchFamily="34" charset="0"/>
            </a:endParaRPr>
          </a:p>
        </p:txBody>
      </p:sp>
      <p:sp>
        <p:nvSpPr>
          <p:cNvPr id="14" name="Rectángulo 13">
            <a:extLst>
              <a:ext uri="{FF2B5EF4-FFF2-40B4-BE49-F238E27FC236}">
                <a16:creationId xmlns:a16="http://schemas.microsoft.com/office/drawing/2014/main" id="{1ACBCC3F-C7C7-1447-8AD1-7BDC4C17475B}"/>
              </a:ext>
            </a:extLst>
          </p:cNvPr>
          <p:cNvSpPr/>
          <p:nvPr/>
        </p:nvSpPr>
        <p:spPr>
          <a:xfrm>
            <a:off x="609600" y="5511800"/>
            <a:ext cx="76200" cy="1524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5" name="CuadroTexto 14">
            <a:extLst>
              <a:ext uri="{FF2B5EF4-FFF2-40B4-BE49-F238E27FC236}">
                <a16:creationId xmlns:a16="http://schemas.microsoft.com/office/drawing/2014/main" id="{9D035CE8-F506-AD80-204A-146D0D8236C7}"/>
              </a:ext>
            </a:extLst>
          </p:cNvPr>
          <p:cNvSpPr txBox="1"/>
          <p:nvPr/>
        </p:nvSpPr>
        <p:spPr>
          <a:xfrm>
            <a:off x="787400" y="5435600"/>
            <a:ext cx="6350000" cy="177800"/>
          </a:xfrm>
          <a:prstGeom prst="rect">
            <a:avLst/>
          </a:prstGeom>
          <a:noFill/>
        </p:spPr>
        <p:txBody>
          <a:bodyPr vert="horz" wrap="square" lIns="0" tIns="0" rIns="0" bIns="0" rtlCol="0" anchor="t">
            <a:noAutofit/>
          </a:bodyPr>
          <a:lstStyle/>
          <a:p>
            <a:pPr algn="l"/>
            <a:r>
              <a:rPr lang="es-BO" sz="1050">
                <a:solidFill>
                  <a:srgbClr val="CFC7B8"/>
                </a:solidFill>
                <a:latin typeface="Segoe UI" panose="020B0502040204020203" pitchFamily="34" charset="0"/>
              </a:rPr>
              <a:t>Caso 8.3 · La viga con fibra de carbono</a:t>
            </a:r>
          </a:p>
        </p:txBody>
      </p:sp>
      <p:sp>
        <p:nvSpPr>
          <p:cNvPr id="16" name="CuadroTexto 15">
            <a:extLst>
              <a:ext uri="{FF2B5EF4-FFF2-40B4-BE49-F238E27FC236}">
                <a16:creationId xmlns:a16="http://schemas.microsoft.com/office/drawing/2014/main" id="{D521A6CB-4538-7FF8-DC49-8F72F1A66157}"/>
              </a:ext>
            </a:extLst>
          </p:cNvPr>
          <p:cNvSpPr txBox="1"/>
          <p:nvPr/>
        </p:nvSpPr>
        <p:spPr>
          <a:xfrm>
            <a:off x="609600" y="6477000"/>
            <a:ext cx="5080000" cy="152400"/>
          </a:xfrm>
          <a:prstGeom prst="rect">
            <a:avLst/>
          </a:prstGeom>
          <a:noFill/>
        </p:spPr>
        <p:txBody>
          <a:bodyPr vert="horz" wrap="square" lIns="0" tIns="0" rIns="0" bIns="0" rtlCol="0" anchor="t">
            <a:noAutofit/>
          </a:bodyPr>
          <a:lstStyle/>
          <a:p>
            <a:r>
              <a:rPr lang="es-MX" sz="700" spc="130">
                <a:solidFill>
                  <a:srgbClr val="9C9284"/>
                </a:solidFill>
                <a:latin typeface="Segoe UI" panose="020B0502040204020203" pitchFamily="34" charset="0"/>
              </a:rPr>
              <a:t>CLASE 7 · REFUERZO, RECALCE Y GESTIÓN</a:t>
            </a:r>
            <a:endParaRPr lang="es-BO" sz="700" spc="130">
              <a:solidFill>
                <a:srgbClr val="9C9284"/>
              </a:solidFill>
              <a:latin typeface="Segoe UI" panose="020B0502040204020203" pitchFamily="34" charset="0"/>
            </a:endParaRPr>
          </a:p>
        </p:txBody>
      </p:sp>
    </p:spTree>
    <p:extLst>
      <p:ext uri="{BB962C8B-B14F-4D97-AF65-F5344CB8AC3E}">
        <p14:creationId xmlns:p14="http://schemas.microsoft.com/office/powerpoint/2010/main" val="30064341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EE1BE363-48A4-319E-B62C-5CCD000C7105}"/>
              </a:ext>
            </a:extLst>
          </p:cNvPr>
          <p:cNvSpPr txBox="1"/>
          <p:nvPr/>
        </p:nvSpPr>
        <p:spPr>
          <a:xfrm>
            <a:off x="609600" y="406400"/>
            <a:ext cx="6604000" cy="177800"/>
          </a:xfrm>
          <a:prstGeom prst="rect">
            <a:avLst/>
          </a:prstGeom>
          <a:noFill/>
        </p:spPr>
        <p:txBody>
          <a:bodyPr vert="horz" wrap="square" lIns="0" tIns="0" rIns="0" bIns="0" rtlCol="0" anchor="t">
            <a:noAutofit/>
          </a:bodyPr>
          <a:lstStyle/>
          <a:p>
            <a:r>
              <a:rPr lang="es-MX" sz="900" spc="180">
                <a:solidFill>
                  <a:srgbClr val="6A4F20"/>
                </a:solidFill>
                <a:latin typeface="Segoe UI Semibold" panose="020B0702040204020203" pitchFamily="34" charset="0"/>
              </a:rPr>
              <a:t>CASO EJEMPLO DEL CURSO  ·  LOS DATOS DE LA CLASE 7</a:t>
            </a:r>
            <a:endParaRPr lang="es-BO" sz="900" spc="180">
              <a:solidFill>
                <a:srgbClr val="6A4F20"/>
              </a:solidFill>
              <a:latin typeface="Segoe UI Semibold" panose="020B0702040204020203" pitchFamily="34" charset="0"/>
            </a:endParaRPr>
          </a:p>
        </p:txBody>
      </p:sp>
      <p:sp>
        <p:nvSpPr>
          <p:cNvPr id="3" name="Title">
            <a:extLst>
              <a:ext uri="{FF2B5EF4-FFF2-40B4-BE49-F238E27FC236}">
                <a16:creationId xmlns:a16="http://schemas.microsoft.com/office/drawing/2014/main" id="{11485A68-9F91-7DC9-BA64-660A6AA8E3A1}"/>
              </a:ext>
            </a:extLst>
          </p:cNvPr>
          <p:cNvSpPr txBox="1"/>
          <p:nvPr/>
        </p:nvSpPr>
        <p:spPr>
          <a:xfrm>
            <a:off x="609600" y="609600"/>
            <a:ext cx="6604000" cy="508000"/>
          </a:xfrm>
          <a:prstGeom prst="rect">
            <a:avLst/>
          </a:prstGeom>
          <a:noFill/>
        </p:spPr>
        <p:txBody>
          <a:bodyPr vert="horz" wrap="square" lIns="0" tIns="0" rIns="0" bIns="0" rtlCol="0" anchor="t">
            <a:noAutofit/>
          </a:bodyPr>
          <a:lstStyle/>
          <a:p>
            <a:r>
              <a:rPr lang="es-BO" sz="2700">
                <a:solidFill>
                  <a:srgbClr val="1C1813"/>
                </a:solidFill>
                <a:latin typeface="Bahnschrift SemiBold" panose="020B0502040204020203" pitchFamily="34" charset="0"/>
              </a:rPr>
              <a:t>Nave industrial Sector 4</a:t>
            </a:r>
          </a:p>
        </p:txBody>
      </p:sp>
      <p:cxnSp>
        <p:nvCxnSpPr>
          <p:cNvPr id="4" name="Conector recto 3">
            <a:extLst>
              <a:ext uri="{FF2B5EF4-FFF2-40B4-BE49-F238E27FC236}">
                <a16:creationId xmlns:a16="http://schemas.microsoft.com/office/drawing/2014/main" id="{FB0A3CC4-2C3F-0D9C-797E-233A5423A953}"/>
              </a:ext>
            </a:extLst>
          </p:cNvPr>
          <p:cNvCxnSpPr/>
          <p:nvPr/>
        </p:nvCxnSpPr>
        <p:spPr>
          <a:xfrm>
            <a:off x="609600" y="1206500"/>
            <a:ext cx="66040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graphicFrame>
        <p:nvGraphicFramePr>
          <p:cNvPr id="6" name="Tabla 5">
            <a:extLst>
              <a:ext uri="{FF2B5EF4-FFF2-40B4-BE49-F238E27FC236}">
                <a16:creationId xmlns:a16="http://schemas.microsoft.com/office/drawing/2014/main" id="{A9296651-B9A4-E018-ABFF-44930E98F317}"/>
              </a:ext>
            </a:extLst>
          </p:cNvPr>
          <p:cNvGraphicFramePr>
            <a:graphicFrameLocks noGrp="1"/>
          </p:cNvGraphicFramePr>
          <p:nvPr>
            <p:extLst>
              <p:ext uri="{D42A27DB-BD31-4B8C-83A1-F6EECF244321}">
                <p14:modId xmlns:p14="http://schemas.microsoft.com/office/powerpoint/2010/main" val="1708938347"/>
              </p:ext>
            </p:extLst>
          </p:nvPr>
        </p:nvGraphicFramePr>
        <p:xfrm>
          <a:off x="609600" y="1320800"/>
          <a:ext cx="6604000" cy="3810000"/>
        </p:xfrm>
        <a:graphic>
          <a:graphicData uri="http://schemas.openxmlformats.org/drawingml/2006/table">
            <a:tbl>
              <a:tblPr firstRow="1" bandRow="1">
                <a:tableStyleId>{5C22544A-7EE6-4342-B048-85BDC9FD1C3A}</a:tableStyleId>
              </a:tblPr>
              <a:tblGrid>
                <a:gridCol w="1905000">
                  <a:extLst>
                    <a:ext uri="{9D8B030D-6E8A-4147-A177-3AD203B41FA5}">
                      <a16:colId xmlns:a16="http://schemas.microsoft.com/office/drawing/2014/main" val="1303519961"/>
                    </a:ext>
                  </a:extLst>
                </a:gridCol>
                <a:gridCol w="4699000">
                  <a:extLst>
                    <a:ext uri="{9D8B030D-6E8A-4147-A177-3AD203B41FA5}">
                      <a16:colId xmlns:a16="http://schemas.microsoft.com/office/drawing/2014/main" val="3014140108"/>
                    </a:ext>
                  </a:extLst>
                </a:gridCol>
              </a:tblGrid>
              <a:tr h="476250">
                <a:tc>
                  <a:txBody>
                    <a:bodyPr/>
                    <a:lstStyle/>
                    <a:p>
                      <a:pPr algn="ctr"/>
                      <a:r>
                        <a:rPr lang="es-BO" sz="950" b="0">
                          <a:solidFill>
                            <a:srgbClr val="FFFFFF"/>
                          </a:solidFill>
                          <a:latin typeface="Segoe UI Semibold" panose="020B0702040204020203" pitchFamily="34" charset="0"/>
                        </a:rPr>
                        <a:t>Dato</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1C1813"/>
                    </a:solidFill>
                  </a:tcPr>
                </a:tc>
                <a:tc>
                  <a:txBody>
                    <a:bodyPr/>
                    <a:lstStyle/>
                    <a:p>
                      <a:pPr algn="ctr"/>
                      <a:r>
                        <a:rPr lang="es-BO" sz="950" b="0">
                          <a:solidFill>
                            <a:srgbClr val="FFFFFF"/>
                          </a:solidFill>
                          <a:latin typeface="Segoe UI Semibold" panose="020B0702040204020203" pitchFamily="34" charset="0"/>
                        </a:rPr>
                        <a:t>Valor</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1C1813"/>
                    </a:solidFill>
                  </a:tcPr>
                </a:tc>
                <a:extLst>
                  <a:ext uri="{0D108BD9-81ED-4DB2-BD59-A6C34878D82A}">
                    <a16:rowId xmlns:a16="http://schemas.microsoft.com/office/drawing/2014/main" val="820677351"/>
                  </a:ext>
                </a:extLst>
              </a:tr>
              <a:tr h="476250">
                <a:tc>
                  <a:txBody>
                    <a:bodyPr/>
                    <a:lstStyle/>
                    <a:p>
                      <a:pPr algn="ctr"/>
                      <a:r>
                        <a:rPr lang="es-BO" sz="1000" b="0">
                          <a:solidFill>
                            <a:srgbClr val="1C1813"/>
                          </a:solidFill>
                          <a:latin typeface="Segoe UI Semibold" panose="020B0702040204020203" pitchFamily="34" charset="0"/>
                        </a:rPr>
                        <a:t>Columna C-4  ·  reparada</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n-US" sz="1000" b="0">
                          <a:solidFill>
                            <a:srgbClr val="241F18"/>
                          </a:solidFill>
                          <a:latin typeface="Segoe UI" panose="020B0502040204020203" pitchFamily="34" charset="0"/>
                        </a:rPr>
                        <a:t>400 × 400 mm  ·  8 Ø16  ·  Ast residual 1 584,4 mm²</a:t>
                      </a:r>
                      <a:endParaRPr lang="es-BO" sz="10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extLst>
                  <a:ext uri="{0D108BD9-81ED-4DB2-BD59-A6C34878D82A}">
                    <a16:rowId xmlns:a16="http://schemas.microsoft.com/office/drawing/2014/main" val="2907818256"/>
                  </a:ext>
                </a:extLst>
              </a:tr>
              <a:tr h="476250">
                <a:tc>
                  <a:txBody>
                    <a:bodyPr/>
                    <a:lstStyle/>
                    <a:p>
                      <a:pPr algn="ctr"/>
                      <a:r>
                        <a:rPr lang="es-BO" sz="1000" b="0">
                          <a:solidFill>
                            <a:srgbClr val="1C1813"/>
                          </a:solidFill>
                          <a:latin typeface="Segoe UI Semibold" panose="020B0702040204020203" pitchFamily="34" charset="0"/>
                        </a:rPr>
                        <a:t>Carga mayorada futura</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BO" sz="1000" b="0">
                          <a:solidFill>
                            <a:srgbClr val="241F18"/>
                          </a:solidFill>
                          <a:latin typeface="Segoe UI" panose="020B0502040204020203" pitchFamily="34" charset="0"/>
                        </a:rPr>
                        <a:t>1250 kN</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extLst>
                  <a:ext uri="{0D108BD9-81ED-4DB2-BD59-A6C34878D82A}">
                    <a16:rowId xmlns:a16="http://schemas.microsoft.com/office/drawing/2014/main" val="2629890094"/>
                  </a:ext>
                </a:extLst>
              </a:tr>
              <a:tr h="476250">
                <a:tc>
                  <a:txBody>
                    <a:bodyPr/>
                    <a:lstStyle/>
                    <a:p>
                      <a:pPr algn="ctr"/>
                      <a:r>
                        <a:rPr lang="de-DE" sz="1000" b="0">
                          <a:solidFill>
                            <a:srgbClr val="1C1813"/>
                          </a:solidFill>
                          <a:latin typeface="Segoe UI Semibold" panose="020B0702040204020203" pitchFamily="34" charset="0"/>
                        </a:rPr>
                        <a:t>f′c in situ  ·  fy</a:t>
                      </a:r>
                      <a:endParaRPr lang="es-BO" sz="1000" b="0">
                        <a:solidFill>
                          <a:srgbClr val="1C1813"/>
                        </a:solidFill>
                        <a:latin typeface="Segoe UI Semibold" panose="020B07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BO" sz="1000" b="0">
                          <a:solidFill>
                            <a:srgbClr val="241F18"/>
                          </a:solidFill>
                          <a:latin typeface="Segoe UI" panose="020B0502040204020203" pitchFamily="34" charset="0"/>
                        </a:rPr>
                        <a:t>18,5 MPa  ·  400 MPa</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extLst>
                  <a:ext uri="{0D108BD9-81ED-4DB2-BD59-A6C34878D82A}">
                    <a16:rowId xmlns:a16="http://schemas.microsoft.com/office/drawing/2014/main" val="1215608878"/>
                  </a:ext>
                </a:extLst>
              </a:tr>
              <a:tr h="476250">
                <a:tc>
                  <a:txBody>
                    <a:bodyPr/>
                    <a:lstStyle/>
                    <a:p>
                      <a:pPr algn="ctr"/>
                      <a:r>
                        <a:rPr lang="es-BO" sz="1000" b="0">
                          <a:solidFill>
                            <a:srgbClr val="1C1813"/>
                          </a:solidFill>
                          <a:latin typeface="Segoe UI Semibold" panose="020B0702040204020203" pitchFamily="34" charset="0"/>
                        </a:rPr>
                        <a:t>Zapata actual</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BO" sz="1000" b="0">
                          <a:solidFill>
                            <a:srgbClr val="241F18"/>
                          </a:solidFill>
                          <a:latin typeface="Segoe UI" panose="020B0502040204020203" pitchFamily="34" charset="0"/>
                        </a:rPr>
                        <a:t>1,80 × 1,80 × 0,50 m  ·  Df = 1,20 m</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extLst>
                  <a:ext uri="{0D108BD9-81ED-4DB2-BD59-A6C34878D82A}">
                    <a16:rowId xmlns:a16="http://schemas.microsoft.com/office/drawing/2014/main" val="652436693"/>
                  </a:ext>
                </a:extLst>
              </a:tr>
              <a:tr h="476250">
                <a:tc>
                  <a:txBody>
                    <a:bodyPr/>
                    <a:lstStyle/>
                    <a:p>
                      <a:pPr algn="ctr"/>
                      <a:r>
                        <a:rPr lang="es-BO" sz="1000" b="0">
                          <a:solidFill>
                            <a:srgbClr val="1C1813"/>
                          </a:solidFill>
                          <a:latin typeface="Segoe UI Semibold" panose="020B0702040204020203" pitchFamily="34" charset="0"/>
                        </a:rPr>
                        <a:t>Terreno</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BO" sz="1000" b="0">
                          <a:solidFill>
                            <a:srgbClr val="241F18"/>
                          </a:solidFill>
                          <a:latin typeface="Segoe UI" panose="020B0502040204020203" pitchFamily="34" charset="0"/>
                        </a:rPr>
                        <a:t>c = 25 kPa  ·  </a:t>
                      </a:r>
                      <a:r>
                        <a:rPr lang="el-GR" sz="1000" b="0">
                          <a:solidFill>
                            <a:srgbClr val="241F18"/>
                          </a:solidFill>
                          <a:latin typeface="Segoe UI" panose="020B0502040204020203" pitchFamily="34" charset="0"/>
                        </a:rPr>
                        <a:t>φ = 15°  ·  γ = 17 </a:t>
                      </a:r>
                      <a:r>
                        <a:rPr lang="es-BO" sz="1000" b="0">
                          <a:solidFill>
                            <a:srgbClr val="241F18"/>
                          </a:solidFill>
                          <a:latin typeface="Segoe UI" panose="020B0502040204020203" pitchFamily="34" charset="0"/>
                        </a:rPr>
                        <a:t>kN/m³</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extLst>
                  <a:ext uri="{0D108BD9-81ED-4DB2-BD59-A6C34878D82A}">
                    <a16:rowId xmlns:a16="http://schemas.microsoft.com/office/drawing/2014/main" val="810059823"/>
                  </a:ext>
                </a:extLst>
              </a:tr>
              <a:tr h="476250">
                <a:tc>
                  <a:txBody>
                    <a:bodyPr/>
                    <a:lstStyle/>
                    <a:p>
                      <a:pPr algn="ctr"/>
                      <a:r>
                        <a:rPr lang="es-BO" sz="1000" b="0">
                          <a:solidFill>
                            <a:srgbClr val="1C1813"/>
                          </a:solidFill>
                          <a:latin typeface="Segoe UI Semibold" panose="020B0702040204020203" pitchFamily="34" charset="0"/>
                        </a:rPr>
                        <a:t>Viga V-3  ·  armadura residual</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MX" sz="1000" b="0">
                          <a:solidFill>
                            <a:srgbClr val="241F18"/>
                          </a:solidFill>
                          <a:latin typeface="Segoe UI" panose="020B0502040204020203" pitchFamily="34" charset="0"/>
                        </a:rPr>
                        <a:t>4 Ø20  ·  7,3 % perdido en la picadura</a:t>
                      </a:r>
                      <a:endParaRPr lang="es-BO" sz="1000" b="0">
                        <a:solidFill>
                          <a:srgbClr val="241F18"/>
                        </a:solidFill>
                        <a:latin typeface="Segoe UI" panose="020B0502040204020203" pitchFamily="34" charset="0"/>
                      </a:endParaRP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extLst>
                  <a:ext uri="{0D108BD9-81ED-4DB2-BD59-A6C34878D82A}">
                    <a16:rowId xmlns:a16="http://schemas.microsoft.com/office/drawing/2014/main" val="3708678558"/>
                  </a:ext>
                </a:extLst>
              </a:tr>
              <a:tr h="476250">
                <a:tc>
                  <a:txBody>
                    <a:bodyPr/>
                    <a:lstStyle/>
                    <a:p>
                      <a:pPr algn="ctr"/>
                      <a:r>
                        <a:rPr lang="es-BO" sz="1000" b="0">
                          <a:solidFill>
                            <a:srgbClr val="1C1813"/>
                          </a:solidFill>
                          <a:latin typeface="Segoe UI Semibold" panose="020B0702040204020203" pitchFamily="34" charset="0"/>
                        </a:rPr>
                        <a:t>Momento mayorado futuro</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BO" sz="1000" b="0">
                          <a:solidFill>
                            <a:srgbClr val="241F18"/>
                          </a:solidFill>
                          <a:latin typeface="Segoe UI" panose="020B0502040204020203" pitchFamily="34" charset="0"/>
                        </a:rPr>
                        <a:t>210 kN·m</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extLst>
                  <a:ext uri="{0D108BD9-81ED-4DB2-BD59-A6C34878D82A}">
                    <a16:rowId xmlns:a16="http://schemas.microsoft.com/office/drawing/2014/main" val="3638526893"/>
                  </a:ext>
                </a:extLst>
              </a:tr>
            </a:tbl>
          </a:graphicData>
        </a:graphic>
      </p:graphicFrame>
      <p:sp>
        <p:nvSpPr>
          <p:cNvPr id="7" name="Rectángulo 6">
            <a:extLst>
              <a:ext uri="{FF2B5EF4-FFF2-40B4-BE49-F238E27FC236}">
                <a16:creationId xmlns:a16="http://schemas.microsoft.com/office/drawing/2014/main" id="{4D6FCB80-902D-F758-0719-94B513EE2B43}"/>
              </a:ext>
            </a:extLst>
          </p:cNvPr>
          <p:cNvSpPr/>
          <p:nvPr/>
        </p:nvSpPr>
        <p:spPr>
          <a:xfrm>
            <a:off x="609600" y="5334000"/>
            <a:ext cx="6604000" cy="812800"/>
          </a:xfrm>
          <a:prstGeom prst="rect">
            <a:avLst/>
          </a:prstGeom>
          <a:solidFill>
            <a:srgbClr val="F0E7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9" name="CuadroTexto 8">
            <a:extLst>
              <a:ext uri="{FF2B5EF4-FFF2-40B4-BE49-F238E27FC236}">
                <a16:creationId xmlns:a16="http://schemas.microsoft.com/office/drawing/2014/main" id="{4407A37B-062A-4DDE-F9FB-5EE6E0899E3C}"/>
              </a:ext>
            </a:extLst>
          </p:cNvPr>
          <p:cNvSpPr txBox="1"/>
          <p:nvPr/>
        </p:nvSpPr>
        <p:spPr>
          <a:xfrm>
            <a:off x="838200" y="5384800"/>
            <a:ext cx="6197600" cy="711200"/>
          </a:xfrm>
          <a:prstGeom prst="rect">
            <a:avLst/>
          </a:prstGeom>
          <a:noFill/>
        </p:spPr>
        <p:txBody>
          <a:bodyPr vert="horz" wrap="square" lIns="0" tIns="0" rIns="0" bIns="0" rtlCol="0" anchor="ctr">
            <a:noAutofit/>
          </a:bodyPr>
          <a:lstStyle/>
          <a:p>
            <a:pPr algn="l"/>
            <a:r>
              <a:rPr lang="es-MX" sz="1150">
                <a:solidFill>
                  <a:srgbClr val="1C1813"/>
                </a:solidFill>
                <a:latin typeface="Segoe UI" panose="020B0502040204020203" pitchFamily="34" charset="0"/>
              </a:rPr>
              <a:t>Todo lo que entra hoy viene de las clases 3, 5 y 6: sección residual, resistencia corregida y la reparación ya ejecutada.</a:t>
            </a:r>
            <a:endParaRPr lang="es-BO" sz="1150">
              <a:solidFill>
                <a:srgbClr val="1C1813"/>
              </a:solidFill>
              <a:latin typeface="Segoe UI" panose="020B0502040204020203" pitchFamily="34" charset="0"/>
            </a:endParaRPr>
          </a:p>
        </p:txBody>
      </p:sp>
      <p:pic>
        <p:nvPicPr>
          <p:cNvPr id="11" name="Imagen 10" descr="Columna C-4 y su zapata de 1,80 m a 1,20 m de profundidad, con el ensanche a 2,50 m">
            <a:extLst>
              <a:ext uri="{FF2B5EF4-FFF2-40B4-BE49-F238E27FC236}">
                <a16:creationId xmlns:a16="http://schemas.microsoft.com/office/drawing/2014/main" id="{096F4D95-A5EE-6B86-46FA-FA0A0660AB9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7620000" y="0"/>
            <a:ext cx="4572000" cy="2540000"/>
          </a:xfrm>
          <a:prstGeom prst="rect">
            <a:avLst/>
          </a:prstGeom>
        </p:spPr>
      </p:pic>
      <p:sp>
        <p:nvSpPr>
          <p:cNvPr id="12" name="Rectángulo 11">
            <a:extLst>
              <a:ext uri="{FF2B5EF4-FFF2-40B4-BE49-F238E27FC236}">
                <a16:creationId xmlns:a16="http://schemas.microsoft.com/office/drawing/2014/main" id="{1F6157B8-7BCB-92FB-C4B2-E644D54F0A7A}"/>
              </a:ext>
            </a:extLst>
          </p:cNvPr>
          <p:cNvSpPr/>
          <p:nvPr/>
        </p:nvSpPr>
        <p:spPr>
          <a:xfrm>
            <a:off x="7620000" y="2540000"/>
            <a:ext cx="4572000" cy="4318000"/>
          </a:xfrm>
          <a:prstGeom prst="rect">
            <a:avLst/>
          </a:prstGeom>
          <a:solidFill>
            <a:srgbClr val="1C181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3" name="CuadroTexto 12">
            <a:extLst>
              <a:ext uri="{FF2B5EF4-FFF2-40B4-BE49-F238E27FC236}">
                <a16:creationId xmlns:a16="http://schemas.microsoft.com/office/drawing/2014/main" id="{B91AC033-7764-6F27-B84D-2087F6F0E8E5}"/>
              </a:ext>
            </a:extLst>
          </p:cNvPr>
          <p:cNvSpPr txBox="1"/>
          <p:nvPr/>
        </p:nvSpPr>
        <p:spPr>
          <a:xfrm>
            <a:off x="7874000" y="2717800"/>
            <a:ext cx="4064000" cy="177800"/>
          </a:xfrm>
          <a:prstGeom prst="rect">
            <a:avLst/>
          </a:prstGeom>
          <a:noFill/>
        </p:spPr>
        <p:txBody>
          <a:bodyPr vert="horz" wrap="square" lIns="0" tIns="0" rIns="0" bIns="0" rtlCol="0" anchor="t">
            <a:noAutofit/>
          </a:bodyPr>
          <a:lstStyle/>
          <a:p>
            <a:r>
              <a:rPr lang="es-BO" sz="900" spc="180">
                <a:solidFill>
                  <a:srgbClr val="8A6A2F"/>
                </a:solidFill>
                <a:latin typeface="Segoe UI Semibold" panose="020B0702040204020203" pitchFamily="34" charset="0"/>
              </a:rPr>
              <a:t>LÍNEA DE TIEMPO</a:t>
            </a:r>
          </a:p>
        </p:txBody>
      </p:sp>
      <p:cxnSp>
        <p:nvCxnSpPr>
          <p:cNvPr id="14" name="Conector recto 13">
            <a:extLst>
              <a:ext uri="{FF2B5EF4-FFF2-40B4-BE49-F238E27FC236}">
                <a16:creationId xmlns:a16="http://schemas.microsoft.com/office/drawing/2014/main" id="{131BA04C-5CFC-336E-896A-E0891F4B1724}"/>
              </a:ext>
            </a:extLst>
          </p:cNvPr>
          <p:cNvCxnSpPr/>
          <p:nvPr/>
        </p:nvCxnSpPr>
        <p:spPr>
          <a:xfrm>
            <a:off x="7975600" y="3124200"/>
            <a:ext cx="0" cy="1828800"/>
          </a:xfrm>
          <a:prstGeom prst="line">
            <a:avLst/>
          </a:prstGeom>
          <a:ln w="19050">
            <a:solidFill>
              <a:srgbClr val="3A4D69"/>
            </a:solidFill>
            <a:prstDash val="solid"/>
          </a:ln>
        </p:spPr>
        <p:style>
          <a:lnRef idx="1">
            <a:schemeClr val="accent1"/>
          </a:lnRef>
          <a:fillRef idx="0">
            <a:schemeClr val="accent1"/>
          </a:fillRef>
          <a:effectRef idx="0">
            <a:schemeClr val="accent1"/>
          </a:effectRef>
          <a:fontRef idx="minor">
            <a:schemeClr val="tx1"/>
          </a:fontRef>
        </p:style>
      </p:cxnSp>
      <p:sp>
        <p:nvSpPr>
          <p:cNvPr id="15" name="Elipse 14">
            <a:extLst>
              <a:ext uri="{FF2B5EF4-FFF2-40B4-BE49-F238E27FC236}">
                <a16:creationId xmlns:a16="http://schemas.microsoft.com/office/drawing/2014/main" id="{0F6E1852-11DB-2A1E-991A-B81A8ABFB133}"/>
              </a:ext>
            </a:extLst>
          </p:cNvPr>
          <p:cNvSpPr/>
          <p:nvPr/>
        </p:nvSpPr>
        <p:spPr>
          <a:xfrm>
            <a:off x="7899400" y="3048000"/>
            <a:ext cx="152400" cy="152400"/>
          </a:xfrm>
          <a:prstGeom prst="ellipse">
            <a:avLst/>
          </a:prstGeom>
          <a:solidFill>
            <a:srgbClr val="3A4D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6" name="CuadroTexto 15">
            <a:extLst>
              <a:ext uri="{FF2B5EF4-FFF2-40B4-BE49-F238E27FC236}">
                <a16:creationId xmlns:a16="http://schemas.microsoft.com/office/drawing/2014/main" id="{191E3537-65E9-E071-0290-47E1164AF85B}"/>
              </a:ext>
            </a:extLst>
          </p:cNvPr>
          <p:cNvSpPr txBox="1"/>
          <p:nvPr/>
        </p:nvSpPr>
        <p:spPr>
          <a:xfrm>
            <a:off x="8204200" y="3022600"/>
            <a:ext cx="889000" cy="203200"/>
          </a:xfrm>
          <a:prstGeom prst="rect">
            <a:avLst/>
          </a:prstGeom>
          <a:noFill/>
        </p:spPr>
        <p:txBody>
          <a:bodyPr vert="horz" wrap="square" lIns="0" tIns="0" rIns="0" bIns="0" rtlCol="0" anchor="t">
            <a:noAutofit/>
          </a:bodyPr>
          <a:lstStyle/>
          <a:p>
            <a:r>
              <a:rPr lang="es-BO" sz="1150">
                <a:solidFill>
                  <a:srgbClr val="8A6A2F"/>
                </a:solidFill>
                <a:latin typeface="Segoe UI Semibold" panose="020B0702040204020203" pitchFamily="34" charset="0"/>
              </a:rPr>
              <a:t>1998</a:t>
            </a:r>
          </a:p>
        </p:txBody>
      </p:sp>
      <p:sp>
        <p:nvSpPr>
          <p:cNvPr id="17" name="CuadroTexto 16">
            <a:extLst>
              <a:ext uri="{FF2B5EF4-FFF2-40B4-BE49-F238E27FC236}">
                <a16:creationId xmlns:a16="http://schemas.microsoft.com/office/drawing/2014/main" id="{FA011993-2638-6F00-2253-AA0444914D71}"/>
              </a:ext>
            </a:extLst>
          </p:cNvPr>
          <p:cNvSpPr txBox="1"/>
          <p:nvPr/>
        </p:nvSpPr>
        <p:spPr>
          <a:xfrm>
            <a:off x="9118600" y="3022600"/>
            <a:ext cx="2921000" cy="381000"/>
          </a:xfrm>
          <a:prstGeom prst="rect">
            <a:avLst/>
          </a:prstGeom>
          <a:noFill/>
        </p:spPr>
        <p:txBody>
          <a:bodyPr vert="horz" wrap="square" lIns="0" tIns="0" rIns="0" bIns="0" rtlCol="0" anchor="t">
            <a:noAutofit/>
          </a:bodyPr>
          <a:lstStyle/>
          <a:p>
            <a:pPr algn="l"/>
            <a:r>
              <a:rPr lang="es-MX" sz="1100">
                <a:solidFill>
                  <a:srgbClr val="CFC7B8"/>
                </a:solidFill>
                <a:latin typeface="Segoe UI" panose="020B0502040204020203" pitchFamily="34" charset="0"/>
              </a:rPr>
              <a:t>Proyecto y construcción bajo CBH-87</a:t>
            </a:r>
            <a:endParaRPr lang="es-BO" sz="1100">
              <a:solidFill>
                <a:srgbClr val="CFC7B8"/>
              </a:solidFill>
              <a:latin typeface="Segoe UI" panose="020B0502040204020203" pitchFamily="34" charset="0"/>
            </a:endParaRPr>
          </a:p>
        </p:txBody>
      </p:sp>
      <p:sp>
        <p:nvSpPr>
          <p:cNvPr id="18" name="Elipse 17">
            <a:extLst>
              <a:ext uri="{FF2B5EF4-FFF2-40B4-BE49-F238E27FC236}">
                <a16:creationId xmlns:a16="http://schemas.microsoft.com/office/drawing/2014/main" id="{AF693A75-C085-1CDA-F0F8-F37E537C1D34}"/>
              </a:ext>
            </a:extLst>
          </p:cNvPr>
          <p:cNvSpPr/>
          <p:nvPr/>
        </p:nvSpPr>
        <p:spPr>
          <a:xfrm>
            <a:off x="7899400" y="3505200"/>
            <a:ext cx="152400" cy="152400"/>
          </a:xfrm>
          <a:prstGeom prst="ellipse">
            <a:avLst/>
          </a:prstGeom>
          <a:solidFill>
            <a:srgbClr val="3A4D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9" name="CuadroTexto 18">
            <a:extLst>
              <a:ext uri="{FF2B5EF4-FFF2-40B4-BE49-F238E27FC236}">
                <a16:creationId xmlns:a16="http://schemas.microsoft.com/office/drawing/2014/main" id="{7C38D66C-9E6E-D000-A504-69077BADDD49}"/>
              </a:ext>
            </a:extLst>
          </p:cNvPr>
          <p:cNvSpPr txBox="1"/>
          <p:nvPr/>
        </p:nvSpPr>
        <p:spPr>
          <a:xfrm>
            <a:off x="8204200" y="3479800"/>
            <a:ext cx="889000" cy="203200"/>
          </a:xfrm>
          <a:prstGeom prst="rect">
            <a:avLst/>
          </a:prstGeom>
          <a:noFill/>
        </p:spPr>
        <p:txBody>
          <a:bodyPr vert="horz" wrap="square" lIns="0" tIns="0" rIns="0" bIns="0" rtlCol="0" anchor="t">
            <a:noAutofit/>
          </a:bodyPr>
          <a:lstStyle/>
          <a:p>
            <a:r>
              <a:rPr lang="es-BO" sz="1150">
                <a:solidFill>
                  <a:srgbClr val="8A6A2F"/>
                </a:solidFill>
                <a:latin typeface="Segoe UI Semibold" panose="020B0702040204020203" pitchFamily="34" charset="0"/>
              </a:rPr>
              <a:t>2012</a:t>
            </a:r>
          </a:p>
        </p:txBody>
      </p:sp>
      <p:sp>
        <p:nvSpPr>
          <p:cNvPr id="20" name="CuadroTexto 19">
            <a:extLst>
              <a:ext uri="{FF2B5EF4-FFF2-40B4-BE49-F238E27FC236}">
                <a16:creationId xmlns:a16="http://schemas.microsoft.com/office/drawing/2014/main" id="{3BAD77B9-188B-74A5-FF05-F328C34A7FF1}"/>
              </a:ext>
            </a:extLst>
          </p:cNvPr>
          <p:cNvSpPr txBox="1"/>
          <p:nvPr/>
        </p:nvSpPr>
        <p:spPr>
          <a:xfrm>
            <a:off x="9118600" y="3479800"/>
            <a:ext cx="2921000" cy="381000"/>
          </a:xfrm>
          <a:prstGeom prst="rect">
            <a:avLst/>
          </a:prstGeom>
          <a:noFill/>
        </p:spPr>
        <p:txBody>
          <a:bodyPr vert="horz" wrap="square" lIns="0" tIns="0" rIns="0" bIns="0" rtlCol="0" anchor="t">
            <a:noAutofit/>
          </a:bodyPr>
          <a:lstStyle/>
          <a:p>
            <a:pPr algn="l"/>
            <a:r>
              <a:rPr lang="es-MX" sz="1100">
                <a:solidFill>
                  <a:srgbClr val="CFC7B8"/>
                </a:solidFill>
                <a:latin typeface="Segoe UI" panose="020B0502040204020203" pitchFamily="34" charset="0"/>
              </a:rPr>
              <a:t>Se habilita la zona de lavado: humedad permanente y cloruros</a:t>
            </a:r>
            <a:endParaRPr lang="es-BO" sz="1100">
              <a:solidFill>
                <a:srgbClr val="CFC7B8"/>
              </a:solidFill>
              <a:latin typeface="Segoe UI" panose="020B0502040204020203" pitchFamily="34" charset="0"/>
            </a:endParaRPr>
          </a:p>
        </p:txBody>
      </p:sp>
      <p:sp>
        <p:nvSpPr>
          <p:cNvPr id="21" name="Elipse 20">
            <a:extLst>
              <a:ext uri="{FF2B5EF4-FFF2-40B4-BE49-F238E27FC236}">
                <a16:creationId xmlns:a16="http://schemas.microsoft.com/office/drawing/2014/main" id="{2DDA3763-29DC-45A5-1A6C-2B48A7B3BAC1}"/>
              </a:ext>
            </a:extLst>
          </p:cNvPr>
          <p:cNvSpPr/>
          <p:nvPr/>
        </p:nvSpPr>
        <p:spPr>
          <a:xfrm>
            <a:off x="7899400" y="3962400"/>
            <a:ext cx="152400" cy="152400"/>
          </a:xfrm>
          <a:prstGeom prst="ellipse">
            <a:avLst/>
          </a:prstGeom>
          <a:solidFill>
            <a:srgbClr val="3A4D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2" name="CuadroTexto 21">
            <a:extLst>
              <a:ext uri="{FF2B5EF4-FFF2-40B4-BE49-F238E27FC236}">
                <a16:creationId xmlns:a16="http://schemas.microsoft.com/office/drawing/2014/main" id="{7E826504-EC7D-1C98-2E2D-4B40E5110AE0}"/>
              </a:ext>
            </a:extLst>
          </p:cNvPr>
          <p:cNvSpPr txBox="1"/>
          <p:nvPr/>
        </p:nvSpPr>
        <p:spPr>
          <a:xfrm>
            <a:off x="8204200" y="3937000"/>
            <a:ext cx="889000" cy="203200"/>
          </a:xfrm>
          <a:prstGeom prst="rect">
            <a:avLst/>
          </a:prstGeom>
          <a:noFill/>
        </p:spPr>
        <p:txBody>
          <a:bodyPr vert="horz" wrap="square" lIns="0" tIns="0" rIns="0" bIns="0" rtlCol="0" anchor="t">
            <a:noAutofit/>
          </a:bodyPr>
          <a:lstStyle/>
          <a:p>
            <a:r>
              <a:rPr lang="es-BO" sz="1150">
                <a:solidFill>
                  <a:srgbClr val="8A6A2F"/>
                </a:solidFill>
                <a:latin typeface="Segoe UI Semibold" panose="020B0702040204020203" pitchFamily="34" charset="0"/>
              </a:rPr>
              <a:t>2024</a:t>
            </a:r>
          </a:p>
        </p:txBody>
      </p:sp>
      <p:sp>
        <p:nvSpPr>
          <p:cNvPr id="23" name="CuadroTexto 22">
            <a:extLst>
              <a:ext uri="{FF2B5EF4-FFF2-40B4-BE49-F238E27FC236}">
                <a16:creationId xmlns:a16="http://schemas.microsoft.com/office/drawing/2014/main" id="{03927B23-6C35-02BF-DEFE-5CFBCC07F872}"/>
              </a:ext>
            </a:extLst>
          </p:cNvPr>
          <p:cNvSpPr txBox="1"/>
          <p:nvPr/>
        </p:nvSpPr>
        <p:spPr>
          <a:xfrm>
            <a:off x="9118600" y="3937000"/>
            <a:ext cx="2921000" cy="381000"/>
          </a:xfrm>
          <a:prstGeom prst="rect">
            <a:avLst/>
          </a:prstGeom>
          <a:noFill/>
        </p:spPr>
        <p:txBody>
          <a:bodyPr vert="horz" wrap="square" lIns="0" tIns="0" rIns="0" bIns="0" rtlCol="0" anchor="t">
            <a:noAutofit/>
          </a:bodyPr>
          <a:lstStyle/>
          <a:p>
            <a:pPr algn="l"/>
            <a:r>
              <a:rPr lang="es-MX" sz="1100">
                <a:solidFill>
                  <a:srgbClr val="CFC7B8"/>
                </a:solidFill>
                <a:latin typeface="Segoe UI" panose="020B0502040204020203" pitchFamily="34" charset="0"/>
              </a:rPr>
              <a:t>Aparecen fisuras con óxido en la viga V-3 y en la base de C-4</a:t>
            </a:r>
            <a:endParaRPr lang="es-BO" sz="1100">
              <a:solidFill>
                <a:srgbClr val="CFC7B8"/>
              </a:solidFill>
              <a:latin typeface="Segoe UI" panose="020B0502040204020203" pitchFamily="34" charset="0"/>
            </a:endParaRPr>
          </a:p>
        </p:txBody>
      </p:sp>
      <p:sp>
        <p:nvSpPr>
          <p:cNvPr id="24" name="Elipse 23">
            <a:extLst>
              <a:ext uri="{FF2B5EF4-FFF2-40B4-BE49-F238E27FC236}">
                <a16:creationId xmlns:a16="http://schemas.microsoft.com/office/drawing/2014/main" id="{1FA9A886-77E3-9C59-A476-33992A42F799}"/>
              </a:ext>
            </a:extLst>
          </p:cNvPr>
          <p:cNvSpPr/>
          <p:nvPr/>
        </p:nvSpPr>
        <p:spPr>
          <a:xfrm>
            <a:off x="7899400" y="4419600"/>
            <a:ext cx="152400" cy="152400"/>
          </a:xfrm>
          <a:prstGeom prst="ellipse">
            <a:avLst/>
          </a:prstGeom>
          <a:solidFill>
            <a:srgbClr val="3A4D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5" name="CuadroTexto 24">
            <a:extLst>
              <a:ext uri="{FF2B5EF4-FFF2-40B4-BE49-F238E27FC236}">
                <a16:creationId xmlns:a16="http://schemas.microsoft.com/office/drawing/2014/main" id="{543681E1-02BA-3DA6-82D7-5224A84823D7}"/>
              </a:ext>
            </a:extLst>
          </p:cNvPr>
          <p:cNvSpPr txBox="1"/>
          <p:nvPr/>
        </p:nvSpPr>
        <p:spPr>
          <a:xfrm>
            <a:off x="8204200" y="4394200"/>
            <a:ext cx="889000" cy="203200"/>
          </a:xfrm>
          <a:prstGeom prst="rect">
            <a:avLst/>
          </a:prstGeom>
          <a:noFill/>
        </p:spPr>
        <p:txBody>
          <a:bodyPr vert="horz" wrap="square" lIns="0" tIns="0" rIns="0" bIns="0" rtlCol="0" anchor="t">
            <a:noAutofit/>
          </a:bodyPr>
          <a:lstStyle/>
          <a:p>
            <a:r>
              <a:rPr lang="es-BO" sz="1150">
                <a:solidFill>
                  <a:srgbClr val="8A6A2F"/>
                </a:solidFill>
                <a:latin typeface="Segoe UI Semibold" panose="020B0702040204020203" pitchFamily="34" charset="0"/>
              </a:rPr>
              <a:t>2026</a:t>
            </a:r>
          </a:p>
        </p:txBody>
      </p:sp>
      <p:sp>
        <p:nvSpPr>
          <p:cNvPr id="26" name="CuadroTexto 25">
            <a:extLst>
              <a:ext uri="{FF2B5EF4-FFF2-40B4-BE49-F238E27FC236}">
                <a16:creationId xmlns:a16="http://schemas.microsoft.com/office/drawing/2014/main" id="{CE117BFC-ACA7-E0DD-50CC-40964695350B}"/>
              </a:ext>
            </a:extLst>
          </p:cNvPr>
          <p:cNvSpPr txBox="1"/>
          <p:nvPr/>
        </p:nvSpPr>
        <p:spPr>
          <a:xfrm>
            <a:off x="9118600" y="4394200"/>
            <a:ext cx="2921000" cy="381000"/>
          </a:xfrm>
          <a:prstGeom prst="rect">
            <a:avLst/>
          </a:prstGeom>
          <a:noFill/>
        </p:spPr>
        <p:txBody>
          <a:bodyPr vert="horz" wrap="square" lIns="0" tIns="0" rIns="0" bIns="0" rtlCol="0" anchor="t">
            <a:noAutofit/>
          </a:bodyPr>
          <a:lstStyle/>
          <a:p>
            <a:pPr algn="l"/>
            <a:r>
              <a:rPr lang="es-MX" sz="1100">
                <a:solidFill>
                  <a:srgbClr val="CFC7B8"/>
                </a:solidFill>
                <a:latin typeface="Segoe UI" panose="020B0502040204020203" pitchFamily="34" charset="0"/>
              </a:rPr>
              <a:t>Campaña de diagnóstico y propuesta de cambio de uso</a:t>
            </a:r>
            <a:endParaRPr lang="es-BO" sz="1100">
              <a:solidFill>
                <a:srgbClr val="CFC7B8"/>
              </a:solidFill>
              <a:latin typeface="Segoe UI" panose="020B0502040204020203" pitchFamily="34" charset="0"/>
            </a:endParaRPr>
          </a:p>
        </p:txBody>
      </p:sp>
      <p:sp>
        <p:nvSpPr>
          <p:cNvPr id="27" name="Elipse 26">
            <a:extLst>
              <a:ext uri="{FF2B5EF4-FFF2-40B4-BE49-F238E27FC236}">
                <a16:creationId xmlns:a16="http://schemas.microsoft.com/office/drawing/2014/main" id="{042A5C02-C976-B92D-B69B-40494EA0CE5C}"/>
              </a:ext>
            </a:extLst>
          </p:cNvPr>
          <p:cNvSpPr/>
          <p:nvPr/>
        </p:nvSpPr>
        <p:spPr>
          <a:xfrm>
            <a:off x="7899400" y="4876800"/>
            <a:ext cx="152400" cy="1524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8" name="CuadroTexto 27">
            <a:extLst>
              <a:ext uri="{FF2B5EF4-FFF2-40B4-BE49-F238E27FC236}">
                <a16:creationId xmlns:a16="http://schemas.microsoft.com/office/drawing/2014/main" id="{68C78E52-7BB2-39B2-A4A9-8952EE59BB4C}"/>
              </a:ext>
            </a:extLst>
          </p:cNvPr>
          <p:cNvSpPr txBox="1"/>
          <p:nvPr/>
        </p:nvSpPr>
        <p:spPr>
          <a:xfrm>
            <a:off x="8204200" y="4851400"/>
            <a:ext cx="889000" cy="203200"/>
          </a:xfrm>
          <a:prstGeom prst="rect">
            <a:avLst/>
          </a:prstGeom>
          <a:noFill/>
        </p:spPr>
        <p:txBody>
          <a:bodyPr vert="horz" wrap="square" lIns="0" tIns="0" rIns="0" bIns="0" rtlCol="0" anchor="t">
            <a:noAutofit/>
          </a:bodyPr>
          <a:lstStyle/>
          <a:p>
            <a:r>
              <a:rPr lang="es-BO" sz="1150">
                <a:solidFill>
                  <a:srgbClr val="8A6A2F"/>
                </a:solidFill>
                <a:latin typeface="Segoe UI Semibold" panose="020B0702040204020203" pitchFamily="34" charset="0"/>
              </a:rPr>
              <a:t>2026</a:t>
            </a:r>
          </a:p>
        </p:txBody>
      </p:sp>
      <p:sp>
        <p:nvSpPr>
          <p:cNvPr id="29" name="CuadroTexto 28">
            <a:extLst>
              <a:ext uri="{FF2B5EF4-FFF2-40B4-BE49-F238E27FC236}">
                <a16:creationId xmlns:a16="http://schemas.microsoft.com/office/drawing/2014/main" id="{751D328F-B423-8F3C-AC94-24CCA3FBB355}"/>
              </a:ext>
            </a:extLst>
          </p:cNvPr>
          <p:cNvSpPr txBox="1"/>
          <p:nvPr/>
        </p:nvSpPr>
        <p:spPr>
          <a:xfrm>
            <a:off x="9118600" y="4851400"/>
            <a:ext cx="2921000" cy="381000"/>
          </a:xfrm>
          <a:prstGeom prst="rect">
            <a:avLst/>
          </a:prstGeom>
          <a:noFill/>
        </p:spPr>
        <p:txBody>
          <a:bodyPr vert="horz" wrap="square" lIns="0" tIns="0" rIns="0" bIns="0" rtlCol="0" anchor="t">
            <a:noAutofit/>
          </a:bodyPr>
          <a:lstStyle/>
          <a:p>
            <a:pPr algn="l"/>
            <a:r>
              <a:rPr lang="es-MX" sz="1100">
                <a:solidFill>
                  <a:srgbClr val="FFFFFF"/>
                </a:solidFill>
                <a:latin typeface="Segoe UI" panose="020B0502040204020203" pitchFamily="34" charset="0"/>
              </a:rPr>
              <a:t>Proyecto de reparación, refuerzo y recalce</a:t>
            </a:r>
            <a:endParaRPr lang="es-BO" sz="1100">
              <a:solidFill>
                <a:srgbClr val="FFFFFF"/>
              </a:solidFill>
              <a:latin typeface="Segoe UI" panose="020B0502040204020203" pitchFamily="34" charset="0"/>
            </a:endParaRPr>
          </a:p>
        </p:txBody>
      </p:sp>
      <p:cxnSp>
        <p:nvCxnSpPr>
          <p:cNvPr id="30" name="Conector recto 29">
            <a:extLst>
              <a:ext uri="{FF2B5EF4-FFF2-40B4-BE49-F238E27FC236}">
                <a16:creationId xmlns:a16="http://schemas.microsoft.com/office/drawing/2014/main" id="{84CB82F6-E711-D136-6433-CAB422B81123}"/>
              </a:ext>
            </a:extLst>
          </p:cNvPr>
          <p:cNvCxnSpPr/>
          <p:nvPr/>
        </p:nvCxnSpPr>
        <p:spPr>
          <a:xfrm>
            <a:off x="609600" y="6527800"/>
            <a:ext cx="66040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31" name="CuadroTexto 30">
            <a:extLst>
              <a:ext uri="{FF2B5EF4-FFF2-40B4-BE49-F238E27FC236}">
                <a16:creationId xmlns:a16="http://schemas.microsoft.com/office/drawing/2014/main" id="{06521A1B-8EE6-B398-D0DD-6A96343678FF}"/>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32" name="PageNo">
            <a:extLst>
              <a:ext uri="{FF2B5EF4-FFF2-40B4-BE49-F238E27FC236}">
                <a16:creationId xmlns:a16="http://schemas.microsoft.com/office/drawing/2014/main" id="{23281085-33BB-7ECC-94ED-76B1AA74B18E}"/>
              </a:ext>
            </a:extLst>
          </p:cNvPr>
          <p:cNvSpPr txBox="1"/>
          <p:nvPr/>
        </p:nvSpPr>
        <p:spPr>
          <a:xfrm>
            <a:off x="60706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23 / 38</a:t>
            </a:r>
          </a:p>
        </p:txBody>
      </p:sp>
    </p:spTree>
    <p:extLst>
      <p:ext uri="{BB962C8B-B14F-4D97-AF65-F5344CB8AC3E}">
        <p14:creationId xmlns:p14="http://schemas.microsoft.com/office/powerpoint/2010/main" val="5850686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14E42684-D217-35EC-681B-5CB7185CDEDB}"/>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MX" sz="900" spc="180">
                <a:solidFill>
                  <a:srgbClr val="6A4F20"/>
                </a:solidFill>
                <a:latin typeface="Segoe UI Semibold" panose="020B0702040204020203" pitchFamily="34" charset="0"/>
              </a:rPr>
              <a:t>CASO 7  ·  EXPLICADO PASO A PASO</a:t>
            </a:r>
            <a:endParaRPr lang="es-BO" sz="900" spc="180">
              <a:solidFill>
                <a:srgbClr val="6A4F20"/>
              </a:solidFill>
              <a:latin typeface="Segoe UI Semibold" panose="020B0702040204020203" pitchFamily="34" charset="0"/>
            </a:endParaRPr>
          </a:p>
        </p:txBody>
      </p:sp>
      <p:sp>
        <p:nvSpPr>
          <p:cNvPr id="3" name="Title">
            <a:extLst>
              <a:ext uri="{FF2B5EF4-FFF2-40B4-BE49-F238E27FC236}">
                <a16:creationId xmlns:a16="http://schemas.microsoft.com/office/drawing/2014/main" id="{22C574B9-F9E5-52B2-64F0-B214D648411D}"/>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La zapata de C-4: lo que nadie estaba mirando</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77B0C7C7-B408-9B50-02C5-4E1CAD6585F0}"/>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6" name="CuadroTexto 5">
            <a:extLst>
              <a:ext uri="{FF2B5EF4-FFF2-40B4-BE49-F238E27FC236}">
                <a16:creationId xmlns:a16="http://schemas.microsoft.com/office/drawing/2014/main" id="{5C8CE5D8-69E8-772E-5014-D2967ACC321D}"/>
              </a:ext>
            </a:extLst>
          </p:cNvPr>
          <p:cNvSpPr txBox="1"/>
          <p:nvPr/>
        </p:nvSpPr>
        <p:spPr>
          <a:xfrm>
            <a:off x="609600" y="1371600"/>
            <a:ext cx="6604000" cy="736600"/>
          </a:xfrm>
          <a:prstGeom prst="rect">
            <a:avLst/>
          </a:prstGeom>
          <a:noFill/>
        </p:spPr>
        <p:txBody>
          <a:bodyPr vert="horz" wrap="square" lIns="0" tIns="0" rIns="0" bIns="0" rtlCol="0" anchor="t">
            <a:noAutofit/>
          </a:bodyPr>
          <a:lstStyle/>
          <a:p>
            <a:pPr algn="l"/>
            <a:r>
              <a:rPr lang="es-MX" sz="1150">
                <a:solidFill>
                  <a:srgbClr val="5A5248"/>
                </a:solidFill>
                <a:latin typeface="Segoe UI" panose="020B0502040204020203" pitchFamily="34" charset="0"/>
              </a:rPr>
              <a:t>La columna cumple con margen 1,30. Nadie había comprobado su zapata en veintiocho años, y con el cambio de uso la carga de servicio sube de 620 a 860 kN. Vamos a recorrer la comprobación entera sin saltarnos una sola sustitución, y a dimensionar el recalce que haga falta.</a:t>
            </a:r>
            <a:endParaRPr lang="es-BO" sz="1150">
              <a:solidFill>
                <a:srgbClr val="5A5248"/>
              </a:solidFill>
              <a:latin typeface="Segoe UI" panose="020B0502040204020203" pitchFamily="34" charset="0"/>
            </a:endParaRPr>
          </a:p>
        </p:txBody>
      </p:sp>
      <p:sp>
        <p:nvSpPr>
          <p:cNvPr id="7" name="Elipse 6">
            <a:extLst>
              <a:ext uri="{FF2B5EF4-FFF2-40B4-BE49-F238E27FC236}">
                <a16:creationId xmlns:a16="http://schemas.microsoft.com/office/drawing/2014/main" id="{98B56FD7-DEEC-2B1A-7FE4-1E9105E154AE}"/>
              </a:ext>
            </a:extLst>
          </p:cNvPr>
          <p:cNvSpPr/>
          <p:nvPr/>
        </p:nvSpPr>
        <p:spPr>
          <a:xfrm>
            <a:off x="609600" y="2235200"/>
            <a:ext cx="279400" cy="2794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900">
                <a:solidFill>
                  <a:srgbClr val="FFFFFF"/>
                </a:solidFill>
                <a:latin typeface="Bahnschrift SemiBold" panose="020B0502040204020203" pitchFamily="34" charset="0"/>
              </a:rPr>
              <a:t>1</a:t>
            </a:r>
          </a:p>
        </p:txBody>
      </p:sp>
      <p:sp>
        <p:nvSpPr>
          <p:cNvPr id="8" name="CuadroTexto 7">
            <a:extLst>
              <a:ext uri="{FF2B5EF4-FFF2-40B4-BE49-F238E27FC236}">
                <a16:creationId xmlns:a16="http://schemas.microsoft.com/office/drawing/2014/main" id="{E8E31DE8-6EEA-DCB2-1615-182275791BA6}"/>
              </a:ext>
            </a:extLst>
          </p:cNvPr>
          <p:cNvSpPr txBox="1"/>
          <p:nvPr/>
        </p:nvSpPr>
        <p:spPr>
          <a:xfrm>
            <a:off x="990600" y="2273300"/>
            <a:ext cx="6223000" cy="304800"/>
          </a:xfrm>
          <a:prstGeom prst="rect">
            <a:avLst/>
          </a:prstGeom>
          <a:noFill/>
        </p:spPr>
        <p:txBody>
          <a:bodyPr vert="horz" wrap="square" lIns="0" tIns="0" rIns="0" bIns="0" rtlCol="0" anchor="t">
            <a:noAutofit/>
          </a:bodyPr>
          <a:lstStyle/>
          <a:p>
            <a:pPr algn="l"/>
            <a:r>
              <a:rPr lang="es-MX" sz="1150">
                <a:solidFill>
                  <a:srgbClr val="1C1813"/>
                </a:solidFill>
                <a:latin typeface="Segoe UI Semibold" panose="020B0702040204020203" pitchFamily="34" charset="0"/>
              </a:rPr>
              <a:t>La sobrecarga que aporta el terreno de encima</a:t>
            </a:r>
            <a:endParaRPr lang="es-BO" sz="1150">
              <a:solidFill>
                <a:srgbClr val="1C1813"/>
              </a:solidFill>
              <a:latin typeface="Segoe UI Semibold" panose="020B0702040204020203" pitchFamily="34" charset="0"/>
            </a:endParaRPr>
          </a:p>
        </p:txBody>
      </p:sp>
      <p:sp>
        <p:nvSpPr>
          <p:cNvPr id="9" name="Elipse 8">
            <a:extLst>
              <a:ext uri="{FF2B5EF4-FFF2-40B4-BE49-F238E27FC236}">
                <a16:creationId xmlns:a16="http://schemas.microsoft.com/office/drawing/2014/main" id="{828E1D1F-7DB7-30F9-5913-6C709586E26B}"/>
              </a:ext>
            </a:extLst>
          </p:cNvPr>
          <p:cNvSpPr/>
          <p:nvPr/>
        </p:nvSpPr>
        <p:spPr>
          <a:xfrm>
            <a:off x="609600" y="2616200"/>
            <a:ext cx="279400" cy="2794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900">
                <a:solidFill>
                  <a:srgbClr val="FFFFFF"/>
                </a:solidFill>
                <a:latin typeface="Bahnschrift SemiBold" panose="020B0502040204020203" pitchFamily="34" charset="0"/>
              </a:rPr>
              <a:t>2</a:t>
            </a:r>
          </a:p>
        </p:txBody>
      </p:sp>
      <p:sp>
        <p:nvSpPr>
          <p:cNvPr id="10" name="CuadroTexto 9">
            <a:extLst>
              <a:ext uri="{FF2B5EF4-FFF2-40B4-BE49-F238E27FC236}">
                <a16:creationId xmlns:a16="http://schemas.microsoft.com/office/drawing/2014/main" id="{02956C14-1CAD-0D48-AC01-9E2F1C407C8A}"/>
              </a:ext>
            </a:extLst>
          </p:cNvPr>
          <p:cNvSpPr txBox="1"/>
          <p:nvPr/>
        </p:nvSpPr>
        <p:spPr>
          <a:xfrm>
            <a:off x="990600" y="2654300"/>
            <a:ext cx="6223000" cy="304800"/>
          </a:xfrm>
          <a:prstGeom prst="rect">
            <a:avLst/>
          </a:prstGeom>
          <a:noFill/>
        </p:spPr>
        <p:txBody>
          <a:bodyPr vert="horz" wrap="square" lIns="0" tIns="0" rIns="0" bIns="0" rtlCol="0" anchor="t">
            <a:noAutofit/>
          </a:bodyPr>
          <a:lstStyle/>
          <a:p>
            <a:pPr algn="l"/>
            <a:r>
              <a:rPr lang="es-MX" sz="1150">
                <a:solidFill>
                  <a:srgbClr val="1C1813"/>
                </a:solidFill>
                <a:latin typeface="Segoe UI Semibold" panose="020B0702040204020203" pitchFamily="34" charset="0"/>
              </a:rPr>
              <a:t>Los tres sumandos de la carga de hundimiento</a:t>
            </a:r>
            <a:endParaRPr lang="es-BO" sz="1150">
              <a:solidFill>
                <a:srgbClr val="1C1813"/>
              </a:solidFill>
              <a:latin typeface="Segoe UI Semibold" panose="020B0702040204020203" pitchFamily="34" charset="0"/>
            </a:endParaRPr>
          </a:p>
        </p:txBody>
      </p:sp>
      <p:sp>
        <p:nvSpPr>
          <p:cNvPr id="11" name="Elipse 10">
            <a:extLst>
              <a:ext uri="{FF2B5EF4-FFF2-40B4-BE49-F238E27FC236}">
                <a16:creationId xmlns:a16="http://schemas.microsoft.com/office/drawing/2014/main" id="{C13D2273-A2BE-FAF1-F0B2-84003BAEBD3D}"/>
              </a:ext>
            </a:extLst>
          </p:cNvPr>
          <p:cNvSpPr/>
          <p:nvPr/>
        </p:nvSpPr>
        <p:spPr>
          <a:xfrm>
            <a:off x="609600" y="2997200"/>
            <a:ext cx="279400" cy="2794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900">
                <a:solidFill>
                  <a:srgbClr val="FFFFFF"/>
                </a:solidFill>
                <a:latin typeface="Bahnschrift SemiBold" panose="020B0502040204020203" pitchFamily="34" charset="0"/>
              </a:rPr>
              <a:t>3</a:t>
            </a:r>
          </a:p>
        </p:txBody>
      </p:sp>
      <p:sp>
        <p:nvSpPr>
          <p:cNvPr id="12" name="CuadroTexto 11">
            <a:extLst>
              <a:ext uri="{FF2B5EF4-FFF2-40B4-BE49-F238E27FC236}">
                <a16:creationId xmlns:a16="http://schemas.microsoft.com/office/drawing/2014/main" id="{1B60C713-BD7A-3A88-ED58-9D508D824B33}"/>
              </a:ext>
            </a:extLst>
          </p:cNvPr>
          <p:cNvSpPr txBox="1"/>
          <p:nvPr/>
        </p:nvSpPr>
        <p:spPr>
          <a:xfrm>
            <a:off x="990600" y="3035300"/>
            <a:ext cx="6223000" cy="304800"/>
          </a:xfrm>
          <a:prstGeom prst="rect">
            <a:avLst/>
          </a:prstGeom>
          <a:noFill/>
        </p:spPr>
        <p:txBody>
          <a:bodyPr vert="horz" wrap="square" lIns="0" tIns="0" rIns="0" bIns="0" rtlCol="0" anchor="t">
            <a:noAutofit/>
          </a:bodyPr>
          <a:lstStyle/>
          <a:p>
            <a:pPr algn="l"/>
            <a:r>
              <a:rPr lang="es-MX" sz="1150">
                <a:solidFill>
                  <a:srgbClr val="1C1813"/>
                </a:solidFill>
                <a:latin typeface="Segoe UI Semibold" panose="020B0702040204020203" pitchFamily="34" charset="0"/>
              </a:rPr>
              <a:t>De carga de hundimiento a carga admisible</a:t>
            </a:r>
            <a:endParaRPr lang="es-BO" sz="1150">
              <a:solidFill>
                <a:srgbClr val="1C1813"/>
              </a:solidFill>
              <a:latin typeface="Segoe UI Semibold" panose="020B0702040204020203" pitchFamily="34" charset="0"/>
            </a:endParaRPr>
          </a:p>
        </p:txBody>
      </p:sp>
      <p:sp>
        <p:nvSpPr>
          <p:cNvPr id="13" name="Elipse 12">
            <a:extLst>
              <a:ext uri="{FF2B5EF4-FFF2-40B4-BE49-F238E27FC236}">
                <a16:creationId xmlns:a16="http://schemas.microsoft.com/office/drawing/2014/main" id="{AF618BAC-19B2-8394-D285-810181513CA3}"/>
              </a:ext>
            </a:extLst>
          </p:cNvPr>
          <p:cNvSpPr/>
          <p:nvPr/>
        </p:nvSpPr>
        <p:spPr>
          <a:xfrm>
            <a:off x="609600" y="3378200"/>
            <a:ext cx="279400" cy="2794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900">
                <a:solidFill>
                  <a:srgbClr val="FFFFFF"/>
                </a:solidFill>
                <a:latin typeface="Bahnschrift SemiBold" panose="020B0502040204020203" pitchFamily="34" charset="0"/>
              </a:rPr>
              <a:t>4</a:t>
            </a:r>
          </a:p>
        </p:txBody>
      </p:sp>
      <p:sp>
        <p:nvSpPr>
          <p:cNvPr id="14" name="CuadroTexto 13">
            <a:extLst>
              <a:ext uri="{FF2B5EF4-FFF2-40B4-BE49-F238E27FC236}">
                <a16:creationId xmlns:a16="http://schemas.microsoft.com/office/drawing/2014/main" id="{098D97CD-A09C-F50C-6F4B-DD7F6362A730}"/>
              </a:ext>
            </a:extLst>
          </p:cNvPr>
          <p:cNvSpPr txBox="1"/>
          <p:nvPr/>
        </p:nvSpPr>
        <p:spPr>
          <a:xfrm>
            <a:off x="990600" y="3416300"/>
            <a:ext cx="6223000" cy="304800"/>
          </a:xfrm>
          <a:prstGeom prst="rect">
            <a:avLst/>
          </a:prstGeom>
          <a:noFill/>
        </p:spPr>
        <p:txBody>
          <a:bodyPr vert="horz" wrap="square" lIns="0" tIns="0" rIns="0" bIns="0" rtlCol="0" anchor="t">
            <a:noAutofit/>
          </a:bodyPr>
          <a:lstStyle/>
          <a:p>
            <a:pPr algn="l"/>
            <a:r>
              <a:rPr lang="es-MX" sz="1150">
                <a:solidFill>
                  <a:srgbClr val="1C1813"/>
                </a:solidFill>
                <a:latin typeface="Segoe UI Semibold" panose="020B0702040204020203" pitchFamily="34" charset="0"/>
              </a:rPr>
              <a:t>La carga que llega de verdad al plano de apoyo</a:t>
            </a:r>
            <a:endParaRPr lang="es-BO" sz="1150">
              <a:solidFill>
                <a:srgbClr val="1C1813"/>
              </a:solidFill>
              <a:latin typeface="Segoe UI Semibold" panose="020B0702040204020203" pitchFamily="34" charset="0"/>
            </a:endParaRPr>
          </a:p>
        </p:txBody>
      </p:sp>
      <p:sp>
        <p:nvSpPr>
          <p:cNvPr id="15" name="Elipse 14">
            <a:extLst>
              <a:ext uri="{FF2B5EF4-FFF2-40B4-BE49-F238E27FC236}">
                <a16:creationId xmlns:a16="http://schemas.microsoft.com/office/drawing/2014/main" id="{560A21D6-F5BE-9C98-2CBD-A0D1999831C0}"/>
              </a:ext>
            </a:extLst>
          </p:cNvPr>
          <p:cNvSpPr/>
          <p:nvPr/>
        </p:nvSpPr>
        <p:spPr>
          <a:xfrm>
            <a:off x="609600" y="3759200"/>
            <a:ext cx="279400" cy="2794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900">
                <a:solidFill>
                  <a:srgbClr val="FFFFFF"/>
                </a:solidFill>
                <a:latin typeface="Bahnschrift SemiBold" panose="020B0502040204020203" pitchFamily="34" charset="0"/>
              </a:rPr>
              <a:t>5</a:t>
            </a:r>
          </a:p>
        </p:txBody>
      </p:sp>
      <p:sp>
        <p:nvSpPr>
          <p:cNvPr id="16" name="CuadroTexto 15">
            <a:extLst>
              <a:ext uri="{FF2B5EF4-FFF2-40B4-BE49-F238E27FC236}">
                <a16:creationId xmlns:a16="http://schemas.microsoft.com/office/drawing/2014/main" id="{82C6DE9A-310D-41E1-4918-83CD0EB77CEB}"/>
              </a:ext>
            </a:extLst>
          </p:cNvPr>
          <p:cNvSpPr txBox="1"/>
          <p:nvPr/>
        </p:nvSpPr>
        <p:spPr>
          <a:xfrm>
            <a:off x="990600" y="3797300"/>
            <a:ext cx="6223000" cy="304800"/>
          </a:xfrm>
          <a:prstGeom prst="rect">
            <a:avLst/>
          </a:prstGeom>
          <a:noFill/>
        </p:spPr>
        <p:txBody>
          <a:bodyPr vert="horz" wrap="square" lIns="0" tIns="0" rIns="0" bIns="0" rtlCol="0" anchor="t">
            <a:noAutofit/>
          </a:bodyPr>
          <a:lstStyle/>
          <a:p>
            <a:pPr algn="l"/>
            <a:r>
              <a:rPr lang="es-MX" sz="1150">
                <a:solidFill>
                  <a:srgbClr val="1C1813"/>
                </a:solidFill>
                <a:latin typeface="Segoe UI Semibold" panose="020B0702040204020203" pitchFamily="34" charset="0"/>
              </a:rPr>
              <a:t>La comprobación con la carga de hoy</a:t>
            </a:r>
            <a:endParaRPr lang="es-BO" sz="1150">
              <a:solidFill>
                <a:srgbClr val="1C1813"/>
              </a:solidFill>
              <a:latin typeface="Segoe UI Semibold" panose="020B0702040204020203" pitchFamily="34" charset="0"/>
            </a:endParaRPr>
          </a:p>
        </p:txBody>
      </p:sp>
      <p:sp>
        <p:nvSpPr>
          <p:cNvPr id="17" name="Elipse 16">
            <a:extLst>
              <a:ext uri="{FF2B5EF4-FFF2-40B4-BE49-F238E27FC236}">
                <a16:creationId xmlns:a16="http://schemas.microsoft.com/office/drawing/2014/main" id="{A3E4D21C-231A-325B-049C-E22C5155DBDA}"/>
              </a:ext>
            </a:extLst>
          </p:cNvPr>
          <p:cNvSpPr/>
          <p:nvPr/>
        </p:nvSpPr>
        <p:spPr>
          <a:xfrm>
            <a:off x="609600" y="4140200"/>
            <a:ext cx="279400" cy="2794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900">
                <a:solidFill>
                  <a:srgbClr val="FFFFFF"/>
                </a:solidFill>
                <a:latin typeface="Bahnschrift SemiBold" panose="020B0502040204020203" pitchFamily="34" charset="0"/>
              </a:rPr>
              <a:t>6</a:t>
            </a:r>
          </a:p>
        </p:txBody>
      </p:sp>
      <p:sp>
        <p:nvSpPr>
          <p:cNvPr id="18" name="CuadroTexto 17">
            <a:extLst>
              <a:ext uri="{FF2B5EF4-FFF2-40B4-BE49-F238E27FC236}">
                <a16:creationId xmlns:a16="http://schemas.microsoft.com/office/drawing/2014/main" id="{DAFF55E0-DF87-127D-4DC6-BE60BD4D48BE}"/>
              </a:ext>
            </a:extLst>
          </p:cNvPr>
          <p:cNvSpPr txBox="1"/>
          <p:nvPr/>
        </p:nvSpPr>
        <p:spPr>
          <a:xfrm>
            <a:off x="990600" y="4178300"/>
            <a:ext cx="6223000" cy="304800"/>
          </a:xfrm>
          <a:prstGeom prst="rect">
            <a:avLst/>
          </a:prstGeom>
          <a:noFill/>
        </p:spPr>
        <p:txBody>
          <a:bodyPr vert="horz" wrap="square" lIns="0" tIns="0" rIns="0" bIns="0" rtlCol="0" anchor="t">
            <a:noAutofit/>
          </a:bodyPr>
          <a:lstStyle/>
          <a:p>
            <a:pPr algn="l"/>
            <a:r>
              <a:rPr lang="es-MX" sz="1150">
                <a:solidFill>
                  <a:srgbClr val="1C1813"/>
                </a:solidFill>
                <a:latin typeface="Segoe UI Semibold" panose="020B0702040204020203" pitchFamily="34" charset="0"/>
              </a:rPr>
              <a:t>La comprobación con el cambio de uso</a:t>
            </a:r>
            <a:endParaRPr lang="es-BO" sz="1150">
              <a:solidFill>
                <a:srgbClr val="1C1813"/>
              </a:solidFill>
              <a:latin typeface="Segoe UI Semibold" panose="020B0702040204020203" pitchFamily="34" charset="0"/>
            </a:endParaRPr>
          </a:p>
        </p:txBody>
      </p:sp>
      <p:sp>
        <p:nvSpPr>
          <p:cNvPr id="19" name="Elipse 18">
            <a:extLst>
              <a:ext uri="{FF2B5EF4-FFF2-40B4-BE49-F238E27FC236}">
                <a16:creationId xmlns:a16="http://schemas.microsoft.com/office/drawing/2014/main" id="{FAA12CEE-95AE-B78F-ECC9-0298A4BC3BC5}"/>
              </a:ext>
            </a:extLst>
          </p:cNvPr>
          <p:cNvSpPr/>
          <p:nvPr/>
        </p:nvSpPr>
        <p:spPr>
          <a:xfrm>
            <a:off x="609600" y="4521200"/>
            <a:ext cx="279400" cy="2794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900">
                <a:solidFill>
                  <a:srgbClr val="FFFFFF"/>
                </a:solidFill>
                <a:latin typeface="Bahnschrift SemiBold" panose="020B0502040204020203" pitchFamily="34" charset="0"/>
              </a:rPr>
              <a:t>7</a:t>
            </a:r>
          </a:p>
        </p:txBody>
      </p:sp>
      <p:sp>
        <p:nvSpPr>
          <p:cNvPr id="20" name="CuadroTexto 19">
            <a:extLst>
              <a:ext uri="{FF2B5EF4-FFF2-40B4-BE49-F238E27FC236}">
                <a16:creationId xmlns:a16="http://schemas.microsoft.com/office/drawing/2014/main" id="{61122475-37FE-65D3-E783-2E82C5450D3E}"/>
              </a:ext>
            </a:extLst>
          </p:cNvPr>
          <p:cNvSpPr txBox="1"/>
          <p:nvPr/>
        </p:nvSpPr>
        <p:spPr>
          <a:xfrm>
            <a:off x="990600" y="4559300"/>
            <a:ext cx="6223000" cy="304800"/>
          </a:xfrm>
          <a:prstGeom prst="rect">
            <a:avLst/>
          </a:prstGeom>
          <a:noFill/>
        </p:spPr>
        <p:txBody>
          <a:bodyPr vert="horz" wrap="square" lIns="0" tIns="0" rIns="0" bIns="0" rtlCol="0" anchor="t">
            <a:noAutofit/>
          </a:bodyPr>
          <a:lstStyle/>
          <a:p>
            <a:pPr algn="l"/>
            <a:r>
              <a:rPr lang="es-BO" sz="1150">
                <a:solidFill>
                  <a:srgbClr val="1C1813"/>
                </a:solidFill>
                <a:latin typeface="Segoe UI Semibold" panose="020B0702040204020203" pitchFamily="34" charset="0"/>
              </a:rPr>
              <a:t>Dimensionar el ensanche</a:t>
            </a:r>
          </a:p>
        </p:txBody>
      </p:sp>
      <p:sp>
        <p:nvSpPr>
          <p:cNvPr id="21" name="Elipse 20">
            <a:extLst>
              <a:ext uri="{FF2B5EF4-FFF2-40B4-BE49-F238E27FC236}">
                <a16:creationId xmlns:a16="http://schemas.microsoft.com/office/drawing/2014/main" id="{82EB15A4-5C4E-4F99-1066-086860FCC15E}"/>
              </a:ext>
            </a:extLst>
          </p:cNvPr>
          <p:cNvSpPr/>
          <p:nvPr/>
        </p:nvSpPr>
        <p:spPr>
          <a:xfrm>
            <a:off x="609600" y="4902200"/>
            <a:ext cx="279400" cy="2794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900">
                <a:solidFill>
                  <a:srgbClr val="FFFFFF"/>
                </a:solidFill>
                <a:latin typeface="Bahnschrift SemiBold" panose="020B0502040204020203" pitchFamily="34" charset="0"/>
              </a:rPr>
              <a:t>8</a:t>
            </a:r>
          </a:p>
        </p:txBody>
      </p:sp>
      <p:sp>
        <p:nvSpPr>
          <p:cNvPr id="22" name="CuadroTexto 21">
            <a:extLst>
              <a:ext uri="{FF2B5EF4-FFF2-40B4-BE49-F238E27FC236}">
                <a16:creationId xmlns:a16="http://schemas.microsoft.com/office/drawing/2014/main" id="{9CD8E51A-D254-6C43-8E69-4C1C6FC60CF4}"/>
              </a:ext>
            </a:extLst>
          </p:cNvPr>
          <p:cNvSpPr txBox="1"/>
          <p:nvPr/>
        </p:nvSpPr>
        <p:spPr>
          <a:xfrm>
            <a:off x="990600" y="4940300"/>
            <a:ext cx="6223000" cy="304800"/>
          </a:xfrm>
          <a:prstGeom prst="rect">
            <a:avLst/>
          </a:prstGeom>
          <a:noFill/>
        </p:spPr>
        <p:txBody>
          <a:bodyPr vert="horz" wrap="square" lIns="0" tIns="0" rIns="0" bIns="0" rtlCol="0" anchor="t">
            <a:noAutofit/>
          </a:bodyPr>
          <a:lstStyle/>
          <a:p>
            <a:pPr algn="l"/>
            <a:r>
              <a:rPr lang="es-MX" sz="1150">
                <a:solidFill>
                  <a:srgbClr val="1C1813"/>
                </a:solidFill>
                <a:latin typeface="Segoe UI Semibold" panose="020B0702040204020203" pitchFamily="34" charset="0"/>
              </a:rPr>
              <a:t>La conexión entre lo nuevo y lo viejo</a:t>
            </a:r>
            <a:endParaRPr lang="es-BO" sz="1150">
              <a:solidFill>
                <a:srgbClr val="1C1813"/>
              </a:solidFill>
              <a:latin typeface="Segoe UI Semibold" panose="020B0702040204020203" pitchFamily="34" charset="0"/>
            </a:endParaRPr>
          </a:p>
        </p:txBody>
      </p:sp>
      <p:sp>
        <p:nvSpPr>
          <p:cNvPr id="23" name="Rectángulo 22">
            <a:extLst>
              <a:ext uri="{FF2B5EF4-FFF2-40B4-BE49-F238E27FC236}">
                <a16:creationId xmlns:a16="http://schemas.microsoft.com/office/drawing/2014/main" id="{AD31A6D2-020C-D0C0-72A8-401E8F97F2D1}"/>
              </a:ext>
            </a:extLst>
          </p:cNvPr>
          <p:cNvSpPr/>
          <p:nvPr/>
        </p:nvSpPr>
        <p:spPr>
          <a:xfrm>
            <a:off x="7467600" y="1371600"/>
            <a:ext cx="4114800" cy="3987800"/>
          </a:xfrm>
          <a:prstGeom prst="rect">
            <a:avLst/>
          </a:prstGeom>
          <a:solidFill>
            <a:srgbClr val="FFFFFF"/>
          </a:solidFill>
          <a:ln w="9525">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5" name="CuadroTexto 24">
            <a:extLst>
              <a:ext uri="{FF2B5EF4-FFF2-40B4-BE49-F238E27FC236}">
                <a16:creationId xmlns:a16="http://schemas.microsoft.com/office/drawing/2014/main" id="{EB64A2F2-E9AF-CC5E-3811-1BB12FE8F25A}"/>
              </a:ext>
            </a:extLst>
          </p:cNvPr>
          <p:cNvSpPr txBox="1"/>
          <p:nvPr/>
        </p:nvSpPr>
        <p:spPr>
          <a:xfrm>
            <a:off x="7670800" y="1485900"/>
            <a:ext cx="3733800" cy="165100"/>
          </a:xfrm>
          <a:prstGeom prst="rect">
            <a:avLst/>
          </a:prstGeom>
          <a:noFill/>
        </p:spPr>
        <p:txBody>
          <a:bodyPr vert="horz" wrap="square" lIns="0" tIns="0" rIns="0" bIns="0" rtlCol="0" anchor="t">
            <a:noAutofit/>
          </a:bodyPr>
          <a:lstStyle/>
          <a:p>
            <a:r>
              <a:rPr lang="es-MX" sz="750" spc="160">
                <a:solidFill>
                  <a:srgbClr val="6A4F20"/>
                </a:solidFill>
                <a:latin typeface="Segoe UI Semibold" panose="020B0702040204020203" pitchFamily="34" charset="0"/>
              </a:rPr>
              <a:t>TERZAGHI  ·  DE DÓNDE SALE CADA SUMANDO</a:t>
            </a:r>
            <a:endParaRPr lang="es-BO" sz="750" spc="160">
              <a:solidFill>
                <a:srgbClr val="6A4F20"/>
              </a:solidFill>
              <a:latin typeface="Segoe UI Semibold" panose="020B0702040204020203" pitchFamily="34" charset="0"/>
            </a:endParaRPr>
          </a:p>
        </p:txBody>
      </p:sp>
      <p:sp>
        <p:nvSpPr>
          <p:cNvPr id="26" name="Rectángulo 25">
            <a:extLst>
              <a:ext uri="{FF2B5EF4-FFF2-40B4-BE49-F238E27FC236}">
                <a16:creationId xmlns:a16="http://schemas.microsoft.com/office/drawing/2014/main" id="{066F02A9-2EBF-9AEB-423B-CF8FE7CE3A62}"/>
              </a:ext>
            </a:extLst>
          </p:cNvPr>
          <p:cNvSpPr/>
          <p:nvPr/>
        </p:nvSpPr>
        <p:spPr>
          <a:xfrm>
            <a:off x="7747000" y="2082800"/>
            <a:ext cx="3556000" cy="1854200"/>
          </a:xfrm>
          <a:prstGeom prst="rect">
            <a:avLst/>
          </a:prstGeom>
          <a:solidFill>
            <a:srgbClr val="EAE4D6"/>
          </a:solidFill>
          <a:ln w="6350">
            <a:solidFill>
              <a:srgbClr val="A69E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cxnSp>
        <p:nvCxnSpPr>
          <p:cNvPr id="27" name="Conector recto 26">
            <a:extLst>
              <a:ext uri="{FF2B5EF4-FFF2-40B4-BE49-F238E27FC236}">
                <a16:creationId xmlns:a16="http://schemas.microsoft.com/office/drawing/2014/main" id="{6FFB0ACF-B344-9A54-37D7-06C7ABA5FC42}"/>
              </a:ext>
            </a:extLst>
          </p:cNvPr>
          <p:cNvCxnSpPr/>
          <p:nvPr/>
        </p:nvCxnSpPr>
        <p:spPr>
          <a:xfrm>
            <a:off x="7747000" y="2082800"/>
            <a:ext cx="0" cy="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28" name="Conector recto 27">
            <a:extLst>
              <a:ext uri="{FF2B5EF4-FFF2-40B4-BE49-F238E27FC236}">
                <a16:creationId xmlns:a16="http://schemas.microsoft.com/office/drawing/2014/main" id="{89C42609-1F15-F95A-C7D0-DA6A1EB2F0B1}"/>
              </a:ext>
            </a:extLst>
          </p:cNvPr>
          <p:cNvCxnSpPr/>
          <p:nvPr/>
        </p:nvCxnSpPr>
        <p:spPr>
          <a:xfrm flipH="1">
            <a:off x="7747000" y="2082800"/>
            <a:ext cx="165100" cy="1651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29" name="Conector recto 28">
            <a:extLst>
              <a:ext uri="{FF2B5EF4-FFF2-40B4-BE49-F238E27FC236}">
                <a16:creationId xmlns:a16="http://schemas.microsoft.com/office/drawing/2014/main" id="{BD8ACA7C-31D8-5184-A578-C7459C7C3962}"/>
              </a:ext>
            </a:extLst>
          </p:cNvPr>
          <p:cNvCxnSpPr/>
          <p:nvPr/>
        </p:nvCxnSpPr>
        <p:spPr>
          <a:xfrm flipH="1">
            <a:off x="7747000" y="2082800"/>
            <a:ext cx="330200" cy="3302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30" name="Conector recto 29">
            <a:extLst>
              <a:ext uri="{FF2B5EF4-FFF2-40B4-BE49-F238E27FC236}">
                <a16:creationId xmlns:a16="http://schemas.microsoft.com/office/drawing/2014/main" id="{349A4123-EE43-0FF4-32B3-4B5DDA69A061}"/>
              </a:ext>
            </a:extLst>
          </p:cNvPr>
          <p:cNvCxnSpPr/>
          <p:nvPr/>
        </p:nvCxnSpPr>
        <p:spPr>
          <a:xfrm flipH="1">
            <a:off x="7747000" y="2082800"/>
            <a:ext cx="495300" cy="4953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31" name="Conector recto 30">
            <a:extLst>
              <a:ext uri="{FF2B5EF4-FFF2-40B4-BE49-F238E27FC236}">
                <a16:creationId xmlns:a16="http://schemas.microsoft.com/office/drawing/2014/main" id="{D225F9CE-404F-08E8-7423-8E698E1F6E4B}"/>
              </a:ext>
            </a:extLst>
          </p:cNvPr>
          <p:cNvCxnSpPr/>
          <p:nvPr/>
        </p:nvCxnSpPr>
        <p:spPr>
          <a:xfrm flipH="1">
            <a:off x="7747000" y="2082800"/>
            <a:ext cx="660400" cy="6604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32" name="Conector recto 31">
            <a:extLst>
              <a:ext uri="{FF2B5EF4-FFF2-40B4-BE49-F238E27FC236}">
                <a16:creationId xmlns:a16="http://schemas.microsoft.com/office/drawing/2014/main" id="{0AFAECD2-385D-CE73-5B86-8B5A379E25CB}"/>
              </a:ext>
            </a:extLst>
          </p:cNvPr>
          <p:cNvCxnSpPr/>
          <p:nvPr/>
        </p:nvCxnSpPr>
        <p:spPr>
          <a:xfrm flipH="1">
            <a:off x="7747000" y="2082800"/>
            <a:ext cx="825500" cy="8255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33" name="Conector recto 32">
            <a:extLst>
              <a:ext uri="{FF2B5EF4-FFF2-40B4-BE49-F238E27FC236}">
                <a16:creationId xmlns:a16="http://schemas.microsoft.com/office/drawing/2014/main" id="{31D6A5A8-15AD-F3F1-BD70-2491B496157E}"/>
              </a:ext>
            </a:extLst>
          </p:cNvPr>
          <p:cNvCxnSpPr/>
          <p:nvPr/>
        </p:nvCxnSpPr>
        <p:spPr>
          <a:xfrm flipH="1">
            <a:off x="7747000" y="2082800"/>
            <a:ext cx="990600" cy="9906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34" name="Conector recto 33">
            <a:extLst>
              <a:ext uri="{FF2B5EF4-FFF2-40B4-BE49-F238E27FC236}">
                <a16:creationId xmlns:a16="http://schemas.microsoft.com/office/drawing/2014/main" id="{AB301B78-8243-2CCC-6967-BEC491BCECB8}"/>
              </a:ext>
            </a:extLst>
          </p:cNvPr>
          <p:cNvCxnSpPr/>
          <p:nvPr/>
        </p:nvCxnSpPr>
        <p:spPr>
          <a:xfrm flipH="1">
            <a:off x="7747000" y="2082800"/>
            <a:ext cx="1155700" cy="11557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35" name="Conector recto 34">
            <a:extLst>
              <a:ext uri="{FF2B5EF4-FFF2-40B4-BE49-F238E27FC236}">
                <a16:creationId xmlns:a16="http://schemas.microsoft.com/office/drawing/2014/main" id="{AB506F80-5C88-C4B5-750E-67A98D816AC5}"/>
              </a:ext>
            </a:extLst>
          </p:cNvPr>
          <p:cNvCxnSpPr/>
          <p:nvPr/>
        </p:nvCxnSpPr>
        <p:spPr>
          <a:xfrm flipH="1">
            <a:off x="7747000" y="2082800"/>
            <a:ext cx="1320800" cy="13208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36" name="Conector recto 35">
            <a:extLst>
              <a:ext uri="{FF2B5EF4-FFF2-40B4-BE49-F238E27FC236}">
                <a16:creationId xmlns:a16="http://schemas.microsoft.com/office/drawing/2014/main" id="{460A4397-0112-08C6-1DCC-1D508215E8E0}"/>
              </a:ext>
            </a:extLst>
          </p:cNvPr>
          <p:cNvCxnSpPr/>
          <p:nvPr/>
        </p:nvCxnSpPr>
        <p:spPr>
          <a:xfrm flipH="1">
            <a:off x="7747000" y="2082800"/>
            <a:ext cx="1485900" cy="14859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37" name="Conector recto 36">
            <a:extLst>
              <a:ext uri="{FF2B5EF4-FFF2-40B4-BE49-F238E27FC236}">
                <a16:creationId xmlns:a16="http://schemas.microsoft.com/office/drawing/2014/main" id="{0975C521-5D11-8686-8EEF-55D65A1D9D8E}"/>
              </a:ext>
            </a:extLst>
          </p:cNvPr>
          <p:cNvCxnSpPr/>
          <p:nvPr/>
        </p:nvCxnSpPr>
        <p:spPr>
          <a:xfrm flipH="1">
            <a:off x="7747000" y="2082800"/>
            <a:ext cx="1651000" cy="16510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38" name="Conector recto 37">
            <a:extLst>
              <a:ext uri="{FF2B5EF4-FFF2-40B4-BE49-F238E27FC236}">
                <a16:creationId xmlns:a16="http://schemas.microsoft.com/office/drawing/2014/main" id="{19BA5135-491F-89D0-B81D-45E8F1009F22}"/>
              </a:ext>
            </a:extLst>
          </p:cNvPr>
          <p:cNvCxnSpPr/>
          <p:nvPr/>
        </p:nvCxnSpPr>
        <p:spPr>
          <a:xfrm flipH="1">
            <a:off x="7747000" y="2082800"/>
            <a:ext cx="1816100" cy="18161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39" name="Conector recto 38">
            <a:extLst>
              <a:ext uri="{FF2B5EF4-FFF2-40B4-BE49-F238E27FC236}">
                <a16:creationId xmlns:a16="http://schemas.microsoft.com/office/drawing/2014/main" id="{20060CBD-B09C-74DF-BCE3-73AD832495E6}"/>
              </a:ext>
            </a:extLst>
          </p:cNvPr>
          <p:cNvCxnSpPr/>
          <p:nvPr/>
        </p:nvCxnSpPr>
        <p:spPr>
          <a:xfrm flipH="1">
            <a:off x="7874000" y="2082800"/>
            <a:ext cx="1854200" cy="18542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40" name="Conector recto 39">
            <a:extLst>
              <a:ext uri="{FF2B5EF4-FFF2-40B4-BE49-F238E27FC236}">
                <a16:creationId xmlns:a16="http://schemas.microsoft.com/office/drawing/2014/main" id="{2131A6D4-8C2A-8194-91A7-AAC74C99AE5E}"/>
              </a:ext>
            </a:extLst>
          </p:cNvPr>
          <p:cNvCxnSpPr/>
          <p:nvPr/>
        </p:nvCxnSpPr>
        <p:spPr>
          <a:xfrm flipH="1">
            <a:off x="8039100" y="2082800"/>
            <a:ext cx="1854200" cy="18542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41" name="Conector recto 40">
            <a:extLst>
              <a:ext uri="{FF2B5EF4-FFF2-40B4-BE49-F238E27FC236}">
                <a16:creationId xmlns:a16="http://schemas.microsoft.com/office/drawing/2014/main" id="{401C8A88-BCBF-B6F9-8AFD-01636CE12EA1}"/>
              </a:ext>
            </a:extLst>
          </p:cNvPr>
          <p:cNvCxnSpPr/>
          <p:nvPr/>
        </p:nvCxnSpPr>
        <p:spPr>
          <a:xfrm flipH="1">
            <a:off x="8204200" y="2082800"/>
            <a:ext cx="1854200" cy="18542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42" name="Conector recto 41">
            <a:extLst>
              <a:ext uri="{FF2B5EF4-FFF2-40B4-BE49-F238E27FC236}">
                <a16:creationId xmlns:a16="http://schemas.microsoft.com/office/drawing/2014/main" id="{EA6B3755-E829-0A5B-900D-339028152FF8}"/>
              </a:ext>
            </a:extLst>
          </p:cNvPr>
          <p:cNvCxnSpPr/>
          <p:nvPr/>
        </p:nvCxnSpPr>
        <p:spPr>
          <a:xfrm flipH="1">
            <a:off x="8369300" y="2082800"/>
            <a:ext cx="1854200" cy="18542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43" name="Conector recto 42">
            <a:extLst>
              <a:ext uri="{FF2B5EF4-FFF2-40B4-BE49-F238E27FC236}">
                <a16:creationId xmlns:a16="http://schemas.microsoft.com/office/drawing/2014/main" id="{7039AF3A-9243-5700-0BE1-3BB70C5BC15B}"/>
              </a:ext>
            </a:extLst>
          </p:cNvPr>
          <p:cNvCxnSpPr/>
          <p:nvPr/>
        </p:nvCxnSpPr>
        <p:spPr>
          <a:xfrm flipH="1">
            <a:off x="8534400" y="2082800"/>
            <a:ext cx="1854200" cy="18542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44" name="Conector recto 43">
            <a:extLst>
              <a:ext uri="{FF2B5EF4-FFF2-40B4-BE49-F238E27FC236}">
                <a16:creationId xmlns:a16="http://schemas.microsoft.com/office/drawing/2014/main" id="{B66A2054-D04B-7A2A-812A-BD3E35D9EF1E}"/>
              </a:ext>
            </a:extLst>
          </p:cNvPr>
          <p:cNvCxnSpPr/>
          <p:nvPr/>
        </p:nvCxnSpPr>
        <p:spPr>
          <a:xfrm flipH="1">
            <a:off x="8699500" y="2082800"/>
            <a:ext cx="1854200" cy="18542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45" name="Conector recto 44">
            <a:extLst>
              <a:ext uri="{FF2B5EF4-FFF2-40B4-BE49-F238E27FC236}">
                <a16:creationId xmlns:a16="http://schemas.microsoft.com/office/drawing/2014/main" id="{7145BE9B-17AA-3F03-97EC-5B993FD90B89}"/>
              </a:ext>
            </a:extLst>
          </p:cNvPr>
          <p:cNvCxnSpPr/>
          <p:nvPr/>
        </p:nvCxnSpPr>
        <p:spPr>
          <a:xfrm flipH="1">
            <a:off x="8864600" y="2082800"/>
            <a:ext cx="1854200" cy="18542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46" name="Conector recto 45">
            <a:extLst>
              <a:ext uri="{FF2B5EF4-FFF2-40B4-BE49-F238E27FC236}">
                <a16:creationId xmlns:a16="http://schemas.microsoft.com/office/drawing/2014/main" id="{94971D3D-E799-D475-F9EE-4A5ACBA1B76B}"/>
              </a:ext>
            </a:extLst>
          </p:cNvPr>
          <p:cNvCxnSpPr/>
          <p:nvPr/>
        </p:nvCxnSpPr>
        <p:spPr>
          <a:xfrm flipH="1">
            <a:off x="9029700" y="2082800"/>
            <a:ext cx="1854200" cy="18542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47" name="Conector recto 46">
            <a:extLst>
              <a:ext uri="{FF2B5EF4-FFF2-40B4-BE49-F238E27FC236}">
                <a16:creationId xmlns:a16="http://schemas.microsoft.com/office/drawing/2014/main" id="{C6CFB3F5-ED09-5BB0-2D6E-B22BFA781BDD}"/>
              </a:ext>
            </a:extLst>
          </p:cNvPr>
          <p:cNvCxnSpPr/>
          <p:nvPr/>
        </p:nvCxnSpPr>
        <p:spPr>
          <a:xfrm flipH="1">
            <a:off x="9194800" y="2082800"/>
            <a:ext cx="1854200" cy="18542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48" name="Conector recto 47">
            <a:extLst>
              <a:ext uri="{FF2B5EF4-FFF2-40B4-BE49-F238E27FC236}">
                <a16:creationId xmlns:a16="http://schemas.microsoft.com/office/drawing/2014/main" id="{8F16CCC6-527B-12C7-B0DF-EB43469B130F}"/>
              </a:ext>
            </a:extLst>
          </p:cNvPr>
          <p:cNvCxnSpPr/>
          <p:nvPr/>
        </p:nvCxnSpPr>
        <p:spPr>
          <a:xfrm flipH="1">
            <a:off x="9359900" y="2082800"/>
            <a:ext cx="1854200" cy="18542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49" name="Conector recto 48">
            <a:extLst>
              <a:ext uri="{FF2B5EF4-FFF2-40B4-BE49-F238E27FC236}">
                <a16:creationId xmlns:a16="http://schemas.microsoft.com/office/drawing/2014/main" id="{082E74EB-E1B4-EE3F-2838-38FF8B6D217D}"/>
              </a:ext>
            </a:extLst>
          </p:cNvPr>
          <p:cNvCxnSpPr/>
          <p:nvPr/>
        </p:nvCxnSpPr>
        <p:spPr>
          <a:xfrm flipH="1">
            <a:off x="9525000" y="2159000"/>
            <a:ext cx="1778000" cy="17780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50" name="Conector recto 49">
            <a:extLst>
              <a:ext uri="{FF2B5EF4-FFF2-40B4-BE49-F238E27FC236}">
                <a16:creationId xmlns:a16="http://schemas.microsoft.com/office/drawing/2014/main" id="{45808397-D81F-5D55-78D8-CC39C1A7FBA5}"/>
              </a:ext>
            </a:extLst>
          </p:cNvPr>
          <p:cNvCxnSpPr/>
          <p:nvPr/>
        </p:nvCxnSpPr>
        <p:spPr>
          <a:xfrm flipH="1">
            <a:off x="9690100" y="2324100"/>
            <a:ext cx="1612900" cy="16129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51" name="Conector recto 50">
            <a:extLst>
              <a:ext uri="{FF2B5EF4-FFF2-40B4-BE49-F238E27FC236}">
                <a16:creationId xmlns:a16="http://schemas.microsoft.com/office/drawing/2014/main" id="{8A77104D-656E-E4A7-1FBC-25D24A3FFFEB}"/>
              </a:ext>
            </a:extLst>
          </p:cNvPr>
          <p:cNvCxnSpPr/>
          <p:nvPr/>
        </p:nvCxnSpPr>
        <p:spPr>
          <a:xfrm flipH="1">
            <a:off x="9855200" y="2489200"/>
            <a:ext cx="1447800" cy="14478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52" name="Conector recto 51">
            <a:extLst>
              <a:ext uri="{FF2B5EF4-FFF2-40B4-BE49-F238E27FC236}">
                <a16:creationId xmlns:a16="http://schemas.microsoft.com/office/drawing/2014/main" id="{4FBB26B0-4BDF-372B-F2DE-8C0EA1F8E806}"/>
              </a:ext>
            </a:extLst>
          </p:cNvPr>
          <p:cNvCxnSpPr/>
          <p:nvPr/>
        </p:nvCxnSpPr>
        <p:spPr>
          <a:xfrm flipH="1">
            <a:off x="10020300" y="2654300"/>
            <a:ext cx="1282700" cy="12827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53" name="Conector recto 52">
            <a:extLst>
              <a:ext uri="{FF2B5EF4-FFF2-40B4-BE49-F238E27FC236}">
                <a16:creationId xmlns:a16="http://schemas.microsoft.com/office/drawing/2014/main" id="{1AC9FC5E-0349-9A5C-53D4-8B20C6A79AFC}"/>
              </a:ext>
            </a:extLst>
          </p:cNvPr>
          <p:cNvCxnSpPr/>
          <p:nvPr/>
        </p:nvCxnSpPr>
        <p:spPr>
          <a:xfrm flipH="1">
            <a:off x="10185400" y="2819400"/>
            <a:ext cx="1117600" cy="11176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54" name="Conector recto 53">
            <a:extLst>
              <a:ext uri="{FF2B5EF4-FFF2-40B4-BE49-F238E27FC236}">
                <a16:creationId xmlns:a16="http://schemas.microsoft.com/office/drawing/2014/main" id="{CCDD4F32-11D0-9ACF-D5A7-90672934E940}"/>
              </a:ext>
            </a:extLst>
          </p:cNvPr>
          <p:cNvCxnSpPr/>
          <p:nvPr/>
        </p:nvCxnSpPr>
        <p:spPr>
          <a:xfrm flipH="1">
            <a:off x="10350500" y="2984500"/>
            <a:ext cx="952500" cy="9525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55" name="Conector recto 54">
            <a:extLst>
              <a:ext uri="{FF2B5EF4-FFF2-40B4-BE49-F238E27FC236}">
                <a16:creationId xmlns:a16="http://schemas.microsoft.com/office/drawing/2014/main" id="{20B5D95F-8E2D-B49B-BB39-3A529587AFFE}"/>
              </a:ext>
            </a:extLst>
          </p:cNvPr>
          <p:cNvCxnSpPr/>
          <p:nvPr/>
        </p:nvCxnSpPr>
        <p:spPr>
          <a:xfrm flipH="1">
            <a:off x="10515600" y="3149600"/>
            <a:ext cx="787400" cy="7874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56" name="Conector recto 55">
            <a:extLst>
              <a:ext uri="{FF2B5EF4-FFF2-40B4-BE49-F238E27FC236}">
                <a16:creationId xmlns:a16="http://schemas.microsoft.com/office/drawing/2014/main" id="{625EFDD8-9D4E-5C4E-1152-880B122265BF}"/>
              </a:ext>
            </a:extLst>
          </p:cNvPr>
          <p:cNvCxnSpPr/>
          <p:nvPr/>
        </p:nvCxnSpPr>
        <p:spPr>
          <a:xfrm flipH="1">
            <a:off x="10680700" y="3314700"/>
            <a:ext cx="622300" cy="6223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57" name="Conector recto 56">
            <a:extLst>
              <a:ext uri="{FF2B5EF4-FFF2-40B4-BE49-F238E27FC236}">
                <a16:creationId xmlns:a16="http://schemas.microsoft.com/office/drawing/2014/main" id="{A3D40591-40D1-A5AA-16D5-3F02AE78EDF1}"/>
              </a:ext>
            </a:extLst>
          </p:cNvPr>
          <p:cNvCxnSpPr/>
          <p:nvPr/>
        </p:nvCxnSpPr>
        <p:spPr>
          <a:xfrm flipH="1">
            <a:off x="10845800" y="3479800"/>
            <a:ext cx="457200" cy="4572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58" name="Conector recto 57">
            <a:extLst>
              <a:ext uri="{FF2B5EF4-FFF2-40B4-BE49-F238E27FC236}">
                <a16:creationId xmlns:a16="http://schemas.microsoft.com/office/drawing/2014/main" id="{5B53148D-1C41-135A-096D-0A4C2DEECB8E}"/>
              </a:ext>
            </a:extLst>
          </p:cNvPr>
          <p:cNvCxnSpPr/>
          <p:nvPr/>
        </p:nvCxnSpPr>
        <p:spPr>
          <a:xfrm flipH="1">
            <a:off x="11010900" y="3644900"/>
            <a:ext cx="292100" cy="2921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59" name="Conector recto 58">
            <a:extLst>
              <a:ext uri="{FF2B5EF4-FFF2-40B4-BE49-F238E27FC236}">
                <a16:creationId xmlns:a16="http://schemas.microsoft.com/office/drawing/2014/main" id="{7C515709-2B27-AD8A-8206-D3BB2D47E27F}"/>
              </a:ext>
            </a:extLst>
          </p:cNvPr>
          <p:cNvCxnSpPr/>
          <p:nvPr/>
        </p:nvCxnSpPr>
        <p:spPr>
          <a:xfrm flipH="1">
            <a:off x="11176000" y="3810000"/>
            <a:ext cx="127000" cy="127000"/>
          </a:xfrm>
          <a:prstGeom prst="line">
            <a:avLst/>
          </a:prstGeom>
          <a:ln w="381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60" name="Conector recto 59">
            <a:extLst>
              <a:ext uri="{FF2B5EF4-FFF2-40B4-BE49-F238E27FC236}">
                <a16:creationId xmlns:a16="http://schemas.microsoft.com/office/drawing/2014/main" id="{B9C24BE1-42FA-6C5A-AD46-3DF5F875F199}"/>
              </a:ext>
            </a:extLst>
          </p:cNvPr>
          <p:cNvCxnSpPr/>
          <p:nvPr/>
        </p:nvCxnSpPr>
        <p:spPr>
          <a:xfrm>
            <a:off x="7747000" y="2082800"/>
            <a:ext cx="3556000" cy="0"/>
          </a:xfrm>
          <a:prstGeom prst="line">
            <a:avLst/>
          </a:prstGeom>
          <a:ln w="1270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61" name="Conector recto 60">
            <a:extLst>
              <a:ext uri="{FF2B5EF4-FFF2-40B4-BE49-F238E27FC236}">
                <a16:creationId xmlns:a16="http://schemas.microsoft.com/office/drawing/2014/main" id="{F6FE7451-105B-E3CD-9F3C-492B430877F4}"/>
              </a:ext>
            </a:extLst>
          </p:cNvPr>
          <p:cNvCxnSpPr/>
          <p:nvPr/>
        </p:nvCxnSpPr>
        <p:spPr>
          <a:xfrm flipV="1">
            <a:off x="7772400" y="2082800"/>
            <a:ext cx="88900" cy="101600"/>
          </a:xfrm>
          <a:prstGeom prst="line">
            <a:avLst/>
          </a:prstGeom>
          <a:ln w="762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62" name="Conector recto 61">
            <a:extLst>
              <a:ext uri="{FF2B5EF4-FFF2-40B4-BE49-F238E27FC236}">
                <a16:creationId xmlns:a16="http://schemas.microsoft.com/office/drawing/2014/main" id="{225E3650-F16A-E10D-DC8F-53443FCAD23C}"/>
              </a:ext>
            </a:extLst>
          </p:cNvPr>
          <p:cNvCxnSpPr/>
          <p:nvPr/>
        </p:nvCxnSpPr>
        <p:spPr>
          <a:xfrm flipV="1">
            <a:off x="7912100" y="2082800"/>
            <a:ext cx="88900" cy="101600"/>
          </a:xfrm>
          <a:prstGeom prst="line">
            <a:avLst/>
          </a:prstGeom>
          <a:ln w="762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63" name="Conector recto 62">
            <a:extLst>
              <a:ext uri="{FF2B5EF4-FFF2-40B4-BE49-F238E27FC236}">
                <a16:creationId xmlns:a16="http://schemas.microsoft.com/office/drawing/2014/main" id="{DC91AED6-9AFD-5509-C517-6B636112D950}"/>
              </a:ext>
            </a:extLst>
          </p:cNvPr>
          <p:cNvCxnSpPr/>
          <p:nvPr/>
        </p:nvCxnSpPr>
        <p:spPr>
          <a:xfrm flipV="1">
            <a:off x="8051800" y="2082800"/>
            <a:ext cx="88900" cy="101600"/>
          </a:xfrm>
          <a:prstGeom prst="line">
            <a:avLst/>
          </a:prstGeom>
          <a:ln w="762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64" name="Conector recto 63">
            <a:extLst>
              <a:ext uri="{FF2B5EF4-FFF2-40B4-BE49-F238E27FC236}">
                <a16:creationId xmlns:a16="http://schemas.microsoft.com/office/drawing/2014/main" id="{2AA8488D-EDB8-B66F-20BF-C82E5E47D901}"/>
              </a:ext>
            </a:extLst>
          </p:cNvPr>
          <p:cNvCxnSpPr/>
          <p:nvPr/>
        </p:nvCxnSpPr>
        <p:spPr>
          <a:xfrm flipV="1">
            <a:off x="8191500" y="2082800"/>
            <a:ext cx="88900" cy="101600"/>
          </a:xfrm>
          <a:prstGeom prst="line">
            <a:avLst/>
          </a:prstGeom>
          <a:ln w="762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65" name="Conector recto 64">
            <a:extLst>
              <a:ext uri="{FF2B5EF4-FFF2-40B4-BE49-F238E27FC236}">
                <a16:creationId xmlns:a16="http://schemas.microsoft.com/office/drawing/2014/main" id="{C36AE88E-0851-118F-F6D6-002D7B61DA9F}"/>
              </a:ext>
            </a:extLst>
          </p:cNvPr>
          <p:cNvCxnSpPr/>
          <p:nvPr/>
        </p:nvCxnSpPr>
        <p:spPr>
          <a:xfrm flipV="1">
            <a:off x="8331200" y="2082800"/>
            <a:ext cx="88900" cy="101600"/>
          </a:xfrm>
          <a:prstGeom prst="line">
            <a:avLst/>
          </a:prstGeom>
          <a:ln w="762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66" name="Conector recto 65">
            <a:extLst>
              <a:ext uri="{FF2B5EF4-FFF2-40B4-BE49-F238E27FC236}">
                <a16:creationId xmlns:a16="http://schemas.microsoft.com/office/drawing/2014/main" id="{DC96F4CE-3C4B-E599-69D5-C262A3239B56}"/>
              </a:ext>
            </a:extLst>
          </p:cNvPr>
          <p:cNvCxnSpPr/>
          <p:nvPr/>
        </p:nvCxnSpPr>
        <p:spPr>
          <a:xfrm flipV="1">
            <a:off x="8470900" y="2082800"/>
            <a:ext cx="88900" cy="101600"/>
          </a:xfrm>
          <a:prstGeom prst="line">
            <a:avLst/>
          </a:prstGeom>
          <a:ln w="762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67" name="Conector recto 66">
            <a:extLst>
              <a:ext uri="{FF2B5EF4-FFF2-40B4-BE49-F238E27FC236}">
                <a16:creationId xmlns:a16="http://schemas.microsoft.com/office/drawing/2014/main" id="{D250F1EE-5E6A-574F-B1BB-5B7FDB2E9C18}"/>
              </a:ext>
            </a:extLst>
          </p:cNvPr>
          <p:cNvCxnSpPr/>
          <p:nvPr/>
        </p:nvCxnSpPr>
        <p:spPr>
          <a:xfrm flipV="1">
            <a:off x="8610600" y="2082800"/>
            <a:ext cx="88900" cy="101600"/>
          </a:xfrm>
          <a:prstGeom prst="line">
            <a:avLst/>
          </a:prstGeom>
          <a:ln w="762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68" name="Conector recto 67">
            <a:extLst>
              <a:ext uri="{FF2B5EF4-FFF2-40B4-BE49-F238E27FC236}">
                <a16:creationId xmlns:a16="http://schemas.microsoft.com/office/drawing/2014/main" id="{4AEBE7D2-D3B1-2991-2AD8-DFB2D8F6A3F3}"/>
              </a:ext>
            </a:extLst>
          </p:cNvPr>
          <p:cNvCxnSpPr/>
          <p:nvPr/>
        </p:nvCxnSpPr>
        <p:spPr>
          <a:xfrm flipV="1">
            <a:off x="8750300" y="2082800"/>
            <a:ext cx="88900" cy="101600"/>
          </a:xfrm>
          <a:prstGeom prst="line">
            <a:avLst/>
          </a:prstGeom>
          <a:ln w="762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69" name="Conector recto 68">
            <a:extLst>
              <a:ext uri="{FF2B5EF4-FFF2-40B4-BE49-F238E27FC236}">
                <a16:creationId xmlns:a16="http://schemas.microsoft.com/office/drawing/2014/main" id="{AB75F0AB-0A66-FAEF-67C8-D32F59EA07EF}"/>
              </a:ext>
            </a:extLst>
          </p:cNvPr>
          <p:cNvCxnSpPr/>
          <p:nvPr/>
        </p:nvCxnSpPr>
        <p:spPr>
          <a:xfrm flipV="1">
            <a:off x="8890000" y="2082800"/>
            <a:ext cx="88900" cy="101600"/>
          </a:xfrm>
          <a:prstGeom prst="line">
            <a:avLst/>
          </a:prstGeom>
          <a:ln w="762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70" name="Conector recto 69">
            <a:extLst>
              <a:ext uri="{FF2B5EF4-FFF2-40B4-BE49-F238E27FC236}">
                <a16:creationId xmlns:a16="http://schemas.microsoft.com/office/drawing/2014/main" id="{694228C0-C29F-624F-92AA-637A9A87253C}"/>
              </a:ext>
            </a:extLst>
          </p:cNvPr>
          <p:cNvCxnSpPr/>
          <p:nvPr/>
        </p:nvCxnSpPr>
        <p:spPr>
          <a:xfrm flipV="1">
            <a:off x="9029700" y="2082800"/>
            <a:ext cx="88900" cy="101600"/>
          </a:xfrm>
          <a:prstGeom prst="line">
            <a:avLst/>
          </a:prstGeom>
          <a:ln w="762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71" name="Conector recto 70">
            <a:extLst>
              <a:ext uri="{FF2B5EF4-FFF2-40B4-BE49-F238E27FC236}">
                <a16:creationId xmlns:a16="http://schemas.microsoft.com/office/drawing/2014/main" id="{D2E3F671-BD9F-16C7-3AE4-34058A5D78A1}"/>
              </a:ext>
            </a:extLst>
          </p:cNvPr>
          <p:cNvCxnSpPr/>
          <p:nvPr/>
        </p:nvCxnSpPr>
        <p:spPr>
          <a:xfrm flipV="1">
            <a:off x="9169400" y="2082800"/>
            <a:ext cx="88900" cy="101600"/>
          </a:xfrm>
          <a:prstGeom prst="line">
            <a:avLst/>
          </a:prstGeom>
          <a:ln w="762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72" name="Conector recto 71">
            <a:extLst>
              <a:ext uri="{FF2B5EF4-FFF2-40B4-BE49-F238E27FC236}">
                <a16:creationId xmlns:a16="http://schemas.microsoft.com/office/drawing/2014/main" id="{44FB8511-D9B2-1D87-F9CD-6FC517DFFCE7}"/>
              </a:ext>
            </a:extLst>
          </p:cNvPr>
          <p:cNvCxnSpPr/>
          <p:nvPr/>
        </p:nvCxnSpPr>
        <p:spPr>
          <a:xfrm flipV="1">
            <a:off x="9309100" y="2082800"/>
            <a:ext cx="88900" cy="101600"/>
          </a:xfrm>
          <a:prstGeom prst="line">
            <a:avLst/>
          </a:prstGeom>
          <a:ln w="762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73" name="Conector recto 72">
            <a:extLst>
              <a:ext uri="{FF2B5EF4-FFF2-40B4-BE49-F238E27FC236}">
                <a16:creationId xmlns:a16="http://schemas.microsoft.com/office/drawing/2014/main" id="{A2015C4A-F55B-E806-5E7A-C2B09023D758}"/>
              </a:ext>
            </a:extLst>
          </p:cNvPr>
          <p:cNvCxnSpPr/>
          <p:nvPr/>
        </p:nvCxnSpPr>
        <p:spPr>
          <a:xfrm flipV="1">
            <a:off x="9448800" y="2082800"/>
            <a:ext cx="88900" cy="101600"/>
          </a:xfrm>
          <a:prstGeom prst="line">
            <a:avLst/>
          </a:prstGeom>
          <a:ln w="762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74" name="Conector recto 73">
            <a:extLst>
              <a:ext uri="{FF2B5EF4-FFF2-40B4-BE49-F238E27FC236}">
                <a16:creationId xmlns:a16="http://schemas.microsoft.com/office/drawing/2014/main" id="{650E9B67-8A80-0BF5-971B-D403CBF0ED3B}"/>
              </a:ext>
            </a:extLst>
          </p:cNvPr>
          <p:cNvCxnSpPr/>
          <p:nvPr/>
        </p:nvCxnSpPr>
        <p:spPr>
          <a:xfrm flipV="1">
            <a:off x="9588500" y="2082800"/>
            <a:ext cx="88900" cy="101600"/>
          </a:xfrm>
          <a:prstGeom prst="line">
            <a:avLst/>
          </a:prstGeom>
          <a:ln w="762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75" name="Conector recto 74">
            <a:extLst>
              <a:ext uri="{FF2B5EF4-FFF2-40B4-BE49-F238E27FC236}">
                <a16:creationId xmlns:a16="http://schemas.microsoft.com/office/drawing/2014/main" id="{33732300-E797-5B1B-42B5-D81AC341876E}"/>
              </a:ext>
            </a:extLst>
          </p:cNvPr>
          <p:cNvCxnSpPr/>
          <p:nvPr/>
        </p:nvCxnSpPr>
        <p:spPr>
          <a:xfrm flipV="1">
            <a:off x="9728200" y="2082800"/>
            <a:ext cx="88900" cy="101600"/>
          </a:xfrm>
          <a:prstGeom prst="line">
            <a:avLst/>
          </a:prstGeom>
          <a:ln w="762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76" name="Conector recto 75">
            <a:extLst>
              <a:ext uri="{FF2B5EF4-FFF2-40B4-BE49-F238E27FC236}">
                <a16:creationId xmlns:a16="http://schemas.microsoft.com/office/drawing/2014/main" id="{6D5E5C24-8C10-182D-91A2-52DA84BC5A0F}"/>
              </a:ext>
            </a:extLst>
          </p:cNvPr>
          <p:cNvCxnSpPr/>
          <p:nvPr/>
        </p:nvCxnSpPr>
        <p:spPr>
          <a:xfrm flipV="1">
            <a:off x="9867900" y="2082800"/>
            <a:ext cx="88900" cy="101600"/>
          </a:xfrm>
          <a:prstGeom prst="line">
            <a:avLst/>
          </a:prstGeom>
          <a:ln w="762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77" name="Conector recto 76">
            <a:extLst>
              <a:ext uri="{FF2B5EF4-FFF2-40B4-BE49-F238E27FC236}">
                <a16:creationId xmlns:a16="http://schemas.microsoft.com/office/drawing/2014/main" id="{2DBE54C4-91FB-E735-14A5-81F1B47CB543}"/>
              </a:ext>
            </a:extLst>
          </p:cNvPr>
          <p:cNvCxnSpPr/>
          <p:nvPr/>
        </p:nvCxnSpPr>
        <p:spPr>
          <a:xfrm flipV="1">
            <a:off x="10007600" y="2082800"/>
            <a:ext cx="88900" cy="101600"/>
          </a:xfrm>
          <a:prstGeom prst="line">
            <a:avLst/>
          </a:prstGeom>
          <a:ln w="762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78" name="Conector recto 77">
            <a:extLst>
              <a:ext uri="{FF2B5EF4-FFF2-40B4-BE49-F238E27FC236}">
                <a16:creationId xmlns:a16="http://schemas.microsoft.com/office/drawing/2014/main" id="{C44DA54E-89D9-A539-8506-5CA9B60BF7B9}"/>
              </a:ext>
            </a:extLst>
          </p:cNvPr>
          <p:cNvCxnSpPr/>
          <p:nvPr/>
        </p:nvCxnSpPr>
        <p:spPr>
          <a:xfrm flipV="1">
            <a:off x="10147300" y="2082800"/>
            <a:ext cx="88900" cy="101600"/>
          </a:xfrm>
          <a:prstGeom prst="line">
            <a:avLst/>
          </a:prstGeom>
          <a:ln w="762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79" name="Conector recto 78">
            <a:extLst>
              <a:ext uri="{FF2B5EF4-FFF2-40B4-BE49-F238E27FC236}">
                <a16:creationId xmlns:a16="http://schemas.microsoft.com/office/drawing/2014/main" id="{2E6D5944-CE71-7FC3-B712-F350122351F8}"/>
              </a:ext>
            </a:extLst>
          </p:cNvPr>
          <p:cNvCxnSpPr/>
          <p:nvPr/>
        </p:nvCxnSpPr>
        <p:spPr>
          <a:xfrm flipV="1">
            <a:off x="10287000" y="2082800"/>
            <a:ext cx="88900" cy="101600"/>
          </a:xfrm>
          <a:prstGeom prst="line">
            <a:avLst/>
          </a:prstGeom>
          <a:ln w="762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80" name="Conector recto 79">
            <a:extLst>
              <a:ext uri="{FF2B5EF4-FFF2-40B4-BE49-F238E27FC236}">
                <a16:creationId xmlns:a16="http://schemas.microsoft.com/office/drawing/2014/main" id="{718F8AFC-59D5-5244-76D8-08FC2639720B}"/>
              </a:ext>
            </a:extLst>
          </p:cNvPr>
          <p:cNvCxnSpPr/>
          <p:nvPr/>
        </p:nvCxnSpPr>
        <p:spPr>
          <a:xfrm flipV="1">
            <a:off x="10426700" y="2082800"/>
            <a:ext cx="88900" cy="101600"/>
          </a:xfrm>
          <a:prstGeom prst="line">
            <a:avLst/>
          </a:prstGeom>
          <a:ln w="762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81" name="Conector recto 80">
            <a:extLst>
              <a:ext uri="{FF2B5EF4-FFF2-40B4-BE49-F238E27FC236}">
                <a16:creationId xmlns:a16="http://schemas.microsoft.com/office/drawing/2014/main" id="{F8F74D9E-BC34-E16E-CD6F-D276A89AA07E}"/>
              </a:ext>
            </a:extLst>
          </p:cNvPr>
          <p:cNvCxnSpPr/>
          <p:nvPr/>
        </p:nvCxnSpPr>
        <p:spPr>
          <a:xfrm flipV="1">
            <a:off x="10566400" y="2082800"/>
            <a:ext cx="88900" cy="101600"/>
          </a:xfrm>
          <a:prstGeom prst="line">
            <a:avLst/>
          </a:prstGeom>
          <a:ln w="762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82" name="Conector recto 81">
            <a:extLst>
              <a:ext uri="{FF2B5EF4-FFF2-40B4-BE49-F238E27FC236}">
                <a16:creationId xmlns:a16="http://schemas.microsoft.com/office/drawing/2014/main" id="{D27F85FF-CDC5-1ED9-4C00-26AD853EF5CB}"/>
              </a:ext>
            </a:extLst>
          </p:cNvPr>
          <p:cNvCxnSpPr/>
          <p:nvPr/>
        </p:nvCxnSpPr>
        <p:spPr>
          <a:xfrm flipV="1">
            <a:off x="10706100" y="2082800"/>
            <a:ext cx="88900" cy="101600"/>
          </a:xfrm>
          <a:prstGeom prst="line">
            <a:avLst/>
          </a:prstGeom>
          <a:ln w="762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83" name="Conector recto 82">
            <a:extLst>
              <a:ext uri="{FF2B5EF4-FFF2-40B4-BE49-F238E27FC236}">
                <a16:creationId xmlns:a16="http://schemas.microsoft.com/office/drawing/2014/main" id="{367FF259-A0ED-AAFE-CF70-887B49AF9056}"/>
              </a:ext>
            </a:extLst>
          </p:cNvPr>
          <p:cNvCxnSpPr/>
          <p:nvPr/>
        </p:nvCxnSpPr>
        <p:spPr>
          <a:xfrm flipV="1">
            <a:off x="10845800" y="2082800"/>
            <a:ext cx="88900" cy="101600"/>
          </a:xfrm>
          <a:prstGeom prst="line">
            <a:avLst/>
          </a:prstGeom>
          <a:ln w="762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84" name="Conector recto 83">
            <a:extLst>
              <a:ext uri="{FF2B5EF4-FFF2-40B4-BE49-F238E27FC236}">
                <a16:creationId xmlns:a16="http://schemas.microsoft.com/office/drawing/2014/main" id="{F70F29E5-AFEC-72C9-A339-882A02D12BBA}"/>
              </a:ext>
            </a:extLst>
          </p:cNvPr>
          <p:cNvCxnSpPr/>
          <p:nvPr/>
        </p:nvCxnSpPr>
        <p:spPr>
          <a:xfrm flipV="1">
            <a:off x="10985500" y="2082800"/>
            <a:ext cx="88900" cy="101600"/>
          </a:xfrm>
          <a:prstGeom prst="line">
            <a:avLst/>
          </a:prstGeom>
          <a:ln w="7620">
            <a:solidFill>
              <a:srgbClr val="A69E8C"/>
            </a:solidFill>
            <a:prstDash val="solid"/>
          </a:ln>
        </p:spPr>
        <p:style>
          <a:lnRef idx="1">
            <a:schemeClr val="accent1"/>
          </a:lnRef>
          <a:fillRef idx="0">
            <a:schemeClr val="accent1"/>
          </a:fillRef>
          <a:effectRef idx="0">
            <a:schemeClr val="accent1"/>
          </a:effectRef>
          <a:fontRef idx="minor">
            <a:schemeClr val="tx1"/>
          </a:fontRef>
        </p:style>
      </p:cxnSp>
      <p:cxnSp>
        <p:nvCxnSpPr>
          <p:cNvPr id="85" name="Conector recto 84">
            <a:extLst>
              <a:ext uri="{FF2B5EF4-FFF2-40B4-BE49-F238E27FC236}">
                <a16:creationId xmlns:a16="http://schemas.microsoft.com/office/drawing/2014/main" id="{EAFEAFF5-B527-F2CE-789A-CAB506251352}"/>
              </a:ext>
            </a:extLst>
          </p:cNvPr>
          <p:cNvCxnSpPr/>
          <p:nvPr/>
        </p:nvCxnSpPr>
        <p:spPr>
          <a:xfrm flipV="1">
            <a:off x="11125200" y="2082800"/>
            <a:ext cx="88900" cy="101600"/>
          </a:xfrm>
          <a:prstGeom prst="line">
            <a:avLst/>
          </a:prstGeom>
          <a:ln w="7620">
            <a:solidFill>
              <a:srgbClr val="A69E8C"/>
            </a:solidFill>
            <a:prstDash val="solid"/>
          </a:ln>
        </p:spPr>
        <p:style>
          <a:lnRef idx="1">
            <a:schemeClr val="accent1"/>
          </a:lnRef>
          <a:fillRef idx="0">
            <a:schemeClr val="accent1"/>
          </a:fillRef>
          <a:effectRef idx="0">
            <a:schemeClr val="accent1"/>
          </a:effectRef>
          <a:fontRef idx="minor">
            <a:schemeClr val="tx1"/>
          </a:fontRef>
        </p:style>
      </p:cxnSp>
      <p:sp>
        <p:nvSpPr>
          <p:cNvPr id="86" name="Rectángulo 85">
            <a:extLst>
              <a:ext uri="{FF2B5EF4-FFF2-40B4-BE49-F238E27FC236}">
                <a16:creationId xmlns:a16="http://schemas.microsoft.com/office/drawing/2014/main" id="{09A9582D-0587-8143-9F96-E1E4EE295644}"/>
              </a:ext>
            </a:extLst>
          </p:cNvPr>
          <p:cNvSpPr/>
          <p:nvPr/>
        </p:nvSpPr>
        <p:spPr>
          <a:xfrm>
            <a:off x="9359900" y="1803400"/>
            <a:ext cx="330200" cy="838200"/>
          </a:xfrm>
          <a:prstGeom prst="rect">
            <a:avLst/>
          </a:prstGeom>
          <a:solidFill>
            <a:srgbClr val="C9C3B4"/>
          </a:solidFill>
          <a:ln w="9525">
            <a:solidFill>
              <a:srgbClr val="A69E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87" name="Rectángulo 86">
            <a:extLst>
              <a:ext uri="{FF2B5EF4-FFF2-40B4-BE49-F238E27FC236}">
                <a16:creationId xmlns:a16="http://schemas.microsoft.com/office/drawing/2014/main" id="{2780991D-425B-1A30-FC94-8E07B9F6A052}"/>
              </a:ext>
            </a:extLst>
          </p:cNvPr>
          <p:cNvSpPr/>
          <p:nvPr/>
        </p:nvSpPr>
        <p:spPr>
          <a:xfrm>
            <a:off x="8619744" y="2641600"/>
            <a:ext cx="1810512" cy="177800"/>
          </a:xfrm>
          <a:prstGeom prst="rect">
            <a:avLst/>
          </a:prstGeom>
          <a:solidFill>
            <a:srgbClr val="C9C3B4"/>
          </a:solidFill>
          <a:ln w="9525">
            <a:solidFill>
              <a:srgbClr val="A69E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cxnSp>
        <p:nvCxnSpPr>
          <p:cNvPr id="88" name="Conector recto 87">
            <a:extLst>
              <a:ext uri="{FF2B5EF4-FFF2-40B4-BE49-F238E27FC236}">
                <a16:creationId xmlns:a16="http://schemas.microsoft.com/office/drawing/2014/main" id="{9D2144E1-ED7F-62CD-D662-E51169913A2E}"/>
              </a:ext>
            </a:extLst>
          </p:cNvPr>
          <p:cNvCxnSpPr/>
          <p:nvPr/>
        </p:nvCxnSpPr>
        <p:spPr>
          <a:xfrm>
            <a:off x="9525000" y="1701800"/>
            <a:ext cx="0" cy="101600"/>
          </a:xfrm>
          <a:prstGeom prst="line">
            <a:avLst/>
          </a:prstGeom>
          <a:ln w="25400">
            <a:solidFill>
              <a:srgbClr val="8C332B"/>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9" name="CuadroTexto 88">
            <a:extLst>
              <a:ext uri="{FF2B5EF4-FFF2-40B4-BE49-F238E27FC236}">
                <a16:creationId xmlns:a16="http://schemas.microsoft.com/office/drawing/2014/main" id="{604EBE7A-E751-C7B0-CD5D-A2B35DDFE1AA}"/>
              </a:ext>
            </a:extLst>
          </p:cNvPr>
          <p:cNvSpPr txBox="1"/>
          <p:nvPr/>
        </p:nvSpPr>
        <p:spPr>
          <a:xfrm>
            <a:off x="9626600" y="1676400"/>
            <a:ext cx="635000" cy="152400"/>
          </a:xfrm>
          <a:prstGeom prst="rect">
            <a:avLst/>
          </a:prstGeom>
          <a:noFill/>
        </p:spPr>
        <p:txBody>
          <a:bodyPr vert="horz" wrap="square" lIns="0" tIns="0" rIns="0" bIns="0" rtlCol="0" anchor="t">
            <a:noAutofit/>
          </a:bodyPr>
          <a:lstStyle/>
          <a:p>
            <a:r>
              <a:rPr lang="es-BO" sz="850">
                <a:solidFill>
                  <a:srgbClr val="8C332B"/>
                </a:solidFill>
                <a:latin typeface="Segoe UI Semibold" panose="020B0702040204020203" pitchFamily="34" charset="0"/>
              </a:rPr>
              <a:t>P</a:t>
            </a:r>
          </a:p>
        </p:txBody>
      </p:sp>
      <p:cxnSp>
        <p:nvCxnSpPr>
          <p:cNvPr id="90" name="Conector recto 89">
            <a:extLst>
              <a:ext uri="{FF2B5EF4-FFF2-40B4-BE49-F238E27FC236}">
                <a16:creationId xmlns:a16="http://schemas.microsoft.com/office/drawing/2014/main" id="{EDAEEB69-BD15-5578-1E64-753655F524A8}"/>
              </a:ext>
            </a:extLst>
          </p:cNvPr>
          <p:cNvCxnSpPr/>
          <p:nvPr/>
        </p:nvCxnSpPr>
        <p:spPr>
          <a:xfrm>
            <a:off x="7874000" y="2082800"/>
            <a:ext cx="101600" cy="0"/>
          </a:xfrm>
          <a:prstGeom prst="line">
            <a:avLst/>
          </a:prstGeom>
          <a:ln w="9525">
            <a:solidFill>
              <a:srgbClr val="4A5559"/>
            </a:solidFill>
            <a:prstDash val="solid"/>
          </a:ln>
        </p:spPr>
        <p:style>
          <a:lnRef idx="1">
            <a:schemeClr val="accent1"/>
          </a:lnRef>
          <a:fillRef idx="0">
            <a:schemeClr val="accent1"/>
          </a:fillRef>
          <a:effectRef idx="0">
            <a:schemeClr val="accent1"/>
          </a:effectRef>
          <a:fontRef idx="minor">
            <a:schemeClr val="tx1"/>
          </a:fontRef>
        </p:style>
      </p:cxnSp>
      <p:cxnSp>
        <p:nvCxnSpPr>
          <p:cNvPr id="91" name="Conector recto 90">
            <a:extLst>
              <a:ext uri="{FF2B5EF4-FFF2-40B4-BE49-F238E27FC236}">
                <a16:creationId xmlns:a16="http://schemas.microsoft.com/office/drawing/2014/main" id="{2A2829AB-B23D-AD13-966D-937A14DF2A8F}"/>
              </a:ext>
            </a:extLst>
          </p:cNvPr>
          <p:cNvCxnSpPr/>
          <p:nvPr/>
        </p:nvCxnSpPr>
        <p:spPr>
          <a:xfrm>
            <a:off x="7874000" y="2641600"/>
            <a:ext cx="101600" cy="0"/>
          </a:xfrm>
          <a:prstGeom prst="line">
            <a:avLst/>
          </a:prstGeom>
          <a:ln w="9525">
            <a:solidFill>
              <a:srgbClr val="4A5559"/>
            </a:solidFill>
            <a:prstDash val="solid"/>
          </a:ln>
        </p:spPr>
        <p:style>
          <a:lnRef idx="1">
            <a:schemeClr val="accent1"/>
          </a:lnRef>
          <a:fillRef idx="0">
            <a:schemeClr val="accent1"/>
          </a:fillRef>
          <a:effectRef idx="0">
            <a:schemeClr val="accent1"/>
          </a:effectRef>
          <a:fontRef idx="minor">
            <a:schemeClr val="tx1"/>
          </a:fontRef>
        </p:style>
      </p:cxnSp>
      <p:cxnSp>
        <p:nvCxnSpPr>
          <p:cNvPr id="92" name="Conector recto 91">
            <a:extLst>
              <a:ext uri="{FF2B5EF4-FFF2-40B4-BE49-F238E27FC236}">
                <a16:creationId xmlns:a16="http://schemas.microsoft.com/office/drawing/2014/main" id="{EEFC065B-729E-5E75-DA82-B3AD190A069F}"/>
              </a:ext>
            </a:extLst>
          </p:cNvPr>
          <p:cNvCxnSpPr/>
          <p:nvPr/>
        </p:nvCxnSpPr>
        <p:spPr>
          <a:xfrm flipV="1">
            <a:off x="7924800" y="2082800"/>
            <a:ext cx="0" cy="279400"/>
          </a:xfrm>
          <a:prstGeom prst="line">
            <a:avLst/>
          </a:prstGeom>
          <a:ln w="11430">
            <a:solidFill>
              <a:srgbClr val="4A5559"/>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93" name="Conector recto 92">
            <a:extLst>
              <a:ext uri="{FF2B5EF4-FFF2-40B4-BE49-F238E27FC236}">
                <a16:creationId xmlns:a16="http://schemas.microsoft.com/office/drawing/2014/main" id="{2AE1E89C-13DD-EAC3-286A-83814E5FDDB2}"/>
              </a:ext>
            </a:extLst>
          </p:cNvPr>
          <p:cNvCxnSpPr/>
          <p:nvPr/>
        </p:nvCxnSpPr>
        <p:spPr>
          <a:xfrm>
            <a:off x="7924800" y="2362200"/>
            <a:ext cx="0" cy="279400"/>
          </a:xfrm>
          <a:prstGeom prst="line">
            <a:avLst/>
          </a:prstGeom>
          <a:ln w="11430">
            <a:solidFill>
              <a:srgbClr val="4A5559"/>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4" name="CuadroTexto 93">
            <a:extLst>
              <a:ext uri="{FF2B5EF4-FFF2-40B4-BE49-F238E27FC236}">
                <a16:creationId xmlns:a16="http://schemas.microsoft.com/office/drawing/2014/main" id="{2FCBBB27-AAF7-A53D-EAD4-549C2EDE6A7A}"/>
              </a:ext>
            </a:extLst>
          </p:cNvPr>
          <p:cNvSpPr txBox="1"/>
          <p:nvPr/>
        </p:nvSpPr>
        <p:spPr>
          <a:xfrm>
            <a:off x="8001000" y="2286000"/>
            <a:ext cx="812800" cy="152400"/>
          </a:xfrm>
          <a:prstGeom prst="rect">
            <a:avLst/>
          </a:prstGeom>
          <a:noFill/>
        </p:spPr>
        <p:txBody>
          <a:bodyPr vert="horz" wrap="square" lIns="0" tIns="0" rIns="0" bIns="0" rtlCol="0" anchor="t">
            <a:noAutofit/>
          </a:bodyPr>
          <a:lstStyle/>
          <a:p>
            <a:r>
              <a:rPr lang="es-BO" sz="700">
                <a:solidFill>
                  <a:srgbClr val="4A5559"/>
                </a:solidFill>
                <a:latin typeface="Segoe UI Semibold" panose="020B0702040204020203" pitchFamily="34" charset="0"/>
              </a:rPr>
              <a:t>D_f</a:t>
            </a:r>
          </a:p>
        </p:txBody>
      </p:sp>
      <p:cxnSp>
        <p:nvCxnSpPr>
          <p:cNvPr id="95" name="Conector recto 94">
            <a:extLst>
              <a:ext uri="{FF2B5EF4-FFF2-40B4-BE49-F238E27FC236}">
                <a16:creationId xmlns:a16="http://schemas.microsoft.com/office/drawing/2014/main" id="{D2F05FA5-C074-5174-729A-992E7C41C437}"/>
              </a:ext>
            </a:extLst>
          </p:cNvPr>
          <p:cNvCxnSpPr/>
          <p:nvPr/>
        </p:nvCxnSpPr>
        <p:spPr>
          <a:xfrm>
            <a:off x="8619744" y="3048000"/>
            <a:ext cx="0" cy="101600"/>
          </a:xfrm>
          <a:prstGeom prst="line">
            <a:avLst/>
          </a:prstGeom>
          <a:ln w="9525">
            <a:solidFill>
              <a:srgbClr val="4A5559"/>
            </a:solidFill>
            <a:prstDash val="solid"/>
          </a:ln>
        </p:spPr>
        <p:style>
          <a:lnRef idx="1">
            <a:schemeClr val="accent1"/>
          </a:lnRef>
          <a:fillRef idx="0">
            <a:schemeClr val="accent1"/>
          </a:fillRef>
          <a:effectRef idx="0">
            <a:schemeClr val="accent1"/>
          </a:effectRef>
          <a:fontRef idx="minor">
            <a:schemeClr val="tx1"/>
          </a:fontRef>
        </p:style>
      </p:cxnSp>
      <p:cxnSp>
        <p:nvCxnSpPr>
          <p:cNvPr id="96" name="Conector recto 95">
            <a:extLst>
              <a:ext uri="{FF2B5EF4-FFF2-40B4-BE49-F238E27FC236}">
                <a16:creationId xmlns:a16="http://schemas.microsoft.com/office/drawing/2014/main" id="{2E1E1A29-3242-A1E3-C775-C3393E8C8675}"/>
              </a:ext>
            </a:extLst>
          </p:cNvPr>
          <p:cNvCxnSpPr/>
          <p:nvPr/>
        </p:nvCxnSpPr>
        <p:spPr>
          <a:xfrm>
            <a:off x="10430256" y="3048000"/>
            <a:ext cx="0" cy="101600"/>
          </a:xfrm>
          <a:prstGeom prst="line">
            <a:avLst/>
          </a:prstGeom>
          <a:ln w="9525">
            <a:solidFill>
              <a:srgbClr val="4A5559"/>
            </a:solidFill>
            <a:prstDash val="solid"/>
          </a:ln>
        </p:spPr>
        <p:style>
          <a:lnRef idx="1">
            <a:schemeClr val="accent1"/>
          </a:lnRef>
          <a:fillRef idx="0">
            <a:schemeClr val="accent1"/>
          </a:fillRef>
          <a:effectRef idx="0">
            <a:schemeClr val="accent1"/>
          </a:effectRef>
          <a:fontRef idx="minor">
            <a:schemeClr val="tx1"/>
          </a:fontRef>
        </p:style>
      </p:cxnSp>
      <p:cxnSp>
        <p:nvCxnSpPr>
          <p:cNvPr id="97" name="Conector recto 96">
            <a:extLst>
              <a:ext uri="{FF2B5EF4-FFF2-40B4-BE49-F238E27FC236}">
                <a16:creationId xmlns:a16="http://schemas.microsoft.com/office/drawing/2014/main" id="{AD999E21-9B20-0181-4138-4A98D2F36663}"/>
              </a:ext>
            </a:extLst>
          </p:cNvPr>
          <p:cNvCxnSpPr/>
          <p:nvPr/>
        </p:nvCxnSpPr>
        <p:spPr>
          <a:xfrm flipH="1">
            <a:off x="8619744" y="3098800"/>
            <a:ext cx="905256" cy="0"/>
          </a:xfrm>
          <a:prstGeom prst="line">
            <a:avLst/>
          </a:prstGeom>
          <a:ln w="11430">
            <a:solidFill>
              <a:srgbClr val="4A5559"/>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98" name="Conector recto 97">
            <a:extLst>
              <a:ext uri="{FF2B5EF4-FFF2-40B4-BE49-F238E27FC236}">
                <a16:creationId xmlns:a16="http://schemas.microsoft.com/office/drawing/2014/main" id="{C680F5D5-4014-1357-042D-3BF97682C299}"/>
              </a:ext>
            </a:extLst>
          </p:cNvPr>
          <p:cNvCxnSpPr/>
          <p:nvPr/>
        </p:nvCxnSpPr>
        <p:spPr>
          <a:xfrm>
            <a:off x="9525000" y="3098800"/>
            <a:ext cx="905256" cy="0"/>
          </a:xfrm>
          <a:prstGeom prst="line">
            <a:avLst/>
          </a:prstGeom>
          <a:ln w="11430">
            <a:solidFill>
              <a:srgbClr val="4A5559"/>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9" name="CuadroTexto 98">
            <a:extLst>
              <a:ext uri="{FF2B5EF4-FFF2-40B4-BE49-F238E27FC236}">
                <a16:creationId xmlns:a16="http://schemas.microsoft.com/office/drawing/2014/main" id="{8D2F7A53-B57D-52EF-8646-D9272EB5FEF6}"/>
              </a:ext>
            </a:extLst>
          </p:cNvPr>
          <p:cNvSpPr txBox="1"/>
          <p:nvPr/>
        </p:nvSpPr>
        <p:spPr>
          <a:xfrm>
            <a:off x="8492744" y="3149600"/>
            <a:ext cx="2064512" cy="152400"/>
          </a:xfrm>
          <a:prstGeom prst="rect">
            <a:avLst/>
          </a:prstGeom>
          <a:noFill/>
        </p:spPr>
        <p:txBody>
          <a:bodyPr vert="horz" wrap="square" lIns="0" tIns="0" rIns="0" bIns="0" rtlCol="0" anchor="t">
            <a:noAutofit/>
          </a:bodyPr>
          <a:lstStyle/>
          <a:p>
            <a:pPr algn="ctr"/>
            <a:r>
              <a:rPr lang="es-BO" sz="700">
                <a:solidFill>
                  <a:srgbClr val="4A5559"/>
                </a:solidFill>
                <a:latin typeface="Segoe UI Semibold" panose="020B0702040204020203" pitchFamily="34" charset="0"/>
              </a:rPr>
              <a:t>B</a:t>
            </a:r>
          </a:p>
        </p:txBody>
      </p:sp>
      <p:cxnSp>
        <p:nvCxnSpPr>
          <p:cNvPr id="100" name="Conector recto 99">
            <a:extLst>
              <a:ext uri="{FF2B5EF4-FFF2-40B4-BE49-F238E27FC236}">
                <a16:creationId xmlns:a16="http://schemas.microsoft.com/office/drawing/2014/main" id="{7E37841A-58C9-FF3E-C8F0-813ED46399F1}"/>
              </a:ext>
            </a:extLst>
          </p:cNvPr>
          <p:cNvCxnSpPr/>
          <p:nvPr/>
        </p:nvCxnSpPr>
        <p:spPr>
          <a:xfrm flipV="1">
            <a:off x="8749066" y="2844800"/>
            <a:ext cx="0" cy="152400"/>
          </a:xfrm>
          <a:prstGeom prst="line">
            <a:avLst/>
          </a:prstGeom>
          <a:ln w="13970">
            <a:solidFill>
              <a:srgbClr val="4C5F33"/>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1" name="Conector recto 100">
            <a:extLst>
              <a:ext uri="{FF2B5EF4-FFF2-40B4-BE49-F238E27FC236}">
                <a16:creationId xmlns:a16="http://schemas.microsoft.com/office/drawing/2014/main" id="{99E7413C-E1C7-1272-8C8D-2F0BDE3CA5BE}"/>
              </a:ext>
            </a:extLst>
          </p:cNvPr>
          <p:cNvCxnSpPr/>
          <p:nvPr/>
        </p:nvCxnSpPr>
        <p:spPr>
          <a:xfrm flipV="1">
            <a:off x="9007711" y="2844800"/>
            <a:ext cx="0" cy="152400"/>
          </a:xfrm>
          <a:prstGeom prst="line">
            <a:avLst/>
          </a:prstGeom>
          <a:ln w="13970">
            <a:solidFill>
              <a:srgbClr val="4C5F33"/>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2" name="Conector recto 101">
            <a:extLst>
              <a:ext uri="{FF2B5EF4-FFF2-40B4-BE49-F238E27FC236}">
                <a16:creationId xmlns:a16="http://schemas.microsoft.com/office/drawing/2014/main" id="{B07851F4-D6E1-0453-1E25-16A6B37C496B}"/>
              </a:ext>
            </a:extLst>
          </p:cNvPr>
          <p:cNvCxnSpPr/>
          <p:nvPr/>
        </p:nvCxnSpPr>
        <p:spPr>
          <a:xfrm flipV="1">
            <a:off x="9266355" y="2844800"/>
            <a:ext cx="0" cy="152400"/>
          </a:xfrm>
          <a:prstGeom prst="line">
            <a:avLst/>
          </a:prstGeom>
          <a:ln w="13970">
            <a:solidFill>
              <a:srgbClr val="4C5F33"/>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3" name="Conector recto 102">
            <a:extLst>
              <a:ext uri="{FF2B5EF4-FFF2-40B4-BE49-F238E27FC236}">
                <a16:creationId xmlns:a16="http://schemas.microsoft.com/office/drawing/2014/main" id="{F3146C0C-6010-22CB-CED5-CFDC419E6751}"/>
              </a:ext>
            </a:extLst>
          </p:cNvPr>
          <p:cNvCxnSpPr/>
          <p:nvPr/>
        </p:nvCxnSpPr>
        <p:spPr>
          <a:xfrm flipV="1">
            <a:off x="9525000" y="2844800"/>
            <a:ext cx="0" cy="152400"/>
          </a:xfrm>
          <a:prstGeom prst="line">
            <a:avLst/>
          </a:prstGeom>
          <a:ln w="13970">
            <a:solidFill>
              <a:srgbClr val="4C5F33"/>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4" name="Conector recto 103">
            <a:extLst>
              <a:ext uri="{FF2B5EF4-FFF2-40B4-BE49-F238E27FC236}">
                <a16:creationId xmlns:a16="http://schemas.microsoft.com/office/drawing/2014/main" id="{CB2C7893-B03A-4A39-3D57-26AFA220F01A}"/>
              </a:ext>
            </a:extLst>
          </p:cNvPr>
          <p:cNvCxnSpPr/>
          <p:nvPr/>
        </p:nvCxnSpPr>
        <p:spPr>
          <a:xfrm flipV="1">
            <a:off x="9783645" y="2844800"/>
            <a:ext cx="0" cy="152400"/>
          </a:xfrm>
          <a:prstGeom prst="line">
            <a:avLst/>
          </a:prstGeom>
          <a:ln w="13970">
            <a:solidFill>
              <a:srgbClr val="4C5F33"/>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5" name="Conector recto 104">
            <a:extLst>
              <a:ext uri="{FF2B5EF4-FFF2-40B4-BE49-F238E27FC236}">
                <a16:creationId xmlns:a16="http://schemas.microsoft.com/office/drawing/2014/main" id="{3A7E32F2-F4DB-39F8-FCBC-1F5C174637ED}"/>
              </a:ext>
            </a:extLst>
          </p:cNvPr>
          <p:cNvCxnSpPr/>
          <p:nvPr/>
        </p:nvCxnSpPr>
        <p:spPr>
          <a:xfrm flipV="1">
            <a:off x="10042289" y="2844800"/>
            <a:ext cx="0" cy="152400"/>
          </a:xfrm>
          <a:prstGeom prst="line">
            <a:avLst/>
          </a:prstGeom>
          <a:ln w="13970">
            <a:solidFill>
              <a:srgbClr val="4C5F33"/>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6" name="Conector recto 105">
            <a:extLst>
              <a:ext uri="{FF2B5EF4-FFF2-40B4-BE49-F238E27FC236}">
                <a16:creationId xmlns:a16="http://schemas.microsoft.com/office/drawing/2014/main" id="{42B9AC28-9BBF-1E88-32E4-93640C87CCC3}"/>
              </a:ext>
            </a:extLst>
          </p:cNvPr>
          <p:cNvCxnSpPr/>
          <p:nvPr/>
        </p:nvCxnSpPr>
        <p:spPr>
          <a:xfrm flipV="1">
            <a:off x="10300934" y="2844800"/>
            <a:ext cx="0" cy="152400"/>
          </a:xfrm>
          <a:prstGeom prst="line">
            <a:avLst/>
          </a:prstGeom>
          <a:ln w="13970">
            <a:solidFill>
              <a:srgbClr val="4C5F33"/>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7" name="Rectángulo 106">
            <a:extLst>
              <a:ext uri="{FF2B5EF4-FFF2-40B4-BE49-F238E27FC236}">
                <a16:creationId xmlns:a16="http://schemas.microsoft.com/office/drawing/2014/main" id="{42443E52-56EA-8B7F-615B-8E300EA468A6}"/>
              </a:ext>
            </a:extLst>
          </p:cNvPr>
          <p:cNvSpPr/>
          <p:nvPr/>
        </p:nvSpPr>
        <p:spPr>
          <a:xfrm>
            <a:off x="7823200" y="4114800"/>
            <a:ext cx="38100" cy="254000"/>
          </a:xfrm>
          <a:prstGeom prst="rect">
            <a:avLst/>
          </a:prstGeom>
          <a:solidFill>
            <a:srgbClr val="4C5F3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08" name="CuadroTexto 107">
            <a:extLst>
              <a:ext uri="{FF2B5EF4-FFF2-40B4-BE49-F238E27FC236}">
                <a16:creationId xmlns:a16="http://schemas.microsoft.com/office/drawing/2014/main" id="{51006D91-F864-F2E8-7AB6-EBF7B1542922}"/>
              </a:ext>
            </a:extLst>
          </p:cNvPr>
          <p:cNvSpPr txBox="1"/>
          <p:nvPr/>
        </p:nvSpPr>
        <p:spPr>
          <a:xfrm>
            <a:off x="7924800" y="4089400"/>
            <a:ext cx="3276600" cy="152400"/>
          </a:xfrm>
          <a:prstGeom prst="rect">
            <a:avLst/>
          </a:prstGeom>
          <a:noFill/>
        </p:spPr>
        <p:txBody>
          <a:bodyPr vert="horz" wrap="square" lIns="0" tIns="0" rIns="0" bIns="0" rtlCol="0" anchor="t">
            <a:noAutofit/>
          </a:bodyPr>
          <a:lstStyle/>
          <a:p>
            <a:pPr algn="l"/>
            <a:r>
              <a:rPr lang="es-BO" sz="800">
                <a:solidFill>
                  <a:srgbClr val="4C5F33"/>
                </a:solidFill>
                <a:latin typeface="Segoe UI Semibold" panose="020B0702040204020203" pitchFamily="34" charset="0"/>
              </a:rPr>
              <a:t>1,3 · c · N_c</a:t>
            </a:r>
          </a:p>
        </p:txBody>
      </p:sp>
      <p:sp>
        <p:nvSpPr>
          <p:cNvPr id="109" name="CuadroTexto 108">
            <a:extLst>
              <a:ext uri="{FF2B5EF4-FFF2-40B4-BE49-F238E27FC236}">
                <a16:creationId xmlns:a16="http://schemas.microsoft.com/office/drawing/2014/main" id="{35D745F4-D1E7-533C-A1D8-F79A7FDD0CB3}"/>
              </a:ext>
            </a:extLst>
          </p:cNvPr>
          <p:cNvSpPr txBox="1"/>
          <p:nvPr/>
        </p:nvSpPr>
        <p:spPr>
          <a:xfrm>
            <a:off x="7924800" y="4229100"/>
            <a:ext cx="3276600" cy="381000"/>
          </a:xfrm>
          <a:prstGeom prst="rect">
            <a:avLst/>
          </a:prstGeom>
          <a:noFill/>
        </p:spPr>
        <p:txBody>
          <a:bodyPr vert="horz" wrap="square" lIns="0" tIns="0" rIns="0" bIns="0" rtlCol="0" anchor="t">
            <a:noAutofit/>
          </a:bodyPr>
          <a:lstStyle/>
          <a:p>
            <a:pPr algn="l"/>
            <a:r>
              <a:rPr lang="es-BO" sz="650">
                <a:solidFill>
                  <a:srgbClr val="938A7C"/>
                </a:solidFill>
                <a:latin typeface="Segoe UI" panose="020B0502040204020203" pitchFamily="34" charset="0"/>
              </a:rPr>
              <a:t>cohesión del propio suelo</a:t>
            </a:r>
          </a:p>
        </p:txBody>
      </p:sp>
      <p:sp>
        <p:nvSpPr>
          <p:cNvPr id="110" name="Rectángulo 109">
            <a:extLst>
              <a:ext uri="{FF2B5EF4-FFF2-40B4-BE49-F238E27FC236}">
                <a16:creationId xmlns:a16="http://schemas.microsoft.com/office/drawing/2014/main" id="{722B8DB2-0D71-C56D-228C-0B04FD1CED23}"/>
              </a:ext>
            </a:extLst>
          </p:cNvPr>
          <p:cNvSpPr/>
          <p:nvPr/>
        </p:nvSpPr>
        <p:spPr>
          <a:xfrm>
            <a:off x="7823200" y="4445000"/>
            <a:ext cx="38100" cy="254000"/>
          </a:xfrm>
          <a:prstGeom prst="rect">
            <a:avLst/>
          </a:prstGeom>
          <a:solidFill>
            <a:srgbClr val="4A555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11" name="CuadroTexto 110">
            <a:extLst>
              <a:ext uri="{FF2B5EF4-FFF2-40B4-BE49-F238E27FC236}">
                <a16:creationId xmlns:a16="http://schemas.microsoft.com/office/drawing/2014/main" id="{ADD1C462-642A-50D7-867F-FFBF45E4FA16}"/>
              </a:ext>
            </a:extLst>
          </p:cNvPr>
          <p:cNvSpPr txBox="1"/>
          <p:nvPr/>
        </p:nvSpPr>
        <p:spPr>
          <a:xfrm>
            <a:off x="7924800" y="4419600"/>
            <a:ext cx="3276600" cy="152400"/>
          </a:xfrm>
          <a:prstGeom prst="rect">
            <a:avLst/>
          </a:prstGeom>
          <a:noFill/>
        </p:spPr>
        <p:txBody>
          <a:bodyPr vert="horz" wrap="square" lIns="0" tIns="0" rIns="0" bIns="0" rtlCol="0" anchor="t">
            <a:noAutofit/>
          </a:bodyPr>
          <a:lstStyle/>
          <a:p>
            <a:pPr algn="l"/>
            <a:r>
              <a:rPr lang="es-BO" sz="800">
                <a:solidFill>
                  <a:srgbClr val="4A5559"/>
                </a:solidFill>
                <a:latin typeface="Segoe UI Semibold" panose="020B0702040204020203" pitchFamily="34" charset="0"/>
              </a:rPr>
              <a:t>q · N_q</a:t>
            </a:r>
          </a:p>
        </p:txBody>
      </p:sp>
      <p:sp>
        <p:nvSpPr>
          <p:cNvPr id="112" name="CuadroTexto 111">
            <a:extLst>
              <a:ext uri="{FF2B5EF4-FFF2-40B4-BE49-F238E27FC236}">
                <a16:creationId xmlns:a16="http://schemas.microsoft.com/office/drawing/2014/main" id="{DF7E1E6E-9A2A-43F9-2EAE-879AA6D2C2F1}"/>
              </a:ext>
            </a:extLst>
          </p:cNvPr>
          <p:cNvSpPr txBox="1"/>
          <p:nvPr/>
        </p:nvSpPr>
        <p:spPr>
          <a:xfrm>
            <a:off x="7924800" y="4559300"/>
            <a:ext cx="3276600" cy="381000"/>
          </a:xfrm>
          <a:prstGeom prst="rect">
            <a:avLst/>
          </a:prstGeom>
          <a:noFill/>
        </p:spPr>
        <p:txBody>
          <a:bodyPr vert="horz" wrap="square" lIns="0" tIns="0" rIns="0" bIns="0" rtlCol="0" anchor="t">
            <a:noAutofit/>
          </a:bodyPr>
          <a:lstStyle/>
          <a:p>
            <a:pPr algn="l"/>
            <a:r>
              <a:rPr lang="es-BO" sz="650">
                <a:solidFill>
                  <a:srgbClr val="938A7C"/>
                </a:solidFill>
                <a:latin typeface="Segoe UI" panose="020B0502040204020203" pitchFamily="34" charset="0"/>
              </a:rPr>
              <a:t>peso del terreno sobre la cota</a:t>
            </a:r>
          </a:p>
        </p:txBody>
      </p:sp>
      <p:sp>
        <p:nvSpPr>
          <p:cNvPr id="114" name="CuadroTexto 113">
            <a:extLst>
              <a:ext uri="{FF2B5EF4-FFF2-40B4-BE49-F238E27FC236}">
                <a16:creationId xmlns:a16="http://schemas.microsoft.com/office/drawing/2014/main" id="{7B41927D-AA74-35EA-913D-0CF0A0A5AE6A}"/>
              </a:ext>
            </a:extLst>
          </p:cNvPr>
          <p:cNvSpPr txBox="1"/>
          <p:nvPr/>
        </p:nvSpPr>
        <p:spPr>
          <a:xfrm>
            <a:off x="7924800" y="4749800"/>
            <a:ext cx="3276600" cy="152400"/>
          </a:xfrm>
          <a:prstGeom prst="rect">
            <a:avLst/>
          </a:prstGeom>
          <a:noFill/>
        </p:spPr>
        <p:txBody>
          <a:bodyPr vert="horz" wrap="square" lIns="0" tIns="0" rIns="0" bIns="0" rtlCol="0" anchor="t">
            <a:noAutofit/>
          </a:bodyPr>
          <a:lstStyle/>
          <a:p>
            <a:pPr algn="l"/>
            <a:r>
              <a:rPr lang="pt-BR" sz="800">
                <a:solidFill>
                  <a:srgbClr val="8A6A2F"/>
                </a:solidFill>
                <a:latin typeface="Segoe UI Semibold" panose="020B0702040204020203" pitchFamily="34" charset="0"/>
              </a:rPr>
              <a:t>0,4 · γ · B · N_γ</a:t>
            </a:r>
            <a:endParaRPr lang="es-BO" sz="800">
              <a:solidFill>
                <a:srgbClr val="8A6A2F"/>
              </a:solidFill>
              <a:latin typeface="Segoe UI Semibold" panose="020B0702040204020203" pitchFamily="34" charset="0"/>
            </a:endParaRPr>
          </a:p>
        </p:txBody>
      </p:sp>
      <p:sp>
        <p:nvSpPr>
          <p:cNvPr id="115" name="CuadroTexto 114">
            <a:extLst>
              <a:ext uri="{FF2B5EF4-FFF2-40B4-BE49-F238E27FC236}">
                <a16:creationId xmlns:a16="http://schemas.microsoft.com/office/drawing/2014/main" id="{FC02AB8B-B03C-D345-64D7-88D7F5301D36}"/>
              </a:ext>
            </a:extLst>
          </p:cNvPr>
          <p:cNvSpPr txBox="1"/>
          <p:nvPr/>
        </p:nvSpPr>
        <p:spPr>
          <a:xfrm>
            <a:off x="7924800" y="4889500"/>
            <a:ext cx="3276600" cy="381000"/>
          </a:xfrm>
          <a:prstGeom prst="rect">
            <a:avLst/>
          </a:prstGeom>
          <a:noFill/>
        </p:spPr>
        <p:txBody>
          <a:bodyPr vert="horz" wrap="square" lIns="0" tIns="0" rIns="0" bIns="0" rtlCol="0" anchor="t">
            <a:noAutofit/>
          </a:bodyPr>
          <a:lstStyle/>
          <a:p>
            <a:pPr algn="l"/>
            <a:r>
              <a:rPr lang="es-MX" sz="650">
                <a:solidFill>
                  <a:srgbClr val="938A7C"/>
                </a:solidFill>
                <a:latin typeface="Segoe UI" panose="020B0502040204020203" pitchFamily="34" charset="0"/>
              </a:rPr>
              <a:t>ancho de la propia zapata</a:t>
            </a:r>
            <a:endParaRPr lang="es-BO" sz="650">
              <a:solidFill>
                <a:srgbClr val="938A7C"/>
              </a:solidFill>
              <a:latin typeface="Segoe UI" panose="020B0502040204020203" pitchFamily="34" charset="0"/>
            </a:endParaRPr>
          </a:p>
        </p:txBody>
      </p:sp>
      <p:sp>
        <p:nvSpPr>
          <p:cNvPr id="116" name="Rectángulo 115">
            <a:extLst>
              <a:ext uri="{FF2B5EF4-FFF2-40B4-BE49-F238E27FC236}">
                <a16:creationId xmlns:a16="http://schemas.microsoft.com/office/drawing/2014/main" id="{EFA5D5C5-5499-DB32-ABBD-C2DEB51F766F}"/>
              </a:ext>
            </a:extLst>
          </p:cNvPr>
          <p:cNvSpPr/>
          <p:nvPr/>
        </p:nvSpPr>
        <p:spPr>
          <a:xfrm>
            <a:off x="7823200" y="5105400"/>
            <a:ext cx="3403600" cy="38100"/>
          </a:xfrm>
          <a:prstGeom prst="rect">
            <a:avLst/>
          </a:prstGeom>
          <a:solidFill>
            <a:srgbClr val="8C332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17" name="CuadroTexto 116">
            <a:extLst>
              <a:ext uri="{FF2B5EF4-FFF2-40B4-BE49-F238E27FC236}">
                <a16:creationId xmlns:a16="http://schemas.microsoft.com/office/drawing/2014/main" id="{66A0D749-E909-1BA2-D55C-C7E80A2A555C}"/>
              </a:ext>
            </a:extLst>
          </p:cNvPr>
          <p:cNvSpPr txBox="1"/>
          <p:nvPr/>
        </p:nvSpPr>
        <p:spPr>
          <a:xfrm>
            <a:off x="7823200" y="5207000"/>
            <a:ext cx="3403600" cy="381000"/>
          </a:xfrm>
          <a:prstGeom prst="rect">
            <a:avLst/>
          </a:prstGeom>
          <a:noFill/>
        </p:spPr>
        <p:txBody>
          <a:bodyPr vert="horz" wrap="square" lIns="0" tIns="0" rIns="0" bIns="0" rtlCol="0" anchor="t">
            <a:noAutofit/>
          </a:bodyPr>
          <a:lstStyle/>
          <a:p>
            <a:pPr algn="l"/>
            <a:r>
              <a:rPr lang="es-MX" sz="650">
                <a:solidFill>
                  <a:srgbClr val="5A5248"/>
                </a:solidFill>
                <a:latin typeface="Segoe UI" panose="020B0502040204020203" pitchFamily="34" charset="0"/>
              </a:rPr>
              <a:t>Y aparte, el coeficiente de seguridad: </a:t>
            </a:r>
            <a:r>
              <a:rPr lang="es-MX" sz="650" b="1">
                <a:solidFill>
                  <a:srgbClr val="5A5248"/>
                </a:solidFill>
                <a:latin typeface="Segoe UI Semibold" panose="020B0702040204020203" pitchFamily="34" charset="0"/>
              </a:rPr>
              <a:t>q_adm = q_u / 3</a:t>
            </a:r>
            <a:r>
              <a:rPr lang="es-MX" sz="650">
                <a:solidFill>
                  <a:srgbClr val="5A5248"/>
                </a:solidFill>
                <a:latin typeface="Segoe UI" panose="020B0502040204020203" pitchFamily="34" charset="0"/>
              </a:rPr>
              <a:t>. El asiento se comprueba por separado y en arcillas blandas suele mandar antes que el hundimiento.</a:t>
            </a:r>
            <a:endParaRPr lang="es-BO" sz="650">
              <a:solidFill>
                <a:srgbClr val="5A5248"/>
              </a:solidFill>
              <a:latin typeface="Segoe UI" panose="020B0502040204020203" pitchFamily="34" charset="0"/>
            </a:endParaRPr>
          </a:p>
        </p:txBody>
      </p:sp>
      <p:sp>
        <p:nvSpPr>
          <p:cNvPr id="118" name="Rectángulo 117">
            <a:extLst>
              <a:ext uri="{FF2B5EF4-FFF2-40B4-BE49-F238E27FC236}">
                <a16:creationId xmlns:a16="http://schemas.microsoft.com/office/drawing/2014/main" id="{5DC88784-76A4-8E29-41E7-625F78C96BB2}"/>
              </a:ext>
            </a:extLst>
          </p:cNvPr>
          <p:cNvSpPr/>
          <p:nvPr/>
        </p:nvSpPr>
        <p:spPr>
          <a:xfrm>
            <a:off x="609600" y="5537200"/>
            <a:ext cx="10972800" cy="558800"/>
          </a:xfrm>
          <a:prstGeom prst="rect">
            <a:avLst/>
          </a:prstGeom>
          <a:solidFill>
            <a:srgbClr val="241F1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20" name="CuadroTexto 119">
            <a:extLst>
              <a:ext uri="{FF2B5EF4-FFF2-40B4-BE49-F238E27FC236}">
                <a16:creationId xmlns:a16="http://schemas.microsoft.com/office/drawing/2014/main" id="{1537F3CA-0EA8-BC2E-07E9-461DC23B848E}"/>
              </a:ext>
            </a:extLst>
          </p:cNvPr>
          <p:cNvSpPr txBox="1"/>
          <p:nvPr/>
        </p:nvSpPr>
        <p:spPr>
          <a:xfrm>
            <a:off x="838200" y="5588000"/>
            <a:ext cx="10566400" cy="457200"/>
          </a:xfrm>
          <a:prstGeom prst="rect">
            <a:avLst/>
          </a:prstGeom>
          <a:noFill/>
        </p:spPr>
        <p:txBody>
          <a:bodyPr vert="horz" wrap="square" lIns="0" tIns="0" rIns="0" bIns="0" rtlCol="0" anchor="ctr">
            <a:noAutofit/>
          </a:bodyPr>
          <a:lstStyle/>
          <a:p>
            <a:pPr algn="l"/>
            <a:r>
              <a:rPr lang="es-MX" sz="1150">
                <a:solidFill>
                  <a:srgbClr val="FFFFFF"/>
                </a:solidFill>
                <a:latin typeface="Segoe UI" panose="020B0502040204020203" pitchFamily="34" charset="0"/>
              </a:rPr>
              <a:t>La comprobación de una zapata existente no es difícil: es </a:t>
            </a:r>
            <a:r>
              <a:rPr lang="es-MX" sz="1150" b="1">
                <a:solidFill>
                  <a:srgbClr val="FFFFFF"/>
                </a:solidFill>
                <a:latin typeface="Segoe UI Semibold" panose="020B0702040204020203" pitchFamily="34" charset="0"/>
              </a:rPr>
              <a:t>larga</a:t>
            </a:r>
            <a:r>
              <a:rPr lang="es-MX" sz="1150">
                <a:solidFill>
                  <a:srgbClr val="FFFFFF"/>
                </a:solidFill>
                <a:latin typeface="Segoe UI" panose="020B0502040204020203" pitchFamily="34" charset="0"/>
              </a:rPr>
              <a:t>. El error no suele estar en la fórmula, sino en olvidar el peso propio o en usar el B viejo después de ensanchar.</a:t>
            </a:r>
            <a:endParaRPr lang="es-BO" sz="1150">
              <a:solidFill>
                <a:srgbClr val="FFFFFF"/>
              </a:solidFill>
              <a:latin typeface="Segoe UI" panose="020B0502040204020203" pitchFamily="34" charset="0"/>
            </a:endParaRPr>
          </a:p>
        </p:txBody>
      </p:sp>
      <p:sp>
        <p:nvSpPr>
          <p:cNvPr id="121" name="CuadroTexto 120">
            <a:extLst>
              <a:ext uri="{FF2B5EF4-FFF2-40B4-BE49-F238E27FC236}">
                <a16:creationId xmlns:a16="http://schemas.microsoft.com/office/drawing/2014/main" id="{F5828810-15DF-1CB2-0841-72A26B7DF1FE}"/>
              </a:ext>
            </a:extLst>
          </p:cNvPr>
          <p:cNvSpPr txBox="1"/>
          <p:nvPr/>
        </p:nvSpPr>
        <p:spPr>
          <a:xfrm>
            <a:off x="609600" y="6324600"/>
            <a:ext cx="10972800" cy="152400"/>
          </a:xfrm>
          <a:prstGeom prst="rect">
            <a:avLst/>
          </a:prstGeom>
          <a:noFill/>
        </p:spPr>
        <p:txBody>
          <a:bodyPr vert="horz" wrap="square" lIns="0" tIns="0" rIns="0" bIns="0" rtlCol="0" anchor="t">
            <a:noAutofit/>
          </a:bodyPr>
          <a:lstStyle/>
          <a:p>
            <a:pPr algn="l"/>
            <a:r>
              <a:rPr lang="it-IT" sz="700">
                <a:solidFill>
                  <a:srgbClr val="938A7C"/>
                </a:solidFill>
                <a:latin typeface="Segoe UI" panose="020B0502040204020203" pitchFamily="34" charset="0"/>
              </a:rPr>
              <a:t>Fuente: Terzaghi (1943); ACI 562 §6; NB 1225001; ACI 318-19 §22.9.</a:t>
            </a:r>
            <a:endParaRPr lang="es-BO" sz="700">
              <a:solidFill>
                <a:srgbClr val="938A7C"/>
              </a:solidFill>
              <a:latin typeface="Segoe UI" panose="020B0502040204020203" pitchFamily="34" charset="0"/>
            </a:endParaRPr>
          </a:p>
        </p:txBody>
      </p:sp>
      <p:cxnSp>
        <p:nvCxnSpPr>
          <p:cNvPr id="122" name="Conector recto 121">
            <a:extLst>
              <a:ext uri="{FF2B5EF4-FFF2-40B4-BE49-F238E27FC236}">
                <a16:creationId xmlns:a16="http://schemas.microsoft.com/office/drawing/2014/main" id="{15A41A87-AF01-98C7-DBEF-A3A1D875DDEE}"/>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123" name="CuadroTexto 122">
            <a:extLst>
              <a:ext uri="{FF2B5EF4-FFF2-40B4-BE49-F238E27FC236}">
                <a16:creationId xmlns:a16="http://schemas.microsoft.com/office/drawing/2014/main" id="{CA2C97EC-B2D6-8C1C-A9B1-F0794F63343E}"/>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124" name="CuadroTexto 123">
            <a:extLst>
              <a:ext uri="{FF2B5EF4-FFF2-40B4-BE49-F238E27FC236}">
                <a16:creationId xmlns:a16="http://schemas.microsoft.com/office/drawing/2014/main" id="{E793AD34-C8E2-3352-D57F-013BE3BD4ADD}"/>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125" name="PageNo">
            <a:extLst>
              <a:ext uri="{FF2B5EF4-FFF2-40B4-BE49-F238E27FC236}">
                <a16:creationId xmlns:a16="http://schemas.microsoft.com/office/drawing/2014/main" id="{13E4FFA8-AB4A-3150-D15D-9280E8F4D475}"/>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24 / 38</a:t>
            </a:r>
          </a:p>
        </p:txBody>
      </p:sp>
    </p:spTree>
    <p:custDataLst>
      <p:tags r:id="rId1"/>
    </p:custDataLst>
    <p:extLst>
      <p:ext uri="{BB962C8B-B14F-4D97-AF65-F5344CB8AC3E}">
        <p14:creationId xmlns:p14="http://schemas.microsoft.com/office/powerpoint/2010/main" val="31713208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CD071AD-516F-4223-EB2D-2E67EA027E4F}"/>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MX" sz="900" spc="180">
                <a:solidFill>
                  <a:srgbClr val="6A4F20"/>
                </a:solidFill>
                <a:latin typeface="Segoe UI Semibold" panose="020B0702040204020203" pitchFamily="34" charset="0"/>
              </a:rPr>
              <a:t>CASO 7  ·  PASO 1 DE 8</a:t>
            </a:r>
            <a:endParaRPr lang="es-BO" sz="900" spc="180">
              <a:solidFill>
                <a:srgbClr val="6A4F20"/>
              </a:solidFill>
              <a:latin typeface="Segoe UI Semibold" panose="020B0702040204020203" pitchFamily="34" charset="0"/>
            </a:endParaRPr>
          </a:p>
        </p:txBody>
      </p:sp>
      <p:sp>
        <p:nvSpPr>
          <p:cNvPr id="3" name="Title">
            <a:extLst>
              <a:ext uri="{FF2B5EF4-FFF2-40B4-BE49-F238E27FC236}">
                <a16:creationId xmlns:a16="http://schemas.microsoft.com/office/drawing/2014/main" id="{A943BF0C-11B1-3EB2-09A2-F96F0DBD824A}"/>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La sobrecarga que aporta el terreno de encima</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1767BA31-D968-20A5-E982-7AF19D97242E}"/>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6" name="CuadroTexto 5">
            <a:extLst>
              <a:ext uri="{FF2B5EF4-FFF2-40B4-BE49-F238E27FC236}">
                <a16:creationId xmlns:a16="http://schemas.microsoft.com/office/drawing/2014/main" id="{A686D09E-D3D6-1DDD-286D-253327F666CF}"/>
              </a:ext>
            </a:extLst>
          </p:cNvPr>
          <p:cNvSpPr txBox="1"/>
          <p:nvPr/>
        </p:nvSpPr>
        <p:spPr>
          <a:xfrm>
            <a:off x="609600" y="1270000"/>
            <a:ext cx="10972800" cy="228600"/>
          </a:xfrm>
          <a:prstGeom prst="rect">
            <a:avLst/>
          </a:prstGeom>
          <a:noFill/>
        </p:spPr>
        <p:txBody>
          <a:bodyPr vert="horz" wrap="square" lIns="0" tIns="0" rIns="0" bIns="0" rtlCol="0" anchor="t">
            <a:noAutofit/>
          </a:bodyPr>
          <a:lstStyle/>
          <a:p>
            <a:pPr algn="ctr"/>
            <a:r>
              <a:rPr lang="es-MX" sz="1150">
                <a:solidFill>
                  <a:srgbClr val="6A4F20"/>
                </a:solidFill>
                <a:latin typeface="Segoe UI Semibold" panose="020B0702040204020203" pitchFamily="34" charset="0"/>
              </a:rPr>
              <a:t>¿Cuánto ayuda el terreno que está por encima de la zapata?</a:t>
            </a:r>
            <a:endParaRPr lang="es-BO" sz="1150">
              <a:solidFill>
                <a:srgbClr val="6A4F20"/>
              </a:solidFill>
              <a:latin typeface="Segoe UI Semibold" panose="020B0702040204020203" pitchFamily="34" charset="0"/>
            </a:endParaRPr>
          </a:p>
        </p:txBody>
      </p:sp>
      <p:sp>
        <p:nvSpPr>
          <p:cNvPr id="7" name="Rectángulo 6">
            <a:extLst>
              <a:ext uri="{FF2B5EF4-FFF2-40B4-BE49-F238E27FC236}">
                <a16:creationId xmlns:a16="http://schemas.microsoft.com/office/drawing/2014/main" id="{2C72A877-25DA-2D0E-5D7E-C91C447F9F08}"/>
              </a:ext>
            </a:extLst>
          </p:cNvPr>
          <p:cNvSpPr/>
          <p:nvPr/>
        </p:nvSpPr>
        <p:spPr>
          <a:xfrm>
            <a:off x="609600" y="1549400"/>
            <a:ext cx="10972800" cy="558800"/>
          </a:xfrm>
          <a:prstGeom prst="rect">
            <a:avLst/>
          </a:prstGeom>
          <a:solidFill>
            <a:srgbClr val="1C181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38100" rIns="101600" bIns="38100" rtlCol="0" anchor="ctr"/>
          <a:lstStyle/>
          <a:p>
            <a:pPr algn="ctr"/>
            <a:r>
              <a:rPr lang="es-BO" sz="1700">
                <a:solidFill>
                  <a:srgbClr val="FFFFFF"/>
                </a:solidFill>
                <a:latin typeface="Bahnschrift SemiBold" panose="020B0502040204020203" pitchFamily="34" charset="0"/>
              </a:rPr>
              <a:t>q  =  </a:t>
            </a:r>
            <a:r>
              <a:rPr lang="el-GR" sz="1700">
                <a:solidFill>
                  <a:srgbClr val="FFFFFF"/>
                </a:solidFill>
                <a:latin typeface="Bahnschrift SemiBold" panose="020B0502040204020203" pitchFamily="34" charset="0"/>
              </a:rPr>
              <a:t>γ  ·  </a:t>
            </a:r>
            <a:r>
              <a:rPr lang="es-BO" sz="1700">
                <a:solidFill>
                  <a:srgbClr val="FFFFFF"/>
                </a:solidFill>
                <a:latin typeface="Bahnschrift SemiBold" panose="020B0502040204020203" pitchFamily="34" charset="0"/>
              </a:rPr>
              <a:t>D_f</a:t>
            </a:r>
          </a:p>
        </p:txBody>
      </p:sp>
      <p:sp>
        <p:nvSpPr>
          <p:cNvPr id="9" name="CuadroTexto 8">
            <a:extLst>
              <a:ext uri="{FF2B5EF4-FFF2-40B4-BE49-F238E27FC236}">
                <a16:creationId xmlns:a16="http://schemas.microsoft.com/office/drawing/2014/main" id="{7A78A643-9FFC-FB8F-246B-A779874F1F6A}"/>
              </a:ext>
            </a:extLst>
          </p:cNvPr>
          <p:cNvSpPr txBox="1"/>
          <p:nvPr/>
        </p:nvSpPr>
        <p:spPr>
          <a:xfrm>
            <a:off x="736600" y="2209800"/>
            <a:ext cx="5080000" cy="152400"/>
          </a:xfrm>
          <a:prstGeom prst="rect">
            <a:avLst/>
          </a:prstGeom>
          <a:noFill/>
        </p:spPr>
        <p:txBody>
          <a:bodyPr vert="horz" wrap="square" lIns="0" tIns="0" rIns="0" bIns="0" rtlCol="0" anchor="t">
            <a:noAutofit/>
          </a:bodyPr>
          <a:lstStyle/>
          <a:p>
            <a:r>
              <a:rPr lang="es-MX" sz="700" spc="120">
                <a:solidFill>
                  <a:srgbClr val="6A4F20"/>
                </a:solidFill>
                <a:latin typeface="Segoe UI Semibold" panose="020B0702040204020203" pitchFamily="34" charset="0"/>
              </a:rPr>
              <a:t>DE DÓNDE SALE LA FÓRMULA</a:t>
            </a:r>
            <a:endParaRPr lang="es-BO" sz="700" spc="120">
              <a:solidFill>
                <a:srgbClr val="6A4F20"/>
              </a:solidFill>
              <a:latin typeface="Segoe UI Semibold" panose="020B0702040204020203" pitchFamily="34" charset="0"/>
            </a:endParaRPr>
          </a:p>
        </p:txBody>
      </p:sp>
      <p:sp>
        <p:nvSpPr>
          <p:cNvPr id="10" name="CuadroTexto 9">
            <a:extLst>
              <a:ext uri="{FF2B5EF4-FFF2-40B4-BE49-F238E27FC236}">
                <a16:creationId xmlns:a16="http://schemas.microsoft.com/office/drawing/2014/main" id="{D398910B-6103-32C4-2ADD-AECF7CD4D1F8}"/>
              </a:ext>
            </a:extLst>
          </p:cNvPr>
          <p:cNvSpPr txBox="1"/>
          <p:nvPr/>
        </p:nvSpPr>
        <p:spPr>
          <a:xfrm>
            <a:off x="736600" y="2374900"/>
            <a:ext cx="10845800" cy="406400"/>
          </a:xfrm>
          <a:prstGeom prst="rect">
            <a:avLst/>
          </a:prstGeom>
          <a:noFill/>
        </p:spPr>
        <p:txBody>
          <a:bodyPr vert="horz" wrap="square" lIns="0" tIns="0" rIns="0" bIns="0" rtlCol="0" anchor="t">
            <a:noAutofit/>
          </a:bodyPr>
          <a:lstStyle/>
          <a:p>
            <a:pPr algn="l"/>
            <a:r>
              <a:rPr lang="es-MX" sz="900">
                <a:solidFill>
                  <a:srgbClr val="5A5248"/>
                </a:solidFill>
                <a:latin typeface="Segoe UI" panose="020B0502040204020203" pitchFamily="34" charset="0"/>
              </a:rPr>
              <a:t>Presión geostática: el peso de la columna de terreno que hay sobre el plano de apoyo, por unidad de superficie. Es el mismo principio que la presión hidrostática, con el peso específico del suelo en vez del del agua.</a:t>
            </a:r>
            <a:endParaRPr lang="es-BO" sz="900">
              <a:solidFill>
                <a:srgbClr val="5A5248"/>
              </a:solidFill>
              <a:latin typeface="Segoe UI" panose="020B0502040204020203" pitchFamily="34" charset="0"/>
            </a:endParaRPr>
          </a:p>
        </p:txBody>
      </p:sp>
      <p:sp>
        <p:nvSpPr>
          <p:cNvPr id="11" name="CuadroTexto 10">
            <a:extLst>
              <a:ext uri="{FF2B5EF4-FFF2-40B4-BE49-F238E27FC236}">
                <a16:creationId xmlns:a16="http://schemas.microsoft.com/office/drawing/2014/main" id="{71896A91-1F00-C16B-2AD0-34523B76714C}"/>
              </a:ext>
            </a:extLst>
          </p:cNvPr>
          <p:cNvSpPr txBox="1"/>
          <p:nvPr/>
        </p:nvSpPr>
        <p:spPr>
          <a:xfrm>
            <a:off x="609600" y="2844800"/>
            <a:ext cx="3581400" cy="152400"/>
          </a:xfrm>
          <a:prstGeom prst="rect">
            <a:avLst/>
          </a:prstGeom>
          <a:noFill/>
        </p:spPr>
        <p:txBody>
          <a:bodyPr vert="horz" wrap="square" lIns="0" tIns="0" rIns="0" bIns="0" rtlCol="0" anchor="t">
            <a:noAutofit/>
          </a:bodyPr>
          <a:lstStyle/>
          <a:p>
            <a:pPr algn="l"/>
            <a:r>
              <a:rPr lang="es-BO" sz="700">
                <a:solidFill>
                  <a:srgbClr val="6A4F20"/>
                </a:solidFill>
                <a:latin typeface="Segoe UI Semibold" panose="020B0702040204020203" pitchFamily="34" charset="0"/>
              </a:rPr>
              <a:t>LOS DATOS QUE ENTRAN</a:t>
            </a:r>
          </a:p>
        </p:txBody>
      </p:sp>
      <p:sp>
        <p:nvSpPr>
          <p:cNvPr id="13" name="CuadroTexto 12">
            <a:extLst>
              <a:ext uri="{FF2B5EF4-FFF2-40B4-BE49-F238E27FC236}">
                <a16:creationId xmlns:a16="http://schemas.microsoft.com/office/drawing/2014/main" id="{17544BCD-0D5E-D3F8-281F-73EE7F28FFC6}"/>
              </a:ext>
            </a:extLst>
          </p:cNvPr>
          <p:cNvSpPr txBox="1"/>
          <p:nvPr/>
        </p:nvSpPr>
        <p:spPr>
          <a:xfrm>
            <a:off x="762000" y="3048000"/>
            <a:ext cx="3429000" cy="165100"/>
          </a:xfrm>
          <a:prstGeom prst="rect">
            <a:avLst/>
          </a:prstGeom>
          <a:noFill/>
        </p:spPr>
        <p:txBody>
          <a:bodyPr vert="horz" wrap="square" lIns="0" tIns="0" rIns="0" bIns="0" rtlCol="0" anchor="t">
            <a:noAutofit/>
          </a:bodyPr>
          <a:lstStyle/>
          <a:p>
            <a:pPr algn="l"/>
            <a:r>
              <a:rPr lang="el-GR" sz="1000">
                <a:solidFill>
                  <a:srgbClr val="1C1813"/>
                </a:solidFill>
                <a:latin typeface="Segoe UI Semibold" panose="020B0702040204020203" pitchFamily="34" charset="0"/>
              </a:rPr>
              <a:t>γ = 17 </a:t>
            </a:r>
            <a:r>
              <a:rPr lang="es-BO" sz="1000">
                <a:solidFill>
                  <a:srgbClr val="1C1813"/>
                </a:solidFill>
                <a:latin typeface="Segoe UI Semibold" panose="020B0702040204020203" pitchFamily="34" charset="0"/>
              </a:rPr>
              <a:t>kN/m³</a:t>
            </a:r>
          </a:p>
        </p:txBody>
      </p:sp>
      <p:sp>
        <p:nvSpPr>
          <p:cNvPr id="14" name="CuadroTexto 13">
            <a:extLst>
              <a:ext uri="{FF2B5EF4-FFF2-40B4-BE49-F238E27FC236}">
                <a16:creationId xmlns:a16="http://schemas.microsoft.com/office/drawing/2014/main" id="{44C265CD-7C63-C471-7541-52BD2D2F378C}"/>
              </a:ext>
            </a:extLst>
          </p:cNvPr>
          <p:cNvSpPr txBox="1"/>
          <p:nvPr/>
        </p:nvSpPr>
        <p:spPr>
          <a:xfrm>
            <a:off x="762000" y="3213100"/>
            <a:ext cx="3429000" cy="330200"/>
          </a:xfrm>
          <a:prstGeom prst="rect">
            <a:avLst/>
          </a:prstGeom>
          <a:noFill/>
        </p:spPr>
        <p:txBody>
          <a:bodyPr vert="horz" wrap="square" lIns="0" tIns="0" rIns="0" bIns="0" rtlCol="0" anchor="t">
            <a:noAutofit/>
          </a:bodyPr>
          <a:lstStyle/>
          <a:p>
            <a:pPr algn="l"/>
            <a:r>
              <a:rPr lang="es-MX" sz="850">
                <a:solidFill>
                  <a:srgbClr val="5A5248"/>
                </a:solidFill>
                <a:latin typeface="Segoe UI" panose="020B0502040204020203" pitchFamily="34" charset="0"/>
              </a:rPr>
              <a:t>Peso específico del terreno. Viene del estudio de suelos de 1998, apartado de caracterización.</a:t>
            </a:r>
            <a:endParaRPr lang="es-BO" sz="850">
              <a:solidFill>
                <a:srgbClr val="5A5248"/>
              </a:solidFill>
              <a:latin typeface="Segoe UI" panose="020B0502040204020203" pitchFamily="34" charset="0"/>
            </a:endParaRPr>
          </a:p>
        </p:txBody>
      </p:sp>
      <p:sp>
        <p:nvSpPr>
          <p:cNvPr id="16" name="CuadroTexto 15">
            <a:extLst>
              <a:ext uri="{FF2B5EF4-FFF2-40B4-BE49-F238E27FC236}">
                <a16:creationId xmlns:a16="http://schemas.microsoft.com/office/drawing/2014/main" id="{024CE823-7F54-0BA3-A011-1C295F9D9286}"/>
              </a:ext>
            </a:extLst>
          </p:cNvPr>
          <p:cNvSpPr txBox="1"/>
          <p:nvPr/>
        </p:nvSpPr>
        <p:spPr>
          <a:xfrm>
            <a:off x="762000" y="3683000"/>
            <a:ext cx="3429000" cy="165100"/>
          </a:xfrm>
          <a:prstGeom prst="rect">
            <a:avLst/>
          </a:prstGeom>
          <a:noFill/>
        </p:spPr>
        <p:txBody>
          <a:bodyPr vert="horz" wrap="square" lIns="0" tIns="0" rIns="0" bIns="0" rtlCol="0" anchor="t">
            <a:noAutofit/>
          </a:bodyPr>
          <a:lstStyle/>
          <a:p>
            <a:pPr algn="l"/>
            <a:r>
              <a:rPr lang="es-BO" sz="1000">
                <a:solidFill>
                  <a:srgbClr val="1C1813"/>
                </a:solidFill>
                <a:latin typeface="Segoe UI Semibold" panose="020B0702040204020203" pitchFamily="34" charset="0"/>
              </a:rPr>
              <a:t>D_f = 1,20 m</a:t>
            </a:r>
          </a:p>
        </p:txBody>
      </p:sp>
      <p:sp>
        <p:nvSpPr>
          <p:cNvPr id="17" name="CuadroTexto 16">
            <a:extLst>
              <a:ext uri="{FF2B5EF4-FFF2-40B4-BE49-F238E27FC236}">
                <a16:creationId xmlns:a16="http://schemas.microsoft.com/office/drawing/2014/main" id="{76D5F208-717E-6EF8-B3B6-090A03A28229}"/>
              </a:ext>
            </a:extLst>
          </p:cNvPr>
          <p:cNvSpPr txBox="1"/>
          <p:nvPr/>
        </p:nvSpPr>
        <p:spPr>
          <a:xfrm>
            <a:off x="762000" y="3848100"/>
            <a:ext cx="3429000" cy="330200"/>
          </a:xfrm>
          <a:prstGeom prst="rect">
            <a:avLst/>
          </a:prstGeom>
          <a:noFill/>
        </p:spPr>
        <p:txBody>
          <a:bodyPr vert="horz" wrap="square" lIns="0" tIns="0" rIns="0" bIns="0" rtlCol="0" anchor="t">
            <a:noAutofit/>
          </a:bodyPr>
          <a:lstStyle/>
          <a:p>
            <a:pPr algn="l"/>
            <a:r>
              <a:rPr lang="es-MX" sz="850">
                <a:solidFill>
                  <a:srgbClr val="5A5248"/>
                </a:solidFill>
                <a:latin typeface="Segoe UI" panose="020B0502040204020203" pitchFamily="34" charset="0"/>
              </a:rPr>
              <a:t>Profundidad del plano de apoyo medida desde la superficie. Se comprobó en la cata de 2026.</a:t>
            </a:r>
            <a:endParaRPr lang="es-BO" sz="850">
              <a:solidFill>
                <a:srgbClr val="5A5248"/>
              </a:solidFill>
              <a:latin typeface="Segoe UI" panose="020B0502040204020203" pitchFamily="34" charset="0"/>
            </a:endParaRPr>
          </a:p>
        </p:txBody>
      </p:sp>
      <p:sp>
        <p:nvSpPr>
          <p:cNvPr id="18" name="CuadroTexto 17">
            <a:extLst>
              <a:ext uri="{FF2B5EF4-FFF2-40B4-BE49-F238E27FC236}">
                <a16:creationId xmlns:a16="http://schemas.microsoft.com/office/drawing/2014/main" id="{3F566654-977D-94E0-F98A-1D7B8C1FD6F4}"/>
              </a:ext>
            </a:extLst>
          </p:cNvPr>
          <p:cNvSpPr txBox="1"/>
          <p:nvPr/>
        </p:nvSpPr>
        <p:spPr>
          <a:xfrm>
            <a:off x="4495800" y="2844800"/>
            <a:ext cx="3429000" cy="152400"/>
          </a:xfrm>
          <a:prstGeom prst="rect">
            <a:avLst/>
          </a:prstGeom>
          <a:noFill/>
        </p:spPr>
        <p:txBody>
          <a:bodyPr vert="horz" wrap="square" lIns="0" tIns="0" rIns="0" bIns="0" rtlCol="0" anchor="t">
            <a:noAutofit/>
          </a:bodyPr>
          <a:lstStyle/>
          <a:p>
            <a:pPr algn="l"/>
            <a:r>
              <a:rPr lang="es-MX" sz="700">
                <a:solidFill>
                  <a:srgbClr val="6A4F20"/>
                </a:solidFill>
                <a:latin typeface="Segoe UI Semibold" panose="020B0702040204020203" pitchFamily="34" charset="0"/>
              </a:rPr>
              <a:t>LA CUENTA, PASO A PASO</a:t>
            </a:r>
            <a:endParaRPr lang="es-BO" sz="700">
              <a:solidFill>
                <a:srgbClr val="6A4F20"/>
              </a:solidFill>
              <a:latin typeface="Segoe UI Semibold" panose="020B0702040204020203" pitchFamily="34" charset="0"/>
            </a:endParaRPr>
          </a:p>
        </p:txBody>
      </p:sp>
      <p:sp>
        <p:nvSpPr>
          <p:cNvPr id="19" name="Rectángulo 18">
            <a:extLst>
              <a:ext uri="{FF2B5EF4-FFF2-40B4-BE49-F238E27FC236}">
                <a16:creationId xmlns:a16="http://schemas.microsoft.com/office/drawing/2014/main" id="{B3BD504E-5793-C255-C0F4-D0C225B8FE41}"/>
              </a:ext>
            </a:extLst>
          </p:cNvPr>
          <p:cNvSpPr/>
          <p:nvPr/>
        </p:nvSpPr>
        <p:spPr>
          <a:xfrm>
            <a:off x="4495800" y="3048000"/>
            <a:ext cx="3429000" cy="18796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0" name="CuadroTexto 19">
            <a:extLst>
              <a:ext uri="{FF2B5EF4-FFF2-40B4-BE49-F238E27FC236}">
                <a16:creationId xmlns:a16="http://schemas.microsoft.com/office/drawing/2014/main" id="{92901850-47E1-CB4B-3FD2-1BB5CD1706A8}"/>
              </a:ext>
            </a:extLst>
          </p:cNvPr>
          <p:cNvSpPr txBox="1"/>
          <p:nvPr/>
        </p:nvSpPr>
        <p:spPr>
          <a:xfrm>
            <a:off x="4648200" y="3162300"/>
            <a:ext cx="3124200" cy="292100"/>
          </a:xfrm>
          <a:prstGeom prst="rect">
            <a:avLst/>
          </a:prstGeom>
          <a:noFill/>
        </p:spPr>
        <p:txBody>
          <a:bodyPr vert="horz" wrap="square" lIns="0" tIns="0" rIns="0" bIns="0" rtlCol="0" anchor="t">
            <a:noAutofit/>
          </a:bodyPr>
          <a:lstStyle/>
          <a:p>
            <a:pPr algn="l"/>
            <a:r>
              <a:rPr lang="fr-FR" sz="1150">
                <a:solidFill>
                  <a:srgbClr val="241F18"/>
                </a:solidFill>
                <a:latin typeface="Segoe UI" panose="020B0502040204020203" pitchFamily="34" charset="0"/>
              </a:rPr>
              <a:t>q  =  17 kN/m³  ×  1,20 m</a:t>
            </a:r>
            <a:endParaRPr lang="es-BO" sz="1150">
              <a:solidFill>
                <a:srgbClr val="241F18"/>
              </a:solidFill>
              <a:latin typeface="Segoe UI" panose="020B0502040204020203" pitchFamily="34" charset="0"/>
            </a:endParaRPr>
          </a:p>
        </p:txBody>
      </p:sp>
      <p:sp>
        <p:nvSpPr>
          <p:cNvPr id="21" name="CuadroTexto 20">
            <a:extLst>
              <a:ext uri="{FF2B5EF4-FFF2-40B4-BE49-F238E27FC236}">
                <a16:creationId xmlns:a16="http://schemas.microsoft.com/office/drawing/2014/main" id="{CB40F63A-B3EC-0C71-6E55-130D788FB5F1}"/>
              </a:ext>
            </a:extLst>
          </p:cNvPr>
          <p:cNvSpPr txBox="1"/>
          <p:nvPr/>
        </p:nvSpPr>
        <p:spPr>
          <a:xfrm>
            <a:off x="4648200" y="3479800"/>
            <a:ext cx="3124200" cy="292100"/>
          </a:xfrm>
          <a:prstGeom prst="rect">
            <a:avLst/>
          </a:prstGeom>
          <a:noFill/>
        </p:spPr>
        <p:txBody>
          <a:bodyPr vert="horz" wrap="square" lIns="0" tIns="0" rIns="0" bIns="0" rtlCol="0" anchor="t">
            <a:noAutofit/>
          </a:bodyPr>
          <a:lstStyle/>
          <a:p>
            <a:pPr algn="l"/>
            <a:r>
              <a:rPr lang="es-BO" sz="1150">
                <a:solidFill>
                  <a:srgbClr val="241F18"/>
                </a:solidFill>
                <a:latin typeface="Segoe UI" panose="020B0502040204020203" pitchFamily="34" charset="0"/>
              </a:rPr>
              <a:t>q  =  20,4 kN/m²</a:t>
            </a:r>
          </a:p>
        </p:txBody>
      </p:sp>
      <p:sp>
        <p:nvSpPr>
          <p:cNvPr id="22" name="CuadroTexto 21">
            <a:extLst>
              <a:ext uri="{FF2B5EF4-FFF2-40B4-BE49-F238E27FC236}">
                <a16:creationId xmlns:a16="http://schemas.microsoft.com/office/drawing/2014/main" id="{9152C018-EC17-0A69-DD39-3FA2EBEC8F22}"/>
              </a:ext>
            </a:extLst>
          </p:cNvPr>
          <p:cNvSpPr txBox="1"/>
          <p:nvPr/>
        </p:nvSpPr>
        <p:spPr>
          <a:xfrm>
            <a:off x="4648200" y="3797300"/>
            <a:ext cx="3124200" cy="292100"/>
          </a:xfrm>
          <a:prstGeom prst="rect">
            <a:avLst/>
          </a:prstGeom>
          <a:noFill/>
        </p:spPr>
        <p:txBody>
          <a:bodyPr vert="horz" wrap="square" lIns="0" tIns="0" rIns="0" bIns="0" rtlCol="0" anchor="t">
            <a:noAutofit/>
          </a:bodyPr>
          <a:lstStyle/>
          <a:p>
            <a:pPr algn="l"/>
            <a:r>
              <a:rPr lang="es-BO" sz="1150">
                <a:solidFill>
                  <a:srgbClr val="241F18"/>
                </a:solidFill>
                <a:latin typeface="Segoe UI" panose="020B0502040204020203" pitchFamily="34" charset="0"/>
              </a:rPr>
              <a:t>q  =  20,4 kPa</a:t>
            </a:r>
          </a:p>
        </p:txBody>
      </p:sp>
      <p:pic>
        <p:nvPicPr>
          <p:cNvPr id="100" name="Diagrama del paso" descr="Paso 1: sobrecarga del terreno, q = 17 × 1,20 = 20,4 kPa"/>
          <p:cNvPicPr>
            <a:picLocks noChangeAspect="1"/>
          </p:cNvPicPr>
          <p:nvPr/>
        </p:nvPicPr>
        <p:blipFill>
          <a:blip r:embed="rId100"/>
          <a:stretch>
            <a:fillRect/>
          </a:stretch>
        </p:blipFill>
        <p:spPr>
          <a:xfrm>
            <a:off x="8229600" y="3044952"/>
            <a:ext cx="3355848" cy="1883664"/>
          </a:xfrm>
          <a:prstGeom prst="rect">
            <a:avLst/>
          </a:prstGeom>
        </p:spPr>
      </p:pic>
      <p:sp>
        <p:nvSpPr>
          <p:cNvPr id="92" name="CuadroTexto 91">
            <a:extLst>
              <a:ext uri="{FF2B5EF4-FFF2-40B4-BE49-F238E27FC236}">
                <a16:creationId xmlns:a16="http://schemas.microsoft.com/office/drawing/2014/main" id="{4D64BB3F-05F6-BA55-A660-FD45BC578852}"/>
              </a:ext>
            </a:extLst>
          </p:cNvPr>
          <p:cNvSpPr txBox="1"/>
          <p:nvPr/>
        </p:nvSpPr>
        <p:spPr>
          <a:xfrm>
            <a:off x="736600" y="5029200"/>
            <a:ext cx="5080000" cy="152400"/>
          </a:xfrm>
          <a:prstGeom prst="rect">
            <a:avLst/>
          </a:prstGeom>
          <a:noFill/>
        </p:spPr>
        <p:txBody>
          <a:bodyPr vert="horz" wrap="square" lIns="0" tIns="0" rIns="0" bIns="0" rtlCol="0" anchor="t">
            <a:noAutofit/>
          </a:bodyPr>
          <a:lstStyle/>
          <a:p>
            <a:r>
              <a:rPr lang="es-BO" sz="700" spc="120">
                <a:solidFill>
                  <a:srgbClr val="6A4F20"/>
                </a:solidFill>
                <a:latin typeface="Segoe UI Semibold" panose="020B0702040204020203" pitchFamily="34" charset="0"/>
              </a:rPr>
              <a:t>QUÉ SIGNIFICA ESTE NÚMERO</a:t>
            </a:r>
          </a:p>
        </p:txBody>
      </p:sp>
      <p:sp>
        <p:nvSpPr>
          <p:cNvPr id="93" name="CuadroTexto 92">
            <a:extLst>
              <a:ext uri="{FF2B5EF4-FFF2-40B4-BE49-F238E27FC236}">
                <a16:creationId xmlns:a16="http://schemas.microsoft.com/office/drawing/2014/main" id="{A3541052-21B8-7852-4B8E-092DCE8A9345}"/>
              </a:ext>
            </a:extLst>
          </p:cNvPr>
          <p:cNvSpPr txBox="1"/>
          <p:nvPr/>
        </p:nvSpPr>
        <p:spPr>
          <a:xfrm>
            <a:off x="736600" y="5194300"/>
            <a:ext cx="10845800" cy="304800"/>
          </a:xfrm>
          <a:prstGeom prst="rect">
            <a:avLst/>
          </a:prstGeom>
          <a:noFill/>
        </p:spPr>
        <p:txBody>
          <a:bodyPr vert="horz" wrap="square" lIns="0" tIns="0" rIns="0" bIns="0" rtlCol="0" anchor="t">
            <a:noAutofit/>
          </a:bodyPr>
          <a:lstStyle/>
          <a:p>
            <a:pPr algn="l"/>
            <a:r>
              <a:rPr lang="es-MX" sz="1050">
                <a:solidFill>
                  <a:srgbClr val="5A5248"/>
                </a:solidFill>
                <a:latin typeface="Segoe UI" panose="020B0502040204020203" pitchFamily="34" charset="0"/>
              </a:rPr>
              <a:t>Es la presión que el terreno de encima ya ejerce sobre el plano de apoyo antes de poner nada.</a:t>
            </a:r>
            <a:endParaRPr lang="es-BO" sz="1050">
              <a:solidFill>
                <a:srgbClr val="5A5248"/>
              </a:solidFill>
              <a:latin typeface="Segoe UI" panose="020B0502040204020203" pitchFamily="34" charset="0"/>
            </a:endParaRPr>
          </a:p>
        </p:txBody>
      </p:sp>
      <p:sp>
        <p:nvSpPr>
          <p:cNvPr id="94" name="Resultado_1">
            <a:extLst>
              <a:ext uri="{FF2B5EF4-FFF2-40B4-BE49-F238E27FC236}">
                <a16:creationId xmlns:a16="http://schemas.microsoft.com/office/drawing/2014/main" id="{51B8A8AE-1C3B-AAAE-63E0-2B2AA659E166}"/>
              </a:ext>
            </a:extLst>
          </p:cNvPr>
          <p:cNvSpPr/>
          <p:nvPr/>
        </p:nvSpPr>
        <p:spPr>
          <a:xfrm>
            <a:off x="609600" y="5562600"/>
            <a:ext cx="10972800" cy="55880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38100" rIns="101600" bIns="38100" rtlCol="0" anchor="ctr"/>
          <a:lstStyle/>
          <a:p>
            <a:pPr algn="ctr"/>
            <a:r>
              <a:rPr lang="es-BO" sz="1600">
                <a:solidFill>
                  <a:srgbClr val="FFFFFF"/>
                </a:solidFill>
                <a:latin typeface="Bahnschrift SemiBold" panose="020B0502040204020203" pitchFamily="34" charset="0"/>
              </a:rPr>
              <a:t>q  =  20,4 kPa</a:t>
            </a:r>
          </a:p>
        </p:txBody>
      </p:sp>
      <p:sp>
        <p:nvSpPr>
          <p:cNvPr id="95" name="CuadroTexto 94">
            <a:extLst>
              <a:ext uri="{FF2B5EF4-FFF2-40B4-BE49-F238E27FC236}">
                <a16:creationId xmlns:a16="http://schemas.microsoft.com/office/drawing/2014/main" id="{A7C1AD21-2425-CC4A-FA68-FBA67C69EB8A}"/>
              </a:ext>
            </a:extLst>
          </p:cNvPr>
          <p:cNvSpPr txBox="1"/>
          <p:nvPr/>
        </p:nvSpPr>
        <p:spPr>
          <a:xfrm>
            <a:off x="609600" y="6324600"/>
            <a:ext cx="10972800" cy="152400"/>
          </a:xfrm>
          <a:prstGeom prst="rect">
            <a:avLst/>
          </a:prstGeom>
          <a:noFill/>
        </p:spPr>
        <p:txBody>
          <a:bodyPr vert="horz" wrap="square" lIns="0" tIns="0" rIns="0" bIns="0" rtlCol="0" anchor="t">
            <a:noAutofit/>
          </a:bodyPr>
          <a:lstStyle/>
          <a:p>
            <a:pPr algn="l"/>
            <a:r>
              <a:rPr lang="es-MX" sz="700">
                <a:solidFill>
                  <a:srgbClr val="938A7C"/>
                </a:solidFill>
                <a:latin typeface="Segoe UI" panose="020B0502040204020203" pitchFamily="34" charset="0"/>
              </a:rPr>
              <a:t>Fuente: Estudio de suelos original; comprobación de profundidad en cata, 2026.</a:t>
            </a:r>
            <a:endParaRPr lang="es-BO" sz="700">
              <a:solidFill>
                <a:srgbClr val="938A7C"/>
              </a:solidFill>
              <a:latin typeface="Segoe UI" panose="020B0502040204020203" pitchFamily="34" charset="0"/>
            </a:endParaRPr>
          </a:p>
        </p:txBody>
      </p:sp>
      <p:cxnSp>
        <p:nvCxnSpPr>
          <p:cNvPr id="96" name="Conector recto 95">
            <a:extLst>
              <a:ext uri="{FF2B5EF4-FFF2-40B4-BE49-F238E27FC236}">
                <a16:creationId xmlns:a16="http://schemas.microsoft.com/office/drawing/2014/main" id="{D78D9C45-0BCD-62DF-2D0D-775E5FBBE6B4}"/>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97" name="CuadroTexto 96">
            <a:extLst>
              <a:ext uri="{FF2B5EF4-FFF2-40B4-BE49-F238E27FC236}">
                <a16:creationId xmlns:a16="http://schemas.microsoft.com/office/drawing/2014/main" id="{25C17710-E233-AD0F-1375-C6F26FCB7DA2}"/>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98" name="CuadroTexto 97">
            <a:extLst>
              <a:ext uri="{FF2B5EF4-FFF2-40B4-BE49-F238E27FC236}">
                <a16:creationId xmlns:a16="http://schemas.microsoft.com/office/drawing/2014/main" id="{35B92DB1-1A33-0D55-71AD-FB432C699D06}"/>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99" name="PageNo">
            <a:extLst>
              <a:ext uri="{FF2B5EF4-FFF2-40B4-BE49-F238E27FC236}">
                <a16:creationId xmlns:a16="http://schemas.microsoft.com/office/drawing/2014/main" id="{F1893439-AB4A-9D2F-470C-437626D8BAAA}"/>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25 / 38</a:t>
            </a:r>
          </a:p>
        </p:txBody>
      </p:sp>
    </p:spTree>
    <p:custDataLst>
      <p:tags r:id="rId1"/>
    </p:custDataLst>
    <p:extLst>
      <p:ext uri="{BB962C8B-B14F-4D97-AF65-F5344CB8AC3E}">
        <p14:creationId xmlns:p14="http://schemas.microsoft.com/office/powerpoint/2010/main" val="2205203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4"/>
                                        </p:tgtEl>
                                        <p:attrNameLst>
                                          <p:attrName>style.visibility</p:attrName>
                                        </p:attrNameLst>
                                      </p:cBhvr>
                                      <p:to>
                                        <p:strVal val="visible"/>
                                      </p:to>
                                    </p:set>
                                    <p:animEffect transition="in" filter="fade">
                                      <p:cBhvr>
                                        <p:cTn id="7" dur="400"/>
                                        <p:tgtEl>
                                          <p:spTgt spid="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E882E068-1622-4679-C972-4BD2B4C52A5A}"/>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MX" sz="900" spc="180">
                <a:solidFill>
                  <a:srgbClr val="6A4F20"/>
                </a:solidFill>
                <a:latin typeface="Segoe UI Semibold" panose="020B0702040204020203" pitchFamily="34" charset="0"/>
              </a:rPr>
              <a:t>CASO 7  ·  PASO 2 DE 8</a:t>
            </a:r>
            <a:endParaRPr lang="es-BO" sz="900" spc="180">
              <a:solidFill>
                <a:srgbClr val="6A4F20"/>
              </a:solidFill>
              <a:latin typeface="Segoe UI Semibold" panose="020B0702040204020203" pitchFamily="34" charset="0"/>
            </a:endParaRPr>
          </a:p>
        </p:txBody>
      </p:sp>
      <p:sp>
        <p:nvSpPr>
          <p:cNvPr id="3" name="Title">
            <a:extLst>
              <a:ext uri="{FF2B5EF4-FFF2-40B4-BE49-F238E27FC236}">
                <a16:creationId xmlns:a16="http://schemas.microsoft.com/office/drawing/2014/main" id="{091AA77D-DF6D-3FBA-C6F8-CB6EB9C1514E}"/>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Los tres sumandos de la carga de hundimiento</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D93CA45A-6104-C048-A3EB-8A181A2AC7DF}"/>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6" name="CuadroTexto 5">
            <a:extLst>
              <a:ext uri="{FF2B5EF4-FFF2-40B4-BE49-F238E27FC236}">
                <a16:creationId xmlns:a16="http://schemas.microsoft.com/office/drawing/2014/main" id="{9842CE4A-BBD8-E660-FB2E-5992ACC77FE6}"/>
              </a:ext>
            </a:extLst>
          </p:cNvPr>
          <p:cNvSpPr txBox="1"/>
          <p:nvPr/>
        </p:nvSpPr>
        <p:spPr>
          <a:xfrm>
            <a:off x="609600" y="1270000"/>
            <a:ext cx="10972800" cy="228600"/>
          </a:xfrm>
          <a:prstGeom prst="rect">
            <a:avLst/>
          </a:prstGeom>
          <a:noFill/>
        </p:spPr>
        <p:txBody>
          <a:bodyPr vert="horz" wrap="square" lIns="0" tIns="0" rIns="0" bIns="0" rtlCol="0" anchor="t">
            <a:noAutofit/>
          </a:bodyPr>
          <a:lstStyle/>
          <a:p>
            <a:pPr algn="ctr"/>
            <a:r>
              <a:rPr lang="es-MX" sz="1150">
                <a:solidFill>
                  <a:srgbClr val="6A4F20"/>
                </a:solidFill>
                <a:latin typeface="Segoe UI Semibold" panose="020B0702040204020203" pitchFamily="34" charset="0"/>
              </a:rPr>
              <a:t>¿Con cuánta presión se hundiría este terreno? Tres sumandos, y uno pesa el setenta y ocho por ciento.</a:t>
            </a:r>
            <a:endParaRPr lang="es-BO" sz="1150">
              <a:solidFill>
                <a:srgbClr val="6A4F20"/>
              </a:solidFill>
              <a:latin typeface="Segoe UI Semibold" panose="020B0702040204020203" pitchFamily="34" charset="0"/>
            </a:endParaRPr>
          </a:p>
        </p:txBody>
      </p:sp>
      <p:sp>
        <p:nvSpPr>
          <p:cNvPr id="7" name="Rectángulo 6">
            <a:extLst>
              <a:ext uri="{FF2B5EF4-FFF2-40B4-BE49-F238E27FC236}">
                <a16:creationId xmlns:a16="http://schemas.microsoft.com/office/drawing/2014/main" id="{3471F738-B7AB-5960-EF75-237349A93BE9}"/>
              </a:ext>
            </a:extLst>
          </p:cNvPr>
          <p:cNvSpPr/>
          <p:nvPr/>
        </p:nvSpPr>
        <p:spPr>
          <a:xfrm>
            <a:off x="609600" y="1549400"/>
            <a:ext cx="10972800" cy="558800"/>
          </a:xfrm>
          <a:prstGeom prst="rect">
            <a:avLst/>
          </a:prstGeom>
          <a:solidFill>
            <a:srgbClr val="1C181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38100" rIns="101600" bIns="38100" rtlCol="0" anchor="ctr"/>
          <a:lstStyle/>
          <a:p>
            <a:pPr algn="ctr"/>
            <a:r>
              <a:rPr lang="pt-BR" sz="1700">
                <a:solidFill>
                  <a:srgbClr val="FFFFFF"/>
                </a:solidFill>
                <a:latin typeface="Bahnschrift SemiBold" panose="020B0502040204020203" pitchFamily="34" charset="0"/>
              </a:rPr>
              <a:t>q_u  =  1,3 · c · N_c   +   q · N_q   +   0,4 · γ · B · N_γ</a:t>
            </a:r>
            <a:endParaRPr lang="es-BO" sz="1700">
              <a:solidFill>
                <a:srgbClr val="FFFFFF"/>
              </a:solidFill>
              <a:latin typeface="Bahnschrift SemiBold" panose="020B0502040204020203" pitchFamily="34" charset="0"/>
            </a:endParaRPr>
          </a:p>
        </p:txBody>
      </p:sp>
      <p:sp>
        <p:nvSpPr>
          <p:cNvPr id="9" name="CuadroTexto 8">
            <a:extLst>
              <a:ext uri="{FF2B5EF4-FFF2-40B4-BE49-F238E27FC236}">
                <a16:creationId xmlns:a16="http://schemas.microsoft.com/office/drawing/2014/main" id="{22ABBEE3-603A-532B-8F89-83068F608C67}"/>
              </a:ext>
            </a:extLst>
          </p:cNvPr>
          <p:cNvSpPr txBox="1"/>
          <p:nvPr/>
        </p:nvSpPr>
        <p:spPr>
          <a:xfrm>
            <a:off x="736600" y="2209800"/>
            <a:ext cx="5080000" cy="152400"/>
          </a:xfrm>
          <a:prstGeom prst="rect">
            <a:avLst/>
          </a:prstGeom>
          <a:noFill/>
        </p:spPr>
        <p:txBody>
          <a:bodyPr vert="horz" wrap="square" lIns="0" tIns="0" rIns="0" bIns="0" rtlCol="0" anchor="t">
            <a:noAutofit/>
          </a:bodyPr>
          <a:lstStyle/>
          <a:p>
            <a:r>
              <a:rPr lang="es-MX" sz="700" spc="120">
                <a:solidFill>
                  <a:srgbClr val="6A4F20"/>
                </a:solidFill>
                <a:latin typeface="Segoe UI Semibold" panose="020B0702040204020203" pitchFamily="34" charset="0"/>
              </a:rPr>
              <a:t>DE DÓNDE SALE LA FÓRMULA</a:t>
            </a:r>
            <a:endParaRPr lang="es-BO" sz="700" spc="120">
              <a:solidFill>
                <a:srgbClr val="6A4F20"/>
              </a:solidFill>
              <a:latin typeface="Segoe UI Semibold" panose="020B0702040204020203" pitchFamily="34" charset="0"/>
            </a:endParaRPr>
          </a:p>
        </p:txBody>
      </p:sp>
      <p:sp>
        <p:nvSpPr>
          <p:cNvPr id="10" name="CuadroTexto 9">
            <a:extLst>
              <a:ext uri="{FF2B5EF4-FFF2-40B4-BE49-F238E27FC236}">
                <a16:creationId xmlns:a16="http://schemas.microsoft.com/office/drawing/2014/main" id="{275CAEA8-ED8E-11FB-5682-68D124296C55}"/>
              </a:ext>
            </a:extLst>
          </p:cNvPr>
          <p:cNvSpPr txBox="1"/>
          <p:nvPr/>
        </p:nvSpPr>
        <p:spPr>
          <a:xfrm>
            <a:off x="736600" y="2374900"/>
            <a:ext cx="10845800" cy="406400"/>
          </a:xfrm>
          <a:prstGeom prst="rect">
            <a:avLst/>
          </a:prstGeom>
          <a:noFill/>
        </p:spPr>
        <p:txBody>
          <a:bodyPr vert="horz" wrap="square" lIns="0" tIns="0" rIns="0" bIns="0" rtlCol="0" anchor="t">
            <a:noAutofit/>
          </a:bodyPr>
          <a:lstStyle/>
          <a:p>
            <a:pPr algn="l"/>
            <a:r>
              <a:rPr lang="es-MX" sz="900">
                <a:solidFill>
                  <a:srgbClr val="5A5248"/>
                </a:solidFill>
                <a:latin typeface="Segoe UI" panose="020B0502040204020203" pitchFamily="34" charset="0"/>
              </a:rPr>
              <a:t>Terzaghi (1943), para zapata cuadrada. Los tres sumandos salen del equilibrio de la cuña de suelo que se moviliza al hundirse: lo que aporta la cohesión, lo que aporta el terreno de encima y lo que aporta el ancho de la propia zapata.</a:t>
            </a:r>
            <a:endParaRPr lang="es-BO" sz="900">
              <a:solidFill>
                <a:srgbClr val="5A5248"/>
              </a:solidFill>
              <a:latin typeface="Segoe UI" panose="020B0502040204020203" pitchFamily="34" charset="0"/>
            </a:endParaRPr>
          </a:p>
        </p:txBody>
      </p:sp>
      <p:sp>
        <p:nvSpPr>
          <p:cNvPr id="11" name="CuadroTexto 10">
            <a:extLst>
              <a:ext uri="{FF2B5EF4-FFF2-40B4-BE49-F238E27FC236}">
                <a16:creationId xmlns:a16="http://schemas.microsoft.com/office/drawing/2014/main" id="{ADDD26E1-5A37-FCF1-ED7A-26A4550F0946}"/>
              </a:ext>
            </a:extLst>
          </p:cNvPr>
          <p:cNvSpPr txBox="1"/>
          <p:nvPr/>
        </p:nvSpPr>
        <p:spPr>
          <a:xfrm>
            <a:off x="609600" y="2844800"/>
            <a:ext cx="3581400" cy="152400"/>
          </a:xfrm>
          <a:prstGeom prst="rect">
            <a:avLst/>
          </a:prstGeom>
          <a:noFill/>
        </p:spPr>
        <p:txBody>
          <a:bodyPr vert="horz" wrap="square" lIns="0" tIns="0" rIns="0" bIns="0" rtlCol="0" anchor="t">
            <a:noAutofit/>
          </a:bodyPr>
          <a:lstStyle/>
          <a:p>
            <a:pPr algn="l"/>
            <a:r>
              <a:rPr lang="es-BO" sz="700">
                <a:solidFill>
                  <a:srgbClr val="6A4F20"/>
                </a:solidFill>
                <a:latin typeface="Segoe UI Semibold" panose="020B0702040204020203" pitchFamily="34" charset="0"/>
              </a:rPr>
              <a:t>LOS DATOS QUE ENTRAN</a:t>
            </a:r>
          </a:p>
        </p:txBody>
      </p:sp>
      <p:sp>
        <p:nvSpPr>
          <p:cNvPr id="13" name="CuadroTexto 12">
            <a:extLst>
              <a:ext uri="{FF2B5EF4-FFF2-40B4-BE49-F238E27FC236}">
                <a16:creationId xmlns:a16="http://schemas.microsoft.com/office/drawing/2014/main" id="{6D19EE93-CB64-FD9D-E0EC-DDD8BE0CF130}"/>
              </a:ext>
            </a:extLst>
          </p:cNvPr>
          <p:cNvSpPr txBox="1"/>
          <p:nvPr/>
        </p:nvSpPr>
        <p:spPr>
          <a:xfrm>
            <a:off x="762000" y="3048000"/>
            <a:ext cx="3429000" cy="165100"/>
          </a:xfrm>
          <a:prstGeom prst="rect">
            <a:avLst/>
          </a:prstGeom>
          <a:noFill/>
        </p:spPr>
        <p:txBody>
          <a:bodyPr vert="horz" wrap="square" lIns="0" tIns="0" rIns="0" bIns="0" rtlCol="0" anchor="t">
            <a:noAutofit/>
          </a:bodyPr>
          <a:lstStyle/>
          <a:p>
            <a:pPr algn="l"/>
            <a:r>
              <a:rPr lang="es-BO" sz="1000">
                <a:solidFill>
                  <a:srgbClr val="1C1813"/>
                </a:solidFill>
                <a:latin typeface="Segoe UI Semibold" panose="020B0702040204020203" pitchFamily="34" charset="0"/>
              </a:rPr>
              <a:t>c = 25 kPa</a:t>
            </a:r>
          </a:p>
        </p:txBody>
      </p:sp>
      <p:sp>
        <p:nvSpPr>
          <p:cNvPr id="14" name="CuadroTexto 13">
            <a:extLst>
              <a:ext uri="{FF2B5EF4-FFF2-40B4-BE49-F238E27FC236}">
                <a16:creationId xmlns:a16="http://schemas.microsoft.com/office/drawing/2014/main" id="{CE3E012B-EB82-0A93-9DFB-75DEEAFF995A}"/>
              </a:ext>
            </a:extLst>
          </p:cNvPr>
          <p:cNvSpPr txBox="1"/>
          <p:nvPr/>
        </p:nvSpPr>
        <p:spPr>
          <a:xfrm>
            <a:off x="762000" y="3213100"/>
            <a:ext cx="3429000" cy="165100"/>
          </a:xfrm>
          <a:prstGeom prst="rect">
            <a:avLst/>
          </a:prstGeom>
          <a:noFill/>
        </p:spPr>
        <p:txBody>
          <a:bodyPr vert="horz" wrap="square" lIns="0" tIns="0" rIns="0" bIns="0" rtlCol="0" anchor="t">
            <a:noAutofit/>
          </a:bodyPr>
          <a:lstStyle/>
          <a:p>
            <a:pPr algn="l"/>
            <a:r>
              <a:rPr lang="es-MX" sz="850">
                <a:solidFill>
                  <a:srgbClr val="5A5248"/>
                </a:solidFill>
                <a:latin typeface="Segoe UI" panose="020B0502040204020203" pitchFamily="34" charset="0"/>
              </a:rPr>
              <a:t>Cohesión del terreno, del estudio de suelos.</a:t>
            </a:r>
            <a:endParaRPr lang="es-BO" sz="850">
              <a:solidFill>
                <a:srgbClr val="5A5248"/>
              </a:solidFill>
              <a:latin typeface="Segoe UI" panose="020B0502040204020203" pitchFamily="34" charset="0"/>
            </a:endParaRPr>
          </a:p>
        </p:txBody>
      </p:sp>
      <p:sp>
        <p:nvSpPr>
          <p:cNvPr id="16" name="CuadroTexto 15">
            <a:extLst>
              <a:ext uri="{FF2B5EF4-FFF2-40B4-BE49-F238E27FC236}">
                <a16:creationId xmlns:a16="http://schemas.microsoft.com/office/drawing/2014/main" id="{BE2CB2A7-C053-647D-7BC2-22B00AD2F6C5}"/>
              </a:ext>
            </a:extLst>
          </p:cNvPr>
          <p:cNvSpPr txBox="1"/>
          <p:nvPr/>
        </p:nvSpPr>
        <p:spPr>
          <a:xfrm>
            <a:off x="762000" y="3517900"/>
            <a:ext cx="3429000" cy="165100"/>
          </a:xfrm>
          <a:prstGeom prst="rect">
            <a:avLst/>
          </a:prstGeom>
          <a:noFill/>
        </p:spPr>
        <p:txBody>
          <a:bodyPr vert="horz" wrap="square" lIns="0" tIns="0" rIns="0" bIns="0" rtlCol="0" anchor="t">
            <a:noAutofit/>
          </a:bodyPr>
          <a:lstStyle/>
          <a:p>
            <a:pPr algn="l"/>
            <a:r>
              <a:rPr lang="el-GR" sz="1000">
                <a:solidFill>
                  <a:srgbClr val="1C1813"/>
                </a:solidFill>
                <a:latin typeface="Segoe UI Semibold" panose="020B0702040204020203" pitchFamily="34" charset="0"/>
              </a:rPr>
              <a:t>φ = 15°</a:t>
            </a:r>
            <a:endParaRPr lang="es-BO" sz="1000">
              <a:solidFill>
                <a:srgbClr val="1C1813"/>
              </a:solidFill>
              <a:latin typeface="Segoe UI Semibold" panose="020B0702040204020203" pitchFamily="34" charset="0"/>
            </a:endParaRPr>
          </a:p>
        </p:txBody>
      </p:sp>
      <p:sp>
        <p:nvSpPr>
          <p:cNvPr id="17" name="CuadroTexto 16">
            <a:extLst>
              <a:ext uri="{FF2B5EF4-FFF2-40B4-BE49-F238E27FC236}">
                <a16:creationId xmlns:a16="http://schemas.microsoft.com/office/drawing/2014/main" id="{FBCA9DBB-36C2-FDC8-A7AA-6EF79DB2D912}"/>
              </a:ext>
            </a:extLst>
          </p:cNvPr>
          <p:cNvSpPr txBox="1"/>
          <p:nvPr/>
        </p:nvSpPr>
        <p:spPr>
          <a:xfrm>
            <a:off x="762000" y="3683000"/>
            <a:ext cx="3429000" cy="165100"/>
          </a:xfrm>
          <a:prstGeom prst="rect">
            <a:avLst/>
          </a:prstGeom>
          <a:noFill/>
        </p:spPr>
        <p:txBody>
          <a:bodyPr vert="horz" wrap="square" lIns="0" tIns="0" rIns="0" bIns="0" rtlCol="0" anchor="t">
            <a:noAutofit/>
          </a:bodyPr>
          <a:lstStyle/>
          <a:p>
            <a:pPr algn="l"/>
            <a:r>
              <a:rPr lang="es-MX" sz="850">
                <a:solidFill>
                  <a:srgbClr val="5A5248"/>
                </a:solidFill>
                <a:latin typeface="Segoe UI" panose="020B0502040204020203" pitchFamily="34" charset="0"/>
              </a:rPr>
              <a:t>Rozamiento interno. Con él se entra en las tablas.</a:t>
            </a:r>
            <a:endParaRPr lang="es-BO" sz="850">
              <a:solidFill>
                <a:srgbClr val="5A5248"/>
              </a:solidFill>
              <a:latin typeface="Segoe UI" panose="020B0502040204020203" pitchFamily="34" charset="0"/>
            </a:endParaRPr>
          </a:p>
        </p:txBody>
      </p:sp>
      <p:sp>
        <p:nvSpPr>
          <p:cNvPr id="19" name="CuadroTexto 18">
            <a:extLst>
              <a:ext uri="{FF2B5EF4-FFF2-40B4-BE49-F238E27FC236}">
                <a16:creationId xmlns:a16="http://schemas.microsoft.com/office/drawing/2014/main" id="{566958C8-0579-5A25-A6EC-5FBB20BC4108}"/>
              </a:ext>
            </a:extLst>
          </p:cNvPr>
          <p:cNvSpPr txBox="1"/>
          <p:nvPr/>
        </p:nvSpPr>
        <p:spPr>
          <a:xfrm>
            <a:off x="762000" y="3987800"/>
            <a:ext cx="3429000" cy="165100"/>
          </a:xfrm>
          <a:prstGeom prst="rect">
            <a:avLst/>
          </a:prstGeom>
          <a:noFill/>
        </p:spPr>
        <p:txBody>
          <a:bodyPr vert="horz" wrap="square" lIns="0" tIns="0" rIns="0" bIns="0" rtlCol="0" anchor="t">
            <a:noAutofit/>
          </a:bodyPr>
          <a:lstStyle/>
          <a:p>
            <a:pPr algn="l"/>
            <a:r>
              <a:rPr lang="pt-BR" sz="1000">
                <a:solidFill>
                  <a:srgbClr val="1C1813"/>
                </a:solidFill>
                <a:latin typeface="Segoe UI Semibold" panose="020B0702040204020203" pitchFamily="34" charset="0"/>
              </a:rPr>
              <a:t>N_c, N_q, N_γ</a:t>
            </a:r>
            <a:endParaRPr lang="es-BO" sz="1000">
              <a:solidFill>
                <a:srgbClr val="1C1813"/>
              </a:solidFill>
              <a:latin typeface="Segoe UI Semibold" panose="020B0702040204020203" pitchFamily="34" charset="0"/>
            </a:endParaRPr>
          </a:p>
        </p:txBody>
      </p:sp>
      <p:sp>
        <p:nvSpPr>
          <p:cNvPr id="20" name="CuadroTexto 19">
            <a:extLst>
              <a:ext uri="{FF2B5EF4-FFF2-40B4-BE49-F238E27FC236}">
                <a16:creationId xmlns:a16="http://schemas.microsoft.com/office/drawing/2014/main" id="{BBCA863A-9643-BC5D-9BC3-1B2C64597336}"/>
              </a:ext>
            </a:extLst>
          </p:cNvPr>
          <p:cNvSpPr txBox="1"/>
          <p:nvPr/>
        </p:nvSpPr>
        <p:spPr>
          <a:xfrm>
            <a:off x="762000" y="4152900"/>
            <a:ext cx="3429000" cy="165100"/>
          </a:xfrm>
          <a:prstGeom prst="rect">
            <a:avLst/>
          </a:prstGeom>
          <a:noFill/>
        </p:spPr>
        <p:txBody>
          <a:bodyPr vert="horz" wrap="square" lIns="0" tIns="0" rIns="0" bIns="0" rtlCol="0" anchor="t">
            <a:noAutofit/>
          </a:bodyPr>
          <a:lstStyle/>
          <a:p>
            <a:pPr algn="l"/>
            <a:r>
              <a:rPr lang="es-MX" sz="850">
                <a:solidFill>
                  <a:srgbClr val="5A5248"/>
                </a:solidFill>
                <a:latin typeface="Segoe UI" panose="020B0502040204020203" pitchFamily="34" charset="0"/>
              </a:rPr>
              <a:t>Factores de capacidad de carga para φ = 15°.</a:t>
            </a:r>
            <a:endParaRPr lang="es-BO" sz="850">
              <a:solidFill>
                <a:srgbClr val="5A5248"/>
              </a:solidFill>
              <a:latin typeface="Segoe UI" panose="020B0502040204020203" pitchFamily="34" charset="0"/>
            </a:endParaRPr>
          </a:p>
        </p:txBody>
      </p:sp>
      <p:sp>
        <p:nvSpPr>
          <p:cNvPr id="22" name="CuadroTexto 21">
            <a:extLst>
              <a:ext uri="{FF2B5EF4-FFF2-40B4-BE49-F238E27FC236}">
                <a16:creationId xmlns:a16="http://schemas.microsoft.com/office/drawing/2014/main" id="{4A7F7EA3-3FAB-1D8D-62B2-48F8DF564222}"/>
              </a:ext>
            </a:extLst>
          </p:cNvPr>
          <p:cNvSpPr txBox="1"/>
          <p:nvPr/>
        </p:nvSpPr>
        <p:spPr>
          <a:xfrm>
            <a:off x="762000" y="4457700"/>
            <a:ext cx="3429000" cy="165100"/>
          </a:xfrm>
          <a:prstGeom prst="rect">
            <a:avLst/>
          </a:prstGeom>
          <a:noFill/>
        </p:spPr>
        <p:txBody>
          <a:bodyPr vert="horz" wrap="square" lIns="0" tIns="0" rIns="0" bIns="0" rtlCol="0" anchor="t">
            <a:noAutofit/>
          </a:bodyPr>
          <a:lstStyle/>
          <a:p>
            <a:pPr algn="l"/>
            <a:r>
              <a:rPr lang="es-BO" sz="1000">
                <a:solidFill>
                  <a:srgbClr val="1C1813"/>
                </a:solidFill>
                <a:latin typeface="Segoe UI Semibold" panose="020B0702040204020203" pitchFamily="34" charset="0"/>
              </a:rPr>
              <a:t>B = 1,80 m</a:t>
            </a:r>
          </a:p>
        </p:txBody>
      </p:sp>
      <p:sp>
        <p:nvSpPr>
          <p:cNvPr id="23" name="CuadroTexto 22">
            <a:extLst>
              <a:ext uri="{FF2B5EF4-FFF2-40B4-BE49-F238E27FC236}">
                <a16:creationId xmlns:a16="http://schemas.microsoft.com/office/drawing/2014/main" id="{E3D678D0-226A-14D5-FB4E-C508DD5C8F33}"/>
              </a:ext>
            </a:extLst>
          </p:cNvPr>
          <p:cNvSpPr txBox="1"/>
          <p:nvPr/>
        </p:nvSpPr>
        <p:spPr>
          <a:xfrm>
            <a:off x="762000" y="4622800"/>
            <a:ext cx="3429000" cy="165100"/>
          </a:xfrm>
          <a:prstGeom prst="rect">
            <a:avLst/>
          </a:prstGeom>
          <a:noFill/>
        </p:spPr>
        <p:txBody>
          <a:bodyPr vert="horz" wrap="square" lIns="0" tIns="0" rIns="0" bIns="0" rtlCol="0" anchor="t">
            <a:noAutofit/>
          </a:bodyPr>
          <a:lstStyle/>
          <a:p>
            <a:pPr algn="l"/>
            <a:r>
              <a:rPr lang="es-MX" sz="850">
                <a:solidFill>
                  <a:srgbClr val="5A5248"/>
                </a:solidFill>
                <a:latin typeface="Segoe UI" panose="020B0502040204020203" pitchFamily="34" charset="0"/>
              </a:rPr>
              <a:t>Lado de la zapata existente, medido en la cata.</a:t>
            </a:r>
            <a:endParaRPr lang="es-BO" sz="850">
              <a:solidFill>
                <a:srgbClr val="5A5248"/>
              </a:solidFill>
              <a:latin typeface="Segoe UI" panose="020B0502040204020203" pitchFamily="34" charset="0"/>
            </a:endParaRPr>
          </a:p>
        </p:txBody>
      </p:sp>
      <p:sp>
        <p:nvSpPr>
          <p:cNvPr id="24" name="CuadroTexto 23">
            <a:extLst>
              <a:ext uri="{FF2B5EF4-FFF2-40B4-BE49-F238E27FC236}">
                <a16:creationId xmlns:a16="http://schemas.microsoft.com/office/drawing/2014/main" id="{878664B7-C987-733C-06A5-E77B48FB6E08}"/>
              </a:ext>
            </a:extLst>
          </p:cNvPr>
          <p:cNvSpPr txBox="1"/>
          <p:nvPr/>
        </p:nvSpPr>
        <p:spPr>
          <a:xfrm>
            <a:off x="4495800" y="2844800"/>
            <a:ext cx="3429000" cy="152400"/>
          </a:xfrm>
          <a:prstGeom prst="rect">
            <a:avLst/>
          </a:prstGeom>
          <a:noFill/>
        </p:spPr>
        <p:txBody>
          <a:bodyPr vert="horz" wrap="square" lIns="0" tIns="0" rIns="0" bIns="0" rtlCol="0" anchor="t">
            <a:noAutofit/>
          </a:bodyPr>
          <a:lstStyle/>
          <a:p>
            <a:pPr algn="l"/>
            <a:r>
              <a:rPr lang="es-MX" sz="700">
                <a:solidFill>
                  <a:srgbClr val="6A4F20"/>
                </a:solidFill>
                <a:latin typeface="Segoe UI Semibold" panose="020B0702040204020203" pitchFamily="34" charset="0"/>
              </a:rPr>
              <a:t>LA CUENTA, PASO A PASO</a:t>
            </a:r>
            <a:endParaRPr lang="es-BO" sz="700">
              <a:solidFill>
                <a:srgbClr val="6A4F20"/>
              </a:solidFill>
              <a:latin typeface="Segoe UI Semibold" panose="020B0702040204020203" pitchFamily="34" charset="0"/>
            </a:endParaRPr>
          </a:p>
        </p:txBody>
      </p:sp>
      <p:sp>
        <p:nvSpPr>
          <p:cNvPr id="25" name="Rectángulo 24">
            <a:extLst>
              <a:ext uri="{FF2B5EF4-FFF2-40B4-BE49-F238E27FC236}">
                <a16:creationId xmlns:a16="http://schemas.microsoft.com/office/drawing/2014/main" id="{9DED7470-6DBE-E108-33CE-01D9DF88BF35}"/>
              </a:ext>
            </a:extLst>
          </p:cNvPr>
          <p:cNvSpPr/>
          <p:nvPr/>
        </p:nvSpPr>
        <p:spPr>
          <a:xfrm>
            <a:off x="4495800" y="3048000"/>
            <a:ext cx="3429000" cy="18796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6" name="CuadroTexto 25">
            <a:extLst>
              <a:ext uri="{FF2B5EF4-FFF2-40B4-BE49-F238E27FC236}">
                <a16:creationId xmlns:a16="http://schemas.microsoft.com/office/drawing/2014/main" id="{3A075B54-3A7A-DBA0-E630-B8ABF1A96DED}"/>
              </a:ext>
            </a:extLst>
          </p:cNvPr>
          <p:cNvSpPr txBox="1"/>
          <p:nvPr/>
        </p:nvSpPr>
        <p:spPr>
          <a:xfrm>
            <a:off x="4648200" y="3162300"/>
            <a:ext cx="3124200" cy="292100"/>
          </a:xfrm>
          <a:prstGeom prst="rect">
            <a:avLst/>
          </a:prstGeom>
          <a:noFill/>
        </p:spPr>
        <p:txBody>
          <a:bodyPr vert="horz" wrap="square" lIns="0" tIns="0" rIns="0" bIns="0" rtlCol="0" anchor="t">
            <a:noAutofit/>
          </a:bodyPr>
          <a:lstStyle/>
          <a:p>
            <a:pPr algn="l"/>
            <a:r>
              <a:rPr lang="es-BO" sz="1150">
                <a:solidFill>
                  <a:srgbClr val="241F18"/>
                </a:solidFill>
                <a:latin typeface="Segoe UI" panose="020B0502040204020203" pitchFamily="34" charset="0"/>
              </a:rPr>
              <a:t>1er término = 1,3 × 25 × 12,86 = 417,95 kPa</a:t>
            </a:r>
          </a:p>
        </p:txBody>
      </p:sp>
      <p:sp>
        <p:nvSpPr>
          <p:cNvPr id="27" name="CuadroTexto 26">
            <a:extLst>
              <a:ext uri="{FF2B5EF4-FFF2-40B4-BE49-F238E27FC236}">
                <a16:creationId xmlns:a16="http://schemas.microsoft.com/office/drawing/2014/main" id="{FC6E60F1-364A-8CB2-B030-4F9EA33CD57E}"/>
              </a:ext>
            </a:extLst>
          </p:cNvPr>
          <p:cNvSpPr txBox="1"/>
          <p:nvPr/>
        </p:nvSpPr>
        <p:spPr>
          <a:xfrm>
            <a:off x="4648200" y="3479800"/>
            <a:ext cx="3124200" cy="292100"/>
          </a:xfrm>
          <a:prstGeom prst="rect">
            <a:avLst/>
          </a:prstGeom>
          <a:noFill/>
        </p:spPr>
        <p:txBody>
          <a:bodyPr vert="horz" wrap="square" lIns="0" tIns="0" rIns="0" bIns="0" rtlCol="0" anchor="t">
            <a:noAutofit/>
          </a:bodyPr>
          <a:lstStyle/>
          <a:p>
            <a:pPr algn="l"/>
            <a:r>
              <a:rPr lang="es-MX" sz="1150">
                <a:solidFill>
                  <a:srgbClr val="241F18"/>
                </a:solidFill>
                <a:latin typeface="Segoe UI" panose="020B0502040204020203" pitchFamily="34" charset="0"/>
              </a:rPr>
              <a:t>2º  término = 20,4 × 4,45 = 90,78 kPa</a:t>
            </a:r>
            <a:endParaRPr lang="es-BO" sz="1150">
              <a:solidFill>
                <a:srgbClr val="241F18"/>
              </a:solidFill>
              <a:latin typeface="Segoe UI" panose="020B0502040204020203" pitchFamily="34" charset="0"/>
            </a:endParaRPr>
          </a:p>
        </p:txBody>
      </p:sp>
      <p:sp>
        <p:nvSpPr>
          <p:cNvPr id="28" name="CuadroTexto 27">
            <a:extLst>
              <a:ext uri="{FF2B5EF4-FFF2-40B4-BE49-F238E27FC236}">
                <a16:creationId xmlns:a16="http://schemas.microsoft.com/office/drawing/2014/main" id="{588872E0-079D-C5C9-CFEB-33A6BF3FAB95}"/>
              </a:ext>
            </a:extLst>
          </p:cNvPr>
          <p:cNvSpPr txBox="1"/>
          <p:nvPr/>
        </p:nvSpPr>
        <p:spPr>
          <a:xfrm>
            <a:off x="4648200" y="3797300"/>
            <a:ext cx="3124200" cy="292100"/>
          </a:xfrm>
          <a:prstGeom prst="rect">
            <a:avLst/>
          </a:prstGeom>
          <a:noFill/>
        </p:spPr>
        <p:txBody>
          <a:bodyPr vert="horz" wrap="square" lIns="0" tIns="0" rIns="0" bIns="0" rtlCol="0" anchor="t">
            <a:noAutofit/>
          </a:bodyPr>
          <a:lstStyle/>
          <a:p>
            <a:pPr algn="l"/>
            <a:r>
              <a:rPr lang="es-MX" sz="1150">
                <a:solidFill>
                  <a:srgbClr val="241F18"/>
                </a:solidFill>
                <a:latin typeface="Segoe UI" panose="020B0502040204020203" pitchFamily="34" charset="0"/>
              </a:rPr>
              <a:t>3er término = 0,4 × 17 × 1,80 × 2,17 = 26,56</a:t>
            </a:r>
            <a:endParaRPr lang="es-BO" sz="1150">
              <a:solidFill>
                <a:srgbClr val="241F18"/>
              </a:solidFill>
              <a:latin typeface="Segoe UI" panose="020B0502040204020203" pitchFamily="34" charset="0"/>
            </a:endParaRPr>
          </a:p>
        </p:txBody>
      </p:sp>
      <p:sp>
        <p:nvSpPr>
          <p:cNvPr id="29" name="CuadroTexto 28">
            <a:extLst>
              <a:ext uri="{FF2B5EF4-FFF2-40B4-BE49-F238E27FC236}">
                <a16:creationId xmlns:a16="http://schemas.microsoft.com/office/drawing/2014/main" id="{61650DCD-CCD8-930B-B27F-A7ECA3BEF9C4}"/>
              </a:ext>
            </a:extLst>
          </p:cNvPr>
          <p:cNvSpPr txBox="1"/>
          <p:nvPr/>
        </p:nvSpPr>
        <p:spPr>
          <a:xfrm>
            <a:off x="4648200" y="4114800"/>
            <a:ext cx="3124200" cy="292100"/>
          </a:xfrm>
          <a:prstGeom prst="rect">
            <a:avLst/>
          </a:prstGeom>
          <a:noFill/>
        </p:spPr>
        <p:txBody>
          <a:bodyPr vert="horz" wrap="square" lIns="0" tIns="0" rIns="0" bIns="0" rtlCol="0" anchor="t">
            <a:noAutofit/>
          </a:bodyPr>
          <a:lstStyle/>
          <a:p>
            <a:endParaRPr lang="es-BO" sz="1150">
              <a:solidFill>
                <a:srgbClr val="241F18"/>
              </a:solidFill>
              <a:latin typeface="Segoe UI" panose="020B0502040204020203" pitchFamily="34" charset="0"/>
            </a:endParaRPr>
          </a:p>
        </p:txBody>
      </p:sp>
      <p:sp>
        <p:nvSpPr>
          <p:cNvPr id="30" name="CuadroTexto 29">
            <a:extLst>
              <a:ext uri="{FF2B5EF4-FFF2-40B4-BE49-F238E27FC236}">
                <a16:creationId xmlns:a16="http://schemas.microsoft.com/office/drawing/2014/main" id="{990FE649-C905-5510-DE2F-3D8106E4252B}"/>
              </a:ext>
            </a:extLst>
          </p:cNvPr>
          <p:cNvSpPr txBox="1"/>
          <p:nvPr/>
        </p:nvSpPr>
        <p:spPr>
          <a:xfrm>
            <a:off x="4648200" y="4432300"/>
            <a:ext cx="3124200" cy="292100"/>
          </a:xfrm>
          <a:prstGeom prst="rect">
            <a:avLst/>
          </a:prstGeom>
          <a:noFill/>
        </p:spPr>
        <p:txBody>
          <a:bodyPr vert="horz" wrap="square" lIns="0" tIns="0" rIns="0" bIns="0" rtlCol="0" anchor="t">
            <a:noAutofit/>
          </a:bodyPr>
          <a:lstStyle/>
          <a:p>
            <a:pPr algn="l"/>
            <a:r>
              <a:rPr lang="pl-PL" sz="1150">
                <a:solidFill>
                  <a:srgbClr val="241F18"/>
                </a:solidFill>
                <a:latin typeface="Segoe UI" panose="020B0502040204020203" pitchFamily="34" charset="0"/>
              </a:rPr>
              <a:t>q_u  =  417,95 + 90,78 + 26,56</a:t>
            </a:r>
            <a:endParaRPr lang="es-BO" sz="1150">
              <a:solidFill>
                <a:srgbClr val="241F18"/>
              </a:solidFill>
              <a:latin typeface="Segoe UI" panose="020B0502040204020203" pitchFamily="34" charset="0"/>
            </a:endParaRPr>
          </a:p>
        </p:txBody>
      </p:sp>
      <p:pic>
        <p:nvPicPr>
          <p:cNvPr id="55" name="Diagrama del paso" descr="Paso 2: reparto de la carga de hundimiento, 78 % cohesión, 17 % profundidad y 5 % ancho"/>
          <p:cNvPicPr>
            <a:picLocks noChangeAspect="1"/>
          </p:cNvPicPr>
          <p:nvPr/>
        </p:nvPicPr>
        <p:blipFill>
          <a:blip r:embed="rId100"/>
          <a:stretch>
            <a:fillRect/>
          </a:stretch>
        </p:blipFill>
        <p:spPr>
          <a:xfrm>
            <a:off x="8229600" y="3044952"/>
            <a:ext cx="3355848" cy="1883664"/>
          </a:xfrm>
          <a:prstGeom prst="rect">
            <a:avLst/>
          </a:prstGeom>
        </p:spPr>
      </p:pic>
      <p:sp>
        <p:nvSpPr>
          <p:cNvPr id="47" name="CuadroTexto 46">
            <a:extLst>
              <a:ext uri="{FF2B5EF4-FFF2-40B4-BE49-F238E27FC236}">
                <a16:creationId xmlns:a16="http://schemas.microsoft.com/office/drawing/2014/main" id="{58C107C2-7A60-201E-5A4A-FFE90A03708C}"/>
              </a:ext>
            </a:extLst>
          </p:cNvPr>
          <p:cNvSpPr txBox="1"/>
          <p:nvPr/>
        </p:nvSpPr>
        <p:spPr>
          <a:xfrm>
            <a:off x="736600" y="5029200"/>
            <a:ext cx="5080000" cy="152400"/>
          </a:xfrm>
          <a:prstGeom prst="rect">
            <a:avLst/>
          </a:prstGeom>
          <a:noFill/>
        </p:spPr>
        <p:txBody>
          <a:bodyPr vert="horz" wrap="square" lIns="0" tIns="0" rIns="0" bIns="0" rtlCol="0" anchor="t">
            <a:noAutofit/>
          </a:bodyPr>
          <a:lstStyle/>
          <a:p>
            <a:r>
              <a:rPr lang="es-BO" sz="700" spc="120">
                <a:solidFill>
                  <a:srgbClr val="6A4F20"/>
                </a:solidFill>
                <a:latin typeface="Segoe UI Semibold" panose="020B0702040204020203" pitchFamily="34" charset="0"/>
              </a:rPr>
              <a:t>QUÉ SIGNIFICA ESTE NÚMERO</a:t>
            </a:r>
          </a:p>
        </p:txBody>
      </p:sp>
      <p:sp>
        <p:nvSpPr>
          <p:cNvPr id="48" name="CuadroTexto 47">
            <a:extLst>
              <a:ext uri="{FF2B5EF4-FFF2-40B4-BE49-F238E27FC236}">
                <a16:creationId xmlns:a16="http://schemas.microsoft.com/office/drawing/2014/main" id="{1190EB34-DA80-BA56-378C-614E47F77780}"/>
              </a:ext>
            </a:extLst>
          </p:cNvPr>
          <p:cNvSpPr txBox="1"/>
          <p:nvPr/>
        </p:nvSpPr>
        <p:spPr>
          <a:xfrm>
            <a:off x="736600" y="5194300"/>
            <a:ext cx="10845800" cy="304800"/>
          </a:xfrm>
          <a:prstGeom prst="rect">
            <a:avLst/>
          </a:prstGeom>
          <a:noFill/>
        </p:spPr>
        <p:txBody>
          <a:bodyPr vert="horz" wrap="square" lIns="0" tIns="0" rIns="0" bIns="0" rtlCol="0" anchor="t">
            <a:noAutofit/>
          </a:bodyPr>
          <a:lstStyle/>
          <a:p>
            <a:pPr algn="l"/>
            <a:r>
              <a:rPr lang="es-MX" sz="1050">
                <a:solidFill>
                  <a:srgbClr val="5A5248"/>
                </a:solidFill>
                <a:latin typeface="Segoe UI" panose="020B0502040204020203" pitchFamily="34" charset="0"/>
              </a:rPr>
              <a:t>El 1,3 del primer término es el factor de forma de la zapata cuadrada.</a:t>
            </a:r>
            <a:endParaRPr lang="es-BO" sz="1050">
              <a:solidFill>
                <a:srgbClr val="5A5248"/>
              </a:solidFill>
              <a:latin typeface="Segoe UI" panose="020B0502040204020203" pitchFamily="34" charset="0"/>
            </a:endParaRPr>
          </a:p>
        </p:txBody>
      </p:sp>
      <p:sp>
        <p:nvSpPr>
          <p:cNvPr id="49" name="Resultado_1">
            <a:extLst>
              <a:ext uri="{FF2B5EF4-FFF2-40B4-BE49-F238E27FC236}">
                <a16:creationId xmlns:a16="http://schemas.microsoft.com/office/drawing/2014/main" id="{EA1B7101-C1F8-5024-4F66-5C6725AC508C}"/>
              </a:ext>
            </a:extLst>
          </p:cNvPr>
          <p:cNvSpPr/>
          <p:nvPr/>
        </p:nvSpPr>
        <p:spPr>
          <a:xfrm>
            <a:off x="609600" y="5562600"/>
            <a:ext cx="10972800" cy="55880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38100" rIns="101600" bIns="38100" rtlCol="0" anchor="ctr"/>
          <a:lstStyle/>
          <a:p>
            <a:pPr algn="ctr"/>
            <a:r>
              <a:rPr lang="es-BO" sz="1600">
                <a:solidFill>
                  <a:srgbClr val="FFFFFF"/>
                </a:solidFill>
                <a:latin typeface="Bahnschrift SemiBold" panose="020B0502040204020203" pitchFamily="34" charset="0"/>
              </a:rPr>
              <a:t>q_u  =  535,3 kPa</a:t>
            </a:r>
          </a:p>
        </p:txBody>
      </p:sp>
      <p:sp>
        <p:nvSpPr>
          <p:cNvPr id="50" name="CuadroTexto 49">
            <a:extLst>
              <a:ext uri="{FF2B5EF4-FFF2-40B4-BE49-F238E27FC236}">
                <a16:creationId xmlns:a16="http://schemas.microsoft.com/office/drawing/2014/main" id="{70C60DF8-3C7C-1D50-A6A8-B57827DE79DB}"/>
              </a:ext>
            </a:extLst>
          </p:cNvPr>
          <p:cNvSpPr txBox="1"/>
          <p:nvPr/>
        </p:nvSpPr>
        <p:spPr>
          <a:xfrm>
            <a:off x="609600" y="6324600"/>
            <a:ext cx="10972800" cy="152400"/>
          </a:xfrm>
          <a:prstGeom prst="rect">
            <a:avLst/>
          </a:prstGeom>
          <a:noFill/>
        </p:spPr>
        <p:txBody>
          <a:bodyPr vert="horz" wrap="square" lIns="0" tIns="0" rIns="0" bIns="0" rtlCol="0" anchor="t">
            <a:noAutofit/>
          </a:bodyPr>
          <a:lstStyle/>
          <a:p>
            <a:pPr algn="l"/>
            <a:r>
              <a:rPr lang="es-MX" sz="700">
                <a:solidFill>
                  <a:srgbClr val="938A7C"/>
                </a:solidFill>
                <a:latin typeface="Segoe UI" panose="020B0502040204020203" pitchFamily="34" charset="0"/>
              </a:rPr>
              <a:t>Fuente: Terzaghi (1943), factores de capacidad de carga para φ = 15°.</a:t>
            </a:r>
            <a:endParaRPr lang="es-BO" sz="700">
              <a:solidFill>
                <a:srgbClr val="938A7C"/>
              </a:solidFill>
              <a:latin typeface="Segoe UI" panose="020B0502040204020203" pitchFamily="34" charset="0"/>
            </a:endParaRPr>
          </a:p>
        </p:txBody>
      </p:sp>
      <p:cxnSp>
        <p:nvCxnSpPr>
          <p:cNvPr id="51" name="Conector recto 50">
            <a:extLst>
              <a:ext uri="{FF2B5EF4-FFF2-40B4-BE49-F238E27FC236}">
                <a16:creationId xmlns:a16="http://schemas.microsoft.com/office/drawing/2014/main" id="{1286936E-3A8A-2425-5688-240A866DB1C3}"/>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52" name="CuadroTexto 51">
            <a:extLst>
              <a:ext uri="{FF2B5EF4-FFF2-40B4-BE49-F238E27FC236}">
                <a16:creationId xmlns:a16="http://schemas.microsoft.com/office/drawing/2014/main" id="{D5FC89EA-D899-5D03-CF3D-650F19ECC5B5}"/>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53" name="CuadroTexto 52">
            <a:extLst>
              <a:ext uri="{FF2B5EF4-FFF2-40B4-BE49-F238E27FC236}">
                <a16:creationId xmlns:a16="http://schemas.microsoft.com/office/drawing/2014/main" id="{622A72B6-C7FA-9CFE-63DD-4088AEEF8D09}"/>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54" name="PageNo">
            <a:extLst>
              <a:ext uri="{FF2B5EF4-FFF2-40B4-BE49-F238E27FC236}">
                <a16:creationId xmlns:a16="http://schemas.microsoft.com/office/drawing/2014/main" id="{386FCA99-66D1-0DFB-D8E9-B3DF6F3ABDEA}"/>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26 / 38</a:t>
            </a:r>
          </a:p>
        </p:txBody>
      </p:sp>
    </p:spTree>
    <p:custDataLst>
      <p:tags r:id="rId1"/>
    </p:custDataLst>
    <p:extLst>
      <p:ext uri="{BB962C8B-B14F-4D97-AF65-F5344CB8AC3E}">
        <p14:creationId xmlns:p14="http://schemas.microsoft.com/office/powerpoint/2010/main" val="304605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animEffect transition="in" filter="fade">
                                      <p:cBhvr>
                                        <p:cTn id="7"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7D6021B3-C1DB-B319-7683-50FB775BBDE3}"/>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MX" sz="900" spc="180">
                <a:solidFill>
                  <a:srgbClr val="6A4F20"/>
                </a:solidFill>
                <a:latin typeface="Segoe UI Semibold" panose="020B0702040204020203" pitchFamily="34" charset="0"/>
              </a:rPr>
              <a:t>CASO 7  ·  PASO 3 DE 8</a:t>
            </a:r>
            <a:endParaRPr lang="es-BO" sz="900" spc="180">
              <a:solidFill>
                <a:srgbClr val="6A4F20"/>
              </a:solidFill>
              <a:latin typeface="Segoe UI Semibold" panose="020B0702040204020203" pitchFamily="34" charset="0"/>
            </a:endParaRPr>
          </a:p>
        </p:txBody>
      </p:sp>
      <p:sp>
        <p:nvSpPr>
          <p:cNvPr id="3" name="Title">
            <a:extLst>
              <a:ext uri="{FF2B5EF4-FFF2-40B4-BE49-F238E27FC236}">
                <a16:creationId xmlns:a16="http://schemas.microsoft.com/office/drawing/2014/main" id="{C9833B27-B89F-3D18-4064-1AA3A7FB929D}"/>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De carga de hundimiento a carga admisible</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AA66D439-0731-F3EA-C0C8-ADBF0DEBE87F}"/>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6" name="CuadroTexto 5">
            <a:extLst>
              <a:ext uri="{FF2B5EF4-FFF2-40B4-BE49-F238E27FC236}">
                <a16:creationId xmlns:a16="http://schemas.microsoft.com/office/drawing/2014/main" id="{95664C9D-2D7B-40A6-346E-D290AAFD4592}"/>
              </a:ext>
            </a:extLst>
          </p:cNvPr>
          <p:cNvSpPr txBox="1"/>
          <p:nvPr/>
        </p:nvSpPr>
        <p:spPr>
          <a:xfrm>
            <a:off x="609600" y="1270000"/>
            <a:ext cx="10972800" cy="228600"/>
          </a:xfrm>
          <a:prstGeom prst="rect">
            <a:avLst/>
          </a:prstGeom>
          <a:noFill/>
        </p:spPr>
        <p:txBody>
          <a:bodyPr vert="horz" wrap="square" lIns="0" tIns="0" rIns="0" bIns="0" rtlCol="0" anchor="t">
            <a:noAutofit/>
          </a:bodyPr>
          <a:lstStyle/>
          <a:p>
            <a:pPr algn="ctr"/>
            <a:r>
              <a:rPr lang="es-MX" sz="1150">
                <a:solidFill>
                  <a:srgbClr val="6A4F20"/>
                </a:solidFill>
                <a:latin typeface="Segoe UI Semibold" panose="020B0702040204020203" pitchFamily="34" charset="0"/>
              </a:rPr>
              <a:t>¿Y cuánta presión podemos admitir? La de hundimiento, dividida por tres.</a:t>
            </a:r>
            <a:endParaRPr lang="es-BO" sz="1150">
              <a:solidFill>
                <a:srgbClr val="6A4F20"/>
              </a:solidFill>
              <a:latin typeface="Segoe UI Semibold" panose="020B0702040204020203" pitchFamily="34" charset="0"/>
            </a:endParaRPr>
          </a:p>
        </p:txBody>
      </p:sp>
      <p:sp>
        <p:nvSpPr>
          <p:cNvPr id="7" name="Rectángulo 6">
            <a:extLst>
              <a:ext uri="{FF2B5EF4-FFF2-40B4-BE49-F238E27FC236}">
                <a16:creationId xmlns:a16="http://schemas.microsoft.com/office/drawing/2014/main" id="{C87605C6-BCEA-D18D-D827-2EE8967452CC}"/>
              </a:ext>
            </a:extLst>
          </p:cNvPr>
          <p:cNvSpPr/>
          <p:nvPr/>
        </p:nvSpPr>
        <p:spPr>
          <a:xfrm>
            <a:off x="609600" y="1549400"/>
            <a:ext cx="10972800" cy="558800"/>
          </a:xfrm>
          <a:prstGeom prst="rect">
            <a:avLst/>
          </a:prstGeom>
          <a:solidFill>
            <a:srgbClr val="1C181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38100" rIns="101600" bIns="38100" rtlCol="0" anchor="ctr"/>
          <a:lstStyle/>
          <a:p>
            <a:pPr algn="ctr"/>
            <a:r>
              <a:rPr lang="pl-PL" sz="1700">
                <a:solidFill>
                  <a:srgbClr val="FFFFFF"/>
                </a:solidFill>
                <a:latin typeface="Bahnschrift SemiBold" panose="020B0502040204020203" pitchFamily="34" charset="0"/>
              </a:rPr>
              <a:t>q_adm  =  q_u  /  FS</a:t>
            </a:r>
            <a:endParaRPr lang="es-BO" sz="1700">
              <a:solidFill>
                <a:srgbClr val="FFFFFF"/>
              </a:solidFill>
              <a:latin typeface="Bahnschrift SemiBold" panose="020B0502040204020203" pitchFamily="34" charset="0"/>
            </a:endParaRPr>
          </a:p>
        </p:txBody>
      </p:sp>
      <p:sp>
        <p:nvSpPr>
          <p:cNvPr id="9" name="CuadroTexto 8">
            <a:extLst>
              <a:ext uri="{FF2B5EF4-FFF2-40B4-BE49-F238E27FC236}">
                <a16:creationId xmlns:a16="http://schemas.microsoft.com/office/drawing/2014/main" id="{6828F52F-4DDC-8B16-EC35-46C2E556D8E8}"/>
              </a:ext>
            </a:extLst>
          </p:cNvPr>
          <p:cNvSpPr txBox="1"/>
          <p:nvPr/>
        </p:nvSpPr>
        <p:spPr>
          <a:xfrm>
            <a:off x="736600" y="2209800"/>
            <a:ext cx="5080000" cy="152400"/>
          </a:xfrm>
          <a:prstGeom prst="rect">
            <a:avLst/>
          </a:prstGeom>
          <a:noFill/>
        </p:spPr>
        <p:txBody>
          <a:bodyPr vert="horz" wrap="square" lIns="0" tIns="0" rIns="0" bIns="0" rtlCol="0" anchor="t">
            <a:noAutofit/>
          </a:bodyPr>
          <a:lstStyle/>
          <a:p>
            <a:r>
              <a:rPr lang="es-MX" sz="700" spc="120">
                <a:solidFill>
                  <a:srgbClr val="6A4F20"/>
                </a:solidFill>
                <a:latin typeface="Segoe UI Semibold" panose="020B0702040204020203" pitchFamily="34" charset="0"/>
              </a:rPr>
              <a:t>DE DÓNDE SALE LA FÓRMULA</a:t>
            </a:r>
            <a:endParaRPr lang="es-BO" sz="700" spc="120">
              <a:solidFill>
                <a:srgbClr val="6A4F20"/>
              </a:solidFill>
              <a:latin typeface="Segoe UI Semibold" panose="020B0702040204020203" pitchFamily="34" charset="0"/>
            </a:endParaRPr>
          </a:p>
        </p:txBody>
      </p:sp>
      <p:sp>
        <p:nvSpPr>
          <p:cNvPr id="10" name="CuadroTexto 9">
            <a:extLst>
              <a:ext uri="{FF2B5EF4-FFF2-40B4-BE49-F238E27FC236}">
                <a16:creationId xmlns:a16="http://schemas.microsoft.com/office/drawing/2014/main" id="{3970F9FA-A386-F85B-F727-57FBF6BC24D5}"/>
              </a:ext>
            </a:extLst>
          </p:cNvPr>
          <p:cNvSpPr txBox="1"/>
          <p:nvPr/>
        </p:nvSpPr>
        <p:spPr>
          <a:xfrm>
            <a:off x="736600" y="2374900"/>
            <a:ext cx="10845800" cy="406400"/>
          </a:xfrm>
          <a:prstGeom prst="rect">
            <a:avLst/>
          </a:prstGeom>
          <a:noFill/>
        </p:spPr>
        <p:txBody>
          <a:bodyPr vert="horz" wrap="square" lIns="0" tIns="0" rIns="0" bIns="0" rtlCol="0" anchor="t">
            <a:noAutofit/>
          </a:bodyPr>
          <a:lstStyle/>
          <a:p>
            <a:pPr algn="l"/>
            <a:r>
              <a:rPr lang="es-MX" sz="900">
                <a:solidFill>
                  <a:srgbClr val="5A5248"/>
                </a:solidFill>
                <a:latin typeface="Segoe UI" panose="020B0502040204020203" pitchFamily="34" charset="0"/>
              </a:rPr>
              <a:t>Coeficiente de seguridad global frente a hundimiento. El 3 es convencional en cimentación superficial y cubre la variabilidad del terreno, la del modelo de Terzaghi y la de la propia ejecución.</a:t>
            </a:r>
            <a:endParaRPr lang="es-BO" sz="900">
              <a:solidFill>
                <a:srgbClr val="5A5248"/>
              </a:solidFill>
              <a:latin typeface="Segoe UI" panose="020B0502040204020203" pitchFamily="34" charset="0"/>
            </a:endParaRPr>
          </a:p>
        </p:txBody>
      </p:sp>
      <p:sp>
        <p:nvSpPr>
          <p:cNvPr id="11" name="CuadroTexto 10">
            <a:extLst>
              <a:ext uri="{FF2B5EF4-FFF2-40B4-BE49-F238E27FC236}">
                <a16:creationId xmlns:a16="http://schemas.microsoft.com/office/drawing/2014/main" id="{73A82F25-C46B-9DDB-D61D-91E1894C7CB0}"/>
              </a:ext>
            </a:extLst>
          </p:cNvPr>
          <p:cNvSpPr txBox="1"/>
          <p:nvPr/>
        </p:nvSpPr>
        <p:spPr>
          <a:xfrm>
            <a:off x="609600" y="2844800"/>
            <a:ext cx="3581400" cy="152400"/>
          </a:xfrm>
          <a:prstGeom prst="rect">
            <a:avLst/>
          </a:prstGeom>
          <a:noFill/>
        </p:spPr>
        <p:txBody>
          <a:bodyPr vert="horz" wrap="square" lIns="0" tIns="0" rIns="0" bIns="0" rtlCol="0" anchor="t">
            <a:noAutofit/>
          </a:bodyPr>
          <a:lstStyle/>
          <a:p>
            <a:pPr algn="l"/>
            <a:r>
              <a:rPr lang="es-BO" sz="700">
                <a:solidFill>
                  <a:srgbClr val="6A4F20"/>
                </a:solidFill>
                <a:latin typeface="Segoe UI Semibold" panose="020B0702040204020203" pitchFamily="34" charset="0"/>
              </a:rPr>
              <a:t>LOS DATOS QUE ENTRAN</a:t>
            </a:r>
          </a:p>
        </p:txBody>
      </p:sp>
      <p:sp>
        <p:nvSpPr>
          <p:cNvPr id="13" name="CuadroTexto 12">
            <a:extLst>
              <a:ext uri="{FF2B5EF4-FFF2-40B4-BE49-F238E27FC236}">
                <a16:creationId xmlns:a16="http://schemas.microsoft.com/office/drawing/2014/main" id="{6511B2E0-3BB6-8DF7-3920-F892DF87405C}"/>
              </a:ext>
            </a:extLst>
          </p:cNvPr>
          <p:cNvSpPr txBox="1"/>
          <p:nvPr/>
        </p:nvSpPr>
        <p:spPr>
          <a:xfrm>
            <a:off x="762000" y="3048000"/>
            <a:ext cx="3429000" cy="165100"/>
          </a:xfrm>
          <a:prstGeom prst="rect">
            <a:avLst/>
          </a:prstGeom>
          <a:noFill/>
        </p:spPr>
        <p:txBody>
          <a:bodyPr vert="horz" wrap="square" lIns="0" tIns="0" rIns="0" bIns="0" rtlCol="0" anchor="t">
            <a:noAutofit/>
          </a:bodyPr>
          <a:lstStyle/>
          <a:p>
            <a:pPr algn="l"/>
            <a:r>
              <a:rPr lang="es-BO" sz="1000">
                <a:solidFill>
                  <a:srgbClr val="1C1813"/>
                </a:solidFill>
                <a:latin typeface="Segoe UI Semibold" panose="020B0702040204020203" pitchFamily="34" charset="0"/>
              </a:rPr>
              <a:t>q_u = 535,3 kPa</a:t>
            </a:r>
          </a:p>
        </p:txBody>
      </p:sp>
      <p:sp>
        <p:nvSpPr>
          <p:cNvPr id="14" name="CuadroTexto 13">
            <a:extLst>
              <a:ext uri="{FF2B5EF4-FFF2-40B4-BE49-F238E27FC236}">
                <a16:creationId xmlns:a16="http://schemas.microsoft.com/office/drawing/2014/main" id="{53BED0F5-6DC6-C88C-8A06-D1B2BE86D550}"/>
              </a:ext>
            </a:extLst>
          </p:cNvPr>
          <p:cNvSpPr txBox="1"/>
          <p:nvPr/>
        </p:nvSpPr>
        <p:spPr>
          <a:xfrm>
            <a:off x="762000" y="3213100"/>
            <a:ext cx="3429000" cy="317500"/>
          </a:xfrm>
          <a:prstGeom prst="rect">
            <a:avLst/>
          </a:prstGeom>
          <a:noFill/>
        </p:spPr>
        <p:txBody>
          <a:bodyPr vert="horz" wrap="square" lIns="0" tIns="0" rIns="0" bIns="0" rtlCol="0" anchor="t">
            <a:noAutofit/>
          </a:bodyPr>
          <a:lstStyle/>
          <a:p>
            <a:pPr algn="l"/>
            <a:r>
              <a:rPr lang="es-MX" sz="850">
                <a:solidFill>
                  <a:srgbClr val="5A5248"/>
                </a:solidFill>
                <a:latin typeface="Segoe UI" panose="020B0502040204020203" pitchFamily="34" charset="0"/>
              </a:rPr>
              <a:t>La carga que hunde el terreno, del paso 2.</a:t>
            </a:r>
            <a:endParaRPr lang="es-BO" sz="850">
              <a:solidFill>
                <a:srgbClr val="5A5248"/>
              </a:solidFill>
              <a:latin typeface="Segoe UI" panose="020B0502040204020203" pitchFamily="34" charset="0"/>
            </a:endParaRPr>
          </a:p>
        </p:txBody>
      </p:sp>
      <p:sp>
        <p:nvSpPr>
          <p:cNvPr id="16" name="CuadroTexto 15">
            <a:extLst>
              <a:ext uri="{FF2B5EF4-FFF2-40B4-BE49-F238E27FC236}">
                <a16:creationId xmlns:a16="http://schemas.microsoft.com/office/drawing/2014/main" id="{C7C57527-A53F-2130-9215-00525CE3A129}"/>
              </a:ext>
            </a:extLst>
          </p:cNvPr>
          <p:cNvSpPr txBox="1"/>
          <p:nvPr/>
        </p:nvSpPr>
        <p:spPr>
          <a:xfrm>
            <a:off x="762000" y="3670300"/>
            <a:ext cx="3429000" cy="165100"/>
          </a:xfrm>
          <a:prstGeom prst="rect">
            <a:avLst/>
          </a:prstGeom>
          <a:noFill/>
        </p:spPr>
        <p:txBody>
          <a:bodyPr vert="horz" wrap="square" lIns="0" tIns="0" rIns="0" bIns="0" rtlCol="0" anchor="t">
            <a:noAutofit/>
          </a:bodyPr>
          <a:lstStyle/>
          <a:p>
            <a:pPr algn="l"/>
            <a:r>
              <a:rPr lang="es-BO" sz="1000">
                <a:solidFill>
                  <a:srgbClr val="1C1813"/>
                </a:solidFill>
                <a:latin typeface="Segoe UI Semibold" panose="020B0702040204020203" pitchFamily="34" charset="0"/>
              </a:rPr>
              <a:t>FS = 3</a:t>
            </a:r>
          </a:p>
        </p:txBody>
      </p:sp>
      <p:sp>
        <p:nvSpPr>
          <p:cNvPr id="17" name="CuadroTexto 16">
            <a:extLst>
              <a:ext uri="{FF2B5EF4-FFF2-40B4-BE49-F238E27FC236}">
                <a16:creationId xmlns:a16="http://schemas.microsoft.com/office/drawing/2014/main" id="{749041AA-1B6B-FA2A-F612-8D95B827E7EA}"/>
              </a:ext>
            </a:extLst>
          </p:cNvPr>
          <p:cNvSpPr txBox="1"/>
          <p:nvPr/>
        </p:nvSpPr>
        <p:spPr>
          <a:xfrm>
            <a:off x="762000" y="3835400"/>
            <a:ext cx="3429000" cy="317500"/>
          </a:xfrm>
          <a:prstGeom prst="rect">
            <a:avLst/>
          </a:prstGeom>
          <a:noFill/>
        </p:spPr>
        <p:txBody>
          <a:bodyPr vert="horz" wrap="square" lIns="0" tIns="0" rIns="0" bIns="0" rtlCol="0" anchor="t">
            <a:noAutofit/>
          </a:bodyPr>
          <a:lstStyle/>
          <a:p>
            <a:pPr algn="l"/>
            <a:r>
              <a:rPr lang="es-MX" sz="850">
                <a:solidFill>
                  <a:srgbClr val="5A5248"/>
                </a:solidFill>
                <a:latin typeface="Segoe UI" panose="020B0502040204020203" pitchFamily="34" charset="0"/>
              </a:rPr>
              <a:t>Coeficiente convencional frente a hundimiento en cimentación superficial.</a:t>
            </a:r>
            <a:endParaRPr lang="es-BO" sz="850">
              <a:solidFill>
                <a:srgbClr val="5A5248"/>
              </a:solidFill>
              <a:latin typeface="Segoe UI" panose="020B0502040204020203" pitchFamily="34" charset="0"/>
            </a:endParaRPr>
          </a:p>
        </p:txBody>
      </p:sp>
      <p:sp>
        <p:nvSpPr>
          <p:cNvPr id="19" name="CuadroTexto 18">
            <a:extLst>
              <a:ext uri="{FF2B5EF4-FFF2-40B4-BE49-F238E27FC236}">
                <a16:creationId xmlns:a16="http://schemas.microsoft.com/office/drawing/2014/main" id="{9A1AEF9C-D4D0-B734-C97C-B7EC458C26F9}"/>
              </a:ext>
            </a:extLst>
          </p:cNvPr>
          <p:cNvSpPr txBox="1"/>
          <p:nvPr/>
        </p:nvSpPr>
        <p:spPr>
          <a:xfrm>
            <a:off x="762000" y="4292600"/>
            <a:ext cx="3429000" cy="165100"/>
          </a:xfrm>
          <a:prstGeom prst="rect">
            <a:avLst/>
          </a:prstGeom>
          <a:noFill/>
        </p:spPr>
        <p:txBody>
          <a:bodyPr vert="horz" wrap="square" lIns="0" tIns="0" rIns="0" bIns="0" rtlCol="0" anchor="t">
            <a:noAutofit/>
          </a:bodyPr>
          <a:lstStyle/>
          <a:p>
            <a:pPr algn="l"/>
            <a:r>
              <a:rPr lang="es-BO" sz="1000">
                <a:solidFill>
                  <a:srgbClr val="1C1813"/>
                </a:solidFill>
                <a:latin typeface="Segoe UI Semibold" panose="020B0702040204020203" pitchFamily="34" charset="0"/>
              </a:rPr>
              <a:t>Qué no cubre</a:t>
            </a:r>
          </a:p>
        </p:txBody>
      </p:sp>
      <p:sp>
        <p:nvSpPr>
          <p:cNvPr id="20" name="CuadroTexto 19">
            <a:extLst>
              <a:ext uri="{FF2B5EF4-FFF2-40B4-BE49-F238E27FC236}">
                <a16:creationId xmlns:a16="http://schemas.microsoft.com/office/drawing/2014/main" id="{4F693BEF-6DAD-1480-498D-8C57228EB25F}"/>
              </a:ext>
            </a:extLst>
          </p:cNvPr>
          <p:cNvSpPr txBox="1"/>
          <p:nvPr/>
        </p:nvSpPr>
        <p:spPr>
          <a:xfrm>
            <a:off x="762000" y="4457700"/>
            <a:ext cx="3429000" cy="317500"/>
          </a:xfrm>
          <a:prstGeom prst="rect">
            <a:avLst/>
          </a:prstGeom>
          <a:noFill/>
        </p:spPr>
        <p:txBody>
          <a:bodyPr vert="horz" wrap="square" lIns="0" tIns="0" rIns="0" bIns="0" rtlCol="0" anchor="t">
            <a:noAutofit/>
          </a:bodyPr>
          <a:lstStyle/>
          <a:p>
            <a:pPr algn="l"/>
            <a:r>
              <a:rPr lang="es-MX" sz="850">
                <a:solidFill>
                  <a:srgbClr val="5A5248"/>
                </a:solidFill>
                <a:latin typeface="Segoe UI" panose="020B0502040204020203" pitchFamily="34" charset="0"/>
              </a:rPr>
              <a:t>El asiento. Es una comprobación distinta, que a veces gobierna antes que el hundimiento.</a:t>
            </a:r>
            <a:endParaRPr lang="es-BO" sz="850">
              <a:solidFill>
                <a:srgbClr val="5A5248"/>
              </a:solidFill>
              <a:latin typeface="Segoe UI" panose="020B0502040204020203" pitchFamily="34" charset="0"/>
            </a:endParaRPr>
          </a:p>
        </p:txBody>
      </p:sp>
      <p:sp>
        <p:nvSpPr>
          <p:cNvPr id="21" name="CuadroTexto 20">
            <a:extLst>
              <a:ext uri="{FF2B5EF4-FFF2-40B4-BE49-F238E27FC236}">
                <a16:creationId xmlns:a16="http://schemas.microsoft.com/office/drawing/2014/main" id="{82BD05AE-2C2E-55F3-E3A6-0635E7AAA206}"/>
              </a:ext>
            </a:extLst>
          </p:cNvPr>
          <p:cNvSpPr txBox="1"/>
          <p:nvPr/>
        </p:nvSpPr>
        <p:spPr>
          <a:xfrm>
            <a:off x="4495800" y="2844800"/>
            <a:ext cx="3429000" cy="152400"/>
          </a:xfrm>
          <a:prstGeom prst="rect">
            <a:avLst/>
          </a:prstGeom>
          <a:noFill/>
        </p:spPr>
        <p:txBody>
          <a:bodyPr vert="horz" wrap="square" lIns="0" tIns="0" rIns="0" bIns="0" rtlCol="0" anchor="t">
            <a:noAutofit/>
          </a:bodyPr>
          <a:lstStyle/>
          <a:p>
            <a:pPr algn="l"/>
            <a:r>
              <a:rPr lang="es-MX" sz="700">
                <a:solidFill>
                  <a:srgbClr val="6A4F20"/>
                </a:solidFill>
                <a:latin typeface="Segoe UI Semibold" panose="020B0702040204020203" pitchFamily="34" charset="0"/>
              </a:rPr>
              <a:t>LA CUENTA, PASO A PASO</a:t>
            </a:r>
            <a:endParaRPr lang="es-BO" sz="700">
              <a:solidFill>
                <a:srgbClr val="6A4F20"/>
              </a:solidFill>
              <a:latin typeface="Segoe UI Semibold" panose="020B0702040204020203" pitchFamily="34" charset="0"/>
            </a:endParaRPr>
          </a:p>
        </p:txBody>
      </p:sp>
      <p:sp>
        <p:nvSpPr>
          <p:cNvPr id="22" name="Rectángulo 21">
            <a:extLst>
              <a:ext uri="{FF2B5EF4-FFF2-40B4-BE49-F238E27FC236}">
                <a16:creationId xmlns:a16="http://schemas.microsoft.com/office/drawing/2014/main" id="{244084BC-9CAC-2D48-1A19-ABF61782F807}"/>
              </a:ext>
            </a:extLst>
          </p:cNvPr>
          <p:cNvSpPr/>
          <p:nvPr/>
        </p:nvSpPr>
        <p:spPr>
          <a:xfrm>
            <a:off x="4495800" y="3048000"/>
            <a:ext cx="3429000" cy="18796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3" name="CuadroTexto 22">
            <a:extLst>
              <a:ext uri="{FF2B5EF4-FFF2-40B4-BE49-F238E27FC236}">
                <a16:creationId xmlns:a16="http://schemas.microsoft.com/office/drawing/2014/main" id="{CF9B4327-7B5E-EB61-DE0A-13E9823FC209}"/>
              </a:ext>
            </a:extLst>
          </p:cNvPr>
          <p:cNvSpPr txBox="1"/>
          <p:nvPr/>
        </p:nvSpPr>
        <p:spPr>
          <a:xfrm>
            <a:off x="4648200" y="3162300"/>
            <a:ext cx="3124200" cy="292100"/>
          </a:xfrm>
          <a:prstGeom prst="rect">
            <a:avLst/>
          </a:prstGeom>
          <a:noFill/>
        </p:spPr>
        <p:txBody>
          <a:bodyPr vert="horz" wrap="square" lIns="0" tIns="0" rIns="0" bIns="0" rtlCol="0" anchor="t">
            <a:noAutofit/>
          </a:bodyPr>
          <a:lstStyle/>
          <a:p>
            <a:pPr algn="l"/>
            <a:r>
              <a:rPr lang="nb-NO" sz="1150">
                <a:solidFill>
                  <a:srgbClr val="241F18"/>
                </a:solidFill>
                <a:latin typeface="Segoe UI" panose="020B0502040204020203" pitchFamily="34" charset="0"/>
              </a:rPr>
              <a:t>q_adm  =  535,3 kPa  /  3</a:t>
            </a:r>
            <a:endParaRPr lang="es-BO" sz="1150">
              <a:solidFill>
                <a:srgbClr val="241F18"/>
              </a:solidFill>
              <a:latin typeface="Segoe UI" panose="020B0502040204020203" pitchFamily="34" charset="0"/>
            </a:endParaRPr>
          </a:p>
        </p:txBody>
      </p:sp>
      <p:sp>
        <p:nvSpPr>
          <p:cNvPr id="24" name="CuadroTexto 23">
            <a:extLst>
              <a:ext uri="{FF2B5EF4-FFF2-40B4-BE49-F238E27FC236}">
                <a16:creationId xmlns:a16="http://schemas.microsoft.com/office/drawing/2014/main" id="{CEB739FA-7317-A7F6-C3B7-D2414374C221}"/>
              </a:ext>
            </a:extLst>
          </p:cNvPr>
          <p:cNvSpPr txBox="1"/>
          <p:nvPr/>
        </p:nvSpPr>
        <p:spPr>
          <a:xfrm>
            <a:off x="4648200" y="3479800"/>
            <a:ext cx="3124200" cy="292100"/>
          </a:xfrm>
          <a:prstGeom prst="rect">
            <a:avLst/>
          </a:prstGeom>
          <a:noFill/>
        </p:spPr>
        <p:txBody>
          <a:bodyPr vert="horz" wrap="square" lIns="0" tIns="0" rIns="0" bIns="0" rtlCol="0" anchor="t">
            <a:noAutofit/>
          </a:bodyPr>
          <a:lstStyle/>
          <a:p>
            <a:pPr algn="l"/>
            <a:r>
              <a:rPr lang="es-BO" sz="1150">
                <a:solidFill>
                  <a:srgbClr val="241F18"/>
                </a:solidFill>
                <a:latin typeface="Segoe UI" panose="020B0502040204020203" pitchFamily="34" charset="0"/>
              </a:rPr>
              <a:t>q_adm  =  178,4 kPa</a:t>
            </a:r>
          </a:p>
        </p:txBody>
      </p:sp>
      <p:pic>
        <p:nvPicPr>
          <p:cNvPr id="45" name="Diagrama del paso" descr="Paso 3: carga admisible, un tercio de 535,3 kPa"/>
          <p:cNvPicPr>
            <a:picLocks noChangeAspect="1"/>
          </p:cNvPicPr>
          <p:nvPr/>
        </p:nvPicPr>
        <p:blipFill>
          <a:blip r:embed="rId100"/>
          <a:stretch>
            <a:fillRect/>
          </a:stretch>
        </p:blipFill>
        <p:spPr>
          <a:xfrm>
            <a:off x="8229600" y="3044952"/>
            <a:ext cx="3355848" cy="1883664"/>
          </a:xfrm>
          <a:prstGeom prst="rect">
            <a:avLst/>
          </a:prstGeom>
        </p:spPr>
      </p:pic>
      <p:sp>
        <p:nvSpPr>
          <p:cNvPr id="37" name="CuadroTexto 36">
            <a:extLst>
              <a:ext uri="{FF2B5EF4-FFF2-40B4-BE49-F238E27FC236}">
                <a16:creationId xmlns:a16="http://schemas.microsoft.com/office/drawing/2014/main" id="{C3881B45-E4B1-B1C3-9764-7E6018D7041F}"/>
              </a:ext>
            </a:extLst>
          </p:cNvPr>
          <p:cNvSpPr txBox="1"/>
          <p:nvPr/>
        </p:nvSpPr>
        <p:spPr>
          <a:xfrm>
            <a:off x="736600" y="5029200"/>
            <a:ext cx="5080000" cy="152400"/>
          </a:xfrm>
          <a:prstGeom prst="rect">
            <a:avLst/>
          </a:prstGeom>
          <a:noFill/>
        </p:spPr>
        <p:txBody>
          <a:bodyPr vert="horz" wrap="square" lIns="0" tIns="0" rIns="0" bIns="0" rtlCol="0" anchor="t">
            <a:noAutofit/>
          </a:bodyPr>
          <a:lstStyle/>
          <a:p>
            <a:r>
              <a:rPr lang="es-BO" sz="700" spc="120">
                <a:solidFill>
                  <a:srgbClr val="6A4F20"/>
                </a:solidFill>
                <a:latin typeface="Segoe UI Semibold" panose="020B0702040204020203" pitchFamily="34" charset="0"/>
              </a:rPr>
              <a:t>QUÉ SIGNIFICA ESTE NÚMERO</a:t>
            </a:r>
          </a:p>
        </p:txBody>
      </p:sp>
      <p:sp>
        <p:nvSpPr>
          <p:cNvPr id="38" name="CuadroTexto 37">
            <a:extLst>
              <a:ext uri="{FF2B5EF4-FFF2-40B4-BE49-F238E27FC236}">
                <a16:creationId xmlns:a16="http://schemas.microsoft.com/office/drawing/2014/main" id="{620A65EF-5852-22C9-D38A-F795DD8D97CB}"/>
              </a:ext>
            </a:extLst>
          </p:cNvPr>
          <p:cNvSpPr txBox="1"/>
          <p:nvPr/>
        </p:nvSpPr>
        <p:spPr>
          <a:xfrm>
            <a:off x="736600" y="5194300"/>
            <a:ext cx="10845800" cy="304800"/>
          </a:xfrm>
          <a:prstGeom prst="rect">
            <a:avLst/>
          </a:prstGeom>
          <a:noFill/>
        </p:spPr>
        <p:txBody>
          <a:bodyPr vert="horz" wrap="square" lIns="0" tIns="0" rIns="0" bIns="0" rtlCol="0" anchor="t">
            <a:noAutofit/>
          </a:bodyPr>
          <a:lstStyle/>
          <a:p>
            <a:pPr algn="l"/>
            <a:r>
              <a:rPr lang="es-MX" sz="1050">
                <a:solidFill>
                  <a:srgbClr val="5A5248"/>
                </a:solidFill>
                <a:latin typeface="Segoe UI" panose="020B0502040204020203" pitchFamily="34" charset="0"/>
              </a:rPr>
              <a:t>Este es el listón contra el que se compara todo lo que viene después.</a:t>
            </a:r>
            <a:endParaRPr lang="es-BO" sz="1050">
              <a:solidFill>
                <a:srgbClr val="5A5248"/>
              </a:solidFill>
              <a:latin typeface="Segoe UI" panose="020B0502040204020203" pitchFamily="34" charset="0"/>
            </a:endParaRPr>
          </a:p>
        </p:txBody>
      </p:sp>
      <p:sp>
        <p:nvSpPr>
          <p:cNvPr id="39" name="Resultado_1">
            <a:extLst>
              <a:ext uri="{FF2B5EF4-FFF2-40B4-BE49-F238E27FC236}">
                <a16:creationId xmlns:a16="http://schemas.microsoft.com/office/drawing/2014/main" id="{4415C925-EB00-1CDA-E095-0AB9A80A7C91}"/>
              </a:ext>
            </a:extLst>
          </p:cNvPr>
          <p:cNvSpPr/>
          <p:nvPr/>
        </p:nvSpPr>
        <p:spPr>
          <a:xfrm>
            <a:off x="609600" y="5562600"/>
            <a:ext cx="10972800" cy="55880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38100" rIns="101600" bIns="38100" rtlCol="0" anchor="ctr"/>
          <a:lstStyle/>
          <a:p>
            <a:pPr algn="ctr"/>
            <a:r>
              <a:rPr lang="es-BO" sz="1600">
                <a:solidFill>
                  <a:srgbClr val="FFFFFF"/>
                </a:solidFill>
                <a:latin typeface="Bahnschrift SemiBold" panose="020B0502040204020203" pitchFamily="34" charset="0"/>
              </a:rPr>
              <a:t>q_adm  =  178,4 kPa</a:t>
            </a:r>
          </a:p>
        </p:txBody>
      </p:sp>
      <p:sp>
        <p:nvSpPr>
          <p:cNvPr id="40" name="CuadroTexto 39">
            <a:extLst>
              <a:ext uri="{FF2B5EF4-FFF2-40B4-BE49-F238E27FC236}">
                <a16:creationId xmlns:a16="http://schemas.microsoft.com/office/drawing/2014/main" id="{14DB26E0-B186-7AF9-E115-F9604D533155}"/>
              </a:ext>
            </a:extLst>
          </p:cNvPr>
          <p:cNvSpPr txBox="1"/>
          <p:nvPr/>
        </p:nvSpPr>
        <p:spPr>
          <a:xfrm>
            <a:off x="609600" y="6324600"/>
            <a:ext cx="10972800" cy="152400"/>
          </a:xfrm>
          <a:prstGeom prst="rect">
            <a:avLst/>
          </a:prstGeom>
          <a:noFill/>
        </p:spPr>
        <p:txBody>
          <a:bodyPr vert="horz" wrap="square" lIns="0" tIns="0" rIns="0" bIns="0" rtlCol="0" anchor="t">
            <a:noAutofit/>
          </a:bodyPr>
          <a:lstStyle/>
          <a:p>
            <a:pPr algn="l"/>
            <a:r>
              <a:rPr lang="es-MX" sz="700">
                <a:solidFill>
                  <a:srgbClr val="938A7C"/>
                </a:solidFill>
                <a:latin typeface="Segoe UI" panose="020B0502040204020203" pitchFamily="34" charset="0"/>
              </a:rPr>
              <a:t>Fuente: Criterio habitual de cimentaciones superficiales; NB 1225001.</a:t>
            </a:r>
            <a:endParaRPr lang="es-BO" sz="700">
              <a:solidFill>
                <a:srgbClr val="938A7C"/>
              </a:solidFill>
              <a:latin typeface="Segoe UI" panose="020B0502040204020203" pitchFamily="34" charset="0"/>
            </a:endParaRPr>
          </a:p>
        </p:txBody>
      </p:sp>
      <p:cxnSp>
        <p:nvCxnSpPr>
          <p:cNvPr id="41" name="Conector recto 40">
            <a:extLst>
              <a:ext uri="{FF2B5EF4-FFF2-40B4-BE49-F238E27FC236}">
                <a16:creationId xmlns:a16="http://schemas.microsoft.com/office/drawing/2014/main" id="{8C7FC0E8-E722-BFEC-D952-91173D2D1FAE}"/>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42" name="CuadroTexto 41">
            <a:extLst>
              <a:ext uri="{FF2B5EF4-FFF2-40B4-BE49-F238E27FC236}">
                <a16:creationId xmlns:a16="http://schemas.microsoft.com/office/drawing/2014/main" id="{758C6C95-36D5-D8F2-AD30-EC579EE8FCC2}"/>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43" name="CuadroTexto 42">
            <a:extLst>
              <a:ext uri="{FF2B5EF4-FFF2-40B4-BE49-F238E27FC236}">
                <a16:creationId xmlns:a16="http://schemas.microsoft.com/office/drawing/2014/main" id="{0388C1C7-EDDF-D69A-6341-B05010C61458}"/>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44" name="PageNo">
            <a:extLst>
              <a:ext uri="{FF2B5EF4-FFF2-40B4-BE49-F238E27FC236}">
                <a16:creationId xmlns:a16="http://schemas.microsoft.com/office/drawing/2014/main" id="{B4416C4E-55F7-FBE2-9D42-8DA4AFE05DF5}"/>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27 / 38</a:t>
            </a:r>
          </a:p>
        </p:txBody>
      </p:sp>
    </p:spTree>
    <p:custDataLst>
      <p:tags r:id="rId1"/>
    </p:custDataLst>
    <p:extLst>
      <p:ext uri="{BB962C8B-B14F-4D97-AF65-F5344CB8AC3E}">
        <p14:creationId xmlns:p14="http://schemas.microsoft.com/office/powerpoint/2010/main" val="32574539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B2B4C4A-F4D5-0C4A-41A2-0C8E63D101D3}"/>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MX" sz="900" spc="180">
                <a:solidFill>
                  <a:srgbClr val="6A4F20"/>
                </a:solidFill>
                <a:latin typeface="Segoe UI Semibold" panose="020B0702040204020203" pitchFamily="34" charset="0"/>
              </a:rPr>
              <a:t>CASO 7  ·  PASO 4 DE 8</a:t>
            </a:r>
            <a:endParaRPr lang="es-BO" sz="900" spc="180">
              <a:solidFill>
                <a:srgbClr val="6A4F20"/>
              </a:solidFill>
              <a:latin typeface="Segoe UI Semibold" panose="020B0702040204020203" pitchFamily="34" charset="0"/>
            </a:endParaRPr>
          </a:p>
        </p:txBody>
      </p:sp>
      <p:sp>
        <p:nvSpPr>
          <p:cNvPr id="3" name="Title">
            <a:extLst>
              <a:ext uri="{FF2B5EF4-FFF2-40B4-BE49-F238E27FC236}">
                <a16:creationId xmlns:a16="http://schemas.microsoft.com/office/drawing/2014/main" id="{90011F87-3DCF-178C-B301-3AA2650895B3}"/>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La carga que llega de verdad al plano de apoyo</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859B9169-1A69-44AA-E1E6-8893721B6F52}"/>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6" name="CuadroTexto 5">
            <a:extLst>
              <a:ext uri="{FF2B5EF4-FFF2-40B4-BE49-F238E27FC236}">
                <a16:creationId xmlns:a16="http://schemas.microsoft.com/office/drawing/2014/main" id="{243ADBEA-191B-0252-CF3A-2CC4C25584E2}"/>
              </a:ext>
            </a:extLst>
          </p:cNvPr>
          <p:cNvSpPr txBox="1"/>
          <p:nvPr/>
        </p:nvSpPr>
        <p:spPr>
          <a:xfrm>
            <a:off x="609600" y="1270000"/>
            <a:ext cx="10972800" cy="228600"/>
          </a:xfrm>
          <a:prstGeom prst="rect">
            <a:avLst/>
          </a:prstGeom>
          <a:noFill/>
        </p:spPr>
        <p:txBody>
          <a:bodyPr vert="horz" wrap="square" lIns="0" tIns="0" rIns="0" bIns="0" rtlCol="0" anchor="t">
            <a:noAutofit/>
          </a:bodyPr>
          <a:lstStyle/>
          <a:p>
            <a:pPr algn="ctr"/>
            <a:r>
              <a:rPr lang="es-MX" sz="1150">
                <a:solidFill>
                  <a:srgbClr val="6A4F20"/>
                </a:solidFill>
                <a:latin typeface="Segoe UI Semibold" panose="020B0702040204020203" pitchFamily="34" charset="0"/>
              </a:rPr>
              <a:t>¿Cuánta carga llega de verdad al apoyo? Ojo con el peso propio, que casi siempre se olvida.</a:t>
            </a:r>
            <a:endParaRPr lang="es-BO" sz="1150">
              <a:solidFill>
                <a:srgbClr val="6A4F20"/>
              </a:solidFill>
              <a:latin typeface="Segoe UI Semibold" panose="020B0702040204020203" pitchFamily="34" charset="0"/>
            </a:endParaRPr>
          </a:p>
        </p:txBody>
      </p:sp>
      <p:sp>
        <p:nvSpPr>
          <p:cNvPr id="7" name="Rectángulo 6">
            <a:extLst>
              <a:ext uri="{FF2B5EF4-FFF2-40B4-BE49-F238E27FC236}">
                <a16:creationId xmlns:a16="http://schemas.microsoft.com/office/drawing/2014/main" id="{AB1D7B0C-31AB-4549-ADA6-CE7F51D5CF75}"/>
              </a:ext>
            </a:extLst>
          </p:cNvPr>
          <p:cNvSpPr/>
          <p:nvPr/>
        </p:nvSpPr>
        <p:spPr>
          <a:xfrm>
            <a:off x="609600" y="1549400"/>
            <a:ext cx="10972800" cy="558800"/>
          </a:xfrm>
          <a:prstGeom prst="rect">
            <a:avLst/>
          </a:prstGeom>
          <a:solidFill>
            <a:srgbClr val="1C181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38100" rIns="101600" bIns="38100" rtlCol="0" anchor="ctr"/>
          <a:lstStyle/>
          <a:p>
            <a:pPr algn="ctr"/>
            <a:r>
              <a:rPr lang="es-BO" sz="1700">
                <a:solidFill>
                  <a:srgbClr val="FFFFFF"/>
                </a:solidFill>
                <a:latin typeface="Bahnschrift SemiBold" panose="020B0502040204020203" pitchFamily="34" charset="0"/>
              </a:rPr>
              <a:t>P_total  =  P_columna  +  peso de la zapata  +  peso del relleno</a:t>
            </a:r>
          </a:p>
        </p:txBody>
      </p:sp>
      <p:sp>
        <p:nvSpPr>
          <p:cNvPr id="9" name="CuadroTexto 8">
            <a:extLst>
              <a:ext uri="{FF2B5EF4-FFF2-40B4-BE49-F238E27FC236}">
                <a16:creationId xmlns:a16="http://schemas.microsoft.com/office/drawing/2014/main" id="{F85BB2CC-6385-0ABB-DDDC-80CCF0143973}"/>
              </a:ext>
            </a:extLst>
          </p:cNvPr>
          <p:cNvSpPr txBox="1"/>
          <p:nvPr/>
        </p:nvSpPr>
        <p:spPr>
          <a:xfrm>
            <a:off x="736600" y="2209800"/>
            <a:ext cx="5080000" cy="152400"/>
          </a:xfrm>
          <a:prstGeom prst="rect">
            <a:avLst/>
          </a:prstGeom>
          <a:noFill/>
        </p:spPr>
        <p:txBody>
          <a:bodyPr vert="horz" wrap="square" lIns="0" tIns="0" rIns="0" bIns="0" rtlCol="0" anchor="t">
            <a:noAutofit/>
          </a:bodyPr>
          <a:lstStyle/>
          <a:p>
            <a:r>
              <a:rPr lang="es-MX" sz="700" spc="120">
                <a:solidFill>
                  <a:srgbClr val="6A4F20"/>
                </a:solidFill>
                <a:latin typeface="Segoe UI Semibold" panose="020B0702040204020203" pitchFamily="34" charset="0"/>
              </a:rPr>
              <a:t>DE DÓNDE SALE LA FÓRMULA</a:t>
            </a:r>
            <a:endParaRPr lang="es-BO" sz="700" spc="120">
              <a:solidFill>
                <a:srgbClr val="6A4F20"/>
              </a:solidFill>
              <a:latin typeface="Segoe UI Semibold" panose="020B0702040204020203" pitchFamily="34" charset="0"/>
            </a:endParaRPr>
          </a:p>
        </p:txBody>
      </p:sp>
      <p:sp>
        <p:nvSpPr>
          <p:cNvPr id="10" name="CuadroTexto 9">
            <a:extLst>
              <a:ext uri="{FF2B5EF4-FFF2-40B4-BE49-F238E27FC236}">
                <a16:creationId xmlns:a16="http://schemas.microsoft.com/office/drawing/2014/main" id="{433BF51C-CF78-52F3-A729-2F5DE939C825}"/>
              </a:ext>
            </a:extLst>
          </p:cNvPr>
          <p:cNvSpPr txBox="1"/>
          <p:nvPr/>
        </p:nvSpPr>
        <p:spPr>
          <a:xfrm>
            <a:off x="736600" y="2374900"/>
            <a:ext cx="10845800" cy="406400"/>
          </a:xfrm>
          <a:prstGeom prst="rect">
            <a:avLst/>
          </a:prstGeom>
          <a:noFill/>
        </p:spPr>
        <p:txBody>
          <a:bodyPr vert="horz" wrap="square" lIns="0" tIns="0" rIns="0" bIns="0" rtlCol="0" anchor="t">
            <a:noAutofit/>
          </a:bodyPr>
          <a:lstStyle/>
          <a:p>
            <a:pPr algn="l"/>
            <a:r>
              <a:rPr lang="es-MX" sz="900">
                <a:solidFill>
                  <a:srgbClr val="5A5248"/>
                </a:solidFill>
                <a:latin typeface="Segoe UI" panose="020B0502040204020203" pitchFamily="34" charset="0"/>
              </a:rPr>
              <a:t>Equilibrio vertical en el plano de apoyo. No es una fórmula de norma: es sumar todo lo que gravita sobre ese plano, y lo que casi siempre se olvida es el peso propio del bloque y del terreno que lo cubre.</a:t>
            </a:r>
            <a:endParaRPr lang="es-BO" sz="900">
              <a:solidFill>
                <a:srgbClr val="5A5248"/>
              </a:solidFill>
              <a:latin typeface="Segoe UI" panose="020B0502040204020203" pitchFamily="34" charset="0"/>
            </a:endParaRPr>
          </a:p>
        </p:txBody>
      </p:sp>
      <p:sp>
        <p:nvSpPr>
          <p:cNvPr id="11" name="CuadroTexto 10">
            <a:extLst>
              <a:ext uri="{FF2B5EF4-FFF2-40B4-BE49-F238E27FC236}">
                <a16:creationId xmlns:a16="http://schemas.microsoft.com/office/drawing/2014/main" id="{911D6732-622F-4CB6-88B2-B8CEB2C8792E}"/>
              </a:ext>
            </a:extLst>
          </p:cNvPr>
          <p:cNvSpPr txBox="1"/>
          <p:nvPr/>
        </p:nvSpPr>
        <p:spPr>
          <a:xfrm>
            <a:off x="609600" y="2844800"/>
            <a:ext cx="3581400" cy="152400"/>
          </a:xfrm>
          <a:prstGeom prst="rect">
            <a:avLst/>
          </a:prstGeom>
          <a:noFill/>
        </p:spPr>
        <p:txBody>
          <a:bodyPr vert="horz" wrap="square" lIns="0" tIns="0" rIns="0" bIns="0" rtlCol="0" anchor="t">
            <a:noAutofit/>
          </a:bodyPr>
          <a:lstStyle/>
          <a:p>
            <a:pPr algn="l"/>
            <a:r>
              <a:rPr lang="es-BO" sz="700">
                <a:solidFill>
                  <a:srgbClr val="6A4F20"/>
                </a:solidFill>
                <a:latin typeface="Segoe UI Semibold" panose="020B0702040204020203" pitchFamily="34" charset="0"/>
              </a:rPr>
              <a:t>LOS DATOS QUE ENTRAN</a:t>
            </a:r>
          </a:p>
        </p:txBody>
      </p:sp>
      <p:sp>
        <p:nvSpPr>
          <p:cNvPr id="13" name="CuadroTexto 12">
            <a:extLst>
              <a:ext uri="{FF2B5EF4-FFF2-40B4-BE49-F238E27FC236}">
                <a16:creationId xmlns:a16="http://schemas.microsoft.com/office/drawing/2014/main" id="{5F451B25-A6CE-3B95-7E5D-1C6D346ABF39}"/>
              </a:ext>
            </a:extLst>
          </p:cNvPr>
          <p:cNvSpPr txBox="1"/>
          <p:nvPr/>
        </p:nvSpPr>
        <p:spPr>
          <a:xfrm>
            <a:off x="762000" y="3048000"/>
            <a:ext cx="3429000" cy="165100"/>
          </a:xfrm>
          <a:prstGeom prst="rect">
            <a:avLst/>
          </a:prstGeom>
          <a:noFill/>
        </p:spPr>
        <p:txBody>
          <a:bodyPr vert="horz" wrap="square" lIns="0" tIns="0" rIns="0" bIns="0" rtlCol="0" anchor="t">
            <a:noAutofit/>
          </a:bodyPr>
          <a:lstStyle/>
          <a:p>
            <a:pPr algn="l"/>
            <a:r>
              <a:rPr lang="es-BO" sz="1000">
                <a:solidFill>
                  <a:srgbClr val="1C1813"/>
                </a:solidFill>
                <a:latin typeface="Segoe UI Semibold" panose="020B0702040204020203" pitchFamily="34" charset="0"/>
              </a:rPr>
              <a:t>P = 620 kN</a:t>
            </a:r>
          </a:p>
        </p:txBody>
      </p:sp>
      <p:sp>
        <p:nvSpPr>
          <p:cNvPr id="14" name="CuadroTexto 13">
            <a:extLst>
              <a:ext uri="{FF2B5EF4-FFF2-40B4-BE49-F238E27FC236}">
                <a16:creationId xmlns:a16="http://schemas.microsoft.com/office/drawing/2014/main" id="{8E2F39AE-DB08-FC15-DEEA-18266F9C32B2}"/>
              </a:ext>
            </a:extLst>
          </p:cNvPr>
          <p:cNvSpPr txBox="1"/>
          <p:nvPr/>
        </p:nvSpPr>
        <p:spPr>
          <a:xfrm>
            <a:off x="762000" y="3213100"/>
            <a:ext cx="3429000" cy="317500"/>
          </a:xfrm>
          <a:prstGeom prst="rect">
            <a:avLst/>
          </a:prstGeom>
          <a:noFill/>
        </p:spPr>
        <p:txBody>
          <a:bodyPr vert="horz" wrap="square" lIns="0" tIns="0" rIns="0" bIns="0" rtlCol="0" anchor="t">
            <a:noAutofit/>
          </a:bodyPr>
          <a:lstStyle/>
          <a:p>
            <a:pPr algn="l"/>
            <a:r>
              <a:rPr lang="es-MX" sz="850">
                <a:solidFill>
                  <a:srgbClr val="5A5248"/>
                </a:solidFill>
                <a:latin typeface="Segoe UI" panose="020B0502040204020203" pitchFamily="34" charset="0"/>
              </a:rPr>
              <a:t>Carga de servicio actual que baja por la columna C-4.</a:t>
            </a:r>
            <a:endParaRPr lang="es-BO" sz="850">
              <a:solidFill>
                <a:srgbClr val="5A5248"/>
              </a:solidFill>
              <a:latin typeface="Segoe UI" panose="020B0502040204020203" pitchFamily="34" charset="0"/>
            </a:endParaRPr>
          </a:p>
        </p:txBody>
      </p:sp>
      <p:sp>
        <p:nvSpPr>
          <p:cNvPr id="16" name="CuadroTexto 15">
            <a:extLst>
              <a:ext uri="{FF2B5EF4-FFF2-40B4-BE49-F238E27FC236}">
                <a16:creationId xmlns:a16="http://schemas.microsoft.com/office/drawing/2014/main" id="{E47854D2-CC0C-0E69-0ED4-20FC20297317}"/>
              </a:ext>
            </a:extLst>
          </p:cNvPr>
          <p:cNvSpPr txBox="1"/>
          <p:nvPr/>
        </p:nvSpPr>
        <p:spPr>
          <a:xfrm>
            <a:off x="762000" y="3670300"/>
            <a:ext cx="3429000" cy="165100"/>
          </a:xfrm>
          <a:prstGeom prst="rect">
            <a:avLst/>
          </a:prstGeom>
          <a:noFill/>
        </p:spPr>
        <p:txBody>
          <a:bodyPr vert="horz" wrap="square" lIns="0" tIns="0" rIns="0" bIns="0" rtlCol="0" anchor="t">
            <a:noAutofit/>
          </a:bodyPr>
          <a:lstStyle/>
          <a:p>
            <a:pPr algn="l"/>
            <a:r>
              <a:rPr lang="es-BO" sz="1000">
                <a:solidFill>
                  <a:srgbClr val="1C1813"/>
                </a:solidFill>
                <a:latin typeface="Segoe UI Semibold" panose="020B0702040204020203" pitchFamily="34" charset="0"/>
              </a:rPr>
              <a:t>Zapata</a:t>
            </a:r>
          </a:p>
        </p:txBody>
      </p:sp>
      <p:sp>
        <p:nvSpPr>
          <p:cNvPr id="17" name="CuadroTexto 16">
            <a:extLst>
              <a:ext uri="{FF2B5EF4-FFF2-40B4-BE49-F238E27FC236}">
                <a16:creationId xmlns:a16="http://schemas.microsoft.com/office/drawing/2014/main" id="{197ABD58-80BB-F309-5105-B1FFDA41D446}"/>
              </a:ext>
            </a:extLst>
          </p:cNvPr>
          <p:cNvSpPr txBox="1"/>
          <p:nvPr/>
        </p:nvSpPr>
        <p:spPr>
          <a:xfrm>
            <a:off x="762000" y="3835400"/>
            <a:ext cx="3429000" cy="317500"/>
          </a:xfrm>
          <a:prstGeom prst="rect">
            <a:avLst/>
          </a:prstGeom>
          <a:noFill/>
        </p:spPr>
        <p:txBody>
          <a:bodyPr vert="horz" wrap="square" lIns="0" tIns="0" rIns="0" bIns="0" rtlCol="0" anchor="t">
            <a:noAutofit/>
          </a:bodyPr>
          <a:lstStyle/>
          <a:p>
            <a:pPr algn="l"/>
            <a:r>
              <a:rPr lang="es-BO" sz="850">
                <a:solidFill>
                  <a:srgbClr val="5A5248"/>
                </a:solidFill>
                <a:latin typeface="Segoe UI" panose="020B0502040204020203" pitchFamily="34" charset="0"/>
              </a:rPr>
              <a:t>1,80 × 1,80 × 0,50 m de hormigón, a 24 kN/m³.</a:t>
            </a:r>
          </a:p>
        </p:txBody>
      </p:sp>
      <p:sp>
        <p:nvSpPr>
          <p:cNvPr id="19" name="CuadroTexto 18">
            <a:extLst>
              <a:ext uri="{FF2B5EF4-FFF2-40B4-BE49-F238E27FC236}">
                <a16:creationId xmlns:a16="http://schemas.microsoft.com/office/drawing/2014/main" id="{9F1BE7D0-A5E5-E23B-6C3E-CF91D68FEC78}"/>
              </a:ext>
            </a:extLst>
          </p:cNvPr>
          <p:cNvSpPr txBox="1"/>
          <p:nvPr/>
        </p:nvSpPr>
        <p:spPr>
          <a:xfrm>
            <a:off x="762000" y="4292600"/>
            <a:ext cx="3429000" cy="165100"/>
          </a:xfrm>
          <a:prstGeom prst="rect">
            <a:avLst/>
          </a:prstGeom>
          <a:noFill/>
        </p:spPr>
        <p:txBody>
          <a:bodyPr vert="horz" wrap="square" lIns="0" tIns="0" rIns="0" bIns="0" rtlCol="0" anchor="t">
            <a:noAutofit/>
          </a:bodyPr>
          <a:lstStyle/>
          <a:p>
            <a:pPr algn="l"/>
            <a:r>
              <a:rPr lang="es-BO" sz="1000">
                <a:solidFill>
                  <a:srgbClr val="1C1813"/>
                </a:solidFill>
                <a:latin typeface="Segoe UI Semibold" panose="020B0702040204020203" pitchFamily="34" charset="0"/>
              </a:rPr>
              <a:t>Relleno</a:t>
            </a:r>
          </a:p>
        </p:txBody>
      </p:sp>
      <p:sp>
        <p:nvSpPr>
          <p:cNvPr id="20" name="CuadroTexto 19">
            <a:extLst>
              <a:ext uri="{FF2B5EF4-FFF2-40B4-BE49-F238E27FC236}">
                <a16:creationId xmlns:a16="http://schemas.microsoft.com/office/drawing/2014/main" id="{7BF36520-43D8-A128-F7B4-E618BD01C27A}"/>
              </a:ext>
            </a:extLst>
          </p:cNvPr>
          <p:cNvSpPr txBox="1"/>
          <p:nvPr/>
        </p:nvSpPr>
        <p:spPr>
          <a:xfrm>
            <a:off x="762000" y="4457700"/>
            <a:ext cx="3429000" cy="317500"/>
          </a:xfrm>
          <a:prstGeom prst="rect">
            <a:avLst/>
          </a:prstGeom>
          <a:noFill/>
        </p:spPr>
        <p:txBody>
          <a:bodyPr vert="horz" wrap="square" lIns="0" tIns="0" rIns="0" bIns="0" rtlCol="0" anchor="t">
            <a:noAutofit/>
          </a:bodyPr>
          <a:lstStyle/>
          <a:p>
            <a:pPr algn="l"/>
            <a:r>
              <a:rPr lang="es-MX" sz="850">
                <a:solidFill>
                  <a:srgbClr val="5A5248"/>
                </a:solidFill>
                <a:latin typeface="Segoe UI" panose="020B0502040204020203" pitchFamily="34" charset="0"/>
              </a:rPr>
              <a:t>El terreno sobre la zapata: 1,80 × 1,80 × 0,70 m a 17 kN/m³.</a:t>
            </a:r>
            <a:endParaRPr lang="es-BO" sz="850">
              <a:solidFill>
                <a:srgbClr val="5A5248"/>
              </a:solidFill>
              <a:latin typeface="Segoe UI" panose="020B0502040204020203" pitchFamily="34" charset="0"/>
            </a:endParaRPr>
          </a:p>
        </p:txBody>
      </p:sp>
      <p:sp>
        <p:nvSpPr>
          <p:cNvPr id="21" name="CuadroTexto 20">
            <a:extLst>
              <a:ext uri="{FF2B5EF4-FFF2-40B4-BE49-F238E27FC236}">
                <a16:creationId xmlns:a16="http://schemas.microsoft.com/office/drawing/2014/main" id="{5E43A603-2065-B403-FF03-E3E1D4CFBCBB}"/>
              </a:ext>
            </a:extLst>
          </p:cNvPr>
          <p:cNvSpPr txBox="1"/>
          <p:nvPr/>
        </p:nvSpPr>
        <p:spPr>
          <a:xfrm>
            <a:off x="4495800" y="2844800"/>
            <a:ext cx="3429000" cy="152400"/>
          </a:xfrm>
          <a:prstGeom prst="rect">
            <a:avLst/>
          </a:prstGeom>
          <a:noFill/>
        </p:spPr>
        <p:txBody>
          <a:bodyPr vert="horz" wrap="square" lIns="0" tIns="0" rIns="0" bIns="0" rtlCol="0" anchor="t">
            <a:noAutofit/>
          </a:bodyPr>
          <a:lstStyle/>
          <a:p>
            <a:pPr algn="l"/>
            <a:r>
              <a:rPr lang="es-MX" sz="700">
                <a:solidFill>
                  <a:srgbClr val="6A4F20"/>
                </a:solidFill>
                <a:latin typeface="Segoe UI Semibold" panose="020B0702040204020203" pitchFamily="34" charset="0"/>
              </a:rPr>
              <a:t>LA CUENTA, PASO A PASO</a:t>
            </a:r>
            <a:endParaRPr lang="es-BO" sz="700">
              <a:solidFill>
                <a:srgbClr val="6A4F20"/>
              </a:solidFill>
              <a:latin typeface="Segoe UI Semibold" panose="020B0702040204020203" pitchFamily="34" charset="0"/>
            </a:endParaRPr>
          </a:p>
        </p:txBody>
      </p:sp>
      <p:sp>
        <p:nvSpPr>
          <p:cNvPr id="22" name="Rectángulo 21">
            <a:extLst>
              <a:ext uri="{FF2B5EF4-FFF2-40B4-BE49-F238E27FC236}">
                <a16:creationId xmlns:a16="http://schemas.microsoft.com/office/drawing/2014/main" id="{7C5AFE2E-48C4-FA44-60CF-762C4B155C8B}"/>
              </a:ext>
            </a:extLst>
          </p:cNvPr>
          <p:cNvSpPr/>
          <p:nvPr/>
        </p:nvSpPr>
        <p:spPr>
          <a:xfrm>
            <a:off x="4495800" y="3048000"/>
            <a:ext cx="3429000" cy="18796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3" name="CuadroTexto 22">
            <a:extLst>
              <a:ext uri="{FF2B5EF4-FFF2-40B4-BE49-F238E27FC236}">
                <a16:creationId xmlns:a16="http://schemas.microsoft.com/office/drawing/2014/main" id="{1E08D639-B80C-453C-8B83-C386B397F1B1}"/>
              </a:ext>
            </a:extLst>
          </p:cNvPr>
          <p:cNvSpPr txBox="1"/>
          <p:nvPr/>
        </p:nvSpPr>
        <p:spPr>
          <a:xfrm>
            <a:off x="4648200" y="3162300"/>
            <a:ext cx="3124200" cy="292100"/>
          </a:xfrm>
          <a:prstGeom prst="rect">
            <a:avLst/>
          </a:prstGeom>
          <a:noFill/>
        </p:spPr>
        <p:txBody>
          <a:bodyPr vert="horz" wrap="square" lIns="0" tIns="0" rIns="0" bIns="0" rtlCol="0" anchor="t">
            <a:noAutofit/>
          </a:bodyPr>
          <a:lstStyle/>
          <a:p>
            <a:pPr algn="l"/>
            <a:r>
              <a:rPr lang="fi-FI" sz="1150">
                <a:solidFill>
                  <a:srgbClr val="241F18"/>
                </a:solidFill>
                <a:latin typeface="Segoe UI" panose="020B0502040204020203" pitchFamily="34" charset="0"/>
              </a:rPr>
              <a:t>Zapata  = 1,80 × 1,80 × 0,50 × 24 = 38,9 kN</a:t>
            </a:r>
            <a:endParaRPr lang="es-BO" sz="1150">
              <a:solidFill>
                <a:srgbClr val="241F18"/>
              </a:solidFill>
              <a:latin typeface="Segoe UI" panose="020B0502040204020203" pitchFamily="34" charset="0"/>
            </a:endParaRPr>
          </a:p>
        </p:txBody>
      </p:sp>
      <p:sp>
        <p:nvSpPr>
          <p:cNvPr id="24" name="CuadroTexto 23">
            <a:extLst>
              <a:ext uri="{FF2B5EF4-FFF2-40B4-BE49-F238E27FC236}">
                <a16:creationId xmlns:a16="http://schemas.microsoft.com/office/drawing/2014/main" id="{B851BF57-B4DA-791E-EA80-D887436062E2}"/>
              </a:ext>
            </a:extLst>
          </p:cNvPr>
          <p:cNvSpPr txBox="1"/>
          <p:nvPr/>
        </p:nvSpPr>
        <p:spPr>
          <a:xfrm>
            <a:off x="4648200" y="3479800"/>
            <a:ext cx="3124200" cy="292100"/>
          </a:xfrm>
          <a:prstGeom prst="rect">
            <a:avLst/>
          </a:prstGeom>
          <a:noFill/>
        </p:spPr>
        <p:txBody>
          <a:bodyPr vert="horz" wrap="square" lIns="0" tIns="0" rIns="0" bIns="0" rtlCol="0" anchor="t">
            <a:noAutofit/>
          </a:bodyPr>
          <a:lstStyle/>
          <a:p>
            <a:pPr algn="l"/>
            <a:r>
              <a:rPr lang="es-BO" sz="1150">
                <a:solidFill>
                  <a:srgbClr val="241F18"/>
                </a:solidFill>
                <a:latin typeface="Segoe UI" panose="020B0502040204020203" pitchFamily="34" charset="0"/>
              </a:rPr>
              <a:t>Relleno = 1,80 × 1,80 × 0,70 × 17 = 38,6 kN</a:t>
            </a:r>
          </a:p>
        </p:txBody>
      </p:sp>
      <p:sp>
        <p:nvSpPr>
          <p:cNvPr id="25" name="CuadroTexto 24">
            <a:extLst>
              <a:ext uri="{FF2B5EF4-FFF2-40B4-BE49-F238E27FC236}">
                <a16:creationId xmlns:a16="http://schemas.microsoft.com/office/drawing/2014/main" id="{6D4BEF22-6B37-F60F-388C-EB8FA21B0362}"/>
              </a:ext>
            </a:extLst>
          </p:cNvPr>
          <p:cNvSpPr txBox="1"/>
          <p:nvPr/>
        </p:nvSpPr>
        <p:spPr>
          <a:xfrm>
            <a:off x="4648200" y="3797300"/>
            <a:ext cx="3124200" cy="292100"/>
          </a:xfrm>
          <a:prstGeom prst="rect">
            <a:avLst/>
          </a:prstGeom>
          <a:noFill/>
        </p:spPr>
        <p:txBody>
          <a:bodyPr vert="horz" wrap="square" lIns="0" tIns="0" rIns="0" bIns="0" rtlCol="0" anchor="t">
            <a:noAutofit/>
          </a:bodyPr>
          <a:lstStyle/>
          <a:p>
            <a:endParaRPr lang="es-BO" sz="1150">
              <a:solidFill>
                <a:srgbClr val="241F18"/>
              </a:solidFill>
              <a:latin typeface="Segoe UI" panose="020B0502040204020203" pitchFamily="34" charset="0"/>
            </a:endParaRPr>
          </a:p>
        </p:txBody>
      </p:sp>
      <p:sp>
        <p:nvSpPr>
          <p:cNvPr id="26" name="CuadroTexto 25">
            <a:extLst>
              <a:ext uri="{FF2B5EF4-FFF2-40B4-BE49-F238E27FC236}">
                <a16:creationId xmlns:a16="http://schemas.microsoft.com/office/drawing/2014/main" id="{967CD43F-8AB0-2817-9102-D7350045D521}"/>
              </a:ext>
            </a:extLst>
          </p:cNvPr>
          <p:cNvSpPr txBox="1"/>
          <p:nvPr/>
        </p:nvSpPr>
        <p:spPr>
          <a:xfrm>
            <a:off x="4648200" y="4114800"/>
            <a:ext cx="3124200" cy="292100"/>
          </a:xfrm>
          <a:prstGeom prst="rect">
            <a:avLst/>
          </a:prstGeom>
          <a:noFill/>
        </p:spPr>
        <p:txBody>
          <a:bodyPr vert="horz" wrap="square" lIns="0" tIns="0" rIns="0" bIns="0" rtlCol="0" anchor="t">
            <a:noAutofit/>
          </a:bodyPr>
          <a:lstStyle/>
          <a:p>
            <a:pPr algn="l"/>
            <a:r>
              <a:rPr lang="en-US" sz="1150">
                <a:solidFill>
                  <a:srgbClr val="241F18"/>
                </a:solidFill>
                <a:latin typeface="Segoe UI" panose="020B0502040204020203" pitchFamily="34" charset="0"/>
              </a:rPr>
              <a:t>P_total  =  620  +  38,9  +  38,6</a:t>
            </a:r>
            <a:endParaRPr lang="es-BO" sz="1150">
              <a:solidFill>
                <a:srgbClr val="241F18"/>
              </a:solidFill>
              <a:latin typeface="Segoe UI" panose="020B0502040204020203" pitchFamily="34" charset="0"/>
            </a:endParaRPr>
          </a:p>
        </p:txBody>
      </p:sp>
      <p:sp>
        <p:nvSpPr>
          <p:cNvPr id="27" name="CuadroTexto 26">
            <a:extLst>
              <a:ext uri="{FF2B5EF4-FFF2-40B4-BE49-F238E27FC236}">
                <a16:creationId xmlns:a16="http://schemas.microsoft.com/office/drawing/2014/main" id="{1D027974-35FF-43BB-523B-783E5CB521B9}"/>
              </a:ext>
            </a:extLst>
          </p:cNvPr>
          <p:cNvSpPr txBox="1"/>
          <p:nvPr/>
        </p:nvSpPr>
        <p:spPr>
          <a:xfrm>
            <a:off x="4648200" y="4432300"/>
            <a:ext cx="3124200" cy="292100"/>
          </a:xfrm>
          <a:prstGeom prst="rect">
            <a:avLst/>
          </a:prstGeom>
          <a:noFill/>
        </p:spPr>
        <p:txBody>
          <a:bodyPr vert="horz" wrap="square" lIns="0" tIns="0" rIns="0" bIns="0" rtlCol="0" anchor="t">
            <a:noAutofit/>
          </a:bodyPr>
          <a:lstStyle/>
          <a:p>
            <a:pPr algn="l"/>
            <a:r>
              <a:rPr lang="es-BO" sz="1150">
                <a:solidFill>
                  <a:srgbClr val="241F18"/>
                </a:solidFill>
                <a:latin typeface="Segoe UI" panose="020B0502040204020203" pitchFamily="34" charset="0"/>
              </a:rPr>
              <a:t>P_total  =  697,5 kN</a:t>
            </a:r>
          </a:p>
        </p:txBody>
      </p:sp>
      <p:pic>
        <p:nvPicPr>
          <p:cNvPr id="102" name="Diagrama del paso" descr="Paso 4: columna, relleno y zapata suman 697,5 kN"/>
          <p:cNvPicPr>
            <a:picLocks noChangeAspect="1"/>
          </p:cNvPicPr>
          <p:nvPr/>
        </p:nvPicPr>
        <p:blipFill>
          <a:blip r:embed="rId100"/>
          <a:stretch>
            <a:fillRect/>
          </a:stretch>
        </p:blipFill>
        <p:spPr>
          <a:xfrm>
            <a:off x="8229600" y="3044952"/>
            <a:ext cx="3355848" cy="1883664"/>
          </a:xfrm>
          <a:prstGeom prst="rect">
            <a:avLst/>
          </a:prstGeom>
        </p:spPr>
      </p:pic>
      <p:sp>
        <p:nvSpPr>
          <p:cNvPr id="94" name="CuadroTexto 93">
            <a:extLst>
              <a:ext uri="{FF2B5EF4-FFF2-40B4-BE49-F238E27FC236}">
                <a16:creationId xmlns:a16="http://schemas.microsoft.com/office/drawing/2014/main" id="{B4A1DC85-8A41-7AC8-2C54-A86750984B08}"/>
              </a:ext>
            </a:extLst>
          </p:cNvPr>
          <p:cNvSpPr txBox="1"/>
          <p:nvPr/>
        </p:nvSpPr>
        <p:spPr>
          <a:xfrm>
            <a:off x="736600" y="5029200"/>
            <a:ext cx="5080000" cy="152400"/>
          </a:xfrm>
          <a:prstGeom prst="rect">
            <a:avLst/>
          </a:prstGeom>
          <a:noFill/>
        </p:spPr>
        <p:txBody>
          <a:bodyPr vert="horz" wrap="square" lIns="0" tIns="0" rIns="0" bIns="0" rtlCol="0" anchor="t">
            <a:noAutofit/>
          </a:bodyPr>
          <a:lstStyle/>
          <a:p>
            <a:r>
              <a:rPr lang="es-BO" sz="700" spc="120">
                <a:solidFill>
                  <a:srgbClr val="6A4F20"/>
                </a:solidFill>
                <a:latin typeface="Segoe UI Semibold" panose="020B0702040204020203" pitchFamily="34" charset="0"/>
              </a:rPr>
              <a:t>QUÉ SIGNIFICA ESTE NÚMERO</a:t>
            </a:r>
          </a:p>
        </p:txBody>
      </p:sp>
      <p:sp>
        <p:nvSpPr>
          <p:cNvPr id="95" name="CuadroTexto 94">
            <a:extLst>
              <a:ext uri="{FF2B5EF4-FFF2-40B4-BE49-F238E27FC236}">
                <a16:creationId xmlns:a16="http://schemas.microsoft.com/office/drawing/2014/main" id="{1E0681A8-C506-F755-6108-FD67570D8B7A}"/>
              </a:ext>
            </a:extLst>
          </p:cNvPr>
          <p:cNvSpPr txBox="1"/>
          <p:nvPr/>
        </p:nvSpPr>
        <p:spPr>
          <a:xfrm>
            <a:off x="736600" y="5194300"/>
            <a:ext cx="10845800" cy="304800"/>
          </a:xfrm>
          <a:prstGeom prst="rect">
            <a:avLst/>
          </a:prstGeom>
          <a:noFill/>
        </p:spPr>
        <p:txBody>
          <a:bodyPr vert="horz" wrap="square" lIns="0" tIns="0" rIns="0" bIns="0" rtlCol="0" anchor="t">
            <a:noAutofit/>
          </a:bodyPr>
          <a:lstStyle/>
          <a:p>
            <a:pPr algn="l"/>
            <a:r>
              <a:rPr lang="es-MX" sz="1050">
                <a:solidFill>
                  <a:srgbClr val="5A5248"/>
                </a:solidFill>
                <a:latin typeface="Segoe UI" panose="020B0502040204020203" pitchFamily="34" charset="0"/>
              </a:rPr>
              <a:t>El peso propio son 77,5 kN, un 12 % más de carga que la columna sola.</a:t>
            </a:r>
            <a:endParaRPr lang="es-BO" sz="1050">
              <a:solidFill>
                <a:srgbClr val="5A5248"/>
              </a:solidFill>
              <a:latin typeface="Segoe UI" panose="020B0502040204020203" pitchFamily="34" charset="0"/>
            </a:endParaRPr>
          </a:p>
        </p:txBody>
      </p:sp>
      <p:sp>
        <p:nvSpPr>
          <p:cNvPr id="96" name="Resultado_1">
            <a:extLst>
              <a:ext uri="{FF2B5EF4-FFF2-40B4-BE49-F238E27FC236}">
                <a16:creationId xmlns:a16="http://schemas.microsoft.com/office/drawing/2014/main" id="{B33F455A-862D-A3D5-AB64-FC3B23F12613}"/>
              </a:ext>
            </a:extLst>
          </p:cNvPr>
          <p:cNvSpPr/>
          <p:nvPr/>
        </p:nvSpPr>
        <p:spPr>
          <a:xfrm>
            <a:off x="609600" y="5562600"/>
            <a:ext cx="10972800" cy="55880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38100" rIns="101600" bIns="38100" rtlCol="0" anchor="ctr"/>
          <a:lstStyle/>
          <a:p>
            <a:pPr algn="ctr"/>
            <a:r>
              <a:rPr lang="en-US" sz="1600">
                <a:solidFill>
                  <a:srgbClr val="FFFFFF"/>
                </a:solidFill>
                <a:latin typeface="Bahnschrift SemiBold" panose="020B0502040204020203" pitchFamily="34" charset="0"/>
              </a:rPr>
              <a:t>P_total  =  697,5 kN     ·     A  =  1,80 × 1,80  =  3,24 m²</a:t>
            </a:r>
            <a:endParaRPr lang="es-BO" sz="1600">
              <a:solidFill>
                <a:srgbClr val="FFFFFF"/>
              </a:solidFill>
              <a:latin typeface="Bahnschrift SemiBold" panose="020B0502040204020203" pitchFamily="34" charset="0"/>
            </a:endParaRPr>
          </a:p>
        </p:txBody>
      </p:sp>
      <p:sp>
        <p:nvSpPr>
          <p:cNvPr id="97" name="CuadroTexto 96">
            <a:extLst>
              <a:ext uri="{FF2B5EF4-FFF2-40B4-BE49-F238E27FC236}">
                <a16:creationId xmlns:a16="http://schemas.microsoft.com/office/drawing/2014/main" id="{FCD5D735-8589-839C-7FF0-679E6A1127B2}"/>
              </a:ext>
            </a:extLst>
          </p:cNvPr>
          <p:cNvSpPr txBox="1"/>
          <p:nvPr/>
        </p:nvSpPr>
        <p:spPr>
          <a:xfrm>
            <a:off x="609600" y="6324600"/>
            <a:ext cx="10972800" cy="152400"/>
          </a:xfrm>
          <a:prstGeom prst="rect">
            <a:avLst/>
          </a:prstGeom>
          <a:noFill/>
        </p:spPr>
        <p:txBody>
          <a:bodyPr vert="horz" wrap="square" lIns="0" tIns="0" rIns="0" bIns="0" rtlCol="0" anchor="t">
            <a:noAutofit/>
          </a:bodyPr>
          <a:lstStyle/>
          <a:p>
            <a:pPr algn="l"/>
            <a:r>
              <a:rPr lang="es-MX" sz="700">
                <a:solidFill>
                  <a:srgbClr val="938A7C"/>
                </a:solidFill>
                <a:latin typeface="Segoe UI" panose="020B0502040204020203" pitchFamily="34" charset="0"/>
              </a:rPr>
              <a:t>Fuente: Equilibrio en el plano de apoyo; pesos específicos de proyecto.</a:t>
            </a:r>
            <a:endParaRPr lang="es-BO" sz="700">
              <a:solidFill>
                <a:srgbClr val="938A7C"/>
              </a:solidFill>
              <a:latin typeface="Segoe UI" panose="020B0502040204020203" pitchFamily="34" charset="0"/>
            </a:endParaRPr>
          </a:p>
        </p:txBody>
      </p:sp>
      <p:cxnSp>
        <p:nvCxnSpPr>
          <p:cNvPr id="98" name="Conector recto 97">
            <a:extLst>
              <a:ext uri="{FF2B5EF4-FFF2-40B4-BE49-F238E27FC236}">
                <a16:creationId xmlns:a16="http://schemas.microsoft.com/office/drawing/2014/main" id="{70BA0A34-1ED9-81B9-6EE6-A7BAD50E2286}"/>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99" name="CuadroTexto 98">
            <a:extLst>
              <a:ext uri="{FF2B5EF4-FFF2-40B4-BE49-F238E27FC236}">
                <a16:creationId xmlns:a16="http://schemas.microsoft.com/office/drawing/2014/main" id="{A9695248-7F7C-F1C4-32B7-0FCE3F73950B}"/>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100" name="CuadroTexto 99">
            <a:extLst>
              <a:ext uri="{FF2B5EF4-FFF2-40B4-BE49-F238E27FC236}">
                <a16:creationId xmlns:a16="http://schemas.microsoft.com/office/drawing/2014/main" id="{5F03F420-312E-532B-A006-C6B814330325}"/>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101" name="PageNo">
            <a:extLst>
              <a:ext uri="{FF2B5EF4-FFF2-40B4-BE49-F238E27FC236}">
                <a16:creationId xmlns:a16="http://schemas.microsoft.com/office/drawing/2014/main" id="{04F98BC7-DB31-C496-DB41-E0264698618E}"/>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28 / 38</a:t>
            </a:r>
          </a:p>
        </p:txBody>
      </p:sp>
    </p:spTree>
    <p:custDataLst>
      <p:tags r:id="rId1"/>
    </p:custDataLst>
    <p:extLst>
      <p:ext uri="{BB962C8B-B14F-4D97-AF65-F5344CB8AC3E}">
        <p14:creationId xmlns:p14="http://schemas.microsoft.com/office/powerpoint/2010/main" val="12100597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6"/>
                                        </p:tgtEl>
                                        <p:attrNameLst>
                                          <p:attrName>style.visibility</p:attrName>
                                        </p:attrNameLst>
                                      </p:cBhvr>
                                      <p:to>
                                        <p:strVal val="visible"/>
                                      </p:to>
                                    </p:set>
                                    <p:animEffect transition="in" filter="fade">
                                      <p:cBhvr>
                                        <p:cTn id="7" dur="400"/>
                                        <p:tgtEl>
                                          <p:spTgt spid="9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1502A7C1-BF84-66EB-7BDC-67079D0C71BA}"/>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MX" sz="900" spc="180">
                <a:solidFill>
                  <a:srgbClr val="6A4F20"/>
                </a:solidFill>
                <a:latin typeface="Segoe UI Semibold" panose="020B0702040204020203" pitchFamily="34" charset="0"/>
              </a:rPr>
              <a:t>CASO 7  ·  PASO 5 DE 8</a:t>
            </a:r>
            <a:endParaRPr lang="es-BO" sz="900" spc="180">
              <a:solidFill>
                <a:srgbClr val="6A4F20"/>
              </a:solidFill>
              <a:latin typeface="Segoe UI Semibold" panose="020B0702040204020203" pitchFamily="34" charset="0"/>
            </a:endParaRPr>
          </a:p>
        </p:txBody>
      </p:sp>
      <p:sp>
        <p:nvSpPr>
          <p:cNvPr id="3" name="Title">
            <a:extLst>
              <a:ext uri="{FF2B5EF4-FFF2-40B4-BE49-F238E27FC236}">
                <a16:creationId xmlns:a16="http://schemas.microsoft.com/office/drawing/2014/main" id="{75B4B60F-8D37-3FCB-E546-116BDD077167}"/>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La comprobación con la carga de hoy</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3DF7B7A6-CDE9-8FA5-4B76-378D7971AA49}"/>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6" name="CuadroTexto 5">
            <a:extLst>
              <a:ext uri="{FF2B5EF4-FFF2-40B4-BE49-F238E27FC236}">
                <a16:creationId xmlns:a16="http://schemas.microsoft.com/office/drawing/2014/main" id="{B0A8F989-E8C1-309B-82EE-C7E3C7817F26}"/>
              </a:ext>
            </a:extLst>
          </p:cNvPr>
          <p:cNvSpPr txBox="1"/>
          <p:nvPr/>
        </p:nvSpPr>
        <p:spPr>
          <a:xfrm>
            <a:off x="609600" y="1270000"/>
            <a:ext cx="10972800" cy="228600"/>
          </a:xfrm>
          <a:prstGeom prst="rect">
            <a:avLst/>
          </a:prstGeom>
          <a:noFill/>
        </p:spPr>
        <p:txBody>
          <a:bodyPr vert="horz" wrap="square" lIns="0" tIns="0" rIns="0" bIns="0" rtlCol="0" anchor="t">
            <a:noAutofit/>
          </a:bodyPr>
          <a:lstStyle/>
          <a:p>
            <a:pPr algn="ctr"/>
            <a:r>
              <a:rPr lang="es-MX" sz="1150">
                <a:solidFill>
                  <a:srgbClr val="6A4F20"/>
                </a:solidFill>
                <a:latin typeface="Segoe UI Semibold" panose="020B0702040204020203" pitchFamily="34" charset="0"/>
              </a:rPr>
              <a:t>¿Cumple la zapata con la carga que ya tiene hoy?</a:t>
            </a:r>
            <a:endParaRPr lang="es-BO" sz="1150">
              <a:solidFill>
                <a:srgbClr val="6A4F20"/>
              </a:solidFill>
              <a:latin typeface="Segoe UI Semibold" panose="020B0702040204020203" pitchFamily="34" charset="0"/>
            </a:endParaRPr>
          </a:p>
        </p:txBody>
      </p:sp>
      <p:sp>
        <p:nvSpPr>
          <p:cNvPr id="7" name="Rectángulo 6">
            <a:extLst>
              <a:ext uri="{FF2B5EF4-FFF2-40B4-BE49-F238E27FC236}">
                <a16:creationId xmlns:a16="http://schemas.microsoft.com/office/drawing/2014/main" id="{16046A0F-D86B-BB30-9819-25EE39B71513}"/>
              </a:ext>
            </a:extLst>
          </p:cNvPr>
          <p:cNvSpPr/>
          <p:nvPr/>
        </p:nvSpPr>
        <p:spPr>
          <a:xfrm>
            <a:off x="609600" y="1549400"/>
            <a:ext cx="10972800" cy="558800"/>
          </a:xfrm>
          <a:prstGeom prst="rect">
            <a:avLst/>
          </a:prstGeom>
          <a:solidFill>
            <a:srgbClr val="1C181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38100" rIns="101600" bIns="38100" rtlCol="0" anchor="ctr"/>
          <a:lstStyle/>
          <a:p>
            <a:pPr algn="ctr"/>
            <a:r>
              <a:rPr lang="es-BO" sz="1700">
                <a:solidFill>
                  <a:srgbClr val="FFFFFF"/>
                </a:solidFill>
                <a:latin typeface="Bahnschrift SemiBold" panose="020B0502040204020203" pitchFamily="34" charset="0"/>
              </a:rPr>
              <a:t>q_aplicada  =  P_total / A              margen  =  q_adm / q_aplicada</a:t>
            </a:r>
          </a:p>
        </p:txBody>
      </p:sp>
      <p:sp>
        <p:nvSpPr>
          <p:cNvPr id="9" name="CuadroTexto 8">
            <a:extLst>
              <a:ext uri="{FF2B5EF4-FFF2-40B4-BE49-F238E27FC236}">
                <a16:creationId xmlns:a16="http://schemas.microsoft.com/office/drawing/2014/main" id="{F5BDD1B1-E91D-0224-9536-8B87151F5F28}"/>
              </a:ext>
            </a:extLst>
          </p:cNvPr>
          <p:cNvSpPr txBox="1"/>
          <p:nvPr/>
        </p:nvSpPr>
        <p:spPr>
          <a:xfrm>
            <a:off x="736600" y="2209800"/>
            <a:ext cx="5080000" cy="152400"/>
          </a:xfrm>
          <a:prstGeom prst="rect">
            <a:avLst/>
          </a:prstGeom>
          <a:noFill/>
        </p:spPr>
        <p:txBody>
          <a:bodyPr vert="horz" wrap="square" lIns="0" tIns="0" rIns="0" bIns="0" rtlCol="0" anchor="t">
            <a:noAutofit/>
          </a:bodyPr>
          <a:lstStyle/>
          <a:p>
            <a:r>
              <a:rPr lang="es-MX" sz="700" spc="120">
                <a:solidFill>
                  <a:srgbClr val="6A4F20"/>
                </a:solidFill>
                <a:latin typeface="Segoe UI Semibold" panose="020B0702040204020203" pitchFamily="34" charset="0"/>
              </a:rPr>
              <a:t>DE DÓNDE SALE LA FÓRMULA</a:t>
            </a:r>
            <a:endParaRPr lang="es-BO" sz="700" spc="120">
              <a:solidFill>
                <a:srgbClr val="6A4F20"/>
              </a:solidFill>
              <a:latin typeface="Segoe UI Semibold" panose="020B0702040204020203" pitchFamily="34" charset="0"/>
            </a:endParaRPr>
          </a:p>
        </p:txBody>
      </p:sp>
      <p:sp>
        <p:nvSpPr>
          <p:cNvPr id="10" name="CuadroTexto 9">
            <a:extLst>
              <a:ext uri="{FF2B5EF4-FFF2-40B4-BE49-F238E27FC236}">
                <a16:creationId xmlns:a16="http://schemas.microsoft.com/office/drawing/2014/main" id="{75BA4B5D-2C15-3082-D81F-A69DCD1B8099}"/>
              </a:ext>
            </a:extLst>
          </p:cNvPr>
          <p:cNvSpPr txBox="1"/>
          <p:nvPr/>
        </p:nvSpPr>
        <p:spPr>
          <a:xfrm>
            <a:off x="736600" y="2374900"/>
            <a:ext cx="10845800" cy="406400"/>
          </a:xfrm>
          <a:prstGeom prst="rect">
            <a:avLst/>
          </a:prstGeom>
          <a:noFill/>
        </p:spPr>
        <p:txBody>
          <a:bodyPr vert="horz" wrap="square" lIns="0" tIns="0" rIns="0" bIns="0" rtlCol="0" anchor="t">
            <a:noAutofit/>
          </a:bodyPr>
          <a:lstStyle/>
          <a:p>
            <a:pPr algn="l"/>
            <a:r>
              <a:rPr lang="es-MX" sz="900">
                <a:solidFill>
                  <a:srgbClr val="5A5248"/>
                </a:solidFill>
                <a:latin typeface="Segoe UI" panose="020B0502040204020203" pitchFamily="34" charset="0"/>
              </a:rPr>
              <a:t>Definición de presión media bajo la zapata, y comparación directa con el listón del paso 3. El margen es adimensional: por encima de 1 cumple, por debajo no.</a:t>
            </a:r>
            <a:endParaRPr lang="es-BO" sz="900">
              <a:solidFill>
                <a:srgbClr val="5A5248"/>
              </a:solidFill>
              <a:latin typeface="Segoe UI" panose="020B0502040204020203" pitchFamily="34" charset="0"/>
            </a:endParaRPr>
          </a:p>
        </p:txBody>
      </p:sp>
      <p:sp>
        <p:nvSpPr>
          <p:cNvPr id="11" name="CuadroTexto 10">
            <a:extLst>
              <a:ext uri="{FF2B5EF4-FFF2-40B4-BE49-F238E27FC236}">
                <a16:creationId xmlns:a16="http://schemas.microsoft.com/office/drawing/2014/main" id="{207D9DA5-DA94-A75B-B1A9-EFB9C66FF5C3}"/>
              </a:ext>
            </a:extLst>
          </p:cNvPr>
          <p:cNvSpPr txBox="1"/>
          <p:nvPr/>
        </p:nvSpPr>
        <p:spPr>
          <a:xfrm>
            <a:off x="609600" y="2844800"/>
            <a:ext cx="3581400" cy="152400"/>
          </a:xfrm>
          <a:prstGeom prst="rect">
            <a:avLst/>
          </a:prstGeom>
          <a:noFill/>
        </p:spPr>
        <p:txBody>
          <a:bodyPr vert="horz" wrap="square" lIns="0" tIns="0" rIns="0" bIns="0" rtlCol="0" anchor="t">
            <a:noAutofit/>
          </a:bodyPr>
          <a:lstStyle/>
          <a:p>
            <a:pPr algn="l"/>
            <a:r>
              <a:rPr lang="es-BO" sz="700">
                <a:solidFill>
                  <a:srgbClr val="6A4F20"/>
                </a:solidFill>
                <a:latin typeface="Segoe UI Semibold" panose="020B0702040204020203" pitchFamily="34" charset="0"/>
              </a:rPr>
              <a:t>LOS DATOS QUE ENTRAN</a:t>
            </a:r>
          </a:p>
        </p:txBody>
      </p:sp>
      <p:sp>
        <p:nvSpPr>
          <p:cNvPr id="13" name="CuadroTexto 12">
            <a:extLst>
              <a:ext uri="{FF2B5EF4-FFF2-40B4-BE49-F238E27FC236}">
                <a16:creationId xmlns:a16="http://schemas.microsoft.com/office/drawing/2014/main" id="{FB657E42-B297-4AD9-C240-AE52E58E91EA}"/>
              </a:ext>
            </a:extLst>
          </p:cNvPr>
          <p:cNvSpPr txBox="1"/>
          <p:nvPr/>
        </p:nvSpPr>
        <p:spPr>
          <a:xfrm>
            <a:off x="762000" y="3048000"/>
            <a:ext cx="3429000" cy="165100"/>
          </a:xfrm>
          <a:prstGeom prst="rect">
            <a:avLst/>
          </a:prstGeom>
          <a:noFill/>
        </p:spPr>
        <p:txBody>
          <a:bodyPr vert="horz" wrap="square" lIns="0" tIns="0" rIns="0" bIns="0" rtlCol="0" anchor="t">
            <a:noAutofit/>
          </a:bodyPr>
          <a:lstStyle/>
          <a:p>
            <a:pPr algn="l"/>
            <a:r>
              <a:rPr lang="es-BO" sz="1000">
                <a:solidFill>
                  <a:srgbClr val="1C1813"/>
                </a:solidFill>
                <a:latin typeface="Segoe UI Semibold" panose="020B0702040204020203" pitchFamily="34" charset="0"/>
              </a:rPr>
              <a:t>P_total = 697,5 kN</a:t>
            </a:r>
          </a:p>
        </p:txBody>
      </p:sp>
      <p:sp>
        <p:nvSpPr>
          <p:cNvPr id="14" name="CuadroTexto 13">
            <a:extLst>
              <a:ext uri="{FF2B5EF4-FFF2-40B4-BE49-F238E27FC236}">
                <a16:creationId xmlns:a16="http://schemas.microsoft.com/office/drawing/2014/main" id="{6A12B0BB-2076-50C3-DD97-C8F227D69441}"/>
              </a:ext>
            </a:extLst>
          </p:cNvPr>
          <p:cNvSpPr txBox="1"/>
          <p:nvPr/>
        </p:nvSpPr>
        <p:spPr>
          <a:xfrm>
            <a:off x="762000" y="3213100"/>
            <a:ext cx="3429000" cy="317500"/>
          </a:xfrm>
          <a:prstGeom prst="rect">
            <a:avLst/>
          </a:prstGeom>
          <a:noFill/>
        </p:spPr>
        <p:txBody>
          <a:bodyPr vert="horz" wrap="square" lIns="0" tIns="0" rIns="0" bIns="0" rtlCol="0" anchor="t">
            <a:noAutofit/>
          </a:bodyPr>
          <a:lstStyle/>
          <a:p>
            <a:pPr algn="l"/>
            <a:r>
              <a:rPr lang="es-MX" sz="850">
                <a:solidFill>
                  <a:srgbClr val="5A5248"/>
                </a:solidFill>
                <a:latin typeface="Segoe UI" panose="020B0502040204020203" pitchFamily="34" charset="0"/>
              </a:rPr>
              <a:t>Del paso 4, con el peso propio incluido.</a:t>
            </a:r>
            <a:endParaRPr lang="es-BO" sz="850">
              <a:solidFill>
                <a:srgbClr val="5A5248"/>
              </a:solidFill>
              <a:latin typeface="Segoe UI" panose="020B0502040204020203" pitchFamily="34" charset="0"/>
            </a:endParaRPr>
          </a:p>
        </p:txBody>
      </p:sp>
      <p:sp>
        <p:nvSpPr>
          <p:cNvPr id="16" name="CuadroTexto 15">
            <a:extLst>
              <a:ext uri="{FF2B5EF4-FFF2-40B4-BE49-F238E27FC236}">
                <a16:creationId xmlns:a16="http://schemas.microsoft.com/office/drawing/2014/main" id="{86FE4A63-96AA-5FDA-49AD-A9D3D0238A82}"/>
              </a:ext>
            </a:extLst>
          </p:cNvPr>
          <p:cNvSpPr txBox="1"/>
          <p:nvPr/>
        </p:nvSpPr>
        <p:spPr>
          <a:xfrm>
            <a:off x="762000" y="3670300"/>
            <a:ext cx="3429000" cy="165100"/>
          </a:xfrm>
          <a:prstGeom prst="rect">
            <a:avLst/>
          </a:prstGeom>
          <a:noFill/>
        </p:spPr>
        <p:txBody>
          <a:bodyPr vert="horz" wrap="square" lIns="0" tIns="0" rIns="0" bIns="0" rtlCol="0" anchor="t">
            <a:noAutofit/>
          </a:bodyPr>
          <a:lstStyle/>
          <a:p>
            <a:pPr algn="l"/>
            <a:r>
              <a:rPr lang="es-BO" sz="1000">
                <a:solidFill>
                  <a:srgbClr val="1C1813"/>
                </a:solidFill>
                <a:latin typeface="Segoe UI Semibold" panose="020B0702040204020203" pitchFamily="34" charset="0"/>
              </a:rPr>
              <a:t>A = 3,24 m²</a:t>
            </a:r>
          </a:p>
        </p:txBody>
      </p:sp>
      <p:sp>
        <p:nvSpPr>
          <p:cNvPr id="17" name="CuadroTexto 16">
            <a:extLst>
              <a:ext uri="{FF2B5EF4-FFF2-40B4-BE49-F238E27FC236}">
                <a16:creationId xmlns:a16="http://schemas.microsoft.com/office/drawing/2014/main" id="{E3B077C7-4B4F-096D-0A4E-99A3E864053A}"/>
              </a:ext>
            </a:extLst>
          </p:cNvPr>
          <p:cNvSpPr txBox="1"/>
          <p:nvPr/>
        </p:nvSpPr>
        <p:spPr>
          <a:xfrm>
            <a:off x="762000" y="3835400"/>
            <a:ext cx="3429000" cy="317500"/>
          </a:xfrm>
          <a:prstGeom prst="rect">
            <a:avLst/>
          </a:prstGeom>
          <a:noFill/>
        </p:spPr>
        <p:txBody>
          <a:bodyPr vert="horz" wrap="square" lIns="0" tIns="0" rIns="0" bIns="0" rtlCol="0" anchor="t">
            <a:noAutofit/>
          </a:bodyPr>
          <a:lstStyle/>
          <a:p>
            <a:pPr algn="l"/>
            <a:r>
              <a:rPr lang="es-MX" sz="850">
                <a:solidFill>
                  <a:srgbClr val="5A5248"/>
                </a:solidFill>
                <a:latin typeface="Segoe UI" panose="020B0502040204020203" pitchFamily="34" charset="0"/>
              </a:rPr>
              <a:t>Área de apoyo de la zapata existente.</a:t>
            </a:r>
            <a:endParaRPr lang="es-BO" sz="850">
              <a:solidFill>
                <a:srgbClr val="5A5248"/>
              </a:solidFill>
              <a:latin typeface="Segoe UI" panose="020B0502040204020203" pitchFamily="34" charset="0"/>
            </a:endParaRPr>
          </a:p>
        </p:txBody>
      </p:sp>
      <p:sp>
        <p:nvSpPr>
          <p:cNvPr id="19" name="CuadroTexto 18">
            <a:extLst>
              <a:ext uri="{FF2B5EF4-FFF2-40B4-BE49-F238E27FC236}">
                <a16:creationId xmlns:a16="http://schemas.microsoft.com/office/drawing/2014/main" id="{FC5AD55C-9D26-E90F-10C8-ADA17850845F}"/>
              </a:ext>
            </a:extLst>
          </p:cNvPr>
          <p:cNvSpPr txBox="1"/>
          <p:nvPr/>
        </p:nvSpPr>
        <p:spPr>
          <a:xfrm>
            <a:off x="762000" y="4292600"/>
            <a:ext cx="3429000" cy="165100"/>
          </a:xfrm>
          <a:prstGeom prst="rect">
            <a:avLst/>
          </a:prstGeom>
          <a:noFill/>
        </p:spPr>
        <p:txBody>
          <a:bodyPr vert="horz" wrap="square" lIns="0" tIns="0" rIns="0" bIns="0" rtlCol="0" anchor="t">
            <a:noAutofit/>
          </a:bodyPr>
          <a:lstStyle/>
          <a:p>
            <a:pPr algn="l"/>
            <a:r>
              <a:rPr lang="es-BO" sz="1000">
                <a:solidFill>
                  <a:srgbClr val="1C1813"/>
                </a:solidFill>
                <a:latin typeface="Segoe UI Semibold" panose="020B0702040204020203" pitchFamily="34" charset="0"/>
              </a:rPr>
              <a:t>q_adm = 178,4 kPa</a:t>
            </a:r>
          </a:p>
        </p:txBody>
      </p:sp>
      <p:sp>
        <p:nvSpPr>
          <p:cNvPr id="20" name="CuadroTexto 19">
            <a:extLst>
              <a:ext uri="{FF2B5EF4-FFF2-40B4-BE49-F238E27FC236}">
                <a16:creationId xmlns:a16="http://schemas.microsoft.com/office/drawing/2014/main" id="{6F49EF0E-1DA9-20F4-1CE7-AC616948C107}"/>
              </a:ext>
            </a:extLst>
          </p:cNvPr>
          <p:cNvSpPr txBox="1"/>
          <p:nvPr/>
        </p:nvSpPr>
        <p:spPr>
          <a:xfrm>
            <a:off x="762000" y="4457700"/>
            <a:ext cx="3429000" cy="317500"/>
          </a:xfrm>
          <a:prstGeom prst="rect">
            <a:avLst/>
          </a:prstGeom>
          <a:noFill/>
        </p:spPr>
        <p:txBody>
          <a:bodyPr vert="horz" wrap="square" lIns="0" tIns="0" rIns="0" bIns="0" rtlCol="0" anchor="t">
            <a:noAutofit/>
          </a:bodyPr>
          <a:lstStyle/>
          <a:p>
            <a:pPr algn="l"/>
            <a:r>
              <a:rPr lang="es-BO" sz="850">
                <a:solidFill>
                  <a:srgbClr val="5A5248"/>
                </a:solidFill>
                <a:latin typeface="Segoe UI" panose="020B0502040204020203" pitchFamily="34" charset="0"/>
              </a:rPr>
              <a:t>Del paso 3.</a:t>
            </a:r>
          </a:p>
        </p:txBody>
      </p:sp>
      <p:sp>
        <p:nvSpPr>
          <p:cNvPr id="21" name="CuadroTexto 20">
            <a:extLst>
              <a:ext uri="{FF2B5EF4-FFF2-40B4-BE49-F238E27FC236}">
                <a16:creationId xmlns:a16="http://schemas.microsoft.com/office/drawing/2014/main" id="{6F4C70AF-5428-FDD5-F26F-5D6542EEBD3F}"/>
              </a:ext>
            </a:extLst>
          </p:cNvPr>
          <p:cNvSpPr txBox="1"/>
          <p:nvPr/>
        </p:nvSpPr>
        <p:spPr>
          <a:xfrm>
            <a:off x="4495800" y="2844800"/>
            <a:ext cx="3429000" cy="152400"/>
          </a:xfrm>
          <a:prstGeom prst="rect">
            <a:avLst/>
          </a:prstGeom>
          <a:noFill/>
        </p:spPr>
        <p:txBody>
          <a:bodyPr vert="horz" wrap="square" lIns="0" tIns="0" rIns="0" bIns="0" rtlCol="0" anchor="t">
            <a:noAutofit/>
          </a:bodyPr>
          <a:lstStyle/>
          <a:p>
            <a:pPr algn="l"/>
            <a:r>
              <a:rPr lang="es-MX" sz="700">
                <a:solidFill>
                  <a:srgbClr val="6A4F20"/>
                </a:solidFill>
                <a:latin typeface="Segoe UI Semibold" panose="020B0702040204020203" pitchFamily="34" charset="0"/>
              </a:rPr>
              <a:t>LA CUENTA, PASO A PASO</a:t>
            </a:r>
            <a:endParaRPr lang="es-BO" sz="700">
              <a:solidFill>
                <a:srgbClr val="6A4F20"/>
              </a:solidFill>
              <a:latin typeface="Segoe UI Semibold" panose="020B0702040204020203" pitchFamily="34" charset="0"/>
            </a:endParaRPr>
          </a:p>
        </p:txBody>
      </p:sp>
      <p:sp>
        <p:nvSpPr>
          <p:cNvPr id="22" name="Rectángulo 21">
            <a:extLst>
              <a:ext uri="{FF2B5EF4-FFF2-40B4-BE49-F238E27FC236}">
                <a16:creationId xmlns:a16="http://schemas.microsoft.com/office/drawing/2014/main" id="{F113286D-83F0-C7C4-C355-CC10BB85B72B}"/>
              </a:ext>
            </a:extLst>
          </p:cNvPr>
          <p:cNvSpPr/>
          <p:nvPr/>
        </p:nvSpPr>
        <p:spPr>
          <a:xfrm>
            <a:off x="4495800" y="3048000"/>
            <a:ext cx="3429000" cy="18796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3" name="CuadroTexto 22">
            <a:extLst>
              <a:ext uri="{FF2B5EF4-FFF2-40B4-BE49-F238E27FC236}">
                <a16:creationId xmlns:a16="http://schemas.microsoft.com/office/drawing/2014/main" id="{05333601-D384-C8E1-8ADF-880789B6EDFD}"/>
              </a:ext>
            </a:extLst>
          </p:cNvPr>
          <p:cNvSpPr txBox="1"/>
          <p:nvPr/>
        </p:nvSpPr>
        <p:spPr>
          <a:xfrm>
            <a:off x="4648200" y="3162300"/>
            <a:ext cx="3124200" cy="292100"/>
          </a:xfrm>
          <a:prstGeom prst="rect">
            <a:avLst/>
          </a:prstGeom>
          <a:noFill/>
        </p:spPr>
        <p:txBody>
          <a:bodyPr vert="horz" wrap="square" lIns="0" tIns="0" rIns="0" bIns="0" rtlCol="0" anchor="t">
            <a:noAutofit/>
          </a:bodyPr>
          <a:lstStyle/>
          <a:p>
            <a:pPr algn="l"/>
            <a:r>
              <a:rPr lang="es-BO" sz="1150">
                <a:solidFill>
                  <a:srgbClr val="241F18"/>
                </a:solidFill>
                <a:latin typeface="Segoe UI" panose="020B0502040204020203" pitchFamily="34" charset="0"/>
              </a:rPr>
              <a:t>q_aplicada  =  697,5 kN  /  3,24 m²</a:t>
            </a:r>
          </a:p>
        </p:txBody>
      </p:sp>
      <p:sp>
        <p:nvSpPr>
          <p:cNvPr id="24" name="CuadroTexto 23">
            <a:extLst>
              <a:ext uri="{FF2B5EF4-FFF2-40B4-BE49-F238E27FC236}">
                <a16:creationId xmlns:a16="http://schemas.microsoft.com/office/drawing/2014/main" id="{7FD46F94-DFE7-9266-BD54-98B60BD44399}"/>
              </a:ext>
            </a:extLst>
          </p:cNvPr>
          <p:cNvSpPr txBox="1"/>
          <p:nvPr/>
        </p:nvSpPr>
        <p:spPr>
          <a:xfrm>
            <a:off x="4648200" y="3479800"/>
            <a:ext cx="3124200" cy="292100"/>
          </a:xfrm>
          <a:prstGeom prst="rect">
            <a:avLst/>
          </a:prstGeom>
          <a:noFill/>
        </p:spPr>
        <p:txBody>
          <a:bodyPr vert="horz" wrap="square" lIns="0" tIns="0" rIns="0" bIns="0" rtlCol="0" anchor="t">
            <a:noAutofit/>
          </a:bodyPr>
          <a:lstStyle/>
          <a:p>
            <a:pPr algn="l"/>
            <a:r>
              <a:rPr lang="es-BO" sz="1150">
                <a:solidFill>
                  <a:srgbClr val="241F18"/>
                </a:solidFill>
                <a:latin typeface="Segoe UI" panose="020B0502040204020203" pitchFamily="34" charset="0"/>
              </a:rPr>
              <a:t>q_aplicada  =  215,3 kPa</a:t>
            </a:r>
          </a:p>
        </p:txBody>
      </p:sp>
      <p:sp>
        <p:nvSpPr>
          <p:cNvPr id="25" name="CuadroTexto 24">
            <a:extLst>
              <a:ext uri="{FF2B5EF4-FFF2-40B4-BE49-F238E27FC236}">
                <a16:creationId xmlns:a16="http://schemas.microsoft.com/office/drawing/2014/main" id="{7DC938A9-A408-4D0C-19D7-1B65BDC71449}"/>
              </a:ext>
            </a:extLst>
          </p:cNvPr>
          <p:cNvSpPr txBox="1"/>
          <p:nvPr/>
        </p:nvSpPr>
        <p:spPr>
          <a:xfrm>
            <a:off x="4648200" y="3797300"/>
            <a:ext cx="3124200" cy="292100"/>
          </a:xfrm>
          <a:prstGeom prst="rect">
            <a:avLst/>
          </a:prstGeom>
          <a:noFill/>
        </p:spPr>
        <p:txBody>
          <a:bodyPr vert="horz" wrap="square" lIns="0" tIns="0" rIns="0" bIns="0" rtlCol="0" anchor="t">
            <a:noAutofit/>
          </a:bodyPr>
          <a:lstStyle/>
          <a:p>
            <a:endParaRPr lang="es-BO" sz="1150">
              <a:solidFill>
                <a:srgbClr val="241F18"/>
              </a:solidFill>
              <a:latin typeface="Segoe UI" panose="020B0502040204020203" pitchFamily="34" charset="0"/>
            </a:endParaRPr>
          </a:p>
        </p:txBody>
      </p:sp>
      <p:sp>
        <p:nvSpPr>
          <p:cNvPr id="26" name="CuadroTexto 25">
            <a:extLst>
              <a:ext uri="{FF2B5EF4-FFF2-40B4-BE49-F238E27FC236}">
                <a16:creationId xmlns:a16="http://schemas.microsoft.com/office/drawing/2014/main" id="{CF3771B1-3C63-4586-FA11-811D471CF3BD}"/>
              </a:ext>
            </a:extLst>
          </p:cNvPr>
          <p:cNvSpPr txBox="1"/>
          <p:nvPr/>
        </p:nvSpPr>
        <p:spPr>
          <a:xfrm>
            <a:off x="4648200" y="4114800"/>
            <a:ext cx="3124200" cy="292100"/>
          </a:xfrm>
          <a:prstGeom prst="rect">
            <a:avLst/>
          </a:prstGeom>
          <a:noFill/>
        </p:spPr>
        <p:txBody>
          <a:bodyPr vert="horz" wrap="square" lIns="0" tIns="0" rIns="0" bIns="0" rtlCol="0" anchor="t">
            <a:noAutofit/>
          </a:bodyPr>
          <a:lstStyle/>
          <a:p>
            <a:pPr algn="l"/>
            <a:r>
              <a:rPr lang="es-BO" sz="1150">
                <a:solidFill>
                  <a:srgbClr val="241F18"/>
                </a:solidFill>
                <a:latin typeface="Segoe UI" panose="020B0502040204020203" pitchFamily="34" charset="0"/>
              </a:rPr>
              <a:t>margen  =  178,4  /  215,3</a:t>
            </a:r>
          </a:p>
        </p:txBody>
      </p:sp>
      <p:sp>
        <p:nvSpPr>
          <p:cNvPr id="27" name="CuadroTexto 26">
            <a:extLst>
              <a:ext uri="{FF2B5EF4-FFF2-40B4-BE49-F238E27FC236}">
                <a16:creationId xmlns:a16="http://schemas.microsoft.com/office/drawing/2014/main" id="{2E35F801-3C52-38E5-87F9-18522E6B4ABC}"/>
              </a:ext>
            </a:extLst>
          </p:cNvPr>
          <p:cNvSpPr txBox="1"/>
          <p:nvPr/>
        </p:nvSpPr>
        <p:spPr>
          <a:xfrm>
            <a:off x="4648200" y="4432300"/>
            <a:ext cx="3124200" cy="292100"/>
          </a:xfrm>
          <a:prstGeom prst="rect">
            <a:avLst/>
          </a:prstGeom>
          <a:noFill/>
        </p:spPr>
        <p:txBody>
          <a:bodyPr vert="horz" wrap="square" lIns="0" tIns="0" rIns="0" bIns="0" rtlCol="0" anchor="t">
            <a:noAutofit/>
          </a:bodyPr>
          <a:lstStyle/>
          <a:p>
            <a:pPr algn="l"/>
            <a:r>
              <a:rPr lang="es-BO" sz="1150">
                <a:solidFill>
                  <a:srgbClr val="241F18"/>
                </a:solidFill>
                <a:latin typeface="Segoe UI" panose="020B0502040204020203" pitchFamily="34" charset="0"/>
              </a:rPr>
              <a:t>margen  =  0,83</a:t>
            </a:r>
          </a:p>
        </p:txBody>
      </p:sp>
      <p:pic>
        <p:nvPicPr>
          <p:cNvPr id="48" name="Diagrama del paso" descr="Paso 5: 215,3 kPa aplicados frente a 178,4 admisibles, margen 0,83"/>
          <p:cNvPicPr>
            <a:picLocks noChangeAspect="1"/>
          </p:cNvPicPr>
          <p:nvPr/>
        </p:nvPicPr>
        <p:blipFill>
          <a:blip r:embed="rId100"/>
          <a:stretch>
            <a:fillRect/>
          </a:stretch>
        </p:blipFill>
        <p:spPr>
          <a:xfrm>
            <a:off x="8229600" y="3044952"/>
            <a:ext cx="3355848" cy="1883664"/>
          </a:xfrm>
          <a:prstGeom prst="rect">
            <a:avLst/>
          </a:prstGeom>
        </p:spPr>
      </p:pic>
      <p:sp>
        <p:nvSpPr>
          <p:cNvPr id="40" name="CuadroTexto 39">
            <a:extLst>
              <a:ext uri="{FF2B5EF4-FFF2-40B4-BE49-F238E27FC236}">
                <a16:creationId xmlns:a16="http://schemas.microsoft.com/office/drawing/2014/main" id="{4D2F3744-A67A-B603-FBEE-DB827E594741}"/>
              </a:ext>
            </a:extLst>
          </p:cNvPr>
          <p:cNvSpPr txBox="1"/>
          <p:nvPr/>
        </p:nvSpPr>
        <p:spPr>
          <a:xfrm>
            <a:off x="736600" y="5029200"/>
            <a:ext cx="5080000" cy="152400"/>
          </a:xfrm>
          <a:prstGeom prst="rect">
            <a:avLst/>
          </a:prstGeom>
          <a:noFill/>
        </p:spPr>
        <p:txBody>
          <a:bodyPr vert="horz" wrap="square" lIns="0" tIns="0" rIns="0" bIns="0" rtlCol="0" anchor="t">
            <a:noAutofit/>
          </a:bodyPr>
          <a:lstStyle/>
          <a:p>
            <a:r>
              <a:rPr lang="es-BO" sz="700" spc="120">
                <a:solidFill>
                  <a:srgbClr val="6A4F20"/>
                </a:solidFill>
                <a:latin typeface="Segoe UI Semibold" panose="020B0702040204020203" pitchFamily="34" charset="0"/>
              </a:rPr>
              <a:t>QUÉ SIGNIFICA ESTE NÚMERO</a:t>
            </a:r>
          </a:p>
        </p:txBody>
      </p:sp>
      <p:sp>
        <p:nvSpPr>
          <p:cNvPr id="41" name="CuadroTexto 40">
            <a:extLst>
              <a:ext uri="{FF2B5EF4-FFF2-40B4-BE49-F238E27FC236}">
                <a16:creationId xmlns:a16="http://schemas.microsoft.com/office/drawing/2014/main" id="{2E72049C-4B1E-4745-883B-E5A9488E152C}"/>
              </a:ext>
            </a:extLst>
          </p:cNvPr>
          <p:cNvSpPr txBox="1"/>
          <p:nvPr/>
        </p:nvSpPr>
        <p:spPr>
          <a:xfrm>
            <a:off x="736600" y="5194300"/>
            <a:ext cx="10845800" cy="304800"/>
          </a:xfrm>
          <a:prstGeom prst="rect">
            <a:avLst/>
          </a:prstGeom>
          <a:noFill/>
        </p:spPr>
        <p:txBody>
          <a:bodyPr vert="horz" wrap="square" lIns="0" tIns="0" rIns="0" bIns="0" rtlCol="0" anchor="t">
            <a:noAutofit/>
          </a:bodyPr>
          <a:lstStyle/>
          <a:p>
            <a:pPr algn="l"/>
            <a:r>
              <a:rPr lang="es-MX" sz="1050">
                <a:solidFill>
                  <a:srgbClr val="5A5248"/>
                </a:solidFill>
                <a:latin typeface="Segoe UI" panose="020B0502040204020203" pitchFamily="34" charset="0"/>
              </a:rPr>
              <a:t>Este es el hallazgo del caso: </a:t>
            </a:r>
            <a:r>
              <a:rPr lang="es-MX" sz="1050" b="1">
                <a:solidFill>
                  <a:srgbClr val="5A5248"/>
                </a:solidFill>
                <a:latin typeface="Segoe UI Semibold" panose="020B0702040204020203" pitchFamily="34" charset="0"/>
              </a:rPr>
              <a:t>la zapata lleva veintiocho años por encima de su carga admisible</a:t>
            </a:r>
            <a:r>
              <a:rPr lang="es-MX" sz="1050">
                <a:solidFill>
                  <a:srgbClr val="5A5248"/>
                </a:solidFill>
                <a:latin typeface="Segoe UI" panose="020B0502040204020203" pitchFamily="34" charset="0"/>
              </a:rPr>
              <a:t> y nadie lo había comprobado.</a:t>
            </a:r>
            <a:endParaRPr lang="es-BO" sz="1050">
              <a:solidFill>
                <a:srgbClr val="5A5248"/>
              </a:solidFill>
              <a:latin typeface="Segoe UI" panose="020B0502040204020203" pitchFamily="34" charset="0"/>
            </a:endParaRPr>
          </a:p>
        </p:txBody>
      </p:sp>
      <p:sp>
        <p:nvSpPr>
          <p:cNvPr id="42" name="Resultado_1">
            <a:extLst>
              <a:ext uri="{FF2B5EF4-FFF2-40B4-BE49-F238E27FC236}">
                <a16:creationId xmlns:a16="http://schemas.microsoft.com/office/drawing/2014/main" id="{AEA1649D-FEA3-F606-E6B5-72F6AABF0B90}"/>
              </a:ext>
            </a:extLst>
          </p:cNvPr>
          <p:cNvSpPr/>
          <p:nvPr/>
        </p:nvSpPr>
        <p:spPr>
          <a:xfrm>
            <a:off x="609600" y="5562600"/>
            <a:ext cx="10972800" cy="55880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38100" rIns="101600" bIns="38100" rtlCol="0" anchor="ctr"/>
          <a:lstStyle/>
          <a:p>
            <a:pPr algn="ctr"/>
            <a:r>
              <a:rPr lang="es-MX" sz="1600">
                <a:solidFill>
                  <a:srgbClr val="FFFFFF"/>
                </a:solidFill>
                <a:latin typeface="Bahnschrift SemiBold" panose="020B0502040204020203" pitchFamily="34" charset="0"/>
              </a:rPr>
              <a:t>margen = 0,83     ·     NO CUMPLE con la carga de hoy</a:t>
            </a:r>
            <a:endParaRPr lang="es-BO" sz="1600">
              <a:solidFill>
                <a:srgbClr val="FFFFFF"/>
              </a:solidFill>
              <a:latin typeface="Bahnschrift SemiBold" panose="020B0502040204020203" pitchFamily="34" charset="0"/>
            </a:endParaRPr>
          </a:p>
        </p:txBody>
      </p:sp>
      <p:sp>
        <p:nvSpPr>
          <p:cNvPr id="43" name="CuadroTexto 42">
            <a:extLst>
              <a:ext uri="{FF2B5EF4-FFF2-40B4-BE49-F238E27FC236}">
                <a16:creationId xmlns:a16="http://schemas.microsoft.com/office/drawing/2014/main" id="{FBC818D9-CB2E-5AA1-F183-391FE9FB3E26}"/>
              </a:ext>
            </a:extLst>
          </p:cNvPr>
          <p:cNvSpPr txBox="1"/>
          <p:nvPr/>
        </p:nvSpPr>
        <p:spPr>
          <a:xfrm>
            <a:off x="609600" y="6324600"/>
            <a:ext cx="10972800" cy="152400"/>
          </a:xfrm>
          <a:prstGeom prst="rect">
            <a:avLst/>
          </a:prstGeom>
          <a:noFill/>
        </p:spPr>
        <p:txBody>
          <a:bodyPr vert="horz" wrap="square" lIns="0" tIns="0" rIns="0" bIns="0" rtlCol="0" anchor="t">
            <a:noAutofit/>
          </a:bodyPr>
          <a:lstStyle/>
          <a:p>
            <a:pPr algn="l"/>
            <a:r>
              <a:rPr lang="es-MX" sz="700">
                <a:solidFill>
                  <a:srgbClr val="938A7C"/>
                </a:solidFill>
                <a:latin typeface="Segoe UI" panose="020B0502040204020203" pitchFamily="34" charset="0"/>
              </a:rPr>
              <a:t>Fuente: ACI 562 §6, evaluación de lo existente frente a la demanda.</a:t>
            </a:r>
            <a:endParaRPr lang="es-BO" sz="700">
              <a:solidFill>
                <a:srgbClr val="938A7C"/>
              </a:solidFill>
              <a:latin typeface="Segoe UI" panose="020B0502040204020203" pitchFamily="34" charset="0"/>
            </a:endParaRPr>
          </a:p>
        </p:txBody>
      </p:sp>
      <p:cxnSp>
        <p:nvCxnSpPr>
          <p:cNvPr id="44" name="Conector recto 43">
            <a:extLst>
              <a:ext uri="{FF2B5EF4-FFF2-40B4-BE49-F238E27FC236}">
                <a16:creationId xmlns:a16="http://schemas.microsoft.com/office/drawing/2014/main" id="{3DAF862B-0EC8-8FC2-97A2-7A305241FB48}"/>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45" name="CuadroTexto 44">
            <a:extLst>
              <a:ext uri="{FF2B5EF4-FFF2-40B4-BE49-F238E27FC236}">
                <a16:creationId xmlns:a16="http://schemas.microsoft.com/office/drawing/2014/main" id="{46CA8AEB-5B15-3B5E-BBA8-36B8C76AF458}"/>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46" name="CuadroTexto 45">
            <a:extLst>
              <a:ext uri="{FF2B5EF4-FFF2-40B4-BE49-F238E27FC236}">
                <a16:creationId xmlns:a16="http://schemas.microsoft.com/office/drawing/2014/main" id="{071E8A52-204C-A2F6-55C8-260085397180}"/>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47" name="PageNo">
            <a:extLst>
              <a:ext uri="{FF2B5EF4-FFF2-40B4-BE49-F238E27FC236}">
                <a16:creationId xmlns:a16="http://schemas.microsoft.com/office/drawing/2014/main" id="{B82739E3-DB38-6BCC-C27B-0D46A76D6836}"/>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29 / 38</a:t>
            </a:r>
          </a:p>
        </p:txBody>
      </p:sp>
    </p:spTree>
    <p:custDataLst>
      <p:tags r:id="rId1"/>
    </p:custDataLst>
    <p:extLst>
      <p:ext uri="{BB962C8B-B14F-4D97-AF65-F5344CB8AC3E}">
        <p14:creationId xmlns:p14="http://schemas.microsoft.com/office/powerpoint/2010/main" val="1102624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fade">
                                      <p:cBhvr>
                                        <p:cTn id="7"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CF7AC2E1-7D6F-1B30-526E-DCFAA94B8CC3}"/>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MX" sz="900" spc="180">
                <a:solidFill>
                  <a:srgbClr val="6A4F20"/>
                </a:solidFill>
                <a:latin typeface="Segoe UI Semibold" panose="020B0702040204020203" pitchFamily="34" charset="0"/>
              </a:rPr>
              <a:t>CASO 7  ·  PASO 6 DE 8</a:t>
            </a:r>
            <a:endParaRPr lang="es-BO" sz="900" spc="180">
              <a:solidFill>
                <a:srgbClr val="6A4F20"/>
              </a:solidFill>
              <a:latin typeface="Segoe UI Semibold" panose="020B0702040204020203" pitchFamily="34" charset="0"/>
            </a:endParaRPr>
          </a:p>
        </p:txBody>
      </p:sp>
      <p:sp>
        <p:nvSpPr>
          <p:cNvPr id="3" name="Title">
            <a:extLst>
              <a:ext uri="{FF2B5EF4-FFF2-40B4-BE49-F238E27FC236}">
                <a16:creationId xmlns:a16="http://schemas.microsoft.com/office/drawing/2014/main" id="{FD93A4CA-907A-6B34-BBA8-F3601732BA55}"/>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La comprobación con el cambio de uso</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BE015A84-8E40-DC51-0FE4-36121F4E8062}"/>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6" name="CuadroTexto 5">
            <a:extLst>
              <a:ext uri="{FF2B5EF4-FFF2-40B4-BE49-F238E27FC236}">
                <a16:creationId xmlns:a16="http://schemas.microsoft.com/office/drawing/2014/main" id="{BC408C9B-2574-45E3-5099-3BE9556989AF}"/>
              </a:ext>
            </a:extLst>
          </p:cNvPr>
          <p:cNvSpPr txBox="1"/>
          <p:nvPr/>
        </p:nvSpPr>
        <p:spPr>
          <a:xfrm>
            <a:off x="609600" y="1270000"/>
            <a:ext cx="10972800" cy="228600"/>
          </a:xfrm>
          <a:prstGeom prst="rect">
            <a:avLst/>
          </a:prstGeom>
          <a:noFill/>
        </p:spPr>
        <p:txBody>
          <a:bodyPr vert="horz" wrap="square" lIns="0" tIns="0" rIns="0" bIns="0" rtlCol="0" anchor="t">
            <a:noAutofit/>
          </a:bodyPr>
          <a:lstStyle/>
          <a:p>
            <a:pPr algn="ctr"/>
            <a:r>
              <a:rPr lang="es-MX" sz="1150">
                <a:solidFill>
                  <a:srgbClr val="6A4F20"/>
                </a:solidFill>
                <a:latin typeface="Segoe UI Semibold" panose="020B0702040204020203" pitchFamily="34" charset="0"/>
              </a:rPr>
              <a:t>¿Y con la carga del cambio de uso? Esta es la comprobación que de verdad decide.</a:t>
            </a:r>
            <a:endParaRPr lang="es-BO" sz="1150">
              <a:solidFill>
                <a:srgbClr val="6A4F20"/>
              </a:solidFill>
              <a:latin typeface="Segoe UI Semibold" panose="020B0702040204020203" pitchFamily="34" charset="0"/>
            </a:endParaRPr>
          </a:p>
        </p:txBody>
      </p:sp>
      <p:sp>
        <p:nvSpPr>
          <p:cNvPr id="7" name="Rectángulo 6">
            <a:extLst>
              <a:ext uri="{FF2B5EF4-FFF2-40B4-BE49-F238E27FC236}">
                <a16:creationId xmlns:a16="http://schemas.microsoft.com/office/drawing/2014/main" id="{9BA90962-76AE-BA07-0BEE-1A13773BE885}"/>
              </a:ext>
            </a:extLst>
          </p:cNvPr>
          <p:cNvSpPr/>
          <p:nvPr/>
        </p:nvSpPr>
        <p:spPr>
          <a:xfrm>
            <a:off x="609600" y="1549400"/>
            <a:ext cx="10972800" cy="558800"/>
          </a:xfrm>
          <a:prstGeom prst="rect">
            <a:avLst/>
          </a:prstGeom>
          <a:solidFill>
            <a:srgbClr val="1C181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38100" rIns="101600" bIns="38100" rtlCol="0" anchor="ctr"/>
          <a:lstStyle/>
          <a:p>
            <a:pPr algn="ctr"/>
            <a:r>
              <a:rPr lang="es-BO" sz="1700">
                <a:solidFill>
                  <a:srgbClr val="FFFFFF"/>
                </a:solidFill>
                <a:latin typeface="Bahnschrift SemiBold" panose="020B0502040204020203" pitchFamily="34" charset="0"/>
              </a:rPr>
              <a:t>q_aplicada  =  ( P_futura  +  peso propio )  /  A</a:t>
            </a:r>
          </a:p>
        </p:txBody>
      </p:sp>
      <p:sp>
        <p:nvSpPr>
          <p:cNvPr id="9" name="CuadroTexto 8">
            <a:extLst>
              <a:ext uri="{FF2B5EF4-FFF2-40B4-BE49-F238E27FC236}">
                <a16:creationId xmlns:a16="http://schemas.microsoft.com/office/drawing/2014/main" id="{25EBBB3D-2AFF-497D-37D5-5A68A50B1773}"/>
              </a:ext>
            </a:extLst>
          </p:cNvPr>
          <p:cNvSpPr txBox="1"/>
          <p:nvPr/>
        </p:nvSpPr>
        <p:spPr>
          <a:xfrm>
            <a:off x="736600" y="2209800"/>
            <a:ext cx="5080000" cy="152400"/>
          </a:xfrm>
          <a:prstGeom prst="rect">
            <a:avLst/>
          </a:prstGeom>
          <a:noFill/>
        </p:spPr>
        <p:txBody>
          <a:bodyPr vert="horz" wrap="square" lIns="0" tIns="0" rIns="0" bIns="0" rtlCol="0" anchor="t">
            <a:noAutofit/>
          </a:bodyPr>
          <a:lstStyle/>
          <a:p>
            <a:r>
              <a:rPr lang="es-MX" sz="700" spc="120">
                <a:solidFill>
                  <a:srgbClr val="6A4F20"/>
                </a:solidFill>
                <a:latin typeface="Segoe UI Semibold" panose="020B0702040204020203" pitchFamily="34" charset="0"/>
              </a:rPr>
              <a:t>DE DÓNDE SALE LA FÓRMULA</a:t>
            </a:r>
            <a:endParaRPr lang="es-BO" sz="700" spc="120">
              <a:solidFill>
                <a:srgbClr val="6A4F20"/>
              </a:solidFill>
              <a:latin typeface="Segoe UI Semibold" panose="020B0702040204020203" pitchFamily="34" charset="0"/>
            </a:endParaRPr>
          </a:p>
        </p:txBody>
      </p:sp>
      <p:sp>
        <p:nvSpPr>
          <p:cNvPr id="10" name="CuadroTexto 9">
            <a:extLst>
              <a:ext uri="{FF2B5EF4-FFF2-40B4-BE49-F238E27FC236}">
                <a16:creationId xmlns:a16="http://schemas.microsoft.com/office/drawing/2014/main" id="{029AA836-4194-4320-6174-F7FEB7EC2A7D}"/>
              </a:ext>
            </a:extLst>
          </p:cNvPr>
          <p:cNvSpPr txBox="1"/>
          <p:nvPr/>
        </p:nvSpPr>
        <p:spPr>
          <a:xfrm>
            <a:off x="736600" y="2374900"/>
            <a:ext cx="10845800" cy="406400"/>
          </a:xfrm>
          <a:prstGeom prst="rect">
            <a:avLst/>
          </a:prstGeom>
          <a:noFill/>
        </p:spPr>
        <p:txBody>
          <a:bodyPr vert="horz" wrap="square" lIns="0" tIns="0" rIns="0" bIns="0" rtlCol="0" anchor="t">
            <a:noAutofit/>
          </a:bodyPr>
          <a:lstStyle/>
          <a:p>
            <a:pPr algn="l"/>
            <a:r>
              <a:rPr lang="es-MX" sz="900">
                <a:solidFill>
                  <a:srgbClr val="5A5248"/>
                </a:solidFill>
                <a:latin typeface="Segoe UI" panose="020B0502040204020203" pitchFamily="34" charset="0"/>
              </a:rPr>
              <a:t>La misma comprobación del paso 5 con la carga futura. Es la que de verdad decide, porque el encargo es un cambio de uso: lo que hay que comprobar no es lo que hay, sino lo que va a haber.</a:t>
            </a:r>
            <a:endParaRPr lang="es-BO" sz="900">
              <a:solidFill>
                <a:srgbClr val="5A5248"/>
              </a:solidFill>
              <a:latin typeface="Segoe UI" panose="020B0502040204020203" pitchFamily="34" charset="0"/>
            </a:endParaRPr>
          </a:p>
        </p:txBody>
      </p:sp>
      <p:sp>
        <p:nvSpPr>
          <p:cNvPr id="11" name="CuadroTexto 10">
            <a:extLst>
              <a:ext uri="{FF2B5EF4-FFF2-40B4-BE49-F238E27FC236}">
                <a16:creationId xmlns:a16="http://schemas.microsoft.com/office/drawing/2014/main" id="{EFF8E8B7-0FFD-69EF-25C2-88F62998E56B}"/>
              </a:ext>
            </a:extLst>
          </p:cNvPr>
          <p:cNvSpPr txBox="1"/>
          <p:nvPr/>
        </p:nvSpPr>
        <p:spPr>
          <a:xfrm>
            <a:off x="609600" y="2844800"/>
            <a:ext cx="3581400" cy="152400"/>
          </a:xfrm>
          <a:prstGeom prst="rect">
            <a:avLst/>
          </a:prstGeom>
          <a:noFill/>
        </p:spPr>
        <p:txBody>
          <a:bodyPr vert="horz" wrap="square" lIns="0" tIns="0" rIns="0" bIns="0" rtlCol="0" anchor="t">
            <a:noAutofit/>
          </a:bodyPr>
          <a:lstStyle/>
          <a:p>
            <a:pPr algn="l"/>
            <a:r>
              <a:rPr lang="es-BO" sz="700">
                <a:solidFill>
                  <a:srgbClr val="6A4F20"/>
                </a:solidFill>
                <a:latin typeface="Segoe UI Semibold" panose="020B0702040204020203" pitchFamily="34" charset="0"/>
              </a:rPr>
              <a:t>LOS DATOS QUE ENTRAN</a:t>
            </a:r>
          </a:p>
        </p:txBody>
      </p:sp>
      <p:sp>
        <p:nvSpPr>
          <p:cNvPr id="13" name="CuadroTexto 12">
            <a:extLst>
              <a:ext uri="{FF2B5EF4-FFF2-40B4-BE49-F238E27FC236}">
                <a16:creationId xmlns:a16="http://schemas.microsoft.com/office/drawing/2014/main" id="{850621CD-3E95-C25A-D523-2242AF41458B}"/>
              </a:ext>
            </a:extLst>
          </p:cNvPr>
          <p:cNvSpPr txBox="1"/>
          <p:nvPr/>
        </p:nvSpPr>
        <p:spPr>
          <a:xfrm>
            <a:off x="762000" y="3048000"/>
            <a:ext cx="3429000" cy="165100"/>
          </a:xfrm>
          <a:prstGeom prst="rect">
            <a:avLst/>
          </a:prstGeom>
          <a:noFill/>
        </p:spPr>
        <p:txBody>
          <a:bodyPr vert="horz" wrap="square" lIns="0" tIns="0" rIns="0" bIns="0" rtlCol="0" anchor="t">
            <a:noAutofit/>
          </a:bodyPr>
          <a:lstStyle/>
          <a:p>
            <a:pPr algn="l"/>
            <a:r>
              <a:rPr lang="es-BO" sz="1000">
                <a:solidFill>
                  <a:srgbClr val="1C1813"/>
                </a:solidFill>
                <a:latin typeface="Segoe UI Semibold" panose="020B0702040204020203" pitchFamily="34" charset="0"/>
              </a:rPr>
              <a:t>P = 860 kN</a:t>
            </a:r>
          </a:p>
        </p:txBody>
      </p:sp>
      <p:sp>
        <p:nvSpPr>
          <p:cNvPr id="14" name="CuadroTexto 13">
            <a:extLst>
              <a:ext uri="{FF2B5EF4-FFF2-40B4-BE49-F238E27FC236}">
                <a16:creationId xmlns:a16="http://schemas.microsoft.com/office/drawing/2014/main" id="{A9096D6F-33AB-3E7A-5955-62B1CF1EBF0C}"/>
              </a:ext>
            </a:extLst>
          </p:cNvPr>
          <p:cNvSpPr txBox="1"/>
          <p:nvPr/>
        </p:nvSpPr>
        <p:spPr>
          <a:xfrm>
            <a:off x="762000" y="3213100"/>
            <a:ext cx="3429000" cy="317500"/>
          </a:xfrm>
          <a:prstGeom prst="rect">
            <a:avLst/>
          </a:prstGeom>
          <a:noFill/>
        </p:spPr>
        <p:txBody>
          <a:bodyPr vert="horz" wrap="square" lIns="0" tIns="0" rIns="0" bIns="0" rtlCol="0" anchor="t">
            <a:noAutofit/>
          </a:bodyPr>
          <a:lstStyle/>
          <a:p>
            <a:pPr algn="l"/>
            <a:r>
              <a:rPr lang="es-MX" sz="850">
                <a:solidFill>
                  <a:srgbClr val="5A5248"/>
                </a:solidFill>
                <a:latin typeface="Segoe UI" panose="020B0502040204020203" pitchFamily="34" charset="0"/>
              </a:rPr>
              <a:t>Carga de servicio tras pasar a almacenamiento pesado.</a:t>
            </a:r>
            <a:endParaRPr lang="es-BO" sz="850">
              <a:solidFill>
                <a:srgbClr val="5A5248"/>
              </a:solidFill>
              <a:latin typeface="Segoe UI" panose="020B0502040204020203" pitchFamily="34" charset="0"/>
            </a:endParaRPr>
          </a:p>
        </p:txBody>
      </p:sp>
      <p:sp>
        <p:nvSpPr>
          <p:cNvPr id="16" name="CuadroTexto 15">
            <a:extLst>
              <a:ext uri="{FF2B5EF4-FFF2-40B4-BE49-F238E27FC236}">
                <a16:creationId xmlns:a16="http://schemas.microsoft.com/office/drawing/2014/main" id="{D38DDD95-1F49-87CA-51A0-1AD3CD378377}"/>
              </a:ext>
            </a:extLst>
          </p:cNvPr>
          <p:cNvSpPr txBox="1"/>
          <p:nvPr/>
        </p:nvSpPr>
        <p:spPr>
          <a:xfrm>
            <a:off x="762000" y="3670300"/>
            <a:ext cx="3429000" cy="165100"/>
          </a:xfrm>
          <a:prstGeom prst="rect">
            <a:avLst/>
          </a:prstGeom>
          <a:noFill/>
        </p:spPr>
        <p:txBody>
          <a:bodyPr vert="horz" wrap="square" lIns="0" tIns="0" rIns="0" bIns="0" rtlCol="0" anchor="t">
            <a:noAutofit/>
          </a:bodyPr>
          <a:lstStyle/>
          <a:p>
            <a:pPr algn="l"/>
            <a:r>
              <a:rPr lang="es-BO" sz="1000">
                <a:solidFill>
                  <a:srgbClr val="1C1813"/>
                </a:solidFill>
                <a:latin typeface="Segoe UI Semibold" panose="020B0702040204020203" pitchFamily="34" charset="0"/>
              </a:rPr>
              <a:t>Peso propio</a:t>
            </a:r>
          </a:p>
        </p:txBody>
      </p:sp>
      <p:sp>
        <p:nvSpPr>
          <p:cNvPr id="17" name="CuadroTexto 16">
            <a:extLst>
              <a:ext uri="{FF2B5EF4-FFF2-40B4-BE49-F238E27FC236}">
                <a16:creationId xmlns:a16="http://schemas.microsoft.com/office/drawing/2014/main" id="{68544224-088E-458D-D506-42F148FD9929}"/>
              </a:ext>
            </a:extLst>
          </p:cNvPr>
          <p:cNvSpPr txBox="1"/>
          <p:nvPr/>
        </p:nvSpPr>
        <p:spPr>
          <a:xfrm>
            <a:off x="762000" y="3835400"/>
            <a:ext cx="3429000" cy="317500"/>
          </a:xfrm>
          <a:prstGeom prst="rect">
            <a:avLst/>
          </a:prstGeom>
          <a:noFill/>
        </p:spPr>
        <p:txBody>
          <a:bodyPr vert="horz" wrap="square" lIns="0" tIns="0" rIns="0" bIns="0" rtlCol="0" anchor="t">
            <a:noAutofit/>
          </a:bodyPr>
          <a:lstStyle/>
          <a:p>
            <a:pPr algn="l"/>
            <a:r>
              <a:rPr lang="es-MX" sz="850">
                <a:solidFill>
                  <a:srgbClr val="5A5248"/>
                </a:solidFill>
                <a:latin typeface="Segoe UI" panose="020B0502040204020203" pitchFamily="34" charset="0"/>
              </a:rPr>
              <a:t>Los mismos 77,5 kN del paso 4: la zapata no cambia.</a:t>
            </a:r>
            <a:endParaRPr lang="es-BO" sz="850">
              <a:solidFill>
                <a:srgbClr val="5A5248"/>
              </a:solidFill>
              <a:latin typeface="Segoe UI" panose="020B0502040204020203" pitchFamily="34" charset="0"/>
            </a:endParaRPr>
          </a:p>
        </p:txBody>
      </p:sp>
      <p:sp>
        <p:nvSpPr>
          <p:cNvPr id="19" name="CuadroTexto 18">
            <a:extLst>
              <a:ext uri="{FF2B5EF4-FFF2-40B4-BE49-F238E27FC236}">
                <a16:creationId xmlns:a16="http://schemas.microsoft.com/office/drawing/2014/main" id="{3A1FFFEF-1B0C-050C-B62A-CEE063E04FF3}"/>
              </a:ext>
            </a:extLst>
          </p:cNvPr>
          <p:cNvSpPr txBox="1"/>
          <p:nvPr/>
        </p:nvSpPr>
        <p:spPr>
          <a:xfrm>
            <a:off x="762000" y="4292600"/>
            <a:ext cx="3429000" cy="165100"/>
          </a:xfrm>
          <a:prstGeom prst="rect">
            <a:avLst/>
          </a:prstGeom>
          <a:noFill/>
        </p:spPr>
        <p:txBody>
          <a:bodyPr vert="horz" wrap="square" lIns="0" tIns="0" rIns="0" bIns="0" rtlCol="0" anchor="t">
            <a:noAutofit/>
          </a:bodyPr>
          <a:lstStyle/>
          <a:p>
            <a:pPr algn="l"/>
            <a:r>
              <a:rPr lang="es-BO" sz="1000">
                <a:solidFill>
                  <a:srgbClr val="1C1813"/>
                </a:solidFill>
                <a:latin typeface="Segoe UI Semibold" panose="020B0702040204020203" pitchFamily="34" charset="0"/>
              </a:rPr>
              <a:t>q_adm = 178,4 kPa</a:t>
            </a:r>
          </a:p>
        </p:txBody>
      </p:sp>
      <p:sp>
        <p:nvSpPr>
          <p:cNvPr id="20" name="CuadroTexto 19">
            <a:extLst>
              <a:ext uri="{FF2B5EF4-FFF2-40B4-BE49-F238E27FC236}">
                <a16:creationId xmlns:a16="http://schemas.microsoft.com/office/drawing/2014/main" id="{D9B28A6C-C237-EED7-3286-CECE298F3D0B}"/>
              </a:ext>
            </a:extLst>
          </p:cNvPr>
          <p:cNvSpPr txBox="1"/>
          <p:nvPr/>
        </p:nvSpPr>
        <p:spPr>
          <a:xfrm>
            <a:off x="762000" y="4457700"/>
            <a:ext cx="3429000" cy="317500"/>
          </a:xfrm>
          <a:prstGeom prst="rect">
            <a:avLst/>
          </a:prstGeom>
          <a:noFill/>
        </p:spPr>
        <p:txBody>
          <a:bodyPr vert="horz" wrap="square" lIns="0" tIns="0" rIns="0" bIns="0" rtlCol="0" anchor="t">
            <a:noAutofit/>
          </a:bodyPr>
          <a:lstStyle/>
          <a:p>
            <a:pPr algn="l"/>
            <a:r>
              <a:rPr lang="es-MX" sz="850">
                <a:solidFill>
                  <a:srgbClr val="5A5248"/>
                </a:solidFill>
                <a:latin typeface="Segoe UI" panose="020B0502040204020203" pitchFamily="34" charset="0"/>
              </a:rPr>
              <a:t>Tampoco cambia: el terreno y la geometría son los mismos.</a:t>
            </a:r>
            <a:endParaRPr lang="es-BO" sz="850">
              <a:solidFill>
                <a:srgbClr val="5A5248"/>
              </a:solidFill>
              <a:latin typeface="Segoe UI" panose="020B0502040204020203" pitchFamily="34" charset="0"/>
            </a:endParaRPr>
          </a:p>
        </p:txBody>
      </p:sp>
      <p:sp>
        <p:nvSpPr>
          <p:cNvPr id="21" name="CuadroTexto 20">
            <a:extLst>
              <a:ext uri="{FF2B5EF4-FFF2-40B4-BE49-F238E27FC236}">
                <a16:creationId xmlns:a16="http://schemas.microsoft.com/office/drawing/2014/main" id="{68A90ABC-810D-C0C6-041B-D812BE65543D}"/>
              </a:ext>
            </a:extLst>
          </p:cNvPr>
          <p:cNvSpPr txBox="1"/>
          <p:nvPr/>
        </p:nvSpPr>
        <p:spPr>
          <a:xfrm>
            <a:off x="4495800" y="2844800"/>
            <a:ext cx="3429000" cy="152400"/>
          </a:xfrm>
          <a:prstGeom prst="rect">
            <a:avLst/>
          </a:prstGeom>
          <a:noFill/>
        </p:spPr>
        <p:txBody>
          <a:bodyPr vert="horz" wrap="square" lIns="0" tIns="0" rIns="0" bIns="0" rtlCol="0" anchor="t">
            <a:noAutofit/>
          </a:bodyPr>
          <a:lstStyle/>
          <a:p>
            <a:pPr algn="l"/>
            <a:r>
              <a:rPr lang="es-MX" sz="700">
                <a:solidFill>
                  <a:srgbClr val="6A4F20"/>
                </a:solidFill>
                <a:latin typeface="Segoe UI Semibold" panose="020B0702040204020203" pitchFamily="34" charset="0"/>
              </a:rPr>
              <a:t>LA CUENTA, PASO A PASO</a:t>
            </a:r>
            <a:endParaRPr lang="es-BO" sz="700">
              <a:solidFill>
                <a:srgbClr val="6A4F20"/>
              </a:solidFill>
              <a:latin typeface="Segoe UI Semibold" panose="020B0702040204020203" pitchFamily="34" charset="0"/>
            </a:endParaRPr>
          </a:p>
        </p:txBody>
      </p:sp>
      <p:sp>
        <p:nvSpPr>
          <p:cNvPr id="22" name="Rectángulo 21">
            <a:extLst>
              <a:ext uri="{FF2B5EF4-FFF2-40B4-BE49-F238E27FC236}">
                <a16:creationId xmlns:a16="http://schemas.microsoft.com/office/drawing/2014/main" id="{C3AE2F09-23B9-F555-F3D2-B7390401A37B}"/>
              </a:ext>
            </a:extLst>
          </p:cNvPr>
          <p:cNvSpPr/>
          <p:nvPr/>
        </p:nvSpPr>
        <p:spPr>
          <a:xfrm>
            <a:off x="4495800" y="3048000"/>
            <a:ext cx="3429000" cy="18796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3" name="CuadroTexto 22">
            <a:extLst>
              <a:ext uri="{FF2B5EF4-FFF2-40B4-BE49-F238E27FC236}">
                <a16:creationId xmlns:a16="http://schemas.microsoft.com/office/drawing/2014/main" id="{884ADA59-DB01-E8B3-73F6-B73D9743010B}"/>
              </a:ext>
            </a:extLst>
          </p:cNvPr>
          <p:cNvSpPr txBox="1"/>
          <p:nvPr/>
        </p:nvSpPr>
        <p:spPr>
          <a:xfrm>
            <a:off x="4648200" y="3162300"/>
            <a:ext cx="3124200" cy="292100"/>
          </a:xfrm>
          <a:prstGeom prst="rect">
            <a:avLst/>
          </a:prstGeom>
          <a:noFill/>
        </p:spPr>
        <p:txBody>
          <a:bodyPr vert="horz" wrap="square" lIns="0" tIns="0" rIns="0" bIns="0" rtlCol="0" anchor="t">
            <a:noAutofit/>
          </a:bodyPr>
          <a:lstStyle/>
          <a:p>
            <a:pPr algn="l"/>
            <a:r>
              <a:rPr lang="en-US" sz="1150">
                <a:solidFill>
                  <a:srgbClr val="241F18"/>
                </a:solidFill>
                <a:latin typeface="Segoe UI" panose="020B0502040204020203" pitchFamily="34" charset="0"/>
              </a:rPr>
              <a:t>P_total  =  860  +  77,5  =  937,5 kN</a:t>
            </a:r>
            <a:endParaRPr lang="es-BO" sz="1150">
              <a:solidFill>
                <a:srgbClr val="241F18"/>
              </a:solidFill>
              <a:latin typeface="Segoe UI" panose="020B0502040204020203" pitchFamily="34" charset="0"/>
            </a:endParaRPr>
          </a:p>
        </p:txBody>
      </p:sp>
      <p:sp>
        <p:nvSpPr>
          <p:cNvPr id="24" name="CuadroTexto 23">
            <a:extLst>
              <a:ext uri="{FF2B5EF4-FFF2-40B4-BE49-F238E27FC236}">
                <a16:creationId xmlns:a16="http://schemas.microsoft.com/office/drawing/2014/main" id="{CA763374-6D36-871B-DBD4-643BFC5ED948}"/>
              </a:ext>
            </a:extLst>
          </p:cNvPr>
          <p:cNvSpPr txBox="1"/>
          <p:nvPr/>
        </p:nvSpPr>
        <p:spPr>
          <a:xfrm>
            <a:off x="4648200" y="3479800"/>
            <a:ext cx="3124200" cy="292100"/>
          </a:xfrm>
          <a:prstGeom prst="rect">
            <a:avLst/>
          </a:prstGeom>
          <a:noFill/>
        </p:spPr>
        <p:txBody>
          <a:bodyPr vert="horz" wrap="square" lIns="0" tIns="0" rIns="0" bIns="0" rtlCol="0" anchor="t">
            <a:noAutofit/>
          </a:bodyPr>
          <a:lstStyle/>
          <a:p>
            <a:pPr algn="l"/>
            <a:r>
              <a:rPr lang="es-BO" sz="1150">
                <a:solidFill>
                  <a:srgbClr val="241F18"/>
                </a:solidFill>
                <a:latin typeface="Segoe UI" panose="020B0502040204020203" pitchFamily="34" charset="0"/>
              </a:rPr>
              <a:t>q_aplicada  =  937,5  /  3,24</a:t>
            </a:r>
          </a:p>
        </p:txBody>
      </p:sp>
      <p:sp>
        <p:nvSpPr>
          <p:cNvPr id="25" name="CuadroTexto 24">
            <a:extLst>
              <a:ext uri="{FF2B5EF4-FFF2-40B4-BE49-F238E27FC236}">
                <a16:creationId xmlns:a16="http://schemas.microsoft.com/office/drawing/2014/main" id="{ED2A6995-F632-FAB4-2681-68E373571074}"/>
              </a:ext>
            </a:extLst>
          </p:cNvPr>
          <p:cNvSpPr txBox="1"/>
          <p:nvPr/>
        </p:nvSpPr>
        <p:spPr>
          <a:xfrm>
            <a:off x="4648200" y="3797300"/>
            <a:ext cx="3124200" cy="292100"/>
          </a:xfrm>
          <a:prstGeom prst="rect">
            <a:avLst/>
          </a:prstGeom>
          <a:noFill/>
        </p:spPr>
        <p:txBody>
          <a:bodyPr vert="horz" wrap="square" lIns="0" tIns="0" rIns="0" bIns="0" rtlCol="0" anchor="t">
            <a:noAutofit/>
          </a:bodyPr>
          <a:lstStyle/>
          <a:p>
            <a:pPr algn="l"/>
            <a:r>
              <a:rPr lang="es-BO" sz="1150">
                <a:solidFill>
                  <a:srgbClr val="241F18"/>
                </a:solidFill>
                <a:latin typeface="Segoe UI" panose="020B0502040204020203" pitchFamily="34" charset="0"/>
              </a:rPr>
              <a:t>q_aplicada  =  289,4 kPa</a:t>
            </a:r>
          </a:p>
        </p:txBody>
      </p:sp>
      <p:sp>
        <p:nvSpPr>
          <p:cNvPr id="26" name="CuadroTexto 25">
            <a:extLst>
              <a:ext uri="{FF2B5EF4-FFF2-40B4-BE49-F238E27FC236}">
                <a16:creationId xmlns:a16="http://schemas.microsoft.com/office/drawing/2014/main" id="{C9B1752E-C554-448B-5AF8-8C4639A4BEA9}"/>
              </a:ext>
            </a:extLst>
          </p:cNvPr>
          <p:cNvSpPr txBox="1"/>
          <p:nvPr/>
        </p:nvSpPr>
        <p:spPr>
          <a:xfrm>
            <a:off x="4648200" y="4114800"/>
            <a:ext cx="3124200" cy="292100"/>
          </a:xfrm>
          <a:prstGeom prst="rect">
            <a:avLst/>
          </a:prstGeom>
          <a:noFill/>
        </p:spPr>
        <p:txBody>
          <a:bodyPr vert="horz" wrap="square" lIns="0" tIns="0" rIns="0" bIns="0" rtlCol="0" anchor="t">
            <a:noAutofit/>
          </a:bodyPr>
          <a:lstStyle/>
          <a:p>
            <a:endParaRPr lang="es-BO" sz="1150">
              <a:solidFill>
                <a:srgbClr val="241F18"/>
              </a:solidFill>
              <a:latin typeface="Segoe UI" panose="020B0502040204020203" pitchFamily="34" charset="0"/>
            </a:endParaRPr>
          </a:p>
        </p:txBody>
      </p:sp>
      <p:sp>
        <p:nvSpPr>
          <p:cNvPr id="27" name="CuadroTexto 26">
            <a:extLst>
              <a:ext uri="{FF2B5EF4-FFF2-40B4-BE49-F238E27FC236}">
                <a16:creationId xmlns:a16="http://schemas.microsoft.com/office/drawing/2014/main" id="{868BF8DB-7B76-72C0-E8A3-BA0496F9A82B}"/>
              </a:ext>
            </a:extLst>
          </p:cNvPr>
          <p:cNvSpPr txBox="1"/>
          <p:nvPr/>
        </p:nvSpPr>
        <p:spPr>
          <a:xfrm>
            <a:off x="4648200" y="4432300"/>
            <a:ext cx="3124200" cy="292100"/>
          </a:xfrm>
          <a:prstGeom prst="rect">
            <a:avLst/>
          </a:prstGeom>
          <a:noFill/>
        </p:spPr>
        <p:txBody>
          <a:bodyPr vert="horz" wrap="square" lIns="0" tIns="0" rIns="0" bIns="0" rtlCol="0" anchor="t">
            <a:noAutofit/>
          </a:bodyPr>
          <a:lstStyle/>
          <a:p>
            <a:pPr algn="l"/>
            <a:r>
              <a:rPr lang="es-BO" sz="1150">
                <a:solidFill>
                  <a:srgbClr val="241F18"/>
                </a:solidFill>
                <a:latin typeface="Segoe UI" panose="020B0502040204020203" pitchFamily="34" charset="0"/>
              </a:rPr>
              <a:t>margen  =  178,4 / 289,4  =  0,62</a:t>
            </a:r>
          </a:p>
        </p:txBody>
      </p:sp>
      <p:pic>
        <p:nvPicPr>
          <p:cNvPr id="48" name="Diagrama del paso" descr="Paso 6: 289,4 kPa con el cambio de uso, margen 0,62"/>
          <p:cNvPicPr>
            <a:picLocks noChangeAspect="1"/>
          </p:cNvPicPr>
          <p:nvPr/>
        </p:nvPicPr>
        <p:blipFill>
          <a:blip r:embed="rId100"/>
          <a:stretch>
            <a:fillRect/>
          </a:stretch>
        </p:blipFill>
        <p:spPr>
          <a:xfrm>
            <a:off x="8229600" y="3044952"/>
            <a:ext cx="3355848" cy="1883664"/>
          </a:xfrm>
          <a:prstGeom prst="rect">
            <a:avLst/>
          </a:prstGeom>
        </p:spPr>
      </p:pic>
      <p:sp>
        <p:nvSpPr>
          <p:cNvPr id="40" name="CuadroTexto 39">
            <a:extLst>
              <a:ext uri="{FF2B5EF4-FFF2-40B4-BE49-F238E27FC236}">
                <a16:creationId xmlns:a16="http://schemas.microsoft.com/office/drawing/2014/main" id="{D71C4979-2CFE-21A2-10FA-C2EBFB1D8131}"/>
              </a:ext>
            </a:extLst>
          </p:cNvPr>
          <p:cNvSpPr txBox="1"/>
          <p:nvPr/>
        </p:nvSpPr>
        <p:spPr>
          <a:xfrm>
            <a:off x="736600" y="5029200"/>
            <a:ext cx="5080000" cy="152400"/>
          </a:xfrm>
          <a:prstGeom prst="rect">
            <a:avLst/>
          </a:prstGeom>
          <a:noFill/>
        </p:spPr>
        <p:txBody>
          <a:bodyPr vert="horz" wrap="square" lIns="0" tIns="0" rIns="0" bIns="0" rtlCol="0" anchor="t">
            <a:noAutofit/>
          </a:bodyPr>
          <a:lstStyle/>
          <a:p>
            <a:r>
              <a:rPr lang="es-BO" sz="700" spc="120">
                <a:solidFill>
                  <a:srgbClr val="6A4F20"/>
                </a:solidFill>
                <a:latin typeface="Segoe UI Semibold" panose="020B0702040204020203" pitchFamily="34" charset="0"/>
              </a:rPr>
              <a:t>QUÉ SIGNIFICA ESTE NÚMERO</a:t>
            </a:r>
          </a:p>
        </p:txBody>
      </p:sp>
      <p:sp>
        <p:nvSpPr>
          <p:cNvPr id="41" name="CuadroTexto 40">
            <a:extLst>
              <a:ext uri="{FF2B5EF4-FFF2-40B4-BE49-F238E27FC236}">
                <a16:creationId xmlns:a16="http://schemas.microsoft.com/office/drawing/2014/main" id="{05AF1370-ADB1-D9DB-F858-27B7FC7F99D7}"/>
              </a:ext>
            </a:extLst>
          </p:cNvPr>
          <p:cNvSpPr txBox="1"/>
          <p:nvPr/>
        </p:nvSpPr>
        <p:spPr>
          <a:xfrm>
            <a:off x="736600" y="5194300"/>
            <a:ext cx="10845800" cy="304800"/>
          </a:xfrm>
          <a:prstGeom prst="rect">
            <a:avLst/>
          </a:prstGeom>
          <a:noFill/>
        </p:spPr>
        <p:txBody>
          <a:bodyPr vert="horz" wrap="square" lIns="0" tIns="0" rIns="0" bIns="0" rtlCol="0" anchor="t">
            <a:noAutofit/>
          </a:bodyPr>
          <a:lstStyle/>
          <a:p>
            <a:pPr algn="l"/>
            <a:r>
              <a:rPr lang="es-MX" sz="1050">
                <a:solidFill>
                  <a:srgbClr val="5A5248"/>
                </a:solidFill>
                <a:latin typeface="Segoe UI" panose="020B0502040204020203" pitchFamily="34" charset="0"/>
              </a:rPr>
              <a:t>Está a dos tercios de lo que necesita. No es un ajuste fino que se resuelva afinando hipótesis: es un déficit claro.</a:t>
            </a:r>
            <a:endParaRPr lang="es-BO" sz="1050">
              <a:solidFill>
                <a:srgbClr val="5A5248"/>
              </a:solidFill>
              <a:latin typeface="Segoe UI" panose="020B0502040204020203" pitchFamily="34" charset="0"/>
            </a:endParaRPr>
          </a:p>
        </p:txBody>
      </p:sp>
      <p:sp>
        <p:nvSpPr>
          <p:cNvPr id="42" name="Resultado_1">
            <a:extLst>
              <a:ext uri="{FF2B5EF4-FFF2-40B4-BE49-F238E27FC236}">
                <a16:creationId xmlns:a16="http://schemas.microsoft.com/office/drawing/2014/main" id="{E98B57D5-FE05-3931-70EB-409CFE974119}"/>
              </a:ext>
            </a:extLst>
          </p:cNvPr>
          <p:cNvSpPr/>
          <p:nvPr/>
        </p:nvSpPr>
        <p:spPr>
          <a:xfrm>
            <a:off x="609600" y="5562600"/>
            <a:ext cx="10972800" cy="55880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38100" rIns="101600" bIns="38100" rtlCol="0" anchor="ctr"/>
          <a:lstStyle/>
          <a:p>
            <a:pPr algn="ctr"/>
            <a:r>
              <a:rPr lang="es-MX" sz="1600">
                <a:solidFill>
                  <a:srgbClr val="FFFFFF"/>
                </a:solidFill>
                <a:latin typeface="Bahnschrift SemiBold" panose="020B0502040204020203" pitchFamily="34" charset="0"/>
              </a:rPr>
              <a:t>margen = 0,62     ·     hace falta un 61 % más de área de apoyo</a:t>
            </a:r>
            <a:endParaRPr lang="es-BO" sz="1600">
              <a:solidFill>
                <a:srgbClr val="FFFFFF"/>
              </a:solidFill>
              <a:latin typeface="Bahnschrift SemiBold" panose="020B0502040204020203" pitchFamily="34" charset="0"/>
            </a:endParaRPr>
          </a:p>
        </p:txBody>
      </p:sp>
      <p:sp>
        <p:nvSpPr>
          <p:cNvPr id="43" name="CuadroTexto 42">
            <a:extLst>
              <a:ext uri="{FF2B5EF4-FFF2-40B4-BE49-F238E27FC236}">
                <a16:creationId xmlns:a16="http://schemas.microsoft.com/office/drawing/2014/main" id="{1EDD4993-4F66-0628-8137-AE493445A8D3}"/>
              </a:ext>
            </a:extLst>
          </p:cNvPr>
          <p:cNvSpPr txBox="1"/>
          <p:nvPr/>
        </p:nvSpPr>
        <p:spPr>
          <a:xfrm>
            <a:off x="609600" y="6324600"/>
            <a:ext cx="10972800" cy="152400"/>
          </a:xfrm>
          <a:prstGeom prst="rect">
            <a:avLst/>
          </a:prstGeom>
          <a:noFill/>
        </p:spPr>
        <p:txBody>
          <a:bodyPr vert="horz" wrap="square" lIns="0" tIns="0" rIns="0" bIns="0" rtlCol="0" anchor="t">
            <a:noAutofit/>
          </a:bodyPr>
          <a:lstStyle/>
          <a:p>
            <a:pPr algn="l"/>
            <a:r>
              <a:rPr lang="es-MX" sz="700">
                <a:solidFill>
                  <a:srgbClr val="938A7C"/>
                </a:solidFill>
                <a:latin typeface="Segoe UI" panose="020B0502040204020203" pitchFamily="34" charset="0"/>
              </a:rPr>
              <a:t>Fuente: ACI 562 §6; NBDS-2023 para la combinación con el uso nuevo.</a:t>
            </a:r>
            <a:endParaRPr lang="es-BO" sz="700">
              <a:solidFill>
                <a:srgbClr val="938A7C"/>
              </a:solidFill>
              <a:latin typeface="Segoe UI" panose="020B0502040204020203" pitchFamily="34" charset="0"/>
            </a:endParaRPr>
          </a:p>
        </p:txBody>
      </p:sp>
      <p:cxnSp>
        <p:nvCxnSpPr>
          <p:cNvPr id="44" name="Conector recto 43">
            <a:extLst>
              <a:ext uri="{FF2B5EF4-FFF2-40B4-BE49-F238E27FC236}">
                <a16:creationId xmlns:a16="http://schemas.microsoft.com/office/drawing/2014/main" id="{13EA534F-FDCA-1620-B096-1FECEC278A93}"/>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45" name="CuadroTexto 44">
            <a:extLst>
              <a:ext uri="{FF2B5EF4-FFF2-40B4-BE49-F238E27FC236}">
                <a16:creationId xmlns:a16="http://schemas.microsoft.com/office/drawing/2014/main" id="{8072D750-7EF2-F1A6-D24A-778F780B9A2E}"/>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46" name="CuadroTexto 45">
            <a:extLst>
              <a:ext uri="{FF2B5EF4-FFF2-40B4-BE49-F238E27FC236}">
                <a16:creationId xmlns:a16="http://schemas.microsoft.com/office/drawing/2014/main" id="{7E00EE87-3DAC-F9E8-9D68-12F65149E7AD}"/>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47" name="PageNo">
            <a:extLst>
              <a:ext uri="{FF2B5EF4-FFF2-40B4-BE49-F238E27FC236}">
                <a16:creationId xmlns:a16="http://schemas.microsoft.com/office/drawing/2014/main" id="{F2E27838-E546-1C40-208B-FCA3BCE21C96}"/>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30 / 38</a:t>
            </a:r>
          </a:p>
        </p:txBody>
      </p:sp>
    </p:spTree>
    <p:custDataLst>
      <p:tags r:id="rId1"/>
    </p:custDataLst>
    <p:extLst>
      <p:ext uri="{BB962C8B-B14F-4D97-AF65-F5344CB8AC3E}">
        <p14:creationId xmlns:p14="http://schemas.microsoft.com/office/powerpoint/2010/main" val="2582844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fade">
                                      <p:cBhvr>
                                        <p:cTn id="7"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C52AEB1B-E0D3-29B6-345D-4540A54E7169}"/>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MX" sz="900" spc="180">
                <a:solidFill>
                  <a:srgbClr val="6A4F20"/>
                </a:solidFill>
                <a:latin typeface="Segoe UI Semibold" panose="020B0702040204020203" pitchFamily="34" charset="0"/>
              </a:rPr>
              <a:t>CASO 7  ·  PASO 7 DE 8</a:t>
            </a:r>
            <a:endParaRPr lang="es-BO" sz="900" spc="180">
              <a:solidFill>
                <a:srgbClr val="6A4F20"/>
              </a:solidFill>
              <a:latin typeface="Segoe UI Semibold" panose="020B0702040204020203" pitchFamily="34" charset="0"/>
            </a:endParaRPr>
          </a:p>
        </p:txBody>
      </p:sp>
      <p:sp>
        <p:nvSpPr>
          <p:cNvPr id="3" name="Title">
            <a:extLst>
              <a:ext uri="{FF2B5EF4-FFF2-40B4-BE49-F238E27FC236}">
                <a16:creationId xmlns:a16="http://schemas.microsoft.com/office/drawing/2014/main" id="{E0F35203-D7CB-5CCA-8F00-18E8DE391BDB}"/>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BO" sz="2700">
                <a:solidFill>
                  <a:srgbClr val="1C1813"/>
                </a:solidFill>
                <a:latin typeface="Bahnschrift SemiBold" panose="020B0502040204020203" pitchFamily="34" charset="0"/>
              </a:rPr>
              <a:t>Dimensionar el ensanche</a:t>
            </a:r>
          </a:p>
        </p:txBody>
      </p:sp>
      <p:cxnSp>
        <p:nvCxnSpPr>
          <p:cNvPr id="4" name="Conector recto 3">
            <a:extLst>
              <a:ext uri="{FF2B5EF4-FFF2-40B4-BE49-F238E27FC236}">
                <a16:creationId xmlns:a16="http://schemas.microsoft.com/office/drawing/2014/main" id="{FA996D23-76CA-39EA-61EC-BE07828AECD5}"/>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6" name="CuadroTexto 5">
            <a:extLst>
              <a:ext uri="{FF2B5EF4-FFF2-40B4-BE49-F238E27FC236}">
                <a16:creationId xmlns:a16="http://schemas.microsoft.com/office/drawing/2014/main" id="{9CB052E0-9FCB-4B19-F39E-8DB1537CDB12}"/>
              </a:ext>
            </a:extLst>
          </p:cNvPr>
          <p:cNvSpPr txBox="1"/>
          <p:nvPr/>
        </p:nvSpPr>
        <p:spPr>
          <a:xfrm>
            <a:off x="609600" y="1270000"/>
            <a:ext cx="10972800" cy="228600"/>
          </a:xfrm>
          <a:prstGeom prst="rect">
            <a:avLst/>
          </a:prstGeom>
          <a:noFill/>
        </p:spPr>
        <p:txBody>
          <a:bodyPr vert="horz" wrap="square" lIns="0" tIns="0" rIns="0" bIns="0" rtlCol="0" anchor="t">
            <a:noAutofit/>
          </a:bodyPr>
          <a:lstStyle/>
          <a:p>
            <a:pPr algn="ctr"/>
            <a:r>
              <a:rPr lang="es-MX" sz="1150">
                <a:solidFill>
                  <a:srgbClr val="6A4F20"/>
                </a:solidFill>
                <a:latin typeface="Segoe UI Semibold" panose="020B0702040204020203" pitchFamily="34" charset="0"/>
              </a:rPr>
              <a:t>¿Qué ancho hay que darle a la zapata para que cumpla?</a:t>
            </a:r>
            <a:endParaRPr lang="es-BO" sz="1150">
              <a:solidFill>
                <a:srgbClr val="6A4F20"/>
              </a:solidFill>
              <a:latin typeface="Segoe UI Semibold" panose="020B0702040204020203" pitchFamily="34" charset="0"/>
            </a:endParaRPr>
          </a:p>
        </p:txBody>
      </p:sp>
      <p:sp>
        <p:nvSpPr>
          <p:cNvPr id="7" name="Rectángulo 6">
            <a:extLst>
              <a:ext uri="{FF2B5EF4-FFF2-40B4-BE49-F238E27FC236}">
                <a16:creationId xmlns:a16="http://schemas.microsoft.com/office/drawing/2014/main" id="{2758DA31-2306-FE9C-6927-0F16014D485B}"/>
              </a:ext>
            </a:extLst>
          </p:cNvPr>
          <p:cNvSpPr/>
          <p:nvPr/>
        </p:nvSpPr>
        <p:spPr>
          <a:xfrm>
            <a:off x="609600" y="1549400"/>
            <a:ext cx="10972800" cy="558800"/>
          </a:xfrm>
          <a:prstGeom prst="rect">
            <a:avLst/>
          </a:prstGeom>
          <a:solidFill>
            <a:srgbClr val="1C181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38100" rIns="101600" bIns="38100" rtlCol="0" anchor="ctr"/>
          <a:lstStyle/>
          <a:p>
            <a:pPr algn="ctr"/>
            <a:r>
              <a:rPr lang="pt-BR" sz="1700">
                <a:solidFill>
                  <a:srgbClr val="FFFFFF"/>
                </a:solidFill>
                <a:latin typeface="Bahnschrift SemiBold" panose="020B0502040204020203" pitchFamily="34" charset="0"/>
              </a:rPr>
              <a:t>P / B²  +  ( h_z · γ_h  +  h_r · γ_t )   ≤   q_adm</a:t>
            </a:r>
            <a:endParaRPr lang="es-BO" sz="1700">
              <a:solidFill>
                <a:srgbClr val="FFFFFF"/>
              </a:solidFill>
              <a:latin typeface="Bahnschrift SemiBold" panose="020B0502040204020203" pitchFamily="34" charset="0"/>
            </a:endParaRPr>
          </a:p>
        </p:txBody>
      </p:sp>
      <p:sp>
        <p:nvSpPr>
          <p:cNvPr id="9" name="CuadroTexto 8">
            <a:extLst>
              <a:ext uri="{FF2B5EF4-FFF2-40B4-BE49-F238E27FC236}">
                <a16:creationId xmlns:a16="http://schemas.microsoft.com/office/drawing/2014/main" id="{56B3940C-BEBA-F40E-47D4-537D5DD87A5B}"/>
              </a:ext>
            </a:extLst>
          </p:cNvPr>
          <p:cNvSpPr txBox="1"/>
          <p:nvPr/>
        </p:nvSpPr>
        <p:spPr>
          <a:xfrm>
            <a:off x="736600" y="2209800"/>
            <a:ext cx="5080000" cy="152400"/>
          </a:xfrm>
          <a:prstGeom prst="rect">
            <a:avLst/>
          </a:prstGeom>
          <a:noFill/>
        </p:spPr>
        <p:txBody>
          <a:bodyPr vert="horz" wrap="square" lIns="0" tIns="0" rIns="0" bIns="0" rtlCol="0" anchor="t">
            <a:noAutofit/>
          </a:bodyPr>
          <a:lstStyle/>
          <a:p>
            <a:r>
              <a:rPr lang="es-MX" sz="700" spc="120">
                <a:solidFill>
                  <a:srgbClr val="6A4F20"/>
                </a:solidFill>
                <a:latin typeface="Segoe UI Semibold" panose="020B0702040204020203" pitchFamily="34" charset="0"/>
              </a:rPr>
              <a:t>DE DÓNDE SALE LA FÓRMULA</a:t>
            </a:r>
            <a:endParaRPr lang="es-BO" sz="700" spc="120">
              <a:solidFill>
                <a:srgbClr val="6A4F20"/>
              </a:solidFill>
              <a:latin typeface="Segoe UI Semibold" panose="020B0702040204020203" pitchFamily="34" charset="0"/>
            </a:endParaRPr>
          </a:p>
        </p:txBody>
      </p:sp>
      <p:sp>
        <p:nvSpPr>
          <p:cNvPr id="10" name="CuadroTexto 9">
            <a:extLst>
              <a:ext uri="{FF2B5EF4-FFF2-40B4-BE49-F238E27FC236}">
                <a16:creationId xmlns:a16="http://schemas.microsoft.com/office/drawing/2014/main" id="{46CA51EA-2334-F8AE-BEAA-DC0BEC641906}"/>
              </a:ext>
            </a:extLst>
          </p:cNvPr>
          <p:cNvSpPr txBox="1"/>
          <p:nvPr/>
        </p:nvSpPr>
        <p:spPr>
          <a:xfrm>
            <a:off x="736600" y="2374900"/>
            <a:ext cx="10845800" cy="406400"/>
          </a:xfrm>
          <a:prstGeom prst="rect">
            <a:avLst/>
          </a:prstGeom>
          <a:noFill/>
        </p:spPr>
        <p:txBody>
          <a:bodyPr vert="horz" wrap="square" lIns="0" tIns="0" rIns="0" bIns="0" rtlCol="0" anchor="t">
            <a:noAutofit/>
          </a:bodyPr>
          <a:lstStyle/>
          <a:p>
            <a:pPr algn="l"/>
            <a:r>
              <a:rPr lang="es-MX" sz="900">
                <a:solidFill>
                  <a:srgbClr val="5A5248"/>
                </a:solidFill>
                <a:latin typeface="Segoe UI" panose="020B0502040204020203" pitchFamily="34" charset="0"/>
              </a:rPr>
              <a:t>La misma comprobación del paso 5, escrita con B como incógnita. El peso propio por metro cuadrado no depende de B, así que sale fuera; lo que sí depende de B es el tercer sumando de Terzaghi, y hay que rehacerlo.</a:t>
            </a:r>
            <a:endParaRPr lang="es-BO" sz="900">
              <a:solidFill>
                <a:srgbClr val="5A5248"/>
              </a:solidFill>
              <a:latin typeface="Segoe UI" panose="020B0502040204020203" pitchFamily="34" charset="0"/>
            </a:endParaRPr>
          </a:p>
        </p:txBody>
      </p:sp>
      <p:sp>
        <p:nvSpPr>
          <p:cNvPr id="11" name="CuadroTexto 10">
            <a:extLst>
              <a:ext uri="{FF2B5EF4-FFF2-40B4-BE49-F238E27FC236}">
                <a16:creationId xmlns:a16="http://schemas.microsoft.com/office/drawing/2014/main" id="{F047A8B8-4395-623E-B172-A92FEF964520}"/>
              </a:ext>
            </a:extLst>
          </p:cNvPr>
          <p:cNvSpPr txBox="1"/>
          <p:nvPr/>
        </p:nvSpPr>
        <p:spPr>
          <a:xfrm>
            <a:off x="609600" y="2844800"/>
            <a:ext cx="3581400" cy="152400"/>
          </a:xfrm>
          <a:prstGeom prst="rect">
            <a:avLst/>
          </a:prstGeom>
          <a:noFill/>
        </p:spPr>
        <p:txBody>
          <a:bodyPr vert="horz" wrap="square" lIns="0" tIns="0" rIns="0" bIns="0" rtlCol="0" anchor="t">
            <a:noAutofit/>
          </a:bodyPr>
          <a:lstStyle/>
          <a:p>
            <a:pPr algn="l"/>
            <a:r>
              <a:rPr lang="es-BO" sz="700">
                <a:solidFill>
                  <a:srgbClr val="6A4F20"/>
                </a:solidFill>
                <a:latin typeface="Segoe UI Semibold" panose="020B0702040204020203" pitchFamily="34" charset="0"/>
              </a:rPr>
              <a:t>LOS DATOS QUE ENTRAN</a:t>
            </a:r>
          </a:p>
        </p:txBody>
      </p:sp>
      <p:sp>
        <p:nvSpPr>
          <p:cNvPr id="13" name="CuadroTexto 12">
            <a:extLst>
              <a:ext uri="{FF2B5EF4-FFF2-40B4-BE49-F238E27FC236}">
                <a16:creationId xmlns:a16="http://schemas.microsoft.com/office/drawing/2014/main" id="{B58CC520-739D-1149-90DB-39F6D9750FF9}"/>
              </a:ext>
            </a:extLst>
          </p:cNvPr>
          <p:cNvSpPr txBox="1"/>
          <p:nvPr/>
        </p:nvSpPr>
        <p:spPr>
          <a:xfrm>
            <a:off x="762000" y="3048000"/>
            <a:ext cx="3429000" cy="165100"/>
          </a:xfrm>
          <a:prstGeom prst="rect">
            <a:avLst/>
          </a:prstGeom>
          <a:noFill/>
        </p:spPr>
        <p:txBody>
          <a:bodyPr vert="horz" wrap="square" lIns="0" tIns="0" rIns="0" bIns="0" rtlCol="0" anchor="t">
            <a:noAutofit/>
          </a:bodyPr>
          <a:lstStyle/>
          <a:p>
            <a:pPr algn="l"/>
            <a:r>
              <a:rPr lang="es-BO" sz="1000">
                <a:solidFill>
                  <a:srgbClr val="1C1813"/>
                </a:solidFill>
                <a:latin typeface="Segoe UI Semibold" panose="020B0702040204020203" pitchFamily="34" charset="0"/>
              </a:rPr>
              <a:t>P = 860 kN</a:t>
            </a:r>
          </a:p>
        </p:txBody>
      </p:sp>
      <p:sp>
        <p:nvSpPr>
          <p:cNvPr id="14" name="CuadroTexto 13">
            <a:extLst>
              <a:ext uri="{FF2B5EF4-FFF2-40B4-BE49-F238E27FC236}">
                <a16:creationId xmlns:a16="http://schemas.microsoft.com/office/drawing/2014/main" id="{EB51BD99-9FD4-6F95-4AE5-E7F4103919A0}"/>
              </a:ext>
            </a:extLst>
          </p:cNvPr>
          <p:cNvSpPr txBox="1"/>
          <p:nvPr/>
        </p:nvSpPr>
        <p:spPr>
          <a:xfrm>
            <a:off x="762000" y="3213100"/>
            <a:ext cx="3429000" cy="317500"/>
          </a:xfrm>
          <a:prstGeom prst="rect">
            <a:avLst/>
          </a:prstGeom>
          <a:noFill/>
        </p:spPr>
        <p:txBody>
          <a:bodyPr vert="horz" wrap="square" lIns="0" tIns="0" rIns="0" bIns="0" rtlCol="0" anchor="t">
            <a:noAutofit/>
          </a:bodyPr>
          <a:lstStyle/>
          <a:p>
            <a:pPr algn="l"/>
            <a:r>
              <a:rPr lang="es-MX" sz="850">
                <a:solidFill>
                  <a:srgbClr val="5A5248"/>
                </a:solidFill>
                <a:latin typeface="Segoe UI" panose="020B0502040204020203" pitchFamily="34" charset="0"/>
              </a:rPr>
              <a:t>La carga de servicio futura, sin el peso propio: ahora depende de B.</a:t>
            </a:r>
            <a:endParaRPr lang="es-BO" sz="850">
              <a:solidFill>
                <a:srgbClr val="5A5248"/>
              </a:solidFill>
              <a:latin typeface="Segoe UI" panose="020B0502040204020203" pitchFamily="34" charset="0"/>
            </a:endParaRPr>
          </a:p>
        </p:txBody>
      </p:sp>
      <p:sp>
        <p:nvSpPr>
          <p:cNvPr id="16" name="CuadroTexto 15">
            <a:extLst>
              <a:ext uri="{FF2B5EF4-FFF2-40B4-BE49-F238E27FC236}">
                <a16:creationId xmlns:a16="http://schemas.microsoft.com/office/drawing/2014/main" id="{43AD11B6-0EFC-1560-C15B-A9C1D09BDCA4}"/>
              </a:ext>
            </a:extLst>
          </p:cNvPr>
          <p:cNvSpPr txBox="1"/>
          <p:nvPr/>
        </p:nvSpPr>
        <p:spPr>
          <a:xfrm>
            <a:off x="762000" y="3670300"/>
            <a:ext cx="3429000" cy="165100"/>
          </a:xfrm>
          <a:prstGeom prst="rect">
            <a:avLst/>
          </a:prstGeom>
          <a:noFill/>
        </p:spPr>
        <p:txBody>
          <a:bodyPr vert="horz" wrap="square" lIns="0" tIns="0" rIns="0" bIns="0" rtlCol="0" anchor="t">
            <a:noAutofit/>
          </a:bodyPr>
          <a:lstStyle/>
          <a:p>
            <a:pPr algn="l"/>
            <a:r>
              <a:rPr lang="es-BO" sz="1000">
                <a:solidFill>
                  <a:srgbClr val="1C1813"/>
                </a:solidFill>
                <a:latin typeface="Segoe UI Semibold" panose="020B0702040204020203" pitchFamily="34" charset="0"/>
              </a:rPr>
              <a:t>23,9 kPa</a:t>
            </a:r>
          </a:p>
        </p:txBody>
      </p:sp>
      <p:sp>
        <p:nvSpPr>
          <p:cNvPr id="17" name="CuadroTexto 16">
            <a:extLst>
              <a:ext uri="{FF2B5EF4-FFF2-40B4-BE49-F238E27FC236}">
                <a16:creationId xmlns:a16="http://schemas.microsoft.com/office/drawing/2014/main" id="{E56DDB2A-0C5D-3702-CD38-636F60D2827E}"/>
              </a:ext>
            </a:extLst>
          </p:cNvPr>
          <p:cNvSpPr txBox="1"/>
          <p:nvPr/>
        </p:nvSpPr>
        <p:spPr>
          <a:xfrm>
            <a:off x="762000" y="3835400"/>
            <a:ext cx="3429000" cy="317500"/>
          </a:xfrm>
          <a:prstGeom prst="rect">
            <a:avLst/>
          </a:prstGeom>
          <a:noFill/>
        </p:spPr>
        <p:txBody>
          <a:bodyPr vert="horz" wrap="square" lIns="0" tIns="0" rIns="0" bIns="0" rtlCol="0" anchor="t">
            <a:noAutofit/>
          </a:bodyPr>
          <a:lstStyle/>
          <a:p>
            <a:pPr algn="l"/>
            <a:r>
              <a:rPr lang="es-MX" sz="850">
                <a:solidFill>
                  <a:srgbClr val="5A5248"/>
                </a:solidFill>
                <a:latin typeface="Segoe UI" panose="020B0502040204020203" pitchFamily="34" charset="0"/>
              </a:rPr>
              <a:t>Peso propio por m² del bloque nuevo: 0,50 × 24 + 0,70 × 17.</a:t>
            </a:r>
            <a:endParaRPr lang="es-BO" sz="850">
              <a:solidFill>
                <a:srgbClr val="5A5248"/>
              </a:solidFill>
              <a:latin typeface="Segoe UI" panose="020B0502040204020203" pitchFamily="34" charset="0"/>
            </a:endParaRPr>
          </a:p>
        </p:txBody>
      </p:sp>
      <p:sp>
        <p:nvSpPr>
          <p:cNvPr id="19" name="CuadroTexto 18">
            <a:extLst>
              <a:ext uri="{FF2B5EF4-FFF2-40B4-BE49-F238E27FC236}">
                <a16:creationId xmlns:a16="http://schemas.microsoft.com/office/drawing/2014/main" id="{1ED0B39C-E6E3-15D7-E2B4-119C951DF76F}"/>
              </a:ext>
            </a:extLst>
          </p:cNvPr>
          <p:cNvSpPr txBox="1"/>
          <p:nvPr/>
        </p:nvSpPr>
        <p:spPr>
          <a:xfrm>
            <a:off x="762000" y="4292600"/>
            <a:ext cx="3429000" cy="165100"/>
          </a:xfrm>
          <a:prstGeom prst="rect">
            <a:avLst/>
          </a:prstGeom>
          <a:noFill/>
        </p:spPr>
        <p:txBody>
          <a:bodyPr vert="horz" wrap="square" lIns="0" tIns="0" rIns="0" bIns="0" rtlCol="0" anchor="t">
            <a:noAutofit/>
          </a:bodyPr>
          <a:lstStyle/>
          <a:p>
            <a:pPr algn="l"/>
            <a:r>
              <a:rPr lang="es-BO" sz="1000">
                <a:solidFill>
                  <a:srgbClr val="1C1813"/>
                </a:solidFill>
                <a:latin typeface="Segoe UI Semibold" panose="020B0702040204020203" pitchFamily="34" charset="0"/>
              </a:rPr>
              <a:t>q_adm</a:t>
            </a:r>
          </a:p>
        </p:txBody>
      </p:sp>
      <p:sp>
        <p:nvSpPr>
          <p:cNvPr id="20" name="CuadroTexto 19">
            <a:extLst>
              <a:ext uri="{FF2B5EF4-FFF2-40B4-BE49-F238E27FC236}">
                <a16:creationId xmlns:a16="http://schemas.microsoft.com/office/drawing/2014/main" id="{628C26C2-EE87-1D74-5378-37E200F05442}"/>
              </a:ext>
            </a:extLst>
          </p:cNvPr>
          <p:cNvSpPr txBox="1"/>
          <p:nvPr/>
        </p:nvSpPr>
        <p:spPr>
          <a:xfrm>
            <a:off x="762000" y="4457700"/>
            <a:ext cx="3429000" cy="317500"/>
          </a:xfrm>
          <a:prstGeom prst="rect">
            <a:avLst/>
          </a:prstGeom>
          <a:noFill/>
        </p:spPr>
        <p:txBody>
          <a:bodyPr vert="horz" wrap="square" lIns="0" tIns="0" rIns="0" bIns="0" rtlCol="0" anchor="t">
            <a:noAutofit/>
          </a:bodyPr>
          <a:lstStyle/>
          <a:p>
            <a:pPr algn="l"/>
            <a:r>
              <a:rPr lang="es-MX" sz="850">
                <a:solidFill>
                  <a:srgbClr val="5A5248"/>
                </a:solidFill>
                <a:latin typeface="Segoe UI" panose="020B0502040204020203" pitchFamily="34" charset="0"/>
              </a:rPr>
              <a:t>Ojo: al crecer B crece también el tercer sumando de Terzaghi, y q_adm sube.</a:t>
            </a:r>
            <a:endParaRPr lang="es-BO" sz="850">
              <a:solidFill>
                <a:srgbClr val="5A5248"/>
              </a:solidFill>
              <a:latin typeface="Segoe UI" panose="020B0502040204020203" pitchFamily="34" charset="0"/>
            </a:endParaRPr>
          </a:p>
        </p:txBody>
      </p:sp>
      <p:sp>
        <p:nvSpPr>
          <p:cNvPr id="21" name="CuadroTexto 20">
            <a:extLst>
              <a:ext uri="{FF2B5EF4-FFF2-40B4-BE49-F238E27FC236}">
                <a16:creationId xmlns:a16="http://schemas.microsoft.com/office/drawing/2014/main" id="{9EC3939C-D819-BBA0-CAD5-25B1F958A389}"/>
              </a:ext>
            </a:extLst>
          </p:cNvPr>
          <p:cNvSpPr txBox="1"/>
          <p:nvPr/>
        </p:nvSpPr>
        <p:spPr>
          <a:xfrm>
            <a:off x="4495800" y="2844800"/>
            <a:ext cx="3429000" cy="152400"/>
          </a:xfrm>
          <a:prstGeom prst="rect">
            <a:avLst/>
          </a:prstGeom>
          <a:noFill/>
        </p:spPr>
        <p:txBody>
          <a:bodyPr vert="horz" wrap="square" lIns="0" tIns="0" rIns="0" bIns="0" rtlCol="0" anchor="t">
            <a:noAutofit/>
          </a:bodyPr>
          <a:lstStyle/>
          <a:p>
            <a:pPr algn="l"/>
            <a:r>
              <a:rPr lang="es-MX" sz="700">
                <a:solidFill>
                  <a:srgbClr val="6A4F20"/>
                </a:solidFill>
                <a:latin typeface="Segoe UI Semibold" panose="020B0702040204020203" pitchFamily="34" charset="0"/>
              </a:rPr>
              <a:t>LA CUENTA, PASO A PASO</a:t>
            </a:r>
            <a:endParaRPr lang="es-BO" sz="700">
              <a:solidFill>
                <a:srgbClr val="6A4F20"/>
              </a:solidFill>
              <a:latin typeface="Segoe UI Semibold" panose="020B0702040204020203" pitchFamily="34" charset="0"/>
            </a:endParaRPr>
          </a:p>
        </p:txBody>
      </p:sp>
      <p:sp>
        <p:nvSpPr>
          <p:cNvPr id="22" name="Rectángulo 21">
            <a:extLst>
              <a:ext uri="{FF2B5EF4-FFF2-40B4-BE49-F238E27FC236}">
                <a16:creationId xmlns:a16="http://schemas.microsoft.com/office/drawing/2014/main" id="{E0A9E3F8-EBBD-E905-FA4E-4235F97A0665}"/>
              </a:ext>
            </a:extLst>
          </p:cNvPr>
          <p:cNvSpPr/>
          <p:nvPr/>
        </p:nvSpPr>
        <p:spPr>
          <a:xfrm>
            <a:off x="4495800" y="3048000"/>
            <a:ext cx="3429000" cy="18796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3" name="CuadroTexto 22">
            <a:extLst>
              <a:ext uri="{FF2B5EF4-FFF2-40B4-BE49-F238E27FC236}">
                <a16:creationId xmlns:a16="http://schemas.microsoft.com/office/drawing/2014/main" id="{BC4F2122-C6F3-03A1-C797-3A7FD43766BC}"/>
              </a:ext>
            </a:extLst>
          </p:cNvPr>
          <p:cNvSpPr txBox="1"/>
          <p:nvPr/>
        </p:nvSpPr>
        <p:spPr>
          <a:xfrm>
            <a:off x="4648200" y="3162300"/>
            <a:ext cx="3124200" cy="292100"/>
          </a:xfrm>
          <a:prstGeom prst="rect">
            <a:avLst/>
          </a:prstGeom>
          <a:noFill/>
        </p:spPr>
        <p:txBody>
          <a:bodyPr vert="horz" wrap="square" lIns="0" tIns="0" rIns="0" bIns="0" rtlCol="0" anchor="t">
            <a:noAutofit/>
          </a:bodyPr>
          <a:lstStyle/>
          <a:p>
            <a:pPr algn="l"/>
            <a:r>
              <a:rPr lang="es-BO" sz="1150">
                <a:solidFill>
                  <a:srgbClr val="241F18"/>
                </a:solidFill>
                <a:latin typeface="Segoe UI" panose="020B0502040204020203" pitchFamily="34" charset="0"/>
              </a:rPr>
              <a:t>860 / B²  +  23,9   ≤   178,4</a:t>
            </a:r>
          </a:p>
        </p:txBody>
      </p:sp>
      <p:sp>
        <p:nvSpPr>
          <p:cNvPr id="24" name="CuadroTexto 23">
            <a:extLst>
              <a:ext uri="{FF2B5EF4-FFF2-40B4-BE49-F238E27FC236}">
                <a16:creationId xmlns:a16="http://schemas.microsoft.com/office/drawing/2014/main" id="{1E0B4856-AF55-6211-28C7-8862A08950E3}"/>
              </a:ext>
            </a:extLst>
          </p:cNvPr>
          <p:cNvSpPr txBox="1"/>
          <p:nvPr/>
        </p:nvSpPr>
        <p:spPr>
          <a:xfrm>
            <a:off x="4648200" y="3479800"/>
            <a:ext cx="3124200" cy="292100"/>
          </a:xfrm>
          <a:prstGeom prst="rect">
            <a:avLst/>
          </a:prstGeom>
          <a:noFill/>
        </p:spPr>
        <p:txBody>
          <a:bodyPr vert="horz" wrap="square" lIns="0" tIns="0" rIns="0" bIns="0" rtlCol="0" anchor="t">
            <a:noAutofit/>
          </a:bodyPr>
          <a:lstStyle/>
          <a:p>
            <a:pPr algn="l"/>
            <a:r>
              <a:rPr lang="es-BO" sz="1150">
                <a:solidFill>
                  <a:srgbClr val="241F18"/>
                </a:solidFill>
                <a:latin typeface="Segoe UI" panose="020B0502040204020203" pitchFamily="34" charset="0"/>
              </a:rPr>
              <a:t>860 / B²  ≤  154,5   →   B²  ≥  5,566</a:t>
            </a:r>
          </a:p>
        </p:txBody>
      </p:sp>
      <p:sp>
        <p:nvSpPr>
          <p:cNvPr id="25" name="CuadroTexto 24">
            <a:extLst>
              <a:ext uri="{FF2B5EF4-FFF2-40B4-BE49-F238E27FC236}">
                <a16:creationId xmlns:a16="http://schemas.microsoft.com/office/drawing/2014/main" id="{38834122-A9E6-A7EA-5939-F95D84F3B431}"/>
              </a:ext>
            </a:extLst>
          </p:cNvPr>
          <p:cNvSpPr txBox="1"/>
          <p:nvPr/>
        </p:nvSpPr>
        <p:spPr>
          <a:xfrm>
            <a:off x="4648200" y="3797300"/>
            <a:ext cx="3124200" cy="292100"/>
          </a:xfrm>
          <a:prstGeom prst="rect">
            <a:avLst/>
          </a:prstGeom>
          <a:noFill/>
        </p:spPr>
        <p:txBody>
          <a:bodyPr vert="horz" wrap="square" lIns="0" tIns="0" rIns="0" bIns="0" rtlCol="0" anchor="t">
            <a:noAutofit/>
          </a:bodyPr>
          <a:lstStyle/>
          <a:p>
            <a:pPr algn="l"/>
            <a:r>
              <a:rPr lang="es-BO" sz="1150">
                <a:solidFill>
                  <a:srgbClr val="241F18"/>
                </a:solidFill>
                <a:latin typeface="Segoe UI" panose="020B0502040204020203" pitchFamily="34" charset="0"/>
              </a:rPr>
              <a:t>B  ≥  2,36 m</a:t>
            </a:r>
          </a:p>
        </p:txBody>
      </p:sp>
      <p:sp>
        <p:nvSpPr>
          <p:cNvPr id="26" name="CuadroTexto 25">
            <a:extLst>
              <a:ext uri="{FF2B5EF4-FFF2-40B4-BE49-F238E27FC236}">
                <a16:creationId xmlns:a16="http://schemas.microsoft.com/office/drawing/2014/main" id="{CE6F7923-5901-45B2-5C2A-CBFC0AA62FFD}"/>
              </a:ext>
            </a:extLst>
          </p:cNvPr>
          <p:cNvSpPr txBox="1"/>
          <p:nvPr/>
        </p:nvSpPr>
        <p:spPr>
          <a:xfrm>
            <a:off x="4648200" y="4114800"/>
            <a:ext cx="3124200" cy="292100"/>
          </a:xfrm>
          <a:prstGeom prst="rect">
            <a:avLst/>
          </a:prstGeom>
          <a:noFill/>
        </p:spPr>
        <p:txBody>
          <a:bodyPr vert="horz" wrap="square" lIns="0" tIns="0" rIns="0" bIns="0" rtlCol="0" anchor="t">
            <a:noAutofit/>
          </a:bodyPr>
          <a:lstStyle/>
          <a:p>
            <a:pPr algn="l"/>
            <a:r>
              <a:rPr lang="pl-PL" sz="1150">
                <a:solidFill>
                  <a:srgbClr val="241F18"/>
                </a:solidFill>
                <a:latin typeface="Segoe UI" panose="020B0502040204020203" pitchFamily="34" charset="0"/>
              </a:rPr>
              <a:t>B = 2,40 → 149,3 + 23,9 = 173,2  ·  1,03</a:t>
            </a:r>
            <a:endParaRPr lang="es-BO" sz="1150">
              <a:solidFill>
                <a:srgbClr val="241F18"/>
              </a:solidFill>
              <a:latin typeface="Segoe UI" panose="020B0502040204020203" pitchFamily="34" charset="0"/>
            </a:endParaRPr>
          </a:p>
        </p:txBody>
      </p:sp>
      <p:sp>
        <p:nvSpPr>
          <p:cNvPr id="27" name="CuadroTexto 26">
            <a:extLst>
              <a:ext uri="{FF2B5EF4-FFF2-40B4-BE49-F238E27FC236}">
                <a16:creationId xmlns:a16="http://schemas.microsoft.com/office/drawing/2014/main" id="{7B7EC4AC-C4FB-47E9-EBA7-446182E83352}"/>
              </a:ext>
            </a:extLst>
          </p:cNvPr>
          <p:cNvSpPr txBox="1"/>
          <p:nvPr/>
        </p:nvSpPr>
        <p:spPr>
          <a:xfrm>
            <a:off x="4648200" y="4432300"/>
            <a:ext cx="3124200" cy="292100"/>
          </a:xfrm>
          <a:prstGeom prst="rect">
            <a:avLst/>
          </a:prstGeom>
          <a:noFill/>
        </p:spPr>
        <p:txBody>
          <a:bodyPr vert="horz" wrap="square" lIns="0" tIns="0" rIns="0" bIns="0" rtlCol="0" anchor="t">
            <a:noAutofit/>
          </a:bodyPr>
          <a:lstStyle/>
          <a:p>
            <a:pPr algn="l"/>
            <a:r>
              <a:rPr lang="pl-PL" sz="1150">
                <a:solidFill>
                  <a:srgbClr val="241F18"/>
                </a:solidFill>
                <a:latin typeface="Segoe UI" panose="020B0502040204020203" pitchFamily="34" charset="0"/>
              </a:rPr>
              <a:t>B = 2,50 → 137,6 + 23,9 = 161,5  ·  1,10</a:t>
            </a:r>
            <a:endParaRPr lang="es-BO" sz="1150">
              <a:solidFill>
                <a:srgbClr val="241F18"/>
              </a:solidFill>
              <a:latin typeface="Segoe UI" panose="020B0502040204020203" pitchFamily="34" charset="0"/>
            </a:endParaRPr>
          </a:p>
        </p:txBody>
      </p:sp>
      <p:pic>
        <p:nvPicPr>
          <p:cNvPr id="49" name="Diagrama del paso" descr="Paso 7: ensanche en planta de 1,80 a 2,50 m"/>
          <p:cNvPicPr>
            <a:picLocks noChangeAspect="1"/>
          </p:cNvPicPr>
          <p:nvPr/>
        </p:nvPicPr>
        <p:blipFill>
          <a:blip r:embed="rId100"/>
          <a:stretch>
            <a:fillRect/>
          </a:stretch>
        </p:blipFill>
        <p:spPr>
          <a:xfrm>
            <a:off x="8229600" y="3044952"/>
            <a:ext cx="3355848" cy="1883664"/>
          </a:xfrm>
          <a:prstGeom prst="rect">
            <a:avLst/>
          </a:prstGeom>
        </p:spPr>
      </p:pic>
      <p:sp>
        <p:nvSpPr>
          <p:cNvPr id="41" name="CuadroTexto 40">
            <a:extLst>
              <a:ext uri="{FF2B5EF4-FFF2-40B4-BE49-F238E27FC236}">
                <a16:creationId xmlns:a16="http://schemas.microsoft.com/office/drawing/2014/main" id="{5BEE279F-8B29-106C-F48B-ED3B62EBDB8B}"/>
              </a:ext>
            </a:extLst>
          </p:cNvPr>
          <p:cNvSpPr txBox="1"/>
          <p:nvPr/>
        </p:nvSpPr>
        <p:spPr>
          <a:xfrm>
            <a:off x="736600" y="5029200"/>
            <a:ext cx="5080000" cy="152400"/>
          </a:xfrm>
          <a:prstGeom prst="rect">
            <a:avLst/>
          </a:prstGeom>
          <a:noFill/>
        </p:spPr>
        <p:txBody>
          <a:bodyPr vert="horz" wrap="square" lIns="0" tIns="0" rIns="0" bIns="0" rtlCol="0" anchor="t">
            <a:noAutofit/>
          </a:bodyPr>
          <a:lstStyle/>
          <a:p>
            <a:r>
              <a:rPr lang="es-BO" sz="700" spc="120">
                <a:solidFill>
                  <a:srgbClr val="6A4F20"/>
                </a:solidFill>
                <a:latin typeface="Segoe UI Semibold" panose="020B0702040204020203" pitchFamily="34" charset="0"/>
              </a:rPr>
              <a:t>QUÉ SIGNIFICA ESTE NÚMERO</a:t>
            </a:r>
          </a:p>
        </p:txBody>
      </p:sp>
      <p:sp>
        <p:nvSpPr>
          <p:cNvPr id="42" name="CuadroTexto 41">
            <a:extLst>
              <a:ext uri="{FF2B5EF4-FFF2-40B4-BE49-F238E27FC236}">
                <a16:creationId xmlns:a16="http://schemas.microsoft.com/office/drawing/2014/main" id="{944DD938-9969-7FA2-0F40-6A400CF03A2F}"/>
              </a:ext>
            </a:extLst>
          </p:cNvPr>
          <p:cNvSpPr txBox="1"/>
          <p:nvPr/>
        </p:nvSpPr>
        <p:spPr>
          <a:xfrm>
            <a:off x="736600" y="5194300"/>
            <a:ext cx="10845800" cy="304800"/>
          </a:xfrm>
          <a:prstGeom prst="rect">
            <a:avLst/>
          </a:prstGeom>
          <a:noFill/>
        </p:spPr>
        <p:txBody>
          <a:bodyPr vert="horz" wrap="square" lIns="0" tIns="0" rIns="0" bIns="0" rtlCol="0" anchor="t">
            <a:noAutofit/>
          </a:bodyPr>
          <a:lstStyle/>
          <a:p>
            <a:pPr algn="l"/>
            <a:r>
              <a:rPr lang="es-MX" sz="1050">
                <a:solidFill>
                  <a:srgbClr val="5A5248"/>
                </a:solidFill>
                <a:latin typeface="Segoe UI" panose="020B0502040204020203" pitchFamily="34" charset="0"/>
              </a:rPr>
              <a:t>El mínimo estricto es 2,36 m, pero 2,40 deja un margen de 1,03 que no es prudente en un recalce.</a:t>
            </a:r>
            <a:endParaRPr lang="es-BO" sz="1050">
              <a:solidFill>
                <a:srgbClr val="5A5248"/>
              </a:solidFill>
              <a:latin typeface="Segoe UI" panose="020B0502040204020203" pitchFamily="34" charset="0"/>
            </a:endParaRPr>
          </a:p>
        </p:txBody>
      </p:sp>
      <p:sp>
        <p:nvSpPr>
          <p:cNvPr id="43" name="Resultado_1">
            <a:extLst>
              <a:ext uri="{FF2B5EF4-FFF2-40B4-BE49-F238E27FC236}">
                <a16:creationId xmlns:a16="http://schemas.microsoft.com/office/drawing/2014/main" id="{9B8ACABB-E1B6-0A31-6815-28B85D4DD00F}"/>
              </a:ext>
            </a:extLst>
          </p:cNvPr>
          <p:cNvSpPr/>
          <p:nvPr/>
        </p:nvSpPr>
        <p:spPr>
          <a:xfrm>
            <a:off x="609600" y="5562600"/>
            <a:ext cx="10972800" cy="55880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38100" rIns="101600" bIns="38100" rtlCol="0" anchor="ctr"/>
          <a:lstStyle/>
          <a:p>
            <a:pPr algn="ctr"/>
            <a:r>
              <a:rPr lang="es-MX" sz="1600">
                <a:solidFill>
                  <a:srgbClr val="FFFFFF"/>
                </a:solidFill>
                <a:latin typeface="Bahnschrift SemiBold" panose="020B0502040204020203" pitchFamily="34" charset="0"/>
              </a:rPr>
              <a:t>Se adopta B = 2,50 m  ·  con el nuevo B, q_adm sube a 181,9: margen 1,13</a:t>
            </a:r>
            <a:endParaRPr lang="es-BO" sz="1600">
              <a:solidFill>
                <a:srgbClr val="FFFFFF"/>
              </a:solidFill>
              <a:latin typeface="Bahnschrift SemiBold" panose="020B0502040204020203" pitchFamily="34" charset="0"/>
            </a:endParaRPr>
          </a:p>
        </p:txBody>
      </p:sp>
      <p:sp>
        <p:nvSpPr>
          <p:cNvPr id="44" name="CuadroTexto 43">
            <a:extLst>
              <a:ext uri="{FF2B5EF4-FFF2-40B4-BE49-F238E27FC236}">
                <a16:creationId xmlns:a16="http://schemas.microsoft.com/office/drawing/2014/main" id="{D3742C2D-5032-AF27-1718-B3225078ECA6}"/>
              </a:ext>
            </a:extLst>
          </p:cNvPr>
          <p:cNvSpPr txBox="1"/>
          <p:nvPr/>
        </p:nvSpPr>
        <p:spPr>
          <a:xfrm>
            <a:off x="609600" y="6324600"/>
            <a:ext cx="10972800" cy="152400"/>
          </a:xfrm>
          <a:prstGeom prst="rect">
            <a:avLst/>
          </a:prstGeom>
          <a:noFill/>
        </p:spPr>
        <p:txBody>
          <a:bodyPr vert="horz" wrap="square" lIns="0" tIns="0" rIns="0" bIns="0" rtlCol="0" anchor="t">
            <a:noAutofit/>
          </a:bodyPr>
          <a:lstStyle/>
          <a:p>
            <a:pPr algn="l"/>
            <a:r>
              <a:rPr lang="es-BO" sz="700">
                <a:solidFill>
                  <a:srgbClr val="938A7C"/>
                </a:solidFill>
                <a:latin typeface="Segoe UI" panose="020B0502040204020203" pitchFamily="34" charset="0"/>
              </a:rPr>
              <a:t>Fuente: Terzaghi (1943), tercer sumando proporcional a B.</a:t>
            </a:r>
          </a:p>
        </p:txBody>
      </p:sp>
      <p:cxnSp>
        <p:nvCxnSpPr>
          <p:cNvPr id="45" name="Conector recto 44">
            <a:extLst>
              <a:ext uri="{FF2B5EF4-FFF2-40B4-BE49-F238E27FC236}">
                <a16:creationId xmlns:a16="http://schemas.microsoft.com/office/drawing/2014/main" id="{615A76D3-9F37-65AA-F1F6-E82425D6BC94}"/>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46" name="CuadroTexto 45">
            <a:extLst>
              <a:ext uri="{FF2B5EF4-FFF2-40B4-BE49-F238E27FC236}">
                <a16:creationId xmlns:a16="http://schemas.microsoft.com/office/drawing/2014/main" id="{96B8ED72-5125-7FD3-387B-7A3A18631757}"/>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47" name="CuadroTexto 46">
            <a:extLst>
              <a:ext uri="{FF2B5EF4-FFF2-40B4-BE49-F238E27FC236}">
                <a16:creationId xmlns:a16="http://schemas.microsoft.com/office/drawing/2014/main" id="{E6FFD7E6-E654-5724-7B75-FA19F98F9687}"/>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48" name="PageNo">
            <a:extLst>
              <a:ext uri="{FF2B5EF4-FFF2-40B4-BE49-F238E27FC236}">
                <a16:creationId xmlns:a16="http://schemas.microsoft.com/office/drawing/2014/main" id="{880E076A-992C-BDA2-3FB5-DE8CECEFA582}"/>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31 / 38</a:t>
            </a:r>
          </a:p>
        </p:txBody>
      </p:sp>
    </p:spTree>
    <p:custDataLst>
      <p:tags r:id="rId1"/>
    </p:custDataLst>
    <p:extLst>
      <p:ext uri="{BB962C8B-B14F-4D97-AF65-F5344CB8AC3E}">
        <p14:creationId xmlns:p14="http://schemas.microsoft.com/office/powerpoint/2010/main" val="1966045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animEffect transition="in" filter="fade">
                                      <p:cBhvr>
                                        <p:cTn id="7"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7150112-BD79-F54B-ECC1-12CC8E0DFB0B}"/>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MX" sz="900" spc="180">
                <a:solidFill>
                  <a:srgbClr val="6A4F20"/>
                </a:solidFill>
                <a:latin typeface="Segoe UI Semibold" panose="020B0702040204020203" pitchFamily="34" charset="0"/>
              </a:rPr>
              <a:t>CASO 7  ·  PASO 8 DE 8</a:t>
            </a:r>
            <a:endParaRPr lang="es-BO" sz="900" spc="180">
              <a:solidFill>
                <a:srgbClr val="6A4F20"/>
              </a:solidFill>
              <a:latin typeface="Segoe UI Semibold" panose="020B0702040204020203" pitchFamily="34" charset="0"/>
            </a:endParaRPr>
          </a:p>
        </p:txBody>
      </p:sp>
      <p:sp>
        <p:nvSpPr>
          <p:cNvPr id="3" name="Title">
            <a:extLst>
              <a:ext uri="{FF2B5EF4-FFF2-40B4-BE49-F238E27FC236}">
                <a16:creationId xmlns:a16="http://schemas.microsoft.com/office/drawing/2014/main" id="{EE91B825-58D1-B855-006D-07DD47CB7406}"/>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La conexión entre el ensanche y la zapata vieja</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0F06DE94-EC9A-5556-49AF-4815A849A813}"/>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6" name="CuadroTexto 5">
            <a:extLst>
              <a:ext uri="{FF2B5EF4-FFF2-40B4-BE49-F238E27FC236}">
                <a16:creationId xmlns:a16="http://schemas.microsoft.com/office/drawing/2014/main" id="{8E85EB6F-13B2-F74A-1B91-1B33249377D6}"/>
              </a:ext>
            </a:extLst>
          </p:cNvPr>
          <p:cNvSpPr txBox="1"/>
          <p:nvPr/>
        </p:nvSpPr>
        <p:spPr>
          <a:xfrm>
            <a:off x="609600" y="1270000"/>
            <a:ext cx="10972800" cy="228600"/>
          </a:xfrm>
          <a:prstGeom prst="rect">
            <a:avLst/>
          </a:prstGeom>
          <a:noFill/>
        </p:spPr>
        <p:txBody>
          <a:bodyPr vert="horz" wrap="square" lIns="0" tIns="0" rIns="0" bIns="0" rtlCol="0" anchor="t">
            <a:noAutofit/>
          </a:bodyPr>
          <a:lstStyle/>
          <a:p>
            <a:pPr algn="ctr"/>
            <a:r>
              <a:rPr lang="es-MX" sz="1150">
                <a:solidFill>
                  <a:srgbClr val="6A4F20"/>
                </a:solidFill>
                <a:latin typeface="Segoe UI Semibold" panose="020B0702040204020203" pitchFamily="34" charset="0"/>
              </a:rPr>
              <a:t>¿Cómo se consigue que la carga llegue al ensanche? Cosiendo la junta a cortante por fricción.</a:t>
            </a:r>
            <a:endParaRPr lang="es-BO" sz="1150">
              <a:solidFill>
                <a:srgbClr val="6A4F20"/>
              </a:solidFill>
              <a:latin typeface="Segoe UI Semibold" panose="020B0702040204020203" pitchFamily="34" charset="0"/>
            </a:endParaRPr>
          </a:p>
        </p:txBody>
      </p:sp>
      <p:sp>
        <p:nvSpPr>
          <p:cNvPr id="7" name="Rectángulo 6">
            <a:extLst>
              <a:ext uri="{FF2B5EF4-FFF2-40B4-BE49-F238E27FC236}">
                <a16:creationId xmlns:a16="http://schemas.microsoft.com/office/drawing/2014/main" id="{8A8BAD31-6166-3C19-F547-B537A0B1538E}"/>
              </a:ext>
            </a:extLst>
          </p:cNvPr>
          <p:cNvSpPr/>
          <p:nvPr/>
        </p:nvSpPr>
        <p:spPr>
          <a:xfrm>
            <a:off x="609600" y="1549400"/>
            <a:ext cx="10972800" cy="558800"/>
          </a:xfrm>
          <a:prstGeom prst="rect">
            <a:avLst/>
          </a:prstGeom>
          <a:solidFill>
            <a:srgbClr val="1C181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38100" rIns="101600" bIns="38100" rtlCol="0" anchor="ctr"/>
          <a:lstStyle/>
          <a:p>
            <a:pPr algn="ctr"/>
            <a:r>
              <a:rPr lang="es-MX" sz="1700">
                <a:solidFill>
                  <a:srgbClr val="FFFFFF"/>
                </a:solidFill>
                <a:latin typeface="Bahnschrift SemiBold" panose="020B0502040204020203" pitchFamily="34" charset="0"/>
              </a:rPr>
              <a:t>A_vf   ≥   V_u  /  ( φ · μ · f_y )</a:t>
            </a:r>
            <a:endParaRPr lang="es-BO" sz="1700">
              <a:solidFill>
                <a:srgbClr val="FFFFFF"/>
              </a:solidFill>
              <a:latin typeface="Bahnschrift SemiBold" panose="020B0502040204020203" pitchFamily="34" charset="0"/>
            </a:endParaRPr>
          </a:p>
        </p:txBody>
      </p:sp>
      <p:sp>
        <p:nvSpPr>
          <p:cNvPr id="9" name="CuadroTexto 8">
            <a:extLst>
              <a:ext uri="{FF2B5EF4-FFF2-40B4-BE49-F238E27FC236}">
                <a16:creationId xmlns:a16="http://schemas.microsoft.com/office/drawing/2014/main" id="{43ECA187-26AB-0AAC-84F6-23F2D543A137}"/>
              </a:ext>
            </a:extLst>
          </p:cNvPr>
          <p:cNvSpPr txBox="1"/>
          <p:nvPr/>
        </p:nvSpPr>
        <p:spPr>
          <a:xfrm>
            <a:off x="736600" y="2209800"/>
            <a:ext cx="5080000" cy="152400"/>
          </a:xfrm>
          <a:prstGeom prst="rect">
            <a:avLst/>
          </a:prstGeom>
          <a:noFill/>
        </p:spPr>
        <p:txBody>
          <a:bodyPr vert="horz" wrap="square" lIns="0" tIns="0" rIns="0" bIns="0" rtlCol="0" anchor="t">
            <a:noAutofit/>
          </a:bodyPr>
          <a:lstStyle/>
          <a:p>
            <a:r>
              <a:rPr lang="es-MX" sz="700" spc="120">
                <a:solidFill>
                  <a:srgbClr val="6A4F20"/>
                </a:solidFill>
                <a:latin typeface="Segoe UI Semibold" panose="020B0702040204020203" pitchFamily="34" charset="0"/>
              </a:rPr>
              <a:t>DE DÓNDE SALE LA FÓRMULA</a:t>
            </a:r>
            <a:endParaRPr lang="es-BO" sz="700" spc="120">
              <a:solidFill>
                <a:srgbClr val="6A4F20"/>
              </a:solidFill>
              <a:latin typeface="Segoe UI Semibold" panose="020B0702040204020203" pitchFamily="34" charset="0"/>
            </a:endParaRPr>
          </a:p>
        </p:txBody>
      </p:sp>
      <p:sp>
        <p:nvSpPr>
          <p:cNvPr id="10" name="CuadroTexto 9">
            <a:extLst>
              <a:ext uri="{FF2B5EF4-FFF2-40B4-BE49-F238E27FC236}">
                <a16:creationId xmlns:a16="http://schemas.microsoft.com/office/drawing/2014/main" id="{C08B6814-8113-3CA3-7DB2-98B38D19205B}"/>
              </a:ext>
            </a:extLst>
          </p:cNvPr>
          <p:cNvSpPr txBox="1"/>
          <p:nvPr/>
        </p:nvSpPr>
        <p:spPr>
          <a:xfrm>
            <a:off x="736600" y="2374900"/>
            <a:ext cx="10845800" cy="406400"/>
          </a:xfrm>
          <a:prstGeom prst="rect">
            <a:avLst/>
          </a:prstGeom>
          <a:noFill/>
        </p:spPr>
        <p:txBody>
          <a:bodyPr vert="horz" wrap="square" lIns="0" tIns="0" rIns="0" bIns="0" rtlCol="0" anchor="t">
            <a:noAutofit/>
          </a:bodyPr>
          <a:lstStyle/>
          <a:p>
            <a:pPr algn="l"/>
            <a:r>
              <a:rPr lang="es-MX" sz="900">
                <a:solidFill>
                  <a:srgbClr val="5A5248"/>
                </a:solidFill>
                <a:latin typeface="Segoe UI" panose="020B0502040204020203" pitchFamily="34" charset="0"/>
              </a:rPr>
              <a:t>ACI 318-19 §22.9, cortante por fricción. La junta entre hormigón viejo y nuevo no transmite tracción: transmite cortante por rozamiento, y el acero que la cose es el que genera la compresión normal que hace posible ese rozamiento.</a:t>
            </a:r>
            <a:endParaRPr lang="es-BO" sz="900">
              <a:solidFill>
                <a:srgbClr val="5A5248"/>
              </a:solidFill>
              <a:latin typeface="Segoe UI" panose="020B0502040204020203" pitchFamily="34" charset="0"/>
            </a:endParaRPr>
          </a:p>
        </p:txBody>
      </p:sp>
      <p:sp>
        <p:nvSpPr>
          <p:cNvPr id="11" name="CuadroTexto 10">
            <a:extLst>
              <a:ext uri="{FF2B5EF4-FFF2-40B4-BE49-F238E27FC236}">
                <a16:creationId xmlns:a16="http://schemas.microsoft.com/office/drawing/2014/main" id="{64A06EB1-83DF-2594-F19B-34358E8786A4}"/>
              </a:ext>
            </a:extLst>
          </p:cNvPr>
          <p:cNvSpPr txBox="1"/>
          <p:nvPr/>
        </p:nvSpPr>
        <p:spPr>
          <a:xfrm>
            <a:off x="609600" y="2844800"/>
            <a:ext cx="3581400" cy="152400"/>
          </a:xfrm>
          <a:prstGeom prst="rect">
            <a:avLst/>
          </a:prstGeom>
          <a:noFill/>
        </p:spPr>
        <p:txBody>
          <a:bodyPr vert="horz" wrap="square" lIns="0" tIns="0" rIns="0" bIns="0" rtlCol="0" anchor="t">
            <a:noAutofit/>
          </a:bodyPr>
          <a:lstStyle/>
          <a:p>
            <a:pPr algn="l"/>
            <a:r>
              <a:rPr lang="es-BO" sz="700">
                <a:solidFill>
                  <a:srgbClr val="6A4F20"/>
                </a:solidFill>
                <a:latin typeface="Segoe UI Semibold" panose="020B0702040204020203" pitchFamily="34" charset="0"/>
              </a:rPr>
              <a:t>LOS DATOS QUE ENTRAN</a:t>
            </a:r>
          </a:p>
        </p:txBody>
      </p:sp>
      <p:sp>
        <p:nvSpPr>
          <p:cNvPr id="13" name="CuadroTexto 12">
            <a:extLst>
              <a:ext uri="{FF2B5EF4-FFF2-40B4-BE49-F238E27FC236}">
                <a16:creationId xmlns:a16="http://schemas.microsoft.com/office/drawing/2014/main" id="{36632CB1-5712-FFF1-DC15-3AA0BD986489}"/>
              </a:ext>
            </a:extLst>
          </p:cNvPr>
          <p:cNvSpPr txBox="1"/>
          <p:nvPr/>
        </p:nvSpPr>
        <p:spPr>
          <a:xfrm>
            <a:off x="762000" y="3048000"/>
            <a:ext cx="3429000" cy="165100"/>
          </a:xfrm>
          <a:prstGeom prst="rect">
            <a:avLst/>
          </a:prstGeom>
          <a:noFill/>
        </p:spPr>
        <p:txBody>
          <a:bodyPr vert="horz" wrap="square" lIns="0" tIns="0" rIns="0" bIns="0" rtlCol="0" anchor="t">
            <a:noAutofit/>
          </a:bodyPr>
          <a:lstStyle/>
          <a:p>
            <a:pPr algn="l"/>
            <a:r>
              <a:rPr lang="es-BO" sz="1000">
                <a:solidFill>
                  <a:srgbClr val="1C1813"/>
                </a:solidFill>
                <a:latin typeface="Segoe UI Semibold" panose="020B0702040204020203" pitchFamily="34" charset="0"/>
              </a:rPr>
              <a:t>V_u</a:t>
            </a:r>
          </a:p>
        </p:txBody>
      </p:sp>
      <p:sp>
        <p:nvSpPr>
          <p:cNvPr id="14" name="CuadroTexto 13">
            <a:extLst>
              <a:ext uri="{FF2B5EF4-FFF2-40B4-BE49-F238E27FC236}">
                <a16:creationId xmlns:a16="http://schemas.microsoft.com/office/drawing/2014/main" id="{126FEFFB-85C8-45D7-7EC6-E99F67EC0423}"/>
              </a:ext>
            </a:extLst>
          </p:cNvPr>
          <p:cNvSpPr txBox="1"/>
          <p:nvPr/>
        </p:nvSpPr>
        <p:spPr>
          <a:xfrm>
            <a:off x="762000" y="3213100"/>
            <a:ext cx="3429000" cy="165100"/>
          </a:xfrm>
          <a:prstGeom prst="rect">
            <a:avLst/>
          </a:prstGeom>
          <a:noFill/>
        </p:spPr>
        <p:txBody>
          <a:bodyPr vert="horz" wrap="square" lIns="0" tIns="0" rIns="0" bIns="0" rtlCol="0" anchor="t">
            <a:noAutofit/>
          </a:bodyPr>
          <a:lstStyle/>
          <a:p>
            <a:pPr algn="l"/>
            <a:r>
              <a:rPr lang="es-MX" sz="850">
                <a:solidFill>
                  <a:srgbClr val="5A5248"/>
                </a:solidFill>
                <a:latin typeface="Segoe UI" panose="020B0502040204020203" pitchFamily="34" charset="0"/>
              </a:rPr>
              <a:t>La fracción de la carga mayorada que cruza la junta.</a:t>
            </a:r>
            <a:endParaRPr lang="es-BO" sz="850">
              <a:solidFill>
                <a:srgbClr val="5A5248"/>
              </a:solidFill>
              <a:latin typeface="Segoe UI" panose="020B0502040204020203" pitchFamily="34" charset="0"/>
            </a:endParaRPr>
          </a:p>
        </p:txBody>
      </p:sp>
      <p:sp>
        <p:nvSpPr>
          <p:cNvPr id="16" name="CuadroTexto 15">
            <a:extLst>
              <a:ext uri="{FF2B5EF4-FFF2-40B4-BE49-F238E27FC236}">
                <a16:creationId xmlns:a16="http://schemas.microsoft.com/office/drawing/2014/main" id="{5E86EC62-6357-9BD6-7627-2A3B155324B4}"/>
              </a:ext>
            </a:extLst>
          </p:cNvPr>
          <p:cNvSpPr txBox="1"/>
          <p:nvPr/>
        </p:nvSpPr>
        <p:spPr>
          <a:xfrm>
            <a:off x="762000" y="3517900"/>
            <a:ext cx="3429000" cy="165100"/>
          </a:xfrm>
          <a:prstGeom prst="rect">
            <a:avLst/>
          </a:prstGeom>
          <a:noFill/>
        </p:spPr>
        <p:txBody>
          <a:bodyPr vert="horz" wrap="square" lIns="0" tIns="0" rIns="0" bIns="0" rtlCol="0" anchor="t">
            <a:noAutofit/>
          </a:bodyPr>
          <a:lstStyle/>
          <a:p>
            <a:pPr algn="l"/>
            <a:r>
              <a:rPr lang="el-GR" sz="1000">
                <a:solidFill>
                  <a:srgbClr val="1C1813"/>
                </a:solidFill>
                <a:latin typeface="Segoe UI Semibold" panose="020B0702040204020203" pitchFamily="34" charset="0"/>
              </a:rPr>
              <a:t>μ = 1,0</a:t>
            </a:r>
            <a:endParaRPr lang="es-BO" sz="1000">
              <a:solidFill>
                <a:srgbClr val="1C1813"/>
              </a:solidFill>
              <a:latin typeface="Segoe UI Semibold" panose="020B0702040204020203" pitchFamily="34" charset="0"/>
            </a:endParaRPr>
          </a:p>
        </p:txBody>
      </p:sp>
      <p:sp>
        <p:nvSpPr>
          <p:cNvPr id="17" name="CuadroTexto 16">
            <a:extLst>
              <a:ext uri="{FF2B5EF4-FFF2-40B4-BE49-F238E27FC236}">
                <a16:creationId xmlns:a16="http://schemas.microsoft.com/office/drawing/2014/main" id="{0EF8FA8B-6EED-1792-BABA-6C81161DBECC}"/>
              </a:ext>
            </a:extLst>
          </p:cNvPr>
          <p:cNvSpPr txBox="1"/>
          <p:nvPr/>
        </p:nvSpPr>
        <p:spPr>
          <a:xfrm>
            <a:off x="762000" y="3683000"/>
            <a:ext cx="3429000" cy="165100"/>
          </a:xfrm>
          <a:prstGeom prst="rect">
            <a:avLst/>
          </a:prstGeom>
          <a:noFill/>
        </p:spPr>
        <p:txBody>
          <a:bodyPr vert="horz" wrap="square" lIns="0" tIns="0" rIns="0" bIns="0" rtlCol="0" anchor="t">
            <a:noAutofit/>
          </a:bodyPr>
          <a:lstStyle/>
          <a:p>
            <a:pPr algn="l"/>
            <a:r>
              <a:rPr lang="es-MX" sz="850">
                <a:solidFill>
                  <a:srgbClr val="5A5248"/>
                </a:solidFill>
                <a:latin typeface="Segoe UI" panose="020B0502040204020203" pitchFamily="34" charset="0"/>
              </a:rPr>
              <a:t>Junta endurecida, limpia y rugosa a 6 mm.</a:t>
            </a:r>
            <a:endParaRPr lang="es-BO" sz="850">
              <a:solidFill>
                <a:srgbClr val="5A5248"/>
              </a:solidFill>
              <a:latin typeface="Segoe UI" panose="020B0502040204020203" pitchFamily="34" charset="0"/>
            </a:endParaRPr>
          </a:p>
        </p:txBody>
      </p:sp>
      <p:sp>
        <p:nvSpPr>
          <p:cNvPr id="19" name="CuadroTexto 18">
            <a:extLst>
              <a:ext uri="{FF2B5EF4-FFF2-40B4-BE49-F238E27FC236}">
                <a16:creationId xmlns:a16="http://schemas.microsoft.com/office/drawing/2014/main" id="{6473F0B4-752A-A8E7-7DAE-7B08676C1B76}"/>
              </a:ext>
            </a:extLst>
          </p:cNvPr>
          <p:cNvSpPr txBox="1"/>
          <p:nvPr/>
        </p:nvSpPr>
        <p:spPr>
          <a:xfrm>
            <a:off x="762000" y="3987800"/>
            <a:ext cx="3429000" cy="165100"/>
          </a:xfrm>
          <a:prstGeom prst="rect">
            <a:avLst/>
          </a:prstGeom>
          <a:noFill/>
        </p:spPr>
        <p:txBody>
          <a:bodyPr vert="horz" wrap="square" lIns="0" tIns="0" rIns="0" bIns="0" rtlCol="0" anchor="t">
            <a:noAutofit/>
          </a:bodyPr>
          <a:lstStyle/>
          <a:p>
            <a:pPr algn="l"/>
            <a:r>
              <a:rPr lang="el-GR" sz="1000">
                <a:solidFill>
                  <a:srgbClr val="1C1813"/>
                </a:solidFill>
                <a:latin typeface="Segoe UI Semibold" panose="020B0702040204020203" pitchFamily="34" charset="0"/>
              </a:rPr>
              <a:t>φ = 0,75</a:t>
            </a:r>
            <a:endParaRPr lang="es-BO" sz="1000">
              <a:solidFill>
                <a:srgbClr val="1C1813"/>
              </a:solidFill>
              <a:latin typeface="Segoe UI Semibold" panose="020B0702040204020203" pitchFamily="34" charset="0"/>
            </a:endParaRPr>
          </a:p>
        </p:txBody>
      </p:sp>
      <p:sp>
        <p:nvSpPr>
          <p:cNvPr id="20" name="CuadroTexto 19">
            <a:extLst>
              <a:ext uri="{FF2B5EF4-FFF2-40B4-BE49-F238E27FC236}">
                <a16:creationId xmlns:a16="http://schemas.microsoft.com/office/drawing/2014/main" id="{E3CC48F0-66D3-226D-6B80-0F3FB205C747}"/>
              </a:ext>
            </a:extLst>
          </p:cNvPr>
          <p:cNvSpPr txBox="1"/>
          <p:nvPr/>
        </p:nvSpPr>
        <p:spPr>
          <a:xfrm>
            <a:off x="762000" y="4152900"/>
            <a:ext cx="3429000" cy="165100"/>
          </a:xfrm>
          <a:prstGeom prst="rect">
            <a:avLst/>
          </a:prstGeom>
          <a:noFill/>
        </p:spPr>
        <p:txBody>
          <a:bodyPr vert="horz" wrap="square" lIns="0" tIns="0" rIns="0" bIns="0" rtlCol="0" anchor="t">
            <a:noAutofit/>
          </a:bodyPr>
          <a:lstStyle/>
          <a:p>
            <a:pPr algn="l"/>
            <a:r>
              <a:rPr lang="es-MX" sz="850">
                <a:solidFill>
                  <a:srgbClr val="5A5248"/>
                </a:solidFill>
                <a:latin typeface="Segoe UI" panose="020B0502040204020203" pitchFamily="34" charset="0"/>
              </a:rPr>
              <a:t>Factor de reducción de resistencia para cortante.</a:t>
            </a:r>
            <a:endParaRPr lang="es-BO" sz="850">
              <a:solidFill>
                <a:srgbClr val="5A5248"/>
              </a:solidFill>
              <a:latin typeface="Segoe UI" panose="020B0502040204020203" pitchFamily="34" charset="0"/>
            </a:endParaRPr>
          </a:p>
        </p:txBody>
      </p:sp>
      <p:sp>
        <p:nvSpPr>
          <p:cNvPr id="22" name="CuadroTexto 21">
            <a:extLst>
              <a:ext uri="{FF2B5EF4-FFF2-40B4-BE49-F238E27FC236}">
                <a16:creationId xmlns:a16="http://schemas.microsoft.com/office/drawing/2014/main" id="{212078EF-3705-775F-CB70-1A8AEA80D26E}"/>
              </a:ext>
            </a:extLst>
          </p:cNvPr>
          <p:cNvSpPr txBox="1"/>
          <p:nvPr/>
        </p:nvSpPr>
        <p:spPr>
          <a:xfrm>
            <a:off x="762000" y="4457700"/>
            <a:ext cx="3429000" cy="165100"/>
          </a:xfrm>
          <a:prstGeom prst="rect">
            <a:avLst/>
          </a:prstGeom>
          <a:noFill/>
        </p:spPr>
        <p:txBody>
          <a:bodyPr vert="horz" wrap="square" lIns="0" tIns="0" rIns="0" bIns="0" rtlCol="0" anchor="t">
            <a:noAutofit/>
          </a:bodyPr>
          <a:lstStyle/>
          <a:p>
            <a:pPr algn="l"/>
            <a:r>
              <a:rPr lang="es-BO" sz="1000">
                <a:solidFill>
                  <a:srgbClr val="1C1813"/>
                </a:solidFill>
                <a:latin typeface="Segoe UI Semibold" panose="020B0702040204020203" pitchFamily="34" charset="0"/>
              </a:rPr>
              <a:t>f_y = 420 MPa</a:t>
            </a:r>
          </a:p>
        </p:txBody>
      </p:sp>
      <p:sp>
        <p:nvSpPr>
          <p:cNvPr id="23" name="CuadroTexto 22">
            <a:extLst>
              <a:ext uri="{FF2B5EF4-FFF2-40B4-BE49-F238E27FC236}">
                <a16:creationId xmlns:a16="http://schemas.microsoft.com/office/drawing/2014/main" id="{33F88D4C-62F3-681D-BB93-525085015422}"/>
              </a:ext>
            </a:extLst>
          </p:cNvPr>
          <p:cNvSpPr txBox="1"/>
          <p:nvPr/>
        </p:nvSpPr>
        <p:spPr>
          <a:xfrm>
            <a:off x="762000" y="4622800"/>
            <a:ext cx="3429000" cy="165100"/>
          </a:xfrm>
          <a:prstGeom prst="rect">
            <a:avLst/>
          </a:prstGeom>
          <a:noFill/>
        </p:spPr>
        <p:txBody>
          <a:bodyPr vert="horz" wrap="square" lIns="0" tIns="0" rIns="0" bIns="0" rtlCol="0" anchor="t">
            <a:noAutofit/>
          </a:bodyPr>
          <a:lstStyle/>
          <a:p>
            <a:pPr algn="l"/>
            <a:r>
              <a:rPr lang="es-MX" sz="850">
                <a:solidFill>
                  <a:srgbClr val="5A5248"/>
                </a:solidFill>
                <a:latin typeface="Segoe UI" panose="020B0502040204020203" pitchFamily="34" charset="0"/>
              </a:rPr>
              <a:t>Acero de los conectores nuevos.</a:t>
            </a:r>
            <a:endParaRPr lang="es-BO" sz="850">
              <a:solidFill>
                <a:srgbClr val="5A5248"/>
              </a:solidFill>
              <a:latin typeface="Segoe UI" panose="020B0502040204020203" pitchFamily="34" charset="0"/>
            </a:endParaRPr>
          </a:p>
        </p:txBody>
      </p:sp>
      <p:sp>
        <p:nvSpPr>
          <p:cNvPr id="24" name="CuadroTexto 23">
            <a:extLst>
              <a:ext uri="{FF2B5EF4-FFF2-40B4-BE49-F238E27FC236}">
                <a16:creationId xmlns:a16="http://schemas.microsoft.com/office/drawing/2014/main" id="{8A03C681-14F3-5900-B812-1B8737512487}"/>
              </a:ext>
            </a:extLst>
          </p:cNvPr>
          <p:cNvSpPr txBox="1"/>
          <p:nvPr/>
        </p:nvSpPr>
        <p:spPr>
          <a:xfrm>
            <a:off x="4495800" y="2844800"/>
            <a:ext cx="3429000" cy="152400"/>
          </a:xfrm>
          <a:prstGeom prst="rect">
            <a:avLst/>
          </a:prstGeom>
          <a:noFill/>
        </p:spPr>
        <p:txBody>
          <a:bodyPr vert="horz" wrap="square" lIns="0" tIns="0" rIns="0" bIns="0" rtlCol="0" anchor="t">
            <a:noAutofit/>
          </a:bodyPr>
          <a:lstStyle/>
          <a:p>
            <a:pPr algn="l"/>
            <a:r>
              <a:rPr lang="es-MX" sz="700">
                <a:solidFill>
                  <a:srgbClr val="6A4F20"/>
                </a:solidFill>
                <a:latin typeface="Segoe UI Semibold" panose="020B0702040204020203" pitchFamily="34" charset="0"/>
              </a:rPr>
              <a:t>LA CUENTA, PASO A PASO</a:t>
            </a:r>
            <a:endParaRPr lang="es-BO" sz="700">
              <a:solidFill>
                <a:srgbClr val="6A4F20"/>
              </a:solidFill>
              <a:latin typeface="Segoe UI Semibold" panose="020B0702040204020203" pitchFamily="34" charset="0"/>
            </a:endParaRPr>
          </a:p>
        </p:txBody>
      </p:sp>
      <p:sp>
        <p:nvSpPr>
          <p:cNvPr id="25" name="Rectángulo 24">
            <a:extLst>
              <a:ext uri="{FF2B5EF4-FFF2-40B4-BE49-F238E27FC236}">
                <a16:creationId xmlns:a16="http://schemas.microsoft.com/office/drawing/2014/main" id="{95FE8B0A-00F6-FC20-4342-3346937D8468}"/>
              </a:ext>
            </a:extLst>
          </p:cNvPr>
          <p:cNvSpPr/>
          <p:nvPr/>
        </p:nvSpPr>
        <p:spPr>
          <a:xfrm>
            <a:off x="4495800" y="3048000"/>
            <a:ext cx="3429000" cy="18796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6" name="CuadroTexto 25">
            <a:extLst>
              <a:ext uri="{FF2B5EF4-FFF2-40B4-BE49-F238E27FC236}">
                <a16:creationId xmlns:a16="http://schemas.microsoft.com/office/drawing/2014/main" id="{882E7AB4-E3A7-D9A9-E8E3-89569D41ECDF}"/>
              </a:ext>
            </a:extLst>
          </p:cNvPr>
          <p:cNvSpPr txBox="1"/>
          <p:nvPr/>
        </p:nvSpPr>
        <p:spPr>
          <a:xfrm>
            <a:off x="4648200" y="3162300"/>
            <a:ext cx="3124200" cy="254000"/>
          </a:xfrm>
          <a:prstGeom prst="rect">
            <a:avLst/>
          </a:prstGeom>
          <a:noFill/>
        </p:spPr>
        <p:txBody>
          <a:bodyPr vert="horz" wrap="square" lIns="0" tIns="0" rIns="0" bIns="0" rtlCol="0" anchor="t">
            <a:noAutofit/>
          </a:bodyPr>
          <a:lstStyle/>
          <a:p>
            <a:pPr algn="l"/>
            <a:r>
              <a:rPr lang="es-MX" sz="1150">
                <a:solidFill>
                  <a:srgbClr val="241F18"/>
                </a:solidFill>
                <a:latin typeface="Segoe UI" panose="020B0502040204020203" pitchFamily="34" charset="0"/>
              </a:rPr>
              <a:t>Área nueva = 2,50² − 1,80² = 3,01 m² de 6,25</a:t>
            </a:r>
            <a:endParaRPr lang="es-BO" sz="1150">
              <a:solidFill>
                <a:srgbClr val="241F18"/>
              </a:solidFill>
              <a:latin typeface="Segoe UI" panose="020B0502040204020203" pitchFamily="34" charset="0"/>
            </a:endParaRPr>
          </a:p>
        </p:txBody>
      </p:sp>
      <p:sp>
        <p:nvSpPr>
          <p:cNvPr id="27" name="CuadroTexto 26">
            <a:extLst>
              <a:ext uri="{FF2B5EF4-FFF2-40B4-BE49-F238E27FC236}">
                <a16:creationId xmlns:a16="http://schemas.microsoft.com/office/drawing/2014/main" id="{11BE6AE5-96E4-81EF-8F80-86D2EFAA0C96}"/>
              </a:ext>
            </a:extLst>
          </p:cNvPr>
          <p:cNvSpPr txBox="1"/>
          <p:nvPr/>
        </p:nvSpPr>
        <p:spPr>
          <a:xfrm>
            <a:off x="4648200" y="3441700"/>
            <a:ext cx="3124200" cy="254000"/>
          </a:xfrm>
          <a:prstGeom prst="rect">
            <a:avLst/>
          </a:prstGeom>
          <a:noFill/>
        </p:spPr>
        <p:txBody>
          <a:bodyPr vert="horz" wrap="square" lIns="0" tIns="0" rIns="0" bIns="0" rtlCol="0" anchor="t">
            <a:noAutofit/>
          </a:bodyPr>
          <a:lstStyle/>
          <a:p>
            <a:pPr algn="l"/>
            <a:r>
              <a:rPr lang="es-BO" sz="1150">
                <a:solidFill>
                  <a:srgbClr val="241F18"/>
                </a:solidFill>
                <a:latin typeface="Segoe UI" panose="020B0502040204020203" pitchFamily="34" charset="0"/>
              </a:rPr>
              <a:t>Fracción = 3,01 / 6,25 = 48 %</a:t>
            </a:r>
          </a:p>
        </p:txBody>
      </p:sp>
      <p:sp>
        <p:nvSpPr>
          <p:cNvPr id="28" name="CuadroTexto 27">
            <a:extLst>
              <a:ext uri="{FF2B5EF4-FFF2-40B4-BE49-F238E27FC236}">
                <a16:creationId xmlns:a16="http://schemas.microsoft.com/office/drawing/2014/main" id="{0292771C-81F0-38D9-8957-024CD32D5923}"/>
              </a:ext>
            </a:extLst>
          </p:cNvPr>
          <p:cNvSpPr txBox="1"/>
          <p:nvPr/>
        </p:nvSpPr>
        <p:spPr>
          <a:xfrm>
            <a:off x="4648200" y="3721100"/>
            <a:ext cx="3124200" cy="254000"/>
          </a:xfrm>
          <a:prstGeom prst="rect">
            <a:avLst/>
          </a:prstGeom>
          <a:noFill/>
        </p:spPr>
        <p:txBody>
          <a:bodyPr vert="horz" wrap="square" lIns="0" tIns="0" rIns="0" bIns="0" rtlCol="0" anchor="t">
            <a:noAutofit/>
          </a:bodyPr>
          <a:lstStyle/>
          <a:p>
            <a:pPr algn="l"/>
            <a:r>
              <a:rPr lang="nl-NL" sz="1150">
                <a:solidFill>
                  <a:srgbClr val="241F18"/>
                </a:solidFill>
                <a:latin typeface="Segoe UI" panose="020B0502040204020203" pitchFamily="34" charset="0"/>
              </a:rPr>
              <a:t>V_u = 1 250 kN × 0,48 = 602 kN</a:t>
            </a:r>
            <a:endParaRPr lang="es-BO" sz="1150">
              <a:solidFill>
                <a:srgbClr val="241F18"/>
              </a:solidFill>
              <a:latin typeface="Segoe UI" panose="020B0502040204020203" pitchFamily="34" charset="0"/>
            </a:endParaRPr>
          </a:p>
        </p:txBody>
      </p:sp>
      <p:sp>
        <p:nvSpPr>
          <p:cNvPr id="29" name="CuadroTexto 28">
            <a:extLst>
              <a:ext uri="{FF2B5EF4-FFF2-40B4-BE49-F238E27FC236}">
                <a16:creationId xmlns:a16="http://schemas.microsoft.com/office/drawing/2014/main" id="{64962747-37E0-EC99-C949-3432F0DD7F1E}"/>
              </a:ext>
            </a:extLst>
          </p:cNvPr>
          <p:cNvSpPr txBox="1"/>
          <p:nvPr/>
        </p:nvSpPr>
        <p:spPr>
          <a:xfrm>
            <a:off x="4648200" y="4000500"/>
            <a:ext cx="3124200" cy="254000"/>
          </a:xfrm>
          <a:prstGeom prst="rect">
            <a:avLst/>
          </a:prstGeom>
          <a:noFill/>
        </p:spPr>
        <p:txBody>
          <a:bodyPr vert="horz" wrap="square" lIns="0" tIns="0" rIns="0" bIns="0" rtlCol="0" anchor="t">
            <a:noAutofit/>
          </a:bodyPr>
          <a:lstStyle/>
          <a:p>
            <a:endParaRPr lang="es-BO" sz="1150">
              <a:solidFill>
                <a:srgbClr val="241F18"/>
              </a:solidFill>
              <a:latin typeface="Segoe UI" panose="020B0502040204020203" pitchFamily="34" charset="0"/>
            </a:endParaRPr>
          </a:p>
        </p:txBody>
      </p:sp>
      <p:sp>
        <p:nvSpPr>
          <p:cNvPr id="30" name="CuadroTexto 29">
            <a:extLst>
              <a:ext uri="{FF2B5EF4-FFF2-40B4-BE49-F238E27FC236}">
                <a16:creationId xmlns:a16="http://schemas.microsoft.com/office/drawing/2014/main" id="{C8D4AD1D-EB5F-73CA-7219-A4B59900904D}"/>
              </a:ext>
            </a:extLst>
          </p:cNvPr>
          <p:cNvSpPr txBox="1"/>
          <p:nvPr/>
        </p:nvSpPr>
        <p:spPr>
          <a:xfrm>
            <a:off x="4648200" y="4279900"/>
            <a:ext cx="3124200" cy="254000"/>
          </a:xfrm>
          <a:prstGeom prst="rect">
            <a:avLst/>
          </a:prstGeom>
          <a:noFill/>
        </p:spPr>
        <p:txBody>
          <a:bodyPr vert="horz" wrap="square" lIns="0" tIns="0" rIns="0" bIns="0" rtlCol="0" anchor="t">
            <a:noAutofit/>
          </a:bodyPr>
          <a:lstStyle/>
          <a:p>
            <a:pPr algn="l"/>
            <a:r>
              <a:rPr lang="pt-BR" sz="1150">
                <a:solidFill>
                  <a:srgbClr val="241F18"/>
                </a:solidFill>
                <a:latin typeface="Segoe UI" panose="020B0502040204020203" pitchFamily="34" charset="0"/>
              </a:rPr>
              <a:t>A_vf = 602 000 / (0,75 × 1,0 × 420)</a:t>
            </a:r>
            <a:endParaRPr lang="es-BO" sz="1150">
              <a:solidFill>
                <a:srgbClr val="241F18"/>
              </a:solidFill>
              <a:latin typeface="Segoe UI" panose="020B0502040204020203" pitchFamily="34" charset="0"/>
            </a:endParaRPr>
          </a:p>
        </p:txBody>
      </p:sp>
      <p:sp>
        <p:nvSpPr>
          <p:cNvPr id="31" name="CuadroTexto 30">
            <a:extLst>
              <a:ext uri="{FF2B5EF4-FFF2-40B4-BE49-F238E27FC236}">
                <a16:creationId xmlns:a16="http://schemas.microsoft.com/office/drawing/2014/main" id="{40CF1029-E63E-B3C2-E702-0D424DD172B7}"/>
              </a:ext>
            </a:extLst>
          </p:cNvPr>
          <p:cNvSpPr txBox="1"/>
          <p:nvPr/>
        </p:nvSpPr>
        <p:spPr>
          <a:xfrm>
            <a:off x="4648200" y="4559300"/>
            <a:ext cx="3124200" cy="254000"/>
          </a:xfrm>
          <a:prstGeom prst="rect">
            <a:avLst/>
          </a:prstGeom>
          <a:noFill/>
        </p:spPr>
        <p:txBody>
          <a:bodyPr vert="horz" wrap="square" lIns="0" tIns="0" rIns="0" bIns="0" rtlCol="0" anchor="t">
            <a:noAutofit/>
          </a:bodyPr>
          <a:lstStyle/>
          <a:p>
            <a:pPr algn="l"/>
            <a:r>
              <a:rPr lang="pt-BR" sz="1150">
                <a:solidFill>
                  <a:srgbClr val="241F18"/>
                </a:solidFill>
                <a:latin typeface="Segoe UI" panose="020B0502040204020203" pitchFamily="34" charset="0"/>
              </a:rPr>
              <a:t>A_vf = 1 911 mm²</a:t>
            </a:r>
            <a:endParaRPr lang="es-BO" sz="1150">
              <a:solidFill>
                <a:srgbClr val="241F18"/>
              </a:solidFill>
              <a:latin typeface="Segoe UI" panose="020B0502040204020203" pitchFamily="34" charset="0"/>
            </a:endParaRPr>
          </a:p>
        </p:txBody>
      </p:sp>
      <p:pic>
        <p:nvPicPr>
          <p:cNvPr id="67" name="Diagrama del paso" descr="Paso 8: 18 barras Ø12 en el perímetro de la zapata vieja"/>
          <p:cNvPicPr>
            <a:picLocks noChangeAspect="1"/>
          </p:cNvPicPr>
          <p:nvPr/>
        </p:nvPicPr>
        <p:blipFill>
          <a:blip r:embed="rId100"/>
          <a:stretch>
            <a:fillRect/>
          </a:stretch>
        </p:blipFill>
        <p:spPr>
          <a:xfrm>
            <a:off x="8229600" y="3044952"/>
            <a:ext cx="3355848" cy="1883664"/>
          </a:xfrm>
          <a:prstGeom prst="rect">
            <a:avLst/>
          </a:prstGeom>
        </p:spPr>
      </p:pic>
      <p:sp>
        <p:nvSpPr>
          <p:cNvPr id="59" name="CuadroTexto 58">
            <a:extLst>
              <a:ext uri="{FF2B5EF4-FFF2-40B4-BE49-F238E27FC236}">
                <a16:creationId xmlns:a16="http://schemas.microsoft.com/office/drawing/2014/main" id="{3627590A-CEA2-3369-E75C-E7B1D119D15E}"/>
              </a:ext>
            </a:extLst>
          </p:cNvPr>
          <p:cNvSpPr txBox="1"/>
          <p:nvPr/>
        </p:nvSpPr>
        <p:spPr>
          <a:xfrm>
            <a:off x="736600" y="5029200"/>
            <a:ext cx="5080000" cy="152400"/>
          </a:xfrm>
          <a:prstGeom prst="rect">
            <a:avLst/>
          </a:prstGeom>
          <a:noFill/>
        </p:spPr>
        <p:txBody>
          <a:bodyPr vert="horz" wrap="square" lIns="0" tIns="0" rIns="0" bIns="0" rtlCol="0" anchor="t">
            <a:noAutofit/>
          </a:bodyPr>
          <a:lstStyle/>
          <a:p>
            <a:r>
              <a:rPr lang="es-BO" sz="700" spc="120">
                <a:solidFill>
                  <a:srgbClr val="6A4F20"/>
                </a:solidFill>
                <a:latin typeface="Segoe UI Semibold" panose="020B0702040204020203" pitchFamily="34" charset="0"/>
              </a:rPr>
              <a:t>QUÉ SIGNIFICA ESTE NÚMERO</a:t>
            </a:r>
          </a:p>
        </p:txBody>
      </p:sp>
      <p:sp>
        <p:nvSpPr>
          <p:cNvPr id="60" name="CuadroTexto 59">
            <a:extLst>
              <a:ext uri="{FF2B5EF4-FFF2-40B4-BE49-F238E27FC236}">
                <a16:creationId xmlns:a16="http://schemas.microsoft.com/office/drawing/2014/main" id="{56B897BD-6610-65C2-1497-1CB45623D1BF}"/>
              </a:ext>
            </a:extLst>
          </p:cNvPr>
          <p:cNvSpPr txBox="1"/>
          <p:nvPr/>
        </p:nvSpPr>
        <p:spPr>
          <a:xfrm>
            <a:off x="736600" y="5194300"/>
            <a:ext cx="10845800" cy="304800"/>
          </a:xfrm>
          <a:prstGeom prst="rect">
            <a:avLst/>
          </a:prstGeom>
          <a:noFill/>
        </p:spPr>
        <p:txBody>
          <a:bodyPr vert="horz" wrap="square" lIns="0" tIns="0" rIns="0" bIns="0" rtlCol="0" anchor="t">
            <a:noAutofit/>
          </a:bodyPr>
          <a:lstStyle/>
          <a:p>
            <a:pPr algn="l"/>
            <a:r>
              <a:rPr lang="es-MX" sz="1050">
                <a:solidFill>
                  <a:srgbClr val="5A5248"/>
                </a:solidFill>
                <a:latin typeface="Segoe UI" panose="020B0502040204020203" pitchFamily="34" charset="0"/>
              </a:rPr>
              <a:t>Sin conexión comprobada, el ensanche es hormigón decorativo alrededor de la zapata vieja: la carga no llega a él.</a:t>
            </a:r>
            <a:endParaRPr lang="es-BO" sz="1050">
              <a:solidFill>
                <a:srgbClr val="5A5248"/>
              </a:solidFill>
              <a:latin typeface="Segoe UI" panose="020B0502040204020203" pitchFamily="34" charset="0"/>
            </a:endParaRPr>
          </a:p>
        </p:txBody>
      </p:sp>
      <p:sp>
        <p:nvSpPr>
          <p:cNvPr id="61" name="Resultado_1">
            <a:extLst>
              <a:ext uri="{FF2B5EF4-FFF2-40B4-BE49-F238E27FC236}">
                <a16:creationId xmlns:a16="http://schemas.microsoft.com/office/drawing/2014/main" id="{334F8D0A-84A8-2013-E19D-521CF2B94C03}"/>
              </a:ext>
            </a:extLst>
          </p:cNvPr>
          <p:cNvSpPr/>
          <p:nvPr/>
        </p:nvSpPr>
        <p:spPr>
          <a:xfrm>
            <a:off x="609600" y="5562600"/>
            <a:ext cx="10972800" cy="55880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38100" rIns="101600" bIns="38100" rtlCol="0" anchor="ctr"/>
          <a:lstStyle/>
          <a:p>
            <a:pPr algn="ctr"/>
            <a:r>
              <a:rPr lang="es-MX" sz="1600">
                <a:solidFill>
                  <a:srgbClr val="FFFFFF"/>
                </a:solidFill>
                <a:latin typeface="Bahnschrift SemiBold" panose="020B0502040204020203" pitchFamily="34" charset="0"/>
              </a:rPr>
              <a:t>18 Ø12 en los 7,20 m de perímetro  ·  Ø12 c/400  →  2 036 mm² ≥ 1 911</a:t>
            </a:r>
            <a:endParaRPr lang="es-BO" sz="1600">
              <a:solidFill>
                <a:srgbClr val="FFFFFF"/>
              </a:solidFill>
              <a:latin typeface="Bahnschrift SemiBold" panose="020B0502040204020203" pitchFamily="34" charset="0"/>
            </a:endParaRPr>
          </a:p>
        </p:txBody>
      </p:sp>
      <p:sp>
        <p:nvSpPr>
          <p:cNvPr id="62" name="CuadroTexto 61">
            <a:extLst>
              <a:ext uri="{FF2B5EF4-FFF2-40B4-BE49-F238E27FC236}">
                <a16:creationId xmlns:a16="http://schemas.microsoft.com/office/drawing/2014/main" id="{4E7709D3-15E7-32AC-D16D-2A56BCB9DEFA}"/>
              </a:ext>
            </a:extLst>
          </p:cNvPr>
          <p:cNvSpPr txBox="1"/>
          <p:nvPr/>
        </p:nvSpPr>
        <p:spPr>
          <a:xfrm>
            <a:off x="609600" y="6324600"/>
            <a:ext cx="10972800" cy="152400"/>
          </a:xfrm>
          <a:prstGeom prst="rect">
            <a:avLst/>
          </a:prstGeom>
          <a:noFill/>
        </p:spPr>
        <p:txBody>
          <a:bodyPr vert="horz" wrap="square" lIns="0" tIns="0" rIns="0" bIns="0" rtlCol="0" anchor="t">
            <a:noAutofit/>
          </a:bodyPr>
          <a:lstStyle/>
          <a:p>
            <a:pPr algn="l"/>
            <a:r>
              <a:rPr lang="es-MX" sz="700">
                <a:solidFill>
                  <a:srgbClr val="938A7C"/>
                </a:solidFill>
                <a:latin typeface="Segoe UI" panose="020B0502040204020203" pitchFamily="34" charset="0"/>
              </a:rPr>
              <a:t>Fuente: ACI 318-19 §22.9, cortante por fricción.</a:t>
            </a:r>
            <a:endParaRPr lang="es-BO" sz="700">
              <a:solidFill>
                <a:srgbClr val="938A7C"/>
              </a:solidFill>
              <a:latin typeface="Segoe UI" panose="020B0502040204020203" pitchFamily="34" charset="0"/>
            </a:endParaRPr>
          </a:p>
        </p:txBody>
      </p:sp>
      <p:cxnSp>
        <p:nvCxnSpPr>
          <p:cNvPr id="63" name="Conector recto 62">
            <a:extLst>
              <a:ext uri="{FF2B5EF4-FFF2-40B4-BE49-F238E27FC236}">
                <a16:creationId xmlns:a16="http://schemas.microsoft.com/office/drawing/2014/main" id="{E112F380-0BE5-0BE8-BEA3-9A92CE3C5D01}"/>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64" name="CuadroTexto 63">
            <a:extLst>
              <a:ext uri="{FF2B5EF4-FFF2-40B4-BE49-F238E27FC236}">
                <a16:creationId xmlns:a16="http://schemas.microsoft.com/office/drawing/2014/main" id="{92158F6C-B03B-B731-9BB2-42CBC7570E6B}"/>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65" name="CuadroTexto 64">
            <a:extLst>
              <a:ext uri="{FF2B5EF4-FFF2-40B4-BE49-F238E27FC236}">
                <a16:creationId xmlns:a16="http://schemas.microsoft.com/office/drawing/2014/main" id="{A072FF32-63B2-5A89-5EAB-E6AC579630DB}"/>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66" name="PageNo">
            <a:extLst>
              <a:ext uri="{FF2B5EF4-FFF2-40B4-BE49-F238E27FC236}">
                <a16:creationId xmlns:a16="http://schemas.microsoft.com/office/drawing/2014/main" id="{ED9319BB-5174-BFDC-F815-72DCA25F4F48}"/>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32 / 38</a:t>
            </a:r>
          </a:p>
        </p:txBody>
      </p:sp>
    </p:spTree>
    <p:custDataLst>
      <p:tags r:id="rId1"/>
    </p:custDataLst>
    <p:extLst>
      <p:ext uri="{BB962C8B-B14F-4D97-AF65-F5344CB8AC3E}">
        <p14:creationId xmlns:p14="http://schemas.microsoft.com/office/powerpoint/2010/main" val="3135477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534F7595-DEF7-65A9-AAB5-367529ECC208}"/>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BO" sz="900" spc="180">
                <a:solidFill>
                  <a:srgbClr val="6A4F20"/>
                </a:solidFill>
                <a:latin typeface="Segoe UI Semibold" panose="020B0702040204020203" pitchFamily="34" charset="0"/>
              </a:rPr>
              <a:t>CASO 7  ·  CIERRE</a:t>
            </a:r>
          </a:p>
        </p:txBody>
      </p:sp>
      <p:sp>
        <p:nvSpPr>
          <p:cNvPr id="3" name="Title">
            <a:extLst>
              <a:ext uri="{FF2B5EF4-FFF2-40B4-BE49-F238E27FC236}">
                <a16:creationId xmlns:a16="http://schemas.microsoft.com/office/drawing/2014/main" id="{1B65E40E-B97D-71E1-7B1F-B6DC84943C12}"/>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Lo que se registra y lo que se aprende</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8952B05A-096F-CED1-451A-52109AFECB6C}"/>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graphicFrame>
        <p:nvGraphicFramePr>
          <p:cNvPr id="6" name="Tabla 5">
            <a:extLst>
              <a:ext uri="{FF2B5EF4-FFF2-40B4-BE49-F238E27FC236}">
                <a16:creationId xmlns:a16="http://schemas.microsoft.com/office/drawing/2014/main" id="{0D946E48-AC2B-07C5-FE89-ECBFA43843F2}"/>
              </a:ext>
            </a:extLst>
          </p:cNvPr>
          <p:cNvGraphicFramePr>
            <a:graphicFrameLocks noGrp="1"/>
          </p:cNvGraphicFramePr>
          <p:nvPr>
            <p:extLst>
              <p:ext uri="{D42A27DB-BD31-4B8C-83A1-F6EECF244321}">
                <p14:modId xmlns:p14="http://schemas.microsoft.com/office/powerpoint/2010/main" val="3556235930"/>
              </p:ext>
            </p:extLst>
          </p:nvPr>
        </p:nvGraphicFramePr>
        <p:xfrm>
          <a:off x="609600" y="1422400"/>
          <a:ext cx="6299200" cy="2540000"/>
        </p:xfrm>
        <a:graphic>
          <a:graphicData uri="http://schemas.openxmlformats.org/drawingml/2006/table">
            <a:tbl>
              <a:tblPr firstRow="1" bandRow="1">
                <a:tableStyleId>{5C22544A-7EE6-4342-B048-85BDC9FD1C3A}</a:tableStyleId>
              </a:tblPr>
              <a:tblGrid>
                <a:gridCol w="2489200">
                  <a:extLst>
                    <a:ext uri="{9D8B030D-6E8A-4147-A177-3AD203B41FA5}">
                      <a16:colId xmlns:a16="http://schemas.microsoft.com/office/drawing/2014/main" val="3789249145"/>
                    </a:ext>
                  </a:extLst>
                </a:gridCol>
                <a:gridCol w="3810000">
                  <a:extLst>
                    <a:ext uri="{9D8B030D-6E8A-4147-A177-3AD203B41FA5}">
                      <a16:colId xmlns:a16="http://schemas.microsoft.com/office/drawing/2014/main" val="848176218"/>
                    </a:ext>
                  </a:extLst>
                </a:gridCol>
              </a:tblGrid>
              <a:tr h="317500">
                <a:tc>
                  <a:txBody>
                    <a:bodyPr/>
                    <a:lstStyle/>
                    <a:p>
                      <a:pPr algn="ctr"/>
                      <a:r>
                        <a:rPr lang="es-BO" sz="950" b="0">
                          <a:solidFill>
                            <a:srgbClr val="FFFFFF"/>
                          </a:solidFill>
                          <a:latin typeface="Segoe UI Semibold" panose="020B0702040204020203" pitchFamily="34" charset="0"/>
                        </a:rPr>
                        <a:t>Paso</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1C1813"/>
                    </a:solidFill>
                  </a:tcPr>
                </a:tc>
                <a:tc>
                  <a:txBody>
                    <a:bodyPr/>
                    <a:lstStyle/>
                    <a:p>
                      <a:pPr algn="ctr"/>
                      <a:r>
                        <a:rPr lang="es-BO" sz="950" b="0">
                          <a:solidFill>
                            <a:srgbClr val="FFFFFF"/>
                          </a:solidFill>
                          <a:latin typeface="Segoe UI Semibold" panose="020B0702040204020203" pitchFamily="34" charset="0"/>
                        </a:rPr>
                        <a:t>Resultado</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1C1813"/>
                    </a:solidFill>
                  </a:tcPr>
                </a:tc>
                <a:extLst>
                  <a:ext uri="{0D108BD9-81ED-4DB2-BD59-A6C34878D82A}">
                    <a16:rowId xmlns:a16="http://schemas.microsoft.com/office/drawing/2014/main" val="3462308397"/>
                  </a:ext>
                </a:extLst>
              </a:tr>
              <a:tr h="317500">
                <a:tc>
                  <a:txBody>
                    <a:bodyPr/>
                    <a:lstStyle/>
                    <a:p>
                      <a:pPr algn="ctr"/>
                      <a:r>
                        <a:rPr lang="es-BO" sz="1000" b="0">
                          <a:solidFill>
                            <a:srgbClr val="1C1813"/>
                          </a:solidFill>
                          <a:latin typeface="Segoe UI Semibold" panose="020B0702040204020203" pitchFamily="34" charset="0"/>
                        </a:rPr>
                        <a:t>q del terreno</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BO" sz="1000" b="0">
                          <a:solidFill>
                            <a:srgbClr val="241F18"/>
                          </a:solidFill>
                          <a:latin typeface="Segoe UI" panose="020B0502040204020203" pitchFamily="34" charset="0"/>
                        </a:rPr>
                        <a:t>20,4 kPa</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extLst>
                  <a:ext uri="{0D108BD9-81ED-4DB2-BD59-A6C34878D82A}">
                    <a16:rowId xmlns:a16="http://schemas.microsoft.com/office/drawing/2014/main" val="354594035"/>
                  </a:ext>
                </a:extLst>
              </a:tr>
              <a:tr h="317500">
                <a:tc>
                  <a:txBody>
                    <a:bodyPr/>
                    <a:lstStyle/>
                    <a:p>
                      <a:pPr algn="ctr"/>
                      <a:r>
                        <a:rPr lang="es-BO" sz="1000" b="0">
                          <a:solidFill>
                            <a:srgbClr val="1C1813"/>
                          </a:solidFill>
                          <a:latin typeface="Segoe UI Semibold" panose="020B0702040204020203" pitchFamily="34" charset="0"/>
                        </a:rPr>
                        <a:t>Carga de hundimiento</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BO" sz="1000" b="0">
                          <a:solidFill>
                            <a:srgbClr val="241F18"/>
                          </a:solidFill>
                          <a:latin typeface="Segoe UI" panose="020B0502040204020203" pitchFamily="34" charset="0"/>
                        </a:rPr>
                        <a:t>535,3 kPa</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extLst>
                  <a:ext uri="{0D108BD9-81ED-4DB2-BD59-A6C34878D82A}">
                    <a16:rowId xmlns:a16="http://schemas.microsoft.com/office/drawing/2014/main" val="841682071"/>
                  </a:ext>
                </a:extLst>
              </a:tr>
              <a:tr h="317500">
                <a:tc>
                  <a:txBody>
                    <a:bodyPr/>
                    <a:lstStyle/>
                    <a:p>
                      <a:pPr algn="ctr"/>
                      <a:r>
                        <a:rPr lang="es-BO" sz="1000" b="0">
                          <a:solidFill>
                            <a:srgbClr val="1C1813"/>
                          </a:solidFill>
                          <a:latin typeface="Segoe UI Semibold" panose="020B0702040204020203" pitchFamily="34" charset="0"/>
                        </a:rPr>
                        <a:t>Carga admisible</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BO" sz="1000" b="0">
                          <a:solidFill>
                            <a:srgbClr val="241F18"/>
                          </a:solidFill>
                          <a:latin typeface="Segoe UI" panose="020B0502040204020203" pitchFamily="34" charset="0"/>
                        </a:rPr>
                        <a:t>178,4 kPa</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extLst>
                  <a:ext uri="{0D108BD9-81ED-4DB2-BD59-A6C34878D82A}">
                    <a16:rowId xmlns:a16="http://schemas.microsoft.com/office/drawing/2014/main" val="4087422745"/>
                  </a:ext>
                </a:extLst>
              </a:tr>
              <a:tr h="317500">
                <a:tc>
                  <a:txBody>
                    <a:bodyPr/>
                    <a:lstStyle/>
                    <a:p>
                      <a:pPr algn="ctr"/>
                      <a:r>
                        <a:rPr lang="es-BO" sz="1000" b="0">
                          <a:solidFill>
                            <a:srgbClr val="1C1813"/>
                          </a:solidFill>
                          <a:latin typeface="Segoe UI Semibold" panose="020B0702040204020203" pitchFamily="34" charset="0"/>
                        </a:rPr>
                        <a:t>Hoy  ·  620 kN</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BO" sz="1000" b="0">
                          <a:solidFill>
                            <a:srgbClr val="241F18"/>
                          </a:solidFill>
                          <a:latin typeface="Segoe UI" panose="020B0502040204020203" pitchFamily="34" charset="0"/>
                        </a:rPr>
                        <a:t>215,3 kPa   ·   margen 0,83</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extLst>
                  <a:ext uri="{0D108BD9-81ED-4DB2-BD59-A6C34878D82A}">
                    <a16:rowId xmlns:a16="http://schemas.microsoft.com/office/drawing/2014/main" val="2146906569"/>
                  </a:ext>
                </a:extLst>
              </a:tr>
              <a:tr h="317500">
                <a:tc>
                  <a:txBody>
                    <a:bodyPr/>
                    <a:lstStyle/>
                    <a:p>
                      <a:pPr algn="ctr"/>
                      <a:r>
                        <a:rPr lang="es-BO" sz="1000" b="0">
                          <a:solidFill>
                            <a:srgbClr val="1C1813"/>
                          </a:solidFill>
                          <a:latin typeface="Segoe UI Semibold" panose="020B0702040204020203" pitchFamily="34" charset="0"/>
                        </a:rPr>
                        <a:t>Futuro  ·  860 kN</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BO" sz="1000" b="0">
                          <a:solidFill>
                            <a:srgbClr val="241F18"/>
                          </a:solidFill>
                          <a:latin typeface="Segoe UI" panose="020B0502040204020203" pitchFamily="34" charset="0"/>
                        </a:rPr>
                        <a:t>289,4 kPa   ·   margen 0,62</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extLst>
                  <a:ext uri="{0D108BD9-81ED-4DB2-BD59-A6C34878D82A}">
                    <a16:rowId xmlns:a16="http://schemas.microsoft.com/office/drawing/2014/main" val="189088286"/>
                  </a:ext>
                </a:extLst>
              </a:tr>
              <a:tr h="317500">
                <a:tc>
                  <a:txBody>
                    <a:bodyPr/>
                    <a:lstStyle/>
                    <a:p>
                      <a:pPr algn="ctr"/>
                      <a:r>
                        <a:rPr lang="es-BO" sz="1000" b="0">
                          <a:solidFill>
                            <a:srgbClr val="1C1813"/>
                          </a:solidFill>
                          <a:latin typeface="Segoe UI Semibold" panose="020B0702040204020203" pitchFamily="34" charset="0"/>
                        </a:rPr>
                        <a:t>Ensanche adoptado</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tc>
                  <a:txBody>
                    <a:bodyPr/>
                    <a:lstStyle/>
                    <a:p>
                      <a:pPr algn="ctr"/>
                      <a:r>
                        <a:rPr lang="es-BO" sz="1000" b="0">
                          <a:solidFill>
                            <a:srgbClr val="241F18"/>
                          </a:solidFill>
                          <a:latin typeface="Segoe UI" panose="020B0502040204020203" pitchFamily="34" charset="0"/>
                        </a:rPr>
                        <a:t>B = 2,50 m   ·   margen 1,13</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8F5EF"/>
                    </a:solidFill>
                  </a:tcPr>
                </a:tc>
                <a:extLst>
                  <a:ext uri="{0D108BD9-81ED-4DB2-BD59-A6C34878D82A}">
                    <a16:rowId xmlns:a16="http://schemas.microsoft.com/office/drawing/2014/main" val="1499991217"/>
                  </a:ext>
                </a:extLst>
              </a:tr>
              <a:tr h="317500">
                <a:tc>
                  <a:txBody>
                    <a:bodyPr/>
                    <a:lstStyle/>
                    <a:p>
                      <a:pPr algn="ctr"/>
                      <a:r>
                        <a:rPr lang="es-BO" sz="1000" b="0">
                          <a:solidFill>
                            <a:srgbClr val="1C1813"/>
                          </a:solidFill>
                          <a:latin typeface="Segoe UI Semibold" panose="020B0702040204020203" pitchFamily="34" charset="0"/>
                        </a:rPr>
                        <a:t>Conexión</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tc>
                  <a:txBody>
                    <a:bodyPr/>
                    <a:lstStyle/>
                    <a:p>
                      <a:pPr algn="ctr"/>
                      <a:r>
                        <a:rPr lang="es-BO" sz="1000" b="0">
                          <a:solidFill>
                            <a:srgbClr val="241F18"/>
                          </a:solidFill>
                          <a:latin typeface="Segoe UI" panose="020B0502040204020203" pitchFamily="34" charset="0"/>
                        </a:rPr>
                        <a:t>18 Ø12  ·  Ø12 c/400 mm</a:t>
                      </a:r>
                    </a:p>
                  </a:txBody>
                  <a:tcPr marL="101600" marR="76200" marT="50800" marB="50800" anchor="ctr">
                    <a:lnL w="6350" cmpd="sng">
                      <a:solidFill>
                        <a:srgbClr val="DCD5C7"/>
                      </a:solidFill>
                    </a:lnL>
                    <a:lnR w="6350" cmpd="sng">
                      <a:solidFill>
                        <a:srgbClr val="DCD5C7"/>
                      </a:solidFill>
                    </a:lnR>
                    <a:lnT w="6350" cmpd="sng">
                      <a:solidFill>
                        <a:srgbClr val="DCD5C7"/>
                      </a:solidFill>
                    </a:lnT>
                    <a:lnB w="6350" cmpd="sng">
                      <a:solidFill>
                        <a:srgbClr val="DCD5C7"/>
                      </a:solidFill>
                    </a:lnB>
                    <a:solidFill>
                      <a:srgbClr val="FFFFFF"/>
                    </a:solidFill>
                  </a:tcPr>
                </a:tc>
                <a:extLst>
                  <a:ext uri="{0D108BD9-81ED-4DB2-BD59-A6C34878D82A}">
                    <a16:rowId xmlns:a16="http://schemas.microsoft.com/office/drawing/2014/main" val="615007605"/>
                  </a:ext>
                </a:extLst>
              </a:tr>
            </a:tbl>
          </a:graphicData>
        </a:graphic>
      </p:graphicFrame>
      <p:sp>
        <p:nvSpPr>
          <p:cNvPr id="7" name="CuadroTexto 6">
            <a:extLst>
              <a:ext uri="{FF2B5EF4-FFF2-40B4-BE49-F238E27FC236}">
                <a16:creationId xmlns:a16="http://schemas.microsoft.com/office/drawing/2014/main" id="{40B62385-5C38-E6FB-F8B8-BC28F5C144F9}"/>
              </a:ext>
            </a:extLst>
          </p:cNvPr>
          <p:cNvSpPr txBox="1"/>
          <p:nvPr/>
        </p:nvSpPr>
        <p:spPr>
          <a:xfrm>
            <a:off x="7213600" y="1422400"/>
            <a:ext cx="4368800" cy="152400"/>
          </a:xfrm>
          <a:prstGeom prst="rect">
            <a:avLst/>
          </a:prstGeom>
          <a:noFill/>
        </p:spPr>
        <p:txBody>
          <a:bodyPr vert="horz" wrap="square" lIns="0" tIns="0" rIns="0" bIns="0" rtlCol="0" anchor="t">
            <a:noAutofit/>
          </a:bodyPr>
          <a:lstStyle/>
          <a:p>
            <a:pPr algn="l"/>
            <a:r>
              <a:rPr lang="es-BO" sz="750">
                <a:solidFill>
                  <a:srgbClr val="6A4F20"/>
                </a:solidFill>
                <a:latin typeface="Segoe UI Semibold" panose="020B0702040204020203" pitchFamily="34" charset="0"/>
              </a:rPr>
              <a:t>QUÉ QUEDA REGISTRADO</a:t>
            </a:r>
          </a:p>
        </p:txBody>
      </p:sp>
      <p:sp>
        <p:nvSpPr>
          <p:cNvPr id="9" name="CuadroTexto 8">
            <a:extLst>
              <a:ext uri="{FF2B5EF4-FFF2-40B4-BE49-F238E27FC236}">
                <a16:creationId xmlns:a16="http://schemas.microsoft.com/office/drawing/2014/main" id="{86939411-D0B4-4B47-3691-23A14F538ACE}"/>
              </a:ext>
            </a:extLst>
          </p:cNvPr>
          <p:cNvSpPr txBox="1"/>
          <p:nvPr/>
        </p:nvSpPr>
        <p:spPr>
          <a:xfrm>
            <a:off x="7366000" y="1676400"/>
            <a:ext cx="4216400" cy="381000"/>
          </a:xfrm>
          <a:prstGeom prst="rect">
            <a:avLst/>
          </a:prstGeom>
          <a:noFill/>
        </p:spPr>
        <p:txBody>
          <a:bodyPr vert="horz" wrap="square" lIns="0" tIns="0" rIns="0" bIns="0" rtlCol="0" anchor="t">
            <a:noAutofit/>
          </a:bodyPr>
          <a:lstStyle/>
          <a:p>
            <a:pPr algn="l"/>
            <a:r>
              <a:rPr lang="es-MX" sz="1050">
                <a:solidFill>
                  <a:srgbClr val="5A5248"/>
                </a:solidFill>
                <a:latin typeface="Segoe UI" panose="020B0502040204020203" pitchFamily="34" charset="0"/>
              </a:rPr>
              <a:t>El cálculo de Terzaghi con los tres sumandos y la fuente de cada parámetro.</a:t>
            </a:r>
            <a:endParaRPr lang="es-BO" sz="1050">
              <a:solidFill>
                <a:srgbClr val="5A5248"/>
              </a:solidFill>
              <a:latin typeface="Segoe UI" panose="020B0502040204020203" pitchFamily="34" charset="0"/>
            </a:endParaRPr>
          </a:p>
        </p:txBody>
      </p:sp>
      <p:sp>
        <p:nvSpPr>
          <p:cNvPr id="11" name="CuadroTexto 10">
            <a:extLst>
              <a:ext uri="{FF2B5EF4-FFF2-40B4-BE49-F238E27FC236}">
                <a16:creationId xmlns:a16="http://schemas.microsoft.com/office/drawing/2014/main" id="{3B35571C-8C93-752E-2BA2-2EF1E86F7EC7}"/>
              </a:ext>
            </a:extLst>
          </p:cNvPr>
          <p:cNvSpPr txBox="1"/>
          <p:nvPr/>
        </p:nvSpPr>
        <p:spPr>
          <a:xfrm>
            <a:off x="7366000" y="2133600"/>
            <a:ext cx="4216400" cy="381000"/>
          </a:xfrm>
          <a:prstGeom prst="rect">
            <a:avLst/>
          </a:prstGeom>
          <a:noFill/>
        </p:spPr>
        <p:txBody>
          <a:bodyPr vert="horz" wrap="square" lIns="0" tIns="0" rIns="0" bIns="0" rtlCol="0" anchor="t">
            <a:noAutofit/>
          </a:bodyPr>
          <a:lstStyle/>
          <a:p>
            <a:pPr algn="l"/>
            <a:r>
              <a:rPr lang="es-MX" sz="1050">
                <a:solidFill>
                  <a:srgbClr val="5A5248"/>
                </a:solidFill>
                <a:latin typeface="Segoe UI" panose="020B0502040204020203" pitchFamily="34" charset="0"/>
              </a:rPr>
              <a:t>Las dos comprobaciones, con la carga de hoy y con la futura, y su margen.</a:t>
            </a:r>
            <a:endParaRPr lang="es-BO" sz="1050">
              <a:solidFill>
                <a:srgbClr val="5A5248"/>
              </a:solidFill>
              <a:latin typeface="Segoe UI" panose="020B0502040204020203" pitchFamily="34" charset="0"/>
            </a:endParaRPr>
          </a:p>
        </p:txBody>
      </p:sp>
      <p:sp>
        <p:nvSpPr>
          <p:cNvPr id="13" name="CuadroTexto 12">
            <a:extLst>
              <a:ext uri="{FF2B5EF4-FFF2-40B4-BE49-F238E27FC236}">
                <a16:creationId xmlns:a16="http://schemas.microsoft.com/office/drawing/2014/main" id="{DC96BEE2-88BB-5323-AB8E-7342A84EF74D}"/>
              </a:ext>
            </a:extLst>
          </p:cNvPr>
          <p:cNvSpPr txBox="1"/>
          <p:nvPr/>
        </p:nvSpPr>
        <p:spPr>
          <a:xfrm>
            <a:off x="7366000" y="2590800"/>
            <a:ext cx="4216400" cy="381000"/>
          </a:xfrm>
          <a:prstGeom prst="rect">
            <a:avLst/>
          </a:prstGeom>
          <a:noFill/>
        </p:spPr>
        <p:txBody>
          <a:bodyPr vert="horz" wrap="square" lIns="0" tIns="0" rIns="0" bIns="0" rtlCol="0" anchor="t">
            <a:noAutofit/>
          </a:bodyPr>
          <a:lstStyle/>
          <a:p>
            <a:pPr algn="l"/>
            <a:r>
              <a:rPr lang="es-MX" sz="1050">
                <a:solidFill>
                  <a:srgbClr val="5A5248"/>
                </a:solidFill>
                <a:latin typeface="Segoe UI" panose="020B0502040204020203" pitchFamily="34" charset="0"/>
              </a:rPr>
              <a:t>El dimensionado del ensanche con el q_adm recalculado para el B nuevo.</a:t>
            </a:r>
            <a:endParaRPr lang="es-BO" sz="1050">
              <a:solidFill>
                <a:srgbClr val="5A5248"/>
              </a:solidFill>
              <a:latin typeface="Segoe UI" panose="020B0502040204020203" pitchFamily="34" charset="0"/>
            </a:endParaRPr>
          </a:p>
        </p:txBody>
      </p:sp>
      <p:sp>
        <p:nvSpPr>
          <p:cNvPr id="15" name="CuadroTexto 14">
            <a:extLst>
              <a:ext uri="{FF2B5EF4-FFF2-40B4-BE49-F238E27FC236}">
                <a16:creationId xmlns:a16="http://schemas.microsoft.com/office/drawing/2014/main" id="{6CC97925-C28F-BD74-7109-E893A636F93F}"/>
              </a:ext>
            </a:extLst>
          </p:cNvPr>
          <p:cNvSpPr txBox="1"/>
          <p:nvPr/>
        </p:nvSpPr>
        <p:spPr>
          <a:xfrm>
            <a:off x="7366000" y="3048000"/>
            <a:ext cx="4216400" cy="381000"/>
          </a:xfrm>
          <a:prstGeom prst="rect">
            <a:avLst/>
          </a:prstGeom>
          <a:noFill/>
        </p:spPr>
        <p:txBody>
          <a:bodyPr vert="horz" wrap="square" lIns="0" tIns="0" rIns="0" bIns="0" rtlCol="0" anchor="t">
            <a:noAutofit/>
          </a:bodyPr>
          <a:lstStyle/>
          <a:p>
            <a:pPr algn="l"/>
            <a:r>
              <a:rPr lang="es-MX" sz="1050">
                <a:solidFill>
                  <a:srgbClr val="5A5248"/>
                </a:solidFill>
                <a:latin typeface="Segoe UI" panose="020B0502040204020203" pitchFamily="34" charset="0"/>
              </a:rPr>
              <a:t>El detalle de conectores con el cortante por fricción y la exigencia de rugosidad.</a:t>
            </a:r>
            <a:endParaRPr lang="es-BO" sz="1050">
              <a:solidFill>
                <a:srgbClr val="5A5248"/>
              </a:solidFill>
              <a:latin typeface="Segoe UI" panose="020B0502040204020203" pitchFamily="34" charset="0"/>
            </a:endParaRPr>
          </a:p>
        </p:txBody>
      </p:sp>
      <p:sp>
        <p:nvSpPr>
          <p:cNvPr id="17" name="CuadroTexto 16">
            <a:extLst>
              <a:ext uri="{FF2B5EF4-FFF2-40B4-BE49-F238E27FC236}">
                <a16:creationId xmlns:a16="http://schemas.microsoft.com/office/drawing/2014/main" id="{4C4E271D-AE00-2135-2699-F5C16F53B7AA}"/>
              </a:ext>
            </a:extLst>
          </p:cNvPr>
          <p:cNvSpPr txBox="1"/>
          <p:nvPr/>
        </p:nvSpPr>
        <p:spPr>
          <a:xfrm>
            <a:off x="7366000" y="3505200"/>
            <a:ext cx="4216400" cy="381000"/>
          </a:xfrm>
          <a:prstGeom prst="rect">
            <a:avLst/>
          </a:prstGeom>
          <a:noFill/>
        </p:spPr>
        <p:txBody>
          <a:bodyPr vert="horz" wrap="square" lIns="0" tIns="0" rIns="0" bIns="0" rtlCol="0" anchor="t">
            <a:noAutofit/>
          </a:bodyPr>
          <a:lstStyle/>
          <a:p>
            <a:pPr algn="l"/>
            <a:r>
              <a:rPr lang="es-MX" sz="1050">
                <a:solidFill>
                  <a:srgbClr val="5A5248"/>
                </a:solidFill>
                <a:latin typeface="Segoe UI" panose="020B0502040204020203" pitchFamily="34" charset="0"/>
              </a:rPr>
              <a:t>La limitación declarada: no se ha comprobado el asiento, y en este terreno puede gobernar.</a:t>
            </a:r>
            <a:endParaRPr lang="es-BO" sz="1050">
              <a:solidFill>
                <a:srgbClr val="5A5248"/>
              </a:solidFill>
              <a:latin typeface="Segoe UI" panose="020B0502040204020203" pitchFamily="34" charset="0"/>
            </a:endParaRPr>
          </a:p>
        </p:txBody>
      </p:sp>
      <p:sp>
        <p:nvSpPr>
          <p:cNvPr id="18" name="Rectángulo 17">
            <a:extLst>
              <a:ext uri="{FF2B5EF4-FFF2-40B4-BE49-F238E27FC236}">
                <a16:creationId xmlns:a16="http://schemas.microsoft.com/office/drawing/2014/main" id="{6C280606-4879-D1CC-6C2D-23F92961E838}"/>
              </a:ext>
            </a:extLst>
          </p:cNvPr>
          <p:cNvSpPr/>
          <p:nvPr/>
        </p:nvSpPr>
        <p:spPr>
          <a:xfrm>
            <a:off x="609600" y="4191000"/>
            <a:ext cx="10972800" cy="889000"/>
          </a:xfrm>
          <a:prstGeom prst="rect">
            <a:avLst/>
          </a:prstGeom>
          <a:solidFill>
            <a:srgbClr val="241F1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0" name="CuadroTexto 19">
            <a:extLst>
              <a:ext uri="{FF2B5EF4-FFF2-40B4-BE49-F238E27FC236}">
                <a16:creationId xmlns:a16="http://schemas.microsoft.com/office/drawing/2014/main" id="{D3C686B8-F4C9-5148-B2FB-1AA97F0B603C}"/>
              </a:ext>
            </a:extLst>
          </p:cNvPr>
          <p:cNvSpPr txBox="1"/>
          <p:nvPr/>
        </p:nvSpPr>
        <p:spPr>
          <a:xfrm>
            <a:off x="838200" y="4368800"/>
            <a:ext cx="10566400" cy="584200"/>
          </a:xfrm>
          <a:prstGeom prst="rect">
            <a:avLst/>
          </a:prstGeom>
          <a:noFill/>
        </p:spPr>
        <p:txBody>
          <a:bodyPr vert="horz" wrap="square" lIns="0" tIns="0" rIns="0" bIns="0" rtlCol="0" anchor="t">
            <a:noAutofit/>
          </a:bodyPr>
          <a:lstStyle/>
          <a:p>
            <a:pPr algn="l"/>
            <a:r>
              <a:rPr lang="es-MX" sz="1300">
                <a:solidFill>
                  <a:srgbClr val="FFFFFF"/>
                </a:solidFill>
                <a:latin typeface="Segoe UI" panose="020B0502040204020203" pitchFamily="34" charset="0"/>
              </a:rPr>
              <a:t>La estructura no falla por donde se ve el daño. Las fisuras estaban en la viga, el susto estaba en la columna y el problema real estaba bajo tierra, sin fisurar y sin que nadie lo mirara en veintiocho años.</a:t>
            </a:r>
            <a:endParaRPr lang="es-BO" sz="1300">
              <a:solidFill>
                <a:srgbClr val="FFFFFF"/>
              </a:solidFill>
              <a:latin typeface="Segoe UI" panose="020B0502040204020203" pitchFamily="34" charset="0"/>
            </a:endParaRPr>
          </a:p>
        </p:txBody>
      </p:sp>
      <p:sp>
        <p:nvSpPr>
          <p:cNvPr id="21" name="CuadroTexto 20">
            <a:extLst>
              <a:ext uri="{FF2B5EF4-FFF2-40B4-BE49-F238E27FC236}">
                <a16:creationId xmlns:a16="http://schemas.microsoft.com/office/drawing/2014/main" id="{9DC27A6E-820F-95CD-0150-9D9D425C1F09}"/>
              </a:ext>
            </a:extLst>
          </p:cNvPr>
          <p:cNvSpPr txBox="1"/>
          <p:nvPr/>
        </p:nvSpPr>
        <p:spPr>
          <a:xfrm>
            <a:off x="609600" y="5257800"/>
            <a:ext cx="10972800" cy="508000"/>
          </a:xfrm>
          <a:prstGeom prst="rect">
            <a:avLst/>
          </a:prstGeom>
          <a:noFill/>
        </p:spPr>
        <p:txBody>
          <a:bodyPr vert="horz" wrap="square" lIns="0" tIns="0" rIns="0" bIns="0" rtlCol="0" anchor="t">
            <a:noAutofit/>
          </a:bodyPr>
          <a:lstStyle/>
          <a:p>
            <a:pPr algn="ctr"/>
            <a:r>
              <a:rPr lang="es-MX" sz="1100">
                <a:solidFill>
                  <a:srgbClr val="5A5248"/>
                </a:solidFill>
                <a:latin typeface="Segoe UI" panose="020B0502040204020203" pitchFamily="34" charset="0"/>
              </a:rPr>
              <a:t>Y el detalle que casi nadie hace: recalcular la carga admisible con el ancho nuevo. Son 3,5 puntos de margen que estaban ahí y no se cobraban.</a:t>
            </a:r>
            <a:endParaRPr lang="es-BO" sz="1100">
              <a:solidFill>
                <a:srgbClr val="5A5248"/>
              </a:solidFill>
              <a:latin typeface="Segoe UI" panose="020B0502040204020203" pitchFamily="34" charset="0"/>
            </a:endParaRPr>
          </a:p>
        </p:txBody>
      </p:sp>
      <p:sp>
        <p:nvSpPr>
          <p:cNvPr id="22" name="CuadroTexto 21">
            <a:extLst>
              <a:ext uri="{FF2B5EF4-FFF2-40B4-BE49-F238E27FC236}">
                <a16:creationId xmlns:a16="http://schemas.microsoft.com/office/drawing/2014/main" id="{C86AE4AE-756A-6EB7-6101-E61E55E68B1D}"/>
              </a:ext>
            </a:extLst>
          </p:cNvPr>
          <p:cNvSpPr txBox="1"/>
          <p:nvPr/>
        </p:nvSpPr>
        <p:spPr>
          <a:xfrm>
            <a:off x="609600" y="6324600"/>
            <a:ext cx="10972800" cy="152400"/>
          </a:xfrm>
          <a:prstGeom prst="rect">
            <a:avLst/>
          </a:prstGeom>
          <a:noFill/>
        </p:spPr>
        <p:txBody>
          <a:bodyPr vert="horz" wrap="square" lIns="0" tIns="0" rIns="0" bIns="0" rtlCol="0" anchor="t">
            <a:noAutofit/>
          </a:bodyPr>
          <a:lstStyle/>
          <a:p>
            <a:pPr algn="l"/>
            <a:r>
              <a:rPr lang="it-IT" sz="700">
                <a:solidFill>
                  <a:srgbClr val="938A7C"/>
                </a:solidFill>
                <a:latin typeface="Segoe UI" panose="020B0502040204020203" pitchFamily="34" charset="0"/>
              </a:rPr>
              <a:t>Fuente: Terzaghi (1943); ACI 318-19 §22.9; ACI 562 §6 y §7.</a:t>
            </a:r>
            <a:endParaRPr lang="es-BO" sz="700">
              <a:solidFill>
                <a:srgbClr val="938A7C"/>
              </a:solidFill>
              <a:latin typeface="Segoe UI" panose="020B0502040204020203" pitchFamily="34" charset="0"/>
            </a:endParaRPr>
          </a:p>
        </p:txBody>
      </p:sp>
      <p:cxnSp>
        <p:nvCxnSpPr>
          <p:cNvPr id="23" name="Conector recto 22">
            <a:extLst>
              <a:ext uri="{FF2B5EF4-FFF2-40B4-BE49-F238E27FC236}">
                <a16:creationId xmlns:a16="http://schemas.microsoft.com/office/drawing/2014/main" id="{1CEA0D6F-7868-F102-C556-2B6526BA54DA}"/>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24" name="CuadroTexto 23">
            <a:extLst>
              <a:ext uri="{FF2B5EF4-FFF2-40B4-BE49-F238E27FC236}">
                <a16:creationId xmlns:a16="http://schemas.microsoft.com/office/drawing/2014/main" id="{EBAFFB12-4312-7A53-5EE0-478B1BE031C9}"/>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25" name="CuadroTexto 24">
            <a:extLst>
              <a:ext uri="{FF2B5EF4-FFF2-40B4-BE49-F238E27FC236}">
                <a16:creationId xmlns:a16="http://schemas.microsoft.com/office/drawing/2014/main" id="{C5CFBEF0-0DE2-8D44-0217-630BDBF5A3E9}"/>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26" name="PageNo">
            <a:extLst>
              <a:ext uri="{FF2B5EF4-FFF2-40B4-BE49-F238E27FC236}">
                <a16:creationId xmlns:a16="http://schemas.microsoft.com/office/drawing/2014/main" id="{8C4AF9E1-B64F-1D84-2C26-0FE2D80F0A53}"/>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33 / 38</a:t>
            </a:r>
          </a:p>
        </p:txBody>
      </p:sp>
    </p:spTree>
    <p:custDataLst>
      <p:tags r:id="rId1"/>
    </p:custDataLst>
    <p:extLst>
      <p:ext uri="{BB962C8B-B14F-4D97-AF65-F5344CB8AC3E}">
        <p14:creationId xmlns:p14="http://schemas.microsoft.com/office/powerpoint/2010/main" val="182899582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C40D7D28-33C3-D3DE-C099-0407BC69C7AF}"/>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BO" sz="900" spc="180">
                <a:solidFill>
                  <a:srgbClr val="6A4F20"/>
                </a:solidFill>
                <a:latin typeface="Segoe UI Semibold" panose="020B0702040204020203" pitchFamily="34" charset="0"/>
              </a:rPr>
              <a:t>SÍNTESIS DEL CURSO</a:t>
            </a:r>
          </a:p>
        </p:txBody>
      </p:sp>
      <p:sp>
        <p:nvSpPr>
          <p:cNvPr id="3" name="Title">
            <a:extLst>
              <a:ext uri="{FF2B5EF4-FFF2-40B4-BE49-F238E27FC236}">
                <a16:creationId xmlns:a16="http://schemas.microsoft.com/office/drawing/2014/main" id="{98329329-7B4E-05E2-83AC-ED9A50601DA5}"/>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Diez reglas de oro, una por cada cosa que suele salir mal</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587F51A3-D522-880F-CF4A-DAF92EFC7693}"/>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6" name="Elipse 5">
            <a:extLst>
              <a:ext uri="{FF2B5EF4-FFF2-40B4-BE49-F238E27FC236}">
                <a16:creationId xmlns:a16="http://schemas.microsoft.com/office/drawing/2014/main" id="{553CC3BB-C45B-28D3-2AE0-8A00DA87DD18}"/>
              </a:ext>
            </a:extLst>
          </p:cNvPr>
          <p:cNvSpPr/>
          <p:nvPr/>
        </p:nvSpPr>
        <p:spPr>
          <a:xfrm>
            <a:off x="609600" y="1397000"/>
            <a:ext cx="304800" cy="3048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000">
                <a:solidFill>
                  <a:srgbClr val="1C1813"/>
                </a:solidFill>
                <a:latin typeface="Bahnschrift SemiBold" panose="020B0502040204020203" pitchFamily="34" charset="0"/>
              </a:rPr>
              <a:t>01</a:t>
            </a:r>
          </a:p>
        </p:txBody>
      </p:sp>
      <p:sp>
        <p:nvSpPr>
          <p:cNvPr id="7" name="CuadroTexto 6">
            <a:extLst>
              <a:ext uri="{FF2B5EF4-FFF2-40B4-BE49-F238E27FC236}">
                <a16:creationId xmlns:a16="http://schemas.microsoft.com/office/drawing/2014/main" id="{8CF50D60-E1BC-F4C4-5F4D-7855831D9B1D}"/>
              </a:ext>
            </a:extLst>
          </p:cNvPr>
          <p:cNvSpPr txBox="1"/>
          <p:nvPr/>
        </p:nvSpPr>
        <p:spPr>
          <a:xfrm>
            <a:off x="1016000" y="1371600"/>
            <a:ext cx="4826000" cy="228600"/>
          </a:xfrm>
          <a:prstGeom prst="rect">
            <a:avLst/>
          </a:prstGeom>
          <a:noFill/>
        </p:spPr>
        <p:txBody>
          <a:bodyPr vert="horz" wrap="square" lIns="0" tIns="0" rIns="0" bIns="0" rtlCol="0" anchor="t">
            <a:noAutofit/>
          </a:bodyPr>
          <a:lstStyle/>
          <a:p>
            <a:pPr algn="l"/>
            <a:r>
              <a:rPr lang="es-BO" sz="1200">
                <a:solidFill>
                  <a:srgbClr val="1C1813"/>
                </a:solidFill>
                <a:latin typeface="Bahnschrift SemiBold" panose="020B0502040204020203" pitchFamily="34" charset="0"/>
              </a:rPr>
              <a:t>Del síntoma a la causa</a:t>
            </a:r>
          </a:p>
        </p:txBody>
      </p:sp>
      <p:sp>
        <p:nvSpPr>
          <p:cNvPr id="8" name="CuadroTexto 7">
            <a:extLst>
              <a:ext uri="{FF2B5EF4-FFF2-40B4-BE49-F238E27FC236}">
                <a16:creationId xmlns:a16="http://schemas.microsoft.com/office/drawing/2014/main" id="{BA9079F8-647D-A649-73FD-6DD3C0490148}"/>
              </a:ext>
            </a:extLst>
          </p:cNvPr>
          <p:cNvSpPr txBox="1"/>
          <p:nvPr/>
        </p:nvSpPr>
        <p:spPr>
          <a:xfrm>
            <a:off x="1016000" y="1612900"/>
            <a:ext cx="4927600" cy="406400"/>
          </a:xfrm>
          <a:prstGeom prst="rect">
            <a:avLst/>
          </a:prstGeom>
          <a:noFill/>
        </p:spPr>
        <p:txBody>
          <a:bodyPr vert="horz" wrap="square" lIns="0" tIns="0" rIns="0" bIns="0" rtlCol="0" anchor="t">
            <a:noAutofit/>
          </a:bodyPr>
          <a:lstStyle/>
          <a:p>
            <a:pPr algn="l"/>
            <a:r>
              <a:rPr lang="es-MX" sz="1050">
                <a:solidFill>
                  <a:srgbClr val="5A5248"/>
                </a:solidFill>
                <a:latin typeface="Segoe UI" panose="020B0502040204020203" pitchFamily="34" charset="0"/>
              </a:rPr>
              <a:t>La cadena se recorre al revés y no se cierra hasta llegar a la causa.</a:t>
            </a:r>
            <a:endParaRPr lang="es-BO" sz="1050">
              <a:solidFill>
                <a:srgbClr val="5A5248"/>
              </a:solidFill>
              <a:latin typeface="Segoe UI" panose="020B0502040204020203" pitchFamily="34" charset="0"/>
            </a:endParaRPr>
          </a:p>
        </p:txBody>
      </p:sp>
      <p:sp>
        <p:nvSpPr>
          <p:cNvPr id="9" name="Elipse 8">
            <a:extLst>
              <a:ext uri="{FF2B5EF4-FFF2-40B4-BE49-F238E27FC236}">
                <a16:creationId xmlns:a16="http://schemas.microsoft.com/office/drawing/2014/main" id="{FC0E7AC7-7CF6-31E7-8888-2ED82AD3BA9C}"/>
              </a:ext>
            </a:extLst>
          </p:cNvPr>
          <p:cNvSpPr/>
          <p:nvPr/>
        </p:nvSpPr>
        <p:spPr>
          <a:xfrm>
            <a:off x="609600" y="2362200"/>
            <a:ext cx="304800" cy="3048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000">
                <a:solidFill>
                  <a:srgbClr val="1C1813"/>
                </a:solidFill>
                <a:latin typeface="Bahnschrift SemiBold" panose="020B0502040204020203" pitchFamily="34" charset="0"/>
              </a:rPr>
              <a:t>02</a:t>
            </a:r>
          </a:p>
        </p:txBody>
      </p:sp>
      <p:sp>
        <p:nvSpPr>
          <p:cNvPr id="10" name="CuadroTexto 9">
            <a:extLst>
              <a:ext uri="{FF2B5EF4-FFF2-40B4-BE49-F238E27FC236}">
                <a16:creationId xmlns:a16="http://schemas.microsoft.com/office/drawing/2014/main" id="{ECE9CA09-CCF0-199D-470A-F2AFD6A201F8}"/>
              </a:ext>
            </a:extLst>
          </p:cNvPr>
          <p:cNvSpPr txBox="1"/>
          <p:nvPr/>
        </p:nvSpPr>
        <p:spPr>
          <a:xfrm>
            <a:off x="1016000" y="2336800"/>
            <a:ext cx="4826000" cy="228600"/>
          </a:xfrm>
          <a:prstGeom prst="rect">
            <a:avLst/>
          </a:prstGeom>
          <a:noFill/>
        </p:spPr>
        <p:txBody>
          <a:bodyPr vert="horz" wrap="square" lIns="0" tIns="0" rIns="0" bIns="0" rtlCol="0" anchor="t">
            <a:noAutofit/>
          </a:bodyPr>
          <a:lstStyle/>
          <a:p>
            <a:pPr algn="l"/>
            <a:r>
              <a:rPr lang="es-BO" sz="1200">
                <a:solidFill>
                  <a:srgbClr val="1C1813"/>
                </a:solidFill>
                <a:latin typeface="Bahnschrift SemiBold" panose="020B0502040204020203" pitchFamily="34" charset="0"/>
              </a:rPr>
              <a:t>El año manda</a:t>
            </a:r>
          </a:p>
        </p:txBody>
      </p:sp>
      <p:sp>
        <p:nvSpPr>
          <p:cNvPr id="11" name="CuadroTexto 10">
            <a:extLst>
              <a:ext uri="{FF2B5EF4-FFF2-40B4-BE49-F238E27FC236}">
                <a16:creationId xmlns:a16="http://schemas.microsoft.com/office/drawing/2014/main" id="{D790EA69-9191-96FC-B204-CF2B9E09D7DD}"/>
              </a:ext>
            </a:extLst>
          </p:cNvPr>
          <p:cNvSpPr txBox="1"/>
          <p:nvPr/>
        </p:nvSpPr>
        <p:spPr>
          <a:xfrm>
            <a:off x="1016000" y="2578100"/>
            <a:ext cx="4927600" cy="406400"/>
          </a:xfrm>
          <a:prstGeom prst="rect">
            <a:avLst/>
          </a:prstGeom>
          <a:noFill/>
        </p:spPr>
        <p:txBody>
          <a:bodyPr vert="horz" wrap="square" lIns="0" tIns="0" rIns="0" bIns="0" rtlCol="0" anchor="t">
            <a:noAutofit/>
          </a:bodyPr>
          <a:lstStyle/>
          <a:p>
            <a:pPr algn="l"/>
            <a:r>
              <a:rPr lang="es-MX" sz="1050">
                <a:solidFill>
                  <a:srgbClr val="5A5248"/>
                </a:solidFill>
                <a:latin typeface="Segoe UI" panose="020B0502040204020203" pitchFamily="34" charset="0"/>
              </a:rPr>
              <a:t>CBH-87 interpreta; NB 1225001 juzga; NBDS-2023 para el sismo.</a:t>
            </a:r>
            <a:endParaRPr lang="es-BO" sz="1050">
              <a:solidFill>
                <a:srgbClr val="5A5248"/>
              </a:solidFill>
              <a:latin typeface="Segoe UI" panose="020B0502040204020203" pitchFamily="34" charset="0"/>
            </a:endParaRPr>
          </a:p>
        </p:txBody>
      </p:sp>
      <p:sp>
        <p:nvSpPr>
          <p:cNvPr id="12" name="Elipse 11">
            <a:extLst>
              <a:ext uri="{FF2B5EF4-FFF2-40B4-BE49-F238E27FC236}">
                <a16:creationId xmlns:a16="http://schemas.microsoft.com/office/drawing/2014/main" id="{E6E6441F-A430-6F4D-05E4-AC4467249C26}"/>
              </a:ext>
            </a:extLst>
          </p:cNvPr>
          <p:cNvSpPr/>
          <p:nvPr/>
        </p:nvSpPr>
        <p:spPr>
          <a:xfrm>
            <a:off x="609600" y="3327400"/>
            <a:ext cx="304800" cy="3048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000">
                <a:solidFill>
                  <a:srgbClr val="1C1813"/>
                </a:solidFill>
                <a:latin typeface="Bahnschrift SemiBold" panose="020B0502040204020203" pitchFamily="34" charset="0"/>
              </a:rPr>
              <a:t>03</a:t>
            </a:r>
          </a:p>
        </p:txBody>
      </p:sp>
      <p:sp>
        <p:nvSpPr>
          <p:cNvPr id="13" name="CuadroTexto 12">
            <a:extLst>
              <a:ext uri="{FF2B5EF4-FFF2-40B4-BE49-F238E27FC236}">
                <a16:creationId xmlns:a16="http://schemas.microsoft.com/office/drawing/2014/main" id="{9276A32A-4B74-839D-8D05-FB3E0DB6B0F5}"/>
              </a:ext>
            </a:extLst>
          </p:cNvPr>
          <p:cNvSpPr txBox="1"/>
          <p:nvPr/>
        </p:nvSpPr>
        <p:spPr>
          <a:xfrm>
            <a:off x="1016000" y="3302000"/>
            <a:ext cx="4826000" cy="228600"/>
          </a:xfrm>
          <a:prstGeom prst="rect">
            <a:avLst/>
          </a:prstGeom>
          <a:noFill/>
        </p:spPr>
        <p:txBody>
          <a:bodyPr vert="horz" wrap="square" lIns="0" tIns="0" rIns="0" bIns="0" rtlCol="0" anchor="t">
            <a:noAutofit/>
          </a:bodyPr>
          <a:lstStyle/>
          <a:p>
            <a:pPr algn="l"/>
            <a:r>
              <a:rPr lang="es-BO" sz="1200">
                <a:solidFill>
                  <a:srgbClr val="1C1813"/>
                </a:solidFill>
                <a:latin typeface="Bahnschrift SemiBold" panose="020B0502040204020203" pitchFamily="34" charset="0"/>
              </a:rPr>
              <a:t>El recubrimiento al cuadrado</a:t>
            </a:r>
          </a:p>
        </p:txBody>
      </p:sp>
      <p:sp>
        <p:nvSpPr>
          <p:cNvPr id="14" name="CuadroTexto 13">
            <a:extLst>
              <a:ext uri="{FF2B5EF4-FFF2-40B4-BE49-F238E27FC236}">
                <a16:creationId xmlns:a16="http://schemas.microsoft.com/office/drawing/2014/main" id="{69BB331C-7D87-A33B-384D-2985BE5D694B}"/>
              </a:ext>
            </a:extLst>
          </p:cNvPr>
          <p:cNvSpPr txBox="1"/>
          <p:nvPr/>
        </p:nvSpPr>
        <p:spPr>
          <a:xfrm>
            <a:off x="1016000" y="3543300"/>
            <a:ext cx="4927600" cy="406400"/>
          </a:xfrm>
          <a:prstGeom prst="rect">
            <a:avLst/>
          </a:prstGeom>
          <a:noFill/>
        </p:spPr>
        <p:txBody>
          <a:bodyPr vert="horz" wrap="square" lIns="0" tIns="0" rIns="0" bIns="0" rtlCol="0" anchor="t">
            <a:noAutofit/>
          </a:bodyPr>
          <a:lstStyle/>
          <a:p>
            <a:pPr algn="l"/>
            <a:r>
              <a:rPr lang="es-MX" sz="1050">
                <a:solidFill>
                  <a:srgbClr val="5A5248"/>
                </a:solidFill>
                <a:latin typeface="Segoe UI" panose="020B0502040204020203" pitchFamily="34" charset="0"/>
              </a:rPr>
              <a:t>Entra al cuadrado en el tiempo: siete milímetros valieron dieciocho años.</a:t>
            </a:r>
            <a:endParaRPr lang="es-BO" sz="1050">
              <a:solidFill>
                <a:srgbClr val="5A5248"/>
              </a:solidFill>
              <a:latin typeface="Segoe UI" panose="020B0502040204020203" pitchFamily="34" charset="0"/>
            </a:endParaRPr>
          </a:p>
        </p:txBody>
      </p:sp>
      <p:sp>
        <p:nvSpPr>
          <p:cNvPr id="15" name="Elipse 14">
            <a:extLst>
              <a:ext uri="{FF2B5EF4-FFF2-40B4-BE49-F238E27FC236}">
                <a16:creationId xmlns:a16="http://schemas.microsoft.com/office/drawing/2014/main" id="{702D89E9-31BA-F37D-190D-2CA124C8EF08}"/>
              </a:ext>
            </a:extLst>
          </p:cNvPr>
          <p:cNvSpPr/>
          <p:nvPr/>
        </p:nvSpPr>
        <p:spPr>
          <a:xfrm>
            <a:off x="609600" y="4292600"/>
            <a:ext cx="304800" cy="3048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000">
                <a:solidFill>
                  <a:srgbClr val="1C1813"/>
                </a:solidFill>
                <a:latin typeface="Bahnschrift SemiBold" panose="020B0502040204020203" pitchFamily="34" charset="0"/>
              </a:rPr>
              <a:t>04</a:t>
            </a:r>
          </a:p>
        </p:txBody>
      </p:sp>
      <p:sp>
        <p:nvSpPr>
          <p:cNvPr id="16" name="CuadroTexto 15">
            <a:extLst>
              <a:ext uri="{FF2B5EF4-FFF2-40B4-BE49-F238E27FC236}">
                <a16:creationId xmlns:a16="http://schemas.microsoft.com/office/drawing/2014/main" id="{66A9D281-6CF5-F5B8-B097-91E8315E61E2}"/>
              </a:ext>
            </a:extLst>
          </p:cNvPr>
          <p:cNvSpPr txBox="1"/>
          <p:nvPr/>
        </p:nvSpPr>
        <p:spPr>
          <a:xfrm>
            <a:off x="1016000" y="4267200"/>
            <a:ext cx="4826000" cy="228600"/>
          </a:xfrm>
          <a:prstGeom prst="rect">
            <a:avLst/>
          </a:prstGeom>
          <a:noFill/>
        </p:spPr>
        <p:txBody>
          <a:bodyPr vert="horz" wrap="square" lIns="0" tIns="0" rIns="0" bIns="0" rtlCol="0" anchor="t">
            <a:noAutofit/>
          </a:bodyPr>
          <a:lstStyle/>
          <a:p>
            <a:pPr algn="l"/>
            <a:r>
              <a:rPr lang="es-BO" sz="1200">
                <a:solidFill>
                  <a:srgbClr val="1C1813"/>
                </a:solidFill>
                <a:latin typeface="Bahnschrift SemiBold" panose="020B0502040204020203" pitchFamily="34" charset="0"/>
              </a:rPr>
              <a:t>La media engaña</a:t>
            </a:r>
          </a:p>
        </p:txBody>
      </p:sp>
      <p:sp>
        <p:nvSpPr>
          <p:cNvPr id="17" name="CuadroTexto 16">
            <a:extLst>
              <a:ext uri="{FF2B5EF4-FFF2-40B4-BE49-F238E27FC236}">
                <a16:creationId xmlns:a16="http://schemas.microsoft.com/office/drawing/2014/main" id="{3D76DC4E-CACF-CE8E-5473-704DD782EDB8}"/>
              </a:ext>
            </a:extLst>
          </p:cNvPr>
          <p:cNvSpPr txBox="1"/>
          <p:nvPr/>
        </p:nvSpPr>
        <p:spPr>
          <a:xfrm>
            <a:off x="1016000" y="4508500"/>
            <a:ext cx="4927600" cy="406400"/>
          </a:xfrm>
          <a:prstGeom prst="rect">
            <a:avLst/>
          </a:prstGeom>
          <a:noFill/>
        </p:spPr>
        <p:txBody>
          <a:bodyPr vert="horz" wrap="square" lIns="0" tIns="0" rIns="0" bIns="0" rtlCol="0" anchor="t">
            <a:noAutofit/>
          </a:bodyPr>
          <a:lstStyle/>
          <a:p>
            <a:pPr algn="l"/>
            <a:r>
              <a:rPr lang="es-MX" sz="1050">
                <a:solidFill>
                  <a:srgbClr val="5A5248"/>
                </a:solidFill>
                <a:latin typeface="Segoe UI" panose="020B0502040204020203" pitchFamily="34" charset="0"/>
              </a:rPr>
              <a:t>La dispersión decide. Con cloruros, la picadura; con recubrimientos, el percentil.</a:t>
            </a:r>
            <a:endParaRPr lang="es-BO" sz="1050">
              <a:solidFill>
                <a:srgbClr val="5A5248"/>
              </a:solidFill>
              <a:latin typeface="Segoe UI" panose="020B0502040204020203" pitchFamily="34" charset="0"/>
            </a:endParaRPr>
          </a:p>
        </p:txBody>
      </p:sp>
      <p:sp>
        <p:nvSpPr>
          <p:cNvPr id="18" name="Elipse 17">
            <a:extLst>
              <a:ext uri="{FF2B5EF4-FFF2-40B4-BE49-F238E27FC236}">
                <a16:creationId xmlns:a16="http://schemas.microsoft.com/office/drawing/2014/main" id="{40C49DD7-6C65-814E-BA57-FDF73FBAE83C}"/>
              </a:ext>
            </a:extLst>
          </p:cNvPr>
          <p:cNvSpPr/>
          <p:nvPr/>
        </p:nvSpPr>
        <p:spPr>
          <a:xfrm>
            <a:off x="609600" y="5257800"/>
            <a:ext cx="304800" cy="3048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000">
                <a:solidFill>
                  <a:srgbClr val="1C1813"/>
                </a:solidFill>
                <a:latin typeface="Bahnschrift SemiBold" panose="020B0502040204020203" pitchFamily="34" charset="0"/>
              </a:rPr>
              <a:t>05</a:t>
            </a:r>
          </a:p>
        </p:txBody>
      </p:sp>
      <p:sp>
        <p:nvSpPr>
          <p:cNvPr id="19" name="CuadroTexto 18">
            <a:extLst>
              <a:ext uri="{FF2B5EF4-FFF2-40B4-BE49-F238E27FC236}">
                <a16:creationId xmlns:a16="http://schemas.microsoft.com/office/drawing/2014/main" id="{40F7A32E-658C-7C81-F6E8-47DA593A6696}"/>
              </a:ext>
            </a:extLst>
          </p:cNvPr>
          <p:cNvSpPr txBox="1"/>
          <p:nvPr/>
        </p:nvSpPr>
        <p:spPr>
          <a:xfrm>
            <a:off x="1016000" y="5232400"/>
            <a:ext cx="4826000" cy="228600"/>
          </a:xfrm>
          <a:prstGeom prst="rect">
            <a:avLst/>
          </a:prstGeom>
          <a:noFill/>
        </p:spPr>
        <p:txBody>
          <a:bodyPr vert="horz" wrap="square" lIns="0" tIns="0" rIns="0" bIns="0" rtlCol="0" anchor="t">
            <a:noAutofit/>
          </a:bodyPr>
          <a:lstStyle/>
          <a:p>
            <a:pPr algn="l"/>
            <a:r>
              <a:rPr lang="es-MX" sz="1200">
                <a:solidFill>
                  <a:srgbClr val="1C1813"/>
                </a:solidFill>
                <a:latin typeface="Bahnschrift SemiBold" panose="020B0502040204020203" pitchFamily="34" charset="0"/>
              </a:rPr>
              <a:t>El patrón antes del ensayo</a:t>
            </a:r>
            <a:endParaRPr lang="es-BO" sz="1200">
              <a:solidFill>
                <a:srgbClr val="1C1813"/>
              </a:solidFill>
              <a:latin typeface="Bahnschrift SemiBold" panose="020B0502040204020203" pitchFamily="34" charset="0"/>
            </a:endParaRPr>
          </a:p>
        </p:txBody>
      </p:sp>
      <p:sp>
        <p:nvSpPr>
          <p:cNvPr id="20" name="CuadroTexto 19">
            <a:extLst>
              <a:ext uri="{FF2B5EF4-FFF2-40B4-BE49-F238E27FC236}">
                <a16:creationId xmlns:a16="http://schemas.microsoft.com/office/drawing/2014/main" id="{99E4C4D8-69C7-2EAB-6085-6B97DFC3BCC9}"/>
              </a:ext>
            </a:extLst>
          </p:cNvPr>
          <p:cNvSpPr txBox="1"/>
          <p:nvPr/>
        </p:nvSpPr>
        <p:spPr>
          <a:xfrm>
            <a:off x="1016000" y="5473700"/>
            <a:ext cx="4927600" cy="406400"/>
          </a:xfrm>
          <a:prstGeom prst="rect">
            <a:avLst/>
          </a:prstGeom>
          <a:noFill/>
        </p:spPr>
        <p:txBody>
          <a:bodyPr vert="horz" wrap="square" lIns="0" tIns="0" rIns="0" bIns="0" rtlCol="0" anchor="t">
            <a:noAutofit/>
          </a:bodyPr>
          <a:lstStyle/>
          <a:p>
            <a:pPr algn="l"/>
            <a:r>
              <a:rPr lang="es-MX" sz="1050">
                <a:solidFill>
                  <a:srgbClr val="5A5248"/>
                </a:solidFill>
                <a:latin typeface="Segoe UI" panose="020B0502040204020203" pitchFamily="34" charset="0"/>
              </a:rPr>
              <a:t>La forma y el momento de una fisura dicen el origen antes que el laboratorio.</a:t>
            </a:r>
            <a:endParaRPr lang="es-BO" sz="1050">
              <a:solidFill>
                <a:srgbClr val="5A5248"/>
              </a:solidFill>
              <a:latin typeface="Segoe UI" panose="020B0502040204020203" pitchFamily="34" charset="0"/>
            </a:endParaRPr>
          </a:p>
        </p:txBody>
      </p:sp>
      <p:sp>
        <p:nvSpPr>
          <p:cNvPr id="21" name="Elipse 20">
            <a:extLst>
              <a:ext uri="{FF2B5EF4-FFF2-40B4-BE49-F238E27FC236}">
                <a16:creationId xmlns:a16="http://schemas.microsoft.com/office/drawing/2014/main" id="{D1EC3200-6782-D92D-36F2-5DEF00D0229C}"/>
              </a:ext>
            </a:extLst>
          </p:cNvPr>
          <p:cNvSpPr/>
          <p:nvPr/>
        </p:nvSpPr>
        <p:spPr>
          <a:xfrm>
            <a:off x="6096000" y="1397000"/>
            <a:ext cx="304800" cy="3048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000">
                <a:solidFill>
                  <a:srgbClr val="1C1813"/>
                </a:solidFill>
                <a:latin typeface="Bahnschrift SemiBold" panose="020B0502040204020203" pitchFamily="34" charset="0"/>
              </a:rPr>
              <a:t>06</a:t>
            </a:r>
          </a:p>
        </p:txBody>
      </p:sp>
      <p:sp>
        <p:nvSpPr>
          <p:cNvPr id="22" name="CuadroTexto 21">
            <a:extLst>
              <a:ext uri="{FF2B5EF4-FFF2-40B4-BE49-F238E27FC236}">
                <a16:creationId xmlns:a16="http://schemas.microsoft.com/office/drawing/2014/main" id="{D4FDDFFA-E7CF-30C6-4622-BC8B823BF80A}"/>
              </a:ext>
            </a:extLst>
          </p:cNvPr>
          <p:cNvSpPr txBox="1"/>
          <p:nvPr/>
        </p:nvSpPr>
        <p:spPr>
          <a:xfrm>
            <a:off x="6502400" y="1371600"/>
            <a:ext cx="4826000" cy="228600"/>
          </a:xfrm>
          <a:prstGeom prst="rect">
            <a:avLst/>
          </a:prstGeom>
          <a:noFill/>
        </p:spPr>
        <p:txBody>
          <a:bodyPr vert="horz" wrap="square" lIns="0" tIns="0" rIns="0" bIns="0" rtlCol="0" anchor="t">
            <a:noAutofit/>
          </a:bodyPr>
          <a:lstStyle/>
          <a:p>
            <a:pPr algn="l"/>
            <a:r>
              <a:rPr lang="es-BO" sz="1200">
                <a:solidFill>
                  <a:srgbClr val="1C1813"/>
                </a:solidFill>
                <a:latin typeface="Bahnschrift SemiBold" panose="020B0502040204020203" pitchFamily="34" charset="0"/>
              </a:rPr>
              <a:t>La alternancia destruye</a:t>
            </a:r>
          </a:p>
        </p:txBody>
      </p:sp>
      <p:sp>
        <p:nvSpPr>
          <p:cNvPr id="23" name="CuadroTexto 22">
            <a:extLst>
              <a:ext uri="{FF2B5EF4-FFF2-40B4-BE49-F238E27FC236}">
                <a16:creationId xmlns:a16="http://schemas.microsoft.com/office/drawing/2014/main" id="{516DB45D-8086-DF81-68A4-2024B6387172}"/>
              </a:ext>
            </a:extLst>
          </p:cNvPr>
          <p:cNvSpPr txBox="1"/>
          <p:nvPr/>
        </p:nvSpPr>
        <p:spPr>
          <a:xfrm>
            <a:off x="6502400" y="1612900"/>
            <a:ext cx="4927600" cy="406400"/>
          </a:xfrm>
          <a:prstGeom prst="rect">
            <a:avLst/>
          </a:prstGeom>
          <a:noFill/>
        </p:spPr>
        <p:txBody>
          <a:bodyPr vert="horz" wrap="square" lIns="0" tIns="0" rIns="0" bIns="0" rtlCol="0" anchor="t">
            <a:noAutofit/>
          </a:bodyPr>
          <a:lstStyle/>
          <a:p>
            <a:pPr algn="l"/>
            <a:r>
              <a:rPr lang="es-MX" sz="1050">
                <a:solidFill>
                  <a:srgbClr val="5A5248"/>
                </a:solidFill>
                <a:latin typeface="Segoe UI" panose="020B0502040204020203" pitchFamily="34" charset="0"/>
              </a:rPr>
              <a:t>Mojado y seco, hielo y deshielo, oxígeno y falta de oxígeno. La permanencia protege.</a:t>
            </a:r>
            <a:endParaRPr lang="es-BO" sz="1050">
              <a:solidFill>
                <a:srgbClr val="5A5248"/>
              </a:solidFill>
              <a:latin typeface="Segoe UI" panose="020B0502040204020203" pitchFamily="34" charset="0"/>
            </a:endParaRPr>
          </a:p>
        </p:txBody>
      </p:sp>
      <p:sp>
        <p:nvSpPr>
          <p:cNvPr id="24" name="Elipse 23">
            <a:extLst>
              <a:ext uri="{FF2B5EF4-FFF2-40B4-BE49-F238E27FC236}">
                <a16:creationId xmlns:a16="http://schemas.microsoft.com/office/drawing/2014/main" id="{05D701AE-0FCC-A4ED-814A-7AC4A8BBBB78}"/>
              </a:ext>
            </a:extLst>
          </p:cNvPr>
          <p:cNvSpPr/>
          <p:nvPr/>
        </p:nvSpPr>
        <p:spPr>
          <a:xfrm>
            <a:off x="6096000" y="2362200"/>
            <a:ext cx="304800" cy="3048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000">
                <a:solidFill>
                  <a:srgbClr val="1C1813"/>
                </a:solidFill>
                <a:latin typeface="Bahnschrift SemiBold" panose="020B0502040204020203" pitchFamily="34" charset="0"/>
              </a:rPr>
              <a:t>07</a:t>
            </a:r>
          </a:p>
        </p:txBody>
      </p:sp>
      <p:sp>
        <p:nvSpPr>
          <p:cNvPr id="25" name="CuadroTexto 24">
            <a:extLst>
              <a:ext uri="{FF2B5EF4-FFF2-40B4-BE49-F238E27FC236}">
                <a16:creationId xmlns:a16="http://schemas.microsoft.com/office/drawing/2014/main" id="{619C9149-19A1-8B20-A803-A6A7F2B4B126}"/>
              </a:ext>
            </a:extLst>
          </p:cNvPr>
          <p:cNvSpPr txBox="1"/>
          <p:nvPr/>
        </p:nvSpPr>
        <p:spPr>
          <a:xfrm>
            <a:off x="6502400" y="2336800"/>
            <a:ext cx="4826000" cy="228600"/>
          </a:xfrm>
          <a:prstGeom prst="rect">
            <a:avLst/>
          </a:prstGeom>
          <a:noFill/>
        </p:spPr>
        <p:txBody>
          <a:bodyPr vert="horz" wrap="square" lIns="0" tIns="0" rIns="0" bIns="0" rtlCol="0" anchor="t">
            <a:noAutofit/>
          </a:bodyPr>
          <a:lstStyle/>
          <a:p>
            <a:pPr algn="l"/>
            <a:r>
              <a:rPr lang="pt-BR" sz="1200">
                <a:solidFill>
                  <a:srgbClr val="1C1813"/>
                </a:solidFill>
                <a:latin typeface="Bahnschrift SemiBold" panose="020B0502040204020203" pitchFamily="34" charset="0"/>
              </a:rPr>
              <a:t>Once, cinco o dos micras</a:t>
            </a:r>
            <a:endParaRPr lang="es-BO" sz="1200">
              <a:solidFill>
                <a:srgbClr val="1C1813"/>
              </a:solidFill>
              <a:latin typeface="Bahnschrift SemiBold" panose="020B0502040204020203" pitchFamily="34" charset="0"/>
            </a:endParaRPr>
          </a:p>
        </p:txBody>
      </p:sp>
      <p:sp>
        <p:nvSpPr>
          <p:cNvPr id="26" name="CuadroTexto 25">
            <a:extLst>
              <a:ext uri="{FF2B5EF4-FFF2-40B4-BE49-F238E27FC236}">
                <a16:creationId xmlns:a16="http://schemas.microsoft.com/office/drawing/2014/main" id="{71FCE88D-78B4-0F4F-8199-A7337F7921D1}"/>
              </a:ext>
            </a:extLst>
          </p:cNvPr>
          <p:cNvSpPr txBox="1"/>
          <p:nvPr/>
        </p:nvSpPr>
        <p:spPr>
          <a:xfrm>
            <a:off x="6502400" y="2578100"/>
            <a:ext cx="4927600" cy="406400"/>
          </a:xfrm>
          <a:prstGeom prst="rect">
            <a:avLst/>
          </a:prstGeom>
          <a:noFill/>
        </p:spPr>
        <p:txBody>
          <a:bodyPr vert="horz" wrap="square" lIns="0" tIns="0" rIns="0" bIns="0" rtlCol="0" anchor="t">
            <a:noAutofit/>
          </a:bodyPr>
          <a:lstStyle/>
          <a:p>
            <a:pPr algn="l"/>
            <a:r>
              <a:rPr lang="es-MX" sz="1050">
                <a:solidFill>
                  <a:srgbClr val="5A5248"/>
                </a:solidFill>
                <a:latin typeface="Segoe UI" panose="020B0502040204020203" pitchFamily="34" charset="0"/>
              </a:rPr>
              <a:t>Un microamperio por centímetro cuadrado son 11,6 µm de radio al año.</a:t>
            </a:r>
            <a:endParaRPr lang="es-BO" sz="1050">
              <a:solidFill>
                <a:srgbClr val="5A5248"/>
              </a:solidFill>
              <a:latin typeface="Segoe UI" panose="020B0502040204020203" pitchFamily="34" charset="0"/>
            </a:endParaRPr>
          </a:p>
        </p:txBody>
      </p:sp>
      <p:sp>
        <p:nvSpPr>
          <p:cNvPr id="27" name="Elipse 26">
            <a:extLst>
              <a:ext uri="{FF2B5EF4-FFF2-40B4-BE49-F238E27FC236}">
                <a16:creationId xmlns:a16="http://schemas.microsoft.com/office/drawing/2014/main" id="{5485C507-FA9E-8DA4-36EB-08010E23050A}"/>
              </a:ext>
            </a:extLst>
          </p:cNvPr>
          <p:cNvSpPr/>
          <p:nvPr/>
        </p:nvSpPr>
        <p:spPr>
          <a:xfrm>
            <a:off x="6096000" y="3327400"/>
            <a:ext cx="304800" cy="3048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000">
                <a:solidFill>
                  <a:srgbClr val="1C1813"/>
                </a:solidFill>
                <a:latin typeface="Bahnschrift SemiBold" panose="020B0502040204020203" pitchFamily="34" charset="0"/>
              </a:rPr>
              <a:t>08</a:t>
            </a:r>
          </a:p>
        </p:txBody>
      </p:sp>
      <p:sp>
        <p:nvSpPr>
          <p:cNvPr id="28" name="CuadroTexto 27">
            <a:extLst>
              <a:ext uri="{FF2B5EF4-FFF2-40B4-BE49-F238E27FC236}">
                <a16:creationId xmlns:a16="http://schemas.microsoft.com/office/drawing/2014/main" id="{40FBE17D-BE07-061A-30F0-406680F578C2}"/>
              </a:ext>
            </a:extLst>
          </p:cNvPr>
          <p:cNvSpPr txBox="1"/>
          <p:nvPr/>
        </p:nvSpPr>
        <p:spPr>
          <a:xfrm>
            <a:off x="6502400" y="3302000"/>
            <a:ext cx="4826000" cy="228600"/>
          </a:xfrm>
          <a:prstGeom prst="rect">
            <a:avLst/>
          </a:prstGeom>
          <a:noFill/>
        </p:spPr>
        <p:txBody>
          <a:bodyPr vert="horz" wrap="square" lIns="0" tIns="0" rIns="0" bIns="0" rtlCol="0" anchor="t">
            <a:noAutofit/>
          </a:bodyPr>
          <a:lstStyle/>
          <a:p>
            <a:pPr algn="l"/>
            <a:r>
              <a:rPr lang="es-BO" sz="1200">
                <a:solidFill>
                  <a:srgbClr val="1C1813"/>
                </a:solidFill>
                <a:latin typeface="Bahnschrift SemiBold" panose="020B0502040204020203" pitchFamily="34" charset="0"/>
              </a:rPr>
              <a:t>Lo barato decide lo caro</a:t>
            </a:r>
          </a:p>
        </p:txBody>
      </p:sp>
      <p:sp>
        <p:nvSpPr>
          <p:cNvPr id="29" name="CuadroTexto 28">
            <a:extLst>
              <a:ext uri="{FF2B5EF4-FFF2-40B4-BE49-F238E27FC236}">
                <a16:creationId xmlns:a16="http://schemas.microsoft.com/office/drawing/2014/main" id="{78B0D4B0-E545-D0F7-F071-10FD7EA4BB19}"/>
              </a:ext>
            </a:extLst>
          </p:cNvPr>
          <p:cNvSpPr txBox="1"/>
          <p:nvPr/>
        </p:nvSpPr>
        <p:spPr>
          <a:xfrm>
            <a:off x="6502400" y="3543300"/>
            <a:ext cx="4927600" cy="406400"/>
          </a:xfrm>
          <a:prstGeom prst="rect">
            <a:avLst/>
          </a:prstGeom>
          <a:noFill/>
        </p:spPr>
        <p:txBody>
          <a:bodyPr vert="horz" wrap="square" lIns="0" tIns="0" rIns="0" bIns="0" rtlCol="0" anchor="t">
            <a:noAutofit/>
          </a:bodyPr>
          <a:lstStyle/>
          <a:p>
            <a:pPr algn="l"/>
            <a:r>
              <a:rPr lang="es-MX" sz="1050">
                <a:solidFill>
                  <a:srgbClr val="5A5248"/>
                </a:solidFill>
                <a:latin typeface="Segoe UI" panose="020B0502040204020203" pitchFamily="34" charset="0"/>
              </a:rPr>
              <a:t>Los no destructivos dicen dónde van los testigos. Nunca al revés.</a:t>
            </a:r>
            <a:endParaRPr lang="es-BO" sz="1050">
              <a:solidFill>
                <a:srgbClr val="5A5248"/>
              </a:solidFill>
              <a:latin typeface="Segoe UI" panose="020B0502040204020203" pitchFamily="34" charset="0"/>
            </a:endParaRPr>
          </a:p>
        </p:txBody>
      </p:sp>
      <p:sp>
        <p:nvSpPr>
          <p:cNvPr id="30" name="Elipse 29">
            <a:extLst>
              <a:ext uri="{FF2B5EF4-FFF2-40B4-BE49-F238E27FC236}">
                <a16:creationId xmlns:a16="http://schemas.microsoft.com/office/drawing/2014/main" id="{B9720259-C337-11BC-D23E-4B77A0D1E0F2}"/>
              </a:ext>
            </a:extLst>
          </p:cNvPr>
          <p:cNvSpPr/>
          <p:nvPr/>
        </p:nvSpPr>
        <p:spPr>
          <a:xfrm>
            <a:off x="6096000" y="4292600"/>
            <a:ext cx="304800" cy="3048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000">
                <a:solidFill>
                  <a:srgbClr val="1C1813"/>
                </a:solidFill>
                <a:latin typeface="Bahnschrift SemiBold" panose="020B0502040204020203" pitchFamily="34" charset="0"/>
              </a:rPr>
              <a:t>09</a:t>
            </a:r>
          </a:p>
        </p:txBody>
      </p:sp>
      <p:sp>
        <p:nvSpPr>
          <p:cNvPr id="31" name="CuadroTexto 30">
            <a:extLst>
              <a:ext uri="{FF2B5EF4-FFF2-40B4-BE49-F238E27FC236}">
                <a16:creationId xmlns:a16="http://schemas.microsoft.com/office/drawing/2014/main" id="{895F7EB1-F3D1-A5BB-A6AB-90AC4E53FD76}"/>
              </a:ext>
            </a:extLst>
          </p:cNvPr>
          <p:cNvSpPr txBox="1"/>
          <p:nvPr/>
        </p:nvSpPr>
        <p:spPr>
          <a:xfrm>
            <a:off x="6502400" y="4267200"/>
            <a:ext cx="4826000" cy="228600"/>
          </a:xfrm>
          <a:prstGeom prst="rect">
            <a:avLst/>
          </a:prstGeom>
          <a:noFill/>
        </p:spPr>
        <p:txBody>
          <a:bodyPr vert="horz" wrap="square" lIns="0" tIns="0" rIns="0" bIns="0" rtlCol="0" anchor="t">
            <a:noAutofit/>
          </a:bodyPr>
          <a:lstStyle/>
          <a:p>
            <a:pPr algn="l"/>
            <a:r>
              <a:rPr lang="es-BO" sz="1200">
                <a:solidFill>
                  <a:srgbClr val="1C1813"/>
                </a:solidFill>
                <a:latin typeface="Bahnschrift SemiBold" panose="020B0502040204020203" pitchFamily="34" charset="0"/>
              </a:rPr>
              <a:t>Primero el principio</a:t>
            </a:r>
          </a:p>
        </p:txBody>
      </p:sp>
      <p:sp>
        <p:nvSpPr>
          <p:cNvPr id="32" name="CuadroTexto 31">
            <a:extLst>
              <a:ext uri="{FF2B5EF4-FFF2-40B4-BE49-F238E27FC236}">
                <a16:creationId xmlns:a16="http://schemas.microsoft.com/office/drawing/2014/main" id="{F9D64507-9D72-0CE4-E410-5B71B66FA5E1}"/>
              </a:ext>
            </a:extLst>
          </p:cNvPr>
          <p:cNvSpPr txBox="1"/>
          <p:nvPr/>
        </p:nvSpPr>
        <p:spPr>
          <a:xfrm>
            <a:off x="6502400" y="4508500"/>
            <a:ext cx="4927600" cy="406400"/>
          </a:xfrm>
          <a:prstGeom prst="rect">
            <a:avLst/>
          </a:prstGeom>
          <a:noFill/>
        </p:spPr>
        <p:txBody>
          <a:bodyPr vert="horz" wrap="square" lIns="0" tIns="0" rIns="0" bIns="0" rtlCol="0" anchor="t">
            <a:noAutofit/>
          </a:bodyPr>
          <a:lstStyle/>
          <a:p>
            <a:pPr algn="l"/>
            <a:r>
              <a:rPr lang="es-MX" sz="1050">
                <a:solidFill>
                  <a:srgbClr val="5A5248"/>
                </a:solidFill>
                <a:latin typeface="Segoe UI" panose="020B0502040204020203" pitchFamily="34" charset="0"/>
              </a:rPr>
              <a:t>EN 1504-9 antes que el catálogo. El producto es el paso cuatro, no el primero.</a:t>
            </a:r>
            <a:endParaRPr lang="es-BO" sz="1050">
              <a:solidFill>
                <a:srgbClr val="5A5248"/>
              </a:solidFill>
              <a:latin typeface="Segoe UI" panose="020B0502040204020203" pitchFamily="34" charset="0"/>
            </a:endParaRPr>
          </a:p>
        </p:txBody>
      </p:sp>
      <p:sp>
        <p:nvSpPr>
          <p:cNvPr id="33" name="Elipse 32">
            <a:extLst>
              <a:ext uri="{FF2B5EF4-FFF2-40B4-BE49-F238E27FC236}">
                <a16:creationId xmlns:a16="http://schemas.microsoft.com/office/drawing/2014/main" id="{C54D1FCD-1D7F-110A-1BE0-27461737194C}"/>
              </a:ext>
            </a:extLst>
          </p:cNvPr>
          <p:cNvSpPr/>
          <p:nvPr/>
        </p:nvSpPr>
        <p:spPr>
          <a:xfrm>
            <a:off x="6096000" y="5257800"/>
            <a:ext cx="304800" cy="304800"/>
          </a:xfrm>
          <a:prstGeom prst="ellipse">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s-BO" sz="1000">
                <a:solidFill>
                  <a:srgbClr val="1C1813"/>
                </a:solidFill>
                <a:latin typeface="Bahnschrift SemiBold" panose="020B0502040204020203" pitchFamily="34" charset="0"/>
              </a:rPr>
              <a:t>10</a:t>
            </a:r>
          </a:p>
        </p:txBody>
      </p:sp>
      <p:sp>
        <p:nvSpPr>
          <p:cNvPr id="34" name="CuadroTexto 33">
            <a:extLst>
              <a:ext uri="{FF2B5EF4-FFF2-40B4-BE49-F238E27FC236}">
                <a16:creationId xmlns:a16="http://schemas.microsoft.com/office/drawing/2014/main" id="{7E576250-EF5A-3113-489A-C35756D55438}"/>
              </a:ext>
            </a:extLst>
          </p:cNvPr>
          <p:cNvSpPr txBox="1"/>
          <p:nvPr/>
        </p:nvSpPr>
        <p:spPr>
          <a:xfrm>
            <a:off x="6502400" y="5232400"/>
            <a:ext cx="4826000" cy="228600"/>
          </a:xfrm>
          <a:prstGeom prst="rect">
            <a:avLst/>
          </a:prstGeom>
          <a:noFill/>
        </p:spPr>
        <p:txBody>
          <a:bodyPr vert="horz" wrap="square" lIns="0" tIns="0" rIns="0" bIns="0" rtlCol="0" anchor="t">
            <a:noAutofit/>
          </a:bodyPr>
          <a:lstStyle/>
          <a:p>
            <a:pPr algn="l"/>
            <a:r>
              <a:rPr lang="es-MX" sz="1200">
                <a:solidFill>
                  <a:srgbClr val="1C1813"/>
                </a:solidFill>
                <a:latin typeface="Bahnschrift SemiBold" panose="020B0502040204020203" pitchFamily="34" charset="0"/>
              </a:rPr>
              <a:t>No reforzar es una conclusión</a:t>
            </a:r>
            <a:endParaRPr lang="es-BO" sz="1200">
              <a:solidFill>
                <a:srgbClr val="1C1813"/>
              </a:solidFill>
              <a:latin typeface="Bahnschrift SemiBold" panose="020B0502040204020203" pitchFamily="34" charset="0"/>
            </a:endParaRPr>
          </a:p>
        </p:txBody>
      </p:sp>
      <p:sp>
        <p:nvSpPr>
          <p:cNvPr id="35" name="CuadroTexto 34">
            <a:extLst>
              <a:ext uri="{FF2B5EF4-FFF2-40B4-BE49-F238E27FC236}">
                <a16:creationId xmlns:a16="http://schemas.microsoft.com/office/drawing/2014/main" id="{60F9A8AE-2FDE-4D07-5ECF-6F745E5EB19E}"/>
              </a:ext>
            </a:extLst>
          </p:cNvPr>
          <p:cNvSpPr txBox="1"/>
          <p:nvPr/>
        </p:nvSpPr>
        <p:spPr>
          <a:xfrm>
            <a:off x="6502400" y="5473700"/>
            <a:ext cx="4927600" cy="406400"/>
          </a:xfrm>
          <a:prstGeom prst="rect">
            <a:avLst/>
          </a:prstGeom>
          <a:noFill/>
        </p:spPr>
        <p:txBody>
          <a:bodyPr vert="horz" wrap="square" lIns="0" tIns="0" rIns="0" bIns="0" rtlCol="0" anchor="t">
            <a:noAutofit/>
          </a:bodyPr>
          <a:lstStyle/>
          <a:p>
            <a:pPr algn="l"/>
            <a:r>
              <a:rPr lang="es-MX" sz="1050">
                <a:solidFill>
                  <a:srgbClr val="5A5248"/>
                </a:solidFill>
                <a:latin typeface="Segoe UI" panose="020B0502040204020203" pitchFamily="34" charset="0"/>
              </a:rPr>
              <a:t>Demostrar con números que una estructura sirve vale tanto como diseñar el refuerzo.</a:t>
            </a:r>
            <a:endParaRPr lang="es-BO" sz="1050">
              <a:solidFill>
                <a:srgbClr val="5A5248"/>
              </a:solidFill>
              <a:latin typeface="Segoe UI" panose="020B0502040204020203" pitchFamily="34" charset="0"/>
            </a:endParaRPr>
          </a:p>
        </p:txBody>
      </p:sp>
      <p:cxnSp>
        <p:nvCxnSpPr>
          <p:cNvPr id="36" name="Conector recto 35">
            <a:extLst>
              <a:ext uri="{FF2B5EF4-FFF2-40B4-BE49-F238E27FC236}">
                <a16:creationId xmlns:a16="http://schemas.microsoft.com/office/drawing/2014/main" id="{4AC97E04-169D-D071-1B9B-5CBEA1664AB6}"/>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37" name="CuadroTexto 36">
            <a:extLst>
              <a:ext uri="{FF2B5EF4-FFF2-40B4-BE49-F238E27FC236}">
                <a16:creationId xmlns:a16="http://schemas.microsoft.com/office/drawing/2014/main" id="{8F67F907-A980-A620-1FBD-BA2EE2E222F0}"/>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38" name="CuadroTexto 37">
            <a:extLst>
              <a:ext uri="{FF2B5EF4-FFF2-40B4-BE49-F238E27FC236}">
                <a16:creationId xmlns:a16="http://schemas.microsoft.com/office/drawing/2014/main" id="{AB6E15FA-7FF1-7C6E-74C5-F7DCDC12CC65}"/>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39" name="PageNo">
            <a:extLst>
              <a:ext uri="{FF2B5EF4-FFF2-40B4-BE49-F238E27FC236}">
                <a16:creationId xmlns:a16="http://schemas.microsoft.com/office/drawing/2014/main" id="{C2D48E64-068F-C865-2A93-B53395854A49}"/>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34 / 38</a:t>
            </a:r>
          </a:p>
        </p:txBody>
      </p:sp>
    </p:spTree>
    <p:extLst>
      <p:ext uri="{BB962C8B-B14F-4D97-AF65-F5344CB8AC3E}">
        <p14:creationId xmlns:p14="http://schemas.microsoft.com/office/powerpoint/2010/main" val="407130862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25D9302A-8AB1-D84B-F47E-77758B379813}"/>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BO" sz="900" spc="180">
                <a:solidFill>
                  <a:srgbClr val="6A4F20"/>
                </a:solidFill>
                <a:latin typeface="Segoe UI Semibold" panose="020B0702040204020203" pitchFamily="34" charset="0"/>
              </a:rPr>
              <a:t>LO QUE TE LLEVAS</a:t>
            </a:r>
          </a:p>
        </p:txBody>
      </p:sp>
      <p:sp>
        <p:nvSpPr>
          <p:cNvPr id="3" name="Title">
            <a:extLst>
              <a:ext uri="{FF2B5EF4-FFF2-40B4-BE49-F238E27FC236}">
                <a16:creationId xmlns:a16="http://schemas.microsoft.com/office/drawing/2014/main" id="{3DF3AE5E-3522-B459-2C67-5C67FBD7C0F3}"/>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Cinco entregables que salen de este curso y se usan desde mañana</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58AF2B07-685B-56B3-0EC1-D206CA655310}"/>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6" name="Rectángulo 5">
            <a:extLst>
              <a:ext uri="{FF2B5EF4-FFF2-40B4-BE49-F238E27FC236}">
                <a16:creationId xmlns:a16="http://schemas.microsoft.com/office/drawing/2014/main" id="{6ECE1662-4CA0-CF66-B9AA-D190C610DF4B}"/>
              </a:ext>
            </a:extLst>
          </p:cNvPr>
          <p:cNvSpPr/>
          <p:nvPr/>
        </p:nvSpPr>
        <p:spPr>
          <a:xfrm>
            <a:off x="609600" y="1422400"/>
            <a:ext cx="2082800" cy="34036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8" name="CuadroTexto 7">
            <a:extLst>
              <a:ext uri="{FF2B5EF4-FFF2-40B4-BE49-F238E27FC236}">
                <a16:creationId xmlns:a16="http://schemas.microsoft.com/office/drawing/2014/main" id="{49CBEFBC-DF6C-D66E-B718-F4E94253D30E}"/>
              </a:ext>
            </a:extLst>
          </p:cNvPr>
          <p:cNvSpPr txBox="1"/>
          <p:nvPr/>
        </p:nvSpPr>
        <p:spPr>
          <a:xfrm>
            <a:off x="812800" y="1600200"/>
            <a:ext cx="1016000" cy="304800"/>
          </a:xfrm>
          <a:prstGeom prst="rect">
            <a:avLst/>
          </a:prstGeom>
          <a:noFill/>
        </p:spPr>
        <p:txBody>
          <a:bodyPr vert="horz" wrap="square" lIns="0" tIns="0" rIns="0" bIns="0" rtlCol="0" anchor="t">
            <a:noAutofit/>
          </a:bodyPr>
          <a:lstStyle/>
          <a:p>
            <a:r>
              <a:rPr lang="es-BO" sz="2000">
                <a:solidFill>
                  <a:srgbClr val="8A6A2F"/>
                </a:solidFill>
                <a:latin typeface="Bahnschrift Light" panose="020B0502040204020203" pitchFamily="34" charset="0"/>
              </a:rPr>
              <a:t>01</a:t>
            </a:r>
          </a:p>
        </p:txBody>
      </p:sp>
      <p:sp>
        <p:nvSpPr>
          <p:cNvPr id="9" name="CuadroTexto 8">
            <a:extLst>
              <a:ext uri="{FF2B5EF4-FFF2-40B4-BE49-F238E27FC236}">
                <a16:creationId xmlns:a16="http://schemas.microsoft.com/office/drawing/2014/main" id="{9FDAE573-A5D9-2E34-329B-A629760CE070}"/>
              </a:ext>
            </a:extLst>
          </p:cNvPr>
          <p:cNvSpPr txBox="1"/>
          <p:nvPr/>
        </p:nvSpPr>
        <p:spPr>
          <a:xfrm>
            <a:off x="812800" y="1981200"/>
            <a:ext cx="1701800" cy="279400"/>
          </a:xfrm>
          <a:prstGeom prst="rect">
            <a:avLst/>
          </a:prstGeom>
          <a:noFill/>
        </p:spPr>
        <p:txBody>
          <a:bodyPr vert="horz" wrap="square" lIns="0" tIns="0" rIns="0" bIns="0" rtlCol="0" anchor="t">
            <a:noAutofit/>
          </a:bodyPr>
          <a:lstStyle/>
          <a:p>
            <a:r>
              <a:rPr lang="es-BO" sz="1250">
                <a:solidFill>
                  <a:srgbClr val="1C1813"/>
                </a:solidFill>
                <a:latin typeface="Bahnschrift SemiBold" panose="020B0502040204020203" pitchFamily="34" charset="0"/>
              </a:rPr>
              <a:t>La ficha de patología</a:t>
            </a:r>
          </a:p>
        </p:txBody>
      </p:sp>
      <p:sp>
        <p:nvSpPr>
          <p:cNvPr id="10" name="CuadroTexto 9">
            <a:extLst>
              <a:ext uri="{FF2B5EF4-FFF2-40B4-BE49-F238E27FC236}">
                <a16:creationId xmlns:a16="http://schemas.microsoft.com/office/drawing/2014/main" id="{2435B786-242A-8E5A-BC5D-1DB382F1EC93}"/>
              </a:ext>
            </a:extLst>
          </p:cNvPr>
          <p:cNvSpPr txBox="1"/>
          <p:nvPr/>
        </p:nvSpPr>
        <p:spPr>
          <a:xfrm>
            <a:off x="812800" y="2235200"/>
            <a:ext cx="1676400" cy="2463800"/>
          </a:xfrm>
          <a:prstGeom prst="rect">
            <a:avLst/>
          </a:prstGeom>
          <a:noFill/>
        </p:spPr>
        <p:txBody>
          <a:bodyPr vert="horz" wrap="square" lIns="0" tIns="0" rIns="0" bIns="0" rtlCol="0" anchor="t">
            <a:noAutofit/>
          </a:bodyPr>
          <a:lstStyle/>
          <a:p>
            <a:r>
              <a:rPr lang="es-MX" sz="1050">
                <a:solidFill>
                  <a:srgbClr val="5A5248"/>
                </a:solidFill>
                <a:latin typeface="Segoe UI" panose="020B0502040204020203" pitchFamily="34" charset="0"/>
              </a:rPr>
              <a:t>Cadena causa-mecanismo-lesión-síntoma, con fotografía referenciada, croquis acotado y los valores medidos con su método.</a:t>
            </a:r>
            <a:endParaRPr lang="es-BO" sz="1050">
              <a:solidFill>
                <a:srgbClr val="5A5248"/>
              </a:solidFill>
              <a:latin typeface="Segoe UI" panose="020B0502040204020203" pitchFamily="34" charset="0"/>
            </a:endParaRPr>
          </a:p>
        </p:txBody>
      </p:sp>
      <p:sp>
        <p:nvSpPr>
          <p:cNvPr id="11" name="Rectángulo 10">
            <a:extLst>
              <a:ext uri="{FF2B5EF4-FFF2-40B4-BE49-F238E27FC236}">
                <a16:creationId xmlns:a16="http://schemas.microsoft.com/office/drawing/2014/main" id="{A3F69CFB-81D9-78B8-1822-1AF24BE6C7B2}"/>
              </a:ext>
            </a:extLst>
          </p:cNvPr>
          <p:cNvSpPr/>
          <p:nvPr/>
        </p:nvSpPr>
        <p:spPr>
          <a:xfrm>
            <a:off x="2844800" y="1422400"/>
            <a:ext cx="2082800" cy="34036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3" name="CuadroTexto 12">
            <a:extLst>
              <a:ext uri="{FF2B5EF4-FFF2-40B4-BE49-F238E27FC236}">
                <a16:creationId xmlns:a16="http://schemas.microsoft.com/office/drawing/2014/main" id="{2962297A-F1B0-8BF6-89FC-409A3D9D6FAB}"/>
              </a:ext>
            </a:extLst>
          </p:cNvPr>
          <p:cNvSpPr txBox="1"/>
          <p:nvPr/>
        </p:nvSpPr>
        <p:spPr>
          <a:xfrm>
            <a:off x="3048000" y="1600200"/>
            <a:ext cx="1016000" cy="304800"/>
          </a:xfrm>
          <a:prstGeom prst="rect">
            <a:avLst/>
          </a:prstGeom>
          <a:noFill/>
        </p:spPr>
        <p:txBody>
          <a:bodyPr vert="horz" wrap="square" lIns="0" tIns="0" rIns="0" bIns="0" rtlCol="0" anchor="t">
            <a:noAutofit/>
          </a:bodyPr>
          <a:lstStyle/>
          <a:p>
            <a:r>
              <a:rPr lang="es-BO" sz="2000">
                <a:solidFill>
                  <a:srgbClr val="8A6A2F"/>
                </a:solidFill>
                <a:latin typeface="Bahnschrift Light" panose="020B0502040204020203" pitchFamily="34" charset="0"/>
              </a:rPr>
              <a:t>02</a:t>
            </a:r>
          </a:p>
        </p:txBody>
      </p:sp>
      <p:sp>
        <p:nvSpPr>
          <p:cNvPr id="14" name="CuadroTexto 13">
            <a:extLst>
              <a:ext uri="{FF2B5EF4-FFF2-40B4-BE49-F238E27FC236}">
                <a16:creationId xmlns:a16="http://schemas.microsoft.com/office/drawing/2014/main" id="{BA82DAB3-B515-CA38-70DC-AFA8F8848820}"/>
              </a:ext>
            </a:extLst>
          </p:cNvPr>
          <p:cNvSpPr txBox="1"/>
          <p:nvPr/>
        </p:nvSpPr>
        <p:spPr>
          <a:xfrm>
            <a:off x="3048000" y="1981200"/>
            <a:ext cx="1701800" cy="279400"/>
          </a:xfrm>
          <a:prstGeom prst="rect">
            <a:avLst/>
          </a:prstGeom>
          <a:noFill/>
        </p:spPr>
        <p:txBody>
          <a:bodyPr vert="horz" wrap="square" lIns="0" tIns="0" rIns="0" bIns="0" rtlCol="0" anchor="t">
            <a:noAutofit/>
          </a:bodyPr>
          <a:lstStyle/>
          <a:p>
            <a:r>
              <a:rPr lang="es-BO" sz="1250">
                <a:solidFill>
                  <a:srgbClr val="1C1813"/>
                </a:solidFill>
                <a:latin typeface="Bahnschrift SemiBold" panose="020B0502040204020203" pitchFamily="34" charset="0"/>
              </a:rPr>
              <a:t>La ficha de durabilidad</a:t>
            </a:r>
          </a:p>
        </p:txBody>
      </p:sp>
      <p:sp>
        <p:nvSpPr>
          <p:cNvPr id="15" name="CuadroTexto 14">
            <a:extLst>
              <a:ext uri="{FF2B5EF4-FFF2-40B4-BE49-F238E27FC236}">
                <a16:creationId xmlns:a16="http://schemas.microsoft.com/office/drawing/2014/main" id="{8F212913-3B23-CFB5-6094-45D92A2A5497}"/>
              </a:ext>
            </a:extLst>
          </p:cNvPr>
          <p:cNvSpPr txBox="1"/>
          <p:nvPr/>
        </p:nvSpPr>
        <p:spPr>
          <a:xfrm>
            <a:off x="3048000" y="2235200"/>
            <a:ext cx="1676400" cy="2463800"/>
          </a:xfrm>
          <a:prstGeom prst="rect">
            <a:avLst/>
          </a:prstGeom>
          <a:noFill/>
        </p:spPr>
        <p:txBody>
          <a:bodyPr vert="horz" wrap="square" lIns="0" tIns="0" rIns="0" bIns="0" rtlCol="0" anchor="t">
            <a:noAutofit/>
          </a:bodyPr>
          <a:lstStyle/>
          <a:p>
            <a:r>
              <a:rPr lang="es-MX" sz="1050">
                <a:solidFill>
                  <a:srgbClr val="5A5248"/>
                </a:solidFill>
                <a:latin typeface="Segoe UI" panose="020B0502040204020203" pitchFamily="34" charset="0"/>
              </a:rPr>
              <a:t>K calibrada con la propia obra, años de despasivación, fracción de superficie afectada y vida residual.</a:t>
            </a:r>
            <a:endParaRPr lang="es-BO" sz="1050">
              <a:solidFill>
                <a:srgbClr val="5A5248"/>
              </a:solidFill>
              <a:latin typeface="Segoe UI" panose="020B0502040204020203" pitchFamily="34" charset="0"/>
            </a:endParaRPr>
          </a:p>
        </p:txBody>
      </p:sp>
      <p:sp>
        <p:nvSpPr>
          <p:cNvPr id="16" name="Rectángulo 15">
            <a:extLst>
              <a:ext uri="{FF2B5EF4-FFF2-40B4-BE49-F238E27FC236}">
                <a16:creationId xmlns:a16="http://schemas.microsoft.com/office/drawing/2014/main" id="{474CCF5D-CDF6-3ABA-D318-3F9DC55E8836}"/>
              </a:ext>
            </a:extLst>
          </p:cNvPr>
          <p:cNvSpPr/>
          <p:nvPr/>
        </p:nvSpPr>
        <p:spPr>
          <a:xfrm>
            <a:off x="5080000" y="1422400"/>
            <a:ext cx="2082800" cy="34036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8" name="CuadroTexto 17">
            <a:extLst>
              <a:ext uri="{FF2B5EF4-FFF2-40B4-BE49-F238E27FC236}">
                <a16:creationId xmlns:a16="http://schemas.microsoft.com/office/drawing/2014/main" id="{6E51EE93-98BA-41E2-3462-9B742D59EF5E}"/>
              </a:ext>
            </a:extLst>
          </p:cNvPr>
          <p:cNvSpPr txBox="1"/>
          <p:nvPr/>
        </p:nvSpPr>
        <p:spPr>
          <a:xfrm>
            <a:off x="5283200" y="1600200"/>
            <a:ext cx="1016000" cy="304800"/>
          </a:xfrm>
          <a:prstGeom prst="rect">
            <a:avLst/>
          </a:prstGeom>
          <a:noFill/>
        </p:spPr>
        <p:txBody>
          <a:bodyPr vert="horz" wrap="square" lIns="0" tIns="0" rIns="0" bIns="0" rtlCol="0" anchor="t">
            <a:noAutofit/>
          </a:bodyPr>
          <a:lstStyle/>
          <a:p>
            <a:r>
              <a:rPr lang="es-BO" sz="2000">
                <a:solidFill>
                  <a:srgbClr val="8A6A2F"/>
                </a:solidFill>
                <a:latin typeface="Bahnschrift Light" panose="020B0502040204020203" pitchFamily="34" charset="0"/>
              </a:rPr>
              <a:t>03</a:t>
            </a:r>
          </a:p>
        </p:txBody>
      </p:sp>
      <p:sp>
        <p:nvSpPr>
          <p:cNvPr id="19" name="CuadroTexto 18">
            <a:extLst>
              <a:ext uri="{FF2B5EF4-FFF2-40B4-BE49-F238E27FC236}">
                <a16:creationId xmlns:a16="http://schemas.microsoft.com/office/drawing/2014/main" id="{02EB61CC-14C1-CC5C-99C7-CABEFABEBD60}"/>
              </a:ext>
            </a:extLst>
          </p:cNvPr>
          <p:cNvSpPr txBox="1"/>
          <p:nvPr/>
        </p:nvSpPr>
        <p:spPr>
          <a:xfrm>
            <a:off x="5283200" y="1981200"/>
            <a:ext cx="1701800" cy="279400"/>
          </a:xfrm>
          <a:prstGeom prst="rect">
            <a:avLst/>
          </a:prstGeom>
          <a:noFill/>
        </p:spPr>
        <p:txBody>
          <a:bodyPr vert="horz" wrap="square" lIns="0" tIns="0" rIns="0" bIns="0" rtlCol="0" anchor="t">
            <a:noAutofit/>
          </a:bodyPr>
          <a:lstStyle/>
          <a:p>
            <a:r>
              <a:rPr lang="es-BO" sz="1250">
                <a:solidFill>
                  <a:srgbClr val="1C1813"/>
                </a:solidFill>
                <a:latin typeface="Bahnschrift SemiBold" panose="020B0502040204020203" pitchFamily="34" charset="0"/>
              </a:rPr>
              <a:t>El plan de ensayos</a:t>
            </a:r>
          </a:p>
        </p:txBody>
      </p:sp>
      <p:sp>
        <p:nvSpPr>
          <p:cNvPr id="20" name="CuadroTexto 19">
            <a:extLst>
              <a:ext uri="{FF2B5EF4-FFF2-40B4-BE49-F238E27FC236}">
                <a16:creationId xmlns:a16="http://schemas.microsoft.com/office/drawing/2014/main" id="{124FF67F-08FF-8BA2-D077-A2036F0AFFC6}"/>
              </a:ext>
            </a:extLst>
          </p:cNvPr>
          <p:cNvSpPr txBox="1"/>
          <p:nvPr/>
        </p:nvSpPr>
        <p:spPr>
          <a:xfrm>
            <a:off x="5283200" y="2235200"/>
            <a:ext cx="1676400" cy="2463800"/>
          </a:xfrm>
          <a:prstGeom prst="rect">
            <a:avLst/>
          </a:prstGeom>
          <a:noFill/>
        </p:spPr>
        <p:txBody>
          <a:bodyPr vert="horz" wrap="square" lIns="0" tIns="0" rIns="0" bIns="0" rtlCol="0" anchor="t">
            <a:noAutofit/>
          </a:bodyPr>
          <a:lstStyle/>
          <a:p>
            <a:r>
              <a:rPr lang="es-MX" sz="1050">
                <a:solidFill>
                  <a:srgbClr val="5A5248"/>
                </a:solidFill>
                <a:latin typeface="Segoe UI" panose="020B0502040204020203" pitchFamily="34" charset="0"/>
              </a:rPr>
              <a:t>Zonificación, ensayos por zona, número de puntos, criterio de aceptación de cada uno y orden de ejecución.</a:t>
            </a:r>
            <a:endParaRPr lang="es-BO" sz="1050">
              <a:solidFill>
                <a:srgbClr val="5A5248"/>
              </a:solidFill>
              <a:latin typeface="Segoe UI" panose="020B0502040204020203" pitchFamily="34" charset="0"/>
            </a:endParaRPr>
          </a:p>
        </p:txBody>
      </p:sp>
      <p:sp>
        <p:nvSpPr>
          <p:cNvPr id="21" name="Rectángulo 20">
            <a:extLst>
              <a:ext uri="{FF2B5EF4-FFF2-40B4-BE49-F238E27FC236}">
                <a16:creationId xmlns:a16="http://schemas.microsoft.com/office/drawing/2014/main" id="{7FB93EC3-CE0C-EC5C-08DA-B2C101BE35A6}"/>
              </a:ext>
            </a:extLst>
          </p:cNvPr>
          <p:cNvSpPr/>
          <p:nvPr/>
        </p:nvSpPr>
        <p:spPr>
          <a:xfrm>
            <a:off x="7315200" y="1422400"/>
            <a:ext cx="2082800" cy="34036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3" name="CuadroTexto 22">
            <a:extLst>
              <a:ext uri="{FF2B5EF4-FFF2-40B4-BE49-F238E27FC236}">
                <a16:creationId xmlns:a16="http://schemas.microsoft.com/office/drawing/2014/main" id="{01300D29-98CB-4F6F-6B91-DEA9F3B29AB5}"/>
              </a:ext>
            </a:extLst>
          </p:cNvPr>
          <p:cNvSpPr txBox="1"/>
          <p:nvPr/>
        </p:nvSpPr>
        <p:spPr>
          <a:xfrm>
            <a:off x="7518400" y="1600200"/>
            <a:ext cx="1016000" cy="304800"/>
          </a:xfrm>
          <a:prstGeom prst="rect">
            <a:avLst/>
          </a:prstGeom>
          <a:noFill/>
        </p:spPr>
        <p:txBody>
          <a:bodyPr vert="horz" wrap="square" lIns="0" tIns="0" rIns="0" bIns="0" rtlCol="0" anchor="t">
            <a:noAutofit/>
          </a:bodyPr>
          <a:lstStyle/>
          <a:p>
            <a:r>
              <a:rPr lang="es-BO" sz="2000">
                <a:solidFill>
                  <a:srgbClr val="8A6A2F"/>
                </a:solidFill>
                <a:latin typeface="Bahnschrift Light" panose="020B0502040204020203" pitchFamily="34" charset="0"/>
              </a:rPr>
              <a:t>04</a:t>
            </a:r>
          </a:p>
        </p:txBody>
      </p:sp>
      <p:sp>
        <p:nvSpPr>
          <p:cNvPr id="24" name="CuadroTexto 23">
            <a:extLst>
              <a:ext uri="{FF2B5EF4-FFF2-40B4-BE49-F238E27FC236}">
                <a16:creationId xmlns:a16="http://schemas.microsoft.com/office/drawing/2014/main" id="{FF7D0841-4539-C32E-C8FF-0069DC4BE9E0}"/>
              </a:ext>
            </a:extLst>
          </p:cNvPr>
          <p:cNvSpPr txBox="1"/>
          <p:nvPr/>
        </p:nvSpPr>
        <p:spPr>
          <a:xfrm>
            <a:off x="7518400" y="1981200"/>
            <a:ext cx="1701800" cy="279400"/>
          </a:xfrm>
          <a:prstGeom prst="rect">
            <a:avLst/>
          </a:prstGeom>
          <a:noFill/>
        </p:spPr>
        <p:txBody>
          <a:bodyPr vert="horz" wrap="square" lIns="0" tIns="0" rIns="0" bIns="0" rtlCol="0" anchor="t">
            <a:noAutofit/>
          </a:bodyPr>
          <a:lstStyle/>
          <a:p>
            <a:r>
              <a:rPr lang="es-BO" sz="1250">
                <a:solidFill>
                  <a:srgbClr val="1C1813"/>
                </a:solidFill>
                <a:latin typeface="Bahnschrift SemiBold" panose="020B0502040204020203" pitchFamily="34" charset="0"/>
              </a:rPr>
              <a:t>La especificación</a:t>
            </a:r>
          </a:p>
        </p:txBody>
      </p:sp>
      <p:sp>
        <p:nvSpPr>
          <p:cNvPr id="25" name="CuadroTexto 24">
            <a:extLst>
              <a:ext uri="{FF2B5EF4-FFF2-40B4-BE49-F238E27FC236}">
                <a16:creationId xmlns:a16="http://schemas.microsoft.com/office/drawing/2014/main" id="{165A58F1-36B3-9631-42AD-94DC5352BA04}"/>
              </a:ext>
            </a:extLst>
          </p:cNvPr>
          <p:cNvSpPr txBox="1"/>
          <p:nvPr/>
        </p:nvSpPr>
        <p:spPr>
          <a:xfrm>
            <a:off x="7518400" y="2235200"/>
            <a:ext cx="1676400" cy="2463800"/>
          </a:xfrm>
          <a:prstGeom prst="rect">
            <a:avLst/>
          </a:prstGeom>
          <a:noFill/>
        </p:spPr>
        <p:txBody>
          <a:bodyPr vert="horz" wrap="square" lIns="0" tIns="0" rIns="0" bIns="0" rtlCol="0" anchor="t">
            <a:noAutofit/>
          </a:bodyPr>
          <a:lstStyle/>
          <a:p>
            <a:r>
              <a:rPr lang="es-MX" sz="1050">
                <a:solidFill>
                  <a:srgbClr val="5A5248"/>
                </a:solidFill>
                <a:latin typeface="Segoe UI" panose="020B0502040204020203" pitchFamily="34" charset="0"/>
              </a:rPr>
              <a:t>Principios de EN 1504-9 numerados, saneo, clase y módulo del mortero, puntos de parada y recepción.</a:t>
            </a:r>
            <a:endParaRPr lang="es-BO" sz="1050">
              <a:solidFill>
                <a:srgbClr val="5A5248"/>
              </a:solidFill>
              <a:latin typeface="Segoe UI" panose="020B0502040204020203" pitchFamily="34" charset="0"/>
            </a:endParaRPr>
          </a:p>
        </p:txBody>
      </p:sp>
      <p:sp>
        <p:nvSpPr>
          <p:cNvPr id="26" name="Rectángulo 25">
            <a:extLst>
              <a:ext uri="{FF2B5EF4-FFF2-40B4-BE49-F238E27FC236}">
                <a16:creationId xmlns:a16="http://schemas.microsoft.com/office/drawing/2014/main" id="{7D5E161A-096B-38C4-A5C4-B5EBB7DADE6D}"/>
              </a:ext>
            </a:extLst>
          </p:cNvPr>
          <p:cNvSpPr/>
          <p:nvPr/>
        </p:nvSpPr>
        <p:spPr>
          <a:xfrm>
            <a:off x="9550400" y="1422400"/>
            <a:ext cx="2082800" cy="34036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8" name="CuadroTexto 27">
            <a:extLst>
              <a:ext uri="{FF2B5EF4-FFF2-40B4-BE49-F238E27FC236}">
                <a16:creationId xmlns:a16="http://schemas.microsoft.com/office/drawing/2014/main" id="{D554CF0E-DC10-CED6-047A-19BAC29B82E4}"/>
              </a:ext>
            </a:extLst>
          </p:cNvPr>
          <p:cNvSpPr txBox="1"/>
          <p:nvPr/>
        </p:nvSpPr>
        <p:spPr>
          <a:xfrm>
            <a:off x="9753600" y="1600200"/>
            <a:ext cx="1016000" cy="304800"/>
          </a:xfrm>
          <a:prstGeom prst="rect">
            <a:avLst/>
          </a:prstGeom>
          <a:noFill/>
        </p:spPr>
        <p:txBody>
          <a:bodyPr vert="horz" wrap="square" lIns="0" tIns="0" rIns="0" bIns="0" rtlCol="0" anchor="t">
            <a:noAutofit/>
          </a:bodyPr>
          <a:lstStyle/>
          <a:p>
            <a:r>
              <a:rPr lang="es-BO" sz="2000">
                <a:solidFill>
                  <a:srgbClr val="8A6A2F"/>
                </a:solidFill>
                <a:latin typeface="Bahnschrift Light" panose="020B0502040204020203" pitchFamily="34" charset="0"/>
              </a:rPr>
              <a:t>05</a:t>
            </a:r>
          </a:p>
        </p:txBody>
      </p:sp>
      <p:sp>
        <p:nvSpPr>
          <p:cNvPr id="29" name="CuadroTexto 28">
            <a:extLst>
              <a:ext uri="{FF2B5EF4-FFF2-40B4-BE49-F238E27FC236}">
                <a16:creationId xmlns:a16="http://schemas.microsoft.com/office/drawing/2014/main" id="{010A6307-62B3-6F97-B8D8-C4622C946ADE}"/>
              </a:ext>
            </a:extLst>
          </p:cNvPr>
          <p:cNvSpPr txBox="1"/>
          <p:nvPr/>
        </p:nvSpPr>
        <p:spPr>
          <a:xfrm>
            <a:off x="9753600" y="1981200"/>
            <a:ext cx="1701800" cy="279400"/>
          </a:xfrm>
          <a:prstGeom prst="rect">
            <a:avLst/>
          </a:prstGeom>
          <a:noFill/>
        </p:spPr>
        <p:txBody>
          <a:bodyPr vert="horz" wrap="square" lIns="0" tIns="0" rIns="0" bIns="0" rtlCol="0" anchor="t">
            <a:noAutofit/>
          </a:bodyPr>
          <a:lstStyle/>
          <a:p>
            <a:r>
              <a:rPr lang="es-BO" sz="1250">
                <a:solidFill>
                  <a:srgbClr val="1C1813"/>
                </a:solidFill>
                <a:latin typeface="Bahnschrift SemiBold" panose="020B0502040204020203" pitchFamily="34" charset="0"/>
              </a:rPr>
              <a:t>El mantenimiento</a:t>
            </a:r>
          </a:p>
        </p:txBody>
      </p:sp>
      <p:sp>
        <p:nvSpPr>
          <p:cNvPr id="30" name="CuadroTexto 29">
            <a:extLst>
              <a:ext uri="{FF2B5EF4-FFF2-40B4-BE49-F238E27FC236}">
                <a16:creationId xmlns:a16="http://schemas.microsoft.com/office/drawing/2014/main" id="{7C1A91A8-079E-CC68-B87B-426FB558E8F5}"/>
              </a:ext>
            </a:extLst>
          </p:cNvPr>
          <p:cNvSpPr txBox="1"/>
          <p:nvPr/>
        </p:nvSpPr>
        <p:spPr>
          <a:xfrm>
            <a:off x="9753600" y="2235200"/>
            <a:ext cx="1676400" cy="2463800"/>
          </a:xfrm>
          <a:prstGeom prst="rect">
            <a:avLst/>
          </a:prstGeom>
          <a:noFill/>
        </p:spPr>
        <p:txBody>
          <a:bodyPr vert="horz" wrap="square" lIns="0" tIns="0" rIns="0" bIns="0" rtlCol="0" anchor="t">
            <a:noAutofit/>
          </a:bodyPr>
          <a:lstStyle/>
          <a:p>
            <a:r>
              <a:rPr lang="es-MX" sz="1050">
                <a:solidFill>
                  <a:srgbClr val="5A5248"/>
                </a:solidFill>
                <a:latin typeface="Segoe UI" panose="020B0502040204020203" pitchFamily="34" charset="0"/>
              </a:rPr>
              <a:t>Elemento, qué se revisa, cada cuánto, criterio de alarma y responsable con nombre. Con fechas.</a:t>
            </a:r>
            <a:endParaRPr lang="es-BO" sz="1050">
              <a:solidFill>
                <a:srgbClr val="5A5248"/>
              </a:solidFill>
              <a:latin typeface="Segoe UI" panose="020B0502040204020203" pitchFamily="34" charset="0"/>
            </a:endParaRPr>
          </a:p>
        </p:txBody>
      </p:sp>
      <p:sp>
        <p:nvSpPr>
          <p:cNvPr id="31" name="Rectángulo 30">
            <a:extLst>
              <a:ext uri="{FF2B5EF4-FFF2-40B4-BE49-F238E27FC236}">
                <a16:creationId xmlns:a16="http://schemas.microsoft.com/office/drawing/2014/main" id="{21D02664-4959-E11B-A152-EDF0EE8BE9B9}"/>
              </a:ext>
            </a:extLst>
          </p:cNvPr>
          <p:cNvSpPr/>
          <p:nvPr/>
        </p:nvSpPr>
        <p:spPr>
          <a:xfrm>
            <a:off x="609600" y="5080000"/>
            <a:ext cx="10972800" cy="736600"/>
          </a:xfrm>
          <a:prstGeom prst="rect">
            <a:avLst/>
          </a:prstGeom>
          <a:solidFill>
            <a:srgbClr val="241F1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33" name="CuadroTexto 32">
            <a:extLst>
              <a:ext uri="{FF2B5EF4-FFF2-40B4-BE49-F238E27FC236}">
                <a16:creationId xmlns:a16="http://schemas.microsoft.com/office/drawing/2014/main" id="{43C8D20B-3B57-33A8-63F0-2294DA27FF9A}"/>
              </a:ext>
            </a:extLst>
          </p:cNvPr>
          <p:cNvSpPr txBox="1"/>
          <p:nvPr/>
        </p:nvSpPr>
        <p:spPr>
          <a:xfrm>
            <a:off x="838200" y="5130800"/>
            <a:ext cx="10566400" cy="635000"/>
          </a:xfrm>
          <a:prstGeom prst="rect">
            <a:avLst/>
          </a:prstGeom>
          <a:noFill/>
        </p:spPr>
        <p:txBody>
          <a:bodyPr vert="horz" wrap="square" lIns="0" tIns="0" rIns="0" bIns="0" rtlCol="0" anchor="ctr">
            <a:noAutofit/>
          </a:bodyPr>
          <a:lstStyle/>
          <a:p>
            <a:pPr algn="l"/>
            <a:r>
              <a:rPr lang="es-MX" sz="1200">
                <a:solidFill>
                  <a:srgbClr val="FFFFFF"/>
                </a:solidFill>
                <a:latin typeface="Segoe UI" panose="020B0502040204020203" pitchFamily="34" charset="0"/>
              </a:rPr>
              <a:t>Los cinco son documentos de una página. </a:t>
            </a:r>
            <a:r>
              <a:rPr lang="es-MX" sz="1200" b="1">
                <a:solidFill>
                  <a:srgbClr val="FFFFFF"/>
                </a:solidFill>
                <a:latin typeface="Segoe UI Semibold" panose="020B0702040204020203" pitchFamily="34" charset="0"/>
              </a:rPr>
              <a:t>Ninguno exige comprar nada</a:t>
            </a:r>
            <a:r>
              <a:rPr lang="es-MX" sz="1200">
                <a:solidFill>
                  <a:srgbClr val="FFFFFF"/>
                </a:solidFill>
                <a:latin typeface="Segoe UI" panose="020B0502040204020203" pitchFamily="34" charset="0"/>
              </a:rPr>
              <a:t>, y los cinco juntos convierten una inspección en un encargo profesional que se puede defender y cobrar.</a:t>
            </a:r>
            <a:endParaRPr lang="es-BO" sz="1200">
              <a:solidFill>
                <a:srgbClr val="FFFFFF"/>
              </a:solidFill>
              <a:latin typeface="Segoe UI" panose="020B0502040204020203" pitchFamily="34" charset="0"/>
            </a:endParaRPr>
          </a:p>
        </p:txBody>
      </p:sp>
      <p:cxnSp>
        <p:nvCxnSpPr>
          <p:cNvPr id="34" name="Conector recto 33">
            <a:extLst>
              <a:ext uri="{FF2B5EF4-FFF2-40B4-BE49-F238E27FC236}">
                <a16:creationId xmlns:a16="http://schemas.microsoft.com/office/drawing/2014/main" id="{71244768-11A4-C17A-F5F6-4A0B9BFE4CF2}"/>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35" name="CuadroTexto 34">
            <a:extLst>
              <a:ext uri="{FF2B5EF4-FFF2-40B4-BE49-F238E27FC236}">
                <a16:creationId xmlns:a16="http://schemas.microsoft.com/office/drawing/2014/main" id="{72DFE1D1-ACD2-A496-9646-05902AE97962}"/>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36" name="CuadroTexto 35">
            <a:extLst>
              <a:ext uri="{FF2B5EF4-FFF2-40B4-BE49-F238E27FC236}">
                <a16:creationId xmlns:a16="http://schemas.microsoft.com/office/drawing/2014/main" id="{6E18E31F-FC00-7C13-DB38-626FF779D87F}"/>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37" name="PageNo">
            <a:extLst>
              <a:ext uri="{FF2B5EF4-FFF2-40B4-BE49-F238E27FC236}">
                <a16:creationId xmlns:a16="http://schemas.microsoft.com/office/drawing/2014/main" id="{035163AB-81CE-A4E7-5AB3-B3B1FD7FC8EF}"/>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35 / 38</a:t>
            </a:r>
          </a:p>
        </p:txBody>
      </p:sp>
    </p:spTree>
    <p:extLst>
      <p:ext uri="{BB962C8B-B14F-4D97-AF65-F5344CB8AC3E}">
        <p14:creationId xmlns:p14="http://schemas.microsoft.com/office/powerpoint/2010/main" val="20018683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5F2EA"/>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0D2DF004-750C-3AA9-8033-FA9C33B24273}"/>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MX" sz="900" spc="180">
                <a:solidFill>
                  <a:srgbClr val="6A4F20"/>
                </a:solidFill>
                <a:latin typeface="Segoe UI Semibold" panose="020B0702040204020203" pitchFamily="34" charset="0"/>
              </a:rPr>
              <a:t>HERRAMIENTAS DE LA CLASE  ·  CLASE 7</a:t>
            </a:r>
            <a:endParaRPr lang="es-BO" sz="900" spc="180">
              <a:solidFill>
                <a:srgbClr val="6A4F20"/>
              </a:solidFill>
              <a:latin typeface="Segoe UI Semibold" panose="020B0702040204020203" pitchFamily="34" charset="0"/>
            </a:endParaRPr>
          </a:p>
        </p:txBody>
      </p:sp>
      <p:sp>
        <p:nvSpPr>
          <p:cNvPr id="3" name="Title">
            <a:extLst>
              <a:ext uri="{FF2B5EF4-FFF2-40B4-BE49-F238E27FC236}">
                <a16:creationId xmlns:a16="http://schemas.microsoft.com/office/drawing/2014/main" id="{E12724D0-5FDD-5E21-B2F6-A288D9A2EF2C}"/>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MX" sz="2700">
                <a:solidFill>
                  <a:srgbClr val="1C1813"/>
                </a:solidFill>
                <a:latin typeface="Bahnschrift SemiBold" panose="020B0502040204020203" pitchFamily="34" charset="0"/>
              </a:rPr>
              <a:t>La planilla de recálculo y el plan de mantenimiento</a:t>
            </a:r>
            <a:endParaRPr lang="es-BO" sz="2700">
              <a:solidFill>
                <a:srgbClr val="1C1813"/>
              </a:solidFill>
              <a:latin typeface="Bahnschrift SemiBold" panose="020B0502040204020203" pitchFamily="34" charset="0"/>
            </a:endParaRPr>
          </a:p>
        </p:txBody>
      </p:sp>
      <p:cxnSp>
        <p:nvCxnSpPr>
          <p:cNvPr id="4" name="Conector recto 3">
            <a:extLst>
              <a:ext uri="{FF2B5EF4-FFF2-40B4-BE49-F238E27FC236}">
                <a16:creationId xmlns:a16="http://schemas.microsoft.com/office/drawing/2014/main" id="{32D478AA-D021-1EAA-BABD-FC47860B5155}"/>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6" name="Rectángulo 5">
            <a:extLst>
              <a:ext uri="{FF2B5EF4-FFF2-40B4-BE49-F238E27FC236}">
                <a16:creationId xmlns:a16="http://schemas.microsoft.com/office/drawing/2014/main" id="{D86E67E6-CD29-7BFA-F108-015BDFCCDBA1}"/>
              </a:ext>
            </a:extLst>
          </p:cNvPr>
          <p:cNvSpPr/>
          <p:nvPr/>
        </p:nvSpPr>
        <p:spPr>
          <a:xfrm>
            <a:off x="609600" y="1371600"/>
            <a:ext cx="6858000" cy="2895600"/>
          </a:xfrm>
          <a:prstGeom prst="rect">
            <a:avLst/>
          </a:prstGeom>
          <a:solidFill>
            <a:srgbClr val="EAE4D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pic>
        <p:nvPicPr>
          <p:cNvPr id="8" name="Imagen 7" descr="Hoja 8 · Recálculo de columna y cimentación">
            <a:extLst>
              <a:ext uri="{FF2B5EF4-FFF2-40B4-BE49-F238E27FC236}">
                <a16:creationId xmlns:a16="http://schemas.microsoft.com/office/drawing/2014/main" id="{D890B6FA-696A-15C4-2256-EE51877A8A73}"/>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1255486" y="1498600"/>
            <a:ext cx="5566228" cy="2641600"/>
          </a:xfrm>
          <a:prstGeom prst="rect">
            <a:avLst/>
          </a:prstGeom>
          <a:ln w="9525">
            <a:solidFill>
              <a:srgbClr val="DCD5C7"/>
            </a:solidFill>
          </a:ln>
          <a:effectLst>
            <a:outerShdw blurRad="152400" dist="38100" dir="5400000" rotWithShape="0">
              <a:srgbClr val="1C1813">
                <a:alpha val="28000"/>
              </a:srgbClr>
            </a:outerShdw>
          </a:effectLst>
        </p:spPr>
      </p:pic>
      <p:sp>
        <p:nvSpPr>
          <p:cNvPr id="9" name="Rectángulo 8">
            <a:extLst>
              <a:ext uri="{FF2B5EF4-FFF2-40B4-BE49-F238E27FC236}">
                <a16:creationId xmlns:a16="http://schemas.microsoft.com/office/drawing/2014/main" id="{829AAD86-1380-30E7-DD79-8980BAD7AF94}"/>
              </a:ext>
            </a:extLst>
          </p:cNvPr>
          <p:cNvSpPr/>
          <p:nvPr/>
        </p:nvSpPr>
        <p:spPr>
          <a:xfrm>
            <a:off x="7670800" y="1371600"/>
            <a:ext cx="3911600" cy="2895600"/>
          </a:xfrm>
          <a:prstGeom prst="rect">
            <a:avLst/>
          </a:prstGeom>
          <a:solidFill>
            <a:srgbClr val="FFFFFF"/>
          </a:solidFill>
          <a:ln w="9525">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0" name="CuadroTexto 9">
            <a:extLst>
              <a:ext uri="{FF2B5EF4-FFF2-40B4-BE49-F238E27FC236}">
                <a16:creationId xmlns:a16="http://schemas.microsoft.com/office/drawing/2014/main" id="{ED22524E-D344-7B16-FAE4-90B093B0B929}"/>
              </a:ext>
            </a:extLst>
          </p:cNvPr>
          <p:cNvSpPr txBox="1"/>
          <p:nvPr/>
        </p:nvSpPr>
        <p:spPr>
          <a:xfrm>
            <a:off x="7823200" y="1524000"/>
            <a:ext cx="2164080" cy="139700"/>
          </a:xfrm>
          <a:prstGeom prst="rect">
            <a:avLst/>
          </a:prstGeom>
          <a:noFill/>
        </p:spPr>
        <p:txBody>
          <a:bodyPr vert="horz" wrap="square" lIns="0" tIns="0" rIns="0" bIns="0" rtlCol="0" anchor="t">
            <a:noAutofit/>
          </a:bodyPr>
          <a:lstStyle/>
          <a:p>
            <a:pPr algn="l"/>
            <a:r>
              <a:rPr lang="es-BO" sz="650">
                <a:solidFill>
                  <a:srgbClr val="938A7C"/>
                </a:solidFill>
                <a:latin typeface="Segoe UI" panose="020B0502040204020203" pitchFamily="34" charset="0"/>
              </a:rPr>
              <a:t>Plan de mantenimiento</a:t>
            </a:r>
          </a:p>
        </p:txBody>
      </p:sp>
      <p:sp>
        <p:nvSpPr>
          <p:cNvPr id="11" name="CuadroTexto 10">
            <a:extLst>
              <a:ext uri="{FF2B5EF4-FFF2-40B4-BE49-F238E27FC236}">
                <a16:creationId xmlns:a16="http://schemas.microsoft.com/office/drawing/2014/main" id="{C1D35C28-7DA7-B6B8-43EA-9A6894B15E77}"/>
              </a:ext>
            </a:extLst>
          </p:cNvPr>
          <p:cNvSpPr txBox="1"/>
          <p:nvPr/>
        </p:nvSpPr>
        <p:spPr>
          <a:xfrm>
            <a:off x="9987280" y="1524000"/>
            <a:ext cx="1442720" cy="139700"/>
          </a:xfrm>
          <a:prstGeom prst="rect">
            <a:avLst/>
          </a:prstGeom>
          <a:noFill/>
        </p:spPr>
        <p:txBody>
          <a:bodyPr vert="horz" wrap="square" lIns="0" tIns="0" rIns="0" bIns="0" rtlCol="0" anchor="t">
            <a:noAutofit/>
          </a:bodyPr>
          <a:lstStyle/>
          <a:p>
            <a:pPr algn="r"/>
            <a:r>
              <a:rPr lang="es-BO" sz="650">
                <a:solidFill>
                  <a:srgbClr val="938A7C"/>
                </a:solidFill>
                <a:latin typeface="Segoe UI" panose="020B0502040204020203" pitchFamily="34" charset="0"/>
              </a:rPr>
              <a:t>PH-PMT-001</a:t>
            </a:r>
          </a:p>
        </p:txBody>
      </p:sp>
      <p:cxnSp>
        <p:nvCxnSpPr>
          <p:cNvPr id="12" name="Conector recto 11">
            <a:extLst>
              <a:ext uri="{FF2B5EF4-FFF2-40B4-BE49-F238E27FC236}">
                <a16:creationId xmlns:a16="http://schemas.microsoft.com/office/drawing/2014/main" id="{30E20027-5EC3-E5B6-9172-1AD48ADF5409}"/>
              </a:ext>
            </a:extLst>
          </p:cNvPr>
          <p:cNvCxnSpPr/>
          <p:nvPr/>
        </p:nvCxnSpPr>
        <p:spPr>
          <a:xfrm>
            <a:off x="7823200" y="1676400"/>
            <a:ext cx="3606800" cy="0"/>
          </a:xfrm>
          <a:prstGeom prst="line">
            <a:avLst/>
          </a:prstGeom>
          <a:ln w="9525">
            <a:solidFill>
              <a:srgbClr val="8A6A2F"/>
            </a:solidFill>
            <a:prstDash val="solid"/>
          </a:ln>
        </p:spPr>
        <p:style>
          <a:lnRef idx="1">
            <a:schemeClr val="accent1"/>
          </a:lnRef>
          <a:fillRef idx="0">
            <a:schemeClr val="accent1"/>
          </a:fillRef>
          <a:effectRef idx="0">
            <a:schemeClr val="accent1"/>
          </a:effectRef>
          <a:fontRef idx="minor">
            <a:schemeClr val="tx1"/>
          </a:fontRef>
        </p:style>
      </p:cxnSp>
      <p:cxnSp>
        <p:nvCxnSpPr>
          <p:cNvPr id="13" name="Conector recto 12">
            <a:extLst>
              <a:ext uri="{FF2B5EF4-FFF2-40B4-BE49-F238E27FC236}">
                <a16:creationId xmlns:a16="http://schemas.microsoft.com/office/drawing/2014/main" id="{05365F6A-C277-BFA9-BB72-2A8CA20DB4D4}"/>
              </a:ext>
            </a:extLst>
          </p:cNvPr>
          <p:cNvCxnSpPr/>
          <p:nvPr/>
        </p:nvCxnSpPr>
        <p:spPr>
          <a:xfrm>
            <a:off x="7823200" y="1803400"/>
            <a:ext cx="3606800" cy="0"/>
          </a:xfrm>
          <a:prstGeom prst="line">
            <a:avLst/>
          </a:prstGeom>
          <a:ln w="12700">
            <a:solidFill>
              <a:srgbClr val="8A6A2F"/>
            </a:solidFill>
            <a:prstDash val="solid"/>
          </a:ln>
        </p:spPr>
        <p:style>
          <a:lnRef idx="1">
            <a:schemeClr val="accent1"/>
          </a:lnRef>
          <a:fillRef idx="0">
            <a:schemeClr val="accent1"/>
          </a:fillRef>
          <a:effectRef idx="0">
            <a:schemeClr val="accent1"/>
          </a:effectRef>
          <a:fontRef idx="minor">
            <a:schemeClr val="tx1"/>
          </a:fontRef>
        </p:style>
      </p:cxnSp>
      <p:sp>
        <p:nvSpPr>
          <p:cNvPr id="14" name="CuadroTexto 13">
            <a:extLst>
              <a:ext uri="{FF2B5EF4-FFF2-40B4-BE49-F238E27FC236}">
                <a16:creationId xmlns:a16="http://schemas.microsoft.com/office/drawing/2014/main" id="{5DD5ADF4-E46B-3B8D-FC0C-740A38F61551}"/>
              </a:ext>
            </a:extLst>
          </p:cNvPr>
          <p:cNvSpPr txBox="1"/>
          <p:nvPr/>
        </p:nvSpPr>
        <p:spPr>
          <a:xfrm>
            <a:off x="7823200" y="1828800"/>
            <a:ext cx="3606800" cy="177800"/>
          </a:xfrm>
          <a:prstGeom prst="rect">
            <a:avLst/>
          </a:prstGeom>
          <a:noFill/>
        </p:spPr>
        <p:txBody>
          <a:bodyPr vert="horz" wrap="square" lIns="0" tIns="0" rIns="0" bIns="0" rtlCol="0" anchor="t">
            <a:noAutofit/>
          </a:bodyPr>
          <a:lstStyle/>
          <a:p>
            <a:pPr algn="l"/>
            <a:r>
              <a:rPr lang="es-BO" sz="950">
                <a:solidFill>
                  <a:srgbClr val="1C1813"/>
                </a:solidFill>
                <a:latin typeface="Bahnschrift SemiBold" panose="020B0502040204020203" pitchFamily="34" charset="0"/>
              </a:rPr>
              <a:t>Elementos y revisiones</a:t>
            </a:r>
          </a:p>
        </p:txBody>
      </p:sp>
      <p:sp>
        <p:nvSpPr>
          <p:cNvPr id="15" name="CuadroTexto 14">
            <a:extLst>
              <a:ext uri="{FF2B5EF4-FFF2-40B4-BE49-F238E27FC236}">
                <a16:creationId xmlns:a16="http://schemas.microsoft.com/office/drawing/2014/main" id="{1CE91E2A-AB28-349B-9F29-3ADCAAE72450}"/>
              </a:ext>
            </a:extLst>
          </p:cNvPr>
          <p:cNvSpPr txBox="1"/>
          <p:nvPr/>
        </p:nvSpPr>
        <p:spPr>
          <a:xfrm>
            <a:off x="7899400" y="2032000"/>
            <a:ext cx="3530600" cy="139700"/>
          </a:xfrm>
          <a:prstGeom prst="rect">
            <a:avLst/>
          </a:prstGeom>
          <a:noFill/>
        </p:spPr>
        <p:txBody>
          <a:bodyPr vert="horz" wrap="square" lIns="0" tIns="0" rIns="0" bIns="0" rtlCol="0" anchor="t">
            <a:noAutofit/>
          </a:bodyPr>
          <a:lstStyle/>
          <a:p>
            <a:pPr algn="l"/>
            <a:r>
              <a:rPr lang="es-MX" sz="650" i="1">
                <a:solidFill>
                  <a:srgbClr val="6A4F20"/>
                </a:solidFill>
                <a:latin typeface="Segoe UI" panose="020B0502040204020203" pitchFamily="34" charset="0"/>
              </a:rPr>
              <a:t>→  La columna del responsable es la que hace que ocurra.</a:t>
            </a:r>
            <a:endParaRPr lang="es-BO" sz="650" i="1">
              <a:solidFill>
                <a:srgbClr val="6A4F20"/>
              </a:solidFill>
              <a:latin typeface="Segoe UI" panose="020B0502040204020203" pitchFamily="34" charset="0"/>
            </a:endParaRPr>
          </a:p>
        </p:txBody>
      </p:sp>
      <p:sp>
        <p:nvSpPr>
          <p:cNvPr id="16" name="Rectángulo 15">
            <a:extLst>
              <a:ext uri="{FF2B5EF4-FFF2-40B4-BE49-F238E27FC236}">
                <a16:creationId xmlns:a16="http://schemas.microsoft.com/office/drawing/2014/main" id="{29B58DD6-9BA5-0FD7-220B-CB1B81BB9EED}"/>
              </a:ext>
            </a:extLst>
          </p:cNvPr>
          <p:cNvSpPr/>
          <p:nvPr/>
        </p:nvSpPr>
        <p:spPr>
          <a:xfrm>
            <a:off x="7823200" y="2235200"/>
            <a:ext cx="1659128" cy="228600"/>
          </a:xfrm>
          <a:prstGeom prst="rect">
            <a:avLst/>
          </a:prstGeom>
          <a:solidFill>
            <a:srgbClr val="EAE4D6"/>
          </a:solidFill>
          <a:ln w="6350">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7" name="Rectángulo 16">
            <a:extLst>
              <a:ext uri="{FF2B5EF4-FFF2-40B4-BE49-F238E27FC236}">
                <a16:creationId xmlns:a16="http://schemas.microsoft.com/office/drawing/2014/main" id="{5D2B78AD-515D-9873-A311-C54AF25621D2}"/>
              </a:ext>
            </a:extLst>
          </p:cNvPr>
          <p:cNvSpPr/>
          <p:nvPr/>
        </p:nvSpPr>
        <p:spPr>
          <a:xfrm>
            <a:off x="9482328" y="2235200"/>
            <a:ext cx="1947672" cy="228600"/>
          </a:xfrm>
          <a:prstGeom prst="rect">
            <a:avLst/>
          </a:prstGeom>
          <a:solidFill>
            <a:srgbClr val="FFFFFF"/>
          </a:solidFill>
          <a:ln w="6350">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8" name="CuadroTexto 17">
            <a:extLst>
              <a:ext uri="{FF2B5EF4-FFF2-40B4-BE49-F238E27FC236}">
                <a16:creationId xmlns:a16="http://schemas.microsoft.com/office/drawing/2014/main" id="{6BD7B768-5A95-FA22-43A8-FAE8F9B776B0}"/>
              </a:ext>
            </a:extLst>
          </p:cNvPr>
          <p:cNvSpPr txBox="1"/>
          <p:nvPr/>
        </p:nvSpPr>
        <p:spPr>
          <a:xfrm>
            <a:off x="7886700" y="2260600"/>
            <a:ext cx="1557528" cy="177800"/>
          </a:xfrm>
          <a:prstGeom prst="rect">
            <a:avLst/>
          </a:prstGeom>
          <a:noFill/>
        </p:spPr>
        <p:txBody>
          <a:bodyPr vert="horz" wrap="square" lIns="0" tIns="0" rIns="0" bIns="0" rtlCol="0" anchor="t">
            <a:noAutofit/>
          </a:bodyPr>
          <a:lstStyle/>
          <a:p>
            <a:pPr algn="l"/>
            <a:r>
              <a:rPr lang="es-MX" sz="700">
                <a:solidFill>
                  <a:srgbClr val="1C1813"/>
                </a:solidFill>
                <a:latin typeface="Segoe UI Semibold" panose="020B0702040204020203" pitchFamily="34" charset="0"/>
              </a:rPr>
              <a:t>Qué invalida este plan antes de tiempo</a:t>
            </a:r>
            <a:endParaRPr lang="es-BO" sz="700">
              <a:solidFill>
                <a:srgbClr val="1C1813"/>
              </a:solidFill>
              <a:latin typeface="Segoe UI Semibold" panose="020B0702040204020203" pitchFamily="34" charset="0"/>
            </a:endParaRPr>
          </a:p>
        </p:txBody>
      </p:sp>
      <p:sp>
        <p:nvSpPr>
          <p:cNvPr id="19" name="Rectángulo 18">
            <a:extLst>
              <a:ext uri="{FF2B5EF4-FFF2-40B4-BE49-F238E27FC236}">
                <a16:creationId xmlns:a16="http://schemas.microsoft.com/office/drawing/2014/main" id="{8DD3B77A-63FE-2890-18DF-B424D61E2F79}"/>
              </a:ext>
            </a:extLst>
          </p:cNvPr>
          <p:cNvSpPr/>
          <p:nvPr/>
        </p:nvSpPr>
        <p:spPr>
          <a:xfrm>
            <a:off x="7823200" y="2540000"/>
            <a:ext cx="1202267" cy="177800"/>
          </a:xfrm>
          <a:prstGeom prst="rect">
            <a:avLst/>
          </a:prstGeom>
          <a:solidFill>
            <a:srgbClr val="1C1813"/>
          </a:solidFill>
          <a:ln w="6350">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0" name="CuadroTexto 19">
            <a:extLst>
              <a:ext uri="{FF2B5EF4-FFF2-40B4-BE49-F238E27FC236}">
                <a16:creationId xmlns:a16="http://schemas.microsoft.com/office/drawing/2014/main" id="{EF99A9B4-AA41-0533-4E39-FC1B37850E7E}"/>
              </a:ext>
            </a:extLst>
          </p:cNvPr>
          <p:cNvSpPr txBox="1"/>
          <p:nvPr/>
        </p:nvSpPr>
        <p:spPr>
          <a:xfrm>
            <a:off x="7874000" y="2552700"/>
            <a:ext cx="1126067" cy="152400"/>
          </a:xfrm>
          <a:prstGeom prst="rect">
            <a:avLst/>
          </a:prstGeom>
          <a:noFill/>
        </p:spPr>
        <p:txBody>
          <a:bodyPr vert="horz" wrap="square" lIns="0" tIns="0" rIns="0" bIns="0" rtlCol="0" anchor="t">
            <a:noAutofit/>
          </a:bodyPr>
          <a:lstStyle/>
          <a:p>
            <a:r>
              <a:rPr lang="es-BO" sz="650">
                <a:solidFill>
                  <a:srgbClr val="FFFFFF"/>
                </a:solidFill>
                <a:latin typeface="Segoe UI Semibold" panose="020B0702040204020203" pitchFamily="34" charset="0"/>
              </a:rPr>
              <a:t>Elemento</a:t>
            </a:r>
          </a:p>
        </p:txBody>
      </p:sp>
      <p:sp>
        <p:nvSpPr>
          <p:cNvPr id="21" name="Rectángulo 20">
            <a:extLst>
              <a:ext uri="{FF2B5EF4-FFF2-40B4-BE49-F238E27FC236}">
                <a16:creationId xmlns:a16="http://schemas.microsoft.com/office/drawing/2014/main" id="{ED0C19F4-A91C-7C95-AF69-B958245AAE47}"/>
              </a:ext>
            </a:extLst>
          </p:cNvPr>
          <p:cNvSpPr/>
          <p:nvPr/>
        </p:nvSpPr>
        <p:spPr>
          <a:xfrm>
            <a:off x="9025467" y="2540000"/>
            <a:ext cx="1202267" cy="177800"/>
          </a:xfrm>
          <a:prstGeom prst="rect">
            <a:avLst/>
          </a:prstGeom>
          <a:solidFill>
            <a:srgbClr val="1C1813"/>
          </a:solidFill>
          <a:ln w="6350">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2" name="CuadroTexto 21">
            <a:extLst>
              <a:ext uri="{FF2B5EF4-FFF2-40B4-BE49-F238E27FC236}">
                <a16:creationId xmlns:a16="http://schemas.microsoft.com/office/drawing/2014/main" id="{E2B68282-0966-0BEC-C2EA-619986FEF860}"/>
              </a:ext>
            </a:extLst>
          </p:cNvPr>
          <p:cNvSpPr txBox="1"/>
          <p:nvPr/>
        </p:nvSpPr>
        <p:spPr>
          <a:xfrm>
            <a:off x="9076267" y="2552700"/>
            <a:ext cx="1126067" cy="152400"/>
          </a:xfrm>
          <a:prstGeom prst="rect">
            <a:avLst/>
          </a:prstGeom>
          <a:noFill/>
        </p:spPr>
        <p:txBody>
          <a:bodyPr vert="horz" wrap="square" lIns="0" tIns="0" rIns="0" bIns="0" rtlCol="0" anchor="t">
            <a:noAutofit/>
          </a:bodyPr>
          <a:lstStyle/>
          <a:p>
            <a:r>
              <a:rPr lang="es-BO" sz="650">
                <a:solidFill>
                  <a:srgbClr val="FFFFFF"/>
                </a:solidFill>
                <a:latin typeface="Segoe UI Semibold" panose="020B0702040204020203" pitchFamily="34" charset="0"/>
              </a:rPr>
              <a:t>Cada cuánto</a:t>
            </a:r>
          </a:p>
        </p:txBody>
      </p:sp>
      <p:sp>
        <p:nvSpPr>
          <p:cNvPr id="23" name="Rectángulo 22">
            <a:extLst>
              <a:ext uri="{FF2B5EF4-FFF2-40B4-BE49-F238E27FC236}">
                <a16:creationId xmlns:a16="http://schemas.microsoft.com/office/drawing/2014/main" id="{216CAFCD-0BDA-295E-ADF7-30F787B52771}"/>
              </a:ext>
            </a:extLst>
          </p:cNvPr>
          <p:cNvSpPr/>
          <p:nvPr/>
        </p:nvSpPr>
        <p:spPr>
          <a:xfrm>
            <a:off x="10227733" y="2540000"/>
            <a:ext cx="1202267" cy="177800"/>
          </a:xfrm>
          <a:prstGeom prst="rect">
            <a:avLst/>
          </a:prstGeom>
          <a:solidFill>
            <a:srgbClr val="1C1813"/>
          </a:solidFill>
          <a:ln w="6350">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4" name="CuadroTexto 23">
            <a:extLst>
              <a:ext uri="{FF2B5EF4-FFF2-40B4-BE49-F238E27FC236}">
                <a16:creationId xmlns:a16="http://schemas.microsoft.com/office/drawing/2014/main" id="{DB1AD6B7-84ED-690B-74A3-4BB521995716}"/>
              </a:ext>
            </a:extLst>
          </p:cNvPr>
          <p:cNvSpPr txBox="1"/>
          <p:nvPr/>
        </p:nvSpPr>
        <p:spPr>
          <a:xfrm>
            <a:off x="10278533" y="2552700"/>
            <a:ext cx="1126067" cy="152400"/>
          </a:xfrm>
          <a:prstGeom prst="rect">
            <a:avLst/>
          </a:prstGeom>
          <a:noFill/>
        </p:spPr>
        <p:txBody>
          <a:bodyPr vert="horz" wrap="square" lIns="0" tIns="0" rIns="0" bIns="0" rtlCol="0" anchor="t">
            <a:noAutofit/>
          </a:bodyPr>
          <a:lstStyle/>
          <a:p>
            <a:r>
              <a:rPr lang="es-BO" sz="650">
                <a:solidFill>
                  <a:srgbClr val="FFFFFF"/>
                </a:solidFill>
                <a:latin typeface="Segoe UI Semibold" panose="020B0702040204020203" pitchFamily="34" charset="0"/>
              </a:rPr>
              <a:t>Responsable</a:t>
            </a:r>
          </a:p>
        </p:txBody>
      </p:sp>
      <p:sp>
        <p:nvSpPr>
          <p:cNvPr id="25" name="Rectángulo 24">
            <a:extLst>
              <a:ext uri="{FF2B5EF4-FFF2-40B4-BE49-F238E27FC236}">
                <a16:creationId xmlns:a16="http://schemas.microsoft.com/office/drawing/2014/main" id="{56F094B4-9C1F-9159-4C9C-22F684E85F08}"/>
              </a:ext>
            </a:extLst>
          </p:cNvPr>
          <p:cNvSpPr/>
          <p:nvPr/>
        </p:nvSpPr>
        <p:spPr>
          <a:xfrm>
            <a:off x="7823200" y="2717800"/>
            <a:ext cx="1202267" cy="190500"/>
          </a:xfrm>
          <a:prstGeom prst="rect">
            <a:avLst/>
          </a:prstGeom>
          <a:solidFill>
            <a:srgbClr val="F5F2EA"/>
          </a:solidFill>
          <a:ln w="6350">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6" name="CuadroTexto 25">
            <a:extLst>
              <a:ext uri="{FF2B5EF4-FFF2-40B4-BE49-F238E27FC236}">
                <a16:creationId xmlns:a16="http://schemas.microsoft.com/office/drawing/2014/main" id="{C41A7113-5DE6-9078-A004-A0303370C220}"/>
              </a:ext>
            </a:extLst>
          </p:cNvPr>
          <p:cNvSpPr txBox="1"/>
          <p:nvPr/>
        </p:nvSpPr>
        <p:spPr>
          <a:xfrm>
            <a:off x="7874000" y="2730500"/>
            <a:ext cx="1126067" cy="152400"/>
          </a:xfrm>
          <a:prstGeom prst="rect">
            <a:avLst/>
          </a:prstGeom>
          <a:noFill/>
        </p:spPr>
        <p:txBody>
          <a:bodyPr vert="horz" wrap="square" lIns="0" tIns="0" rIns="0" bIns="0" rtlCol="0" anchor="t">
            <a:noAutofit/>
          </a:bodyPr>
          <a:lstStyle/>
          <a:p>
            <a:r>
              <a:rPr lang="es-BO" sz="700">
                <a:solidFill>
                  <a:srgbClr val="5A5248"/>
                </a:solidFill>
                <a:latin typeface="Segoe UI" panose="020B0502040204020203" pitchFamily="34" charset="0"/>
              </a:rPr>
              <a:t>Ánodos galvánicos</a:t>
            </a:r>
          </a:p>
        </p:txBody>
      </p:sp>
      <p:sp>
        <p:nvSpPr>
          <p:cNvPr id="27" name="Rectángulo 26">
            <a:extLst>
              <a:ext uri="{FF2B5EF4-FFF2-40B4-BE49-F238E27FC236}">
                <a16:creationId xmlns:a16="http://schemas.microsoft.com/office/drawing/2014/main" id="{75935124-1B46-34F0-E44A-0D99083CB92E}"/>
              </a:ext>
            </a:extLst>
          </p:cNvPr>
          <p:cNvSpPr/>
          <p:nvPr/>
        </p:nvSpPr>
        <p:spPr>
          <a:xfrm>
            <a:off x="9025467" y="2717800"/>
            <a:ext cx="1202267" cy="190500"/>
          </a:xfrm>
          <a:prstGeom prst="rect">
            <a:avLst/>
          </a:prstGeom>
          <a:solidFill>
            <a:srgbClr val="F5F2EA"/>
          </a:solidFill>
          <a:ln w="6350">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8" name="CuadroTexto 27">
            <a:extLst>
              <a:ext uri="{FF2B5EF4-FFF2-40B4-BE49-F238E27FC236}">
                <a16:creationId xmlns:a16="http://schemas.microsoft.com/office/drawing/2014/main" id="{FC0854F8-86DE-B9F7-EBE8-E0B88A4F7348}"/>
              </a:ext>
            </a:extLst>
          </p:cNvPr>
          <p:cNvSpPr txBox="1"/>
          <p:nvPr/>
        </p:nvSpPr>
        <p:spPr>
          <a:xfrm>
            <a:off x="9076267" y="2730500"/>
            <a:ext cx="1126067" cy="152400"/>
          </a:xfrm>
          <a:prstGeom prst="rect">
            <a:avLst/>
          </a:prstGeom>
          <a:noFill/>
        </p:spPr>
        <p:txBody>
          <a:bodyPr vert="horz" wrap="square" lIns="0" tIns="0" rIns="0" bIns="0" rtlCol="0" anchor="t">
            <a:noAutofit/>
          </a:bodyPr>
          <a:lstStyle/>
          <a:p>
            <a:endParaRPr lang="es-BO" sz="700">
              <a:solidFill>
                <a:srgbClr val="5A5248"/>
              </a:solidFill>
              <a:latin typeface="Segoe UI" panose="020B0502040204020203" pitchFamily="34" charset="0"/>
            </a:endParaRPr>
          </a:p>
        </p:txBody>
      </p:sp>
      <p:sp>
        <p:nvSpPr>
          <p:cNvPr id="29" name="Rectángulo 28">
            <a:extLst>
              <a:ext uri="{FF2B5EF4-FFF2-40B4-BE49-F238E27FC236}">
                <a16:creationId xmlns:a16="http://schemas.microsoft.com/office/drawing/2014/main" id="{05D7AB0D-FFF1-1ACC-ADC5-A19B777C24CA}"/>
              </a:ext>
            </a:extLst>
          </p:cNvPr>
          <p:cNvSpPr/>
          <p:nvPr/>
        </p:nvSpPr>
        <p:spPr>
          <a:xfrm>
            <a:off x="10227733" y="2717800"/>
            <a:ext cx="1202267" cy="190500"/>
          </a:xfrm>
          <a:prstGeom prst="rect">
            <a:avLst/>
          </a:prstGeom>
          <a:solidFill>
            <a:srgbClr val="F5F2EA"/>
          </a:solidFill>
          <a:ln w="6350">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30" name="CuadroTexto 29">
            <a:extLst>
              <a:ext uri="{FF2B5EF4-FFF2-40B4-BE49-F238E27FC236}">
                <a16:creationId xmlns:a16="http://schemas.microsoft.com/office/drawing/2014/main" id="{72EE4304-6246-6CA2-E173-159229D79CB1}"/>
              </a:ext>
            </a:extLst>
          </p:cNvPr>
          <p:cNvSpPr txBox="1"/>
          <p:nvPr/>
        </p:nvSpPr>
        <p:spPr>
          <a:xfrm>
            <a:off x="10278533" y="2730500"/>
            <a:ext cx="1126067" cy="152400"/>
          </a:xfrm>
          <a:prstGeom prst="rect">
            <a:avLst/>
          </a:prstGeom>
          <a:noFill/>
        </p:spPr>
        <p:txBody>
          <a:bodyPr vert="horz" wrap="square" lIns="0" tIns="0" rIns="0" bIns="0" rtlCol="0" anchor="t">
            <a:noAutofit/>
          </a:bodyPr>
          <a:lstStyle/>
          <a:p>
            <a:endParaRPr lang="es-BO" sz="700">
              <a:solidFill>
                <a:srgbClr val="5A5248"/>
              </a:solidFill>
              <a:latin typeface="Segoe UI" panose="020B0502040204020203" pitchFamily="34" charset="0"/>
            </a:endParaRPr>
          </a:p>
        </p:txBody>
      </p:sp>
      <p:sp>
        <p:nvSpPr>
          <p:cNvPr id="31" name="Rectángulo 30">
            <a:extLst>
              <a:ext uri="{FF2B5EF4-FFF2-40B4-BE49-F238E27FC236}">
                <a16:creationId xmlns:a16="http://schemas.microsoft.com/office/drawing/2014/main" id="{7484E149-5A50-6CD0-4349-184E3D701D30}"/>
              </a:ext>
            </a:extLst>
          </p:cNvPr>
          <p:cNvSpPr/>
          <p:nvPr/>
        </p:nvSpPr>
        <p:spPr>
          <a:xfrm>
            <a:off x="7823200" y="2908300"/>
            <a:ext cx="1202267" cy="190500"/>
          </a:xfrm>
          <a:prstGeom prst="rect">
            <a:avLst/>
          </a:prstGeom>
          <a:solidFill>
            <a:srgbClr val="FFFFFF"/>
          </a:solidFill>
          <a:ln w="6350">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32" name="CuadroTexto 31">
            <a:extLst>
              <a:ext uri="{FF2B5EF4-FFF2-40B4-BE49-F238E27FC236}">
                <a16:creationId xmlns:a16="http://schemas.microsoft.com/office/drawing/2014/main" id="{196DAD36-49ED-4FE4-F0C6-83BD75795CD2}"/>
              </a:ext>
            </a:extLst>
          </p:cNvPr>
          <p:cNvSpPr txBox="1"/>
          <p:nvPr/>
        </p:nvSpPr>
        <p:spPr>
          <a:xfrm>
            <a:off x="7874000" y="2921000"/>
            <a:ext cx="1126067" cy="152400"/>
          </a:xfrm>
          <a:prstGeom prst="rect">
            <a:avLst/>
          </a:prstGeom>
          <a:noFill/>
        </p:spPr>
        <p:txBody>
          <a:bodyPr vert="horz" wrap="square" lIns="0" tIns="0" rIns="0" bIns="0" rtlCol="0" anchor="t">
            <a:noAutofit/>
          </a:bodyPr>
          <a:lstStyle/>
          <a:p>
            <a:r>
              <a:rPr lang="es-BO" sz="700">
                <a:solidFill>
                  <a:srgbClr val="5A5248"/>
                </a:solidFill>
                <a:latin typeface="Segoe UI" panose="020B0502040204020203" pitchFamily="34" charset="0"/>
              </a:rPr>
              <a:t>Sellado de juntas</a:t>
            </a:r>
          </a:p>
        </p:txBody>
      </p:sp>
      <p:sp>
        <p:nvSpPr>
          <p:cNvPr id="33" name="Rectángulo 32">
            <a:extLst>
              <a:ext uri="{FF2B5EF4-FFF2-40B4-BE49-F238E27FC236}">
                <a16:creationId xmlns:a16="http://schemas.microsoft.com/office/drawing/2014/main" id="{4EB75FFB-5BE5-11C9-D61F-7DC490775078}"/>
              </a:ext>
            </a:extLst>
          </p:cNvPr>
          <p:cNvSpPr/>
          <p:nvPr/>
        </p:nvSpPr>
        <p:spPr>
          <a:xfrm>
            <a:off x="9025467" y="2908300"/>
            <a:ext cx="1202267" cy="190500"/>
          </a:xfrm>
          <a:prstGeom prst="rect">
            <a:avLst/>
          </a:prstGeom>
          <a:solidFill>
            <a:srgbClr val="FFFFFF"/>
          </a:solidFill>
          <a:ln w="6350">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34" name="CuadroTexto 33">
            <a:extLst>
              <a:ext uri="{FF2B5EF4-FFF2-40B4-BE49-F238E27FC236}">
                <a16:creationId xmlns:a16="http://schemas.microsoft.com/office/drawing/2014/main" id="{C9304C16-3B5D-6400-1D3F-03865012EC6D}"/>
              </a:ext>
            </a:extLst>
          </p:cNvPr>
          <p:cNvSpPr txBox="1"/>
          <p:nvPr/>
        </p:nvSpPr>
        <p:spPr>
          <a:xfrm>
            <a:off x="9076267" y="2921000"/>
            <a:ext cx="1126067" cy="152400"/>
          </a:xfrm>
          <a:prstGeom prst="rect">
            <a:avLst/>
          </a:prstGeom>
          <a:noFill/>
        </p:spPr>
        <p:txBody>
          <a:bodyPr vert="horz" wrap="square" lIns="0" tIns="0" rIns="0" bIns="0" rtlCol="0" anchor="t">
            <a:noAutofit/>
          </a:bodyPr>
          <a:lstStyle/>
          <a:p>
            <a:endParaRPr lang="es-BO" sz="700">
              <a:solidFill>
                <a:srgbClr val="5A5248"/>
              </a:solidFill>
              <a:latin typeface="Segoe UI" panose="020B0502040204020203" pitchFamily="34" charset="0"/>
            </a:endParaRPr>
          </a:p>
        </p:txBody>
      </p:sp>
      <p:sp>
        <p:nvSpPr>
          <p:cNvPr id="35" name="Rectángulo 34">
            <a:extLst>
              <a:ext uri="{FF2B5EF4-FFF2-40B4-BE49-F238E27FC236}">
                <a16:creationId xmlns:a16="http://schemas.microsoft.com/office/drawing/2014/main" id="{9D9DFAE8-9653-1CC0-CFA4-3A5F1CA93449}"/>
              </a:ext>
            </a:extLst>
          </p:cNvPr>
          <p:cNvSpPr/>
          <p:nvPr/>
        </p:nvSpPr>
        <p:spPr>
          <a:xfrm>
            <a:off x="10227733" y="2908300"/>
            <a:ext cx="1202267" cy="190500"/>
          </a:xfrm>
          <a:prstGeom prst="rect">
            <a:avLst/>
          </a:prstGeom>
          <a:solidFill>
            <a:srgbClr val="FFFFFF"/>
          </a:solidFill>
          <a:ln w="6350">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36" name="CuadroTexto 35">
            <a:extLst>
              <a:ext uri="{FF2B5EF4-FFF2-40B4-BE49-F238E27FC236}">
                <a16:creationId xmlns:a16="http://schemas.microsoft.com/office/drawing/2014/main" id="{161D5453-8E5C-2CEE-111B-7B2962D9FB82}"/>
              </a:ext>
            </a:extLst>
          </p:cNvPr>
          <p:cNvSpPr txBox="1"/>
          <p:nvPr/>
        </p:nvSpPr>
        <p:spPr>
          <a:xfrm>
            <a:off x="10278533" y="2921000"/>
            <a:ext cx="1126067" cy="152400"/>
          </a:xfrm>
          <a:prstGeom prst="rect">
            <a:avLst/>
          </a:prstGeom>
          <a:noFill/>
        </p:spPr>
        <p:txBody>
          <a:bodyPr vert="horz" wrap="square" lIns="0" tIns="0" rIns="0" bIns="0" rtlCol="0" anchor="t">
            <a:noAutofit/>
          </a:bodyPr>
          <a:lstStyle/>
          <a:p>
            <a:endParaRPr lang="es-BO" sz="700">
              <a:solidFill>
                <a:srgbClr val="5A5248"/>
              </a:solidFill>
              <a:latin typeface="Segoe UI" panose="020B0502040204020203" pitchFamily="34" charset="0"/>
            </a:endParaRPr>
          </a:p>
        </p:txBody>
      </p:sp>
      <p:sp>
        <p:nvSpPr>
          <p:cNvPr id="37" name="Rectángulo 36">
            <a:extLst>
              <a:ext uri="{FF2B5EF4-FFF2-40B4-BE49-F238E27FC236}">
                <a16:creationId xmlns:a16="http://schemas.microsoft.com/office/drawing/2014/main" id="{186326E6-8669-2D52-A1D9-2D0BB2D505D8}"/>
              </a:ext>
            </a:extLst>
          </p:cNvPr>
          <p:cNvSpPr/>
          <p:nvPr/>
        </p:nvSpPr>
        <p:spPr>
          <a:xfrm>
            <a:off x="7823200" y="3098800"/>
            <a:ext cx="1202267" cy="190500"/>
          </a:xfrm>
          <a:prstGeom prst="rect">
            <a:avLst/>
          </a:prstGeom>
          <a:solidFill>
            <a:srgbClr val="F5F2EA"/>
          </a:solidFill>
          <a:ln w="6350">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38" name="CuadroTexto 37">
            <a:extLst>
              <a:ext uri="{FF2B5EF4-FFF2-40B4-BE49-F238E27FC236}">
                <a16:creationId xmlns:a16="http://schemas.microsoft.com/office/drawing/2014/main" id="{A8E6FC8A-55B4-19A9-53F6-D6BD083D9B7B}"/>
              </a:ext>
            </a:extLst>
          </p:cNvPr>
          <p:cNvSpPr txBox="1"/>
          <p:nvPr/>
        </p:nvSpPr>
        <p:spPr>
          <a:xfrm>
            <a:off x="7874000" y="3111500"/>
            <a:ext cx="1126067" cy="152400"/>
          </a:xfrm>
          <a:prstGeom prst="rect">
            <a:avLst/>
          </a:prstGeom>
          <a:noFill/>
        </p:spPr>
        <p:txBody>
          <a:bodyPr vert="horz" wrap="square" lIns="0" tIns="0" rIns="0" bIns="0" rtlCol="0" anchor="t">
            <a:noAutofit/>
          </a:bodyPr>
          <a:lstStyle/>
          <a:p>
            <a:r>
              <a:rPr lang="es-BO" sz="700">
                <a:solidFill>
                  <a:srgbClr val="5A5248"/>
                </a:solidFill>
                <a:latin typeface="Segoe UI" panose="020B0502040204020203" pitchFamily="34" charset="0"/>
              </a:rPr>
              <a:t>Revestimiento</a:t>
            </a:r>
          </a:p>
        </p:txBody>
      </p:sp>
      <p:sp>
        <p:nvSpPr>
          <p:cNvPr id="39" name="Rectángulo 38">
            <a:extLst>
              <a:ext uri="{FF2B5EF4-FFF2-40B4-BE49-F238E27FC236}">
                <a16:creationId xmlns:a16="http://schemas.microsoft.com/office/drawing/2014/main" id="{72719DE4-54E8-D99F-6FD6-88A682A1A414}"/>
              </a:ext>
            </a:extLst>
          </p:cNvPr>
          <p:cNvSpPr/>
          <p:nvPr/>
        </p:nvSpPr>
        <p:spPr>
          <a:xfrm>
            <a:off x="9025467" y="3098800"/>
            <a:ext cx="1202267" cy="190500"/>
          </a:xfrm>
          <a:prstGeom prst="rect">
            <a:avLst/>
          </a:prstGeom>
          <a:solidFill>
            <a:srgbClr val="F5F2EA"/>
          </a:solidFill>
          <a:ln w="6350">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40" name="CuadroTexto 39">
            <a:extLst>
              <a:ext uri="{FF2B5EF4-FFF2-40B4-BE49-F238E27FC236}">
                <a16:creationId xmlns:a16="http://schemas.microsoft.com/office/drawing/2014/main" id="{1B3B5491-CE71-7CF2-A074-8478AEDF2F89}"/>
              </a:ext>
            </a:extLst>
          </p:cNvPr>
          <p:cNvSpPr txBox="1"/>
          <p:nvPr/>
        </p:nvSpPr>
        <p:spPr>
          <a:xfrm>
            <a:off x="9076267" y="3111500"/>
            <a:ext cx="1126067" cy="152400"/>
          </a:xfrm>
          <a:prstGeom prst="rect">
            <a:avLst/>
          </a:prstGeom>
          <a:noFill/>
        </p:spPr>
        <p:txBody>
          <a:bodyPr vert="horz" wrap="square" lIns="0" tIns="0" rIns="0" bIns="0" rtlCol="0" anchor="t">
            <a:noAutofit/>
          </a:bodyPr>
          <a:lstStyle/>
          <a:p>
            <a:endParaRPr lang="es-BO" sz="700">
              <a:solidFill>
                <a:srgbClr val="5A5248"/>
              </a:solidFill>
              <a:latin typeface="Segoe UI" panose="020B0502040204020203" pitchFamily="34" charset="0"/>
            </a:endParaRPr>
          </a:p>
        </p:txBody>
      </p:sp>
      <p:sp>
        <p:nvSpPr>
          <p:cNvPr id="41" name="Rectángulo 40">
            <a:extLst>
              <a:ext uri="{FF2B5EF4-FFF2-40B4-BE49-F238E27FC236}">
                <a16:creationId xmlns:a16="http://schemas.microsoft.com/office/drawing/2014/main" id="{BE76602F-98F6-A451-01CA-D8E7F5918F5F}"/>
              </a:ext>
            </a:extLst>
          </p:cNvPr>
          <p:cNvSpPr/>
          <p:nvPr/>
        </p:nvSpPr>
        <p:spPr>
          <a:xfrm>
            <a:off x="10227733" y="3098800"/>
            <a:ext cx="1202267" cy="190500"/>
          </a:xfrm>
          <a:prstGeom prst="rect">
            <a:avLst/>
          </a:prstGeom>
          <a:solidFill>
            <a:srgbClr val="F5F2EA"/>
          </a:solidFill>
          <a:ln w="6350">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42" name="CuadroTexto 41">
            <a:extLst>
              <a:ext uri="{FF2B5EF4-FFF2-40B4-BE49-F238E27FC236}">
                <a16:creationId xmlns:a16="http://schemas.microsoft.com/office/drawing/2014/main" id="{3A8A18AC-8F93-622E-01E8-5D61FEB38D72}"/>
              </a:ext>
            </a:extLst>
          </p:cNvPr>
          <p:cNvSpPr txBox="1"/>
          <p:nvPr/>
        </p:nvSpPr>
        <p:spPr>
          <a:xfrm>
            <a:off x="10278533" y="3111500"/>
            <a:ext cx="1126067" cy="152400"/>
          </a:xfrm>
          <a:prstGeom prst="rect">
            <a:avLst/>
          </a:prstGeom>
          <a:noFill/>
        </p:spPr>
        <p:txBody>
          <a:bodyPr vert="horz" wrap="square" lIns="0" tIns="0" rIns="0" bIns="0" rtlCol="0" anchor="t">
            <a:noAutofit/>
          </a:bodyPr>
          <a:lstStyle/>
          <a:p>
            <a:endParaRPr lang="es-BO" sz="700">
              <a:solidFill>
                <a:srgbClr val="5A5248"/>
              </a:solidFill>
              <a:latin typeface="Segoe UI" panose="020B0502040204020203" pitchFamily="34" charset="0"/>
            </a:endParaRPr>
          </a:p>
        </p:txBody>
      </p:sp>
      <p:sp>
        <p:nvSpPr>
          <p:cNvPr id="43" name="Rectángulo: esquinas redondeadas 42">
            <a:extLst>
              <a:ext uri="{FF2B5EF4-FFF2-40B4-BE49-F238E27FC236}">
                <a16:creationId xmlns:a16="http://schemas.microsoft.com/office/drawing/2014/main" id="{F22DD18A-FB87-1A12-A4AB-31BED2AC993C}"/>
              </a:ext>
            </a:extLst>
          </p:cNvPr>
          <p:cNvSpPr/>
          <p:nvPr/>
        </p:nvSpPr>
        <p:spPr>
          <a:xfrm>
            <a:off x="609600" y="4343400"/>
            <a:ext cx="6858000" cy="279400"/>
          </a:xfrm>
          <a:prstGeom prst="roundRect">
            <a:avLst>
              <a:gd name="adj" fmla="val 6000"/>
            </a:avLst>
          </a:prstGeom>
          <a:solidFill>
            <a:srgbClr val="1C181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38100" rIns="101600" bIns="38100" rtlCol="0" anchor="ctr"/>
          <a:lstStyle/>
          <a:p>
            <a:pPr algn="l"/>
            <a:r>
              <a:rPr lang="es-MX" sz="850">
                <a:solidFill>
                  <a:srgbClr val="C9A66B"/>
                </a:solidFill>
                <a:latin typeface="Segoe UI Semibold" panose="020B0702040204020203" pitchFamily="34" charset="0"/>
              </a:rPr>
              <a:t>Planilla  ·  Hoja 8 · Recálculo de columna y cimentación</a:t>
            </a:r>
            <a:endParaRPr lang="es-BO" sz="850">
              <a:solidFill>
                <a:srgbClr val="C9A66B"/>
              </a:solidFill>
              <a:latin typeface="Segoe UI Semibold" panose="020B0702040204020203" pitchFamily="34" charset="0"/>
            </a:endParaRPr>
          </a:p>
        </p:txBody>
      </p:sp>
      <p:sp>
        <p:nvSpPr>
          <p:cNvPr id="44" name="Rectángulo: esquinas redondeadas 43">
            <a:extLst>
              <a:ext uri="{FF2B5EF4-FFF2-40B4-BE49-F238E27FC236}">
                <a16:creationId xmlns:a16="http://schemas.microsoft.com/office/drawing/2014/main" id="{D8D1A1D7-F63B-188A-8A45-7DFC3B9E64DA}"/>
              </a:ext>
            </a:extLst>
          </p:cNvPr>
          <p:cNvSpPr/>
          <p:nvPr/>
        </p:nvSpPr>
        <p:spPr>
          <a:xfrm>
            <a:off x="7670800" y="4343400"/>
            <a:ext cx="3911600" cy="279400"/>
          </a:xfrm>
          <a:prstGeom prst="roundRect">
            <a:avLst>
              <a:gd name="adj" fmla="val 6000"/>
            </a:avLst>
          </a:prstGeom>
          <a:solidFill>
            <a:srgbClr val="1C181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38100" rIns="101600" bIns="38100" rtlCol="0" anchor="ctr"/>
          <a:lstStyle/>
          <a:p>
            <a:pPr algn="l"/>
            <a:r>
              <a:rPr lang="es-BO" sz="850">
                <a:solidFill>
                  <a:srgbClr val="C9A66B"/>
                </a:solidFill>
                <a:latin typeface="Segoe UI Semibold" panose="020B0702040204020203" pitchFamily="34" charset="0"/>
              </a:rPr>
              <a:t>Formato  ·  PH_Plan-de-mantenimiento.docx</a:t>
            </a:r>
          </a:p>
        </p:txBody>
      </p:sp>
      <p:sp>
        <p:nvSpPr>
          <p:cNvPr id="45" name="Rectángulo 44">
            <a:extLst>
              <a:ext uri="{FF2B5EF4-FFF2-40B4-BE49-F238E27FC236}">
                <a16:creationId xmlns:a16="http://schemas.microsoft.com/office/drawing/2014/main" id="{E49434FD-A4B4-7325-B431-7133CB7EB07E}"/>
              </a:ext>
            </a:extLst>
          </p:cNvPr>
          <p:cNvSpPr/>
          <p:nvPr/>
        </p:nvSpPr>
        <p:spPr>
          <a:xfrm>
            <a:off x="609600" y="4800600"/>
            <a:ext cx="2628900" cy="1270000"/>
          </a:xfrm>
          <a:prstGeom prst="rect">
            <a:avLst/>
          </a:prstGeom>
          <a:solidFill>
            <a:srgbClr val="FFFFFF"/>
          </a:solidFill>
          <a:ln w="6350">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46" name="Rectángulo 45">
            <a:extLst>
              <a:ext uri="{FF2B5EF4-FFF2-40B4-BE49-F238E27FC236}">
                <a16:creationId xmlns:a16="http://schemas.microsoft.com/office/drawing/2014/main" id="{1602ED8F-7E4C-9BCA-AE90-F70B3F889F05}"/>
              </a:ext>
            </a:extLst>
          </p:cNvPr>
          <p:cNvSpPr/>
          <p:nvPr/>
        </p:nvSpPr>
        <p:spPr>
          <a:xfrm>
            <a:off x="609600" y="4800600"/>
            <a:ext cx="2628900" cy="3175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47" name="CuadroTexto 46">
            <a:extLst>
              <a:ext uri="{FF2B5EF4-FFF2-40B4-BE49-F238E27FC236}">
                <a16:creationId xmlns:a16="http://schemas.microsoft.com/office/drawing/2014/main" id="{AA68B733-FB5D-9A5B-B525-6222BBE03F99}"/>
              </a:ext>
            </a:extLst>
          </p:cNvPr>
          <p:cNvSpPr txBox="1"/>
          <p:nvPr/>
        </p:nvSpPr>
        <p:spPr>
          <a:xfrm>
            <a:off x="762000" y="4902200"/>
            <a:ext cx="2374900" cy="228600"/>
          </a:xfrm>
          <a:prstGeom prst="rect">
            <a:avLst/>
          </a:prstGeom>
          <a:noFill/>
        </p:spPr>
        <p:txBody>
          <a:bodyPr vert="horz" wrap="square" lIns="0" tIns="0" rIns="0" bIns="0" rtlCol="0" anchor="t">
            <a:noAutofit/>
          </a:bodyPr>
          <a:lstStyle/>
          <a:p>
            <a:pPr algn="l"/>
            <a:r>
              <a:rPr lang="es-BO" sz="1150">
                <a:solidFill>
                  <a:srgbClr val="1C1813"/>
                </a:solidFill>
                <a:latin typeface="Bahnschrift SemiBold" panose="020B0502040204020203" pitchFamily="34" charset="0"/>
              </a:rPr>
              <a:t>Qué pone usted</a:t>
            </a:r>
          </a:p>
        </p:txBody>
      </p:sp>
      <p:sp>
        <p:nvSpPr>
          <p:cNvPr id="48" name="CuadroTexto 47">
            <a:extLst>
              <a:ext uri="{FF2B5EF4-FFF2-40B4-BE49-F238E27FC236}">
                <a16:creationId xmlns:a16="http://schemas.microsoft.com/office/drawing/2014/main" id="{89FF8BAC-BD86-AFF4-8D92-1C72EB4AB9F9}"/>
              </a:ext>
            </a:extLst>
          </p:cNvPr>
          <p:cNvSpPr txBox="1"/>
          <p:nvPr/>
        </p:nvSpPr>
        <p:spPr>
          <a:xfrm>
            <a:off x="762000" y="5156200"/>
            <a:ext cx="2374900" cy="838200"/>
          </a:xfrm>
          <a:prstGeom prst="rect">
            <a:avLst/>
          </a:prstGeom>
          <a:noFill/>
        </p:spPr>
        <p:txBody>
          <a:bodyPr vert="horz" wrap="square" lIns="0" tIns="0" rIns="0" bIns="0" rtlCol="0" anchor="t">
            <a:noAutofit/>
          </a:bodyPr>
          <a:lstStyle/>
          <a:p>
            <a:pPr algn="l"/>
            <a:r>
              <a:rPr lang="es-MX" sz="900">
                <a:solidFill>
                  <a:srgbClr val="5A5248"/>
                </a:solidFill>
                <a:latin typeface="Segoe UI" panose="020B0502040204020203" pitchFamily="34" charset="0"/>
              </a:rPr>
              <a:t>La geometría, la armadura residual de la hoja 4, la resistencia in situ de la hoja 6, los parámetros del suelo y las cargas.</a:t>
            </a:r>
            <a:endParaRPr lang="es-BO" sz="900">
              <a:solidFill>
                <a:srgbClr val="5A5248"/>
              </a:solidFill>
              <a:latin typeface="Segoe UI" panose="020B0502040204020203" pitchFamily="34" charset="0"/>
            </a:endParaRPr>
          </a:p>
        </p:txBody>
      </p:sp>
      <p:sp>
        <p:nvSpPr>
          <p:cNvPr id="49" name="Rectángulo 48">
            <a:extLst>
              <a:ext uri="{FF2B5EF4-FFF2-40B4-BE49-F238E27FC236}">
                <a16:creationId xmlns:a16="http://schemas.microsoft.com/office/drawing/2014/main" id="{E5D5C2EF-AF02-0527-0130-F25C1CAE9DBA}"/>
              </a:ext>
            </a:extLst>
          </p:cNvPr>
          <p:cNvSpPr/>
          <p:nvPr/>
        </p:nvSpPr>
        <p:spPr>
          <a:xfrm>
            <a:off x="3390900" y="4800600"/>
            <a:ext cx="2628900" cy="1270000"/>
          </a:xfrm>
          <a:prstGeom prst="rect">
            <a:avLst/>
          </a:prstGeom>
          <a:solidFill>
            <a:srgbClr val="FFFFFF"/>
          </a:solidFill>
          <a:ln w="6350">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50" name="Rectángulo 49">
            <a:extLst>
              <a:ext uri="{FF2B5EF4-FFF2-40B4-BE49-F238E27FC236}">
                <a16:creationId xmlns:a16="http://schemas.microsoft.com/office/drawing/2014/main" id="{AD6C74BB-7C26-07D6-B091-F48F52B1480B}"/>
              </a:ext>
            </a:extLst>
          </p:cNvPr>
          <p:cNvSpPr/>
          <p:nvPr/>
        </p:nvSpPr>
        <p:spPr>
          <a:xfrm>
            <a:off x="3390900" y="4800600"/>
            <a:ext cx="2628900" cy="3175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51" name="CuadroTexto 50">
            <a:extLst>
              <a:ext uri="{FF2B5EF4-FFF2-40B4-BE49-F238E27FC236}">
                <a16:creationId xmlns:a16="http://schemas.microsoft.com/office/drawing/2014/main" id="{5413CCB4-5CFB-076B-6019-679A5C0C87FF}"/>
              </a:ext>
            </a:extLst>
          </p:cNvPr>
          <p:cNvSpPr txBox="1"/>
          <p:nvPr/>
        </p:nvSpPr>
        <p:spPr>
          <a:xfrm>
            <a:off x="3543300" y="4902200"/>
            <a:ext cx="2374900" cy="228600"/>
          </a:xfrm>
          <a:prstGeom prst="rect">
            <a:avLst/>
          </a:prstGeom>
          <a:noFill/>
        </p:spPr>
        <p:txBody>
          <a:bodyPr vert="horz" wrap="square" lIns="0" tIns="0" rIns="0" bIns="0" rtlCol="0" anchor="t">
            <a:noAutofit/>
          </a:bodyPr>
          <a:lstStyle/>
          <a:p>
            <a:pPr algn="l"/>
            <a:r>
              <a:rPr lang="es-BO" sz="1150">
                <a:solidFill>
                  <a:srgbClr val="1C1813"/>
                </a:solidFill>
                <a:latin typeface="Bahnschrift SemiBold" panose="020B0502040204020203" pitchFamily="34" charset="0"/>
              </a:rPr>
              <a:t>Qué sale</a:t>
            </a:r>
          </a:p>
        </p:txBody>
      </p:sp>
      <p:sp>
        <p:nvSpPr>
          <p:cNvPr id="52" name="CuadroTexto 51">
            <a:extLst>
              <a:ext uri="{FF2B5EF4-FFF2-40B4-BE49-F238E27FC236}">
                <a16:creationId xmlns:a16="http://schemas.microsoft.com/office/drawing/2014/main" id="{0906419A-11EE-E007-1258-57FFB9C6393D}"/>
              </a:ext>
            </a:extLst>
          </p:cNvPr>
          <p:cNvSpPr txBox="1"/>
          <p:nvPr/>
        </p:nvSpPr>
        <p:spPr>
          <a:xfrm>
            <a:off x="3543300" y="5156200"/>
            <a:ext cx="2374900" cy="838200"/>
          </a:xfrm>
          <a:prstGeom prst="rect">
            <a:avLst/>
          </a:prstGeom>
          <a:noFill/>
        </p:spPr>
        <p:txBody>
          <a:bodyPr vert="horz" wrap="square" lIns="0" tIns="0" rIns="0" bIns="0" rtlCol="0" anchor="t">
            <a:noAutofit/>
          </a:bodyPr>
          <a:lstStyle/>
          <a:p>
            <a:pPr algn="l"/>
            <a:r>
              <a:rPr lang="es-MX" sz="900">
                <a:solidFill>
                  <a:srgbClr val="5A5248"/>
                </a:solidFill>
                <a:latin typeface="Segoe UI" panose="020B0502040204020203" pitchFamily="34" charset="0"/>
              </a:rPr>
              <a:t>La capacidad de la columna con el recubrimiento repuesto y desprendido, la carga admisible por Terzaghi y los tres márgenes.</a:t>
            </a:r>
            <a:endParaRPr lang="es-BO" sz="900">
              <a:solidFill>
                <a:srgbClr val="5A5248"/>
              </a:solidFill>
              <a:latin typeface="Segoe UI" panose="020B0502040204020203" pitchFamily="34" charset="0"/>
            </a:endParaRPr>
          </a:p>
        </p:txBody>
      </p:sp>
      <p:sp>
        <p:nvSpPr>
          <p:cNvPr id="53" name="Rectángulo 52">
            <a:extLst>
              <a:ext uri="{FF2B5EF4-FFF2-40B4-BE49-F238E27FC236}">
                <a16:creationId xmlns:a16="http://schemas.microsoft.com/office/drawing/2014/main" id="{C6154080-6530-9A25-E35A-7E1CDB4520CF}"/>
              </a:ext>
            </a:extLst>
          </p:cNvPr>
          <p:cNvSpPr/>
          <p:nvPr/>
        </p:nvSpPr>
        <p:spPr>
          <a:xfrm>
            <a:off x="6172200" y="4800600"/>
            <a:ext cx="2628900" cy="1270000"/>
          </a:xfrm>
          <a:prstGeom prst="rect">
            <a:avLst/>
          </a:prstGeom>
          <a:solidFill>
            <a:srgbClr val="FFFFFF"/>
          </a:solidFill>
          <a:ln w="6350">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54" name="Rectángulo 53">
            <a:extLst>
              <a:ext uri="{FF2B5EF4-FFF2-40B4-BE49-F238E27FC236}">
                <a16:creationId xmlns:a16="http://schemas.microsoft.com/office/drawing/2014/main" id="{7ABB3597-08A9-5F3E-FAC7-035374E8EAC5}"/>
              </a:ext>
            </a:extLst>
          </p:cNvPr>
          <p:cNvSpPr/>
          <p:nvPr/>
        </p:nvSpPr>
        <p:spPr>
          <a:xfrm>
            <a:off x="6172200" y="4800600"/>
            <a:ext cx="2628900" cy="3175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55" name="CuadroTexto 54">
            <a:extLst>
              <a:ext uri="{FF2B5EF4-FFF2-40B4-BE49-F238E27FC236}">
                <a16:creationId xmlns:a16="http://schemas.microsoft.com/office/drawing/2014/main" id="{9196D34C-2449-68F3-43B4-91D436CAC286}"/>
              </a:ext>
            </a:extLst>
          </p:cNvPr>
          <p:cNvSpPr txBox="1"/>
          <p:nvPr/>
        </p:nvSpPr>
        <p:spPr>
          <a:xfrm>
            <a:off x="6324600" y="4902200"/>
            <a:ext cx="2374900" cy="228600"/>
          </a:xfrm>
          <a:prstGeom prst="rect">
            <a:avLst/>
          </a:prstGeom>
          <a:noFill/>
        </p:spPr>
        <p:txBody>
          <a:bodyPr vert="horz" wrap="square" lIns="0" tIns="0" rIns="0" bIns="0" rtlCol="0" anchor="t">
            <a:noAutofit/>
          </a:bodyPr>
          <a:lstStyle/>
          <a:p>
            <a:pPr algn="l"/>
            <a:r>
              <a:rPr lang="es-BO" sz="1150">
                <a:solidFill>
                  <a:srgbClr val="1C1813"/>
                </a:solidFill>
                <a:latin typeface="Bahnschrift SemiBold" panose="020B0502040204020203" pitchFamily="34" charset="0"/>
              </a:rPr>
              <a:t>Los márgenes</a:t>
            </a:r>
          </a:p>
        </p:txBody>
      </p:sp>
      <p:sp>
        <p:nvSpPr>
          <p:cNvPr id="56" name="CuadroTexto 55">
            <a:extLst>
              <a:ext uri="{FF2B5EF4-FFF2-40B4-BE49-F238E27FC236}">
                <a16:creationId xmlns:a16="http://schemas.microsoft.com/office/drawing/2014/main" id="{26C9CFC2-501B-E545-FECB-BF0611FF6CE6}"/>
              </a:ext>
            </a:extLst>
          </p:cNvPr>
          <p:cNvSpPr txBox="1"/>
          <p:nvPr/>
        </p:nvSpPr>
        <p:spPr>
          <a:xfrm>
            <a:off x="6324600" y="5156200"/>
            <a:ext cx="2374900" cy="838200"/>
          </a:xfrm>
          <a:prstGeom prst="rect">
            <a:avLst/>
          </a:prstGeom>
          <a:noFill/>
        </p:spPr>
        <p:txBody>
          <a:bodyPr vert="horz" wrap="square" lIns="0" tIns="0" rIns="0" bIns="0" rtlCol="0" anchor="t">
            <a:noAutofit/>
          </a:bodyPr>
          <a:lstStyle/>
          <a:p>
            <a:pPr algn="l"/>
            <a:r>
              <a:rPr lang="es-MX" sz="900">
                <a:solidFill>
                  <a:srgbClr val="5A5248"/>
                </a:solidFill>
                <a:latin typeface="Segoe UI" panose="020B0502040204020203" pitchFamily="34" charset="0"/>
              </a:rPr>
              <a:t>Se colorean solos contra su umbral: hoy 0,83 y en el futuro 0,62 salen en oxblood; con el ensanche, 1,13 sale en oliva.</a:t>
            </a:r>
            <a:endParaRPr lang="es-BO" sz="900">
              <a:solidFill>
                <a:srgbClr val="5A5248"/>
              </a:solidFill>
              <a:latin typeface="Segoe UI" panose="020B0502040204020203" pitchFamily="34" charset="0"/>
            </a:endParaRPr>
          </a:p>
        </p:txBody>
      </p:sp>
      <p:sp>
        <p:nvSpPr>
          <p:cNvPr id="57" name="Rectángulo 56">
            <a:extLst>
              <a:ext uri="{FF2B5EF4-FFF2-40B4-BE49-F238E27FC236}">
                <a16:creationId xmlns:a16="http://schemas.microsoft.com/office/drawing/2014/main" id="{2B86E891-1F48-1F36-0044-7B8F25F1C7BC}"/>
              </a:ext>
            </a:extLst>
          </p:cNvPr>
          <p:cNvSpPr/>
          <p:nvPr/>
        </p:nvSpPr>
        <p:spPr>
          <a:xfrm>
            <a:off x="8953500" y="4800600"/>
            <a:ext cx="2628900" cy="1270000"/>
          </a:xfrm>
          <a:prstGeom prst="rect">
            <a:avLst/>
          </a:prstGeom>
          <a:solidFill>
            <a:srgbClr val="FFFFFF"/>
          </a:solidFill>
          <a:ln w="6350">
            <a:solidFill>
              <a:srgbClr val="DCD5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58" name="Rectángulo 57">
            <a:extLst>
              <a:ext uri="{FF2B5EF4-FFF2-40B4-BE49-F238E27FC236}">
                <a16:creationId xmlns:a16="http://schemas.microsoft.com/office/drawing/2014/main" id="{397046B7-5CE5-A816-E0C8-1A826CD269FF}"/>
              </a:ext>
            </a:extLst>
          </p:cNvPr>
          <p:cNvSpPr/>
          <p:nvPr/>
        </p:nvSpPr>
        <p:spPr>
          <a:xfrm>
            <a:off x="8953500" y="4800600"/>
            <a:ext cx="2628900" cy="3175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59" name="CuadroTexto 58">
            <a:extLst>
              <a:ext uri="{FF2B5EF4-FFF2-40B4-BE49-F238E27FC236}">
                <a16:creationId xmlns:a16="http://schemas.microsoft.com/office/drawing/2014/main" id="{FF528AC5-5411-8FD6-C2A0-EC80D00C62B4}"/>
              </a:ext>
            </a:extLst>
          </p:cNvPr>
          <p:cNvSpPr txBox="1"/>
          <p:nvPr/>
        </p:nvSpPr>
        <p:spPr>
          <a:xfrm>
            <a:off x="9105900" y="4902200"/>
            <a:ext cx="2374900" cy="228600"/>
          </a:xfrm>
          <a:prstGeom prst="rect">
            <a:avLst/>
          </a:prstGeom>
          <a:noFill/>
        </p:spPr>
        <p:txBody>
          <a:bodyPr vert="horz" wrap="square" lIns="0" tIns="0" rIns="0" bIns="0" rtlCol="0" anchor="t">
            <a:noAutofit/>
          </a:bodyPr>
          <a:lstStyle/>
          <a:p>
            <a:pPr algn="l"/>
            <a:r>
              <a:rPr lang="es-BO" sz="1150">
                <a:solidFill>
                  <a:srgbClr val="1C1813"/>
                </a:solidFill>
                <a:latin typeface="Bahnschrift SemiBold" panose="020B0502040204020203" pitchFamily="34" charset="0"/>
              </a:rPr>
              <a:t>El mantenimiento</a:t>
            </a:r>
          </a:p>
        </p:txBody>
      </p:sp>
      <p:sp>
        <p:nvSpPr>
          <p:cNvPr id="60" name="CuadroTexto 59">
            <a:extLst>
              <a:ext uri="{FF2B5EF4-FFF2-40B4-BE49-F238E27FC236}">
                <a16:creationId xmlns:a16="http://schemas.microsoft.com/office/drawing/2014/main" id="{9DE38FFF-C694-4BF1-E548-C325B745BFAC}"/>
              </a:ext>
            </a:extLst>
          </p:cNvPr>
          <p:cNvSpPr txBox="1"/>
          <p:nvPr/>
        </p:nvSpPr>
        <p:spPr>
          <a:xfrm>
            <a:off x="9105900" y="5156200"/>
            <a:ext cx="2374900" cy="838200"/>
          </a:xfrm>
          <a:prstGeom prst="rect">
            <a:avLst/>
          </a:prstGeom>
          <a:noFill/>
        </p:spPr>
        <p:txBody>
          <a:bodyPr vert="horz" wrap="square" lIns="0" tIns="0" rIns="0" bIns="0" rtlCol="0" anchor="t">
            <a:noAutofit/>
          </a:bodyPr>
          <a:lstStyle/>
          <a:p>
            <a:pPr algn="l"/>
            <a:r>
              <a:rPr lang="es-MX" sz="900">
                <a:solidFill>
                  <a:srgbClr val="5A5248"/>
                </a:solidFill>
                <a:latin typeface="Segoe UI" panose="020B0502040204020203" pitchFamily="34" charset="0"/>
              </a:rPr>
              <a:t>Lleva la vida del ánodo calculada en la hoja 7 a un calendario con responsable y coste previsto a cinco años.</a:t>
            </a:r>
            <a:endParaRPr lang="es-BO" sz="900">
              <a:solidFill>
                <a:srgbClr val="5A5248"/>
              </a:solidFill>
              <a:latin typeface="Segoe UI" panose="020B0502040204020203" pitchFamily="34" charset="0"/>
            </a:endParaRPr>
          </a:p>
        </p:txBody>
      </p:sp>
      <p:sp>
        <p:nvSpPr>
          <p:cNvPr id="61" name="CuadroTexto 60">
            <a:extLst>
              <a:ext uri="{FF2B5EF4-FFF2-40B4-BE49-F238E27FC236}">
                <a16:creationId xmlns:a16="http://schemas.microsoft.com/office/drawing/2014/main" id="{36F749A4-2E38-DA0F-5C8B-6FECECCB9766}"/>
              </a:ext>
            </a:extLst>
          </p:cNvPr>
          <p:cNvSpPr txBox="1"/>
          <p:nvPr/>
        </p:nvSpPr>
        <p:spPr>
          <a:xfrm>
            <a:off x="609600" y="6324600"/>
            <a:ext cx="10972800" cy="152400"/>
          </a:xfrm>
          <a:prstGeom prst="rect">
            <a:avLst/>
          </a:prstGeom>
          <a:noFill/>
        </p:spPr>
        <p:txBody>
          <a:bodyPr vert="horz" wrap="square" lIns="0" tIns="0" rIns="0" bIns="0" rtlCol="0" anchor="t">
            <a:noAutofit/>
          </a:bodyPr>
          <a:lstStyle/>
          <a:p>
            <a:pPr algn="l"/>
            <a:r>
              <a:rPr lang="es-MX" sz="700">
                <a:solidFill>
                  <a:srgbClr val="938A7C"/>
                </a:solidFill>
                <a:latin typeface="Segoe UI" panose="020B0502040204020203" pitchFamily="34" charset="0"/>
              </a:rPr>
              <a:t>Fuente: Plantillas_y_formatos del curso. Los valores cargados son los del caso ejemplo, la nave Sector 4.</a:t>
            </a:r>
            <a:endParaRPr lang="es-BO" sz="700">
              <a:solidFill>
                <a:srgbClr val="938A7C"/>
              </a:solidFill>
              <a:latin typeface="Segoe UI" panose="020B0502040204020203" pitchFamily="34" charset="0"/>
            </a:endParaRPr>
          </a:p>
        </p:txBody>
      </p:sp>
      <p:cxnSp>
        <p:nvCxnSpPr>
          <p:cNvPr id="62" name="Conector recto 61">
            <a:extLst>
              <a:ext uri="{FF2B5EF4-FFF2-40B4-BE49-F238E27FC236}">
                <a16:creationId xmlns:a16="http://schemas.microsoft.com/office/drawing/2014/main" id="{FF4CF04A-9AEF-B554-0587-933676BC8501}"/>
              </a:ext>
            </a:extLst>
          </p:cNvPr>
          <p:cNvCxnSpPr/>
          <p:nvPr/>
        </p:nvCxnSpPr>
        <p:spPr>
          <a:xfrm>
            <a:off x="609600" y="6527800"/>
            <a:ext cx="10972800" cy="0"/>
          </a:xfrm>
          <a:prstGeom prst="line">
            <a:avLst/>
          </a:prstGeom>
          <a:ln w="6350">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63" name="CuadroTexto 62">
            <a:extLst>
              <a:ext uri="{FF2B5EF4-FFF2-40B4-BE49-F238E27FC236}">
                <a16:creationId xmlns:a16="http://schemas.microsoft.com/office/drawing/2014/main" id="{708C2EF2-637F-3588-C780-1D63246EC0E0}"/>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38A7C"/>
                </a:solidFill>
                <a:latin typeface="Segoe UI Semibold" panose="020B0702040204020203" pitchFamily="34" charset="0"/>
              </a:rPr>
              <a:t>DIAGNÓSTICO DE PATOLOGÍAS, RECUPERACIÓN Y REHABILITACIÓN DEL HORMIGÓN</a:t>
            </a:r>
            <a:endParaRPr lang="es-BO" sz="700" spc="160">
              <a:solidFill>
                <a:srgbClr val="938A7C"/>
              </a:solidFill>
              <a:latin typeface="Segoe UI Semibold" panose="020B0702040204020203" pitchFamily="34" charset="0"/>
            </a:endParaRPr>
          </a:p>
        </p:txBody>
      </p:sp>
      <p:sp>
        <p:nvSpPr>
          <p:cNvPr id="64" name="CuadroTexto 63">
            <a:extLst>
              <a:ext uri="{FF2B5EF4-FFF2-40B4-BE49-F238E27FC236}">
                <a16:creationId xmlns:a16="http://schemas.microsoft.com/office/drawing/2014/main" id="{503AAB7D-2CED-D9FA-80E6-AB3DAD19B360}"/>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38A7C"/>
                </a:solidFill>
                <a:latin typeface="Segoe UI" panose="020B0502040204020203" pitchFamily="34" charset="0"/>
              </a:rPr>
              <a:t>CLASE 7 · REFUERZO, RECALCE Y GESTIÓN</a:t>
            </a:r>
            <a:endParaRPr lang="es-BO" sz="700" spc="130">
              <a:solidFill>
                <a:srgbClr val="938A7C"/>
              </a:solidFill>
              <a:latin typeface="Segoe UI" panose="020B0502040204020203" pitchFamily="34" charset="0"/>
            </a:endParaRPr>
          </a:p>
        </p:txBody>
      </p:sp>
      <p:sp>
        <p:nvSpPr>
          <p:cNvPr id="65" name="PageNo">
            <a:extLst>
              <a:ext uri="{FF2B5EF4-FFF2-40B4-BE49-F238E27FC236}">
                <a16:creationId xmlns:a16="http://schemas.microsoft.com/office/drawing/2014/main" id="{7394014B-6291-2D01-FAAE-091757243918}"/>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1C1813"/>
                </a:solidFill>
                <a:latin typeface="Bahnschrift SemiBold" panose="020B0502040204020203" pitchFamily="34" charset="0"/>
              </a:rPr>
              <a:t>36 / 38</a:t>
            </a:r>
          </a:p>
        </p:txBody>
      </p:sp>
    </p:spTree>
    <p:custDataLst>
      <p:tags r:id="rId1"/>
    </p:custDataLst>
    <p:extLst>
      <p:ext uri="{BB962C8B-B14F-4D97-AF65-F5344CB8AC3E}">
        <p14:creationId xmlns:p14="http://schemas.microsoft.com/office/powerpoint/2010/main" val="71375260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1C1813"/>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88BC084F-E1D2-729C-EDCD-693D5BCC9C80}"/>
              </a:ext>
            </a:extLst>
          </p:cNvPr>
          <p:cNvSpPr txBox="1"/>
          <p:nvPr/>
        </p:nvSpPr>
        <p:spPr>
          <a:xfrm>
            <a:off x="609600" y="406400"/>
            <a:ext cx="10972800" cy="177800"/>
          </a:xfrm>
          <a:prstGeom prst="rect">
            <a:avLst/>
          </a:prstGeom>
          <a:noFill/>
        </p:spPr>
        <p:txBody>
          <a:bodyPr vert="horz" wrap="square" lIns="0" tIns="0" rIns="0" bIns="0" rtlCol="0" anchor="t">
            <a:noAutofit/>
          </a:bodyPr>
          <a:lstStyle/>
          <a:p>
            <a:r>
              <a:rPr lang="es-BO" sz="900" spc="180">
                <a:solidFill>
                  <a:srgbClr val="8A6A2F"/>
                </a:solidFill>
                <a:latin typeface="Segoe UI Semibold" panose="020B0702040204020203" pitchFamily="34" charset="0"/>
              </a:rPr>
              <a:t>SÍNTESIS</a:t>
            </a:r>
          </a:p>
        </p:txBody>
      </p:sp>
      <p:sp>
        <p:nvSpPr>
          <p:cNvPr id="3" name="Title">
            <a:extLst>
              <a:ext uri="{FF2B5EF4-FFF2-40B4-BE49-F238E27FC236}">
                <a16:creationId xmlns:a16="http://schemas.microsoft.com/office/drawing/2014/main" id="{1D6C40B2-0264-E46B-FF1C-E8E6D2FC5649}"/>
              </a:ext>
            </a:extLst>
          </p:cNvPr>
          <p:cNvSpPr txBox="1"/>
          <p:nvPr/>
        </p:nvSpPr>
        <p:spPr>
          <a:xfrm>
            <a:off x="609600" y="609600"/>
            <a:ext cx="10972800" cy="508000"/>
          </a:xfrm>
          <a:prstGeom prst="rect">
            <a:avLst/>
          </a:prstGeom>
          <a:noFill/>
        </p:spPr>
        <p:txBody>
          <a:bodyPr vert="horz" wrap="square" lIns="0" tIns="0" rIns="0" bIns="0" rtlCol="0" anchor="t">
            <a:noAutofit/>
          </a:bodyPr>
          <a:lstStyle/>
          <a:p>
            <a:r>
              <a:rPr lang="es-BO" sz="2700">
                <a:solidFill>
                  <a:srgbClr val="FFFFFF"/>
                </a:solidFill>
                <a:latin typeface="Bahnschrift SemiBold" panose="020B0502040204020203" pitchFamily="34" charset="0"/>
              </a:rPr>
              <a:t>Ideas para llevarse</a:t>
            </a:r>
          </a:p>
        </p:txBody>
      </p:sp>
      <p:cxnSp>
        <p:nvCxnSpPr>
          <p:cNvPr id="4" name="Conector recto 3">
            <a:extLst>
              <a:ext uri="{FF2B5EF4-FFF2-40B4-BE49-F238E27FC236}">
                <a16:creationId xmlns:a16="http://schemas.microsoft.com/office/drawing/2014/main" id="{3A615C44-EAA2-766E-1152-3C697B516F17}"/>
              </a:ext>
            </a:extLst>
          </p:cNvPr>
          <p:cNvCxnSpPr/>
          <p:nvPr/>
        </p:nvCxnSpPr>
        <p:spPr>
          <a:xfrm>
            <a:off x="609600" y="1206500"/>
            <a:ext cx="10972800" cy="0"/>
          </a:xfrm>
          <a:prstGeom prst="line">
            <a:avLst/>
          </a:prstGeom>
          <a:ln w="9525">
            <a:solidFill>
              <a:srgbClr val="DCD5C7"/>
            </a:solidFill>
            <a:prstDash val="solid"/>
          </a:ln>
        </p:spPr>
        <p:style>
          <a:lnRef idx="1">
            <a:schemeClr val="accent1"/>
          </a:lnRef>
          <a:fillRef idx="0">
            <a:schemeClr val="accent1"/>
          </a:fillRef>
          <a:effectRef idx="0">
            <a:schemeClr val="accent1"/>
          </a:effectRef>
          <a:fontRef idx="minor">
            <a:schemeClr val="tx1"/>
          </a:fontRef>
        </p:style>
      </p:cxnSp>
      <p:sp>
        <p:nvSpPr>
          <p:cNvPr id="6" name="Rectángulo 5">
            <a:extLst>
              <a:ext uri="{FF2B5EF4-FFF2-40B4-BE49-F238E27FC236}">
                <a16:creationId xmlns:a16="http://schemas.microsoft.com/office/drawing/2014/main" id="{B76BE573-81D7-2ACD-ED84-97AF29F624F6}"/>
              </a:ext>
            </a:extLst>
          </p:cNvPr>
          <p:cNvSpPr/>
          <p:nvPr/>
        </p:nvSpPr>
        <p:spPr>
          <a:xfrm>
            <a:off x="609600" y="1498600"/>
            <a:ext cx="5334000" cy="1295400"/>
          </a:xfrm>
          <a:prstGeom prst="rect">
            <a:avLst/>
          </a:prstGeom>
          <a:solidFill>
            <a:srgbClr val="241F18"/>
          </a:solidFill>
          <a:ln w="6350">
            <a:solidFill>
              <a:srgbClr val="3A322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7" name="CuadroTexto 6">
            <a:extLst>
              <a:ext uri="{FF2B5EF4-FFF2-40B4-BE49-F238E27FC236}">
                <a16:creationId xmlns:a16="http://schemas.microsoft.com/office/drawing/2014/main" id="{ACE8A05F-15B3-7C08-6745-28EB4BA040ED}"/>
              </a:ext>
            </a:extLst>
          </p:cNvPr>
          <p:cNvSpPr txBox="1"/>
          <p:nvPr/>
        </p:nvSpPr>
        <p:spPr>
          <a:xfrm>
            <a:off x="863600" y="1676400"/>
            <a:ext cx="762000" cy="508000"/>
          </a:xfrm>
          <a:prstGeom prst="rect">
            <a:avLst/>
          </a:prstGeom>
          <a:noFill/>
        </p:spPr>
        <p:txBody>
          <a:bodyPr vert="horz" wrap="square" lIns="0" tIns="0" rIns="0" bIns="0" rtlCol="0" anchor="t">
            <a:noAutofit/>
          </a:bodyPr>
          <a:lstStyle/>
          <a:p>
            <a:r>
              <a:rPr lang="es-BO" sz="2800">
                <a:solidFill>
                  <a:srgbClr val="C9A66B"/>
                </a:solidFill>
                <a:latin typeface="Bahnschrift Light" panose="020B0502040204020203" pitchFamily="34" charset="0"/>
              </a:rPr>
              <a:t>01</a:t>
            </a:r>
          </a:p>
        </p:txBody>
      </p:sp>
      <p:sp>
        <p:nvSpPr>
          <p:cNvPr id="8" name="CuadroTexto 7">
            <a:extLst>
              <a:ext uri="{FF2B5EF4-FFF2-40B4-BE49-F238E27FC236}">
                <a16:creationId xmlns:a16="http://schemas.microsoft.com/office/drawing/2014/main" id="{F76C808B-2519-A93E-AABB-98E4282A5276}"/>
              </a:ext>
            </a:extLst>
          </p:cNvPr>
          <p:cNvSpPr txBox="1"/>
          <p:nvPr/>
        </p:nvSpPr>
        <p:spPr>
          <a:xfrm>
            <a:off x="1625600" y="1676400"/>
            <a:ext cx="4089400" cy="965200"/>
          </a:xfrm>
          <a:prstGeom prst="rect">
            <a:avLst/>
          </a:prstGeom>
          <a:noFill/>
        </p:spPr>
        <p:txBody>
          <a:bodyPr vert="horz" wrap="square" lIns="0" tIns="0" rIns="0" bIns="0" rtlCol="0" anchor="ctr">
            <a:noAutofit/>
          </a:bodyPr>
          <a:lstStyle/>
          <a:p>
            <a:pPr algn="l"/>
            <a:r>
              <a:rPr lang="es-MX" sz="1250">
                <a:solidFill>
                  <a:srgbClr val="FFFFFF"/>
                </a:solidFill>
                <a:latin typeface="Segoe UI" panose="020B0502040204020203" pitchFamily="34" charset="0"/>
              </a:rPr>
              <a:t>Lo existente se recalcula con las propiedades medidas en la clase 5, nunca con las del proyecto original.</a:t>
            </a:r>
            <a:endParaRPr lang="es-BO" sz="1250">
              <a:solidFill>
                <a:srgbClr val="FFFFFF"/>
              </a:solidFill>
              <a:latin typeface="Segoe UI" panose="020B0502040204020203" pitchFamily="34" charset="0"/>
            </a:endParaRPr>
          </a:p>
        </p:txBody>
      </p:sp>
      <p:sp>
        <p:nvSpPr>
          <p:cNvPr id="9" name="Rectángulo 8">
            <a:extLst>
              <a:ext uri="{FF2B5EF4-FFF2-40B4-BE49-F238E27FC236}">
                <a16:creationId xmlns:a16="http://schemas.microsoft.com/office/drawing/2014/main" id="{25FB49A0-94A7-487A-FF3B-267A700D5C71}"/>
              </a:ext>
            </a:extLst>
          </p:cNvPr>
          <p:cNvSpPr/>
          <p:nvPr/>
        </p:nvSpPr>
        <p:spPr>
          <a:xfrm>
            <a:off x="6248400" y="1498600"/>
            <a:ext cx="5334000" cy="1295400"/>
          </a:xfrm>
          <a:prstGeom prst="rect">
            <a:avLst/>
          </a:prstGeom>
          <a:solidFill>
            <a:srgbClr val="241F18"/>
          </a:solidFill>
          <a:ln w="6350">
            <a:solidFill>
              <a:srgbClr val="3A322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0" name="CuadroTexto 9">
            <a:extLst>
              <a:ext uri="{FF2B5EF4-FFF2-40B4-BE49-F238E27FC236}">
                <a16:creationId xmlns:a16="http://schemas.microsoft.com/office/drawing/2014/main" id="{5C4E6B8D-ED47-078F-3844-7AC0D419E740}"/>
              </a:ext>
            </a:extLst>
          </p:cNvPr>
          <p:cNvSpPr txBox="1"/>
          <p:nvPr/>
        </p:nvSpPr>
        <p:spPr>
          <a:xfrm>
            <a:off x="6502400" y="1676400"/>
            <a:ext cx="762000" cy="508000"/>
          </a:xfrm>
          <a:prstGeom prst="rect">
            <a:avLst/>
          </a:prstGeom>
          <a:noFill/>
        </p:spPr>
        <p:txBody>
          <a:bodyPr vert="horz" wrap="square" lIns="0" tIns="0" rIns="0" bIns="0" rtlCol="0" anchor="t">
            <a:noAutofit/>
          </a:bodyPr>
          <a:lstStyle/>
          <a:p>
            <a:r>
              <a:rPr lang="es-BO" sz="2800">
                <a:solidFill>
                  <a:srgbClr val="C9A66B"/>
                </a:solidFill>
                <a:latin typeface="Bahnschrift Light" panose="020B0502040204020203" pitchFamily="34" charset="0"/>
              </a:rPr>
              <a:t>02</a:t>
            </a:r>
          </a:p>
        </p:txBody>
      </p:sp>
      <p:sp>
        <p:nvSpPr>
          <p:cNvPr id="11" name="CuadroTexto 10">
            <a:extLst>
              <a:ext uri="{FF2B5EF4-FFF2-40B4-BE49-F238E27FC236}">
                <a16:creationId xmlns:a16="http://schemas.microsoft.com/office/drawing/2014/main" id="{4D6BFDE2-D57A-7440-AC38-29C968373EE9}"/>
              </a:ext>
            </a:extLst>
          </p:cNvPr>
          <p:cNvSpPr txBox="1"/>
          <p:nvPr/>
        </p:nvSpPr>
        <p:spPr>
          <a:xfrm>
            <a:off x="7264400" y="1676400"/>
            <a:ext cx="4089400" cy="965200"/>
          </a:xfrm>
          <a:prstGeom prst="rect">
            <a:avLst/>
          </a:prstGeom>
          <a:noFill/>
        </p:spPr>
        <p:txBody>
          <a:bodyPr vert="horz" wrap="square" lIns="0" tIns="0" rIns="0" bIns="0" rtlCol="0" anchor="ctr">
            <a:noAutofit/>
          </a:bodyPr>
          <a:lstStyle/>
          <a:p>
            <a:pPr algn="l"/>
            <a:r>
              <a:rPr lang="es-MX" sz="1250">
                <a:solidFill>
                  <a:srgbClr val="FFFFFF"/>
                </a:solidFill>
                <a:latin typeface="Segoe UI" panose="020B0502040204020203" pitchFamily="34" charset="0"/>
              </a:rPr>
              <a:t>Capacidad frente a demanda decide; los requisitos prescriptivos se declaran y se evalúan, no se ignoran.</a:t>
            </a:r>
            <a:endParaRPr lang="es-BO" sz="1250">
              <a:solidFill>
                <a:srgbClr val="FFFFFF"/>
              </a:solidFill>
              <a:latin typeface="Segoe UI" panose="020B0502040204020203" pitchFamily="34" charset="0"/>
            </a:endParaRPr>
          </a:p>
        </p:txBody>
      </p:sp>
      <p:sp>
        <p:nvSpPr>
          <p:cNvPr id="12" name="Rectángulo 11">
            <a:extLst>
              <a:ext uri="{FF2B5EF4-FFF2-40B4-BE49-F238E27FC236}">
                <a16:creationId xmlns:a16="http://schemas.microsoft.com/office/drawing/2014/main" id="{D1090AE7-6867-FD3A-D1DF-8FD28BCC27FA}"/>
              </a:ext>
            </a:extLst>
          </p:cNvPr>
          <p:cNvSpPr/>
          <p:nvPr/>
        </p:nvSpPr>
        <p:spPr>
          <a:xfrm>
            <a:off x="609600" y="2971800"/>
            <a:ext cx="5334000" cy="1295400"/>
          </a:xfrm>
          <a:prstGeom prst="rect">
            <a:avLst/>
          </a:prstGeom>
          <a:solidFill>
            <a:srgbClr val="241F18"/>
          </a:solidFill>
          <a:ln w="6350">
            <a:solidFill>
              <a:srgbClr val="3A322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3" name="CuadroTexto 12">
            <a:extLst>
              <a:ext uri="{FF2B5EF4-FFF2-40B4-BE49-F238E27FC236}">
                <a16:creationId xmlns:a16="http://schemas.microsoft.com/office/drawing/2014/main" id="{F6860219-9B4B-7B75-62E0-AB9326721281}"/>
              </a:ext>
            </a:extLst>
          </p:cNvPr>
          <p:cNvSpPr txBox="1"/>
          <p:nvPr/>
        </p:nvSpPr>
        <p:spPr>
          <a:xfrm>
            <a:off x="863600" y="3149600"/>
            <a:ext cx="762000" cy="508000"/>
          </a:xfrm>
          <a:prstGeom prst="rect">
            <a:avLst/>
          </a:prstGeom>
          <a:noFill/>
        </p:spPr>
        <p:txBody>
          <a:bodyPr vert="horz" wrap="square" lIns="0" tIns="0" rIns="0" bIns="0" rtlCol="0" anchor="t">
            <a:noAutofit/>
          </a:bodyPr>
          <a:lstStyle/>
          <a:p>
            <a:r>
              <a:rPr lang="es-BO" sz="2800">
                <a:solidFill>
                  <a:srgbClr val="C9A66B"/>
                </a:solidFill>
                <a:latin typeface="Bahnschrift Light" panose="020B0502040204020203" pitchFamily="34" charset="0"/>
              </a:rPr>
              <a:t>03</a:t>
            </a:r>
          </a:p>
        </p:txBody>
      </p:sp>
      <p:sp>
        <p:nvSpPr>
          <p:cNvPr id="14" name="CuadroTexto 13">
            <a:extLst>
              <a:ext uri="{FF2B5EF4-FFF2-40B4-BE49-F238E27FC236}">
                <a16:creationId xmlns:a16="http://schemas.microsoft.com/office/drawing/2014/main" id="{94F61BF8-6EA0-22C0-30DA-C60A8B9E9771}"/>
              </a:ext>
            </a:extLst>
          </p:cNvPr>
          <p:cNvSpPr txBox="1"/>
          <p:nvPr/>
        </p:nvSpPr>
        <p:spPr>
          <a:xfrm>
            <a:off x="1625600" y="3149600"/>
            <a:ext cx="4089400" cy="965200"/>
          </a:xfrm>
          <a:prstGeom prst="rect">
            <a:avLst/>
          </a:prstGeom>
          <a:noFill/>
        </p:spPr>
        <p:txBody>
          <a:bodyPr vert="horz" wrap="square" lIns="0" tIns="0" rIns="0" bIns="0" rtlCol="0" anchor="ctr">
            <a:noAutofit/>
          </a:bodyPr>
          <a:lstStyle/>
          <a:p>
            <a:pPr algn="l"/>
            <a:r>
              <a:rPr lang="es-MX" sz="1250">
                <a:solidFill>
                  <a:srgbClr val="FFFFFF"/>
                </a:solidFill>
                <a:latin typeface="Segoe UI" panose="020B0502040204020203" pitchFamily="34" charset="0"/>
              </a:rPr>
              <a:t>Reforzar es la última opción: demostrar con números que no hace falta es la conclusión más frecuente y más rentable.</a:t>
            </a:r>
            <a:endParaRPr lang="es-BO" sz="1250">
              <a:solidFill>
                <a:srgbClr val="FFFFFF"/>
              </a:solidFill>
              <a:latin typeface="Segoe UI" panose="020B0502040204020203" pitchFamily="34" charset="0"/>
            </a:endParaRPr>
          </a:p>
        </p:txBody>
      </p:sp>
      <p:sp>
        <p:nvSpPr>
          <p:cNvPr id="15" name="Rectángulo 14">
            <a:extLst>
              <a:ext uri="{FF2B5EF4-FFF2-40B4-BE49-F238E27FC236}">
                <a16:creationId xmlns:a16="http://schemas.microsoft.com/office/drawing/2014/main" id="{BEAE11EC-9784-F207-CB38-5A4DAF1B3C00}"/>
              </a:ext>
            </a:extLst>
          </p:cNvPr>
          <p:cNvSpPr/>
          <p:nvPr/>
        </p:nvSpPr>
        <p:spPr>
          <a:xfrm>
            <a:off x="6248400" y="2971800"/>
            <a:ext cx="5334000" cy="1295400"/>
          </a:xfrm>
          <a:prstGeom prst="rect">
            <a:avLst/>
          </a:prstGeom>
          <a:solidFill>
            <a:srgbClr val="241F18"/>
          </a:solidFill>
          <a:ln w="6350">
            <a:solidFill>
              <a:srgbClr val="3A322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6" name="CuadroTexto 15">
            <a:extLst>
              <a:ext uri="{FF2B5EF4-FFF2-40B4-BE49-F238E27FC236}">
                <a16:creationId xmlns:a16="http://schemas.microsoft.com/office/drawing/2014/main" id="{2F62C238-7F48-EA13-DA5E-689F67B6BE05}"/>
              </a:ext>
            </a:extLst>
          </p:cNvPr>
          <p:cNvSpPr txBox="1"/>
          <p:nvPr/>
        </p:nvSpPr>
        <p:spPr>
          <a:xfrm>
            <a:off x="6502400" y="3149600"/>
            <a:ext cx="762000" cy="508000"/>
          </a:xfrm>
          <a:prstGeom prst="rect">
            <a:avLst/>
          </a:prstGeom>
          <a:noFill/>
        </p:spPr>
        <p:txBody>
          <a:bodyPr vert="horz" wrap="square" lIns="0" tIns="0" rIns="0" bIns="0" rtlCol="0" anchor="t">
            <a:noAutofit/>
          </a:bodyPr>
          <a:lstStyle/>
          <a:p>
            <a:r>
              <a:rPr lang="es-BO" sz="2800">
                <a:solidFill>
                  <a:srgbClr val="C9A66B"/>
                </a:solidFill>
                <a:latin typeface="Bahnschrift Light" panose="020B0502040204020203" pitchFamily="34" charset="0"/>
              </a:rPr>
              <a:t>04</a:t>
            </a:r>
          </a:p>
        </p:txBody>
      </p:sp>
      <p:sp>
        <p:nvSpPr>
          <p:cNvPr id="17" name="CuadroTexto 16">
            <a:extLst>
              <a:ext uri="{FF2B5EF4-FFF2-40B4-BE49-F238E27FC236}">
                <a16:creationId xmlns:a16="http://schemas.microsoft.com/office/drawing/2014/main" id="{B8075726-445F-A131-36CD-936B9BD7A1E5}"/>
              </a:ext>
            </a:extLst>
          </p:cNvPr>
          <p:cNvSpPr txBox="1"/>
          <p:nvPr/>
        </p:nvSpPr>
        <p:spPr>
          <a:xfrm>
            <a:off x="7264400" y="3149600"/>
            <a:ext cx="4089400" cy="965200"/>
          </a:xfrm>
          <a:prstGeom prst="rect">
            <a:avLst/>
          </a:prstGeom>
          <a:noFill/>
        </p:spPr>
        <p:txBody>
          <a:bodyPr vert="horz" wrap="square" lIns="0" tIns="0" rIns="0" bIns="0" rtlCol="0" anchor="ctr">
            <a:noAutofit/>
          </a:bodyPr>
          <a:lstStyle/>
          <a:p>
            <a:pPr algn="l"/>
            <a:r>
              <a:rPr lang="es-MX" sz="1250">
                <a:solidFill>
                  <a:srgbClr val="FFFFFF"/>
                </a:solidFill>
                <a:latin typeface="Segoe UI" panose="020B0502040204020203" pitchFamily="34" charset="0"/>
              </a:rPr>
              <a:t>El encamisado sin apeo no recibe la carga que ya actuaba; la fibra de carbono falla por despegue, no por rotura.</a:t>
            </a:r>
            <a:endParaRPr lang="es-BO" sz="1250">
              <a:solidFill>
                <a:srgbClr val="FFFFFF"/>
              </a:solidFill>
              <a:latin typeface="Segoe UI" panose="020B0502040204020203" pitchFamily="34" charset="0"/>
            </a:endParaRPr>
          </a:p>
        </p:txBody>
      </p:sp>
      <p:sp>
        <p:nvSpPr>
          <p:cNvPr id="18" name="Rectángulo 17">
            <a:extLst>
              <a:ext uri="{FF2B5EF4-FFF2-40B4-BE49-F238E27FC236}">
                <a16:creationId xmlns:a16="http://schemas.microsoft.com/office/drawing/2014/main" id="{608D6CF1-C416-07CD-6058-91895DFC4DF7}"/>
              </a:ext>
            </a:extLst>
          </p:cNvPr>
          <p:cNvSpPr/>
          <p:nvPr/>
        </p:nvSpPr>
        <p:spPr>
          <a:xfrm>
            <a:off x="609600" y="4445000"/>
            <a:ext cx="5334000" cy="1295400"/>
          </a:xfrm>
          <a:prstGeom prst="rect">
            <a:avLst/>
          </a:prstGeom>
          <a:solidFill>
            <a:srgbClr val="241F18"/>
          </a:solidFill>
          <a:ln w="6350">
            <a:solidFill>
              <a:srgbClr val="3A322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19" name="CuadroTexto 18">
            <a:extLst>
              <a:ext uri="{FF2B5EF4-FFF2-40B4-BE49-F238E27FC236}">
                <a16:creationId xmlns:a16="http://schemas.microsoft.com/office/drawing/2014/main" id="{5DB470CC-9A05-9D62-A1D6-F7931031D71E}"/>
              </a:ext>
            </a:extLst>
          </p:cNvPr>
          <p:cNvSpPr txBox="1"/>
          <p:nvPr/>
        </p:nvSpPr>
        <p:spPr>
          <a:xfrm>
            <a:off x="863600" y="4622800"/>
            <a:ext cx="762000" cy="508000"/>
          </a:xfrm>
          <a:prstGeom prst="rect">
            <a:avLst/>
          </a:prstGeom>
          <a:noFill/>
        </p:spPr>
        <p:txBody>
          <a:bodyPr vert="horz" wrap="square" lIns="0" tIns="0" rIns="0" bIns="0" rtlCol="0" anchor="t">
            <a:noAutofit/>
          </a:bodyPr>
          <a:lstStyle/>
          <a:p>
            <a:r>
              <a:rPr lang="es-BO" sz="2800">
                <a:solidFill>
                  <a:srgbClr val="C9A66B"/>
                </a:solidFill>
                <a:latin typeface="Bahnschrift Light" panose="020B0502040204020203" pitchFamily="34" charset="0"/>
              </a:rPr>
              <a:t>05</a:t>
            </a:r>
          </a:p>
        </p:txBody>
      </p:sp>
      <p:sp>
        <p:nvSpPr>
          <p:cNvPr id="20" name="CuadroTexto 19">
            <a:extLst>
              <a:ext uri="{FF2B5EF4-FFF2-40B4-BE49-F238E27FC236}">
                <a16:creationId xmlns:a16="http://schemas.microsoft.com/office/drawing/2014/main" id="{ECF0ED0E-8032-D42F-6E36-67CD10133E4F}"/>
              </a:ext>
            </a:extLst>
          </p:cNvPr>
          <p:cNvSpPr txBox="1"/>
          <p:nvPr/>
        </p:nvSpPr>
        <p:spPr>
          <a:xfrm>
            <a:off x="1625600" y="4622800"/>
            <a:ext cx="4089400" cy="965200"/>
          </a:xfrm>
          <a:prstGeom prst="rect">
            <a:avLst/>
          </a:prstGeom>
          <a:noFill/>
        </p:spPr>
        <p:txBody>
          <a:bodyPr vert="horz" wrap="square" lIns="0" tIns="0" rIns="0" bIns="0" rtlCol="0" anchor="ctr">
            <a:noAutofit/>
          </a:bodyPr>
          <a:lstStyle/>
          <a:p>
            <a:pPr algn="l"/>
            <a:r>
              <a:rPr lang="es-MX" sz="1250">
                <a:solidFill>
                  <a:srgbClr val="FFFFFF"/>
                </a:solidFill>
                <a:latin typeface="Segoe UI" panose="020B0502040204020203" pitchFamily="34" charset="0"/>
              </a:rPr>
              <a:t>En un recalce, el ensanche solo trabaja si la conexión se comprueba a cortante por fricción con superficie rugosa.</a:t>
            </a:r>
            <a:endParaRPr lang="es-BO" sz="1250">
              <a:solidFill>
                <a:srgbClr val="FFFFFF"/>
              </a:solidFill>
              <a:latin typeface="Segoe UI" panose="020B0502040204020203" pitchFamily="34" charset="0"/>
            </a:endParaRPr>
          </a:p>
        </p:txBody>
      </p:sp>
      <p:sp>
        <p:nvSpPr>
          <p:cNvPr id="21" name="Rectángulo 20">
            <a:extLst>
              <a:ext uri="{FF2B5EF4-FFF2-40B4-BE49-F238E27FC236}">
                <a16:creationId xmlns:a16="http://schemas.microsoft.com/office/drawing/2014/main" id="{4D6EC6A8-3567-8259-AC67-C973F72F0C38}"/>
              </a:ext>
            </a:extLst>
          </p:cNvPr>
          <p:cNvSpPr/>
          <p:nvPr/>
        </p:nvSpPr>
        <p:spPr>
          <a:xfrm>
            <a:off x="6248400" y="4445000"/>
            <a:ext cx="5334000" cy="1295400"/>
          </a:xfrm>
          <a:prstGeom prst="rect">
            <a:avLst/>
          </a:prstGeom>
          <a:solidFill>
            <a:srgbClr val="241F18"/>
          </a:solidFill>
          <a:ln w="6350">
            <a:solidFill>
              <a:srgbClr val="3A322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22" name="CuadroTexto 21">
            <a:extLst>
              <a:ext uri="{FF2B5EF4-FFF2-40B4-BE49-F238E27FC236}">
                <a16:creationId xmlns:a16="http://schemas.microsoft.com/office/drawing/2014/main" id="{1A2482D8-7DBE-1624-24A2-4DF82BC2A848}"/>
              </a:ext>
            </a:extLst>
          </p:cNvPr>
          <p:cNvSpPr txBox="1"/>
          <p:nvPr/>
        </p:nvSpPr>
        <p:spPr>
          <a:xfrm>
            <a:off x="6502400" y="4622800"/>
            <a:ext cx="762000" cy="508000"/>
          </a:xfrm>
          <a:prstGeom prst="rect">
            <a:avLst/>
          </a:prstGeom>
          <a:noFill/>
        </p:spPr>
        <p:txBody>
          <a:bodyPr vert="horz" wrap="square" lIns="0" tIns="0" rIns="0" bIns="0" rtlCol="0" anchor="t">
            <a:noAutofit/>
          </a:bodyPr>
          <a:lstStyle/>
          <a:p>
            <a:r>
              <a:rPr lang="es-BO" sz="2800">
                <a:solidFill>
                  <a:srgbClr val="C9A66B"/>
                </a:solidFill>
                <a:latin typeface="Bahnschrift Light" panose="020B0502040204020203" pitchFamily="34" charset="0"/>
              </a:rPr>
              <a:t>06</a:t>
            </a:r>
          </a:p>
        </p:txBody>
      </p:sp>
      <p:sp>
        <p:nvSpPr>
          <p:cNvPr id="23" name="CuadroTexto 22">
            <a:extLst>
              <a:ext uri="{FF2B5EF4-FFF2-40B4-BE49-F238E27FC236}">
                <a16:creationId xmlns:a16="http://schemas.microsoft.com/office/drawing/2014/main" id="{4C03495D-7394-1BAE-0F76-05EB442DC1CC}"/>
              </a:ext>
            </a:extLst>
          </p:cNvPr>
          <p:cNvSpPr txBox="1"/>
          <p:nvPr/>
        </p:nvSpPr>
        <p:spPr>
          <a:xfrm>
            <a:off x="7264400" y="4622800"/>
            <a:ext cx="4089400" cy="965200"/>
          </a:xfrm>
          <a:prstGeom prst="rect">
            <a:avLst/>
          </a:prstGeom>
          <a:noFill/>
        </p:spPr>
        <p:txBody>
          <a:bodyPr vert="horz" wrap="square" lIns="0" tIns="0" rIns="0" bIns="0" rtlCol="0" anchor="ctr">
            <a:noAutofit/>
          </a:bodyPr>
          <a:lstStyle/>
          <a:p>
            <a:pPr algn="l"/>
            <a:r>
              <a:rPr lang="es-MX" sz="1250">
                <a:solidFill>
                  <a:srgbClr val="FFFFFF"/>
                </a:solidFill>
                <a:latin typeface="Segoe UI" panose="020B0502040204020203" pitchFamily="34" charset="0"/>
              </a:rPr>
              <a:t>Un diagnóstico sin plan de mantenimiento con fechas y responsables caduca el día que se entrega.</a:t>
            </a:r>
            <a:endParaRPr lang="es-BO" sz="1250">
              <a:solidFill>
                <a:srgbClr val="FFFFFF"/>
              </a:solidFill>
              <a:latin typeface="Segoe UI" panose="020B0502040204020203" pitchFamily="34" charset="0"/>
            </a:endParaRPr>
          </a:p>
        </p:txBody>
      </p:sp>
      <p:cxnSp>
        <p:nvCxnSpPr>
          <p:cNvPr id="24" name="Conector recto 23">
            <a:extLst>
              <a:ext uri="{FF2B5EF4-FFF2-40B4-BE49-F238E27FC236}">
                <a16:creationId xmlns:a16="http://schemas.microsoft.com/office/drawing/2014/main" id="{E11A767A-1354-A897-30EE-D015D12A798F}"/>
              </a:ext>
            </a:extLst>
          </p:cNvPr>
          <p:cNvCxnSpPr/>
          <p:nvPr/>
        </p:nvCxnSpPr>
        <p:spPr>
          <a:xfrm>
            <a:off x="609600" y="6527800"/>
            <a:ext cx="10972800" cy="0"/>
          </a:xfrm>
          <a:prstGeom prst="line">
            <a:avLst/>
          </a:prstGeom>
          <a:ln w="6350">
            <a:solidFill>
              <a:srgbClr val="3A3227"/>
            </a:solidFill>
            <a:prstDash val="solid"/>
          </a:ln>
        </p:spPr>
        <p:style>
          <a:lnRef idx="1">
            <a:schemeClr val="accent1"/>
          </a:lnRef>
          <a:fillRef idx="0">
            <a:schemeClr val="accent1"/>
          </a:fillRef>
          <a:effectRef idx="0">
            <a:schemeClr val="accent1"/>
          </a:effectRef>
          <a:fontRef idx="minor">
            <a:schemeClr val="tx1"/>
          </a:fontRef>
        </p:style>
      </p:cxnSp>
      <p:sp>
        <p:nvSpPr>
          <p:cNvPr id="25" name="CuadroTexto 24">
            <a:extLst>
              <a:ext uri="{FF2B5EF4-FFF2-40B4-BE49-F238E27FC236}">
                <a16:creationId xmlns:a16="http://schemas.microsoft.com/office/drawing/2014/main" id="{3A0802B4-FD1B-75E2-787B-1F1811B8DD31}"/>
              </a:ext>
            </a:extLst>
          </p:cNvPr>
          <p:cNvSpPr txBox="1"/>
          <p:nvPr/>
        </p:nvSpPr>
        <p:spPr>
          <a:xfrm>
            <a:off x="609600" y="6604000"/>
            <a:ext cx="2794000" cy="152400"/>
          </a:xfrm>
          <a:prstGeom prst="rect">
            <a:avLst/>
          </a:prstGeom>
          <a:noFill/>
        </p:spPr>
        <p:txBody>
          <a:bodyPr vert="horz" wrap="square" lIns="0" tIns="0" rIns="0" bIns="0" rtlCol="0" anchor="t">
            <a:noAutofit/>
          </a:bodyPr>
          <a:lstStyle/>
          <a:p>
            <a:r>
              <a:rPr lang="es-MX" sz="700" spc="160">
                <a:solidFill>
                  <a:srgbClr val="9C9284"/>
                </a:solidFill>
                <a:latin typeface="Segoe UI Semibold" panose="020B0702040204020203" pitchFamily="34" charset="0"/>
              </a:rPr>
              <a:t>DIAGNÓSTICO DE PATOLOGÍAS, RECUPERACIÓN Y REHABILITACIÓN DEL HORMIGÓN</a:t>
            </a:r>
            <a:endParaRPr lang="es-BO" sz="700" spc="160">
              <a:solidFill>
                <a:srgbClr val="9C9284"/>
              </a:solidFill>
              <a:latin typeface="Segoe UI Semibold" panose="020B0702040204020203" pitchFamily="34" charset="0"/>
            </a:endParaRPr>
          </a:p>
        </p:txBody>
      </p:sp>
      <p:sp>
        <p:nvSpPr>
          <p:cNvPr id="26" name="CuadroTexto 25">
            <a:extLst>
              <a:ext uri="{FF2B5EF4-FFF2-40B4-BE49-F238E27FC236}">
                <a16:creationId xmlns:a16="http://schemas.microsoft.com/office/drawing/2014/main" id="{6E71E2EB-BD64-7C14-AF70-2D95195168D1}"/>
              </a:ext>
            </a:extLst>
          </p:cNvPr>
          <p:cNvSpPr txBox="1"/>
          <p:nvPr/>
        </p:nvSpPr>
        <p:spPr>
          <a:xfrm>
            <a:off x="3937000" y="6604000"/>
            <a:ext cx="4318000" cy="152400"/>
          </a:xfrm>
          <a:prstGeom prst="rect">
            <a:avLst/>
          </a:prstGeom>
          <a:noFill/>
        </p:spPr>
        <p:txBody>
          <a:bodyPr vert="horz" wrap="square" lIns="0" tIns="0" rIns="0" bIns="0" rtlCol="0" anchor="t">
            <a:noAutofit/>
          </a:bodyPr>
          <a:lstStyle/>
          <a:p>
            <a:pPr algn="ctr"/>
            <a:r>
              <a:rPr lang="es-MX" sz="700" spc="130">
                <a:solidFill>
                  <a:srgbClr val="9C9284"/>
                </a:solidFill>
                <a:latin typeface="Segoe UI" panose="020B0502040204020203" pitchFamily="34" charset="0"/>
              </a:rPr>
              <a:t>CLASE 7 · REFUERZO, RECALCE Y GESTIÓN</a:t>
            </a:r>
            <a:endParaRPr lang="es-BO" sz="700" spc="130">
              <a:solidFill>
                <a:srgbClr val="9C9284"/>
              </a:solidFill>
              <a:latin typeface="Segoe UI" panose="020B0502040204020203" pitchFamily="34" charset="0"/>
            </a:endParaRPr>
          </a:p>
        </p:txBody>
      </p:sp>
      <p:sp>
        <p:nvSpPr>
          <p:cNvPr id="27" name="PageNo">
            <a:extLst>
              <a:ext uri="{FF2B5EF4-FFF2-40B4-BE49-F238E27FC236}">
                <a16:creationId xmlns:a16="http://schemas.microsoft.com/office/drawing/2014/main" id="{7C60864B-FD08-3FEB-6D59-5D873CBB250F}"/>
              </a:ext>
            </a:extLst>
          </p:cNvPr>
          <p:cNvSpPr txBox="1"/>
          <p:nvPr/>
        </p:nvSpPr>
        <p:spPr>
          <a:xfrm>
            <a:off x="10439400" y="6578600"/>
            <a:ext cx="1143000" cy="177800"/>
          </a:xfrm>
          <a:prstGeom prst="rect">
            <a:avLst/>
          </a:prstGeom>
          <a:noFill/>
        </p:spPr>
        <p:txBody>
          <a:bodyPr vert="horz" wrap="square" lIns="0" tIns="0" rIns="0" bIns="0" rtlCol="0" anchor="t">
            <a:noAutofit/>
          </a:bodyPr>
          <a:lstStyle/>
          <a:p>
            <a:pPr algn="r"/>
            <a:r>
              <a:rPr lang="es-BO" sz="900">
                <a:solidFill>
                  <a:srgbClr val="C9A66B"/>
                </a:solidFill>
                <a:latin typeface="Bahnschrift SemiBold" panose="020B0502040204020203" pitchFamily="34" charset="0"/>
              </a:rPr>
              <a:t>37 / 38</a:t>
            </a:r>
          </a:p>
        </p:txBody>
      </p:sp>
    </p:spTree>
    <p:extLst>
      <p:ext uri="{BB962C8B-B14F-4D97-AF65-F5344CB8AC3E}">
        <p14:creationId xmlns:p14="http://schemas.microsoft.com/office/powerpoint/2010/main" val="7837322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C1813"/>
        </a:solidFill>
        <a:effectLst/>
      </p:bgPr>
    </p:bg>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F2FB038B-5A37-62AC-59D4-2A64D1D2245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Rectángulo 3">
            <a:extLst>
              <a:ext uri="{FF2B5EF4-FFF2-40B4-BE49-F238E27FC236}">
                <a16:creationId xmlns:a16="http://schemas.microsoft.com/office/drawing/2014/main" id="{442D353C-DC67-51CB-86AE-9D58ED009EAC}"/>
              </a:ext>
            </a:extLst>
          </p:cNvPr>
          <p:cNvSpPr/>
          <p:nvPr/>
        </p:nvSpPr>
        <p:spPr>
          <a:xfrm>
            <a:off x="0" y="0"/>
            <a:ext cx="10668000" cy="6858000"/>
          </a:xfrm>
          <a:prstGeom prst="rect">
            <a:avLst/>
          </a:prstGeom>
          <a:gradFill flip="none" rotWithShape="1">
            <a:gsLst>
              <a:gs pos="0">
                <a:srgbClr val="1C1813"/>
              </a:gs>
              <a:gs pos="100000">
                <a:srgbClr val="1C1813">
                  <a:alpha val="0"/>
                </a:srgbClr>
              </a:gs>
            </a:gsLst>
            <a:lin ang="0" scaled="1"/>
            <a:tileRect/>
          </a:gra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5" name="Rectángulo 4">
            <a:extLst>
              <a:ext uri="{FF2B5EF4-FFF2-40B4-BE49-F238E27FC236}">
                <a16:creationId xmlns:a16="http://schemas.microsoft.com/office/drawing/2014/main" id="{A4E16B44-3A21-E8BC-1E52-69B13434BA6D}"/>
              </a:ext>
            </a:extLst>
          </p:cNvPr>
          <p:cNvSpPr/>
          <p:nvPr/>
        </p:nvSpPr>
        <p:spPr>
          <a:xfrm>
            <a:off x="0" y="0"/>
            <a:ext cx="12192000" cy="6858000"/>
          </a:xfrm>
          <a:prstGeom prst="rect">
            <a:avLst/>
          </a:prstGeom>
          <a:solidFill>
            <a:srgbClr val="1C1813">
              <a:alpha val="40000"/>
            </a:srgb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6" name="Rectángulo 5">
            <a:extLst>
              <a:ext uri="{FF2B5EF4-FFF2-40B4-BE49-F238E27FC236}">
                <a16:creationId xmlns:a16="http://schemas.microsoft.com/office/drawing/2014/main" id="{EBE75EFD-6E96-813D-893C-E2B295C54CE0}"/>
              </a:ext>
            </a:extLst>
          </p:cNvPr>
          <p:cNvSpPr/>
          <p:nvPr/>
        </p:nvSpPr>
        <p:spPr>
          <a:xfrm>
            <a:off x="609600" y="1905000"/>
            <a:ext cx="330200" cy="25400"/>
          </a:xfrm>
          <a:prstGeom prst="rect">
            <a:avLst/>
          </a:prstGeom>
          <a:solidFill>
            <a:srgbClr val="8A6A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BO"/>
          </a:p>
        </p:txBody>
      </p:sp>
      <p:sp>
        <p:nvSpPr>
          <p:cNvPr id="7" name="CuadroTexto 6">
            <a:extLst>
              <a:ext uri="{FF2B5EF4-FFF2-40B4-BE49-F238E27FC236}">
                <a16:creationId xmlns:a16="http://schemas.microsoft.com/office/drawing/2014/main" id="{72AAB96E-D0AD-F349-CE35-66346731FEA3}"/>
              </a:ext>
            </a:extLst>
          </p:cNvPr>
          <p:cNvSpPr txBox="1"/>
          <p:nvPr/>
        </p:nvSpPr>
        <p:spPr>
          <a:xfrm>
            <a:off x="1066800" y="1828800"/>
            <a:ext cx="6350000" cy="177800"/>
          </a:xfrm>
          <a:prstGeom prst="rect">
            <a:avLst/>
          </a:prstGeom>
          <a:noFill/>
        </p:spPr>
        <p:txBody>
          <a:bodyPr vert="horz" wrap="square" lIns="0" tIns="0" rIns="0" bIns="0" rtlCol="0" anchor="t">
            <a:noAutofit/>
          </a:bodyPr>
          <a:lstStyle/>
          <a:p>
            <a:r>
              <a:rPr lang="es-MX" sz="1000" spc="180">
                <a:solidFill>
                  <a:srgbClr val="C9A66B"/>
                </a:solidFill>
                <a:latin typeface="Segoe UI Semibold" panose="020B0702040204020203" pitchFamily="34" charset="0"/>
              </a:rPr>
              <a:t>FIN DE LA CLASE 7</a:t>
            </a:r>
            <a:endParaRPr lang="es-BO" sz="1000" spc="180">
              <a:solidFill>
                <a:srgbClr val="C9A66B"/>
              </a:solidFill>
              <a:latin typeface="Segoe UI Semibold" panose="020B0702040204020203" pitchFamily="34" charset="0"/>
            </a:endParaRPr>
          </a:p>
        </p:txBody>
      </p:sp>
      <p:sp>
        <p:nvSpPr>
          <p:cNvPr id="8" name="Title">
            <a:extLst>
              <a:ext uri="{FF2B5EF4-FFF2-40B4-BE49-F238E27FC236}">
                <a16:creationId xmlns:a16="http://schemas.microsoft.com/office/drawing/2014/main" id="{FD898483-A24F-15C0-9AF9-ED63398B7920}"/>
              </a:ext>
            </a:extLst>
          </p:cNvPr>
          <p:cNvSpPr txBox="1"/>
          <p:nvPr/>
        </p:nvSpPr>
        <p:spPr>
          <a:xfrm>
            <a:off x="584200" y="2184400"/>
            <a:ext cx="7620000" cy="889000"/>
          </a:xfrm>
          <a:prstGeom prst="rect">
            <a:avLst/>
          </a:prstGeom>
          <a:noFill/>
        </p:spPr>
        <p:txBody>
          <a:bodyPr vert="horz" wrap="square" lIns="0" tIns="0" rIns="0" bIns="0" rtlCol="0" anchor="t">
            <a:noAutofit/>
          </a:bodyPr>
          <a:lstStyle/>
          <a:p>
            <a:r>
              <a:rPr lang="es-BO" sz="4400">
                <a:solidFill>
                  <a:srgbClr val="FFFFFF"/>
                </a:solidFill>
                <a:latin typeface="Bahnschrift SemiBold" panose="020B0502040204020203" pitchFamily="34" charset="0"/>
              </a:rPr>
              <a:t>Gracias. ¿Preguntas?</a:t>
            </a:r>
          </a:p>
        </p:txBody>
      </p:sp>
      <p:sp>
        <p:nvSpPr>
          <p:cNvPr id="9" name="CuadroTexto 8">
            <a:extLst>
              <a:ext uri="{FF2B5EF4-FFF2-40B4-BE49-F238E27FC236}">
                <a16:creationId xmlns:a16="http://schemas.microsoft.com/office/drawing/2014/main" id="{A3F3EBB6-4B1D-6765-0AF8-BC38A6F8C0FC}"/>
              </a:ext>
            </a:extLst>
          </p:cNvPr>
          <p:cNvSpPr txBox="1"/>
          <p:nvPr/>
        </p:nvSpPr>
        <p:spPr>
          <a:xfrm>
            <a:off x="609600" y="3327400"/>
            <a:ext cx="6350000" cy="203200"/>
          </a:xfrm>
          <a:prstGeom prst="rect">
            <a:avLst/>
          </a:prstGeom>
          <a:noFill/>
        </p:spPr>
        <p:txBody>
          <a:bodyPr vert="horz" wrap="square" lIns="0" tIns="0" rIns="0" bIns="0" rtlCol="0" anchor="t">
            <a:noAutofit/>
          </a:bodyPr>
          <a:lstStyle/>
          <a:p>
            <a:r>
              <a:rPr lang="es-BO" sz="900" spc="180">
                <a:solidFill>
                  <a:srgbClr val="CFC7B8"/>
                </a:solidFill>
                <a:latin typeface="Segoe UI Semibold" panose="020B0702040204020203" pitchFamily="34" charset="0"/>
              </a:rPr>
              <a:t>FIN DEL CURSO</a:t>
            </a:r>
          </a:p>
        </p:txBody>
      </p:sp>
      <p:sp>
        <p:nvSpPr>
          <p:cNvPr id="10" name="CuadroTexto 9">
            <a:extLst>
              <a:ext uri="{FF2B5EF4-FFF2-40B4-BE49-F238E27FC236}">
                <a16:creationId xmlns:a16="http://schemas.microsoft.com/office/drawing/2014/main" id="{F7A87928-E542-C0C6-545A-782900BBB687}"/>
              </a:ext>
            </a:extLst>
          </p:cNvPr>
          <p:cNvSpPr txBox="1"/>
          <p:nvPr/>
        </p:nvSpPr>
        <p:spPr>
          <a:xfrm>
            <a:off x="609600" y="3581400"/>
            <a:ext cx="7112000" cy="762000"/>
          </a:xfrm>
          <a:prstGeom prst="rect">
            <a:avLst/>
          </a:prstGeom>
          <a:noFill/>
        </p:spPr>
        <p:txBody>
          <a:bodyPr vert="horz" wrap="square" lIns="0" tIns="0" rIns="0" bIns="0" rtlCol="0" anchor="t">
            <a:noAutofit/>
          </a:bodyPr>
          <a:lstStyle/>
          <a:p>
            <a:pPr algn="l"/>
            <a:r>
              <a:rPr lang="es-MX" sz="2000" i="1">
                <a:solidFill>
                  <a:srgbClr val="C9A66B"/>
                </a:solidFill>
                <a:latin typeface="Constantia" panose="02030602050306030303" pitchFamily="18" charset="0"/>
              </a:rPr>
              <a:t>Gracias por estas siete clases. La nave Sector 4 queda diagnosticada, reparada, reforzada y gestionada</a:t>
            </a:r>
            <a:endParaRPr lang="es-BO" sz="2000" i="1">
              <a:solidFill>
                <a:srgbClr val="C9A66B"/>
              </a:solidFill>
              <a:latin typeface="Constantia" panose="02030602050306030303" pitchFamily="18" charset="0"/>
            </a:endParaRPr>
          </a:p>
        </p:txBody>
      </p:sp>
      <p:sp>
        <p:nvSpPr>
          <p:cNvPr id="11" name="CuadroTexto 10">
            <a:extLst>
              <a:ext uri="{FF2B5EF4-FFF2-40B4-BE49-F238E27FC236}">
                <a16:creationId xmlns:a16="http://schemas.microsoft.com/office/drawing/2014/main" id="{E1773549-6224-8446-FCEC-FB6EE655588B}"/>
              </a:ext>
            </a:extLst>
          </p:cNvPr>
          <p:cNvSpPr txBox="1"/>
          <p:nvPr/>
        </p:nvSpPr>
        <p:spPr>
          <a:xfrm>
            <a:off x="609600" y="5435600"/>
            <a:ext cx="6604000" cy="203200"/>
          </a:xfrm>
          <a:prstGeom prst="rect">
            <a:avLst/>
          </a:prstGeom>
          <a:noFill/>
        </p:spPr>
        <p:txBody>
          <a:bodyPr vert="horz" wrap="square" lIns="0" tIns="0" rIns="0" bIns="0" rtlCol="0" anchor="t">
            <a:noAutofit/>
          </a:bodyPr>
          <a:lstStyle/>
          <a:p>
            <a:pPr algn="l"/>
            <a:r>
              <a:rPr lang="nn-NO" sz="1300">
                <a:solidFill>
                  <a:srgbClr val="FFFFFF"/>
                </a:solidFill>
                <a:latin typeface="Bahnschrift SemiBold" panose="020B0502040204020203" pitchFamily="34" charset="0"/>
              </a:rPr>
              <a:t>Ing. Kevin Yerko Vera Careaga</a:t>
            </a:r>
            <a:endParaRPr lang="es-BO" sz="1300">
              <a:solidFill>
                <a:srgbClr val="FFFFFF"/>
              </a:solidFill>
              <a:latin typeface="Bahnschrift SemiBold" panose="020B0502040204020203" pitchFamily="34" charset="0"/>
            </a:endParaRPr>
          </a:p>
        </p:txBody>
      </p:sp>
      <p:sp>
        <p:nvSpPr>
          <p:cNvPr id="12" name="CuadroTexto 11">
            <a:extLst>
              <a:ext uri="{FF2B5EF4-FFF2-40B4-BE49-F238E27FC236}">
                <a16:creationId xmlns:a16="http://schemas.microsoft.com/office/drawing/2014/main" id="{CDC2DD8A-BECC-772A-3E89-3266C6879D4D}"/>
              </a:ext>
            </a:extLst>
          </p:cNvPr>
          <p:cNvSpPr txBox="1"/>
          <p:nvPr/>
        </p:nvSpPr>
        <p:spPr>
          <a:xfrm>
            <a:off x="609600" y="5676900"/>
            <a:ext cx="7620000" cy="381000"/>
          </a:xfrm>
          <a:prstGeom prst="rect">
            <a:avLst/>
          </a:prstGeom>
          <a:noFill/>
        </p:spPr>
        <p:txBody>
          <a:bodyPr vert="horz" wrap="square" lIns="0" tIns="0" rIns="0" bIns="0" rtlCol="0" anchor="t">
            <a:noAutofit/>
          </a:bodyPr>
          <a:lstStyle/>
          <a:p>
            <a:pPr algn="l"/>
            <a:r>
              <a:rPr lang="es-MX" sz="1050">
                <a:solidFill>
                  <a:srgbClr val="CFC7B8"/>
                </a:solidFill>
                <a:latin typeface="Segoe UI" panose="020B0502040204020203" pitchFamily="34" charset="0"/>
              </a:rPr>
              <a:t>Ingeniero Civil · NRI 57148</a:t>
            </a:r>
          </a:p>
          <a:p>
            <a:pPr algn="l"/>
            <a:r>
              <a:rPr lang="es-MX" sz="1050">
                <a:solidFill>
                  <a:srgbClr val="CFC7B8"/>
                </a:solidFill>
                <a:latin typeface="Segoe UI" panose="020B0502040204020203" pitchFamily="34" charset="0"/>
              </a:rPr>
              <a:t>kevin.yerko.vc@gmail.com  ·  +591 78406014  ·  La Paz, Bolivia</a:t>
            </a:r>
            <a:endParaRPr lang="es-BO" sz="1050">
              <a:solidFill>
                <a:srgbClr val="CFC7B8"/>
              </a:solidFill>
              <a:latin typeface="Segoe UI" panose="020B0502040204020203" pitchFamily="34" charset="0"/>
            </a:endParaRPr>
          </a:p>
        </p:txBody>
      </p:sp>
      <p:sp>
        <p:nvSpPr>
          <p:cNvPr id="13" name="Monograma">
            <a:extLst>
              <a:ext uri="{FF2B5EF4-FFF2-40B4-BE49-F238E27FC236}">
                <a16:creationId xmlns:a16="http://schemas.microsoft.com/office/drawing/2014/main" id="{270F1A7E-C946-FFEE-DCD9-90050883D150}"/>
              </a:ext>
            </a:extLst>
          </p:cNvPr>
          <p:cNvSpPr/>
          <p:nvPr/>
        </p:nvSpPr>
        <p:spPr>
          <a:xfrm>
            <a:off x="10998200" y="508000"/>
            <a:ext cx="584200" cy="584200"/>
          </a:xfrm>
          <a:prstGeom prst="ellipse">
            <a:avLst/>
          </a:prstGeom>
          <a:noFill/>
          <a:ln w="15875">
            <a:solidFill>
              <a:srgbClr val="8A6A2F"/>
            </a:solidFill>
          </a:ln>
          <a:extLst>
            <a:ext uri="{909E8E84-426E-40DD-AFC4-6F175D3DCCD1}">
              <a14:hiddenFill xmlns:a14="http://schemas.microsoft.com/office/drawing/2010/main">
                <a:solidFill>
                  <a:srgbClr val="1C1813"/>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pPr>
            <a:r>
              <a:rPr lang="es-BO" sz="1104">
                <a:solidFill>
                  <a:srgbClr val="8A6A2F"/>
                </a:solidFill>
                <a:latin typeface="Bahnschrift SemiBold" panose="020B0502040204020203" pitchFamily="34" charset="0"/>
              </a:rPr>
              <a:t>KY</a:t>
            </a:r>
          </a:p>
          <a:p>
            <a:pPr algn="ctr">
              <a:lnSpc>
                <a:spcPct val="80000"/>
              </a:lnSpc>
            </a:pPr>
            <a:r>
              <a:rPr lang="es-BO" sz="1104">
                <a:solidFill>
                  <a:srgbClr val="8A6A2F"/>
                </a:solidFill>
                <a:latin typeface="Bahnschrift SemiBold" panose="020B0502040204020203" pitchFamily="34" charset="0"/>
              </a:rPr>
              <a:t>VC</a:t>
            </a:r>
          </a:p>
        </p:txBody>
      </p:sp>
    </p:spTree>
    <p:extLst>
      <p:ext uri="{BB962C8B-B14F-4D97-AF65-F5344CB8AC3E}">
        <p14:creationId xmlns:p14="http://schemas.microsoft.com/office/powerpoint/2010/main" val="394818716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CURSO" val="problem"/>
</p:tagLst>
</file>

<file path=ppt/tags/tag2.xml><?xml version="1.0" encoding="utf-8"?>
<p:tagLst xmlns:a="http://schemas.openxmlformats.org/drawingml/2006/main" xmlns:r="http://schemas.openxmlformats.org/officeDocument/2006/relationships" xmlns:p="http://schemas.openxmlformats.org/presentationml/2006/main">
  <p:tag name="CURSO" val="solution"/>
</p:tagLst>
</file>

<file path=ppt/tags/tag3.xml><?xml version="1.0" encoding="utf-8"?>
<p:tagLst xmlns:a="http://schemas.openxmlformats.org/drawingml/2006/main" xmlns:r="http://schemas.openxmlformats.org/officeDocument/2006/relationships" xmlns:p="http://schemas.openxmlformats.org/presentationml/2006/main">
  <p:tag name="CURSO" val="solution"/>
</p:tagLst>
</file>

<file path=ppt/tags/tag4.xml><?xml version="1.0" encoding="utf-8"?>
<p:tagLst xmlns:a="http://schemas.openxmlformats.org/drawingml/2006/main" xmlns:r="http://schemas.openxmlformats.org/officeDocument/2006/relationships" xmlns:p="http://schemas.openxmlformats.org/presentationml/2006/main">
  <p:tag name="CURSO" val="solution"/>
</p:tagLst>
</file>

<file path=ppt/tags/tag5.xml><?xml version="1.0" encoding="utf-8"?>
<p:tagLst xmlns:a="http://schemas.openxmlformats.org/drawingml/2006/main" xmlns:r="http://schemas.openxmlformats.org/officeDocument/2006/relationships" xmlns:p="http://schemas.openxmlformats.org/presentationml/2006/main">
  <p:tag name="CURSO" val="solution"/>
</p:tagLst>
</file>

<file path=ppt/tags/tag6.xml><?xml version="1.0" encoding="utf-8"?>
<p:tagLst xmlns:a="http://schemas.openxmlformats.org/drawingml/2006/main" xmlns:r="http://schemas.openxmlformats.org/officeDocument/2006/relationships" xmlns:p="http://schemas.openxmlformats.org/presentationml/2006/main">
  <p:tag name="CURSO" val="solution"/>
</p:tagLst>
</file>

<file path=ppt/tags/tag7.xml><?xml version="1.0" encoding="utf-8"?>
<p:tagLst xmlns:a="http://schemas.openxmlformats.org/drawingml/2006/main" xmlns:r="http://schemas.openxmlformats.org/officeDocument/2006/relationships" xmlns:p="http://schemas.openxmlformats.org/presentationml/2006/main">
  <p:tag name="CURSO" val="solution"/>
</p:tagLst>
</file>

<file path=ppt/tags/tag8.xml><?xml version="1.0" encoding="utf-8"?>
<p:tagLst xmlns:a="http://schemas.openxmlformats.org/drawingml/2006/main" xmlns:r="http://schemas.openxmlformats.org/officeDocument/2006/relationships" xmlns:p="http://schemas.openxmlformats.org/presentationml/2006/main">
  <p:tag name="CURSO" val="solution"/>
</p:tagLst>
</file>

<file path=ppt/tags/tag9.xml><?xml version="1.0" encoding="utf-8"?>
<p:tagLst xmlns:a="http://schemas.openxmlformats.org/drawingml/2006/main" xmlns:r="http://schemas.openxmlformats.org/officeDocument/2006/relationships" xmlns:p="http://schemas.openxmlformats.org/presentationml/2006/main">
  <p:tag name="CURSO" val="solution"/>
</p:tagLst>
</file>

<file path=ppt/tags/tag10.xml><?xml version="1.0" encoding="utf-8"?>
<p:tagLst xmlns:a="http://schemas.openxmlformats.org/drawingml/2006/main" xmlns:r="http://schemas.openxmlformats.org/officeDocument/2006/relationships" xmlns:p="http://schemas.openxmlformats.org/presentationml/2006/main">
  <p:tag name="CURSO" val="solution"/>
</p:tagLst>
</file>

<file path=ppt/tags/tag11.xml><?xml version="1.0" encoding="utf-8"?>
<p:tagLst xmlns:a="http://schemas.openxmlformats.org/drawingml/2006/main" xmlns:r="http://schemas.openxmlformats.org/officeDocument/2006/relationships" xmlns:p="http://schemas.openxmlformats.org/presentationml/2006/main">
  <p:tag name="CURSO" val="tool"/>
</p:tagLst>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8929</Words>
  <Application>Microsoft Office PowerPoint</Application>
  <PresentationFormat>Personalizado</PresentationFormat>
  <Paragraphs>1018</Paragraphs>
  <Slides>38</Slides>
  <Notes>38</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38</vt:i4>
      </vt:variant>
    </vt:vector>
  </HeadingPairs>
  <TitlesOfParts>
    <vt:vector size="47" baseType="lpstr">
      <vt:lpstr>Arial</vt:lpstr>
      <vt:lpstr>Bahnschrift Light</vt:lpstr>
      <vt:lpstr>Bahnschrift SemiBold</vt:lpstr>
      <vt:lpstr>Calibri</vt:lpstr>
      <vt:lpstr>Calibri Light</vt:lpstr>
      <vt:lpstr>Constantia</vt:lpstr>
      <vt:lpstr>Segoe UI</vt:lpstr>
      <vt:lpstr>Segoe UI Semibold</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HP</dc:creator>
  <cp:lastModifiedBy>HP</cp:lastModifiedBy>
  <cp:revision>1</cp:revision>
  <dcterms:created xsi:type="dcterms:W3CDTF">2026-10-21T04:34:23Z</dcterms:created>
  <dcterms:modified xsi:type="dcterms:W3CDTF">2026-10-21T04:34:23Z</dcterms:modified>
</cp:coreProperties>
</file>