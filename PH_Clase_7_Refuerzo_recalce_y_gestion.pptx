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.xml" ContentType="application/vnd.openxmlformats-officedocument.presentationml.tags+xml"/>
  <Override PartName="/ppt/notesSlides/notesSlide27.xml" ContentType="application/vnd.openxmlformats-officedocument.presentationml.notesSlide+xml"/>
  <Override PartName="/ppt/tags/tag2.xml" ContentType="application/vnd.openxmlformats-officedocument.presentationml.tags+xml"/>
  <Override PartName="/ppt/notesSlides/notesSlide28.xml" ContentType="application/vnd.openxmlformats-officedocument.presentationml.notesSlide+xml"/>
  <Override PartName="/ppt/tags/tag3.xml" ContentType="application/vnd.openxmlformats-officedocument.presentationml.tags+xml"/>
  <Override PartName="/ppt/notesSlides/notesSlide29.xml" ContentType="application/vnd.openxmlformats-officedocument.presentationml.notesSlide+xml"/>
  <Override PartName="/ppt/tags/tag4.xml" ContentType="application/vnd.openxmlformats-officedocument.presentationml.tags+xml"/>
  <Override PartName="/ppt/notesSlides/notesSlide30.xml" ContentType="application/vnd.openxmlformats-officedocument.presentationml.notesSlide+xml"/>
  <Override PartName="/ppt/tags/tag5.xml" ContentType="application/vnd.openxmlformats-officedocument.presentationml.tags+xml"/>
  <Override PartName="/ppt/notesSlides/notesSlide31.xml" ContentType="application/vnd.openxmlformats-officedocument.presentationml.notesSlide+xml"/>
  <Override PartName="/ppt/tags/tag6.xml" ContentType="application/vnd.openxmlformats-officedocument.presentationml.tags+xml"/>
  <Override PartName="/ppt/notesSlides/notesSlide32.xml" ContentType="application/vnd.openxmlformats-officedocument.presentationml.notesSlide+xml"/>
  <Override PartName="/ppt/tags/tag7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8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4C904-6BF3-4D89-BCAD-665693CEAD57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01164-CF1F-4017-B7F7-E7D61FE55EC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0288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Idea fuerza: el refuerzo no es el final del curso, es una de las salidas posibles. La otra, mucho más frecuente, es demostrar con números que no hace falta.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11679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Última clase. Hay que reservar quince minutos finales para las diez reglas y la lámina de herramientas: es el cierre que se recuerda.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21581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Repaso en tres minutos. Pregunta de apertura: ¿cuántas veces han visto reforzar algo que no hacía falta reforzar?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61140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Decirlo al principio: la mitad de los encargos de refuerzo se resuelven demostrando que no hay que reforzar.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37093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la parte 1.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7316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Esta tabla recorre el curso entero hacia atrás. Nombrar la clase de cada fila en voz alta.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83061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caso de hoy empieza exactamente aquí: la columna cumple en capacidad y se queda a una décima de la cuantía mínima.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43618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Anticipar el caso de hoy. Es el giro narrativo del caso ejemplo y conviene prepararlo.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70249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la parte 2.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9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21351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Preguntar cuál han usado. Casi siempre dicen encamisado; la fila 5 les resulta nueva.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10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72569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apeo es el concepto que más se lleva de esta parte. Insistir.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3057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límite de fuego hay que dejarlo anunciado: es el que tumba más proyectos.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06913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cuarta foto es la quinta familia, la que nunca se considera. Y el pie explica por qué la fibra va dibujada y no fotografiada.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45160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Esta lámina sustituye a la fotografía que no existe con licencia libre. Recorrer las siete capas de arriba abajo y detenerse en el adhesivo.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57569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la parte 3.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28785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Recordar que el asiento se comprueba aparte y que en arcillas blandas suele gobernar antes que el hundimiento.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759706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regla de los bataches alternos es de seguridad y hay que decirla en voz alta.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497330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Pedir que miren el acceso en cada foto. El criterio de elección real es geométrico y logístico antes que estructural.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17309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paso 5 del caso dimensiona estos conectores. Es el cálculo que cierra el caso ejemplo del curso.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19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300147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Enlazar con los puntos de parada de la clase 6: el concepto es el mismo y vale para cualquier tajo.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20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874755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la parte 4.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44160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Que copien esta tabla tal cual. Es un entregable que pueden adjuntar a cualquier informe desde mañana.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61605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Esta lámina convierte el plan de la anterior en algo que se puede ejecutar. La nivelación enlaza con la limitación declarada del caso.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51831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Cerrar el círculo con la clase 1. La Ley de Sitter abre y cierra el curso.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03505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los casos. Son los últimos del curso y cierran la nave Sector 4.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03705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Último uso de la ficha. Decir que el caso termina hoy y que los números han recorrido las siete clases sin cambiar.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586358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Leer las cinco preguntas en voz alta antes de empezar, para que sepan dónde van. Si alguien se pierde en un paso, se para ahí.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69907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Este paso resume tres láminas de la versión anterior. Ir despacio con las unidades: kN/m³ por m da kN/m², que es kPa.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Terzaghi supone rotura general por corte, zapata rígida, carga centrada y terreno homogéneo hasta unos 2B de profundidad. No es aplicable con carga excéntrica, terreno estratificado ni arcillas blandas sensibles. Si el nivel freático subiera hasta el plano de apoyo, γ pasaría a ser el sumergido (unos 7 kN/m³) y q caería a menos de la mitad.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Ese reparto tiene una consecuencia práctica que se verá en el paso 4: ensanchar mejora poco la capacidad del terreno, pero reparte la carga sobre mucha más superficie. Lo que arregla el problema es el reparto, no la mejora. Y queda fuera una comprobación distinta que a veces manda antes: el asiento. Con FS = 3 frente a hundimiento no está cubierto, y en arcillas blandas exige ensayo edométrico.</a:t>
            </a:r>
          </a:p>
          <a:p>
            <a:endParaRPr lang="es-MX"/>
          </a:p>
          <a:p>
            <a:r>
              <a:rPr lang="es-MX"/>
              <a:t>DE DÓNDE SALE CADA DATO</a:t>
            </a:r>
          </a:p>
          <a:p>
            <a:r>
              <a:rPr lang="es-MX"/>
              <a:t>· c = 25 kPa  ·  φ = 15°: Del estudio de suelos de 1998. Cohesión y ángulo de rozamiento interno, recuperados del archivo del cliente.</a:t>
            </a:r>
          </a:p>
          <a:p>
            <a:r>
              <a:rPr lang="es-MX"/>
              <a:t>· q = 20,4 kPa: Peso del terreno sobre el plano de apoyo. Es γ · D_f = 17 kN/m³ × 1,20 m: unas dos toneladas por metro cuadrado.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326449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Que vean la resta del relleno: 1,20 menos 0,50. Y calcular en pizarra 535,3/215,3 = 2,49, para que el 0,83 no suene a colapso inminente.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Presión media bajo zapata rígida con carga centrada. Si hay excentricidad, hay que comprobar la presión máxima de borde, que puede ser muy superior a la media. Supone además que el relleno permanece sobre la zapata: si se excava para ejecutar el recalce y no se repone, ese término desaparece y la comprobación debe rehacerse con el estado de obra.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No significa que vaya a hundirse mañana. Significa que el coeficiente de seguridad real no es 3 sino 2,5 —535,3 dividido por 215,3— y que ya no queda margen para nada más. El peso propio son 77,5 kN, un 12 % más de carga que la columna sola. Olvidarlo es el error más frecuente de toda la comprobación, y siempre va en contra de la seguridad: deja el resultado más optimista de lo que es.</a:t>
            </a:r>
          </a:p>
          <a:p>
            <a:endParaRPr lang="es-MX"/>
          </a:p>
          <a:p>
            <a:r>
              <a:rPr lang="es-MX"/>
              <a:t>DE DÓNDE SALE CADA DATO</a:t>
            </a:r>
          </a:p>
          <a:p>
            <a:r>
              <a:rPr lang="es-MX"/>
              <a:t>· Peso propio = 77,5 kN: Zapata 1,80 × 1,80 × 0,50 × 24 = 38,9 kN, y relleno 1,80 × 1,80 × 0,70 × 17 = 38,6 kN. El 0,70 es 1,20 de profundidad menos 0,50 de canto.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29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795798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Señalar que la carga de la columna sube un 39 % y la presión solo un 34 %, porque el peso propio no cambia y diluye el aumento.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La carga futura es de SERVICIO, que es la que corresponde a la comprobación geotécnica. No debe confundirse con la mayorada de 1 250 kN, que se emplea en el paso 5 para dimensionar la conexión.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Y aquí se entiende por qué reforzar la columna habría sido un error: todo refuerzo baja más carga a una zapata que ya estaba al 0,83. El 61 % sale de dividir 289,4 entre 178,4. Es el aumento de área necesario, y lleva directo al paso siguiente.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30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723043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Son 3 puntos de margen que estaban ahí y que casi nadie se cobra. Es el paso que distingue un cálculo hecho con criterio.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Supone que el ensanche trabaja solidario con la zapata existente, lo que exige la conexión del paso 5. Sin esa conexión ejecutada y comprobada, el ancho eficaz sigue siendo 1,80 m y todo este paso no sirve de nada.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Y el detalle fino que casi nadie hace: al ensanchar a 2,50 el tercer sumando de Terzaghi pasa de 26,6 a 36,9 kPa, así que q_u sube a 545,6 y q_adm a 181,9. El ensanche no solo reparte mejor: también mejora el terreno que lo recibe. El margen final no es 1,10 sino 1,13.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627893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Perímetro 4 × 1,80 = 7,20 m. A 400 mm salen 18 barras, que dan 2 036 mm² frente a los 1 911 necesarios.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μ = 1,0 exige junta limpia, libre de lechada y rugosa a 6 mm de amplitud, comprobada y aceptada antes de hormigonar. Si no se acredita esa rugosidad, μ baja a 0,6 y hacen falta un 67 % más de conectores.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Sin conexión comprobada, el ensanche es hormigón decorativo alrededor de la zapata vieja: la carga no llega hasta él. Y la rugosidad de 6 mm no es un detalle de acabado, es lo que permite usar μ = 1,0: si la junta queda lisa, el coeficiente baja a 0,6 y hacen falta un 67 % más de conectores.</a:t>
            </a:r>
          </a:p>
          <a:p>
            <a:endParaRPr lang="es-MX"/>
          </a:p>
          <a:p>
            <a:r>
              <a:rPr lang="es-MX"/>
              <a:t>DE DÓNDE SALE CADA DATO</a:t>
            </a:r>
          </a:p>
          <a:p>
            <a:r>
              <a:rPr lang="es-MX"/>
              <a:t>· V_u = 602 kN: La parte de la carga mayorada que cruza la junta. Es el 48 %, la misma proporción que aporta el ensanche.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734715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Cierre del caso ejemplo del curso. Es la lámina que resume siete clases de trabajo sobre la misma obra.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516607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Leer las diez en voz alta, despacio. Es la lámina que se llevan fotografiada.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95521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Cerrar insistiendo en que son de una página. La extensión no es lo que da valor: el criterio sí.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933095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Probar en vivo el lado del ensanche: se escribe 2,30 y el margen se queda en rojo; se escribe 2,50 y pasa a verde. Así se dimensiona un recalce delante del cliente.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20191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Seis ideas finales. La tercera es la que más les va a servir profesionalmente.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992948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Cierre del curso. Agradecer, recordar que el material queda en la carpeta del alumno y abrir el turno de preguntas final.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01164-CF1F-4017-B7F7-E7D61FE55ECD}" type="slidenum">
              <a:rPr lang="es-BO" smtClean="0"/>
              <a:t>38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89971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64D8C-2D04-A592-1063-D055BEC4C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BF4C9-7A0F-7E54-ED45-05A048629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31014-4231-3CB3-561C-0FAB5C7C0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EE2B0B-15C1-F1F0-8135-06B4F22F9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0B617-8408-AD7F-D523-20EF1EF4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4420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634FA-2A9F-49E8-0FA9-080CD761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10CFDF-C787-6D18-A2FB-636039DBA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06C718-CAED-9A46-4D23-3A935E654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7BD69A-8CA0-D04C-95CC-B97FBBD2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BFE83E-5F22-6F7F-C89E-B1979084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9935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86167-BF10-554C-36BF-1E6FF493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03166F-F1A4-377E-999E-D8C35EF32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B67AA1-9DF0-6F11-D95A-1CB6C8D8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2D9E12-D0B9-DF71-54B5-DC9E57049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AC12D-A417-6C2A-06C8-DCD93B2D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7562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7C4C0-02B0-B4B3-005D-4253CC78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835588-2781-B418-5932-29011E618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C0E731-2101-4876-32F2-909A3859F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A00D62-B4CA-641B-A958-ADE96A3B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AFB654-E5D1-A6E2-F874-944E361E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48967-B0B7-0E08-8BF5-46C79E3F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6404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D0998-564C-4022-BD17-5D84E1824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BE1FAC-C699-E542-22C3-15A32CAF1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133DC8-0CF3-612B-BF35-6A04628C4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786172A-AEB2-D2AF-420B-572CC7A0B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EAFD41-A964-7EF8-DB7F-00BB6BA1B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FE4F23-3A55-9004-30F4-8E21FEB3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F0E7B68-C586-C536-CCF1-5965A1E8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191BB8-CEBB-77A1-A293-B61858F6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2906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213D0-BCFC-2186-24AA-6634AF7D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8B247F-B990-8FDA-8ABC-79D04BAF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B903D3-5473-9202-7EDC-E564BD5D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A5EAB6-DE6F-62FC-51A3-BDF984A0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1903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FA177C-EA22-0206-80B3-EF84E061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4088F5-A76E-666F-BE26-46E59B7D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84C62D-4F91-B59B-2A4F-15CEE0D8B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1159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42310-1FFD-CD25-CE5E-A0F1E0E2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FEAE20-E404-3B19-C3A0-059A4B50A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92FA93-7AD8-B9DD-A219-5F2CDF2BF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50A297-0384-DC15-E30F-7B42DCE2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CD43FE-6D96-0A08-1AC5-E3872ED7B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76995A-6B0B-FF39-69EF-76A85312D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0306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C6D77-C157-6EF9-45FB-46199F6F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77BE6AE-2C4C-957A-8B92-CB35BC0AF9B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A539F5-69C7-D930-38A0-DA0B3EFF8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1AD663-18A1-7941-4D16-B97660CB1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8CAE8A-8606-77BB-F6E3-870BCFDFA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2D0590-9EAA-8AC6-6573-E030C84B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7637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D1564-18F5-6609-23B9-7B77E102B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A77240-381C-6E49-6AAB-0181BBC2C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D8798F-793A-E108-5F33-0CA2AFCE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9F02B9-A9DE-0901-B7E2-1056C621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BF8441-12D2-B7F9-4D1F-F6B4DE38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4401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75220D-405E-098D-35D5-F3CD96B23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B8CDEC-CB24-67C5-7F15-B7596E4C7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E90D9D-2362-B6D7-789E-46C1DBFF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1BAE68-5E6E-5F52-C080-5F68B138B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BA9449-EBD1-BB6E-F2BB-2E41B658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6356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C768A75-DDCF-59A9-18D3-1C66CE52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34501-D2F4-BD30-1BF1-BA400CA75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5BF8E-EA73-6ADB-5AFB-D0C191D43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E3DD5-C3FE-4237-BE28-1A093898A100}" type="datetimeFigureOut">
              <a:rPr lang="es-BO" smtClean="0"/>
              <a:t>26/10/2026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431FFF-B946-6684-8405-C1E245395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CD4ED3-790C-C252-C6DF-40576A81A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38999-9F3A-47DB-86D5-F92A51722B16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8450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676039-6F02-662C-E082-E09DC20F80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323DF8A-4DCE-D6D2-7F56-BD32161DCBE2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D61B802-FCBF-22D0-820A-4E4F7614C3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4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4963F39-CF96-1B64-8639-E70C42842979}"/>
              </a:ext>
            </a:extLst>
          </p:cNvPr>
          <p:cNvSpPr/>
          <p:nvPr/>
        </p:nvSpPr>
        <p:spPr>
          <a:xfrm>
            <a:off x="609600" y="685800"/>
            <a:ext cx="330200" cy="25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C4CA6C6-AB4C-597F-945C-0807C49EE608}"/>
              </a:ext>
            </a:extLst>
          </p:cNvPr>
          <p:cNvSpPr txBox="1"/>
          <p:nvPr/>
        </p:nvSpPr>
        <p:spPr>
          <a:xfrm>
            <a:off x="1066800" y="609600"/>
            <a:ext cx="965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C9A66B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900" spc="180">
              <a:solidFill>
                <a:srgbClr val="C9A66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C74E04-8BB7-AF32-2A40-5C8545C415AE}"/>
              </a:ext>
            </a:extLst>
          </p:cNvPr>
          <p:cNvSpPr txBox="1"/>
          <p:nvPr/>
        </p:nvSpPr>
        <p:spPr>
          <a:xfrm>
            <a:off x="584200" y="1498600"/>
            <a:ext cx="5080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000" i="1">
                <a:solidFill>
                  <a:srgbClr val="C9A66B"/>
                </a:solidFill>
                <a:latin typeface="Constantia" panose="02030602050306030303" pitchFamily="18" charset="0"/>
              </a:rPr>
              <a:t>Clase 07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802979C0-403D-56F0-E73A-733995F648E8}"/>
              </a:ext>
            </a:extLst>
          </p:cNvPr>
          <p:cNvSpPr txBox="1"/>
          <p:nvPr/>
        </p:nvSpPr>
        <p:spPr>
          <a:xfrm>
            <a:off x="584200" y="2108200"/>
            <a:ext cx="8128000" cy="190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s-BO" sz="4400">
                <a:solidFill>
                  <a:srgbClr val="FFFFFF"/>
                </a:solidFill>
                <a:latin typeface="Bahnschrift SemiBold" panose="020B0502040204020203" pitchFamily="34" charset="0"/>
              </a:rPr>
              <a:t>Refuerzo</a:t>
            </a:r>
          </a:p>
          <a:p>
            <a:pPr>
              <a:lnSpc>
                <a:spcPct val="90000"/>
              </a:lnSpc>
            </a:pPr>
            <a:r>
              <a:rPr lang="es-BO" sz="4400">
                <a:solidFill>
                  <a:srgbClr val="FFFFFF"/>
                </a:solidFill>
                <a:latin typeface="Bahnschrift SemiBold" panose="020B0502040204020203" pitchFamily="34" charset="0"/>
              </a:rPr>
              <a:t>y gestión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B11ED50-754A-F253-5EF0-09EF11BBC713}"/>
              </a:ext>
            </a:extLst>
          </p:cNvPr>
          <p:cNvSpPr/>
          <p:nvPr/>
        </p:nvSpPr>
        <p:spPr>
          <a:xfrm>
            <a:off x="609600" y="4191000"/>
            <a:ext cx="8128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C331B7-73EE-5444-21C7-39255DCF4381}"/>
              </a:ext>
            </a:extLst>
          </p:cNvPr>
          <p:cNvSpPr txBox="1"/>
          <p:nvPr/>
        </p:nvSpPr>
        <p:spPr>
          <a:xfrm>
            <a:off x="609600" y="4394200"/>
            <a:ext cx="762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500">
                <a:solidFill>
                  <a:srgbClr val="E6DFD2"/>
                </a:solidFill>
                <a:latin typeface="Bahnschrift Light" panose="020B0502040204020203" pitchFamily="34" charset="0"/>
              </a:rPr>
              <a:t>Recalcular con lo que hay, reforzar solo lo que lo necesita, y dejarlo gestionado</a:t>
            </a:r>
            <a:endParaRPr lang="es-BO" sz="15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0E0C66-0C37-8122-898B-C6AB25587856}"/>
              </a:ext>
            </a:extLst>
          </p:cNvPr>
          <p:cNvSpPr txBox="1"/>
          <p:nvPr/>
        </p:nvSpPr>
        <p:spPr>
          <a:xfrm>
            <a:off x="609600" y="5740400"/>
            <a:ext cx="508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nn-NO" sz="1300">
                <a:solidFill>
                  <a:srgbClr val="FFFFFF"/>
                </a:solidFill>
                <a:latin typeface="Bahnschrift SemiBold" panose="020B0502040204020203" pitchFamily="34" charset="0"/>
              </a:rPr>
              <a:t>Ing. Kevin Yerko Vera Careaga</a:t>
            </a:r>
            <a:endParaRPr lang="es-BO" sz="13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22294AB-4334-CB15-BD38-0ADD6C196EB5}"/>
              </a:ext>
            </a:extLst>
          </p:cNvPr>
          <p:cNvSpPr txBox="1"/>
          <p:nvPr/>
        </p:nvSpPr>
        <p:spPr>
          <a:xfrm>
            <a:off x="609600" y="59690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50">
                <a:solidFill>
                  <a:srgbClr val="CFC7B8"/>
                </a:solidFill>
                <a:latin typeface="Segoe UI" panose="020B0502040204020203" pitchFamily="34" charset="0"/>
              </a:rPr>
              <a:t>Ingeniero Civil  ·  NRI 57148  ·  La Paz, Bolivia</a:t>
            </a:r>
            <a:endParaRPr lang="es-BO" sz="9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E5A6F02-4E54-A37D-531C-4931673B3F54}"/>
              </a:ext>
            </a:extLst>
          </p:cNvPr>
          <p:cNvSpPr/>
          <p:nvPr/>
        </p:nvSpPr>
        <p:spPr>
          <a:xfrm>
            <a:off x="84836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141EB55-DF6C-381F-E9CB-EFF76E664289}"/>
              </a:ext>
            </a:extLst>
          </p:cNvPr>
          <p:cNvSpPr txBox="1"/>
          <p:nvPr/>
        </p:nvSpPr>
        <p:spPr>
          <a:xfrm>
            <a:off x="84836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E834518-6932-98A3-F0D8-06EDCFE737F5}"/>
              </a:ext>
            </a:extLst>
          </p:cNvPr>
          <p:cNvSpPr/>
          <p:nvPr/>
        </p:nvSpPr>
        <p:spPr>
          <a:xfrm>
            <a:off x="89408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30237F8-903E-E269-7895-9BD180F81688}"/>
              </a:ext>
            </a:extLst>
          </p:cNvPr>
          <p:cNvSpPr txBox="1"/>
          <p:nvPr/>
        </p:nvSpPr>
        <p:spPr>
          <a:xfrm>
            <a:off x="89408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4292881-E79D-3C2B-6FC7-B1D05B93BC9E}"/>
              </a:ext>
            </a:extLst>
          </p:cNvPr>
          <p:cNvSpPr/>
          <p:nvPr/>
        </p:nvSpPr>
        <p:spPr>
          <a:xfrm>
            <a:off x="93980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4D23DA6-FF0D-13A7-C232-D6A961F02D54}"/>
              </a:ext>
            </a:extLst>
          </p:cNvPr>
          <p:cNvSpPr txBox="1"/>
          <p:nvPr/>
        </p:nvSpPr>
        <p:spPr>
          <a:xfrm>
            <a:off x="93980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BB94262-AAB7-E39F-24C8-5A79397870D8}"/>
              </a:ext>
            </a:extLst>
          </p:cNvPr>
          <p:cNvSpPr/>
          <p:nvPr/>
        </p:nvSpPr>
        <p:spPr>
          <a:xfrm>
            <a:off x="98552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06268BA-8CCE-4FF3-3440-B9AE5C3B932B}"/>
              </a:ext>
            </a:extLst>
          </p:cNvPr>
          <p:cNvSpPr txBox="1"/>
          <p:nvPr/>
        </p:nvSpPr>
        <p:spPr>
          <a:xfrm>
            <a:off x="98552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E834EA1-0192-B5B5-38DE-5B32F8AC91DA}"/>
              </a:ext>
            </a:extLst>
          </p:cNvPr>
          <p:cNvSpPr/>
          <p:nvPr/>
        </p:nvSpPr>
        <p:spPr>
          <a:xfrm>
            <a:off x="103124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A84DDBD-9A24-A8A9-C474-ADB4F0F38FA9}"/>
              </a:ext>
            </a:extLst>
          </p:cNvPr>
          <p:cNvSpPr txBox="1"/>
          <p:nvPr/>
        </p:nvSpPr>
        <p:spPr>
          <a:xfrm>
            <a:off x="103124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08D6B6D-1A3D-33C2-7CF3-29F56FC7D8E7}"/>
              </a:ext>
            </a:extLst>
          </p:cNvPr>
          <p:cNvSpPr/>
          <p:nvPr/>
        </p:nvSpPr>
        <p:spPr>
          <a:xfrm>
            <a:off x="107696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EEA87D1-218B-36D1-2B23-C68C94F9E70B}"/>
              </a:ext>
            </a:extLst>
          </p:cNvPr>
          <p:cNvSpPr txBox="1"/>
          <p:nvPr/>
        </p:nvSpPr>
        <p:spPr>
          <a:xfrm>
            <a:off x="107696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S6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318B551-0317-60B4-8FA3-9114C898F645}"/>
              </a:ext>
            </a:extLst>
          </p:cNvPr>
          <p:cNvSpPr/>
          <p:nvPr/>
        </p:nvSpPr>
        <p:spPr>
          <a:xfrm>
            <a:off x="11226800" y="5918200"/>
            <a:ext cx="342900" cy="38100"/>
          </a:xfrm>
          <a:prstGeom prst="rect">
            <a:avLst/>
          </a:prstGeom>
          <a:solidFill>
            <a:srgbClr val="C9A6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0D48503-813F-5A26-BA40-31FCBCA29E07}"/>
              </a:ext>
            </a:extLst>
          </p:cNvPr>
          <p:cNvSpPr txBox="1"/>
          <p:nvPr/>
        </p:nvSpPr>
        <p:spPr>
          <a:xfrm>
            <a:off x="112268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9A66B"/>
                </a:solidFill>
                <a:latin typeface="Segoe UI Semibold" panose="020B0702040204020203" pitchFamily="34" charset="0"/>
              </a:rPr>
              <a:t>S7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CC256CE-C058-098A-2B79-0171FC880D79}"/>
              </a:ext>
            </a:extLst>
          </p:cNvPr>
          <p:cNvSpPr txBox="1"/>
          <p:nvPr/>
        </p:nvSpPr>
        <p:spPr>
          <a:xfrm>
            <a:off x="8483600" y="5664200"/>
            <a:ext cx="309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800" spc="140">
                <a:solidFill>
                  <a:srgbClr val="CFC7B8"/>
                </a:solidFill>
                <a:latin typeface="Segoe UI Semibold" panose="020B0702040204020203" pitchFamily="34" charset="0"/>
              </a:rPr>
              <a:t>CLASE 7 DE 7  ·  MODALIDAD VIRTUAL</a:t>
            </a:r>
            <a:endParaRPr lang="es-BO" sz="800" spc="140">
              <a:solidFill>
                <a:srgbClr val="CFC7B8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9" name="Monograma">
            <a:extLst>
              <a:ext uri="{FF2B5EF4-FFF2-40B4-BE49-F238E27FC236}">
                <a16:creationId xmlns:a16="http://schemas.microsoft.com/office/drawing/2014/main" id="{5463CB8E-5362-BA3A-40F9-B7C6305C0192}"/>
              </a:ext>
            </a:extLst>
          </p:cNvPr>
          <p:cNvSpPr/>
          <p:nvPr/>
        </p:nvSpPr>
        <p:spPr>
          <a:xfrm>
            <a:off x="10998200" y="508000"/>
            <a:ext cx="584200" cy="584200"/>
          </a:xfrm>
          <a:prstGeom prst="ellipse">
            <a:avLst/>
          </a:prstGeom>
          <a:noFill/>
          <a:ln w="15875">
            <a:solidFill>
              <a:srgbClr val="8A6A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1C1813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s-BO" sz="1104">
                <a:solidFill>
                  <a:srgbClr val="8A6A2F"/>
                </a:solidFill>
                <a:latin typeface="Bahnschrift SemiBold" panose="020B0502040204020203" pitchFamily="34" charset="0"/>
              </a:rPr>
              <a:t>KY</a:t>
            </a:r>
          </a:p>
          <a:p>
            <a:pPr algn="ctr">
              <a:lnSpc>
                <a:spcPct val="80000"/>
              </a:lnSpc>
            </a:pPr>
            <a:r>
              <a:rPr lang="es-BO" sz="1104">
                <a:solidFill>
                  <a:srgbClr val="8A6A2F"/>
                </a:solidFill>
                <a:latin typeface="Bahnschrift SemiBold" panose="020B0502040204020203" pitchFamily="34" charset="0"/>
              </a:rPr>
              <a:t>VC</a:t>
            </a:r>
          </a:p>
        </p:txBody>
      </p:sp>
    </p:spTree>
    <p:extLst>
      <p:ext uri="{BB962C8B-B14F-4D97-AF65-F5344CB8AC3E}">
        <p14:creationId xmlns:p14="http://schemas.microsoft.com/office/powerpoint/2010/main" val="3200806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1ECBF46-6C04-8FFB-2ED2-EBC902D29C81}"/>
              </a:ext>
            </a:extLst>
          </p:cNvPr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A7EF11D-79A0-234A-886F-0F9E64388F94}"/>
              </a:ext>
            </a:extLst>
          </p:cNvPr>
          <p:cNvSpPr/>
          <p:nvPr/>
        </p:nvSpPr>
        <p:spPr>
          <a:xfrm>
            <a:off x="609600" y="508000"/>
            <a:ext cx="228600" cy="25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8CE7D2-94CA-6F86-9D07-909E836D2D91}"/>
              </a:ext>
            </a:extLst>
          </p:cNvPr>
          <p:cNvSpPr txBox="1"/>
          <p:nvPr/>
        </p:nvSpPr>
        <p:spPr>
          <a:xfrm>
            <a:off x="939800" y="431800"/>
            <a:ext cx="330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8A6A2F"/>
                </a:solidFill>
                <a:latin typeface="Segoe UI Semibold" panose="020B0702040204020203" pitchFamily="34" charset="0"/>
              </a:rPr>
              <a:t>OBJETIVOS DE LA CLASE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C1DB292F-A179-DF42-32CB-8D7D17AC0234}"/>
              </a:ext>
            </a:extLst>
          </p:cNvPr>
          <p:cNvSpPr txBox="1"/>
          <p:nvPr/>
        </p:nvSpPr>
        <p:spPr>
          <a:xfrm>
            <a:off x="609600" y="660400"/>
            <a:ext cx="3683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200">
                <a:solidFill>
                  <a:srgbClr val="FFFFFF"/>
                </a:solidFill>
                <a:latin typeface="Bahnschrift SemiBold" panose="020B0502040204020203" pitchFamily="34" charset="0"/>
              </a:rPr>
              <a:t>Al terminar esta clase podrás…</a:t>
            </a:r>
            <a:endParaRPr lang="es-BO" sz="22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A53015-1E20-CD6C-874F-8E6B6101D642}"/>
              </a:ext>
            </a:extLst>
          </p:cNvPr>
          <p:cNvSpPr txBox="1"/>
          <p:nvPr/>
        </p:nvSpPr>
        <p:spPr>
          <a:xfrm>
            <a:off x="609600" y="1778000"/>
            <a:ext cx="50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818F2B-561D-6782-2BDE-C01C44098AB5}"/>
              </a:ext>
            </a:extLst>
          </p:cNvPr>
          <p:cNvSpPr txBox="1"/>
          <p:nvPr/>
        </p:nvSpPr>
        <p:spPr>
          <a:xfrm>
            <a:off x="1117600" y="1816100"/>
            <a:ext cx="304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DCE3EC"/>
                </a:solidFill>
                <a:latin typeface="Segoe UI" panose="020B0502040204020203" pitchFamily="34" charset="0"/>
              </a:rPr>
              <a:t>Recalcular un elemento existente con las propiedades medidas y el criterio vigente.</a:t>
            </a:r>
            <a:endParaRPr lang="es-BO" sz="1150">
              <a:solidFill>
                <a:srgbClr val="DCE3E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581FD6-C9DF-0B45-154A-E5D6501F87A0}"/>
              </a:ext>
            </a:extLst>
          </p:cNvPr>
          <p:cNvSpPr txBox="1"/>
          <p:nvPr/>
        </p:nvSpPr>
        <p:spPr>
          <a:xfrm>
            <a:off x="609600" y="2717800"/>
            <a:ext cx="50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2CD116-CB0B-514D-7813-85FD66A27283}"/>
              </a:ext>
            </a:extLst>
          </p:cNvPr>
          <p:cNvSpPr txBox="1"/>
          <p:nvPr/>
        </p:nvSpPr>
        <p:spPr>
          <a:xfrm>
            <a:off x="1117600" y="2755900"/>
            <a:ext cx="304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DCE3EC"/>
                </a:solidFill>
                <a:latin typeface="Segoe UI" panose="020B0502040204020203" pitchFamily="34" charset="0"/>
              </a:rPr>
              <a:t>Elegir entre encamisado, refuerzo metálico y fibra de carbono con un criterio propio.</a:t>
            </a:r>
            <a:endParaRPr lang="es-BO" sz="1150">
              <a:solidFill>
                <a:srgbClr val="DCE3E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47AEE10-1C7C-0757-6267-3B9CF59AA320}"/>
              </a:ext>
            </a:extLst>
          </p:cNvPr>
          <p:cNvSpPr txBox="1"/>
          <p:nvPr/>
        </p:nvSpPr>
        <p:spPr>
          <a:xfrm>
            <a:off x="609600" y="3657600"/>
            <a:ext cx="50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ABFCA27-D4D9-1D03-491A-5AD4FC0C2DD0}"/>
              </a:ext>
            </a:extLst>
          </p:cNvPr>
          <p:cNvSpPr txBox="1"/>
          <p:nvPr/>
        </p:nvSpPr>
        <p:spPr>
          <a:xfrm>
            <a:off x="1117600" y="3695700"/>
            <a:ext cx="304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DCE3EC"/>
                </a:solidFill>
                <a:latin typeface="Segoe UI" panose="020B0502040204020203" pitchFamily="34" charset="0"/>
              </a:rPr>
              <a:t>Comprobar una cimentación con Terzaghi y dimensionar su recalce y su conexión.</a:t>
            </a:r>
            <a:endParaRPr lang="es-BO" sz="1150">
              <a:solidFill>
                <a:srgbClr val="DCE3E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67CF5E4-2021-6721-3911-34066733DFEE}"/>
              </a:ext>
            </a:extLst>
          </p:cNvPr>
          <p:cNvSpPr txBox="1"/>
          <p:nvPr/>
        </p:nvSpPr>
        <p:spPr>
          <a:xfrm>
            <a:off x="609600" y="4597400"/>
            <a:ext cx="50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6778834-1776-54E1-B3FD-8888BCE892EE}"/>
              </a:ext>
            </a:extLst>
          </p:cNvPr>
          <p:cNvSpPr txBox="1"/>
          <p:nvPr/>
        </p:nvSpPr>
        <p:spPr>
          <a:xfrm>
            <a:off x="1117600" y="4635500"/>
            <a:ext cx="304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DCE3EC"/>
                </a:solidFill>
                <a:latin typeface="Segoe UI" panose="020B0502040204020203" pitchFamily="34" charset="0"/>
              </a:rPr>
              <a:t>Dejar la estructura gestionada: plan de mantenimiento con fechas y responsables.</a:t>
            </a:r>
            <a:endParaRPr lang="es-BO" sz="1150">
              <a:solidFill>
                <a:srgbClr val="DCE3E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5C8127-8508-BB30-5D02-2A8B3736BA8B}"/>
              </a:ext>
            </a:extLst>
          </p:cNvPr>
          <p:cNvSpPr/>
          <p:nvPr/>
        </p:nvSpPr>
        <p:spPr>
          <a:xfrm>
            <a:off x="5080000" y="508000"/>
            <a:ext cx="228600" cy="25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D1594EA-DD3B-3E7B-2B25-AC37F9452776}"/>
              </a:ext>
            </a:extLst>
          </p:cNvPr>
          <p:cNvSpPr txBox="1"/>
          <p:nvPr/>
        </p:nvSpPr>
        <p:spPr>
          <a:xfrm>
            <a:off x="5410200" y="431800"/>
            <a:ext cx="381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RUTA DE LA CLASE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7778E27-F816-E756-F02B-FE07C2579F5A}"/>
              </a:ext>
            </a:extLst>
          </p:cNvPr>
          <p:cNvCxnSpPr/>
          <p:nvPr/>
        </p:nvCxnSpPr>
        <p:spPr>
          <a:xfrm>
            <a:off x="5257800" y="1219200"/>
            <a:ext cx="0" cy="4622800"/>
          </a:xfrm>
          <a:prstGeom prst="line">
            <a:avLst/>
          </a:prstGeom>
          <a:ln w="190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760C518C-AF4E-FE5E-95FA-57A003EE6704}"/>
              </a:ext>
            </a:extLst>
          </p:cNvPr>
          <p:cNvSpPr/>
          <p:nvPr/>
        </p:nvSpPr>
        <p:spPr>
          <a:xfrm>
            <a:off x="5105400" y="10668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39C7C89-1272-82C3-8F1C-C5CDB01996E0}"/>
              </a:ext>
            </a:extLst>
          </p:cNvPr>
          <p:cNvSpPr txBox="1"/>
          <p:nvPr/>
        </p:nvSpPr>
        <p:spPr>
          <a:xfrm>
            <a:off x="5715000" y="10287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APERTURA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0459AC8-48E1-518C-5954-B99956C8F17A}"/>
              </a:ext>
            </a:extLst>
          </p:cNvPr>
          <p:cNvSpPr txBox="1"/>
          <p:nvPr/>
        </p:nvSpPr>
        <p:spPr>
          <a:xfrm>
            <a:off x="5715000" y="11938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Repaso de la clase anterior y pregunta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ACE9354-19B7-E586-38FA-0A5D0E5FF745}"/>
              </a:ext>
            </a:extLst>
          </p:cNvPr>
          <p:cNvSpPr/>
          <p:nvPr/>
        </p:nvSpPr>
        <p:spPr>
          <a:xfrm>
            <a:off x="5105400" y="17272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EC45DA7-DA7D-97BC-D357-1792D3A46536}"/>
              </a:ext>
            </a:extLst>
          </p:cNvPr>
          <p:cNvSpPr txBox="1"/>
          <p:nvPr/>
        </p:nvSpPr>
        <p:spPr>
          <a:xfrm>
            <a:off x="5715000" y="16891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PARTE 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37BDA65-0840-CCD5-E407-B05F536500A4}"/>
              </a:ext>
            </a:extLst>
          </p:cNvPr>
          <p:cNvSpPr txBox="1"/>
          <p:nvPr/>
        </p:nvSpPr>
        <p:spPr>
          <a:xfrm>
            <a:off x="5715000" y="18542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Recálculo con lo que hay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46FCCB2-E30D-C9C6-78F4-40C9B587DB44}"/>
              </a:ext>
            </a:extLst>
          </p:cNvPr>
          <p:cNvSpPr/>
          <p:nvPr/>
        </p:nvSpPr>
        <p:spPr>
          <a:xfrm>
            <a:off x="5105400" y="23876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DB1F640-0781-FBC1-CCD4-11AD12B73624}"/>
              </a:ext>
            </a:extLst>
          </p:cNvPr>
          <p:cNvSpPr txBox="1"/>
          <p:nvPr/>
        </p:nvSpPr>
        <p:spPr>
          <a:xfrm>
            <a:off x="5715000" y="23495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PARTE 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283585F-682F-09C2-35B2-657921CC6136}"/>
              </a:ext>
            </a:extLst>
          </p:cNvPr>
          <p:cNvSpPr txBox="1"/>
          <p:nvPr/>
        </p:nvSpPr>
        <p:spPr>
          <a:xfrm>
            <a:off x="5715000" y="25146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Técnicas de refuerzo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36ADDB14-01B8-28BE-95FF-A77746C74239}"/>
              </a:ext>
            </a:extLst>
          </p:cNvPr>
          <p:cNvSpPr/>
          <p:nvPr/>
        </p:nvSpPr>
        <p:spPr>
          <a:xfrm>
            <a:off x="5105400" y="30480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F4D2B5F-CA2B-5062-1579-7261A9080017}"/>
              </a:ext>
            </a:extLst>
          </p:cNvPr>
          <p:cNvSpPr txBox="1"/>
          <p:nvPr/>
        </p:nvSpPr>
        <p:spPr>
          <a:xfrm>
            <a:off x="5715000" y="30099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PARTE 3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AFC8D77-28EF-6177-2E1E-9C7D134F8D2E}"/>
              </a:ext>
            </a:extLst>
          </p:cNvPr>
          <p:cNvSpPr txBox="1"/>
          <p:nvPr/>
        </p:nvSpPr>
        <p:spPr>
          <a:xfrm>
            <a:off x="5715000" y="31750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Recalce de cimentaciones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51E1DBC5-C8D3-7A34-F62F-1A45BB972666}"/>
              </a:ext>
            </a:extLst>
          </p:cNvPr>
          <p:cNvSpPr/>
          <p:nvPr/>
        </p:nvSpPr>
        <p:spPr>
          <a:xfrm>
            <a:off x="5105400" y="37084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40D9F8D-63A7-DB6C-08A9-5F6362A2D3DC}"/>
              </a:ext>
            </a:extLst>
          </p:cNvPr>
          <p:cNvSpPr txBox="1"/>
          <p:nvPr/>
        </p:nvSpPr>
        <p:spPr>
          <a:xfrm>
            <a:off x="5715000" y="36703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PARTE 4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106968D-00CC-81CC-6ED1-813AD3EC0E57}"/>
              </a:ext>
            </a:extLst>
          </p:cNvPr>
          <p:cNvSpPr txBox="1"/>
          <p:nvPr/>
        </p:nvSpPr>
        <p:spPr>
          <a:xfrm>
            <a:off x="5715000" y="38354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Gestión del activo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749D4D6-453E-DDB5-25EF-16DA7DB43A63}"/>
              </a:ext>
            </a:extLst>
          </p:cNvPr>
          <p:cNvSpPr/>
          <p:nvPr/>
        </p:nvSpPr>
        <p:spPr>
          <a:xfrm>
            <a:off x="5537200" y="4229100"/>
            <a:ext cx="6045200" cy="584200"/>
          </a:xfrm>
          <a:prstGeom prst="rect">
            <a:avLst/>
          </a:prstGeom>
          <a:solidFill>
            <a:srgbClr val="F0E7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834A9D9-5F0B-6229-CADA-2A92E424A9CC}"/>
              </a:ext>
            </a:extLst>
          </p:cNvPr>
          <p:cNvSpPr/>
          <p:nvPr/>
        </p:nvSpPr>
        <p:spPr>
          <a:xfrm>
            <a:off x="5105400" y="43688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EB178CF-C703-B448-06C6-4FB4E8847BEC}"/>
              </a:ext>
            </a:extLst>
          </p:cNvPr>
          <p:cNvSpPr txBox="1"/>
          <p:nvPr/>
        </p:nvSpPr>
        <p:spPr>
          <a:xfrm>
            <a:off x="5715000" y="43307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CASO RESUELTO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B5DFCFA-C5CD-6B0A-8AB3-0634E0493137}"/>
              </a:ext>
            </a:extLst>
          </p:cNvPr>
          <p:cNvSpPr txBox="1"/>
          <p:nvPr/>
        </p:nvSpPr>
        <p:spPr>
          <a:xfrm>
            <a:off x="5715000" y="44958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La zapata que nadie estaba mirando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D2DABBD5-C569-91CF-5285-B4C70A257923}"/>
              </a:ext>
            </a:extLst>
          </p:cNvPr>
          <p:cNvSpPr/>
          <p:nvPr/>
        </p:nvSpPr>
        <p:spPr>
          <a:xfrm>
            <a:off x="5105400" y="50292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7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27F2124-6B46-387C-B2C7-286C83C8A93E}"/>
              </a:ext>
            </a:extLst>
          </p:cNvPr>
          <p:cNvSpPr txBox="1"/>
          <p:nvPr/>
        </p:nvSpPr>
        <p:spPr>
          <a:xfrm>
            <a:off x="5715000" y="49911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HERRAMIENTAS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122D0FB-7B0C-DF54-D698-D5E84FFF6B23}"/>
              </a:ext>
            </a:extLst>
          </p:cNvPr>
          <p:cNvSpPr txBox="1"/>
          <p:nvPr/>
        </p:nvSpPr>
        <p:spPr>
          <a:xfrm>
            <a:off x="5715000" y="51562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La planilla y el formato de esta clase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42FA9103-C877-AA76-BD6B-641E18F678AB}"/>
              </a:ext>
            </a:extLst>
          </p:cNvPr>
          <p:cNvSpPr/>
          <p:nvPr/>
        </p:nvSpPr>
        <p:spPr>
          <a:xfrm>
            <a:off x="5105400" y="56896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6569708-B213-9C5B-5F1E-BE272B490B2B}"/>
              </a:ext>
            </a:extLst>
          </p:cNvPr>
          <p:cNvSpPr txBox="1"/>
          <p:nvPr/>
        </p:nvSpPr>
        <p:spPr>
          <a:xfrm>
            <a:off x="5715000" y="56515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CIERRE DEL CURSO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110C902-6CFE-2FA2-BE3D-680535496D0F}"/>
              </a:ext>
            </a:extLst>
          </p:cNvPr>
          <p:cNvSpPr txBox="1"/>
          <p:nvPr/>
        </p:nvSpPr>
        <p:spPr>
          <a:xfrm>
            <a:off x="5715000" y="58166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Diez reglas de oro y lo que te llevas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FD16AFD2-53F2-1736-73E7-9FBDC1B7C09D}"/>
              </a:ext>
            </a:extLst>
          </p:cNvPr>
          <p:cNvCxnSpPr/>
          <p:nvPr/>
        </p:nvCxnSpPr>
        <p:spPr>
          <a:xfrm>
            <a:off x="5080000" y="6527800"/>
            <a:ext cx="65024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3EC6885-D9EC-FB5B-7D33-AE5F29EB1747}"/>
              </a:ext>
            </a:extLst>
          </p:cNvPr>
          <p:cNvSpPr txBox="1"/>
          <p:nvPr/>
        </p:nvSpPr>
        <p:spPr>
          <a:xfrm>
            <a:off x="50800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4" name="PageNo">
            <a:extLst>
              <a:ext uri="{FF2B5EF4-FFF2-40B4-BE49-F238E27FC236}">
                <a16:creationId xmlns:a16="http://schemas.microsoft.com/office/drawing/2014/main" id="{D24470AA-D15B-5012-E341-BBC24CAF91FF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02 / 38</a:t>
            </a:r>
          </a:p>
        </p:txBody>
      </p:sp>
    </p:spTree>
    <p:extLst>
      <p:ext uri="{BB962C8B-B14F-4D97-AF65-F5344CB8AC3E}">
        <p14:creationId xmlns:p14="http://schemas.microsoft.com/office/powerpoint/2010/main" val="3370508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7671F61-B533-0833-827B-C3370EF293F8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REPASO DE LA CLASE 6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13BCA32-D622-22A5-A759-85BF3B4074AC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Tres ideas que traemos de la clase anterior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3F2271A-125D-E8D9-6F98-F2D1AB85AF75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81D7AFB-2A85-9745-1BE2-2D2A50E1E808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FF008F3A-CC34-751E-FCDF-C8C28A0420D7}"/>
              </a:ext>
            </a:extLst>
          </p:cNvPr>
          <p:cNvSpPr/>
          <p:nvPr/>
        </p:nvSpPr>
        <p:spPr>
          <a:xfrm>
            <a:off x="609600" y="1498600"/>
            <a:ext cx="34544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966825-6D2B-6883-507F-106F131189F9}"/>
              </a:ext>
            </a:extLst>
          </p:cNvPr>
          <p:cNvSpPr txBox="1"/>
          <p:nvPr/>
        </p:nvSpPr>
        <p:spPr>
          <a:xfrm>
            <a:off x="863600" y="1727200"/>
            <a:ext cx="101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4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BBC244-F136-3132-5F70-8A79BE83AA90}"/>
              </a:ext>
            </a:extLst>
          </p:cNvPr>
          <p:cNvSpPr txBox="1"/>
          <p:nvPr/>
        </p:nvSpPr>
        <p:spPr>
          <a:xfrm>
            <a:off x="863600" y="2413000"/>
            <a:ext cx="294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600">
                <a:solidFill>
                  <a:srgbClr val="1C1813"/>
                </a:solidFill>
                <a:latin typeface="Bahnschrift SemiBold" panose="020B0502040204020203" pitchFamily="34" charset="0"/>
              </a:rPr>
              <a:t>Primero el principio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180B019-16BA-7B04-8C5B-B32F10086064}"/>
              </a:ext>
            </a:extLst>
          </p:cNvPr>
          <p:cNvSpPr txBox="1"/>
          <p:nvPr/>
        </p:nvSpPr>
        <p:spPr>
          <a:xfrm>
            <a:off x="863600" y="3251200"/>
            <a:ext cx="2946400" cy="190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EN 1504-9 da once. La viga V-3 necesitó cinco y la columna C-4 solo tres; el que sobraba era el más caro.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6F229D2-5196-C8FD-AAAE-BFBA19C30AC3}"/>
              </a:ext>
            </a:extLst>
          </p:cNvPr>
          <p:cNvSpPr/>
          <p:nvPr/>
        </p:nvSpPr>
        <p:spPr>
          <a:xfrm>
            <a:off x="4368800" y="1498600"/>
            <a:ext cx="34544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8447F93-58C4-CAEA-B650-7F4DC43450CE}"/>
              </a:ext>
            </a:extLst>
          </p:cNvPr>
          <p:cNvSpPr txBox="1"/>
          <p:nvPr/>
        </p:nvSpPr>
        <p:spPr>
          <a:xfrm>
            <a:off x="4622800" y="1727200"/>
            <a:ext cx="101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4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016956D-2E6C-A981-5DAB-467564CF2960}"/>
              </a:ext>
            </a:extLst>
          </p:cNvPr>
          <p:cNvSpPr txBox="1"/>
          <p:nvPr/>
        </p:nvSpPr>
        <p:spPr>
          <a:xfrm>
            <a:off x="4622800" y="2413000"/>
            <a:ext cx="294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600">
                <a:solidFill>
                  <a:srgbClr val="1C1813"/>
                </a:solidFill>
                <a:latin typeface="Bahnschrift SemiBold" panose="020B0502040204020203" pitchFamily="34" charset="0"/>
              </a:rPr>
              <a:t>El ánodo incipiente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7E3045C-1DA3-7947-4BF4-F41006856E94}"/>
              </a:ext>
            </a:extLst>
          </p:cNvPr>
          <p:cNvSpPr txBox="1"/>
          <p:nvPr/>
        </p:nvSpPr>
        <p:spPr>
          <a:xfrm>
            <a:off x="4622800" y="3251200"/>
            <a:ext cx="2946400" cy="190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Reparar con cloruros sin controlar las áreas anódicas provoca daño nuevo en el borde en seis a veinticuatro meses.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387D1EB-3507-04A7-B5DF-0FB737CDF114}"/>
              </a:ext>
            </a:extLst>
          </p:cNvPr>
          <p:cNvSpPr/>
          <p:nvPr/>
        </p:nvSpPr>
        <p:spPr>
          <a:xfrm>
            <a:off x="8128000" y="1498600"/>
            <a:ext cx="34544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C40CE34-23E0-0809-A00E-763EC307341A}"/>
              </a:ext>
            </a:extLst>
          </p:cNvPr>
          <p:cNvSpPr txBox="1"/>
          <p:nvPr/>
        </p:nvSpPr>
        <p:spPr>
          <a:xfrm>
            <a:off x="8382000" y="1727200"/>
            <a:ext cx="101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4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EB9E536-99DE-1514-38C6-C8E2943049F9}"/>
              </a:ext>
            </a:extLst>
          </p:cNvPr>
          <p:cNvSpPr txBox="1"/>
          <p:nvPr/>
        </p:nvSpPr>
        <p:spPr>
          <a:xfrm>
            <a:off x="8382000" y="2413000"/>
            <a:ext cx="294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600">
                <a:solidFill>
                  <a:srgbClr val="1C1813"/>
                </a:solidFill>
                <a:latin typeface="Bahnschrift SemiBold" panose="020B0502040204020203" pitchFamily="34" charset="0"/>
              </a:rPr>
              <a:t>El modo de rotura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B5843FA-2335-9507-2E09-22E5BD5A4E9F}"/>
              </a:ext>
            </a:extLst>
          </p:cNvPr>
          <p:cNvSpPr txBox="1"/>
          <p:nvPr/>
        </p:nvSpPr>
        <p:spPr>
          <a:xfrm>
            <a:off x="8382000" y="3251200"/>
            <a:ext cx="2946400" cy="190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En el ensayo de arrancamiento dice más que el número: cohesiva en el sustrato no es defecto de la reparación.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5AB9E76-EA16-D0B2-6486-728095178289}"/>
              </a:ext>
            </a:extLst>
          </p:cNvPr>
          <p:cNvSpPr/>
          <p:nvPr/>
        </p:nvSpPr>
        <p:spPr>
          <a:xfrm>
            <a:off x="609600" y="5537200"/>
            <a:ext cx="10972800" cy="6096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4A8B89D-002C-F6E3-0D59-7043CFF1B400}"/>
              </a:ext>
            </a:extLst>
          </p:cNvPr>
          <p:cNvSpPr/>
          <p:nvPr/>
        </p:nvSpPr>
        <p:spPr>
          <a:xfrm>
            <a:off x="609600" y="5537200"/>
            <a:ext cx="57150" cy="609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41572F4-4BCF-DE97-1531-D3FCDD485EAE}"/>
              </a:ext>
            </a:extLst>
          </p:cNvPr>
          <p:cNvSpPr txBox="1"/>
          <p:nvPr/>
        </p:nvSpPr>
        <p:spPr>
          <a:xfrm>
            <a:off x="838200" y="5588000"/>
            <a:ext cx="10566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Pregunta de apertura: ¿qué aplicaste o qué observaste en tu trabajo desde la última clase?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A99B353-42E7-802C-BEAC-A2FEE86BBFEA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5431F98-6E49-FEB9-B4A9-69E9DFBCF758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ADFD9D0-B88B-F8E4-1EB7-DE90420B3145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PageNo">
            <a:extLst>
              <a:ext uri="{FF2B5EF4-FFF2-40B4-BE49-F238E27FC236}">
                <a16:creationId xmlns:a16="http://schemas.microsoft.com/office/drawing/2014/main" id="{FF89FBDA-6767-B202-F262-2565DC1A6454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03 / 38</a:t>
            </a:r>
          </a:p>
        </p:txBody>
      </p:sp>
    </p:spTree>
    <p:extLst>
      <p:ext uri="{BB962C8B-B14F-4D97-AF65-F5344CB8AC3E}">
        <p14:creationId xmlns:p14="http://schemas.microsoft.com/office/powerpoint/2010/main" val="23205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48A886-86F2-35DE-4EC3-F0B3DA2CFC93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MAPA DE LA CLASE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FC728ED-B35F-A086-1509-A5EF265AF486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Reforzar es la última opción, no la primera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24D451C-6E9A-4E2C-4F25-0B4500A0ACA6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A637FC6-569D-BAED-C569-9F13ECB52013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B4174C6-EB12-4203-8715-14F9B6E4101A}"/>
              </a:ext>
            </a:extLst>
          </p:cNvPr>
          <p:cNvCxnSpPr/>
          <p:nvPr/>
        </p:nvCxnSpPr>
        <p:spPr>
          <a:xfrm>
            <a:off x="1917700" y="1841500"/>
            <a:ext cx="1625600" cy="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B2D0524-7A27-5342-A66B-CB368F8D8B5D}"/>
              </a:ext>
            </a:extLst>
          </p:cNvPr>
          <p:cNvCxnSpPr/>
          <p:nvPr/>
        </p:nvCxnSpPr>
        <p:spPr>
          <a:xfrm>
            <a:off x="4152900" y="1841500"/>
            <a:ext cx="1625600" cy="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B0F3DA0-A4F2-448A-310A-7A7845DA8F1B}"/>
              </a:ext>
            </a:extLst>
          </p:cNvPr>
          <p:cNvCxnSpPr/>
          <p:nvPr/>
        </p:nvCxnSpPr>
        <p:spPr>
          <a:xfrm>
            <a:off x="6388100" y="1841500"/>
            <a:ext cx="1625600" cy="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CB7E6CD-01E7-C3E9-E17A-A63CF0462BAA}"/>
              </a:ext>
            </a:extLst>
          </p:cNvPr>
          <p:cNvCxnSpPr/>
          <p:nvPr/>
        </p:nvCxnSpPr>
        <p:spPr>
          <a:xfrm>
            <a:off x="8623300" y="1841500"/>
            <a:ext cx="1625600" cy="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4EAD44C8-1C40-846F-54DF-40C78663A6D7}"/>
              </a:ext>
            </a:extLst>
          </p:cNvPr>
          <p:cNvSpPr/>
          <p:nvPr/>
        </p:nvSpPr>
        <p:spPr>
          <a:xfrm>
            <a:off x="13970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CFEDF9-5EC6-4167-0324-2AB913EE528C}"/>
              </a:ext>
            </a:extLst>
          </p:cNvPr>
          <p:cNvSpPr txBox="1"/>
          <p:nvPr/>
        </p:nvSpPr>
        <p:spPr>
          <a:xfrm>
            <a:off x="6096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La demanda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9E459FF-1F0F-16E9-49C5-6365B3B9EEFD}"/>
              </a:ext>
            </a:extLst>
          </p:cNvPr>
          <p:cNvSpPr txBox="1"/>
          <p:nvPr/>
        </p:nvSpPr>
        <p:spPr>
          <a:xfrm>
            <a:off x="6096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Qué se le va a pedir de verdad al elemento, con la combinación y el código vigentes.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6D0A229-1395-7FDD-818F-B636F64ED94E}"/>
              </a:ext>
            </a:extLst>
          </p:cNvPr>
          <p:cNvSpPr/>
          <p:nvPr/>
        </p:nvSpPr>
        <p:spPr>
          <a:xfrm>
            <a:off x="36322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C20779-FE01-82BE-F8A9-301400D07DBF}"/>
              </a:ext>
            </a:extLst>
          </p:cNvPr>
          <p:cNvSpPr txBox="1"/>
          <p:nvPr/>
        </p:nvSpPr>
        <p:spPr>
          <a:xfrm>
            <a:off x="28448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La capacidad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6E2DCB5-DA0C-AC68-A90A-9D4F8DBE4758}"/>
              </a:ext>
            </a:extLst>
          </p:cNvPr>
          <p:cNvSpPr txBox="1"/>
          <p:nvPr/>
        </p:nvSpPr>
        <p:spPr>
          <a:xfrm>
            <a:off x="28448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Con las propiedades medidas en la clase 5, no con las de proyecto.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22EC583-CF79-15B8-3C2A-D594A8025716}"/>
              </a:ext>
            </a:extLst>
          </p:cNvPr>
          <p:cNvSpPr/>
          <p:nvPr/>
        </p:nvSpPr>
        <p:spPr>
          <a:xfrm>
            <a:off x="58674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6FF33D3-EA49-A692-EE3A-272FA569AD37}"/>
              </a:ext>
            </a:extLst>
          </p:cNvPr>
          <p:cNvSpPr txBox="1"/>
          <p:nvPr/>
        </p:nvSpPr>
        <p:spPr>
          <a:xfrm>
            <a:off x="50800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La comparación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4C77F35-B07B-042C-4553-D0433D22A852}"/>
              </a:ext>
            </a:extLst>
          </p:cNvPr>
          <p:cNvSpPr txBox="1"/>
          <p:nvPr/>
        </p:nvSpPr>
        <p:spPr>
          <a:xfrm>
            <a:off x="50800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Si la capacidad gana, se documenta y no se refuerza. Es la salida más frecuente.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3EF78C6-72B4-1DA0-1954-C5426A1815BF}"/>
              </a:ext>
            </a:extLst>
          </p:cNvPr>
          <p:cNvSpPr/>
          <p:nvPr/>
        </p:nvSpPr>
        <p:spPr>
          <a:xfrm>
            <a:off x="81026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B9813A7-E107-3FE4-8565-663E02250E91}"/>
              </a:ext>
            </a:extLst>
          </p:cNvPr>
          <p:cNvSpPr txBox="1"/>
          <p:nvPr/>
        </p:nvSpPr>
        <p:spPr>
          <a:xfrm>
            <a:off x="73152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El refuerzo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18E544A-1AF5-2E61-3D20-D88BB413B1C6}"/>
              </a:ext>
            </a:extLst>
          </p:cNvPr>
          <p:cNvSpPr txBox="1"/>
          <p:nvPr/>
        </p:nvSpPr>
        <p:spPr>
          <a:xfrm>
            <a:off x="73152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Solo donde la comparación falle, y con la técnica que el elemento admita.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7D539CF-7ED8-2BAC-5167-0914B37F5FD2}"/>
              </a:ext>
            </a:extLst>
          </p:cNvPr>
          <p:cNvSpPr/>
          <p:nvPr/>
        </p:nvSpPr>
        <p:spPr>
          <a:xfrm>
            <a:off x="103378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5F95920-4605-280A-498E-0AD3C6CF4E05}"/>
              </a:ext>
            </a:extLst>
          </p:cNvPr>
          <p:cNvSpPr txBox="1"/>
          <p:nvPr/>
        </p:nvSpPr>
        <p:spPr>
          <a:xfrm>
            <a:off x="95504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La gestión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FD69829-2973-FE94-836F-7B912A98625F}"/>
              </a:ext>
            </a:extLst>
          </p:cNvPr>
          <p:cNvSpPr txBox="1"/>
          <p:nvPr/>
        </p:nvSpPr>
        <p:spPr>
          <a:xfrm>
            <a:off x="95504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Plan de mantenimiento con fechas, responsables y criterio de alarma.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78EE71F2-4648-2EFB-CAB2-BD8D86413EA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94200"/>
            <a:ext cx="10972800" cy="132080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D92522BB-0299-DD75-4C65-1D24965507FB}"/>
              </a:ext>
            </a:extLst>
          </p:cNvPr>
          <p:cNvSpPr/>
          <p:nvPr/>
        </p:nvSpPr>
        <p:spPr>
          <a:xfrm>
            <a:off x="609600" y="5537200"/>
            <a:ext cx="10972800" cy="6350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2E9626A-92AE-9A73-4D7A-1F52A0B30284}"/>
              </a:ext>
            </a:extLst>
          </p:cNvPr>
          <p:cNvSpPr/>
          <p:nvPr/>
        </p:nvSpPr>
        <p:spPr>
          <a:xfrm>
            <a:off x="609600" y="5537200"/>
            <a:ext cx="57150" cy="635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F2CDBFB-2348-9BC3-75ED-01D4FFD935DD}"/>
              </a:ext>
            </a:extLst>
          </p:cNvPr>
          <p:cNvSpPr txBox="1"/>
          <p:nvPr/>
        </p:nvSpPr>
        <p:spPr>
          <a:xfrm>
            <a:off x="838200" y="5588000"/>
            <a:ext cx="10566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El paso 3 es el que más dinero ahorra en toda la profesión.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Demostrar con números que una estructura sirve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 vale tanto como diseñar el refuerzo que no hacía falta, y cuesta mucho menos.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E1529F9-B2B8-E921-B329-04E3BC701F10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n-US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562, Code Requirements for Assessment, Repair and Rehabilitation of Existing Concrete Structures.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C67AE393-87BA-6518-347E-BD3623D1FEDA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98C9C1B-86BA-F1B0-0BC6-73D23F6DAE5A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EF8E25A-6A96-8F8B-71F7-5B2440E8B8B3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PageNo">
            <a:extLst>
              <a:ext uri="{FF2B5EF4-FFF2-40B4-BE49-F238E27FC236}">
                <a16:creationId xmlns:a16="http://schemas.microsoft.com/office/drawing/2014/main" id="{F22001E6-7344-E426-C9F6-1DB2644E3172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04 / 38</a:t>
            </a:r>
          </a:p>
        </p:txBody>
      </p:sp>
    </p:spTree>
    <p:extLst>
      <p:ext uri="{BB962C8B-B14F-4D97-AF65-F5344CB8AC3E}">
        <p14:creationId xmlns:p14="http://schemas.microsoft.com/office/powerpoint/2010/main" val="573668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0EAEF6-2F6C-EAE2-4BAA-7DCCCFF986A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52A47FB-AAEA-8D10-FC87-B852F63BA76E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8D81FC7-D722-7813-ED2B-C3467760C0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B94C3EB-C2E7-A4DC-21C2-A68AF2DB799B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PARTE 1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835CD40C-2A54-4E9E-1D73-F9EB10B89632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3800">
                <a:solidFill>
                  <a:srgbClr val="FFFFFF"/>
                </a:solidFill>
                <a:latin typeface="Bahnschrift SemiBold" panose="020B0502040204020203" pitchFamily="34" charset="0"/>
              </a:rPr>
              <a:t>Recálculo con lo que hay</a:t>
            </a:r>
            <a:endParaRPr lang="es-BO" sz="38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27FAE3D-1E9E-73F6-31E7-9F1C6E68B8E0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60A71A-DF14-2E5B-82F3-709A29ABA255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No se recalcula con la memoria de 1998: se recalcula con lo que se midió en 2026.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D452CC-8280-2740-7DDA-FAE1DF4EFAEF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1B6A89-F6F5-BD73-113B-600115E3AB35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Qué se recalcula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19C2158-5E32-3238-1D7F-3916498A7344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1C4E0DB-7EFD-C966-8DDB-F0BF98282296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Con qué propiedades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057CC11-390D-C1FF-F6FB-ABDC8A25FB39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D30446B-C35D-9B9B-4674-31BAA1EC88A5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Capacidad frente a demanda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0729934-A8AD-74ED-47A4-AADA02D74769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C928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27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74CC40-FDEC-5925-ED75-38185297009D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1 · DE DÓNDE SALE CADA DATO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51EAB42-F3E8-6ACE-03CD-08FC66965BED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Seis propiedades, y ninguna se copia del proyecto original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2DB6C3E-43E2-C316-5B3A-57EE5F93FB3A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37FD0D6-1128-3376-8E4C-52BCE1A0B72D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782C4B3-8C7F-2BF3-1697-3413DB0EC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157843"/>
              </p:ext>
            </p:extLst>
          </p:nvPr>
        </p:nvGraphicFramePr>
        <p:xfrm>
          <a:off x="609600" y="1422400"/>
          <a:ext cx="62992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2311785368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583340625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190455713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617800457"/>
                    </a:ext>
                  </a:extLst>
                </a:gridCol>
              </a:tblGrid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Propiedad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De dónde sale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Clase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Si no se midió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153964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Resistencia del hormigón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Testigos corregidos con ACI 214.4R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No se recalcula: se mide primero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74563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Geometría real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Levantamiento en obra, no planos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Se levanta: las diferencias son habituales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148853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Posición de la armadura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Pacómetro, con recubrimiento real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Se mide: cambia el canto útil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622535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Sección residual de barras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Ventana de comprobación y pie de rey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3 y 5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Se estima con Faraday y se declara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91229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Límite elástico del acero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Proyecto si hay documentación, o ensayo de probeta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Se adopta el valor del código de la época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273593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Cargas reales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Uso actual y uso previsto, verificados en obra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Se pregunta: nadie almacena lo que decía el proyecto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927844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8A09E932-E861-5B13-C78E-F25A3D4DF41D}"/>
              </a:ext>
            </a:extLst>
          </p:cNvPr>
          <p:cNvSpPr/>
          <p:nvPr/>
        </p:nvSpPr>
        <p:spPr>
          <a:xfrm>
            <a:off x="7213600" y="1422400"/>
            <a:ext cx="4368800" cy="340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7A3F330-B06D-96FD-6DA7-8BE9BE1E7EDE}"/>
              </a:ext>
            </a:extLst>
          </p:cNvPr>
          <p:cNvSpPr/>
          <p:nvPr/>
        </p:nvSpPr>
        <p:spPr>
          <a:xfrm>
            <a:off x="7213600" y="1422400"/>
            <a:ext cx="38100" cy="3403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8FEAE2-AB79-A453-CD99-296CE03C41BC}"/>
              </a:ext>
            </a:extLst>
          </p:cNvPr>
          <p:cNvSpPr txBox="1"/>
          <p:nvPr/>
        </p:nvSpPr>
        <p:spPr>
          <a:xfrm>
            <a:off x="7416800" y="1536700"/>
            <a:ext cx="3987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CAPACIDAD FRENTE A DEMANDA  ·  COLUMNA C-4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178156C-C483-A680-EF09-8C102EA4C27B}"/>
              </a:ext>
            </a:extLst>
          </p:cNvPr>
          <p:cNvSpPr/>
          <p:nvPr/>
        </p:nvSpPr>
        <p:spPr>
          <a:xfrm>
            <a:off x="7645400" y="2667000"/>
            <a:ext cx="905933" cy="660400"/>
          </a:xfrm>
          <a:prstGeom prst="rect">
            <a:avLst/>
          </a:prstGeom>
          <a:solidFill>
            <a:srgbClr val="5A5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0D2F03D-A182-6C39-3D79-91872764B554}"/>
              </a:ext>
            </a:extLst>
          </p:cNvPr>
          <p:cNvSpPr txBox="1"/>
          <p:nvPr/>
        </p:nvSpPr>
        <p:spPr>
          <a:xfrm>
            <a:off x="7543800" y="2489200"/>
            <a:ext cx="1109133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>
                <a:solidFill>
                  <a:srgbClr val="5A5248"/>
                </a:solidFill>
                <a:latin typeface="Segoe UI Semibold" panose="020B0702040204020203" pitchFamily="34" charset="0"/>
              </a:rPr>
              <a:t>U = 1 250 kN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8AE3742-0F69-DA10-C65B-ED23835B035D}"/>
              </a:ext>
            </a:extLst>
          </p:cNvPr>
          <p:cNvSpPr txBox="1"/>
          <p:nvPr/>
        </p:nvSpPr>
        <p:spPr>
          <a:xfrm>
            <a:off x="7543800" y="3378200"/>
            <a:ext cx="11091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938A7C"/>
                </a:solidFill>
                <a:latin typeface="Segoe UI" panose="020B0502040204020203" pitchFamily="34" charset="0"/>
              </a:rPr>
              <a:t>DEMANDA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9FBE909-553E-9E03-C526-4503903FB289}"/>
              </a:ext>
            </a:extLst>
          </p:cNvPr>
          <p:cNvSpPr/>
          <p:nvPr/>
        </p:nvSpPr>
        <p:spPr>
          <a:xfrm>
            <a:off x="8856133" y="2587752"/>
            <a:ext cx="905933" cy="739648"/>
          </a:xfrm>
          <a:prstGeom prst="rect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0DFE35B-0D1C-CEB3-E7E1-7E908FA87F09}"/>
              </a:ext>
            </a:extLst>
          </p:cNvPr>
          <p:cNvSpPr txBox="1"/>
          <p:nvPr/>
        </p:nvSpPr>
        <p:spPr>
          <a:xfrm>
            <a:off x="8754533" y="2409952"/>
            <a:ext cx="1109133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l-GR" sz="700">
                <a:solidFill>
                  <a:srgbClr val="8C332B"/>
                </a:solidFill>
                <a:latin typeface="Segoe UI Semibold" panose="020B0702040204020203" pitchFamily="34" charset="0"/>
              </a:rPr>
              <a:t>φ</a:t>
            </a:r>
            <a:r>
              <a:rPr lang="es-BO" sz="700">
                <a:solidFill>
                  <a:srgbClr val="8C332B"/>
                </a:solidFill>
                <a:latin typeface="Segoe UI Semibold" panose="020B0702040204020203" pitchFamily="34" charset="0"/>
              </a:rPr>
              <a:t>Pn = 1 400 kN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712D933-82A2-B2E4-9ECB-249630BC3291}"/>
              </a:ext>
            </a:extLst>
          </p:cNvPr>
          <p:cNvSpPr txBox="1"/>
          <p:nvPr/>
        </p:nvSpPr>
        <p:spPr>
          <a:xfrm>
            <a:off x="8754533" y="3378200"/>
            <a:ext cx="11091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938A7C"/>
                </a:solidFill>
                <a:latin typeface="Segoe UI" panose="020B0502040204020203" pitchFamily="34" charset="0"/>
              </a:rPr>
              <a:t>RECUBRIMIENTO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70BBC78-8529-CD00-A7CF-4C66A9E2FCB7}"/>
              </a:ext>
            </a:extLst>
          </p:cNvPr>
          <p:cNvSpPr/>
          <p:nvPr/>
        </p:nvSpPr>
        <p:spPr>
          <a:xfrm>
            <a:off x="10066867" y="2468880"/>
            <a:ext cx="905933" cy="858520"/>
          </a:xfrm>
          <a:prstGeom prst="rect">
            <a:avLst/>
          </a:prstGeom>
          <a:solidFill>
            <a:srgbClr val="4C5F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546AB82-7B1F-8F41-B7E7-28E45859D85E}"/>
              </a:ext>
            </a:extLst>
          </p:cNvPr>
          <p:cNvSpPr txBox="1"/>
          <p:nvPr/>
        </p:nvSpPr>
        <p:spPr>
          <a:xfrm>
            <a:off x="9965267" y="2291080"/>
            <a:ext cx="1109133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l-GR" sz="700">
                <a:solidFill>
                  <a:srgbClr val="4C5F33"/>
                </a:solidFill>
                <a:latin typeface="Segoe UI Semibold" panose="020B0702040204020203" pitchFamily="34" charset="0"/>
              </a:rPr>
              <a:t>φ</a:t>
            </a:r>
            <a:r>
              <a:rPr lang="es-BO" sz="700">
                <a:solidFill>
                  <a:srgbClr val="4C5F33"/>
                </a:solidFill>
                <a:latin typeface="Segoe UI Semibold" panose="020B0702040204020203" pitchFamily="34" charset="0"/>
              </a:rPr>
              <a:t>Pn = 1 625 kN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A0222E6-E145-B67E-6314-5C95010C2895}"/>
              </a:ext>
            </a:extLst>
          </p:cNvPr>
          <p:cNvSpPr txBox="1"/>
          <p:nvPr/>
        </p:nvSpPr>
        <p:spPr>
          <a:xfrm>
            <a:off x="9965267" y="3378200"/>
            <a:ext cx="11091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938A7C"/>
                </a:solidFill>
                <a:latin typeface="Segoe UI" panose="020B0502040204020203" pitchFamily="34" charset="0"/>
              </a:rPr>
              <a:t>REPUESTO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B8F99BC8-062F-E864-536A-5793054704D0}"/>
              </a:ext>
            </a:extLst>
          </p:cNvPr>
          <p:cNvCxnSpPr/>
          <p:nvPr/>
        </p:nvCxnSpPr>
        <p:spPr>
          <a:xfrm>
            <a:off x="7569200" y="3327400"/>
            <a:ext cx="3657600" cy="0"/>
          </a:xfrm>
          <a:prstGeom prst="line">
            <a:avLst/>
          </a:prstGeom>
          <a:ln w="12700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22AE92F-1DA6-DBAC-4B8A-7EF43CE06740}"/>
              </a:ext>
            </a:extLst>
          </p:cNvPr>
          <p:cNvCxnSpPr/>
          <p:nvPr/>
        </p:nvCxnSpPr>
        <p:spPr>
          <a:xfrm>
            <a:off x="7569200" y="2667000"/>
            <a:ext cx="3657600" cy="0"/>
          </a:xfrm>
          <a:prstGeom prst="line">
            <a:avLst/>
          </a:prstGeom>
          <a:ln w="12700" cap="sq">
            <a:solidFill>
              <a:srgbClr val="1C1813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F6E5AE7-58F4-DFED-730C-DB8DD6D1EE7F}"/>
              </a:ext>
            </a:extLst>
          </p:cNvPr>
          <p:cNvSpPr txBox="1"/>
          <p:nvPr/>
        </p:nvSpPr>
        <p:spPr>
          <a:xfrm>
            <a:off x="10185400" y="2527300"/>
            <a:ext cx="104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nivel de demanda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A333C4F-66A0-D941-149B-4833B9006A46}"/>
              </a:ext>
            </a:extLst>
          </p:cNvPr>
          <p:cNvSpPr/>
          <p:nvPr/>
        </p:nvSpPr>
        <p:spPr>
          <a:xfrm>
            <a:off x="7569200" y="3606800"/>
            <a:ext cx="38100" cy="228600"/>
          </a:xfrm>
          <a:prstGeom prst="rect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F58C22A-109C-3258-AB23-6E32A8BA54F0}"/>
              </a:ext>
            </a:extLst>
          </p:cNvPr>
          <p:cNvSpPr txBox="1"/>
          <p:nvPr/>
        </p:nvSpPr>
        <p:spPr>
          <a:xfrm>
            <a:off x="7670800" y="3581400"/>
            <a:ext cx="3505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1C1813"/>
                </a:solidFill>
                <a:latin typeface="Segoe UI Semibold" panose="020B0702040204020203" pitchFamily="34" charset="0"/>
              </a:rPr>
              <a:t>Con el recubrimiento desprendido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89EB2D4-CEA5-D442-EFB7-5D97863808BC}"/>
              </a:ext>
            </a:extLst>
          </p:cNvPr>
          <p:cNvSpPr txBox="1"/>
          <p:nvPr/>
        </p:nvSpPr>
        <p:spPr>
          <a:xfrm>
            <a:off x="7670800" y="3708400"/>
            <a:ext cx="350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650">
                <a:solidFill>
                  <a:srgbClr val="8C332B"/>
                </a:solidFill>
                <a:latin typeface="Segoe UI" panose="020B0502040204020203" pitchFamily="34" charset="0"/>
              </a:rPr>
              <a:t>margen 1,12  ·  cumple, pero sin reserva</a:t>
            </a:r>
            <a:endParaRPr lang="es-BO" sz="650">
              <a:solidFill>
                <a:srgbClr val="8C332B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65B3266-8B20-B5B0-4026-4C779D31EA97}"/>
              </a:ext>
            </a:extLst>
          </p:cNvPr>
          <p:cNvSpPr/>
          <p:nvPr/>
        </p:nvSpPr>
        <p:spPr>
          <a:xfrm>
            <a:off x="7569200" y="3911600"/>
            <a:ext cx="38100" cy="228600"/>
          </a:xfrm>
          <a:prstGeom prst="rect">
            <a:avLst/>
          </a:prstGeom>
          <a:solidFill>
            <a:srgbClr val="4C5F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60DC43B-0E08-03BD-24F6-D10BAC1DE38D}"/>
              </a:ext>
            </a:extLst>
          </p:cNvPr>
          <p:cNvSpPr txBox="1"/>
          <p:nvPr/>
        </p:nvSpPr>
        <p:spPr>
          <a:xfrm>
            <a:off x="7670800" y="3886200"/>
            <a:ext cx="3505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1C1813"/>
                </a:solidFill>
                <a:latin typeface="Segoe UI Semibold" panose="020B0702040204020203" pitchFamily="34" charset="0"/>
              </a:rPr>
              <a:t>Con el recubrimiento repuesto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7F41509-5571-BF8B-3113-626AD5A91CD5}"/>
              </a:ext>
            </a:extLst>
          </p:cNvPr>
          <p:cNvSpPr txBox="1"/>
          <p:nvPr/>
        </p:nvSpPr>
        <p:spPr>
          <a:xfrm>
            <a:off x="7670800" y="4013200"/>
            <a:ext cx="350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650">
                <a:solidFill>
                  <a:srgbClr val="4C5F33"/>
                </a:solidFill>
                <a:latin typeface="Segoe UI" panose="020B0502040204020203" pitchFamily="34" charset="0"/>
              </a:rPr>
              <a:t>margen 1,30  ·  no hace falta reforzar</a:t>
            </a:r>
            <a:endParaRPr lang="es-BO" sz="650">
              <a:solidFill>
                <a:srgbClr val="4C5F33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6D63A18-7C8E-5A9D-FC16-CD4407476A12}"/>
              </a:ext>
            </a:extLst>
          </p:cNvPr>
          <p:cNvSpPr txBox="1"/>
          <p:nvPr/>
        </p:nvSpPr>
        <p:spPr>
          <a:xfrm>
            <a:off x="7569200" y="4241800"/>
            <a:ext cx="365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Si la capacidad gana, </a:t>
            </a:r>
            <a:r>
              <a:rPr lang="es-MX" sz="700" b="1">
                <a:solidFill>
                  <a:srgbClr val="5A5248"/>
                </a:solidFill>
                <a:latin typeface="Segoe UI Semibold" panose="020B0702040204020203" pitchFamily="34" charset="0"/>
              </a:rPr>
              <a:t>se documenta y no se refuerza</a:t>
            </a:r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: es la salida más frecuente, y la que más dinero ahorra en toda la profesión.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55C382-E463-2CD0-3E35-643EC8D4FD33}"/>
              </a:ext>
            </a:extLst>
          </p:cNvPr>
          <p:cNvSpPr/>
          <p:nvPr/>
        </p:nvSpPr>
        <p:spPr>
          <a:xfrm>
            <a:off x="609600" y="5029200"/>
            <a:ext cx="10972800" cy="711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C284382-D81A-4070-D29B-3B9E3240D712}"/>
              </a:ext>
            </a:extLst>
          </p:cNvPr>
          <p:cNvSpPr/>
          <p:nvPr/>
        </p:nvSpPr>
        <p:spPr>
          <a:xfrm>
            <a:off x="609600" y="5029200"/>
            <a:ext cx="57150" cy="711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EF465B7-38E6-00E7-388A-368A16494D42}"/>
              </a:ext>
            </a:extLst>
          </p:cNvPr>
          <p:cNvSpPr txBox="1"/>
          <p:nvPr/>
        </p:nvSpPr>
        <p:spPr>
          <a:xfrm>
            <a:off x="838200" y="50800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 cuarta fila es la que distingue este curso.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Una barra con el 7 % de sección perdida sigue siendo 4 Ø20 en el plano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y en el recálculo tiene que entrar con el diámetro que de verdad le queda.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09E7E9A-FD6F-3B9D-DA84-C302875ACD8E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§6; ACI 364.1R.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015CE42-CD75-BC8D-17A2-85F19ADEF1B2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CF784D7-CE58-E4AC-CF38-F0645BC15301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92C96C8-CD96-E635-13C2-8006227DDDAC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PageNo">
            <a:extLst>
              <a:ext uri="{FF2B5EF4-FFF2-40B4-BE49-F238E27FC236}">
                <a16:creationId xmlns:a16="http://schemas.microsoft.com/office/drawing/2014/main" id="{33B228AE-7AB1-AD05-9B09-F58C73C6126F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06 / 38</a:t>
            </a:r>
          </a:p>
        </p:txBody>
      </p:sp>
    </p:spTree>
    <p:extLst>
      <p:ext uri="{BB962C8B-B14F-4D97-AF65-F5344CB8AC3E}">
        <p14:creationId xmlns:p14="http://schemas.microsoft.com/office/powerpoint/2010/main" val="3384914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5A7491-A65B-4617-EE30-EEFFB3A94899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1 · CAPACIDAD FRENTE A DEMANDA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FA809A4-34F5-94B5-DA2D-DDA629A06952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Dos comprobaciones distintas, y una de ellas no es negociable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5827D58-0EB7-370D-2E84-FFEB44CC70FA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CE74BE2-16E2-61C9-3BF4-73349E308CF7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4D254A53-59D9-584E-796C-9C1D9FA50E11}"/>
              </a:ext>
            </a:extLst>
          </p:cNvPr>
          <p:cNvSpPr/>
          <p:nvPr/>
        </p:nvSpPr>
        <p:spPr>
          <a:xfrm>
            <a:off x="609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B276DB-FC4F-6580-0C41-9649555472C7}"/>
              </a:ext>
            </a:extLst>
          </p:cNvPr>
          <p:cNvSpPr/>
          <p:nvPr/>
        </p:nvSpPr>
        <p:spPr>
          <a:xfrm>
            <a:off x="609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35D6B5-E0EE-9212-88EC-66AEE5AA6B73}"/>
              </a:ext>
            </a:extLst>
          </p:cNvPr>
          <p:cNvSpPr txBox="1"/>
          <p:nvPr/>
        </p:nvSpPr>
        <p:spPr>
          <a:xfrm>
            <a:off x="812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C3C27FA-6566-26F7-CC02-3668F654D380}"/>
              </a:ext>
            </a:extLst>
          </p:cNvPr>
          <p:cNvSpPr txBox="1"/>
          <p:nvPr/>
        </p:nvSpPr>
        <p:spPr>
          <a:xfrm>
            <a:off x="812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La capacidad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8129721-A20C-17DC-3F9A-7F08320F1CD7}"/>
              </a:ext>
            </a:extLst>
          </p:cNvPr>
          <p:cNvSpPr txBox="1"/>
          <p:nvPr/>
        </p:nvSpPr>
        <p:spPr>
          <a:xfrm>
            <a:off x="812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φRn ≥ U con la demanda del uso previsto. Es la que decide si la estructura sirve, y se hace con las propiedades medidas.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C4CEE38-D74E-8C8F-5EC3-659311F2962B}"/>
              </a:ext>
            </a:extLst>
          </p:cNvPr>
          <p:cNvSpPr/>
          <p:nvPr/>
        </p:nvSpPr>
        <p:spPr>
          <a:xfrm>
            <a:off x="3403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EECAC5-814D-3413-6BC6-43D48FDF60A1}"/>
              </a:ext>
            </a:extLst>
          </p:cNvPr>
          <p:cNvSpPr/>
          <p:nvPr/>
        </p:nvSpPr>
        <p:spPr>
          <a:xfrm>
            <a:off x="3403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30E7D05-6324-0B46-692A-E837CA9A7DA9}"/>
              </a:ext>
            </a:extLst>
          </p:cNvPr>
          <p:cNvSpPr txBox="1"/>
          <p:nvPr/>
        </p:nvSpPr>
        <p:spPr>
          <a:xfrm>
            <a:off x="3606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FC7C2FD-E317-AC54-33B5-567994ACC15C}"/>
              </a:ext>
            </a:extLst>
          </p:cNvPr>
          <p:cNvSpPr txBox="1"/>
          <p:nvPr/>
        </p:nvSpPr>
        <p:spPr>
          <a:xfrm>
            <a:off x="3606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Los prescriptivos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BC4B416-BEB2-94E7-E5BA-2BB8FE80EAE2}"/>
              </a:ext>
            </a:extLst>
          </p:cNvPr>
          <p:cNvSpPr txBox="1"/>
          <p:nvPr/>
        </p:nvSpPr>
        <p:spPr>
          <a:xfrm>
            <a:off x="3606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Cuantías mínimas, separaciones de estribos, longitudes de anclaje. Son reglas de obra nueva, pensadas para asegurar comportamiento, no capacidad.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8B4B0CC-9B5E-C1DE-BF5F-92F8021E2A4A}"/>
              </a:ext>
            </a:extLst>
          </p:cNvPr>
          <p:cNvSpPr/>
          <p:nvPr/>
        </p:nvSpPr>
        <p:spPr>
          <a:xfrm>
            <a:off x="6197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4D0E4C1-F25D-B0CB-90AC-41F28E9180CF}"/>
              </a:ext>
            </a:extLst>
          </p:cNvPr>
          <p:cNvSpPr/>
          <p:nvPr/>
        </p:nvSpPr>
        <p:spPr>
          <a:xfrm>
            <a:off x="6197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FF418AE-654D-C512-8783-AEACB91A6229}"/>
              </a:ext>
            </a:extLst>
          </p:cNvPr>
          <p:cNvSpPr txBox="1"/>
          <p:nvPr/>
        </p:nvSpPr>
        <p:spPr>
          <a:xfrm>
            <a:off x="6400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11F4248-C890-F8E2-401C-04C0CEFEF62B}"/>
              </a:ext>
            </a:extLst>
          </p:cNvPr>
          <p:cNvSpPr txBox="1"/>
          <p:nvPr/>
        </p:nvSpPr>
        <p:spPr>
          <a:xfrm>
            <a:off x="6400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Si falla uno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0BA1A9F-9065-5B8A-06B1-310175871DFC}"/>
              </a:ext>
            </a:extLst>
          </p:cNvPr>
          <p:cNvSpPr txBox="1"/>
          <p:nvPr/>
        </p:nvSpPr>
        <p:spPr>
          <a:xfrm>
            <a:off x="6400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Declararlo, evaluar la consecuencia concreta y decidir. No se demuele una columna porque le falte una décima de cuantía mínima.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2BBC93C-6593-B99C-5A1F-D38901373AF8}"/>
              </a:ext>
            </a:extLst>
          </p:cNvPr>
          <p:cNvSpPr/>
          <p:nvPr/>
        </p:nvSpPr>
        <p:spPr>
          <a:xfrm>
            <a:off x="8991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3727EB0-15E3-C0ED-1D5C-6934CBF3256A}"/>
              </a:ext>
            </a:extLst>
          </p:cNvPr>
          <p:cNvSpPr/>
          <p:nvPr/>
        </p:nvSpPr>
        <p:spPr>
          <a:xfrm>
            <a:off x="8991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BDBE7CC-6809-790B-DF36-76E41699DAE9}"/>
              </a:ext>
            </a:extLst>
          </p:cNvPr>
          <p:cNvSpPr txBox="1"/>
          <p:nvPr/>
        </p:nvSpPr>
        <p:spPr>
          <a:xfrm>
            <a:off x="9194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1F9F220-D97A-44F6-6A86-C806B5B4FC48}"/>
              </a:ext>
            </a:extLst>
          </p:cNvPr>
          <p:cNvSpPr txBox="1"/>
          <p:nvPr/>
        </p:nvSpPr>
        <p:spPr>
          <a:xfrm>
            <a:off x="9194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300">
                <a:solidFill>
                  <a:srgbClr val="1C1813"/>
                </a:solidFill>
                <a:latin typeface="Bahnschrift SemiBold" panose="020B0502040204020203" pitchFamily="34" charset="0"/>
              </a:rPr>
              <a:t>Lo que no se puede</a:t>
            </a:r>
            <a:endParaRPr lang="es-BO" sz="13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0374A85-F49C-92A8-B2D9-93E771987E2B}"/>
              </a:ext>
            </a:extLst>
          </p:cNvPr>
          <p:cNvSpPr txBox="1"/>
          <p:nvPr/>
        </p:nvSpPr>
        <p:spPr>
          <a:xfrm>
            <a:off x="9194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Callarlo. Un incumplimiento prescriptivo no declarado es exactamente el tipo de cosa que aparece cuando alguien revisa el informe.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2852F3A1-CB80-DE59-F7B5-5D4233BD692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18000"/>
            <a:ext cx="10972800" cy="1320800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E83E4ADF-DEBC-9E01-AB24-73CE7806E963}"/>
              </a:ext>
            </a:extLst>
          </p:cNvPr>
          <p:cNvSpPr/>
          <p:nvPr/>
        </p:nvSpPr>
        <p:spPr>
          <a:xfrm>
            <a:off x="609600" y="5765800"/>
            <a:ext cx="10972800" cy="406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5C67AF4-42AE-B412-FCA9-898861D7C8D0}"/>
              </a:ext>
            </a:extLst>
          </p:cNvPr>
          <p:cNvSpPr/>
          <p:nvPr/>
        </p:nvSpPr>
        <p:spPr>
          <a:xfrm>
            <a:off x="609600" y="5765800"/>
            <a:ext cx="57150" cy="406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7D93115-D8A4-F03C-CAF7-01522B6A977B}"/>
              </a:ext>
            </a:extLst>
          </p:cNvPr>
          <p:cNvSpPr txBox="1"/>
          <p:nvPr/>
        </p:nvSpPr>
        <p:spPr>
          <a:xfrm>
            <a:off x="838200" y="5816600"/>
            <a:ext cx="1056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ACI 562 evalúa lo existente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frente a la demanda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no frente al recetario de obra nueva. Pero exige identificar las deficiencias de detalle y razonar su efecto: es un criterio, no una exención.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9E9691B-079F-050A-9ABF-A08F63EC92B1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§5 y §6; ACI 318-19 §10.6.1.1 y §25.7.2 para los prescriptivos citados.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E66ECE3D-E885-9F3C-C4ED-06E215903883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9CC8F6B-E868-06FD-E377-970A356678C0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4AAD284-9CA1-7BF6-7A4C-F390CBE37FA2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PageNo">
            <a:extLst>
              <a:ext uri="{FF2B5EF4-FFF2-40B4-BE49-F238E27FC236}">
                <a16:creationId xmlns:a16="http://schemas.microsoft.com/office/drawing/2014/main" id="{445269D8-FDA5-259F-088A-B453D700C1AA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07 / 38</a:t>
            </a:r>
          </a:p>
        </p:txBody>
      </p:sp>
    </p:spTree>
    <p:extLst>
      <p:ext uri="{BB962C8B-B14F-4D97-AF65-F5344CB8AC3E}">
        <p14:creationId xmlns:p14="http://schemas.microsoft.com/office/powerpoint/2010/main" val="307256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1485560-3CEF-2BBE-97AA-E2B14C59EAD2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1 · EL CAMBIO DE USO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01B931B-B250-398D-5DFD-817E03FAAE36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Casi todos los encargos de este curso empiezan aquí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32A23E8-790E-A7DE-0D40-80DBEA2EF20A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B001F6C-90C5-21B5-8A60-2D12DDCBC8CD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F5A6E5EE-AE3A-57BA-CADA-58F6279E0963}"/>
              </a:ext>
            </a:extLst>
          </p:cNvPr>
          <p:cNvSpPr/>
          <p:nvPr/>
        </p:nvSpPr>
        <p:spPr>
          <a:xfrm>
            <a:off x="609600" y="14224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A2E866B-0035-64C3-AF9E-35D8DA430E58}"/>
              </a:ext>
            </a:extLst>
          </p:cNvPr>
          <p:cNvSpPr txBox="1"/>
          <p:nvPr/>
        </p:nvSpPr>
        <p:spPr>
          <a:xfrm>
            <a:off x="1143000" y="14351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Cambia la carga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E3C4D7-8B9D-8A60-41E0-9F32F6AF30D2}"/>
              </a:ext>
            </a:extLst>
          </p:cNvPr>
          <p:cNvSpPr txBox="1"/>
          <p:nvPr/>
        </p:nvSpPr>
        <p:spPr>
          <a:xfrm>
            <a:off x="1143000" y="16891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Una nave de almacén ligero que pasa a almacenamiento pesado puede duplicar la sobrecarga de uso. Es el caso de la nave Sector 4.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C715CCD-9447-81A4-83FC-25D28EED6622}"/>
              </a:ext>
            </a:extLst>
          </p:cNvPr>
          <p:cNvSpPr/>
          <p:nvPr/>
        </p:nvSpPr>
        <p:spPr>
          <a:xfrm>
            <a:off x="609600" y="23876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0C15BA1-2414-B888-0293-E4076707CA3D}"/>
              </a:ext>
            </a:extLst>
          </p:cNvPr>
          <p:cNvSpPr txBox="1"/>
          <p:nvPr/>
        </p:nvSpPr>
        <p:spPr>
          <a:xfrm>
            <a:off x="1143000" y="24003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Cambia la combinación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E9613E8-32E7-1AD2-CB1D-91213F427C76}"/>
              </a:ext>
            </a:extLst>
          </p:cNvPr>
          <p:cNvSpPr txBox="1"/>
          <p:nvPr/>
        </p:nvSpPr>
        <p:spPr>
          <a:xfrm>
            <a:off x="1143000" y="26543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Más carga permanente, más sobrecarga, y a veces una categoría sísmica distinta. Se recalcula con NBDS-2023, no con lo que rigiera en 1998.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09F6B3D-B136-03C9-6F83-B0650C6C2CFB}"/>
              </a:ext>
            </a:extLst>
          </p:cNvPr>
          <p:cNvSpPr/>
          <p:nvPr/>
        </p:nvSpPr>
        <p:spPr>
          <a:xfrm>
            <a:off x="609600" y="33528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62A09D6-8DB9-A76C-BBDF-ACABC9D0598F}"/>
              </a:ext>
            </a:extLst>
          </p:cNvPr>
          <p:cNvSpPr txBox="1"/>
          <p:nvPr/>
        </p:nvSpPr>
        <p:spPr>
          <a:xfrm>
            <a:off x="1143000" y="33655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Cambia el elemento crítico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5C30724-96BE-7E5F-65C7-A1689CC11381}"/>
              </a:ext>
            </a:extLst>
          </p:cNvPr>
          <p:cNvSpPr txBox="1"/>
          <p:nvPr/>
        </p:nvSpPr>
        <p:spPr>
          <a:xfrm>
            <a:off x="1143000" y="36195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Lo que falla con la carga nueva casi nunca es lo que estaba dañado. En esta nave lo dañado es la viga y lo que falla es la zapata.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BACB772-61AA-1568-E0C0-FC105BF23496}"/>
              </a:ext>
            </a:extLst>
          </p:cNvPr>
          <p:cNvSpPr/>
          <p:nvPr/>
        </p:nvSpPr>
        <p:spPr>
          <a:xfrm>
            <a:off x="609600" y="43180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6A3E836-846E-5504-99A4-AA4B6311857B}"/>
              </a:ext>
            </a:extLst>
          </p:cNvPr>
          <p:cNvSpPr txBox="1"/>
          <p:nvPr/>
        </p:nvSpPr>
        <p:spPr>
          <a:xfrm>
            <a:off x="1143000" y="43307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Cambia la exposición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801CC43-63E4-19E5-2B66-B5AB2877BA65}"/>
              </a:ext>
            </a:extLst>
          </p:cNvPr>
          <p:cNvSpPr txBox="1"/>
          <p:nvPr/>
        </p:nvSpPr>
        <p:spPr>
          <a:xfrm>
            <a:off x="1143000" y="45847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Un uso nuevo puede traer humedad, productos químicos o lavados que la estructura no tenía previstos. Ocurrió en 2012 y explica medio curso.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7C7328B-B193-FEB8-7547-031729AC04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422400"/>
            <a:ext cx="3352800" cy="37592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8A1258FF-8975-AD02-1B96-DC19FF9CEED8}"/>
              </a:ext>
            </a:extLst>
          </p:cNvPr>
          <p:cNvSpPr/>
          <p:nvPr/>
        </p:nvSpPr>
        <p:spPr>
          <a:xfrm>
            <a:off x="609600" y="5384800"/>
            <a:ext cx="7366000" cy="660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015940D-AF5E-11FC-BDA6-9CBD8E9637A8}"/>
              </a:ext>
            </a:extLst>
          </p:cNvPr>
          <p:cNvSpPr/>
          <p:nvPr/>
        </p:nvSpPr>
        <p:spPr>
          <a:xfrm>
            <a:off x="609600" y="5384800"/>
            <a:ext cx="57150" cy="660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1585BB-D1D6-8F9F-98BF-EB8F084425ED}"/>
              </a:ext>
            </a:extLst>
          </p:cNvPr>
          <p:cNvSpPr txBox="1"/>
          <p:nvPr/>
        </p:nvSpPr>
        <p:spPr>
          <a:xfrm>
            <a:off x="838200" y="5435600"/>
            <a:ext cx="6959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La tercera es la que más sorprende al cliente: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se paga un diagnóstico por las fisuras de la viga y el problema serio está bajo tierra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7B99233-291D-AB1E-5D76-BC8849065615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§4; NBDS-2023 (RM 271 del 27/11/2023) para la demanda sísmica.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B1B6039-50D9-D381-E8DC-C80A841B1DD0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D6517E2-D445-93E9-9C62-8E1E6F73FBF9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123EA4A-2563-A6D2-9732-1D2AD478AC1E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PageNo">
            <a:extLst>
              <a:ext uri="{FF2B5EF4-FFF2-40B4-BE49-F238E27FC236}">
                <a16:creationId xmlns:a16="http://schemas.microsoft.com/office/drawing/2014/main" id="{FA76FC0A-1453-2A95-4576-4468E6C31FF7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08 / 38</a:t>
            </a:r>
          </a:p>
        </p:txBody>
      </p:sp>
    </p:spTree>
    <p:extLst>
      <p:ext uri="{BB962C8B-B14F-4D97-AF65-F5344CB8AC3E}">
        <p14:creationId xmlns:p14="http://schemas.microsoft.com/office/powerpoint/2010/main" val="1284377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CA488D-E3E0-12FA-DBCA-AF0E2D8EC7C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7C1E31A-6AB9-1CC1-B57D-9FCDA1D806EB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B99783-FA69-031A-88E1-3E000DCEA1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20AF373-39A4-09C0-B699-4C72CF6E9B71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PARTE 2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CBADEE28-71B9-496D-8F25-186578AA58E7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800">
                <a:solidFill>
                  <a:srgbClr val="FFFFFF"/>
                </a:solidFill>
                <a:latin typeface="Bahnschrift SemiBold" panose="020B0502040204020203" pitchFamily="34" charset="0"/>
              </a:rPr>
              <a:t>Técnicas de refuerzo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F67E24-8E06-B4F9-4084-2E0FC709A467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85CFDED-7F87-83C4-3E21-C2C19FDF48AC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Cinco familias, y la elección depende más del acceso y del uso que del cálculo.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5C12C06-442F-8335-89C9-354C2D3C6B33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5479B2F-50CE-25C7-419D-5673E434BFBE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Las cinco familias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5F618FE-69F2-1BB2-1E27-65001639BFEA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C843AAE-FE0D-B99C-14E1-176263EB7216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Encamisados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DBB644E-192A-55D0-2CAB-A0192EB5FE32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B57A3A-A607-24A8-7FA7-667AA3398A6B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Fibra de carbono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0D53C5E-86D2-1789-7C5A-5AD978485423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C928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820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9F0F282-1E97-1C0F-39F5-1B6805CC8CC5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LAS CINCO FAMILIAS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75BDDAE-7A99-4474-CBE3-B11A6DD696CD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Qué aporta cada una, y qué pide a cambio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DE0708-9E4C-6AA1-0BFA-F4EAEB1D907B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A05D62B-8509-3C77-D8C9-890031FDB62F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6927DD7-D828-6912-8B93-08EFD9674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081698"/>
              </p:ext>
            </p:extLst>
          </p:nvPr>
        </p:nvGraphicFramePr>
        <p:xfrm>
          <a:off x="609600" y="1422400"/>
          <a:ext cx="62992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88845402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99627308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19561148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22339280"/>
                    </a:ext>
                  </a:extLst>
                </a:gridCol>
              </a:tblGrid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Técnica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aporta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Ventaja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pide a cambio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938146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Encamisado de hormigón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Sección, armadura y confinamiento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Barato, duradero y conocido por cualquier contratista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Aumenta mucho la sección y el peso; obra húmeda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781539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Encamisado metálico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Confinamiento y capacidad a cortante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Rápido, poco espesor, se pone con la nave en uso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Hay que protegerlo del fuego y de la corrosión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02535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Fibra de carbono  (FRP)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Tracción: flexión, cortante y confinamiento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Espesor milimétrico, no añade peso ni cambia la geometría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Caro, exige soporte perfecto y no resiste fuego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703311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Postesado exterior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Compresión impuesta y control de flecha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Reversible y ajustable; muy eficaz en vigas largas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Anclajes, desviadores y mantenimiento del tesado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26815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Adición de elementos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Reparte la carga en apoyos nuevos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 veces es la solución más barata de todas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Cambia el esquema estructural: hay que recalcular todo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600092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C9DE911A-97B3-C8C9-8286-2FB4A514E199}"/>
              </a:ext>
            </a:extLst>
          </p:cNvPr>
          <p:cNvSpPr/>
          <p:nvPr/>
        </p:nvSpPr>
        <p:spPr>
          <a:xfrm>
            <a:off x="7213600" y="1422400"/>
            <a:ext cx="4368800" cy="340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E211E77-CCA0-A205-82AE-EB6DD7B620EC}"/>
              </a:ext>
            </a:extLst>
          </p:cNvPr>
          <p:cNvSpPr/>
          <p:nvPr/>
        </p:nvSpPr>
        <p:spPr>
          <a:xfrm>
            <a:off x="7213600" y="1422400"/>
            <a:ext cx="38100" cy="3403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26CB601-8F38-39B2-D761-F3E824E01EFC}"/>
              </a:ext>
            </a:extLst>
          </p:cNvPr>
          <p:cNvSpPr txBox="1"/>
          <p:nvPr/>
        </p:nvSpPr>
        <p:spPr>
          <a:xfrm>
            <a:off x="7416800" y="1536700"/>
            <a:ext cx="3987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LA FIBRA NO ROMPE: SE DESPEGA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4109BDB-5EBA-467D-6418-51B22A03EC44}"/>
              </a:ext>
            </a:extLst>
          </p:cNvPr>
          <p:cNvSpPr/>
          <p:nvPr/>
        </p:nvSpPr>
        <p:spPr>
          <a:xfrm>
            <a:off x="7543800" y="3225800"/>
            <a:ext cx="177800" cy="203200"/>
          </a:xfrm>
          <a:prstGeom prst="rect">
            <a:avLst/>
          </a:prstGeom>
          <a:solidFill>
            <a:srgbClr val="5A5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9B1BBEC-CC14-836C-5523-FAAAD0427AA7}"/>
              </a:ext>
            </a:extLst>
          </p:cNvPr>
          <p:cNvSpPr/>
          <p:nvPr/>
        </p:nvSpPr>
        <p:spPr>
          <a:xfrm>
            <a:off x="11074400" y="3225800"/>
            <a:ext cx="177800" cy="203200"/>
          </a:xfrm>
          <a:prstGeom prst="rect">
            <a:avLst/>
          </a:prstGeom>
          <a:solidFill>
            <a:srgbClr val="5A5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77C1D58-0EA9-ADF2-B82E-13B4F76B6997}"/>
              </a:ext>
            </a:extLst>
          </p:cNvPr>
          <p:cNvSpPr/>
          <p:nvPr/>
        </p:nvSpPr>
        <p:spPr>
          <a:xfrm>
            <a:off x="7721600" y="2133600"/>
            <a:ext cx="3352800" cy="1092200"/>
          </a:xfrm>
          <a:prstGeom prst="rect">
            <a:avLst/>
          </a:prstGeom>
          <a:solidFill>
            <a:srgbClr val="C9C3B4"/>
          </a:solidFill>
          <a:ln w="9525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34F8510-6942-EF58-0A07-BFF1F0496DBC}"/>
              </a:ext>
            </a:extLst>
          </p:cNvPr>
          <p:cNvSpPr/>
          <p:nvPr/>
        </p:nvSpPr>
        <p:spPr>
          <a:xfrm>
            <a:off x="7848600" y="3022600"/>
            <a:ext cx="3098800" cy="50800"/>
          </a:xfrm>
          <a:prstGeom prst="rect">
            <a:avLst/>
          </a:prstGeom>
          <a:solidFill>
            <a:srgbClr val="5A5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A060C8-AC1B-E8A4-3A73-7EFBBADE327C}"/>
              </a:ext>
            </a:extLst>
          </p:cNvPr>
          <p:cNvSpPr txBox="1"/>
          <p:nvPr/>
        </p:nvSpPr>
        <p:spPr>
          <a:xfrm>
            <a:off x="7899400" y="2844800"/>
            <a:ext cx="177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5A5248"/>
                </a:solidFill>
                <a:latin typeface="Segoe UI Semibold" panose="020B0702040204020203" pitchFamily="34" charset="0"/>
              </a:rPr>
              <a:t>armadura existente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F5C7866-696D-DB86-96AD-EB9C540FBF6B}"/>
              </a:ext>
            </a:extLst>
          </p:cNvPr>
          <p:cNvCxnSpPr/>
          <p:nvPr/>
        </p:nvCxnSpPr>
        <p:spPr>
          <a:xfrm>
            <a:off x="8001000" y="1879600"/>
            <a:ext cx="0" cy="2159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AE2D326-F511-F695-CF76-5ADF09F99FB5}"/>
              </a:ext>
            </a:extLst>
          </p:cNvPr>
          <p:cNvCxnSpPr/>
          <p:nvPr/>
        </p:nvCxnSpPr>
        <p:spPr>
          <a:xfrm>
            <a:off x="8559800" y="1879600"/>
            <a:ext cx="0" cy="2159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7C5E3301-C2A4-5ED1-AC05-8ED199B7D6C4}"/>
              </a:ext>
            </a:extLst>
          </p:cNvPr>
          <p:cNvCxnSpPr/>
          <p:nvPr/>
        </p:nvCxnSpPr>
        <p:spPr>
          <a:xfrm>
            <a:off x="9118600" y="1879600"/>
            <a:ext cx="0" cy="2159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45232F3-DC31-12E8-DF9E-A9DDB546BEDF}"/>
              </a:ext>
            </a:extLst>
          </p:cNvPr>
          <p:cNvCxnSpPr/>
          <p:nvPr/>
        </p:nvCxnSpPr>
        <p:spPr>
          <a:xfrm>
            <a:off x="9677400" y="1879600"/>
            <a:ext cx="0" cy="2159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5C769DB-553A-F942-75BA-76C603B28768}"/>
              </a:ext>
            </a:extLst>
          </p:cNvPr>
          <p:cNvCxnSpPr/>
          <p:nvPr/>
        </p:nvCxnSpPr>
        <p:spPr>
          <a:xfrm>
            <a:off x="10236200" y="1879600"/>
            <a:ext cx="0" cy="2159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CAD14D8-A87E-6759-F977-2907B572435B}"/>
              </a:ext>
            </a:extLst>
          </p:cNvPr>
          <p:cNvCxnSpPr/>
          <p:nvPr/>
        </p:nvCxnSpPr>
        <p:spPr>
          <a:xfrm>
            <a:off x="10795000" y="1879600"/>
            <a:ext cx="0" cy="2159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D6382A9-2077-0273-1376-30DE6DCBC042}"/>
              </a:ext>
            </a:extLst>
          </p:cNvPr>
          <p:cNvSpPr/>
          <p:nvPr/>
        </p:nvSpPr>
        <p:spPr>
          <a:xfrm>
            <a:off x="7721600" y="3225800"/>
            <a:ext cx="3352800" cy="889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80C292B-2C87-E113-FCAE-90F167225B91}"/>
              </a:ext>
            </a:extLst>
          </p:cNvPr>
          <p:cNvSpPr txBox="1"/>
          <p:nvPr/>
        </p:nvSpPr>
        <p:spPr>
          <a:xfrm>
            <a:off x="8593328" y="3352800"/>
            <a:ext cx="1609344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lámina de fibra de carbono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1F64F63-6B5C-A55B-7409-4BB892C93311}"/>
              </a:ext>
            </a:extLst>
          </p:cNvPr>
          <p:cNvSpPr/>
          <p:nvPr/>
        </p:nvSpPr>
        <p:spPr>
          <a:xfrm>
            <a:off x="7721600" y="3225800"/>
            <a:ext cx="330200" cy="88900"/>
          </a:xfrm>
          <a:prstGeom prst="rect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C1F7969-786D-AF94-DADF-3A89475D3EF8}"/>
              </a:ext>
            </a:extLst>
          </p:cNvPr>
          <p:cNvCxnSpPr/>
          <p:nvPr/>
        </p:nvCxnSpPr>
        <p:spPr>
          <a:xfrm flipV="1">
            <a:off x="7886700" y="3352800"/>
            <a:ext cx="0" cy="304800"/>
          </a:xfrm>
          <a:prstGeom prst="line">
            <a:avLst/>
          </a:prstGeom>
          <a:ln w="1778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72779F7-25F8-02E9-689F-FF68479FC073}"/>
              </a:ext>
            </a:extLst>
          </p:cNvPr>
          <p:cNvSpPr/>
          <p:nvPr/>
        </p:nvSpPr>
        <p:spPr>
          <a:xfrm>
            <a:off x="10744200" y="3225800"/>
            <a:ext cx="330200" cy="88900"/>
          </a:xfrm>
          <a:prstGeom prst="rect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58B70D9-5AAF-8D9C-194E-0D1EDF7837AC}"/>
              </a:ext>
            </a:extLst>
          </p:cNvPr>
          <p:cNvCxnSpPr/>
          <p:nvPr/>
        </p:nvCxnSpPr>
        <p:spPr>
          <a:xfrm flipV="1">
            <a:off x="10909300" y="3352800"/>
            <a:ext cx="0" cy="304800"/>
          </a:xfrm>
          <a:prstGeom prst="line">
            <a:avLst/>
          </a:prstGeom>
          <a:ln w="1778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421728E-7C74-559D-014A-C55F29EBD37C}"/>
              </a:ext>
            </a:extLst>
          </p:cNvPr>
          <p:cNvSpPr txBox="1"/>
          <p:nvPr/>
        </p:nvSpPr>
        <p:spPr>
          <a:xfrm>
            <a:off x="7721600" y="3683000"/>
            <a:ext cx="335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50">
                <a:solidFill>
                  <a:srgbClr val="8C332B"/>
                </a:solidFill>
                <a:latin typeface="Segoe UI" panose="020B0502040204020203" pitchFamily="34" charset="0"/>
              </a:rPr>
              <a:t>El fallo empieza en los extremos de la lámina, mucho antes de agotar la fibra.</a:t>
            </a:r>
            <a:endParaRPr lang="es-BO" sz="750">
              <a:solidFill>
                <a:srgbClr val="8C332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352275E-1B0E-5745-F79B-CFACCCB61294}"/>
              </a:ext>
            </a:extLst>
          </p:cNvPr>
          <p:cNvSpPr/>
          <p:nvPr/>
        </p:nvSpPr>
        <p:spPr>
          <a:xfrm>
            <a:off x="7569200" y="4216400"/>
            <a:ext cx="3657600" cy="381000"/>
          </a:xfrm>
          <a:prstGeom prst="rect">
            <a:avLst/>
          </a:prstGeom>
          <a:solidFill>
            <a:srgbClr val="F0E7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de-DE" sz="900">
                <a:solidFill>
                  <a:srgbClr val="6A4F20"/>
                </a:solidFill>
                <a:latin typeface="Bahnschrift SemiBold" panose="020B0502040204020203" pitchFamily="34" charset="0"/>
              </a:rPr>
              <a:t>ε_fd = 0,41 · raíz( f′c / (n · E_f · t_f) )   ≤   0,9 · ε_fu</a:t>
            </a:r>
            <a:endParaRPr lang="es-BO" sz="900">
              <a:solidFill>
                <a:srgbClr val="6A4F2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683251A-3D65-D33F-6E6A-FFAFC7049A88}"/>
              </a:ext>
            </a:extLst>
          </p:cNvPr>
          <p:cNvSpPr/>
          <p:nvPr/>
        </p:nvSpPr>
        <p:spPr>
          <a:xfrm>
            <a:off x="609600" y="5029200"/>
            <a:ext cx="10972800" cy="711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CEAB93E-D71D-AEE9-CC5A-B7245577B1BC}"/>
              </a:ext>
            </a:extLst>
          </p:cNvPr>
          <p:cNvSpPr/>
          <p:nvPr/>
        </p:nvSpPr>
        <p:spPr>
          <a:xfrm>
            <a:off x="609600" y="5029200"/>
            <a:ext cx="57150" cy="711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5E2D871-A0E2-357D-4CAB-ABD580A783CE}"/>
              </a:ext>
            </a:extLst>
          </p:cNvPr>
          <p:cNvSpPr txBox="1"/>
          <p:nvPr/>
        </p:nvSpPr>
        <p:spPr>
          <a:xfrm>
            <a:off x="838200" y="50800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 última fila es la que menos se considera y la que más veces gana.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Un pilar nuevo bien colocado puede costar menos que reforzar tres vigas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y resolver el problema sin tocar lo existente.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30C7165-3C0B-EB00-E2A0-17928B50012F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§7; ACI 440.2R para FRP; ACI 369.1 para rehabilitación sísmica.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0067DF10-7E2D-7C50-2F44-161586D3E6F2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307C730-EDF8-12F0-07A1-DA10BA1B03BF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B469352-1B66-E39B-BC7B-A1BA38D20487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PageNo">
            <a:extLst>
              <a:ext uri="{FF2B5EF4-FFF2-40B4-BE49-F238E27FC236}">
                <a16:creationId xmlns:a16="http://schemas.microsoft.com/office/drawing/2014/main" id="{7931D7A9-E383-60D0-B121-636A4EB015EE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10 / 38</a:t>
            </a:r>
          </a:p>
        </p:txBody>
      </p:sp>
    </p:spTree>
    <p:extLst>
      <p:ext uri="{BB962C8B-B14F-4D97-AF65-F5344CB8AC3E}">
        <p14:creationId xmlns:p14="http://schemas.microsoft.com/office/powerpoint/2010/main" val="334328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BAFC1AD-F4CB-39F8-D6C2-7EEC45FD441F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LOS ENCAMISADOS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BF10D07-C950-0FAB-6EEA-D0C619B5FC65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La técnica de siempre, y lo que de verdad decide si funciona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9FA2C35-507E-F167-1C56-BDE071EEC123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050D999-590F-8B50-3AE0-BE556E7EAD3D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62638D52-9FBD-356F-80FF-8A1F78961119}"/>
              </a:ext>
            </a:extLst>
          </p:cNvPr>
          <p:cNvSpPr/>
          <p:nvPr/>
        </p:nvSpPr>
        <p:spPr>
          <a:xfrm>
            <a:off x="609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356912-D306-7722-FAFB-6FCC1829FBDD}"/>
              </a:ext>
            </a:extLst>
          </p:cNvPr>
          <p:cNvSpPr/>
          <p:nvPr/>
        </p:nvSpPr>
        <p:spPr>
          <a:xfrm>
            <a:off x="609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CC6FEA-67D6-6FD3-937E-4721B052CFC1}"/>
              </a:ext>
            </a:extLst>
          </p:cNvPr>
          <p:cNvSpPr txBox="1"/>
          <p:nvPr/>
        </p:nvSpPr>
        <p:spPr>
          <a:xfrm>
            <a:off x="812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125B01A-B028-D38A-A1AB-587F96FB73E2}"/>
              </a:ext>
            </a:extLst>
          </p:cNvPr>
          <p:cNvSpPr txBox="1"/>
          <p:nvPr/>
        </p:nvSpPr>
        <p:spPr>
          <a:xfrm>
            <a:off x="812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La conexión manda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DA514E1-64E3-295A-6446-BB7AB1249F88}"/>
              </a:ext>
            </a:extLst>
          </p:cNvPr>
          <p:cNvSpPr txBox="1"/>
          <p:nvPr/>
        </p:nvSpPr>
        <p:spPr>
          <a:xfrm>
            <a:off x="812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El encamisado solo trabaja si está conectado al núcleo. Conectores, superficie rugosa y, en pilares, continuidad a través del forjado.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78AE677-6114-11C0-38EE-75DFE44F8608}"/>
              </a:ext>
            </a:extLst>
          </p:cNvPr>
          <p:cNvSpPr/>
          <p:nvPr/>
        </p:nvSpPr>
        <p:spPr>
          <a:xfrm>
            <a:off x="3403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72F35B-7654-45A6-2E4D-FD4CE99E0159}"/>
              </a:ext>
            </a:extLst>
          </p:cNvPr>
          <p:cNvSpPr/>
          <p:nvPr/>
        </p:nvSpPr>
        <p:spPr>
          <a:xfrm>
            <a:off x="3403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166FE25-D07D-4A78-2099-32CCFB778EFA}"/>
              </a:ext>
            </a:extLst>
          </p:cNvPr>
          <p:cNvSpPr txBox="1"/>
          <p:nvPr/>
        </p:nvSpPr>
        <p:spPr>
          <a:xfrm>
            <a:off x="3606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2E875C8-58FC-3593-341B-34F9BC633DA1}"/>
              </a:ext>
            </a:extLst>
          </p:cNvPr>
          <p:cNvSpPr txBox="1"/>
          <p:nvPr/>
        </p:nvSpPr>
        <p:spPr>
          <a:xfrm>
            <a:off x="3606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El espesor mínimo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4F6F9A5-B103-00F1-9378-562AF3F1294D}"/>
              </a:ext>
            </a:extLst>
          </p:cNvPr>
          <p:cNvSpPr txBox="1"/>
          <p:nvPr/>
        </p:nvSpPr>
        <p:spPr>
          <a:xfrm>
            <a:off x="3606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De 70 a 100 mm en hormigón armado para que quepa la armadura con su recubrimiento. Por debajo de eso, el encamisado es decorativo.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57F5500-6FA3-DD06-357E-2681D5F5E2C9}"/>
              </a:ext>
            </a:extLst>
          </p:cNvPr>
          <p:cNvSpPr/>
          <p:nvPr/>
        </p:nvSpPr>
        <p:spPr>
          <a:xfrm>
            <a:off x="6197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496CE4F-1F25-6AB3-3702-4081B7010A88}"/>
              </a:ext>
            </a:extLst>
          </p:cNvPr>
          <p:cNvSpPr/>
          <p:nvPr/>
        </p:nvSpPr>
        <p:spPr>
          <a:xfrm>
            <a:off x="6197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D099368-2DB3-8A37-3AB3-2CAD206D9F6E}"/>
              </a:ext>
            </a:extLst>
          </p:cNvPr>
          <p:cNvSpPr txBox="1"/>
          <p:nvPr/>
        </p:nvSpPr>
        <p:spPr>
          <a:xfrm>
            <a:off x="6400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5A8ED93-2468-2F89-80C0-BC4FAF6BD5BA}"/>
              </a:ext>
            </a:extLst>
          </p:cNvPr>
          <p:cNvSpPr txBox="1"/>
          <p:nvPr/>
        </p:nvSpPr>
        <p:spPr>
          <a:xfrm>
            <a:off x="6400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El apeo previo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7E781B4-CD87-EAB1-CC2A-2784EE962828}"/>
              </a:ext>
            </a:extLst>
          </p:cNvPr>
          <p:cNvSpPr txBox="1"/>
          <p:nvPr/>
        </p:nvSpPr>
        <p:spPr>
          <a:xfrm>
            <a:off x="6400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Si el elemento está cargado, el encamisado no recibe la carga ya existente: solo la que venga después. Apear es lo que hace que trabaje de verdad.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DC593AE-F90C-3F8F-3A7E-6687141290E8}"/>
              </a:ext>
            </a:extLst>
          </p:cNvPr>
          <p:cNvSpPr/>
          <p:nvPr/>
        </p:nvSpPr>
        <p:spPr>
          <a:xfrm>
            <a:off x="8991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4616D92-16E6-19CC-C76D-841BFD8A2A5D}"/>
              </a:ext>
            </a:extLst>
          </p:cNvPr>
          <p:cNvSpPr/>
          <p:nvPr/>
        </p:nvSpPr>
        <p:spPr>
          <a:xfrm>
            <a:off x="8991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141E72C-C44E-2488-D5CF-E9852A0A81A1}"/>
              </a:ext>
            </a:extLst>
          </p:cNvPr>
          <p:cNvSpPr txBox="1"/>
          <p:nvPr/>
        </p:nvSpPr>
        <p:spPr>
          <a:xfrm>
            <a:off x="9194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E3A3ADB-64F7-95E3-5A6D-96637113EF9B}"/>
              </a:ext>
            </a:extLst>
          </p:cNvPr>
          <p:cNvSpPr txBox="1"/>
          <p:nvPr/>
        </p:nvSpPr>
        <p:spPr>
          <a:xfrm>
            <a:off x="9194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300">
                <a:solidFill>
                  <a:srgbClr val="1C1813"/>
                </a:solidFill>
                <a:latin typeface="Bahnschrift SemiBold" panose="020B0502040204020203" pitchFamily="34" charset="0"/>
              </a:rPr>
              <a:t>El metálico es otro juego</a:t>
            </a:r>
            <a:endParaRPr lang="es-BO" sz="13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1E2FB71-78D9-2E4D-2549-9EC0E69C289B}"/>
              </a:ext>
            </a:extLst>
          </p:cNvPr>
          <p:cNvSpPr txBox="1"/>
          <p:nvPr/>
        </p:nvSpPr>
        <p:spPr>
          <a:xfrm>
            <a:off x="9194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Angulares en las esquinas y presillas soldadas. Aporta sobre todo </a:t>
            </a:r>
            <a:r>
              <a:rPr lang="es-MX" sz="1100" b="1">
                <a:solidFill>
                  <a:srgbClr val="5A5248"/>
                </a:solidFill>
                <a:latin typeface="Segoe UI Semibold" panose="020B0702040204020203" pitchFamily="34" charset="0"/>
              </a:rPr>
              <a:t>confinamiento</a:t>
            </a:r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, y en pilares cortos eso vale más que la sección añadida.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222EB9B1-8CDE-D57B-2548-86564DC92A5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68800"/>
            <a:ext cx="5334000" cy="1625600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3B10312D-8FF4-C982-4353-CDE5EBAD3B1A}"/>
              </a:ext>
            </a:extLst>
          </p:cNvPr>
          <p:cNvSpPr/>
          <p:nvPr/>
        </p:nvSpPr>
        <p:spPr>
          <a:xfrm>
            <a:off x="6248400" y="4368800"/>
            <a:ext cx="5334000" cy="16256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371B47E-DCD2-B07E-312B-40217E6EEF48}"/>
              </a:ext>
            </a:extLst>
          </p:cNvPr>
          <p:cNvSpPr/>
          <p:nvPr/>
        </p:nvSpPr>
        <p:spPr>
          <a:xfrm>
            <a:off x="6248400" y="4368800"/>
            <a:ext cx="57150" cy="1625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4E2E3F7-10FB-0077-C938-677A2FF98FDA}"/>
              </a:ext>
            </a:extLst>
          </p:cNvPr>
          <p:cNvSpPr txBox="1"/>
          <p:nvPr/>
        </p:nvSpPr>
        <p:spPr>
          <a:xfrm>
            <a:off x="6477000" y="4546600"/>
            <a:ext cx="4927600" cy="1320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El punto 3 es el que más se omite y el que más diferencia hay entre lo calculado y lo que ocurre.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Sin apeo, el refuerzo no recibe la carga permanente que ya estaba actuando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, y el elemento sigue trabajando casi como antes.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CDCC6B4-C5B3-696D-E4A5-0AA9518CB66B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it-IT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§7; ACI 369.1.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56CFD277-6667-1F35-AE49-CF5757673548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D4AA79E-818D-BF5E-05C7-488AB54937FB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9D87F24-B1AB-75DB-E7EE-79092D037A4E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PageNo">
            <a:extLst>
              <a:ext uri="{FF2B5EF4-FFF2-40B4-BE49-F238E27FC236}">
                <a16:creationId xmlns:a16="http://schemas.microsoft.com/office/drawing/2014/main" id="{57C935F8-B06A-759A-7E06-0BEF1B89DBAD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11 / 38</a:t>
            </a:r>
          </a:p>
        </p:txBody>
      </p:sp>
    </p:spTree>
    <p:extLst>
      <p:ext uri="{BB962C8B-B14F-4D97-AF65-F5344CB8AC3E}">
        <p14:creationId xmlns:p14="http://schemas.microsoft.com/office/powerpoint/2010/main" val="1754307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CED2346-9519-0799-41EE-40DC2868AA41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LA FIBRA DE CARBONO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6958E0-1744-8EFE-5589-A2E1F127E8D3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Milímetros que añaden tracción, con tres límites que hay que saber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3BC9B1F-25CA-E0F9-7F5E-DB19348850A7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1340498-EC54-154A-EF5B-D8C63E6EF8E7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603E52BF-8626-A7DD-8462-125D14E0C3DF}"/>
              </a:ext>
            </a:extLst>
          </p:cNvPr>
          <p:cNvSpPr/>
          <p:nvPr/>
        </p:nvSpPr>
        <p:spPr>
          <a:xfrm>
            <a:off x="609600" y="14224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853859-CB68-B18B-37E7-8372D55F5513}"/>
              </a:ext>
            </a:extLst>
          </p:cNvPr>
          <p:cNvSpPr txBox="1"/>
          <p:nvPr/>
        </p:nvSpPr>
        <p:spPr>
          <a:xfrm>
            <a:off x="1143000" y="14351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Lo que aporta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2CC7B2-B978-8D1A-977D-2264FB0F3ABD}"/>
              </a:ext>
            </a:extLst>
          </p:cNvPr>
          <p:cNvSpPr txBox="1"/>
          <p:nvPr/>
        </p:nvSpPr>
        <p:spPr>
          <a:xfrm>
            <a:off x="1143000" y="16891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Tracción pura. A flexión se pega en la cara traccionada; a cortante se envuelve el alma; a compresión se confina el pilar. Módulo del orden de 165 GPa.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22883DD-3863-5AFA-1C2C-F0FB118A1E35}"/>
              </a:ext>
            </a:extLst>
          </p:cNvPr>
          <p:cNvSpPr/>
          <p:nvPr/>
        </p:nvSpPr>
        <p:spPr>
          <a:xfrm>
            <a:off x="609600" y="23876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40D6E7B-B6E2-FDBE-7961-1B4EF2F174B4}"/>
              </a:ext>
            </a:extLst>
          </p:cNvPr>
          <p:cNvSpPr txBox="1"/>
          <p:nvPr/>
        </p:nvSpPr>
        <p:spPr>
          <a:xfrm>
            <a:off x="1143000" y="24003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límite del despegue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3E17844-B5BC-D8A5-D66C-F8A282BEBF90}"/>
              </a:ext>
            </a:extLst>
          </p:cNvPr>
          <p:cNvSpPr txBox="1"/>
          <p:nvPr/>
        </p:nvSpPr>
        <p:spPr>
          <a:xfrm>
            <a:off x="1143000" y="26543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Casi nunca se agota la fibra: el sistema falla antes </a:t>
            </a:r>
            <a:r>
              <a:rPr lang="es-MX" sz="1150" b="1">
                <a:solidFill>
                  <a:srgbClr val="5A5248"/>
                </a:solidFill>
                <a:latin typeface="Segoe UI Semibold" panose="020B0702040204020203" pitchFamily="34" charset="0"/>
              </a:rPr>
              <a:t>por despegue de la lámina</a:t>
            </a:r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. ACI 440.2R acota la deformación efectiva, y ese límite es el que manda en el cálculo.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5D1C5B5-8E28-90A4-6786-B6A137A2954D}"/>
              </a:ext>
            </a:extLst>
          </p:cNvPr>
          <p:cNvSpPr/>
          <p:nvPr/>
        </p:nvSpPr>
        <p:spPr>
          <a:xfrm>
            <a:off x="609600" y="33528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02EBCA5-8402-9E0E-D054-F6CACDE13AFB}"/>
              </a:ext>
            </a:extLst>
          </p:cNvPr>
          <p:cNvSpPr txBox="1"/>
          <p:nvPr/>
        </p:nvSpPr>
        <p:spPr>
          <a:xfrm>
            <a:off x="1143000" y="33655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límite del fuego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C09BE9-EE96-A191-A53B-337156100A68}"/>
              </a:ext>
            </a:extLst>
          </p:cNvPr>
          <p:cNvSpPr txBox="1"/>
          <p:nvPr/>
        </p:nvSpPr>
        <p:spPr>
          <a:xfrm>
            <a:off x="1143000" y="36195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La resina pierde adherencia por encima de unos 60 a 80 °C. ACI 440.2R exige que </a:t>
            </a:r>
            <a:r>
              <a:rPr lang="es-MX" sz="1150" b="1">
                <a:solidFill>
                  <a:srgbClr val="5A5248"/>
                </a:solidFill>
                <a:latin typeface="Segoe UI Semibold" panose="020B0702040204020203" pitchFamily="34" charset="0"/>
              </a:rPr>
              <a:t>la estructura sin el refuerzo</a:t>
            </a:r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 siga aguantando una combinación reducida, por si el FRP desaparece.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994D616-92FB-E6E9-427B-C65AEAA83CF6}"/>
              </a:ext>
            </a:extLst>
          </p:cNvPr>
          <p:cNvSpPr/>
          <p:nvPr/>
        </p:nvSpPr>
        <p:spPr>
          <a:xfrm>
            <a:off x="609600" y="43180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31D2815-D1D0-3C92-C411-7E6337908F0D}"/>
              </a:ext>
            </a:extLst>
          </p:cNvPr>
          <p:cNvSpPr txBox="1"/>
          <p:nvPr/>
        </p:nvSpPr>
        <p:spPr>
          <a:xfrm>
            <a:off x="1143000" y="43307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límite del soporte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A416441-2110-130F-ACB1-06BA118F5FE9}"/>
              </a:ext>
            </a:extLst>
          </p:cNvPr>
          <p:cNvSpPr txBox="1"/>
          <p:nvPr/>
        </p:nvSpPr>
        <p:spPr>
          <a:xfrm>
            <a:off x="1143000" y="45847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Se pega sobre hormigón sano, seco y plano. Si el soporte está carbonatado o la armadura corroída, </a:t>
            </a:r>
            <a:r>
              <a:rPr lang="es-MX" sz="1150" b="1">
                <a:solidFill>
                  <a:srgbClr val="5A5248"/>
                </a:solidFill>
                <a:latin typeface="Segoe UI Semibold" panose="020B0702040204020203" pitchFamily="34" charset="0"/>
              </a:rPr>
              <a:t>primero la clase 6 completa</a:t>
            </a:r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 y después la fibra.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A79160A-B30C-4238-B343-B4B1F2BA380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422400"/>
            <a:ext cx="3352800" cy="37592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594AABF7-E97D-3113-5F56-D1EAA7A21B4D}"/>
              </a:ext>
            </a:extLst>
          </p:cNvPr>
          <p:cNvSpPr/>
          <p:nvPr/>
        </p:nvSpPr>
        <p:spPr>
          <a:xfrm>
            <a:off x="609600" y="5384800"/>
            <a:ext cx="7366000" cy="660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8E572D4-9F1F-60C0-97BE-DDDC1ED7DA85}"/>
              </a:ext>
            </a:extLst>
          </p:cNvPr>
          <p:cNvSpPr/>
          <p:nvPr/>
        </p:nvSpPr>
        <p:spPr>
          <a:xfrm>
            <a:off x="609600" y="5384800"/>
            <a:ext cx="57150" cy="660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10ABE0E-962D-D857-BFCF-A433FDE45DFD}"/>
              </a:ext>
            </a:extLst>
          </p:cNvPr>
          <p:cNvSpPr txBox="1"/>
          <p:nvPr/>
        </p:nvSpPr>
        <p:spPr>
          <a:xfrm>
            <a:off x="838200" y="5435600"/>
            <a:ext cx="6959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El tercer límite es el que más proyectos tumba: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si la estructura sin FRP no pasa la combinación reducida, la fibra no es una solución admisible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9360C57-5A0C-0A23-0C53-1D136BA6099D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440.2R-17 §9 y §10; factor ambiental y límite de despegue.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25A481F-2369-260E-B2B2-543CFB4716A8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96EF749-2EA4-B34A-7093-48CAE4739F16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23D47D9-C286-8B4D-00DC-69D06FC5811B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PageNo">
            <a:extLst>
              <a:ext uri="{FF2B5EF4-FFF2-40B4-BE49-F238E27FC236}">
                <a16:creationId xmlns:a16="http://schemas.microsoft.com/office/drawing/2014/main" id="{0FB8FD1F-E58D-6C4E-20BF-969146D7F291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12 / 38</a:t>
            </a:r>
          </a:p>
        </p:txBody>
      </p:sp>
    </p:spTree>
    <p:extLst>
      <p:ext uri="{BB962C8B-B14F-4D97-AF65-F5344CB8AC3E}">
        <p14:creationId xmlns:p14="http://schemas.microsoft.com/office/powerpoint/2010/main" val="1519254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E20A75-FF15-9FCC-E34E-D76EEA5AEF5E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LO QUE SE VE EN OBRA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2C2CBE1-0628-38A3-C130-BB493665D5AF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Cuatro de las cinco familias, fotografiadas en un tajo real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8B66449-067F-28D4-E1C5-E5C478DF61C3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F8F6DE9-E2F7-4C9E-71A4-E53399D3131E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450FE42E-FF33-1FCC-781E-A7F11BB57A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98600"/>
            <a:ext cx="2565400" cy="2032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78BFE4A-C506-D3D0-DD30-056F3A3A861F}"/>
              </a:ext>
            </a:extLst>
          </p:cNvPr>
          <p:cNvSpPr txBox="1"/>
          <p:nvPr/>
        </p:nvSpPr>
        <p:spPr>
          <a:xfrm>
            <a:off x="609600" y="3606800"/>
            <a:ext cx="2565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Encamisado de pilar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74C1C4E-5CF3-3800-F1DC-BFBCE8567AAF}"/>
              </a:ext>
            </a:extLst>
          </p:cNvPr>
          <p:cNvSpPr txBox="1"/>
          <p:nvPr/>
        </p:nvSpPr>
        <p:spPr>
          <a:xfrm>
            <a:off x="609600" y="3886200"/>
            <a:ext cx="2565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Sección, armadura y confinamiento. La más robusta cuando hay sitio y se puede apear.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5A03D3A-954D-BA4F-234F-92AFC4191C3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300" y="1498600"/>
            <a:ext cx="2565400" cy="2032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061AEAB-791D-8CA5-9CAF-53E11F123D9F}"/>
              </a:ext>
            </a:extLst>
          </p:cNvPr>
          <p:cNvSpPr txBox="1"/>
          <p:nvPr/>
        </p:nvSpPr>
        <p:spPr>
          <a:xfrm>
            <a:off x="3416300" y="3606800"/>
            <a:ext cx="2565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Refuerzo metálico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4C0A597-0DE7-1ED1-9550-53ABFF90669D}"/>
              </a:ext>
            </a:extLst>
          </p:cNvPr>
          <p:cNvSpPr txBox="1"/>
          <p:nvPr/>
        </p:nvSpPr>
        <p:spPr>
          <a:xfrm>
            <a:off x="3416300" y="3886200"/>
            <a:ext cx="2565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Angulares y presillas. Rápido y de poco espesor; pide protección contra fuego y corrosión.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AE984EE-2F8E-DB45-3E4C-18A107D0AF3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498600"/>
            <a:ext cx="2565400" cy="2032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79272D5B-052F-471D-456F-DF607304A1B8}"/>
              </a:ext>
            </a:extLst>
          </p:cNvPr>
          <p:cNvSpPr txBox="1"/>
          <p:nvPr/>
        </p:nvSpPr>
        <p:spPr>
          <a:xfrm>
            <a:off x="6223000" y="3606800"/>
            <a:ext cx="2565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Postesado exterior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38FEE87-F183-9215-17C8-C96F8CEF6C11}"/>
              </a:ext>
            </a:extLst>
          </p:cNvPr>
          <p:cNvSpPr txBox="1"/>
          <p:nvPr/>
        </p:nvSpPr>
        <p:spPr>
          <a:xfrm>
            <a:off x="6223000" y="3886200"/>
            <a:ext cx="2565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Compresión impuesta sobre la viga. Reversible, ajustable y muy eficaz en luces grandes.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809AE28-E0C4-0064-B3DC-28CBE6EB868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700" y="1498600"/>
            <a:ext cx="2565400" cy="20320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99D30BE-F713-3672-EBF4-AD4BD45385F8}"/>
              </a:ext>
            </a:extLst>
          </p:cNvPr>
          <p:cNvSpPr txBox="1"/>
          <p:nvPr/>
        </p:nvSpPr>
        <p:spPr>
          <a:xfrm>
            <a:off x="9029700" y="3606800"/>
            <a:ext cx="2565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Apoyos nuevos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BAD55A0-46F9-1C59-93C2-6F233830C115}"/>
              </a:ext>
            </a:extLst>
          </p:cNvPr>
          <p:cNvSpPr txBox="1"/>
          <p:nvPr/>
        </p:nvSpPr>
        <p:spPr>
          <a:xfrm>
            <a:off x="9029700" y="3886200"/>
            <a:ext cx="2565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Cambiar el esquema: un apoyo intermedio descarga la pieza sin tocarla. La quinta fila de la tabla.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70A41F9-66A9-ADEE-D6CC-D359143DB53A}"/>
              </a:ext>
            </a:extLst>
          </p:cNvPr>
          <p:cNvSpPr/>
          <p:nvPr/>
        </p:nvSpPr>
        <p:spPr>
          <a:xfrm>
            <a:off x="609600" y="5003800"/>
            <a:ext cx="10972800" cy="7366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FE952C7-6177-7744-8300-2F38F9851986}"/>
              </a:ext>
            </a:extLst>
          </p:cNvPr>
          <p:cNvSpPr/>
          <p:nvPr/>
        </p:nvSpPr>
        <p:spPr>
          <a:xfrm>
            <a:off x="609600" y="5003800"/>
            <a:ext cx="57150" cy="736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536BD9F-0F9D-ECAE-308F-7E877A613723}"/>
              </a:ext>
            </a:extLst>
          </p:cNvPr>
          <p:cNvSpPr txBox="1"/>
          <p:nvPr/>
        </p:nvSpPr>
        <p:spPr>
          <a:xfrm>
            <a:off x="838200" y="5054600"/>
            <a:ext cx="10566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Falta en la fila la fibra de carbono, y falta por un motivo que conviene decir: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la capa que decide si funciona es el adhesivo, y el adhesivo no se ve en ninguna fotografía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. La siguiente lámina la dibuja en sección. Las cuatro de arriba piden lo mismo antes de empezar: que la reparación de la clase 6 esté terminada y recibida.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BC926C4-D9AD-B3FA-351C-9DB7E7398EDA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63D226F-2F3E-4042-E7CC-BB0B69ECC727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D22C45-825F-3730-5F96-9ABE5628DC2B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PageNo">
            <a:extLst>
              <a:ext uri="{FF2B5EF4-FFF2-40B4-BE49-F238E27FC236}">
                <a16:creationId xmlns:a16="http://schemas.microsoft.com/office/drawing/2014/main" id="{E0CB3D91-202A-45BC-C4D1-C80C453E6805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13 / 38</a:t>
            </a:r>
          </a:p>
        </p:txBody>
      </p:sp>
    </p:spTree>
    <p:extLst>
      <p:ext uri="{BB962C8B-B14F-4D97-AF65-F5344CB8AC3E}">
        <p14:creationId xmlns:p14="http://schemas.microsoft.com/office/powerpoint/2010/main" val="2641586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9395898-8DD1-6E97-97C8-C0214E641C70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LA FIBRA, CAPA A CAPA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A8ED190-5C5F-483F-916A-5473BE8CC163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Siete capas, y la que decide es la que no se ve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4400D92-EE64-BCBD-CC86-FE56E3277803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30BBD1B-A49B-A44F-CE8A-1DCF1D0A12E2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38B54B56-D50C-457A-662C-B43318F904F5}"/>
              </a:ext>
            </a:extLst>
          </p:cNvPr>
          <p:cNvSpPr/>
          <p:nvPr/>
        </p:nvSpPr>
        <p:spPr>
          <a:xfrm>
            <a:off x="609600" y="1270000"/>
            <a:ext cx="6502400" cy="414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3A67841-27E9-73AC-32B6-9A2D6BA2C3F3}"/>
              </a:ext>
            </a:extLst>
          </p:cNvPr>
          <p:cNvSpPr/>
          <p:nvPr/>
        </p:nvSpPr>
        <p:spPr>
          <a:xfrm>
            <a:off x="609600" y="1270000"/>
            <a:ext cx="38100" cy="4140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8E3002-E470-EBDE-3511-C008A9AAC9F4}"/>
              </a:ext>
            </a:extLst>
          </p:cNvPr>
          <p:cNvSpPr txBox="1"/>
          <p:nvPr/>
        </p:nvSpPr>
        <p:spPr>
          <a:xfrm>
            <a:off x="812800" y="1384300"/>
            <a:ext cx="6121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SECCIÓN AMPLIADA DEL FONDO DE LA VIGA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05A810B-8EB4-1F9A-ADC2-67A9193BE368}"/>
              </a:ext>
            </a:extLst>
          </p:cNvPr>
          <p:cNvSpPr/>
          <p:nvPr/>
        </p:nvSpPr>
        <p:spPr>
          <a:xfrm>
            <a:off x="939800" y="1930400"/>
            <a:ext cx="1854200" cy="990600"/>
          </a:xfrm>
          <a:prstGeom prst="rect">
            <a:avLst/>
          </a:prstGeom>
          <a:solidFill>
            <a:srgbClr val="C9C3B4"/>
          </a:solidFill>
          <a:ln w="7620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207CA32-4018-B075-B616-AC680CCFC818}"/>
              </a:ext>
            </a:extLst>
          </p:cNvPr>
          <p:cNvCxnSpPr/>
          <p:nvPr/>
        </p:nvCxnSpPr>
        <p:spPr>
          <a:xfrm>
            <a:off x="939800" y="1930400"/>
            <a:ext cx="0" cy="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91F7699-3EFE-7207-CCCF-48642137185B}"/>
              </a:ext>
            </a:extLst>
          </p:cNvPr>
          <p:cNvCxnSpPr/>
          <p:nvPr/>
        </p:nvCxnSpPr>
        <p:spPr>
          <a:xfrm flipH="1">
            <a:off x="939800" y="1930400"/>
            <a:ext cx="139700" cy="1397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986E1C5-7EC8-B4A5-F305-DD7AFC2C3386}"/>
              </a:ext>
            </a:extLst>
          </p:cNvPr>
          <p:cNvCxnSpPr/>
          <p:nvPr/>
        </p:nvCxnSpPr>
        <p:spPr>
          <a:xfrm flipH="1">
            <a:off x="939800" y="1930400"/>
            <a:ext cx="279400" cy="2794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9F52724-2ABE-4553-2124-20EADE8E4588}"/>
              </a:ext>
            </a:extLst>
          </p:cNvPr>
          <p:cNvCxnSpPr/>
          <p:nvPr/>
        </p:nvCxnSpPr>
        <p:spPr>
          <a:xfrm flipH="1">
            <a:off x="939800" y="1930400"/>
            <a:ext cx="419100" cy="4191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4F1F98F-94C7-8A84-E11F-46F612C89A89}"/>
              </a:ext>
            </a:extLst>
          </p:cNvPr>
          <p:cNvCxnSpPr/>
          <p:nvPr/>
        </p:nvCxnSpPr>
        <p:spPr>
          <a:xfrm flipH="1">
            <a:off x="939800" y="1930400"/>
            <a:ext cx="558800" cy="5588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49A24C6-643C-4E67-C7DB-B55DF2604374}"/>
              </a:ext>
            </a:extLst>
          </p:cNvPr>
          <p:cNvCxnSpPr/>
          <p:nvPr/>
        </p:nvCxnSpPr>
        <p:spPr>
          <a:xfrm flipH="1">
            <a:off x="939800" y="1930400"/>
            <a:ext cx="698500" cy="6985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7598F45-EAAF-1626-0A6D-E05AFA40445C}"/>
              </a:ext>
            </a:extLst>
          </p:cNvPr>
          <p:cNvCxnSpPr/>
          <p:nvPr/>
        </p:nvCxnSpPr>
        <p:spPr>
          <a:xfrm flipH="1">
            <a:off x="939800" y="1930400"/>
            <a:ext cx="838200" cy="8382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454C926-9E7F-BDBB-3AA6-5981B012EAF9}"/>
              </a:ext>
            </a:extLst>
          </p:cNvPr>
          <p:cNvCxnSpPr/>
          <p:nvPr/>
        </p:nvCxnSpPr>
        <p:spPr>
          <a:xfrm flipH="1">
            <a:off x="939800" y="1930400"/>
            <a:ext cx="977900" cy="9779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505744E-404A-71C5-852B-F469906A680D}"/>
              </a:ext>
            </a:extLst>
          </p:cNvPr>
          <p:cNvCxnSpPr/>
          <p:nvPr/>
        </p:nvCxnSpPr>
        <p:spPr>
          <a:xfrm flipH="1">
            <a:off x="1066800" y="1930400"/>
            <a:ext cx="990600" cy="9906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4515F593-7334-F762-C654-383C2B5C1983}"/>
              </a:ext>
            </a:extLst>
          </p:cNvPr>
          <p:cNvCxnSpPr/>
          <p:nvPr/>
        </p:nvCxnSpPr>
        <p:spPr>
          <a:xfrm flipH="1">
            <a:off x="1206500" y="1930400"/>
            <a:ext cx="990600" cy="9906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D8F8DC9-52C7-5A94-CA25-548BDC778B58}"/>
              </a:ext>
            </a:extLst>
          </p:cNvPr>
          <p:cNvCxnSpPr/>
          <p:nvPr/>
        </p:nvCxnSpPr>
        <p:spPr>
          <a:xfrm flipH="1">
            <a:off x="1346200" y="1930400"/>
            <a:ext cx="990600" cy="9906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679AB422-2684-0015-BDBF-CADE2A5BDCFA}"/>
              </a:ext>
            </a:extLst>
          </p:cNvPr>
          <p:cNvCxnSpPr/>
          <p:nvPr/>
        </p:nvCxnSpPr>
        <p:spPr>
          <a:xfrm flipH="1">
            <a:off x="1485900" y="1930400"/>
            <a:ext cx="990600" cy="9906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8C40AD6-C019-94B6-5647-88E585F778F8}"/>
              </a:ext>
            </a:extLst>
          </p:cNvPr>
          <p:cNvCxnSpPr/>
          <p:nvPr/>
        </p:nvCxnSpPr>
        <p:spPr>
          <a:xfrm flipH="1">
            <a:off x="1625600" y="1930400"/>
            <a:ext cx="990600" cy="9906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09A84C6-02D2-C3BE-C02B-17AB5E818075}"/>
              </a:ext>
            </a:extLst>
          </p:cNvPr>
          <p:cNvCxnSpPr/>
          <p:nvPr/>
        </p:nvCxnSpPr>
        <p:spPr>
          <a:xfrm flipH="1">
            <a:off x="1765300" y="1930400"/>
            <a:ext cx="990600" cy="9906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CFD975E-399D-1C4B-9A82-B021F024C4A4}"/>
              </a:ext>
            </a:extLst>
          </p:cNvPr>
          <p:cNvCxnSpPr/>
          <p:nvPr/>
        </p:nvCxnSpPr>
        <p:spPr>
          <a:xfrm flipH="1">
            <a:off x="1905000" y="2032000"/>
            <a:ext cx="889000" cy="8890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CBEC0C6-E0CF-EBEA-3B6E-52500D7E53E7}"/>
              </a:ext>
            </a:extLst>
          </p:cNvPr>
          <p:cNvCxnSpPr/>
          <p:nvPr/>
        </p:nvCxnSpPr>
        <p:spPr>
          <a:xfrm flipH="1">
            <a:off x="2044700" y="2171700"/>
            <a:ext cx="749300" cy="7493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C338F8A-8219-0C4C-DECF-5301F025833D}"/>
              </a:ext>
            </a:extLst>
          </p:cNvPr>
          <p:cNvCxnSpPr/>
          <p:nvPr/>
        </p:nvCxnSpPr>
        <p:spPr>
          <a:xfrm flipH="1">
            <a:off x="2184400" y="2311400"/>
            <a:ext cx="609600" cy="6096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43121D58-F97A-517A-DA0C-BB6D8FA9FCA7}"/>
              </a:ext>
            </a:extLst>
          </p:cNvPr>
          <p:cNvCxnSpPr/>
          <p:nvPr/>
        </p:nvCxnSpPr>
        <p:spPr>
          <a:xfrm flipH="1">
            <a:off x="2324100" y="2451100"/>
            <a:ext cx="469900" cy="4699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552FAAD-CCF4-D691-B493-DAE85C22B60B}"/>
              </a:ext>
            </a:extLst>
          </p:cNvPr>
          <p:cNvCxnSpPr/>
          <p:nvPr/>
        </p:nvCxnSpPr>
        <p:spPr>
          <a:xfrm flipH="1">
            <a:off x="2463800" y="2590800"/>
            <a:ext cx="330200" cy="3302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AA1C23C7-86A6-2D79-8A8F-8E37AD1014D2}"/>
              </a:ext>
            </a:extLst>
          </p:cNvPr>
          <p:cNvCxnSpPr/>
          <p:nvPr/>
        </p:nvCxnSpPr>
        <p:spPr>
          <a:xfrm flipH="1">
            <a:off x="2603500" y="2730500"/>
            <a:ext cx="190500" cy="190500"/>
          </a:xfrm>
          <a:prstGeom prst="line">
            <a:avLst/>
          </a:prstGeom>
          <a:ln w="508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B7BCA00-1175-7D14-0CE0-E3BEB7776CE4}"/>
              </a:ext>
            </a:extLst>
          </p:cNvPr>
          <p:cNvSpPr/>
          <p:nvPr/>
        </p:nvSpPr>
        <p:spPr>
          <a:xfrm>
            <a:off x="939800" y="2921000"/>
            <a:ext cx="1854200" cy="177800"/>
          </a:xfrm>
          <a:prstGeom prst="rect">
            <a:avLst/>
          </a:prstGeom>
          <a:solidFill>
            <a:srgbClr val="A69E8C"/>
          </a:solidFill>
          <a:ln w="7620">
            <a:solidFill>
              <a:srgbClr val="5A5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5B0A21E-1F27-B5FA-9C3D-CAC67D6D28E7}"/>
              </a:ext>
            </a:extLst>
          </p:cNvPr>
          <p:cNvSpPr/>
          <p:nvPr/>
        </p:nvSpPr>
        <p:spPr>
          <a:xfrm>
            <a:off x="939800" y="3098800"/>
            <a:ext cx="1854200" cy="152400"/>
          </a:xfrm>
          <a:prstGeom prst="rect">
            <a:avLst/>
          </a:prstGeom>
          <a:solidFill>
            <a:srgbClr val="F0E7D5"/>
          </a:solidFill>
          <a:ln w="7620">
            <a:solidFill>
              <a:srgbClr val="8A6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7F08FCD-ED9C-13E1-4E10-22CD570664BC}"/>
              </a:ext>
            </a:extLst>
          </p:cNvPr>
          <p:cNvSpPr/>
          <p:nvPr/>
        </p:nvSpPr>
        <p:spPr>
          <a:xfrm>
            <a:off x="939800" y="3251200"/>
            <a:ext cx="1854200" cy="152400"/>
          </a:xfrm>
          <a:prstGeom prst="rect">
            <a:avLst/>
          </a:prstGeom>
          <a:solidFill>
            <a:srgbClr val="EAE4D6"/>
          </a:solidFill>
          <a:ln w="7620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9F996F9-70C7-0446-B582-1FC921DCB2DA}"/>
              </a:ext>
            </a:extLst>
          </p:cNvPr>
          <p:cNvSpPr/>
          <p:nvPr/>
        </p:nvSpPr>
        <p:spPr>
          <a:xfrm>
            <a:off x="939800" y="3403600"/>
            <a:ext cx="1854200" cy="279400"/>
          </a:xfrm>
          <a:prstGeom prst="rect">
            <a:avLst/>
          </a:prstGeom>
          <a:solidFill>
            <a:srgbClr val="4A5559"/>
          </a:solidFill>
          <a:ln w="7620">
            <a:solidFill>
              <a:srgbClr val="1C18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8A9908E-9748-CAD9-F1D1-92C4F5F68A42}"/>
              </a:ext>
            </a:extLst>
          </p:cNvPr>
          <p:cNvSpPr/>
          <p:nvPr/>
        </p:nvSpPr>
        <p:spPr>
          <a:xfrm>
            <a:off x="939800" y="3683000"/>
            <a:ext cx="1854200" cy="355600"/>
          </a:xfrm>
          <a:prstGeom prst="rect">
            <a:avLst/>
          </a:prstGeom>
          <a:solidFill>
            <a:srgbClr val="1C1813"/>
          </a:solidFill>
          <a:ln w="7620">
            <a:solidFill>
              <a:srgbClr val="1C18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9C054F5-9936-EEC1-3438-1D1607F87EFF}"/>
              </a:ext>
            </a:extLst>
          </p:cNvPr>
          <p:cNvSpPr/>
          <p:nvPr/>
        </p:nvSpPr>
        <p:spPr>
          <a:xfrm>
            <a:off x="939800" y="4038600"/>
            <a:ext cx="1854200" cy="203200"/>
          </a:xfrm>
          <a:prstGeom prst="rect">
            <a:avLst/>
          </a:prstGeom>
          <a:solidFill>
            <a:srgbClr val="5A5248"/>
          </a:solidFill>
          <a:ln w="7620">
            <a:solidFill>
              <a:srgbClr val="1C18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F777C0FE-4DE3-1634-9328-55027558BCD7}"/>
              </a:ext>
            </a:extLst>
          </p:cNvPr>
          <p:cNvCxnSpPr/>
          <p:nvPr/>
        </p:nvCxnSpPr>
        <p:spPr>
          <a:xfrm>
            <a:off x="736600" y="2921000"/>
            <a:ext cx="101600" cy="0"/>
          </a:xfrm>
          <a:prstGeom prst="line">
            <a:avLst/>
          </a:prstGeom>
          <a:ln w="9525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9D1E2974-FBF6-D132-9A72-F48D6240B202}"/>
              </a:ext>
            </a:extLst>
          </p:cNvPr>
          <p:cNvCxnSpPr/>
          <p:nvPr/>
        </p:nvCxnSpPr>
        <p:spPr>
          <a:xfrm>
            <a:off x="736600" y="4241800"/>
            <a:ext cx="101600" cy="0"/>
          </a:xfrm>
          <a:prstGeom prst="line">
            <a:avLst/>
          </a:prstGeom>
          <a:ln w="9525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D22109D0-4DEB-F3C7-B4B7-8D8F8FB3FCB3}"/>
              </a:ext>
            </a:extLst>
          </p:cNvPr>
          <p:cNvCxnSpPr/>
          <p:nvPr/>
        </p:nvCxnSpPr>
        <p:spPr>
          <a:xfrm flipV="1">
            <a:off x="787400" y="2921000"/>
            <a:ext cx="0" cy="660400"/>
          </a:xfrm>
          <a:prstGeom prst="line">
            <a:avLst/>
          </a:prstGeom>
          <a:ln w="11430">
            <a:solidFill>
              <a:srgbClr val="4A555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952FE2FF-908D-2A43-2C88-DD7BA800AB4F}"/>
              </a:ext>
            </a:extLst>
          </p:cNvPr>
          <p:cNvCxnSpPr/>
          <p:nvPr/>
        </p:nvCxnSpPr>
        <p:spPr>
          <a:xfrm>
            <a:off x="787400" y="3581400"/>
            <a:ext cx="0" cy="660400"/>
          </a:xfrm>
          <a:prstGeom prst="line">
            <a:avLst/>
          </a:prstGeom>
          <a:ln w="11430">
            <a:solidFill>
              <a:srgbClr val="4A555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9AD30BE-8D3D-4D32-4AE6-D6B05D39886B}"/>
              </a:ext>
            </a:extLst>
          </p:cNvPr>
          <p:cNvSpPr txBox="1"/>
          <p:nvPr/>
        </p:nvSpPr>
        <p:spPr>
          <a:xfrm>
            <a:off x="863600" y="3505200"/>
            <a:ext cx="81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4A5559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0A34AB6-2468-C250-79BD-003E955C3E7F}"/>
              </a:ext>
            </a:extLst>
          </p:cNvPr>
          <p:cNvSpPr txBox="1"/>
          <p:nvPr/>
        </p:nvSpPr>
        <p:spPr>
          <a:xfrm>
            <a:off x="762000" y="4368800"/>
            <a:ext cx="220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650">
                <a:solidFill>
                  <a:srgbClr val="4A5559"/>
                </a:solidFill>
                <a:latin typeface="Segoe UI" panose="020B0502040204020203" pitchFamily="34" charset="0"/>
              </a:rPr>
              <a:t>Todo el refuerzo junto: menos de 10 mm de espesor.</a:t>
            </a:r>
            <a:endParaRPr lang="es-BO" sz="650">
              <a:solidFill>
                <a:srgbClr val="4A5559"/>
              </a:solidFill>
              <a:latin typeface="Segoe UI" panose="020B0502040204020203" pitchFamily="34" charset="0"/>
            </a:endParaRP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E715F50-DE5E-C0A3-0124-87D790598166}"/>
              </a:ext>
            </a:extLst>
          </p:cNvPr>
          <p:cNvCxnSpPr/>
          <p:nvPr/>
        </p:nvCxnSpPr>
        <p:spPr>
          <a:xfrm flipV="1">
            <a:off x="2844800" y="1955800"/>
            <a:ext cx="203200" cy="4699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8B967859-DB8B-ABC0-FED0-1B64B70F62AB}"/>
              </a:ext>
            </a:extLst>
          </p:cNvPr>
          <p:cNvSpPr/>
          <p:nvPr/>
        </p:nvSpPr>
        <p:spPr>
          <a:xfrm>
            <a:off x="2813050" y="2393950"/>
            <a:ext cx="63500" cy="635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239546D-8C9A-6AA0-792D-88FECFF5EBFC}"/>
              </a:ext>
            </a:extLst>
          </p:cNvPr>
          <p:cNvSpPr txBox="1"/>
          <p:nvPr/>
        </p:nvSpPr>
        <p:spPr>
          <a:xfrm>
            <a:off x="3175000" y="1854200"/>
            <a:ext cx="3708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1C1813"/>
                </a:solidFill>
                <a:latin typeface="Segoe UI Semibold" panose="020B0702040204020203" pitchFamily="34" charset="0"/>
              </a:rPr>
              <a:t>Hormigón del fondo de viga</a:t>
            </a:r>
            <a:endParaRPr lang="es-BO" sz="8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3ECDBD5-FC2F-BF9D-95A8-C99DB743B7E0}"/>
              </a:ext>
            </a:extLst>
          </p:cNvPr>
          <p:cNvSpPr txBox="1"/>
          <p:nvPr/>
        </p:nvSpPr>
        <p:spPr>
          <a:xfrm>
            <a:off x="3175000" y="2006600"/>
            <a:ext cx="370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El soporte. Su resistencia a tracción es el techo de todo el sistema: si él se despega, da igual la fibra que se ponga.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70F32AAD-AAD0-73D3-3D99-B6C39D3FFD94}"/>
              </a:ext>
            </a:extLst>
          </p:cNvPr>
          <p:cNvCxnSpPr/>
          <p:nvPr/>
        </p:nvCxnSpPr>
        <p:spPr>
          <a:xfrm flipV="1">
            <a:off x="2844800" y="2413000"/>
            <a:ext cx="203200" cy="5969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5714008D-2D5A-E603-C812-A657BED12F39}"/>
              </a:ext>
            </a:extLst>
          </p:cNvPr>
          <p:cNvSpPr/>
          <p:nvPr/>
        </p:nvSpPr>
        <p:spPr>
          <a:xfrm>
            <a:off x="2813050" y="2978150"/>
            <a:ext cx="63500" cy="635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8E33DB3-0016-74EA-F60C-ED32C67F77B4}"/>
              </a:ext>
            </a:extLst>
          </p:cNvPr>
          <p:cNvSpPr txBox="1"/>
          <p:nvPr/>
        </p:nvSpPr>
        <p:spPr>
          <a:xfrm>
            <a:off x="3175000" y="2311400"/>
            <a:ext cx="3708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850">
                <a:solidFill>
                  <a:srgbClr val="1C1813"/>
                </a:solidFill>
                <a:latin typeface="Segoe UI Semibold" panose="020B0702040204020203" pitchFamily="34" charset="0"/>
              </a:rPr>
              <a:t>Superficie preparada   ·   ≈ 1 mm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90C261C-CABF-A24B-6321-E24BF6A0DEC5}"/>
              </a:ext>
            </a:extLst>
          </p:cNvPr>
          <p:cNvSpPr txBox="1"/>
          <p:nvPr/>
        </p:nvSpPr>
        <p:spPr>
          <a:xfrm>
            <a:off x="3175000" y="2463800"/>
            <a:ext cx="370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Chorreada o fresada hasta dejar el árido a la vista, aspirada y seca.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4DEB8323-0DF0-9AAE-06F9-D307C29B65E3}"/>
              </a:ext>
            </a:extLst>
          </p:cNvPr>
          <p:cNvCxnSpPr/>
          <p:nvPr/>
        </p:nvCxnSpPr>
        <p:spPr>
          <a:xfrm flipV="1">
            <a:off x="2844800" y="2870200"/>
            <a:ext cx="203200" cy="3048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D1C613F8-AD3A-03BC-F6D0-66F0024A71FB}"/>
              </a:ext>
            </a:extLst>
          </p:cNvPr>
          <p:cNvSpPr/>
          <p:nvPr/>
        </p:nvSpPr>
        <p:spPr>
          <a:xfrm>
            <a:off x="2813050" y="3143250"/>
            <a:ext cx="63500" cy="635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A6844DD-D500-C614-4EF7-A04624A69BAD}"/>
              </a:ext>
            </a:extLst>
          </p:cNvPr>
          <p:cNvSpPr txBox="1"/>
          <p:nvPr/>
        </p:nvSpPr>
        <p:spPr>
          <a:xfrm>
            <a:off x="3175000" y="2768600"/>
            <a:ext cx="3708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850">
                <a:solidFill>
                  <a:srgbClr val="1C1813"/>
                </a:solidFill>
                <a:latin typeface="Segoe UI Semibold" panose="020B0702040204020203" pitchFamily="34" charset="0"/>
              </a:rPr>
              <a:t>Imprimación   ·   0,2 mm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AA18A93-B5FA-0ACE-04F3-F14DAAF86E14}"/>
              </a:ext>
            </a:extLst>
          </p:cNvPr>
          <p:cNvSpPr txBox="1"/>
          <p:nvPr/>
        </p:nvSpPr>
        <p:spPr>
          <a:xfrm>
            <a:off x="3175000" y="2921000"/>
            <a:ext cx="370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Penetra en el poro y lo sella. Sin ella el poro se bebe el adhesivo y la unión queda hambrienta.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673B9807-751A-BD3D-51B1-54D95F213707}"/>
              </a:ext>
            </a:extLst>
          </p:cNvPr>
          <p:cNvCxnSpPr/>
          <p:nvPr/>
        </p:nvCxnSpPr>
        <p:spPr>
          <a:xfrm>
            <a:off x="2844800" y="3327400"/>
            <a:ext cx="203200" cy="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>
            <a:extLst>
              <a:ext uri="{FF2B5EF4-FFF2-40B4-BE49-F238E27FC236}">
                <a16:creationId xmlns:a16="http://schemas.microsoft.com/office/drawing/2014/main" id="{A652249F-E3EF-9B3D-1C33-6107619E5DA6}"/>
              </a:ext>
            </a:extLst>
          </p:cNvPr>
          <p:cNvSpPr/>
          <p:nvPr/>
        </p:nvSpPr>
        <p:spPr>
          <a:xfrm>
            <a:off x="2813050" y="3295650"/>
            <a:ext cx="63500" cy="635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4D05576-0121-7C21-D5AF-FABA0EAFEAC2}"/>
              </a:ext>
            </a:extLst>
          </p:cNvPr>
          <p:cNvSpPr txBox="1"/>
          <p:nvPr/>
        </p:nvSpPr>
        <p:spPr>
          <a:xfrm>
            <a:off x="3175000" y="3225800"/>
            <a:ext cx="3708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1C1813"/>
                </a:solidFill>
                <a:latin typeface="Segoe UI Semibold" panose="020B0702040204020203" pitchFamily="34" charset="0"/>
              </a:rPr>
              <a:t>Masilla de regularización   ·   0 a 3 mm</a:t>
            </a:r>
            <a:endParaRPr lang="es-BO" sz="8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2357D07-235E-8ECD-4858-8F91DEC1A6C8}"/>
              </a:ext>
            </a:extLst>
          </p:cNvPr>
          <p:cNvSpPr txBox="1"/>
          <p:nvPr/>
        </p:nvSpPr>
        <p:spPr>
          <a:xfrm>
            <a:off x="3175000" y="3378200"/>
            <a:ext cx="370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Rellena coqueras y nivela. El plano tiene que quedar dentro de 5 mm medidos con regla de 2 m.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BBB3F58B-49B6-293F-876E-A03F0AF1ACF6}"/>
              </a:ext>
            </a:extLst>
          </p:cNvPr>
          <p:cNvCxnSpPr/>
          <p:nvPr/>
        </p:nvCxnSpPr>
        <p:spPr>
          <a:xfrm>
            <a:off x="2844800" y="3543300"/>
            <a:ext cx="203200" cy="2413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0DE8B49F-7EF5-4DC6-BF38-F9DDCE6C53D8}"/>
              </a:ext>
            </a:extLst>
          </p:cNvPr>
          <p:cNvSpPr/>
          <p:nvPr/>
        </p:nvSpPr>
        <p:spPr>
          <a:xfrm>
            <a:off x="2813050" y="3511550"/>
            <a:ext cx="63500" cy="635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CBBD38B-1EDB-B3A2-23F2-ECC8DB9040AA}"/>
              </a:ext>
            </a:extLst>
          </p:cNvPr>
          <p:cNvSpPr txBox="1"/>
          <p:nvPr/>
        </p:nvSpPr>
        <p:spPr>
          <a:xfrm>
            <a:off x="3175000" y="3683000"/>
            <a:ext cx="3708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850">
                <a:solidFill>
                  <a:srgbClr val="1C1813"/>
                </a:solidFill>
                <a:latin typeface="Segoe UI Semibold" panose="020B0702040204020203" pitchFamily="34" charset="0"/>
              </a:rPr>
              <a:t>Adhesivo epoxi   ·   1 a 2 mm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3BEEECC-C02E-BF61-34CD-328246DF4ED9}"/>
              </a:ext>
            </a:extLst>
          </p:cNvPr>
          <p:cNvSpPr txBox="1"/>
          <p:nvPr/>
        </p:nvSpPr>
        <p:spPr>
          <a:xfrm>
            <a:off x="3175000" y="3835400"/>
            <a:ext cx="370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La capa que de verdad transmite el esfuerzo del hormigón a la fibra. Es la que decide, y es la que no se ve.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AC5B71B3-0606-CED0-E343-7A9B6A3E3FC5}"/>
              </a:ext>
            </a:extLst>
          </p:cNvPr>
          <p:cNvCxnSpPr/>
          <p:nvPr/>
        </p:nvCxnSpPr>
        <p:spPr>
          <a:xfrm>
            <a:off x="2844800" y="3860800"/>
            <a:ext cx="203200" cy="3810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>
            <a:extLst>
              <a:ext uri="{FF2B5EF4-FFF2-40B4-BE49-F238E27FC236}">
                <a16:creationId xmlns:a16="http://schemas.microsoft.com/office/drawing/2014/main" id="{24C90B63-77C5-B6F8-3037-B29D580ED07C}"/>
              </a:ext>
            </a:extLst>
          </p:cNvPr>
          <p:cNvSpPr/>
          <p:nvPr/>
        </p:nvSpPr>
        <p:spPr>
          <a:xfrm>
            <a:off x="2813050" y="3829050"/>
            <a:ext cx="63500" cy="635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32FC4C4-EE0A-8980-4C02-429A269C632E}"/>
              </a:ext>
            </a:extLst>
          </p:cNvPr>
          <p:cNvSpPr txBox="1"/>
          <p:nvPr/>
        </p:nvSpPr>
        <p:spPr>
          <a:xfrm>
            <a:off x="3175000" y="4140200"/>
            <a:ext cx="3708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850">
                <a:solidFill>
                  <a:srgbClr val="1C1813"/>
                </a:solidFill>
                <a:latin typeface="Segoe UI Semibold" panose="020B0702040204020203" pitchFamily="34" charset="0"/>
              </a:rPr>
              <a:t>Laminado de fibra de carbono   ·   1,2 a 1,4 mm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EA38E876-5BE0-B7E6-0EC5-4B00405650AC}"/>
              </a:ext>
            </a:extLst>
          </p:cNvPr>
          <p:cNvSpPr txBox="1"/>
          <p:nvPr/>
        </p:nvSpPr>
        <p:spPr>
          <a:xfrm>
            <a:off x="3175000" y="4292600"/>
            <a:ext cx="370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Aquí va toda la tracción. El material es lo de menos: aguanta de sobra y casi nunca se agota.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14AE80C5-4584-FB60-EBE0-8761C120959A}"/>
              </a:ext>
            </a:extLst>
          </p:cNvPr>
          <p:cNvCxnSpPr/>
          <p:nvPr/>
        </p:nvCxnSpPr>
        <p:spPr>
          <a:xfrm>
            <a:off x="2844800" y="4140200"/>
            <a:ext cx="203200" cy="5588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ipse 66">
            <a:extLst>
              <a:ext uri="{FF2B5EF4-FFF2-40B4-BE49-F238E27FC236}">
                <a16:creationId xmlns:a16="http://schemas.microsoft.com/office/drawing/2014/main" id="{D1CC25BF-A1E9-D319-EE69-F33068AE1274}"/>
              </a:ext>
            </a:extLst>
          </p:cNvPr>
          <p:cNvSpPr/>
          <p:nvPr/>
        </p:nvSpPr>
        <p:spPr>
          <a:xfrm>
            <a:off x="2813050" y="4108450"/>
            <a:ext cx="63500" cy="635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EF4A3BF1-3EBE-979F-2549-BDDA6AC41D43}"/>
              </a:ext>
            </a:extLst>
          </p:cNvPr>
          <p:cNvSpPr txBox="1"/>
          <p:nvPr/>
        </p:nvSpPr>
        <p:spPr>
          <a:xfrm>
            <a:off x="3175000" y="4597400"/>
            <a:ext cx="3708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1C1813"/>
                </a:solidFill>
                <a:latin typeface="Segoe UI Semibold" panose="020B0702040204020203" pitchFamily="34" charset="0"/>
              </a:rPr>
              <a:t>Protección   ·   2 a 4 mm</a:t>
            </a:r>
            <a:endParaRPr lang="es-BO" sz="8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096C0E4F-D435-BB67-64DF-B04EF98B057B}"/>
              </a:ext>
            </a:extLst>
          </p:cNvPr>
          <p:cNvSpPr txBox="1"/>
          <p:nvPr/>
        </p:nvSpPr>
        <p:spPr>
          <a:xfrm>
            <a:off x="3175000" y="4749800"/>
            <a:ext cx="370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Mortero o pintura intumescente contra el fuego y el ultravioleta. No es un acabado: es parte del cálculo.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5F63CDF-2F9D-F1BC-9865-A158F1282E6F}"/>
              </a:ext>
            </a:extLst>
          </p:cNvPr>
          <p:cNvSpPr/>
          <p:nvPr/>
        </p:nvSpPr>
        <p:spPr>
          <a:xfrm>
            <a:off x="7366000" y="1270000"/>
            <a:ext cx="4216400" cy="414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878D490E-2880-2206-1405-EC48D07C30CF}"/>
              </a:ext>
            </a:extLst>
          </p:cNvPr>
          <p:cNvSpPr/>
          <p:nvPr/>
        </p:nvSpPr>
        <p:spPr>
          <a:xfrm>
            <a:off x="7366000" y="1270000"/>
            <a:ext cx="38100" cy="4140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13032FD-EF7C-2367-855B-57F98AAC95F7}"/>
              </a:ext>
            </a:extLst>
          </p:cNvPr>
          <p:cNvSpPr txBox="1"/>
          <p:nvPr/>
        </p:nvSpPr>
        <p:spPr>
          <a:xfrm>
            <a:off x="7569200" y="1384300"/>
            <a:ext cx="3835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EL EXTREMO, QUE ES POR DONDE FALLA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5EC4EA1-C219-483C-3450-D68D68017F7F}"/>
              </a:ext>
            </a:extLst>
          </p:cNvPr>
          <p:cNvSpPr/>
          <p:nvPr/>
        </p:nvSpPr>
        <p:spPr>
          <a:xfrm>
            <a:off x="7823200" y="2209800"/>
            <a:ext cx="3302000" cy="736600"/>
          </a:xfrm>
          <a:prstGeom prst="rect">
            <a:avLst/>
          </a:prstGeom>
          <a:solidFill>
            <a:srgbClr val="C9C3B4"/>
          </a:solidFill>
          <a:ln w="9525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2FD7E982-6FEC-C419-E33B-5BB9DFC4D9AA}"/>
              </a:ext>
            </a:extLst>
          </p:cNvPr>
          <p:cNvCxnSpPr/>
          <p:nvPr/>
        </p:nvCxnSpPr>
        <p:spPr>
          <a:xfrm>
            <a:off x="7823200" y="2209800"/>
            <a:ext cx="0" cy="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ACEC78B-6BE3-7BD7-B37D-28EA57B22AE0}"/>
              </a:ext>
            </a:extLst>
          </p:cNvPr>
          <p:cNvCxnSpPr/>
          <p:nvPr/>
        </p:nvCxnSpPr>
        <p:spPr>
          <a:xfrm flipH="1">
            <a:off x="7823200" y="2209800"/>
            <a:ext cx="152400" cy="1524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264A6A49-5372-AB97-7134-8735E7B044D1}"/>
              </a:ext>
            </a:extLst>
          </p:cNvPr>
          <p:cNvCxnSpPr/>
          <p:nvPr/>
        </p:nvCxnSpPr>
        <p:spPr>
          <a:xfrm flipH="1">
            <a:off x="7823200" y="2209800"/>
            <a:ext cx="304800" cy="3048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03D8E1F4-CDCE-FF7B-DD0F-4C021A353D1A}"/>
              </a:ext>
            </a:extLst>
          </p:cNvPr>
          <p:cNvCxnSpPr/>
          <p:nvPr/>
        </p:nvCxnSpPr>
        <p:spPr>
          <a:xfrm flipH="1">
            <a:off x="7823200" y="2209800"/>
            <a:ext cx="457200" cy="4572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D34BBAFF-109A-2A96-6A56-C663E69A9C5E}"/>
              </a:ext>
            </a:extLst>
          </p:cNvPr>
          <p:cNvCxnSpPr/>
          <p:nvPr/>
        </p:nvCxnSpPr>
        <p:spPr>
          <a:xfrm flipH="1">
            <a:off x="7823200" y="2209800"/>
            <a:ext cx="609600" cy="609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7807C981-2076-AC48-49FC-8A51C4922018}"/>
              </a:ext>
            </a:extLst>
          </p:cNvPr>
          <p:cNvCxnSpPr/>
          <p:nvPr/>
        </p:nvCxnSpPr>
        <p:spPr>
          <a:xfrm flipH="1">
            <a:off x="78486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E61B4D03-9346-846E-4145-3C0EE8C9E0EA}"/>
              </a:ext>
            </a:extLst>
          </p:cNvPr>
          <p:cNvCxnSpPr/>
          <p:nvPr/>
        </p:nvCxnSpPr>
        <p:spPr>
          <a:xfrm flipH="1">
            <a:off x="80010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BE1ADAAC-A6B8-C062-7FCB-AC498209F250}"/>
              </a:ext>
            </a:extLst>
          </p:cNvPr>
          <p:cNvCxnSpPr/>
          <p:nvPr/>
        </p:nvCxnSpPr>
        <p:spPr>
          <a:xfrm flipH="1">
            <a:off x="81534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49C16A3F-7EEE-7D00-3E7B-50965C2CE985}"/>
              </a:ext>
            </a:extLst>
          </p:cNvPr>
          <p:cNvCxnSpPr/>
          <p:nvPr/>
        </p:nvCxnSpPr>
        <p:spPr>
          <a:xfrm flipH="1">
            <a:off x="83058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2B66E5BE-21C0-7BC7-C160-855E0558FB6F}"/>
              </a:ext>
            </a:extLst>
          </p:cNvPr>
          <p:cNvCxnSpPr/>
          <p:nvPr/>
        </p:nvCxnSpPr>
        <p:spPr>
          <a:xfrm flipH="1">
            <a:off x="84582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3725EB18-C6FA-4C66-8992-348F0139B26B}"/>
              </a:ext>
            </a:extLst>
          </p:cNvPr>
          <p:cNvCxnSpPr/>
          <p:nvPr/>
        </p:nvCxnSpPr>
        <p:spPr>
          <a:xfrm flipH="1">
            <a:off x="86106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94121F7C-81F5-04A8-AF89-647D6FA82DB7}"/>
              </a:ext>
            </a:extLst>
          </p:cNvPr>
          <p:cNvCxnSpPr/>
          <p:nvPr/>
        </p:nvCxnSpPr>
        <p:spPr>
          <a:xfrm flipH="1">
            <a:off x="87630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09ED698-80EA-D5BD-CB7D-380835E00334}"/>
              </a:ext>
            </a:extLst>
          </p:cNvPr>
          <p:cNvCxnSpPr/>
          <p:nvPr/>
        </p:nvCxnSpPr>
        <p:spPr>
          <a:xfrm flipH="1">
            <a:off x="89154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580A4B4B-7AE3-E249-E352-B07316443BF1}"/>
              </a:ext>
            </a:extLst>
          </p:cNvPr>
          <p:cNvCxnSpPr/>
          <p:nvPr/>
        </p:nvCxnSpPr>
        <p:spPr>
          <a:xfrm flipH="1">
            <a:off x="90678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70B89C21-A1CF-0090-4935-6260AF2842C4}"/>
              </a:ext>
            </a:extLst>
          </p:cNvPr>
          <p:cNvCxnSpPr/>
          <p:nvPr/>
        </p:nvCxnSpPr>
        <p:spPr>
          <a:xfrm flipH="1">
            <a:off x="92202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97018C75-9EC0-3DB3-5FFE-BA17C82FFDD3}"/>
              </a:ext>
            </a:extLst>
          </p:cNvPr>
          <p:cNvCxnSpPr/>
          <p:nvPr/>
        </p:nvCxnSpPr>
        <p:spPr>
          <a:xfrm flipH="1">
            <a:off x="93726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ED1937A8-E860-8B06-537D-FD46A39C066E}"/>
              </a:ext>
            </a:extLst>
          </p:cNvPr>
          <p:cNvCxnSpPr/>
          <p:nvPr/>
        </p:nvCxnSpPr>
        <p:spPr>
          <a:xfrm flipH="1">
            <a:off x="95250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E646E991-A720-6F6D-9BD5-F2B2E517776F}"/>
              </a:ext>
            </a:extLst>
          </p:cNvPr>
          <p:cNvCxnSpPr/>
          <p:nvPr/>
        </p:nvCxnSpPr>
        <p:spPr>
          <a:xfrm flipH="1">
            <a:off x="96774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C8D3D37D-A805-E58A-BED3-DFB4AA520878}"/>
              </a:ext>
            </a:extLst>
          </p:cNvPr>
          <p:cNvCxnSpPr/>
          <p:nvPr/>
        </p:nvCxnSpPr>
        <p:spPr>
          <a:xfrm flipH="1">
            <a:off x="98298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987F3131-607F-34FB-852E-5CAAD5E1B8C9}"/>
              </a:ext>
            </a:extLst>
          </p:cNvPr>
          <p:cNvCxnSpPr/>
          <p:nvPr/>
        </p:nvCxnSpPr>
        <p:spPr>
          <a:xfrm flipH="1">
            <a:off x="99822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300EE63E-2836-806F-F337-2B4BD643270B}"/>
              </a:ext>
            </a:extLst>
          </p:cNvPr>
          <p:cNvCxnSpPr/>
          <p:nvPr/>
        </p:nvCxnSpPr>
        <p:spPr>
          <a:xfrm flipH="1">
            <a:off x="101346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1AEB0CAC-362D-08CB-3233-0F8485EB2492}"/>
              </a:ext>
            </a:extLst>
          </p:cNvPr>
          <p:cNvCxnSpPr/>
          <p:nvPr/>
        </p:nvCxnSpPr>
        <p:spPr>
          <a:xfrm flipH="1">
            <a:off x="10287000" y="2209800"/>
            <a:ext cx="736600" cy="736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53EA0D1D-465A-1617-C715-DAE12C000653}"/>
              </a:ext>
            </a:extLst>
          </p:cNvPr>
          <p:cNvCxnSpPr/>
          <p:nvPr/>
        </p:nvCxnSpPr>
        <p:spPr>
          <a:xfrm flipH="1">
            <a:off x="10439400" y="2260600"/>
            <a:ext cx="685800" cy="6858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CE98AA52-1FDC-F07A-CB99-BB70F2645323}"/>
              </a:ext>
            </a:extLst>
          </p:cNvPr>
          <p:cNvCxnSpPr/>
          <p:nvPr/>
        </p:nvCxnSpPr>
        <p:spPr>
          <a:xfrm flipH="1">
            <a:off x="10591800" y="2413000"/>
            <a:ext cx="533400" cy="5334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EE598F3E-74AA-16A0-99E4-494C402D2350}"/>
              </a:ext>
            </a:extLst>
          </p:cNvPr>
          <p:cNvCxnSpPr/>
          <p:nvPr/>
        </p:nvCxnSpPr>
        <p:spPr>
          <a:xfrm flipH="1">
            <a:off x="10744200" y="2565400"/>
            <a:ext cx="381000" cy="3810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A8DC89CD-79C0-26D4-643F-316AC67D1010}"/>
              </a:ext>
            </a:extLst>
          </p:cNvPr>
          <p:cNvCxnSpPr/>
          <p:nvPr/>
        </p:nvCxnSpPr>
        <p:spPr>
          <a:xfrm flipH="1">
            <a:off x="10896600" y="2717800"/>
            <a:ext cx="228600" cy="228600"/>
          </a:xfrm>
          <a:prstGeom prst="line">
            <a:avLst/>
          </a:prstGeom>
          <a:ln w="444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7FBF2488-029C-5B80-F514-535AAF0F4737}"/>
              </a:ext>
            </a:extLst>
          </p:cNvPr>
          <p:cNvSpPr/>
          <p:nvPr/>
        </p:nvSpPr>
        <p:spPr>
          <a:xfrm>
            <a:off x="7924800" y="2781300"/>
            <a:ext cx="3098800" cy="44450"/>
          </a:xfrm>
          <a:prstGeom prst="rect">
            <a:avLst/>
          </a:prstGeom>
          <a:solidFill>
            <a:srgbClr val="5A5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3767ECED-F623-F4D4-A073-39F8CBF89420}"/>
              </a:ext>
            </a:extLst>
          </p:cNvPr>
          <p:cNvSpPr txBox="1"/>
          <p:nvPr/>
        </p:nvSpPr>
        <p:spPr>
          <a:xfrm>
            <a:off x="7950200" y="26162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50">
                <a:solidFill>
                  <a:srgbClr val="5A5248"/>
                </a:solidFill>
                <a:latin typeface="Segoe UI Semibold" panose="020B0702040204020203" pitchFamily="34" charset="0"/>
              </a:rPr>
              <a:t>armadura existente</a:t>
            </a:r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E2CB76F7-51D5-4C19-DE9A-604FE3F9A655}"/>
              </a:ext>
            </a:extLst>
          </p:cNvPr>
          <p:cNvCxnSpPr/>
          <p:nvPr/>
        </p:nvCxnSpPr>
        <p:spPr>
          <a:xfrm>
            <a:off x="8285480" y="1930400"/>
            <a:ext cx="0" cy="2286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334D987A-9276-D80E-B9AA-778BB81CF762}"/>
              </a:ext>
            </a:extLst>
          </p:cNvPr>
          <p:cNvCxnSpPr/>
          <p:nvPr/>
        </p:nvCxnSpPr>
        <p:spPr>
          <a:xfrm>
            <a:off x="8945880" y="1930400"/>
            <a:ext cx="0" cy="2286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8B36CC64-00AD-A406-D017-E523BA4E8486}"/>
              </a:ext>
            </a:extLst>
          </p:cNvPr>
          <p:cNvCxnSpPr/>
          <p:nvPr/>
        </p:nvCxnSpPr>
        <p:spPr>
          <a:xfrm>
            <a:off x="9606280" y="1930400"/>
            <a:ext cx="0" cy="2286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55517F9E-84D5-796F-B708-3A52B777F00C}"/>
              </a:ext>
            </a:extLst>
          </p:cNvPr>
          <p:cNvCxnSpPr/>
          <p:nvPr/>
        </p:nvCxnSpPr>
        <p:spPr>
          <a:xfrm>
            <a:off x="10266680" y="1930400"/>
            <a:ext cx="0" cy="2286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4EA2FD4B-F91D-ACA0-F838-82576A627901}"/>
              </a:ext>
            </a:extLst>
          </p:cNvPr>
          <p:cNvCxnSpPr/>
          <p:nvPr/>
        </p:nvCxnSpPr>
        <p:spPr>
          <a:xfrm>
            <a:off x="10927080" y="1930400"/>
            <a:ext cx="0" cy="228600"/>
          </a:xfrm>
          <a:prstGeom prst="line">
            <a:avLst/>
          </a:prstGeom>
          <a:ln w="1397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DC2362EE-6E24-872C-CC68-467517FB4C61}"/>
              </a:ext>
            </a:extLst>
          </p:cNvPr>
          <p:cNvSpPr txBox="1"/>
          <p:nvPr/>
        </p:nvSpPr>
        <p:spPr>
          <a:xfrm>
            <a:off x="7823200" y="1752600"/>
            <a:ext cx="330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650">
                <a:solidFill>
                  <a:srgbClr val="8C332B"/>
                </a:solidFill>
                <a:latin typeface="Segoe UI Semibold" panose="020B0702040204020203" pitchFamily="34" charset="0"/>
              </a:rPr>
              <a:t>la carga que el refuerzo tiene que recoger</a:t>
            </a:r>
            <a:endParaRPr lang="es-BO" sz="650">
              <a:solidFill>
                <a:srgbClr val="8C33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9D0447ED-5AE2-7B51-9ECB-80B8205CDCFA}"/>
              </a:ext>
            </a:extLst>
          </p:cNvPr>
          <p:cNvSpPr/>
          <p:nvPr/>
        </p:nvSpPr>
        <p:spPr>
          <a:xfrm>
            <a:off x="8128000" y="2946400"/>
            <a:ext cx="2692400" cy="1016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B6A74332-BB17-E243-9577-55D38ACD70DE}"/>
              </a:ext>
            </a:extLst>
          </p:cNvPr>
          <p:cNvSpPr/>
          <p:nvPr/>
        </p:nvSpPr>
        <p:spPr>
          <a:xfrm>
            <a:off x="8128000" y="2946400"/>
            <a:ext cx="431800" cy="101600"/>
          </a:xfrm>
          <a:prstGeom prst="rect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246CF139-5054-37C5-111C-D9C09DB0EBFD}"/>
              </a:ext>
            </a:extLst>
          </p:cNvPr>
          <p:cNvSpPr txBox="1"/>
          <p:nvPr/>
        </p:nvSpPr>
        <p:spPr>
          <a:xfrm>
            <a:off x="8712200" y="3098800"/>
            <a:ext cx="2108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50">
                <a:solidFill>
                  <a:srgbClr val="1C1813"/>
                </a:solidFill>
                <a:latin typeface="Segoe UI Semibold" panose="020B0702040204020203" pitchFamily="34" charset="0"/>
              </a:rPr>
              <a:t>laminado de fibra</a:t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9D2658DD-F0C4-B226-7809-769561D828FA}"/>
              </a:ext>
            </a:extLst>
          </p:cNvPr>
          <p:cNvSpPr/>
          <p:nvPr/>
        </p:nvSpPr>
        <p:spPr>
          <a:xfrm>
            <a:off x="8128000" y="2184400"/>
            <a:ext cx="88900" cy="889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2E517EC8-B41E-FA23-A211-A24C83E0CBF0}"/>
              </a:ext>
            </a:extLst>
          </p:cNvPr>
          <p:cNvSpPr/>
          <p:nvPr/>
        </p:nvSpPr>
        <p:spPr>
          <a:xfrm>
            <a:off x="10833100" y="2184400"/>
            <a:ext cx="88900" cy="863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81795325-826B-8A99-D603-AECD31A0C0DC}"/>
              </a:ext>
            </a:extLst>
          </p:cNvPr>
          <p:cNvCxnSpPr/>
          <p:nvPr/>
        </p:nvCxnSpPr>
        <p:spPr>
          <a:xfrm>
            <a:off x="8166100" y="2311400"/>
            <a:ext cx="88900" cy="2006600"/>
          </a:xfrm>
          <a:prstGeom prst="line">
            <a:avLst/>
          </a:prstGeom>
          <a:ln w="7620">
            <a:solidFill>
              <a:srgbClr val="6A4F2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lipse 113">
            <a:extLst>
              <a:ext uri="{FF2B5EF4-FFF2-40B4-BE49-F238E27FC236}">
                <a16:creationId xmlns:a16="http://schemas.microsoft.com/office/drawing/2014/main" id="{0A43AC2C-8606-BFE8-4250-7506CEE0CBFB}"/>
              </a:ext>
            </a:extLst>
          </p:cNvPr>
          <p:cNvSpPr/>
          <p:nvPr/>
        </p:nvSpPr>
        <p:spPr>
          <a:xfrm>
            <a:off x="8134350" y="2279650"/>
            <a:ext cx="63500" cy="63500"/>
          </a:xfrm>
          <a:prstGeom prst="ellipse">
            <a:avLst/>
          </a:prstGeom>
          <a:solidFill>
            <a:srgbClr val="6A4F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5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F2D889D9-07A7-313B-DEAF-FD3C76EF388B}"/>
              </a:ext>
            </a:extLst>
          </p:cNvPr>
          <p:cNvSpPr txBox="1"/>
          <p:nvPr/>
        </p:nvSpPr>
        <p:spPr>
          <a:xfrm>
            <a:off x="8305800" y="4241800"/>
            <a:ext cx="320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6A4F20"/>
                </a:solidFill>
                <a:latin typeface="Segoe UI" panose="020B0502040204020203" pitchFamily="34" charset="0"/>
              </a:rPr>
              <a:t>Estribo de fibra en U: es lo que retrasa el despegue y permite aprovechar más deformación.</a:t>
            </a:r>
            <a:endParaRPr lang="es-BO" sz="700">
              <a:solidFill>
                <a:srgbClr val="6A4F20"/>
              </a:solidFill>
              <a:latin typeface="Segoe UI" panose="020B0502040204020203" pitchFamily="34" charset="0"/>
            </a:endParaRPr>
          </a:p>
        </p:txBody>
      </p: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7461AA00-94A8-4ABD-A403-9C0205044D16}"/>
              </a:ext>
            </a:extLst>
          </p:cNvPr>
          <p:cNvCxnSpPr/>
          <p:nvPr/>
        </p:nvCxnSpPr>
        <p:spPr>
          <a:xfrm flipV="1">
            <a:off x="8343900" y="3086100"/>
            <a:ext cx="0" cy="419100"/>
          </a:xfrm>
          <a:prstGeom prst="line">
            <a:avLst/>
          </a:prstGeom>
          <a:ln w="1778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BA86F193-7D17-F75C-C609-DAF77218A7CA}"/>
              </a:ext>
            </a:extLst>
          </p:cNvPr>
          <p:cNvSpPr txBox="1"/>
          <p:nvPr/>
        </p:nvSpPr>
        <p:spPr>
          <a:xfrm>
            <a:off x="8534400" y="3378200"/>
            <a:ext cx="2819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8C332B"/>
                </a:solidFill>
                <a:latin typeface="Segoe UI" panose="020B0502040204020203" pitchFamily="34" charset="0"/>
              </a:rPr>
              <a:t>Aquí la tensión rasante es máxima, y el laminado se despega antes de agotar la fibra.</a:t>
            </a:r>
            <a:endParaRPr lang="es-BO" sz="700">
              <a:solidFill>
                <a:srgbClr val="8C332B"/>
              </a:solidFill>
              <a:latin typeface="Segoe UI" panose="020B0502040204020203" pitchFamily="34" charset="0"/>
            </a:endParaRPr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26CF419B-4931-A8D6-6EFB-C4C9054682AA}"/>
              </a:ext>
            </a:extLst>
          </p:cNvPr>
          <p:cNvSpPr/>
          <p:nvPr/>
        </p:nvSpPr>
        <p:spPr>
          <a:xfrm>
            <a:off x="7620000" y="4826000"/>
            <a:ext cx="3708400" cy="381000"/>
          </a:xfrm>
          <a:prstGeom prst="rect">
            <a:avLst/>
          </a:prstGeom>
          <a:solidFill>
            <a:srgbClr val="F0E7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de-DE" sz="850">
                <a:solidFill>
                  <a:srgbClr val="6A4F20"/>
                </a:solidFill>
                <a:latin typeface="Bahnschrift SemiBold" panose="020B0502040204020203" pitchFamily="34" charset="0"/>
              </a:rPr>
              <a:t>ε_fd = 0,41 · raíz( f′c / (n · E_f · t_f) )   ≤   0,9 · ε_fu</a:t>
            </a:r>
            <a:endParaRPr lang="es-BO" sz="850">
              <a:solidFill>
                <a:srgbClr val="6A4F2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344E3A4B-31D0-E466-DF69-834E8EC99FCD}"/>
              </a:ext>
            </a:extLst>
          </p:cNvPr>
          <p:cNvSpPr/>
          <p:nvPr/>
        </p:nvSpPr>
        <p:spPr>
          <a:xfrm>
            <a:off x="609600" y="5537200"/>
            <a:ext cx="10972800" cy="5588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4518F3BD-35EC-1CFE-D341-C2FD0A575132}"/>
              </a:ext>
            </a:extLst>
          </p:cNvPr>
          <p:cNvSpPr/>
          <p:nvPr/>
        </p:nvSpPr>
        <p:spPr>
          <a:xfrm>
            <a:off x="609600" y="5537200"/>
            <a:ext cx="5715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D4710246-F89A-4914-8878-84005E1D632B}"/>
              </a:ext>
            </a:extLst>
          </p:cNvPr>
          <p:cNvSpPr txBox="1"/>
          <p:nvPr/>
        </p:nvSpPr>
        <p:spPr>
          <a:xfrm>
            <a:off x="838200" y="5588000"/>
            <a:ext cx="1056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Una lámina de fibra bien calculada y mal pegada no sirve para nada.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El proyecto de un refuerzo con FRP es, en su mayor parte, una especificación de preparación del soporte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: limpieza, humedad, planeidad y arrancamiento.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09C6812C-375D-1DFE-8603-F52920EF3925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440.2R-17 §6, preparación del soporte y puesta en obra.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E25A0F12-297A-841C-55B8-FBAB019379D0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2000A902-F5BE-07D5-6E30-4D4D77F12F02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CFA88B21-B69E-28A8-6A15-6D205E3DB2FA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126" name="PageNo">
            <a:extLst>
              <a:ext uri="{FF2B5EF4-FFF2-40B4-BE49-F238E27FC236}">
                <a16:creationId xmlns:a16="http://schemas.microsoft.com/office/drawing/2014/main" id="{21F64071-3DAF-491B-D57F-DF953F22DCE1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14 / 38</a:t>
            </a:r>
          </a:p>
        </p:txBody>
      </p:sp>
    </p:spTree>
    <p:extLst>
      <p:ext uri="{BB962C8B-B14F-4D97-AF65-F5344CB8AC3E}">
        <p14:creationId xmlns:p14="http://schemas.microsoft.com/office/powerpoint/2010/main" val="878901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0C19FE-FE22-2ECC-8ED6-6AA27377D63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591001A-A0D7-2AC4-566A-C19AE3940683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E3B70BB-90AD-4C7B-FEEC-45B770CBB6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134690-9967-082D-807A-225EAA0C4098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PARTE 3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E891091-C825-F0E4-8298-08AA19362F85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800">
                <a:solidFill>
                  <a:srgbClr val="FFFFFF"/>
                </a:solidFill>
                <a:latin typeface="Bahnschrift SemiBold" panose="020B0502040204020203" pitchFamily="34" charset="0"/>
              </a:rPr>
              <a:t>Recalce de cimentaciones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E7540F8-7E3A-239C-A1A3-45809F82010D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3AA0A28-0590-D3CF-F3CF-F33AC1C09FA1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El elemento que nadie mira y el que más veces decide si la obra sirve.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82F6151-A38C-67A0-1194-42D153BA224E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0CB825-6432-5B5B-D034-476E530D40E5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Cuándo hace falta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AC272DB-8DAF-252C-6BCB-A402D699BE35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028B436-C321-9B58-59B4-3597C843B279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Las cuatro familias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1A3ACC5-D715-C2CE-D6A3-72E795ACDBB3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90973F2-CF68-AA3A-C552-E920FB76B478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La conexión con lo existente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64BC8CA-3816-2C0E-91EB-EC5EA4538EF5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C928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640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CC9972A-2496-A5E1-8290-DBF713179E33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CUÁNDO HACE FALTA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D46AD86-9F24-FBE4-C86D-E35790AEA456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Terzaghi, tres sumandos y un coeficiente de seguridad de tres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DA0B4B8-67FD-6036-8C40-4B5E8A4B6754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FFE87BC-48B5-7D09-2711-40319BC187C0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4F4B4B35-EA7A-940A-BF56-60A57405C44D}"/>
              </a:ext>
            </a:extLst>
          </p:cNvPr>
          <p:cNvSpPr/>
          <p:nvPr/>
        </p:nvSpPr>
        <p:spPr>
          <a:xfrm>
            <a:off x="609600" y="1422400"/>
            <a:ext cx="10972800" cy="7112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pt-BR" sz="1500">
                <a:solidFill>
                  <a:srgbClr val="FFFFFF"/>
                </a:solidFill>
                <a:latin typeface="Bahnschrift SemiBold" panose="020B0502040204020203" pitchFamily="34" charset="0"/>
              </a:rPr>
              <a:t>q_u  =  1,3 · c · N_c   +   q · N_q   +   0,4 · γ · B · N_γ        (zapata cuadrada)</a:t>
            </a:r>
            <a:endParaRPr lang="es-BO" sz="15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DA830D0-03EA-B0CA-C73D-FF61E42127BB}"/>
              </a:ext>
            </a:extLst>
          </p:cNvPr>
          <p:cNvSpPr/>
          <p:nvPr/>
        </p:nvSpPr>
        <p:spPr>
          <a:xfrm>
            <a:off x="609600" y="2362200"/>
            <a:ext cx="2641600" cy="17272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929A116-C053-F4E3-1A0D-C8D185C2DAD2}"/>
              </a:ext>
            </a:extLst>
          </p:cNvPr>
          <p:cNvSpPr/>
          <p:nvPr/>
        </p:nvSpPr>
        <p:spPr>
          <a:xfrm>
            <a:off x="609600" y="2362200"/>
            <a:ext cx="38100" cy="1727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804165-8B31-4533-417F-A4B2270F5ED3}"/>
              </a:ext>
            </a:extLst>
          </p:cNvPr>
          <p:cNvSpPr txBox="1"/>
          <p:nvPr/>
        </p:nvSpPr>
        <p:spPr>
          <a:xfrm>
            <a:off x="812800" y="25400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c·Nc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294057B-AC07-0374-C307-A5C00B4D1E08}"/>
              </a:ext>
            </a:extLst>
          </p:cNvPr>
          <p:cNvSpPr txBox="1"/>
          <p:nvPr/>
        </p:nvSpPr>
        <p:spPr>
          <a:xfrm>
            <a:off x="812800" y="29210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La cohesión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FAC545E-9275-E287-4FB8-11EFEB271B37}"/>
              </a:ext>
            </a:extLst>
          </p:cNvPr>
          <p:cNvSpPr txBox="1"/>
          <p:nvPr/>
        </p:nvSpPr>
        <p:spPr>
          <a:xfrm>
            <a:off x="812800" y="3200400"/>
            <a:ext cx="22352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Lo que aporta el propio suelo por cohesión. En arcillas es casi todo; en arenas limpias es cero.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AB877A4-D416-C995-72C8-62CB8CA5B35B}"/>
              </a:ext>
            </a:extLst>
          </p:cNvPr>
          <p:cNvSpPr/>
          <p:nvPr/>
        </p:nvSpPr>
        <p:spPr>
          <a:xfrm>
            <a:off x="3403600" y="2362200"/>
            <a:ext cx="2641600" cy="17272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FB0E693-79A5-B60A-22D3-8FFAC16A23FA}"/>
              </a:ext>
            </a:extLst>
          </p:cNvPr>
          <p:cNvSpPr/>
          <p:nvPr/>
        </p:nvSpPr>
        <p:spPr>
          <a:xfrm>
            <a:off x="3403600" y="2362200"/>
            <a:ext cx="38100" cy="1727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23BA1B7-E2CE-FDC3-C2BA-E6E400DB9B15}"/>
              </a:ext>
            </a:extLst>
          </p:cNvPr>
          <p:cNvSpPr txBox="1"/>
          <p:nvPr/>
        </p:nvSpPr>
        <p:spPr>
          <a:xfrm>
            <a:off x="3606800" y="25400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q·Nq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043999-B0C4-54AA-869D-12DC1D6EDCA4}"/>
              </a:ext>
            </a:extLst>
          </p:cNvPr>
          <p:cNvSpPr txBox="1"/>
          <p:nvPr/>
        </p:nvSpPr>
        <p:spPr>
          <a:xfrm>
            <a:off x="3606800" y="29210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La sobrecarga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248F1BC-86E3-B256-21DF-A3D48FA343F8}"/>
              </a:ext>
            </a:extLst>
          </p:cNvPr>
          <p:cNvSpPr txBox="1"/>
          <p:nvPr/>
        </p:nvSpPr>
        <p:spPr>
          <a:xfrm>
            <a:off x="3606800" y="3200400"/>
            <a:ext cx="22352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Lo que aporta el terreno que hay por encima de la cota de apoyo. Por eso enterrar más una zapata la mejora.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D8DCAD7-9E9F-8FE6-FF15-B9C92958A13D}"/>
              </a:ext>
            </a:extLst>
          </p:cNvPr>
          <p:cNvSpPr/>
          <p:nvPr/>
        </p:nvSpPr>
        <p:spPr>
          <a:xfrm>
            <a:off x="6197600" y="2362200"/>
            <a:ext cx="2641600" cy="17272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3028D33-0BE8-CAA7-F210-802E2C1A4384}"/>
              </a:ext>
            </a:extLst>
          </p:cNvPr>
          <p:cNvSpPr/>
          <p:nvPr/>
        </p:nvSpPr>
        <p:spPr>
          <a:xfrm>
            <a:off x="6197600" y="2362200"/>
            <a:ext cx="38100" cy="1727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6B7FD5A-3C4E-47B1-6F7D-0A03808FEEE2}"/>
              </a:ext>
            </a:extLst>
          </p:cNvPr>
          <p:cNvSpPr txBox="1"/>
          <p:nvPr/>
        </p:nvSpPr>
        <p:spPr>
          <a:xfrm>
            <a:off x="6400800" y="25400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l-GR" sz="2000">
                <a:solidFill>
                  <a:srgbClr val="8A6A2F"/>
                </a:solidFill>
                <a:latin typeface="Bahnschrift Light" panose="020B0502040204020203" pitchFamily="34" charset="0"/>
              </a:rPr>
              <a:t>γ·</a:t>
            </a:r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B·N</a:t>
            </a:r>
            <a:r>
              <a:rPr lang="el-GR" sz="2000">
                <a:solidFill>
                  <a:srgbClr val="8A6A2F"/>
                </a:solidFill>
                <a:latin typeface="Bahnschrift Light" panose="020B0502040204020203" pitchFamily="34" charset="0"/>
              </a:rPr>
              <a:t>γ</a:t>
            </a:r>
            <a:endParaRPr lang="es-BO" sz="2000">
              <a:solidFill>
                <a:srgbClr val="8A6A2F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D48A511-BD16-78DD-0036-09C157FC8D83}"/>
              </a:ext>
            </a:extLst>
          </p:cNvPr>
          <p:cNvSpPr txBox="1"/>
          <p:nvPr/>
        </p:nvSpPr>
        <p:spPr>
          <a:xfrm>
            <a:off x="6400800" y="29210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tamaño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1EB2B05-A3A6-78C0-EE70-D19E758A1C44}"/>
              </a:ext>
            </a:extLst>
          </p:cNvPr>
          <p:cNvSpPr txBox="1"/>
          <p:nvPr/>
        </p:nvSpPr>
        <p:spPr>
          <a:xfrm>
            <a:off x="6400800" y="3200400"/>
            <a:ext cx="22352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Lo que aporta el ancho de la propia zapata. Crece con B, y por eso ensanchar es el recalce más directo.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0792CAD-DF79-9A5C-062F-9EF7DE0DDA97}"/>
              </a:ext>
            </a:extLst>
          </p:cNvPr>
          <p:cNvSpPr/>
          <p:nvPr/>
        </p:nvSpPr>
        <p:spPr>
          <a:xfrm>
            <a:off x="8991600" y="2362200"/>
            <a:ext cx="2641600" cy="17272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5EC1803-0467-F54F-3519-CBB8603A99A2}"/>
              </a:ext>
            </a:extLst>
          </p:cNvPr>
          <p:cNvSpPr/>
          <p:nvPr/>
        </p:nvSpPr>
        <p:spPr>
          <a:xfrm>
            <a:off x="8991600" y="2362200"/>
            <a:ext cx="38100" cy="1727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0E4C65E-4FC8-7F9A-D7D5-321259393E9B}"/>
              </a:ext>
            </a:extLst>
          </p:cNvPr>
          <p:cNvSpPr txBox="1"/>
          <p:nvPr/>
        </p:nvSpPr>
        <p:spPr>
          <a:xfrm>
            <a:off x="9194800" y="25400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FS 3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9C5AC85-AE11-E633-DE02-31B3503AAFD3}"/>
              </a:ext>
            </a:extLst>
          </p:cNvPr>
          <p:cNvSpPr txBox="1"/>
          <p:nvPr/>
        </p:nvSpPr>
        <p:spPr>
          <a:xfrm>
            <a:off x="9194800" y="29210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coeficiente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16E68C3-304E-E137-9D81-98ADC45A0941}"/>
              </a:ext>
            </a:extLst>
          </p:cNvPr>
          <p:cNvSpPr txBox="1"/>
          <p:nvPr/>
        </p:nvSpPr>
        <p:spPr>
          <a:xfrm>
            <a:off x="9194800" y="3200400"/>
            <a:ext cx="22352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Tres, por convención, sobre la carga de hundimiento. Y aparte hay que comprobar el asiento, que a veces manda antes.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7171D55-2AEF-FA43-27A8-310A96AC6D41}"/>
              </a:ext>
            </a:extLst>
          </p:cNvPr>
          <p:cNvSpPr/>
          <p:nvPr/>
        </p:nvSpPr>
        <p:spPr>
          <a:xfrm>
            <a:off x="609600" y="4191000"/>
            <a:ext cx="6604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47D3BEF-A3A0-49E3-9CAF-216DB2C1D5CC}"/>
              </a:ext>
            </a:extLst>
          </p:cNvPr>
          <p:cNvSpPr/>
          <p:nvPr/>
        </p:nvSpPr>
        <p:spPr>
          <a:xfrm>
            <a:off x="609600" y="4191000"/>
            <a:ext cx="38100" cy="1905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17FCEDD-67F8-8EA0-31F5-5FCD87F5DEC8}"/>
              </a:ext>
            </a:extLst>
          </p:cNvPr>
          <p:cNvSpPr txBox="1"/>
          <p:nvPr/>
        </p:nvSpPr>
        <p:spPr>
          <a:xfrm>
            <a:off x="812800" y="4305300"/>
            <a:ext cx="6223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LOS FACTORES DE TERZAGHI DEPENDEN SOLO DE Φ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70E9D81-9C5B-59C2-8A64-6D01DF212070}"/>
              </a:ext>
            </a:extLst>
          </p:cNvPr>
          <p:cNvCxnSpPr/>
          <p:nvPr/>
        </p:nvCxnSpPr>
        <p:spPr>
          <a:xfrm>
            <a:off x="2438400" y="4546600"/>
            <a:ext cx="0" cy="1041400"/>
          </a:xfrm>
          <a:prstGeom prst="line">
            <a:avLst/>
          </a:prstGeom>
          <a:ln w="6350" cap="sq">
            <a:solidFill>
              <a:srgbClr val="C9C3B4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38B5603-55DF-90C8-286F-97F38B7A3240}"/>
              </a:ext>
            </a:extLst>
          </p:cNvPr>
          <p:cNvCxnSpPr/>
          <p:nvPr/>
        </p:nvCxnSpPr>
        <p:spPr>
          <a:xfrm>
            <a:off x="3632200" y="4546600"/>
            <a:ext cx="0" cy="1041400"/>
          </a:xfrm>
          <a:prstGeom prst="line">
            <a:avLst/>
          </a:prstGeom>
          <a:ln w="6350" cap="sq">
            <a:solidFill>
              <a:srgbClr val="C9C3B4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86A0710-1660-2C5E-69CF-11B1E820847F}"/>
              </a:ext>
            </a:extLst>
          </p:cNvPr>
          <p:cNvCxnSpPr/>
          <p:nvPr/>
        </p:nvCxnSpPr>
        <p:spPr>
          <a:xfrm>
            <a:off x="4826000" y="4546600"/>
            <a:ext cx="0" cy="1041400"/>
          </a:xfrm>
          <a:prstGeom prst="line">
            <a:avLst/>
          </a:prstGeom>
          <a:ln w="6350" cap="sq">
            <a:solidFill>
              <a:srgbClr val="C9C3B4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35A06341-9745-EA77-86C0-841F6F3EDEA1}"/>
              </a:ext>
            </a:extLst>
          </p:cNvPr>
          <p:cNvCxnSpPr/>
          <p:nvPr/>
        </p:nvCxnSpPr>
        <p:spPr>
          <a:xfrm>
            <a:off x="6019800" y="4546600"/>
            <a:ext cx="0" cy="1041400"/>
          </a:xfrm>
          <a:prstGeom prst="line">
            <a:avLst/>
          </a:prstGeom>
          <a:ln w="6350" cap="sq">
            <a:solidFill>
              <a:srgbClr val="C9C3B4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DC73C7B-5258-C30C-CE1A-733A64811542}"/>
              </a:ext>
            </a:extLst>
          </p:cNvPr>
          <p:cNvCxnSpPr/>
          <p:nvPr/>
        </p:nvCxnSpPr>
        <p:spPr>
          <a:xfrm>
            <a:off x="1244600" y="5240867"/>
            <a:ext cx="4775200" cy="0"/>
          </a:xfrm>
          <a:prstGeom prst="line">
            <a:avLst/>
          </a:prstGeom>
          <a:ln w="6350" cap="sq">
            <a:solidFill>
              <a:srgbClr val="C9C3B4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423D6536-CE26-6485-8D38-8355A35C2BD8}"/>
              </a:ext>
            </a:extLst>
          </p:cNvPr>
          <p:cNvCxnSpPr/>
          <p:nvPr/>
        </p:nvCxnSpPr>
        <p:spPr>
          <a:xfrm>
            <a:off x="1244600" y="4893733"/>
            <a:ext cx="4775200" cy="0"/>
          </a:xfrm>
          <a:prstGeom prst="line">
            <a:avLst/>
          </a:prstGeom>
          <a:ln w="6350" cap="sq">
            <a:solidFill>
              <a:srgbClr val="C9C3B4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F0D77A5-B151-ABB9-124D-BC05FBAAACA3}"/>
              </a:ext>
            </a:extLst>
          </p:cNvPr>
          <p:cNvCxnSpPr/>
          <p:nvPr/>
        </p:nvCxnSpPr>
        <p:spPr>
          <a:xfrm>
            <a:off x="1244600" y="4546600"/>
            <a:ext cx="4775200" cy="0"/>
          </a:xfrm>
          <a:prstGeom prst="line">
            <a:avLst/>
          </a:prstGeom>
          <a:ln w="6350" cap="sq">
            <a:solidFill>
              <a:srgbClr val="C9C3B4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F919165-A84F-6512-103E-22C5A82CF9EF}"/>
              </a:ext>
            </a:extLst>
          </p:cNvPr>
          <p:cNvCxnSpPr/>
          <p:nvPr/>
        </p:nvCxnSpPr>
        <p:spPr>
          <a:xfrm>
            <a:off x="1244600" y="5588000"/>
            <a:ext cx="4775200" cy="0"/>
          </a:xfrm>
          <a:prstGeom prst="line">
            <a:avLst/>
          </a:prstGeom>
          <a:ln w="12700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7E2D2E6-EB4F-81EF-DF9E-1A045F0F6E26}"/>
              </a:ext>
            </a:extLst>
          </p:cNvPr>
          <p:cNvCxnSpPr/>
          <p:nvPr/>
        </p:nvCxnSpPr>
        <p:spPr>
          <a:xfrm>
            <a:off x="1244600" y="4546600"/>
            <a:ext cx="0" cy="1041400"/>
          </a:xfrm>
          <a:prstGeom prst="line">
            <a:avLst/>
          </a:prstGeom>
          <a:ln w="12700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2D5208C-8BC3-9F7C-18F7-D803FE22994F}"/>
              </a:ext>
            </a:extLst>
          </p:cNvPr>
          <p:cNvCxnSpPr/>
          <p:nvPr/>
        </p:nvCxnSpPr>
        <p:spPr>
          <a:xfrm>
            <a:off x="6019800" y="5588000"/>
            <a:ext cx="127000" cy="0"/>
          </a:xfrm>
          <a:prstGeom prst="line">
            <a:avLst/>
          </a:prstGeom>
          <a:ln w="12700">
            <a:solidFill>
              <a:srgbClr val="5A5248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B97D3978-E4A6-6EEE-EE70-B340EACC4375}"/>
              </a:ext>
            </a:extLst>
          </p:cNvPr>
          <p:cNvCxnSpPr/>
          <p:nvPr/>
        </p:nvCxnSpPr>
        <p:spPr>
          <a:xfrm flipV="1">
            <a:off x="1244600" y="4419600"/>
            <a:ext cx="0" cy="127000"/>
          </a:xfrm>
          <a:prstGeom prst="line">
            <a:avLst/>
          </a:prstGeom>
          <a:ln w="12700">
            <a:solidFill>
              <a:srgbClr val="5A5248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0286D56D-496A-FB9C-5335-DA2A78F292F8}"/>
              </a:ext>
            </a:extLst>
          </p:cNvPr>
          <p:cNvCxnSpPr/>
          <p:nvPr/>
        </p:nvCxnSpPr>
        <p:spPr>
          <a:xfrm>
            <a:off x="1244600" y="5588000"/>
            <a:ext cx="0" cy="50800"/>
          </a:xfrm>
          <a:prstGeom prst="line">
            <a:avLst/>
          </a:prstGeom>
          <a:ln w="9525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83F16EC-0520-9347-AF65-6EF8A79F946A}"/>
              </a:ext>
            </a:extLst>
          </p:cNvPr>
          <p:cNvSpPr txBox="1"/>
          <p:nvPr/>
        </p:nvSpPr>
        <p:spPr>
          <a:xfrm>
            <a:off x="939800" y="5651500"/>
            <a:ext cx="609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50">
                <a:solidFill>
                  <a:srgbClr val="938A7C"/>
                </a:solidFill>
                <a:latin typeface="Segoe UI Semibold" panose="020B0702040204020203" pitchFamily="34" charset="0"/>
              </a:rPr>
              <a:t>0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E315F775-4E7F-A30F-5F98-8429F3E3DC72}"/>
              </a:ext>
            </a:extLst>
          </p:cNvPr>
          <p:cNvCxnSpPr/>
          <p:nvPr/>
        </p:nvCxnSpPr>
        <p:spPr>
          <a:xfrm>
            <a:off x="2438400" y="5588000"/>
            <a:ext cx="0" cy="50800"/>
          </a:xfrm>
          <a:prstGeom prst="line">
            <a:avLst/>
          </a:prstGeom>
          <a:ln w="9525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39DB6F2-F2D4-4423-8DC7-0C814AF278B3}"/>
              </a:ext>
            </a:extLst>
          </p:cNvPr>
          <p:cNvSpPr txBox="1"/>
          <p:nvPr/>
        </p:nvSpPr>
        <p:spPr>
          <a:xfrm>
            <a:off x="2133600" y="5651500"/>
            <a:ext cx="609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50">
                <a:solidFill>
                  <a:srgbClr val="938A7C"/>
                </a:solidFill>
                <a:latin typeface="Segoe UI Semibold" panose="020B0702040204020203" pitchFamily="34" charset="0"/>
              </a:rPr>
              <a:t>10</a:t>
            </a: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F445701C-B131-ECC1-157A-26F2B257E646}"/>
              </a:ext>
            </a:extLst>
          </p:cNvPr>
          <p:cNvCxnSpPr/>
          <p:nvPr/>
        </p:nvCxnSpPr>
        <p:spPr>
          <a:xfrm>
            <a:off x="3632200" y="5588000"/>
            <a:ext cx="0" cy="50800"/>
          </a:xfrm>
          <a:prstGeom prst="line">
            <a:avLst/>
          </a:prstGeom>
          <a:ln w="9525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8EFB1AC-46EE-BE12-62EF-17C5EA810C51}"/>
              </a:ext>
            </a:extLst>
          </p:cNvPr>
          <p:cNvSpPr txBox="1"/>
          <p:nvPr/>
        </p:nvSpPr>
        <p:spPr>
          <a:xfrm>
            <a:off x="3327400" y="5651500"/>
            <a:ext cx="609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50">
                <a:solidFill>
                  <a:srgbClr val="938A7C"/>
                </a:solidFill>
                <a:latin typeface="Segoe UI Semibold" panose="020B0702040204020203" pitchFamily="34" charset="0"/>
              </a:rPr>
              <a:t>20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A48D48A3-2A9F-508D-234D-4AECFADA52B2}"/>
              </a:ext>
            </a:extLst>
          </p:cNvPr>
          <p:cNvCxnSpPr/>
          <p:nvPr/>
        </p:nvCxnSpPr>
        <p:spPr>
          <a:xfrm>
            <a:off x="4826000" y="5588000"/>
            <a:ext cx="0" cy="50800"/>
          </a:xfrm>
          <a:prstGeom prst="line">
            <a:avLst/>
          </a:prstGeom>
          <a:ln w="9525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042A6DA-8234-474F-A4CB-5A4252F44F75}"/>
              </a:ext>
            </a:extLst>
          </p:cNvPr>
          <p:cNvSpPr txBox="1"/>
          <p:nvPr/>
        </p:nvSpPr>
        <p:spPr>
          <a:xfrm>
            <a:off x="4521200" y="5651500"/>
            <a:ext cx="609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50">
                <a:solidFill>
                  <a:srgbClr val="938A7C"/>
                </a:solidFill>
                <a:latin typeface="Segoe UI Semibold" panose="020B0702040204020203" pitchFamily="34" charset="0"/>
              </a:rPr>
              <a:t>30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6C9232CD-5BF8-3AE4-A075-E511AE33F8DF}"/>
              </a:ext>
            </a:extLst>
          </p:cNvPr>
          <p:cNvCxnSpPr/>
          <p:nvPr/>
        </p:nvCxnSpPr>
        <p:spPr>
          <a:xfrm>
            <a:off x="6019800" y="5588000"/>
            <a:ext cx="0" cy="50800"/>
          </a:xfrm>
          <a:prstGeom prst="line">
            <a:avLst/>
          </a:prstGeom>
          <a:ln w="9525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BC56E57-1694-402A-10C5-64F26F2EC94A}"/>
              </a:ext>
            </a:extLst>
          </p:cNvPr>
          <p:cNvSpPr txBox="1"/>
          <p:nvPr/>
        </p:nvSpPr>
        <p:spPr>
          <a:xfrm>
            <a:off x="5715000" y="5651500"/>
            <a:ext cx="609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50">
                <a:solidFill>
                  <a:srgbClr val="938A7C"/>
                </a:solidFill>
                <a:latin typeface="Segoe UI Semibold" panose="020B0702040204020203" pitchFamily="34" charset="0"/>
              </a:rPr>
              <a:t>40°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3750F626-C9DA-235E-934C-CEB6B67A5E0E}"/>
              </a:ext>
            </a:extLst>
          </p:cNvPr>
          <p:cNvCxnSpPr/>
          <p:nvPr/>
        </p:nvCxnSpPr>
        <p:spPr>
          <a:xfrm>
            <a:off x="1193800" y="5588000"/>
            <a:ext cx="50800" cy="0"/>
          </a:xfrm>
          <a:prstGeom prst="line">
            <a:avLst/>
          </a:prstGeom>
          <a:ln w="9525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9BA91DD-60F3-9F4B-4728-A9DFC6894B7C}"/>
              </a:ext>
            </a:extLst>
          </p:cNvPr>
          <p:cNvSpPr txBox="1"/>
          <p:nvPr/>
        </p:nvSpPr>
        <p:spPr>
          <a:xfrm>
            <a:off x="711200" y="5524500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50">
                <a:solidFill>
                  <a:srgbClr val="938A7C"/>
                </a:solidFill>
                <a:latin typeface="Segoe UI Semibold" panose="020B0702040204020203" pitchFamily="34" charset="0"/>
              </a:rPr>
              <a:t>0</a:t>
            </a:r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541AA8D7-3897-DEEF-CA45-69ACD04ED16F}"/>
              </a:ext>
            </a:extLst>
          </p:cNvPr>
          <p:cNvCxnSpPr/>
          <p:nvPr/>
        </p:nvCxnSpPr>
        <p:spPr>
          <a:xfrm>
            <a:off x="1193800" y="5240867"/>
            <a:ext cx="50800" cy="0"/>
          </a:xfrm>
          <a:prstGeom prst="line">
            <a:avLst/>
          </a:prstGeom>
          <a:ln w="9525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18212E9-7F91-1F01-A280-3FB3C9A645BC}"/>
              </a:ext>
            </a:extLst>
          </p:cNvPr>
          <p:cNvSpPr txBox="1"/>
          <p:nvPr/>
        </p:nvSpPr>
        <p:spPr>
          <a:xfrm>
            <a:off x="711200" y="5177367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50">
                <a:solidFill>
                  <a:srgbClr val="938A7C"/>
                </a:solidFill>
                <a:latin typeface="Segoe UI Semibold" panose="020B0702040204020203" pitchFamily="34" charset="0"/>
              </a:rPr>
              <a:t>40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55699C13-00E0-E0F5-01B6-848365B65968}"/>
              </a:ext>
            </a:extLst>
          </p:cNvPr>
          <p:cNvCxnSpPr/>
          <p:nvPr/>
        </p:nvCxnSpPr>
        <p:spPr>
          <a:xfrm>
            <a:off x="1193800" y="4893733"/>
            <a:ext cx="50800" cy="0"/>
          </a:xfrm>
          <a:prstGeom prst="line">
            <a:avLst/>
          </a:prstGeom>
          <a:ln w="9525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B2DD54F-078F-3A54-AF50-1C84DA2144EE}"/>
              </a:ext>
            </a:extLst>
          </p:cNvPr>
          <p:cNvSpPr txBox="1"/>
          <p:nvPr/>
        </p:nvSpPr>
        <p:spPr>
          <a:xfrm>
            <a:off x="711200" y="4830233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50">
                <a:solidFill>
                  <a:srgbClr val="938A7C"/>
                </a:solidFill>
                <a:latin typeface="Segoe UI Semibold" panose="020B0702040204020203" pitchFamily="34" charset="0"/>
              </a:rPr>
              <a:t>80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3AC1D4DD-3AF1-FB05-6B67-5A7E19ACBE57}"/>
              </a:ext>
            </a:extLst>
          </p:cNvPr>
          <p:cNvCxnSpPr/>
          <p:nvPr/>
        </p:nvCxnSpPr>
        <p:spPr>
          <a:xfrm>
            <a:off x="1193800" y="4546600"/>
            <a:ext cx="50800" cy="0"/>
          </a:xfrm>
          <a:prstGeom prst="line">
            <a:avLst/>
          </a:prstGeom>
          <a:ln w="9525">
            <a:solidFill>
              <a:srgbClr val="5A5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681E500F-D297-659B-D95D-2C1FB4CA0427}"/>
              </a:ext>
            </a:extLst>
          </p:cNvPr>
          <p:cNvSpPr txBox="1"/>
          <p:nvPr/>
        </p:nvSpPr>
        <p:spPr>
          <a:xfrm>
            <a:off x="711200" y="4483100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50">
                <a:solidFill>
                  <a:srgbClr val="938A7C"/>
                </a:solidFill>
                <a:latin typeface="Segoe UI Semibold" panose="020B0702040204020203" pitchFamily="34" charset="0"/>
              </a:rPr>
              <a:t>120</a:t>
            </a:r>
          </a:p>
        </p:txBody>
      </p:sp>
      <p:sp>
        <p:nvSpPr>
          <p:cNvPr id="59" name="Forma libre: forma 58">
            <a:extLst>
              <a:ext uri="{FF2B5EF4-FFF2-40B4-BE49-F238E27FC236}">
                <a16:creationId xmlns:a16="http://schemas.microsoft.com/office/drawing/2014/main" id="{C1ED5DA2-FB3E-BC1B-F43C-7BF713310236}"/>
              </a:ext>
            </a:extLst>
          </p:cNvPr>
          <p:cNvSpPr/>
          <p:nvPr/>
        </p:nvSpPr>
        <p:spPr>
          <a:xfrm>
            <a:off x="1244600" y="4716695"/>
            <a:ext cx="4775201" cy="871306"/>
          </a:xfrm>
          <a:custGeom>
            <a:avLst/>
            <a:gdLst/>
            <a:ahLst/>
            <a:cxnLst/>
            <a:rect l="0" t="0" r="0" b="0"/>
            <a:pathLst>
              <a:path w="4775201" h="871306">
                <a:moveTo>
                  <a:pt x="0" y="871305"/>
                </a:moveTo>
                <a:lnTo>
                  <a:pt x="1193800" y="860891"/>
                </a:lnTo>
                <a:lnTo>
                  <a:pt x="2387600" y="827913"/>
                </a:lnTo>
                <a:lnTo>
                  <a:pt x="3581400" y="700342"/>
                </a:lnTo>
                <a:lnTo>
                  <a:pt x="4775200" y="0"/>
                </a:lnTo>
              </a:path>
            </a:pathLst>
          </a:custGeom>
          <a:ln w="2540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A6642B9-6CEA-2F85-8126-2DE3663AEEA3}"/>
              </a:ext>
            </a:extLst>
          </p:cNvPr>
          <p:cNvCxnSpPr/>
          <p:nvPr/>
        </p:nvCxnSpPr>
        <p:spPr>
          <a:xfrm flipV="1">
            <a:off x="6019800" y="4610100"/>
            <a:ext cx="88900" cy="106595"/>
          </a:xfrm>
          <a:prstGeom prst="line">
            <a:avLst/>
          </a:prstGeom>
          <a:ln w="762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C69E0F3-2F9B-8C05-8917-4E00D40C9891}"/>
              </a:ext>
            </a:extLst>
          </p:cNvPr>
          <p:cNvSpPr txBox="1"/>
          <p:nvPr/>
        </p:nvSpPr>
        <p:spPr>
          <a:xfrm>
            <a:off x="6134100" y="4546600"/>
            <a:ext cx="304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8A6A2F"/>
                </a:solidFill>
                <a:latin typeface="Segoe UI Semibold" panose="020B0702040204020203" pitchFamily="34" charset="0"/>
              </a:rPr>
              <a:t>N_</a:t>
            </a:r>
            <a:r>
              <a:rPr lang="el-GR" sz="700">
                <a:solidFill>
                  <a:srgbClr val="8A6A2F"/>
                </a:solidFill>
                <a:latin typeface="Segoe UI Semibold" panose="020B0702040204020203" pitchFamily="34" charset="0"/>
              </a:rPr>
              <a:t>γ</a:t>
            </a:r>
            <a:endParaRPr lang="es-BO" sz="700">
              <a:solidFill>
                <a:srgbClr val="8A6A2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2" name="Forma libre: forma 61">
            <a:extLst>
              <a:ext uri="{FF2B5EF4-FFF2-40B4-BE49-F238E27FC236}">
                <a16:creationId xmlns:a16="http://schemas.microsoft.com/office/drawing/2014/main" id="{ACA50F81-ECDB-6A5C-24E6-96918535C688}"/>
              </a:ext>
            </a:extLst>
          </p:cNvPr>
          <p:cNvSpPr/>
          <p:nvPr/>
        </p:nvSpPr>
        <p:spPr>
          <a:xfrm>
            <a:off x="1244600" y="4757484"/>
            <a:ext cx="4775201" cy="781051"/>
          </a:xfrm>
          <a:custGeom>
            <a:avLst/>
            <a:gdLst/>
            <a:ahLst/>
            <a:cxnLst/>
            <a:rect l="0" t="0" r="0" b="0"/>
            <a:pathLst>
              <a:path w="4775201" h="781051">
                <a:moveTo>
                  <a:pt x="0" y="781050"/>
                </a:moveTo>
                <a:lnTo>
                  <a:pt x="1193800" y="747204"/>
                </a:lnTo>
                <a:lnTo>
                  <a:pt x="2387600" y="676909"/>
                </a:lnTo>
                <a:lnTo>
                  <a:pt x="3581400" y="507682"/>
                </a:lnTo>
                <a:lnTo>
                  <a:pt x="4775200" y="0"/>
                </a:lnTo>
              </a:path>
            </a:pathLst>
          </a:custGeom>
          <a:ln w="25400">
            <a:solidFill>
              <a:srgbClr val="4C5F3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1D4490AC-76AA-B773-BDA5-B1C226059BCD}"/>
              </a:ext>
            </a:extLst>
          </p:cNvPr>
          <p:cNvCxnSpPr/>
          <p:nvPr/>
        </p:nvCxnSpPr>
        <p:spPr>
          <a:xfrm flipV="1">
            <a:off x="6019800" y="4749800"/>
            <a:ext cx="88900" cy="7684"/>
          </a:xfrm>
          <a:prstGeom prst="line">
            <a:avLst/>
          </a:prstGeom>
          <a:ln w="7620">
            <a:solidFill>
              <a:srgbClr val="4C5F3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846F6F5-630C-2A41-5CA3-A29A4D62A60E}"/>
              </a:ext>
            </a:extLst>
          </p:cNvPr>
          <p:cNvSpPr txBox="1"/>
          <p:nvPr/>
        </p:nvSpPr>
        <p:spPr>
          <a:xfrm>
            <a:off x="6134100" y="4686300"/>
            <a:ext cx="304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4C5F33"/>
                </a:solidFill>
                <a:latin typeface="Segoe UI Semibold" panose="020B0702040204020203" pitchFamily="34" charset="0"/>
              </a:rPr>
              <a:t>N_c</a:t>
            </a:r>
          </a:p>
        </p:txBody>
      </p:sp>
      <p:sp>
        <p:nvSpPr>
          <p:cNvPr id="65" name="Forma libre: forma 64">
            <a:extLst>
              <a:ext uri="{FF2B5EF4-FFF2-40B4-BE49-F238E27FC236}">
                <a16:creationId xmlns:a16="http://schemas.microsoft.com/office/drawing/2014/main" id="{A0583D11-0F06-46CC-BD34-826123A0349E}"/>
              </a:ext>
            </a:extLst>
          </p:cNvPr>
          <p:cNvSpPr/>
          <p:nvPr/>
        </p:nvSpPr>
        <p:spPr>
          <a:xfrm>
            <a:off x="1244600" y="4882452"/>
            <a:ext cx="4775201" cy="696871"/>
          </a:xfrm>
          <a:custGeom>
            <a:avLst/>
            <a:gdLst/>
            <a:ahLst/>
            <a:cxnLst/>
            <a:rect l="0" t="0" r="0" b="0"/>
            <a:pathLst>
              <a:path w="4775201" h="696871">
                <a:moveTo>
                  <a:pt x="0" y="696870"/>
                </a:moveTo>
                <a:lnTo>
                  <a:pt x="1193800" y="682116"/>
                </a:lnTo>
                <a:lnTo>
                  <a:pt x="2387600" y="641328"/>
                </a:lnTo>
                <a:lnTo>
                  <a:pt x="3581400" y="510286"/>
                </a:lnTo>
                <a:lnTo>
                  <a:pt x="4775200" y="0"/>
                </a:lnTo>
              </a:path>
            </a:pathLst>
          </a:custGeom>
          <a:ln w="25400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503ACC5B-6215-84B0-037F-83DA837E2F5A}"/>
              </a:ext>
            </a:extLst>
          </p:cNvPr>
          <p:cNvCxnSpPr/>
          <p:nvPr/>
        </p:nvCxnSpPr>
        <p:spPr>
          <a:xfrm>
            <a:off x="6019800" y="4882452"/>
            <a:ext cx="88900" cy="7048"/>
          </a:xfrm>
          <a:prstGeom prst="line">
            <a:avLst/>
          </a:prstGeom>
          <a:ln w="7620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>
            <a:extLst>
              <a:ext uri="{FF2B5EF4-FFF2-40B4-BE49-F238E27FC236}">
                <a16:creationId xmlns:a16="http://schemas.microsoft.com/office/drawing/2014/main" id="{33B61709-FBFC-4E8E-66CD-91921C6936C6}"/>
              </a:ext>
            </a:extLst>
          </p:cNvPr>
          <p:cNvSpPr txBox="1"/>
          <p:nvPr/>
        </p:nvSpPr>
        <p:spPr>
          <a:xfrm>
            <a:off x="6134100" y="4826000"/>
            <a:ext cx="304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4A5559"/>
                </a:solidFill>
                <a:latin typeface="Segoe UI Semibold" panose="020B0702040204020203" pitchFamily="34" charset="0"/>
              </a:rPr>
              <a:t>N_q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1B442A76-74FD-3A9C-4F76-80E680023EA4}"/>
              </a:ext>
            </a:extLst>
          </p:cNvPr>
          <p:cNvCxnSpPr/>
          <p:nvPr/>
        </p:nvCxnSpPr>
        <p:spPr>
          <a:xfrm>
            <a:off x="3035300" y="4546600"/>
            <a:ext cx="0" cy="1041400"/>
          </a:xfrm>
          <a:prstGeom prst="line">
            <a:avLst/>
          </a:prstGeom>
          <a:ln w="12700" cap="sq">
            <a:solidFill>
              <a:srgbClr val="8C332B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C5450D99-5C4E-E7FF-4EAE-17F3530333C6}"/>
              </a:ext>
            </a:extLst>
          </p:cNvPr>
          <p:cNvSpPr txBox="1"/>
          <p:nvPr/>
        </p:nvSpPr>
        <p:spPr>
          <a:xfrm>
            <a:off x="2527300" y="4406900"/>
            <a:ext cx="101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l-GR" sz="650">
                <a:solidFill>
                  <a:srgbClr val="8C332B"/>
                </a:solidFill>
                <a:latin typeface="Segoe UI Semibold" panose="020B0702040204020203" pitchFamily="34" charset="0"/>
              </a:rPr>
              <a:t>φ = 15°</a:t>
            </a:r>
            <a:endParaRPr lang="es-BO" sz="650">
              <a:solidFill>
                <a:srgbClr val="8C33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0AA2849A-9286-FC2F-D7AA-4D6AB3F944A0}"/>
              </a:ext>
            </a:extLst>
          </p:cNvPr>
          <p:cNvSpPr txBox="1"/>
          <p:nvPr/>
        </p:nvSpPr>
        <p:spPr>
          <a:xfrm>
            <a:off x="6426200" y="4572000"/>
            <a:ext cx="685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00">
                <a:solidFill>
                  <a:srgbClr val="6A4F20"/>
                </a:solidFill>
                <a:latin typeface="Segoe UI Semibold" panose="020B0702040204020203" pitchFamily="34" charset="0"/>
              </a:rPr>
              <a:t>NAVE SECTOR 4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E2E70F32-EB51-F98D-2560-27009B16D3F8}"/>
              </a:ext>
            </a:extLst>
          </p:cNvPr>
          <p:cNvSpPr txBox="1"/>
          <p:nvPr/>
        </p:nvSpPr>
        <p:spPr>
          <a:xfrm>
            <a:off x="6426200" y="4749800"/>
            <a:ext cx="711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50">
                <a:solidFill>
                  <a:srgbClr val="4C5F33"/>
                </a:solidFill>
                <a:latin typeface="Segoe UI" panose="020B0502040204020203" pitchFamily="34" charset="0"/>
              </a:rPr>
              <a:t>N_c = 12,86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C5137207-9078-8521-E5CA-34F6CA615C6D}"/>
              </a:ext>
            </a:extLst>
          </p:cNvPr>
          <p:cNvSpPr txBox="1"/>
          <p:nvPr/>
        </p:nvSpPr>
        <p:spPr>
          <a:xfrm>
            <a:off x="6426200" y="4914900"/>
            <a:ext cx="711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50">
                <a:solidFill>
                  <a:srgbClr val="4A5559"/>
                </a:solidFill>
                <a:latin typeface="Segoe UI" panose="020B0502040204020203" pitchFamily="34" charset="0"/>
              </a:rPr>
              <a:t>N_q = 4,45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8CCFBB2-E45F-107A-A02D-BC352F49FE38}"/>
              </a:ext>
            </a:extLst>
          </p:cNvPr>
          <p:cNvSpPr txBox="1"/>
          <p:nvPr/>
        </p:nvSpPr>
        <p:spPr>
          <a:xfrm>
            <a:off x="6426200" y="5080000"/>
            <a:ext cx="711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50">
                <a:solidFill>
                  <a:srgbClr val="8A6A2F"/>
                </a:solidFill>
                <a:latin typeface="Segoe UI" panose="020B0502040204020203" pitchFamily="34" charset="0"/>
              </a:rPr>
              <a:t>N_</a:t>
            </a:r>
            <a:r>
              <a:rPr lang="el-GR" sz="650">
                <a:solidFill>
                  <a:srgbClr val="8A6A2F"/>
                </a:solidFill>
                <a:latin typeface="Segoe UI" panose="020B0502040204020203" pitchFamily="34" charset="0"/>
              </a:rPr>
              <a:t>γ = 2,17</a:t>
            </a:r>
            <a:endParaRPr lang="es-BO" sz="650">
              <a:solidFill>
                <a:srgbClr val="8A6A2F"/>
              </a:solidFill>
              <a:latin typeface="Segoe UI" panose="020B0502040204020203" pitchFamily="34" charset="0"/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622CE158-85B6-306F-C08F-0F68BC22FAA6}"/>
              </a:ext>
            </a:extLst>
          </p:cNvPr>
          <p:cNvSpPr txBox="1"/>
          <p:nvPr/>
        </p:nvSpPr>
        <p:spPr>
          <a:xfrm>
            <a:off x="965200" y="5867400"/>
            <a:ext cx="589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Crecen de forma exponencial con φ: </a:t>
            </a:r>
            <a:r>
              <a:rPr lang="es-MX" sz="700" b="1">
                <a:solidFill>
                  <a:srgbClr val="5A5248"/>
                </a:solidFill>
                <a:latin typeface="Segoe UI Semibold" panose="020B0702040204020203" pitchFamily="34" charset="0"/>
              </a:rPr>
              <a:t>un grado de más en el estudio de suelos cambia la capacidad mucho más que un centímetro de zapata.</a:t>
            </a:r>
            <a:endParaRPr lang="es-BO" sz="700" b="1">
              <a:solidFill>
                <a:srgbClr val="5A5248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327433D-0947-28CC-1A37-C96F143EE56E}"/>
              </a:ext>
            </a:extLst>
          </p:cNvPr>
          <p:cNvSpPr/>
          <p:nvPr/>
        </p:nvSpPr>
        <p:spPr>
          <a:xfrm>
            <a:off x="7061200" y="4191000"/>
            <a:ext cx="4521200" cy="19050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34DA9442-C392-43EC-0BF9-D07CEDA5E796}"/>
              </a:ext>
            </a:extLst>
          </p:cNvPr>
          <p:cNvSpPr/>
          <p:nvPr/>
        </p:nvSpPr>
        <p:spPr>
          <a:xfrm>
            <a:off x="7061200" y="4191000"/>
            <a:ext cx="57150" cy="1905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6643E70C-FDA5-F0B4-8259-4B1D1DC7FA44}"/>
              </a:ext>
            </a:extLst>
          </p:cNvPr>
          <p:cNvSpPr txBox="1"/>
          <p:nvPr/>
        </p:nvSpPr>
        <p:spPr>
          <a:xfrm>
            <a:off x="7289800" y="4368800"/>
            <a:ext cx="41148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En la nave Sector 4: c = 25 kPa, φ = 15°, γ = 17 kN/m³, con zapata de 1,80 m a 1,20 m de profundidad. Los factores son N_c = 12.86, N_q = 4.45 y N_γ = 2.17. Se resuelve entero en el caso de hoy.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EFF77B5F-DB71-5F51-B270-B1BF12020663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Terzaghi (1943); NB 1225001 y criterio de cimentaciones superficiales.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EC551013-F29B-EBBA-4678-DDBE44CF0FFD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>
            <a:extLst>
              <a:ext uri="{FF2B5EF4-FFF2-40B4-BE49-F238E27FC236}">
                <a16:creationId xmlns:a16="http://schemas.microsoft.com/office/drawing/2014/main" id="{0CFDE8F3-38AB-984F-484B-92BD70EDA608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78E1C81C-B0DE-1B35-783C-6A20A7311E17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82" name="PageNo">
            <a:extLst>
              <a:ext uri="{FF2B5EF4-FFF2-40B4-BE49-F238E27FC236}">
                <a16:creationId xmlns:a16="http://schemas.microsoft.com/office/drawing/2014/main" id="{852B7E55-50E1-3C61-26A6-7215FD53934D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16 / 38</a:t>
            </a:r>
          </a:p>
        </p:txBody>
      </p:sp>
    </p:spTree>
    <p:extLst>
      <p:ext uri="{BB962C8B-B14F-4D97-AF65-F5344CB8AC3E}">
        <p14:creationId xmlns:p14="http://schemas.microsoft.com/office/powerpoint/2010/main" val="3308661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BA42F85-CA78-3729-39FC-C44EE6EC026C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LAS CUATRO FAMILIAS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F2744BC-3AEF-19CA-7E61-A29B97F2D6B9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Ensanchar, profundizar, mejorar el terreno o transferir a otro apoyo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ED47D39-DD32-76A7-16D0-A75D6558632D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97AAE19-FE7A-06A2-B9B1-FC5C298EC0DB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E1E798B-769E-6DD0-C991-DA239B85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568449"/>
              </p:ext>
            </p:extLst>
          </p:nvPr>
        </p:nvGraphicFramePr>
        <p:xfrm>
          <a:off x="609600" y="14224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113633882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0102312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197674519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3602513547"/>
                    </a:ext>
                  </a:extLst>
                </a:gridCol>
              </a:tblGrid>
              <a:tr h="62992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Familia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hace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Cuándo se elige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Lo crítico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141175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Ensanche de la zapata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Aumenta el área de apoyo y el término de B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Hay espacio alrededor y el terreno sirve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La conexión con la zapata vieja: cortante-fricción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593926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Profundización por bataches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Lleva el apoyo a un estrato mejor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El estrato bueno está a poca profundidad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Excavar por tramos alternos, nunca todo a la vez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222224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Mejora del terreno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Inyección, jet grouting, columnas de grava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No hay acceso para excavar bajo la zapata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Control de la inyección: puede levantar la estructura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887940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Micropilotes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Transfiere la carga a un estrato profundo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Terreno malo en varios metros o nivel freático alto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El encepado que recoge la carga de la zapata existente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115713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F22C04C4-40AD-9D86-70BE-F8F70C8DEA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775200"/>
            <a:ext cx="5334000" cy="13716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9E6A814-DFF2-7741-6ADB-284D89BEE356}"/>
              </a:ext>
            </a:extLst>
          </p:cNvPr>
          <p:cNvSpPr/>
          <p:nvPr/>
        </p:nvSpPr>
        <p:spPr>
          <a:xfrm>
            <a:off x="6248400" y="4775200"/>
            <a:ext cx="5334000" cy="13716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BBCFE-865F-7519-0149-1125ED640953}"/>
              </a:ext>
            </a:extLst>
          </p:cNvPr>
          <p:cNvSpPr/>
          <p:nvPr/>
        </p:nvSpPr>
        <p:spPr>
          <a:xfrm>
            <a:off x="6248400" y="4775200"/>
            <a:ext cx="57150" cy="1371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4CEDE4C-A189-4C5E-1D79-3203792F1FC6}"/>
              </a:ext>
            </a:extLst>
          </p:cNvPr>
          <p:cNvSpPr txBox="1"/>
          <p:nvPr/>
        </p:nvSpPr>
        <p:spPr>
          <a:xfrm>
            <a:off x="6477000" y="4953000"/>
            <a:ext cx="4927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La segunda familia tiene una regla que no se negocia: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por bataches alternos y nunca más de un tercio de la longitud a la vez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. Excavar bajo una zapata en continuo es provocar el asiento que se quería evitar.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1CBC037-3D35-CBC2-2DA5-0EA8BAD63886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§7; práctica habitual de recalce; NB 1225001.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BADB02F-62EF-727C-4265-B90E8BFBB04F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238999-7588-107E-C750-B35DF5956513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5662B2-5671-5DD2-CCF9-D00B8FCAE0B4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o">
            <a:extLst>
              <a:ext uri="{FF2B5EF4-FFF2-40B4-BE49-F238E27FC236}">
                <a16:creationId xmlns:a16="http://schemas.microsoft.com/office/drawing/2014/main" id="{2919680B-E26C-AD34-FA31-7EFDAF37A300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17 / 38</a:t>
            </a:r>
          </a:p>
        </p:txBody>
      </p:sp>
    </p:spTree>
    <p:extLst>
      <p:ext uri="{BB962C8B-B14F-4D97-AF65-F5344CB8AC3E}">
        <p14:creationId xmlns:p14="http://schemas.microsoft.com/office/powerpoint/2010/main" val="2339471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EC7972-924D-6409-8D20-F76F9EC1FD04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LAS CUATRO FAMILIAS EN OBRA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B891FA-4829-461C-6A8D-4A14290768D7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Una fotografía por familia, para que no se queden en una tabla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089DBE5-920C-55B4-042B-692E6E2FB973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C902EF6-BB79-0440-2106-56B4B220C364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91474256-1EDB-D5CC-03F4-03B7AE4DC4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98600"/>
            <a:ext cx="2565400" cy="2032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69D90EE-2231-0166-CDEA-6EE66C14145F}"/>
              </a:ext>
            </a:extLst>
          </p:cNvPr>
          <p:cNvSpPr txBox="1"/>
          <p:nvPr/>
        </p:nvSpPr>
        <p:spPr>
          <a:xfrm>
            <a:off x="609600" y="3606800"/>
            <a:ext cx="2565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Ensanche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56E2AF-F4D3-82E1-6424-9A58A6358E31}"/>
              </a:ext>
            </a:extLst>
          </p:cNvPr>
          <p:cNvSpPr txBox="1"/>
          <p:nvPr/>
        </p:nvSpPr>
        <p:spPr>
          <a:xfrm>
            <a:off x="609600" y="3886200"/>
            <a:ext cx="2565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La armadura del bloque nuevo, atada dentro del pozo y conectada a lo existente. Es la familia del caso de hoy.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24544F5-5978-112E-6D95-1BD8C8E69DC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300" y="1498600"/>
            <a:ext cx="2565400" cy="2032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91A5AC5-F9F1-336D-BD0D-9CE0EE71FDB1}"/>
              </a:ext>
            </a:extLst>
          </p:cNvPr>
          <p:cNvSpPr txBox="1"/>
          <p:nvPr/>
        </p:nvSpPr>
        <p:spPr>
          <a:xfrm>
            <a:off x="3416300" y="3606800"/>
            <a:ext cx="2565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Profundización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E569BA1-E287-76CB-6BDC-22B7F5F8E8E5}"/>
              </a:ext>
            </a:extLst>
          </p:cNvPr>
          <p:cNvSpPr txBox="1"/>
          <p:nvPr/>
        </p:nvSpPr>
        <p:spPr>
          <a:xfrm>
            <a:off x="3416300" y="3886200"/>
            <a:ext cx="2565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Recalce por bataches bajo un edificio en pie. Se ven los tramos alternos ya hormigonados, uno sí y uno no.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7DFC292-02C3-B953-C65F-5881C6D07F9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498600"/>
            <a:ext cx="2565400" cy="2032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E759BAB-6187-55BC-28FB-50AC70132132}"/>
              </a:ext>
            </a:extLst>
          </p:cNvPr>
          <p:cNvSpPr txBox="1"/>
          <p:nvPr/>
        </p:nvSpPr>
        <p:spPr>
          <a:xfrm>
            <a:off x="6223000" y="3606800"/>
            <a:ext cx="2565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Mejora del terreno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71CF6EA-07ED-E049-405F-AFF891608D7E}"/>
              </a:ext>
            </a:extLst>
          </p:cNvPr>
          <p:cNvSpPr txBox="1"/>
          <p:nvPr/>
        </p:nvSpPr>
        <p:spPr>
          <a:xfrm>
            <a:off x="6223000" y="3886200"/>
            <a:ext cx="2565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Inyección contra la propia fachada, donde no hay sitio para excavar. Se trata el suelo en vez de la zapata.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E46F548-879D-5776-95AF-5774A935891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700" y="1498600"/>
            <a:ext cx="2565400" cy="20320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C7EE67D5-259B-4186-B3DC-18A88F311FCE}"/>
              </a:ext>
            </a:extLst>
          </p:cNvPr>
          <p:cNvSpPr txBox="1"/>
          <p:nvPr/>
        </p:nvSpPr>
        <p:spPr>
          <a:xfrm>
            <a:off x="9029700" y="3606800"/>
            <a:ext cx="2565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Micropilotes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96F93A4-E803-8D19-9E1A-0BC5EB84ADFF}"/>
              </a:ext>
            </a:extLst>
          </p:cNvPr>
          <p:cNvSpPr txBox="1"/>
          <p:nvPr/>
        </p:nvSpPr>
        <p:spPr>
          <a:xfrm>
            <a:off x="9029700" y="3886200"/>
            <a:ext cx="25654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El equipo de perforación. Cabe en alturas pequeñas, y por eso se usa dentro de naves y sótanos.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E5960CD-A5F7-4CAE-A562-3B60BE041B5C}"/>
              </a:ext>
            </a:extLst>
          </p:cNvPr>
          <p:cNvSpPr/>
          <p:nvPr/>
        </p:nvSpPr>
        <p:spPr>
          <a:xfrm>
            <a:off x="609600" y="5003800"/>
            <a:ext cx="10972800" cy="7366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E7544CD-822B-EBC9-5D9E-A6376FCD146E}"/>
              </a:ext>
            </a:extLst>
          </p:cNvPr>
          <p:cNvSpPr/>
          <p:nvPr/>
        </p:nvSpPr>
        <p:spPr>
          <a:xfrm>
            <a:off x="609600" y="5003800"/>
            <a:ext cx="57150" cy="736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EB94E65-73CD-A0C9-B530-1E57B174432D}"/>
              </a:ext>
            </a:extLst>
          </p:cNvPr>
          <p:cNvSpPr txBox="1"/>
          <p:nvPr/>
        </p:nvSpPr>
        <p:spPr>
          <a:xfrm>
            <a:off x="838200" y="5054600"/>
            <a:ext cx="10566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Miren el tamaño de los equipos de la tercera y la cuarta: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ese es el criterio que decide en la mitad de los recalces reales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. No se elige la familia que mejor trabaja, se elige la que cabe por la puerta y la que se puede montar sin parar la actividad de la nave.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50D2664-B45F-DE52-8432-DC94772ACAF8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§7; práctica habitual de recalce.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F51787A-4BC0-B415-B76E-156D308C8361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61E24E3-BB7A-809C-5C56-FCBC75056C25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F44AAE5-5F8B-408D-10D7-9B27A200553A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PageNo">
            <a:extLst>
              <a:ext uri="{FF2B5EF4-FFF2-40B4-BE49-F238E27FC236}">
                <a16:creationId xmlns:a16="http://schemas.microsoft.com/office/drawing/2014/main" id="{EE6A60CA-5DD2-8B8A-669C-552FA8BFB116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18 / 38</a:t>
            </a:r>
          </a:p>
        </p:txBody>
      </p:sp>
    </p:spTree>
    <p:extLst>
      <p:ext uri="{BB962C8B-B14F-4D97-AF65-F5344CB8AC3E}">
        <p14:creationId xmlns:p14="http://schemas.microsoft.com/office/powerpoint/2010/main" val="2122842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01F5AF5-D36F-AB82-D00A-8EAB9D47386C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LA CONEXIÓN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EA79033-C246-A4E4-393F-491C8F962007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El ensanche solo trabaja si la carga consigue llegar hasta él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C2C1518-2DA4-F62F-8D0D-3D202B0D2E1C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F7ED2A8-FBAF-3C35-3923-4C7CB7F61A38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2803FDCE-29F8-1854-A152-974985E9FF00}"/>
              </a:ext>
            </a:extLst>
          </p:cNvPr>
          <p:cNvSpPr/>
          <p:nvPr/>
        </p:nvSpPr>
        <p:spPr>
          <a:xfrm>
            <a:off x="609600" y="1422400"/>
            <a:ext cx="10972800" cy="7112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450">
                <a:solidFill>
                  <a:srgbClr val="FFFFFF"/>
                </a:solidFill>
                <a:latin typeface="Bahnschrift SemiBold" panose="020B0502040204020203" pitchFamily="34" charset="0"/>
              </a:rPr>
              <a:t>V_n  =  μ · A_vf · f_y          con  μ = 1,0 λ  para hormigón contra hormigón endurecido y rugoso</a:t>
            </a:r>
            <a:endParaRPr lang="es-BO" sz="145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50DDF5F-C1AF-E340-7195-7B0213FC24C3}"/>
              </a:ext>
            </a:extLst>
          </p:cNvPr>
          <p:cNvSpPr/>
          <p:nvPr/>
        </p:nvSpPr>
        <p:spPr>
          <a:xfrm>
            <a:off x="609600" y="23622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1D3D078-7A85-0C37-51F6-2EAA781B36F7}"/>
              </a:ext>
            </a:extLst>
          </p:cNvPr>
          <p:cNvSpPr txBox="1"/>
          <p:nvPr/>
        </p:nvSpPr>
        <p:spPr>
          <a:xfrm>
            <a:off x="1143000" y="2374900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La superficie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DE37F8B-4F6A-7812-423F-C47D60151442}"/>
              </a:ext>
            </a:extLst>
          </p:cNvPr>
          <p:cNvSpPr txBox="1"/>
          <p:nvPr/>
        </p:nvSpPr>
        <p:spPr>
          <a:xfrm>
            <a:off x="1143000" y="2628900"/>
            <a:ext cx="7112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Intencionalmente rugosa, con amplitud del orden de 6 mm, limpia y sin lechada. Es la condición que permite usar μ = 1,0; si no se cumple, el coeficiente baja mucho.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1AD30E0-9D12-925E-571B-18757004D20B}"/>
              </a:ext>
            </a:extLst>
          </p:cNvPr>
          <p:cNvSpPr/>
          <p:nvPr/>
        </p:nvSpPr>
        <p:spPr>
          <a:xfrm>
            <a:off x="609600" y="32766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F0F839-8E75-5B1E-CF76-D866E94EA417}"/>
              </a:ext>
            </a:extLst>
          </p:cNvPr>
          <p:cNvSpPr txBox="1"/>
          <p:nvPr/>
        </p:nvSpPr>
        <p:spPr>
          <a:xfrm>
            <a:off x="1143000" y="3289300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Los conectores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32C005-4C18-DDF6-5DED-374432567947}"/>
              </a:ext>
            </a:extLst>
          </p:cNvPr>
          <p:cNvSpPr txBox="1"/>
          <p:nvPr/>
        </p:nvSpPr>
        <p:spPr>
          <a:xfrm>
            <a:off x="1143000" y="3543300"/>
            <a:ext cx="7112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Barras ancladas con resina en la zapata vieja, repartidas en todo el perímetro, con la longitud de anclaje que exija la norma a cada lado de la junta.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D941A43-2F05-547C-2663-FEF3B549CDE3}"/>
              </a:ext>
            </a:extLst>
          </p:cNvPr>
          <p:cNvSpPr/>
          <p:nvPr/>
        </p:nvSpPr>
        <p:spPr>
          <a:xfrm>
            <a:off x="609600" y="41910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83D8205-09F0-176C-6B20-44D5CF944A1E}"/>
              </a:ext>
            </a:extLst>
          </p:cNvPr>
          <p:cNvSpPr txBox="1"/>
          <p:nvPr/>
        </p:nvSpPr>
        <p:spPr>
          <a:xfrm>
            <a:off x="1143000" y="4203700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Cuánta carga pasa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BC0C97D-E6DF-D8C0-E909-C33E282902A3}"/>
              </a:ext>
            </a:extLst>
          </p:cNvPr>
          <p:cNvSpPr txBox="1"/>
          <p:nvPr/>
        </p:nvSpPr>
        <p:spPr>
          <a:xfrm>
            <a:off x="1143000" y="4457700"/>
            <a:ext cx="7112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La proporción de área que aporta el ensanche. Si el ensanche añade el 48 % del área nueva, por la junta tiene que pasar el 48 % de la carga mayorada.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8587F8C-3E8A-5E03-D6A9-1C8F4908E6B7}"/>
              </a:ext>
            </a:extLst>
          </p:cNvPr>
          <p:cNvSpPr/>
          <p:nvPr/>
        </p:nvSpPr>
        <p:spPr>
          <a:xfrm>
            <a:off x="609600" y="51054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F709E92-0D89-87CD-DC43-C47A219244E3}"/>
              </a:ext>
            </a:extLst>
          </p:cNvPr>
          <p:cNvSpPr txBox="1"/>
          <p:nvPr/>
        </p:nvSpPr>
        <p:spPr>
          <a:xfrm>
            <a:off x="1143000" y="5118100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Qué se comprueba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445AD6C-6B62-9C11-C788-24CF294BD3C1}"/>
              </a:ext>
            </a:extLst>
          </p:cNvPr>
          <p:cNvSpPr txBox="1"/>
          <p:nvPr/>
        </p:nvSpPr>
        <p:spPr>
          <a:xfrm>
            <a:off x="1143000" y="5372100"/>
            <a:ext cx="7112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A_vf ≥ V_u / (φ · μ · f_y), con φ = 0,75. Y después, que las barras quepan en el perímetro con una separación razonable.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1330C03-E93E-5C91-4D3F-E5B33C8D2E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600" y="2362200"/>
            <a:ext cx="3098800" cy="14986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BB9F683-DB82-2DC0-C812-B133BA5D650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600" y="3962400"/>
            <a:ext cx="3098800" cy="1498600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480C0534-0AD4-3B56-EA77-9068589B1406}"/>
              </a:ext>
            </a:extLst>
          </p:cNvPr>
          <p:cNvSpPr txBox="1"/>
          <p:nvPr/>
        </p:nvSpPr>
        <p:spPr>
          <a:xfrm>
            <a:off x="8483600" y="5511800"/>
            <a:ext cx="3098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00">
                <a:solidFill>
                  <a:srgbClr val="938A7C"/>
                </a:solidFill>
                <a:latin typeface="Segoe UI" panose="020B0502040204020203" pitchFamily="34" charset="0"/>
              </a:rPr>
              <a:t>Arriba, el detalle del ensanche. Abajo, la textura que hay que conseguir: </a:t>
            </a:r>
            <a:r>
              <a:rPr lang="es-MX" sz="800" b="1">
                <a:solidFill>
                  <a:srgbClr val="938A7C"/>
                </a:solidFill>
                <a:latin typeface="Segoe UI Semibold" panose="020B0702040204020203" pitchFamily="34" charset="0"/>
              </a:rPr>
              <a:t>rugosidad de 6 mm</a:t>
            </a:r>
            <a:r>
              <a:rPr lang="es-MX" sz="800">
                <a:solidFill>
                  <a:srgbClr val="938A7C"/>
                </a:solidFill>
                <a:latin typeface="Segoe UI" panose="020B0502040204020203" pitchFamily="34" charset="0"/>
              </a:rPr>
              <a:t>, que es lo que autoriza a usar μ = 1,0.</a:t>
            </a:r>
            <a:endParaRPr lang="es-BO" sz="8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04E66A4-934E-FA8A-413A-C225006D83EA}"/>
              </a:ext>
            </a:extLst>
          </p:cNvPr>
          <p:cNvSpPr/>
          <p:nvPr/>
        </p:nvSpPr>
        <p:spPr>
          <a:xfrm>
            <a:off x="609600" y="6019800"/>
            <a:ext cx="10972800" cy="330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48A26FE-5358-78C8-2628-C9DBC8C69539}"/>
              </a:ext>
            </a:extLst>
          </p:cNvPr>
          <p:cNvSpPr/>
          <p:nvPr/>
        </p:nvSpPr>
        <p:spPr>
          <a:xfrm>
            <a:off x="609600" y="6019800"/>
            <a:ext cx="57150" cy="330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70DD680-B1DE-9623-99C8-91ED4A599232}"/>
              </a:ext>
            </a:extLst>
          </p:cNvPr>
          <p:cNvSpPr txBox="1"/>
          <p:nvPr/>
        </p:nvSpPr>
        <p:spPr>
          <a:xfrm>
            <a:off x="838200" y="6070600"/>
            <a:ext cx="1056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Sin conexión comprobada, un ensanche es hormigón decorativo alrededor de la zapata vieja.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9080572-3F7E-0FEF-9BAB-95843A7F4332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318-19 §22.9, cortante por fricción.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770A32D-B5BD-DE61-5903-DA547B23C3AB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09DCA88-BAF2-9926-AF46-8F4B2F7A185A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EA1D3F6-B770-8B42-B166-9A777200928E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PageNo">
            <a:extLst>
              <a:ext uri="{FF2B5EF4-FFF2-40B4-BE49-F238E27FC236}">
                <a16:creationId xmlns:a16="http://schemas.microsoft.com/office/drawing/2014/main" id="{4693B968-AAE8-4194-2B7C-80ECD845D0C8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19 / 38</a:t>
            </a:r>
          </a:p>
        </p:txBody>
      </p:sp>
    </p:spTree>
    <p:extLst>
      <p:ext uri="{BB962C8B-B14F-4D97-AF65-F5344CB8AC3E}">
        <p14:creationId xmlns:p14="http://schemas.microsoft.com/office/powerpoint/2010/main" val="4174191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095C1AA-921A-C1AA-85AC-503B00A21D22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EL RECALCE EN OBRA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FC2F439-3F3F-4AA2-8E3A-2F5034EEEB11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Tres momentos de un tajo que se ejecuta con la estructura en pie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05202F4-3AFA-27C0-5F38-F88EB19B407F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8B2E8BC-B3E3-6545-2820-B5425CBFB641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DFA91881-9359-87E3-1800-BF1E0536BEE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3454400" cy="23368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D41C112-8A2D-F7E5-E4FB-3CCF0938D664}"/>
              </a:ext>
            </a:extLst>
          </p:cNvPr>
          <p:cNvSpPr txBox="1"/>
          <p:nvPr/>
        </p:nvSpPr>
        <p:spPr>
          <a:xfrm>
            <a:off x="6096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apeo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4B8A9D-4702-664D-DC59-18BF93679328}"/>
              </a:ext>
            </a:extLst>
          </p:cNvPr>
          <p:cNvSpPr txBox="1"/>
          <p:nvPr/>
        </p:nvSpPr>
        <p:spPr>
          <a:xfrm>
            <a:off x="6096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Antes de tocar nada. Lo que no se apea trabaja mientras se excava debajo, y eso es exactamente lo que no debe pasar.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9EE25D4-2661-F128-13B9-CD7676DF0E2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1524000"/>
            <a:ext cx="3454400" cy="23368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64788A3-B02E-DEB8-1D8C-98FC6CB87456}"/>
              </a:ext>
            </a:extLst>
          </p:cNvPr>
          <p:cNvSpPr txBox="1"/>
          <p:nvPr/>
        </p:nvSpPr>
        <p:spPr>
          <a:xfrm>
            <a:off x="43688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La armadura del ensanche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7ED8E9-78F8-E4DC-AE61-A522A7AFFF06}"/>
              </a:ext>
            </a:extLst>
          </p:cNvPr>
          <p:cNvSpPr txBox="1"/>
          <p:nvPr/>
        </p:nvSpPr>
        <p:spPr>
          <a:xfrm>
            <a:off x="43688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Conectada a la zapata vieja con barras ancladas y solapada según la norma vigente, no la de 1998.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B70B3AF-FC1D-1623-2E67-A09D03470B3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1524000"/>
            <a:ext cx="3454400" cy="23368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BB8902B3-D1AC-CEE4-C92B-253EF79B1439}"/>
              </a:ext>
            </a:extLst>
          </p:cNvPr>
          <p:cNvSpPr txBox="1"/>
          <p:nvPr/>
        </p:nvSpPr>
        <p:spPr>
          <a:xfrm>
            <a:off x="81280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hormigonado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61B2097-EF38-7F89-46BF-57696ADE23AC}"/>
              </a:ext>
            </a:extLst>
          </p:cNvPr>
          <p:cNvSpPr txBox="1"/>
          <p:nvPr/>
        </p:nvSpPr>
        <p:spPr>
          <a:xfrm>
            <a:off x="81280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Con retracción compensada y vibrado que llegue bajo la zapata existente. Un hueco bajo el ensanche lo anula.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1366D07-0600-3FDE-ABB3-C3F0ECB25B7D}"/>
              </a:ext>
            </a:extLst>
          </p:cNvPr>
          <p:cNvSpPr/>
          <p:nvPr/>
        </p:nvSpPr>
        <p:spPr>
          <a:xfrm>
            <a:off x="609600" y="5410200"/>
            <a:ext cx="10972800" cy="660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6743246-A88A-2E16-9C14-0828E43A0A51}"/>
              </a:ext>
            </a:extLst>
          </p:cNvPr>
          <p:cNvSpPr/>
          <p:nvPr/>
        </p:nvSpPr>
        <p:spPr>
          <a:xfrm>
            <a:off x="609600" y="5410200"/>
            <a:ext cx="57150" cy="660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7308ECD-7F68-8542-FAE2-1D0D842AED16}"/>
              </a:ext>
            </a:extLst>
          </p:cNvPr>
          <p:cNvSpPr txBox="1"/>
          <p:nvPr/>
        </p:nvSpPr>
        <p:spPr>
          <a:xfrm>
            <a:off x="838200" y="5461000"/>
            <a:ext cx="10566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Las tres son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puntos de parada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igual que en la clase 6. Y la tercera es la única que, si sale mal, no se detecta hasta que la estructura asienta.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E5F27F6-C2C2-9EF4-4CBB-48F375D8033E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C2862D7-C6C4-E2F8-8001-E10208986C6D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2AE6806-95F1-CB87-9F73-C719140409DA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PageNo">
            <a:extLst>
              <a:ext uri="{FF2B5EF4-FFF2-40B4-BE49-F238E27FC236}">
                <a16:creationId xmlns:a16="http://schemas.microsoft.com/office/drawing/2014/main" id="{66DBDA60-08D2-5797-00BD-CD950006F85B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20 / 38</a:t>
            </a:r>
          </a:p>
        </p:txBody>
      </p:sp>
    </p:spTree>
    <p:extLst>
      <p:ext uri="{BB962C8B-B14F-4D97-AF65-F5344CB8AC3E}">
        <p14:creationId xmlns:p14="http://schemas.microsoft.com/office/powerpoint/2010/main" val="2189055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8D80A2-4113-8064-3168-37CBD36D0B9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0F2A1D5-454F-F8AE-2639-0B6B16C03F74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8F78F04-4772-5780-336B-E8D29B8BA7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0920466-E43F-E261-38E8-7A9663DE1ECE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PARTE 4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FC371DCE-3ED6-E49C-FB72-4A43AF2EA2B7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800">
                <a:solidFill>
                  <a:srgbClr val="FFFFFF"/>
                </a:solidFill>
                <a:latin typeface="Bahnschrift SemiBold" panose="020B0502040204020203" pitchFamily="34" charset="0"/>
              </a:rPr>
              <a:t>Gestión del activo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0FA5BAD-5CDC-BDB8-96B4-3381132F678D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8588366-57AB-6810-AE73-99623A32AE55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Un diagnóstico sin plan de mantenimiento caduca el día que se entrega.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2E1151F-63D5-76DA-2E78-DD6D9782FDCE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607B950-173B-C579-3F85-DB1BBA091C57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El plan de mantenimiento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3362F18-5A50-B6D0-CAFA-B3EE7AEEFA25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6655690-1557-D307-AE62-70C5DBEFEF8C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La inspección periódica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A22560C-86D9-A538-CDDA-D7BBF6B9D5A4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80AB6DB-6AAE-6CC2-A0B9-C9117D104ED9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El coste del ciclo de vida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3FEA327-6019-E8EA-5EB8-9842BDCAC4C5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C928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62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DF6FC1-CE03-F928-B7E7-C497AA3B7E33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4 · EL PLAN DE MANTENIMIENTO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299993B-0C8D-EAAB-5D10-D56FFC40C30D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Cinco columnas, y la que falta siempre es la del responsable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C7A86B1-25A3-8063-3737-73453F31E2F1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752D1CE-3A1F-A65F-0F45-A51857D8EEB8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98CE156-7E4D-5CC8-A8D7-E720AF9A9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878778"/>
              </p:ext>
            </p:extLst>
          </p:nvPr>
        </p:nvGraphicFramePr>
        <p:xfrm>
          <a:off x="609600" y="1422400"/>
          <a:ext cx="62992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339304856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57768532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3355179777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8860944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87658352"/>
                    </a:ext>
                  </a:extLst>
                </a:gridCol>
              </a:tblGrid>
              <a:tr h="524933"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Elemento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se revisa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Cada cuánto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Criterio de alarma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Quién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37583"/>
                  </a:ext>
                </a:extLst>
              </a:tr>
              <a:tr h="524933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Viga V-3 reparada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Fisuras en el borde del parche, manchas de óxido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6 meses el primer año; luego anual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Cualquier fisura nueva en el perímetro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Mantenimiento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08665"/>
                  </a:ext>
                </a:extLst>
              </a:tr>
              <a:tr h="524933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Ánodos galvánicos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Continuidad eléctrica y potencial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Cada 3 años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Potencial por encima de −200 mV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Especialista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144192"/>
                  </a:ext>
                </a:extLst>
              </a:tr>
              <a:tr h="524933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Columna C-4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Recubrimiento repuesto y revestimiento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Anual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Ampollas o pérdida de película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Mantenimiento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078086"/>
                  </a:ext>
                </a:extLst>
              </a:tr>
              <a:tr h="524933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Pavimento exterior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Descamación, juntas y drenaje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Anual, antes de la época de heladas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Pérdida de más de 1 mm al año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Mantenimiento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971397"/>
                  </a:ext>
                </a:extLst>
              </a:tr>
              <a:tr h="524933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Cámara de bombeo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pH de la pared y espesor residual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Anual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pH por debajo de 4 o pérdida acelerada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Especialista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17482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C825B22C-AE30-0BD2-1567-90114DE5BA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22400"/>
            <a:ext cx="4470400" cy="31496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6C0177B-3094-8349-0A91-5295BB32C5C0}"/>
              </a:ext>
            </a:extLst>
          </p:cNvPr>
          <p:cNvSpPr/>
          <p:nvPr/>
        </p:nvSpPr>
        <p:spPr>
          <a:xfrm>
            <a:off x="609600" y="4775200"/>
            <a:ext cx="10972800" cy="711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1BB277F-58B0-94C0-921B-3F7517FD8AAA}"/>
              </a:ext>
            </a:extLst>
          </p:cNvPr>
          <p:cNvSpPr/>
          <p:nvPr/>
        </p:nvSpPr>
        <p:spPr>
          <a:xfrm>
            <a:off x="609600" y="4775200"/>
            <a:ext cx="57150" cy="711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206AD34-FE3F-F74B-3D69-C63C1799549C}"/>
              </a:ext>
            </a:extLst>
          </p:cNvPr>
          <p:cNvSpPr txBox="1"/>
          <p:nvPr/>
        </p:nvSpPr>
        <p:spPr>
          <a:xfrm>
            <a:off x="838200" y="48260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 última columna es la que convierte el plan en algo que ocurre.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Un plan sin nombre y sin fecha es una lista de buenas intenciones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 que nadie ejecuta y que no protege a nadie.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F3AB8A5-F509-A4FB-E786-6CF0410CA809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§9; EN 1504-10 §8.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D00F0A3-A9C9-4C1E-6042-9F4833EBF74C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561148-2E1D-C511-5BEA-33C8D6496661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6FAFD38-3B8F-E165-6F90-E57D66203284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PageNo">
            <a:extLst>
              <a:ext uri="{FF2B5EF4-FFF2-40B4-BE49-F238E27FC236}">
                <a16:creationId xmlns:a16="http://schemas.microsoft.com/office/drawing/2014/main" id="{E62ADABA-1555-D16D-EDF1-406499E89506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22 / 38</a:t>
            </a:r>
          </a:p>
        </p:txBody>
      </p:sp>
    </p:spTree>
    <p:extLst>
      <p:ext uri="{BB962C8B-B14F-4D97-AF65-F5344CB8AC3E}">
        <p14:creationId xmlns:p14="http://schemas.microsoft.com/office/powerpoint/2010/main" val="3983612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E9250BB-E13B-A2B6-2484-0117F3647F70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4 · LA INSPECCIÓN QUE EL PLAN ORDENA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0BD4AC4-0063-9766-18D2-7BE21E71072E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Qué se mira, qué se mide y qué enciende la alarma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79D51BF-B7FA-24BB-5339-D2F7B82348A6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2A6458C-BD6A-2F65-48F2-49802889A3E0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9A5B759E-9DCE-56B0-7441-81C538D91ED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3454400" cy="23368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F4A60D5-B942-298E-7EA7-188349467D97}"/>
              </a:ext>
            </a:extLst>
          </p:cNvPr>
          <p:cNvSpPr txBox="1"/>
          <p:nvPr/>
        </p:nvSpPr>
        <p:spPr>
          <a:xfrm>
            <a:off x="6096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Mirar donde nadie mira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445D27F-BC4F-A2F8-1F52-1D79DE7763C5}"/>
              </a:ext>
            </a:extLst>
          </p:cNvPr>
          <p:cNvSpPr txBox="1"/>
          <p:nvPr/>
        </p:nvSpPr>
        <p:spPr>
          <a:xfrm>
            <a:off x="6096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El arranque del muro, el trasdós de la junta, el fondo de la viga. El daño empieza donde no se pasa a diario.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1F28245-19A4-2FF2-D0F6-A8E7577CD3E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1524000"/>
            <a:ext cx="3454400" cy="23368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0CB1850-3182-0AED-71CC-530B0F36CA00}"/>
              </a:ext>
            </a:extLst>
          </p:cNvPr>
          <p:cNvSpPr txBox="1"/>
          <p:nvPr/>
        </p:nvSpPr>
        <p:spPr>
          <a:xfrm>
            <a:off x="43688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criterio de alarma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F35D54A-191A-8D47-A91E-8B2400FA0799}"/>
              </a:ext>
            </a:extLst>
          </p:cNvPr>
          <p:cNvSpPr txBox="1"/>
          <p:nvPr/>
        </p:nvSpPr>
        <p:spPr>
          <a:xfrm>
            <a:off x="43688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Una fisura nueva con producto de corrosión no se anota como observación: dispara la revisión del especialista.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9A93044-4830-2BEA-8121-B7AE60078FB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1524000"/>
            <a:ext cx="3454400" cy="23368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ACC9877-B798-FD68-3B62-EB2DF5879E9F}"/>
              </a:ext>
            </a:extLst>
          </p:cNvPr>
          <p:cNvSpPr txBox="1"/>
          <p:nvPr/>
        </p:nvSpPr>
        <p:spPr>
          <a:xfrm>
            <a:off x="81280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asiento se mide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971E856-2217-76B7-FF17-57E799C1161C}"/>
              </a:ext>
            </a:extLst>
          </p:cNvPr>
          <p:cNvSpPr txBox="1"/>
          <p:nvPr/>
        </p:nvSpPr>
        <p:spPr>
          <a:xfrm>
            <a:off x="81280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Cota de tres puntos fijos, con el mismo aparato y el mismo operador. Un asiento solo existe si hay una lectura anterior.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6ECC32D-C362-3E4C-DB8B-95A318D26137}"/>
              </a:ext>
            </a:extLst>
          </p:cNvPr>
          <p:cNvSpPr/>
          <p:nvPr/>
        </p:nvSpPr>
        <p:spPr>
          <a:xfrm>
            <a:off x="609600" y="5410200"/>
            <a:ext cx="10972800" cy="660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DC43C99-B699-74F4-9D6C-DE9CAAE8F0F0}"/>
              </a:ext>
            </a:extLst>
          </p:cNvPr>
          <p:cNvSpPr/>
          <p:nvPr/>
        </p:nvSpPr>
        <p:spPr>
          <a:xfrm>
            <a:off x="609600" y="5410200"/>
            <a:ext cx="57150" cy="660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BD42F3-3A5E-827F-BFC1-21B5177897A0}"/>
              </a:ext>
            </a:extLst>
          </p:cNvPr>
          <p:cNvSpPr txBox="1"/>
          <p:nvPr/>
        </p:nvSpPr>
        <p:spPr>
          <a:xfrm>
            <a:off x="838200" y="5461000"/>
            <a:ext cx="10566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 tercera cierra el caso de hoy. Declaramos que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no se ha comprobado el asiento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y la forma honesta de cerrar esa limitación no es callarla: es dejar en el plan la lectura de nivelación que permitirá saberlo dentro de un año.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964C808-392C-372B-6C97-8F058DB05E02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§9; EN 1504-10 §8, inspección y mantenimiento.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B5F6D2A-36FC-6049-DAA2-A4615A7FF16A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2E36C10-6F63-921F-CD7D-49F8A5BB32C8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9A83567-1589-E874-4D8E-A62E1BBF8E90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PageNo">
            <a:extLst>
              <a:ext uri="{FF2B5EF4-FFF2-40B4-BE49-F238E27FC236}">
                <a16:creationId xmlns:a16="http://schemas.microsoft.com/office/drawing/2014/main" id="{79BE6186-C889-4117-A5A7-5DE71636FEBB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23 / 38</a:t>
            </a:r>
          </a:p>
        </p:txBody>
      </p:sp>
    </p:spTree>
    <p:extLst>
      <p:ext uri="{BB962C8B-B14F-4D97-AF65-F5344CB8AC3E}">
        <p14:creationId xmlns:p14="http://schemas.microsoft.com/office/powerpoint/2010/main" val="3481205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3688A53-26E9-D0D1-6CBD-03BE33582C03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4 · EL COSTE DEL CICLO DE VIDA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71FFB4E-9B0C-8505-E1C9-ED3B5773BC57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La Ley de Sitter vuelve, y ahora con la factura delante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EAD8F2F-BE4E-B86F-46A9-C75551CA92DD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815618B-0BD9-5D34-111D-5A1644D1D40D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DFA7F228-B83D-1D7D-E0EE-63A40EBB8909}"/>
              </a:ext>
            </a:extLst>
          </p:cNvPr>
          <p:cNvSpPr/>
          <p:nvPr/>
        </p:nvSpPr>
        <p:spPr>
          <a:xfrm>
            <a:off x="609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0F78A60-AA94-89E5-14EF-02182F5087E4}"/>
              </a:ext>
            </a:extLst>
          </p:cNvPr>
          <p:cNvSpPr/>
          <p:nvPr/>
        </p:nvSpPr>
        <p:spPr>
          <a:xfrm>
            <a:off x="609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1E84525-7B61-EE44-C127-739798721260}"/>
              </a:ext>
            </a:extLst>
          </p:cNvPr>
          <p:cNvSpPr txBox="1"/>
          <p:nvPr/>
        </p:nvSpPr>
        <p:spPr>
          <a:xfrm>
            <a:off x="812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9A1F1C-1842-660B-867C-CC3464C94477}"/>
              </a:ext>
            </a:extLst>
          </p:cNvPr>
          <p:cNvSpPr txBox="1"/>
          <p:nvPr/>
        </p:nvSpPr>
        <p:spPr>
          <a:xfrm>
            <a:off x="812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400">
                <a:solidFill>
                  <a:srgbClr val="1C1813"/>
                </a:solidFill>
                <a:latin typeface="Bahnschrift SemiBold" panose="020B0502040204020203" pitchFamily="34" charset="0"/>
              </a:rPr>
              <a:t>Proyecto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3F82FCC-1D1E-EB39-3A8D-554567AB88D0}"/>
              </a:ext>
            </a:extLst>
          </p:cNvPr>
          <p:cNvSpPr txBox="1"/>
          <p:nvPr/>
        </p:nvSpPr>
        <p:spPr>
          <a:xfrm>
            <a:off x="812800" y="22733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Especificar bien la clase de exposición, el recubrimiento y el curado. Es el único momento en que la durabilidad es gratis.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A0EA940-8F88-80CF-CBB7-2417D7181249}"/>
              </a:ext>
            </a:extLst>
          </p:cNvPr>
          <p:cNvSpPr/>
          <p:nvPr/>
        </p:nvSpPr>
        <p:spPr>
          <a:xfrm>
            <a:off x="3403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23B10F-949D-352B-C8AB-9DEC67B8C40D}"/>
              </a:ext>
            </a:extLst>
          </p:cNvPr>
          <p:cNvSpPr/>
          <p:nvPr/>
        </p:nvSpPr>
        <p:spPr>
          <a:xfrm>
            <a:off x="3403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553B3EA-8933-31CA-CF15-65C5555647E6}"/>
              </a:ext>
            </a:extLst>
          </p:cNvPr>
          <p:cNvSpPr txBox="1"/>
          <p:nvPr/>
        </p:nvSpPr>
        <p:spPr>
          <a:xfrm>
            <a:off x="3606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5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76741AA-C063-601F-118C-6AABC375638F}"/>
              </a:ext>
            </a:extLst>
          </p:cNvPr>
          <p:cNvSpPr txBox="1"/>
          <p:nvPr/>
        </p:nvSpPr>
        <p:spPr>
          <a:xfrm>
            <a:off x="3606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400">
                <a:solidFill>
                  <a:srgbClr val="1C1813"/>
                </a:solidFill>
                <a:latin typeface="Bahnschrift SemiBold" panose="020B0502040204020203" pitchFamily="34" charset="0"/>
              </a:rPr>
              <a:t>Ejecución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B70384D-E43C-D3D8-9A63-467B3FA77174}"/>
              </a:ext>
            </a:extLst>
          </p:cNvPr>
          <p:cNvSpPr txBox="1"/>
          <p:nvPr/>
        </p:nvSpPr>
        <p:spPr>
          <a:xfrm>
            <a:off x="3606800" y="22733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Corregir en obra lo que el proyecto dejó mal. Todavía barato, y es cuando se pierde casi toda la durabilidad.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15EB90D-13F0-8814-AA35-C5F978089293}"/>
              </a:ext>
            </a:extLst>
          </p:cNvPr>
          <p:cNvSpPr/>
          <p:nvPr/>
        </p:nvSpPr>
        <p:spPr>
          <a:xfrm>
            <a:off x="6197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8B2E7BF-33F1-0C7D-E899-E29CB3F02F45}"/>
              </a:ext>
            </a:extLst>
          </p:cNvPr>
          <p:cNvSpPr/>
          <p:nvPr/>
        </p:nvSpPr>
        <p:spPr>
          <a:xfrm>
            <a:off x="6197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C7B218E-F426-345C-E9C2-7AD27B8C1AE1}"/>
              </a:ext>
            </a:extLst>
          </p:cNvPr>
          <p:cNvSpPr txBox="1"/>
          <p:nvPr/>
        </p:nvSpPr>
        <p:spPr>
          <a:xfrm>
            <a:off x="6400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25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F05DFDA-3A06-A2A2-FF6B-2D99824FE855}"/>
              </a:ext>
            </a:extLst>
          </p:cNvPr>
          <p:cNvSpPr txBox="1"/>
          <p:nvPr/>
        </p:nvSpPr>
        <p:spPr>
          <a:xfrm>
            <a:off x="6400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400">
                <a:solidFill>
                  <a:srgbClr val="1C1813"/>
                </a:solidFill>
                <a:latin typeface="Bahnschrift SemiBold" panose="020B0502040204020203" pitchFamily="34" charset="0"/>
              </a:rPr>
              <a:t>Mantenimiento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20BFCE5-7AD7-E7AF-5B48-185CBFD5DFF2}"/>
              </a:ext>
            </a:extLst>
          </p:cNvPr>
          <p:cNvSpPr txBox="1"/>
          <p:nvPr/>
        </p:nvSpPr>
        <p:spPr>
          <a:xfrm>
            <a:off x="6400800" y="22733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Intervenir cuando el deterioro ya empezó pero aún es superficial. Aquí es donde actúa un plan de mantenimiento que funciona.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609DF63-BB51-B67C-58BC-FBCD710E8699}"/>
              </a:ext>
            </a:extLst>
          </p:cNvPr>
          <p:cNvSpPr/>
          <p:nvPr/>
        </p:nvSpPr>
        <p:spPr>
          <a:xfrm>
            <a:off x="8991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57494FE-0D0C-A5BF-574B-794F6A34A2ED}"/>
              </a:ext>
            </a:extLst>
          </p:cNvPr>
          <p:cNvSpPr/>
          <p:nvPr/>
        </p:nvSpPr>
        <p:spPr>
          <a:xfrm>
            <a:off x="8991600" y="1422400"/>
            <a:ext cx="38100" cy="2794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11E5D88-49EE-CC0A-D704-6EDBD25908CF}"/>
              </a:ext>
            </a:extLst>
          </p:cNvPr>
          <p:cNvSpPr txBox="1"/>
          <p:nvPr/>
        </p:nvSpPr>
        <p:spPr>
          <a:xfrm>
            <a:off x="9194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125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F53C9C2-8ED6-749E-160B-9CBE5FE7AA9E}"/>
              </a:ext>
            </a:extLst>
          </p:cNvPr>
          <p:cNvSpPr txBox="1"/>
          <p:nvPr/>
        </p:nvSpPr>
        <p:spPr>
          <a:xfrm>
            <a:off x="9194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400">
                <a:solidFill>
                  <a:srgbClr val="1C1813"/>
                </a:solidFill>
                <a:latin typeface="Bahnschrift SemiBold" panose="020B0502040204020203" pitchFamily="34" charset="0"/>
              </a:rPr>
              <a:t>Reparación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7E363E0-72FF-6E5A-CE8B-37A2431B8D65}"/>
              </a:ext>
            </a:extLst>
          </p:cNvPr>
          <p:cNvSpPr txBox="1"/>
          <p:nvPr/>
        </p:nvSpPr>
        <p:spPr>
          <a:xfrm>
            <a:off x="9194800" y="22733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Intervenir cuando el daño es visible y estructural. Es toda la clase 6 y buena parte de la 7.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D6276464-5124-D236-86C5-A2A404C147F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18000"/>
            <a:ext cx="10972800" cy="1320800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B81C9CEE-7695-474C-B58F-6C6B1611D06D}"/>
              </a:ext>
            </a:extLst>
          </p:cNvPr>
          <p:cNvSpPr/>
          <p:nvPr/>
        </p:nvSpPr>
        <p:spPr>
          <a:xfrm>
            <a:off x="609600" y="5765800"/>
            <a:ext cx="10972800" cy="406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758813F-8295-598F-EB6A-30C1CD940842}"/>
              </a:ext>
            </a:extLst>
          </p:cNvPr>
          <p:cNvSpPr/>
          <p:nvPr/>
        </p:nvSpPr>
        <p:spPr>
          <a:xfrm>
            <a:off x="609600" y="5765800"/>
            <a:ext cx="57150" cy="406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F3A47CC-F1A5-D5CC-4B95-257E4227B1EB}"/>
              </a:ext>
            </a:extLst>
          </p:cNvPr>
          <p:cNvSpPr txBox="1"/>
          <p:nvPr/>
        </p:nvSpPr>
        <p:spPr>
          <a:xfrm>
            <a:off x="838200" y="5816600"/>
            <a:ext cx="1056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 columna 25 es la que este curso pretende ocupar.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No se trata de reparar mejor: se trata de intervenir antes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y para eso hace falta exactamente lo que se ha hecho en las clases 1 a 5.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F416783-7B51-1222-E587-13F66FC84C07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Ley de Sitter (CEB); se introdujo en la clase 1.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82F901CB-78EB-E693-0B41-DBAA38B63F9F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92C5245-08CD-72CD-522C-147FF9C67D91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BA853D3-861E-B0EF-6F2F-1D43F93B5415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PageNo">
            <a:extLst>
              <a:ext uri="{FF2B5EF4-FFF2-40B4-BE49-F238E27FC236}">
                <a16:creationId xmlns:a16="http://schemas.microsoft.com/office/drawing/2014/main" id="{3466B1A7-DD94-FAC1-4E70-C8937C070967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24 / 38</a:t>
            </a:r>
          </a:p>
        </p:txBody>
      </p:sp>
    </p:spTree>
    <p:extLst>
      <p:ext uri="{BB962C8B-B14F-4D97-AF65-F5344CB8AC3E}">
        <p14:creationId xmlns:p14="http://schemas.microsoft.com/office/powerpoint/2010/main" val="3659680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F730D2-521F-6591-317A-95F9D278991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970ABF5-DC95-F4CD-9CB8-006D222C01CF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EA227E8-AB67-9D1B-BE95-A3CF0CDEA5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71ABB73-CC08-19F4-85C1-32DE93EEE69E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CASO RESUELTO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51A8E412-44E4-577B-57A4-9EDAECD846FB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3800">
                <a:solidFill>
                  <a:srgbClr val="FFFFFF"/>
                </a:solidFill>
                <a:latin typeface="Bahnschrift SemiBold" panose="020B0502040204020203" pitchFamily="34" charset="0"/>
              </a:rPr>
              <a:t>La zapata que nadie estaba mirando</a:t>
            </a:r>
            <a:endParaRPr lang="es-BO" sz="38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211125-8591-B0EB-43D9-8D95D9091808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C9835C1-2D2D-7102-4715-4A2713F9108E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Un solo ejercicio, cinco preguntas encadenadas: de Terzaghi al ensanche y su conexión.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7D112C2-1B7D-C7B6-D972-72DF575762A9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E0A8B50-6A8F-8FFE-AEEE-968881FA1C3E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Cuánto aguanta y cuánto le llega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07CD3B4-F509-32D4-6A64-CBC032690B5C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F60D4C6-5AD5-9267-5143-CCC652F2915F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Cuánto hay que ensanchar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35B7B05-9384-3747-B5C9-42FF231E01D6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877F2A9-0FB0-D900-1E90-F228D25BFED9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Cómo se cose la junta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8DCFD14-0A49-B48F-A1E6-3BF19581B70C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C928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052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94ACB91-13BE-3600-5247-850727F5D02F}"/>
              </a:ext>
            </a:extLst>
          </p:cNvPr>
          <p:cNvSpPr txBox="1"/>
          <p:nvPr/>
        </p:nvSpPr>
        <p:spPr>
          <a:xfrm>
            <a:off x="609600" y="406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EJEMPLO DEL CURSO  ·  LOS DATOS DE LA CLASE 7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0B448BB-B123-1FBA-D3DC-B0C722B7481F}"/>
              </a:ext>
            </a:extLst>
          </p:cNvPr>
          <p:cNvSpPr txBox="1"/>
          <p:nvPr/>
        </p:nvSpPr>
        <p:spPr>
          <a:xfrm>
            <a:off x="609600" y="609600"/>
            <a:ext cx="660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700">
                <a:solidFill>
                  <a:srgbClr val="1C1813"/>
                </a:solidFill>
                <a:latin typeface="Bahnschrift SemiBold" panose="020B0502040204020203" pitchFamily="34" charset="0"/>
              </a:rPr>
              <a:t>Nave industrial Sector 4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A701AFF-5506-BD3C-304F-8A52FA29DF78}"/>
              </a:ext>
            </a:extLst>
          </p:cNvPr>
          <p:cNvCxnSpPr/>
          <p:nvPr/>
        </p:nvCxnSpPr>
        <p:spPr>
          <a:xfrm>
            <a:off x="609600" y="1206500"/>
            <a:ext cx="66040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E0B131E-58BB-D73B-7638-51072C520C01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00F1FE4-305F-A95F-F859-9C55B1701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983914"/>
              </p:ext>
            </p:extLst>
          </p:nvPr>
        </p:nvGraphicFramePr>
        <p:xfrm>
          <a:off x="609600" y="1320800"/>
          <a:ext cx="660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219730649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1131208987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Dato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Valor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65502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Columna C-4  ·  reparada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400 × 400 mm  ·  8 Ø16  ·  Ast residual 1 584,4 mm²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6765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Carga mayorada futura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1250 kN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8957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de-DE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f′c in situ  ·  fy</a:t>
                      </a:r>
                      <a:endParaRPr lang="es-BO" sz="100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18,5 MPa  ·  400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64546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Zapata actual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1,80 × 1,80 × 0,50 m  ·  Df = 1,20 m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29436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Terreno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 = 25 kPa  ·  </a:t>
                      </a:r>
                      <a:r>
                        <a:rPr lang="el-GR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φ = 15°  ·  γ = 17 </a:t>
                      </a:r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kN/m³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1696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Viga V-3  ·  armadura residual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4 Ø20  ·  7,3 % perdido en la picadura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99522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Momento mayorado futuro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210 kN·m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48725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3E13A6CA-62C5-7F57-019C-8AA61A2E299E}"/>
              </a:ext>
            </a:extLst>
          </p:cNvPr>
          <p:cNvSpPr/>
          <p:nvPr/>
        </p:nvSpPr>
        <p:spPr>
          <a:xfrm>
            <a:off x="609600" y="5334000"/>
            <a:ext cx="6604000" cy="812800"/>
          </a:xfrm>
          <a:prstGeom prst="rect">
            <a:avLst/>
          </a:prstGeom>
          <a:solidFill>
            <a:srgbClr val="F0E7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0C80467-31E9-1C5E-52D2-31FC502350D7}"/>
              </a:ext>
            </a:extLst>
          </p:cNvPr>
          <p:cNvSpPr/>
          <p:nvPr/>
        </p:nvSpPr>
        <p:spPr>
          <a:xfrm>
            <a:off x="609600" y="5334000"/>
            <a:ext cx="57150" cy="812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B03014-4EC8-7B7F-D261-45BC2FBB0A9D}"/>
              </a:ext>
            </a:extLst>
          </p:cNvPr>
          <p:cNvSpPr txBox="1"/>
          <p:nvPr/>
        </p:nvSpPr>
        <p:spPr>
          <a:xfrm>
            <a:off x="838200" y="5384800"/>
            <a:ext cx="6197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150">
                <a:solidFill>
                  <a:srgbClr val="1C1813"/>
                </a:solidFill>
                <a:latin typeface="Segoe UI" panose="020B0502040204020203" pitchFamily="34" charset="0"/>
              </a:rPr>
              <a:t>Todo lo que entra hoy viene de las clases 3, 5 y 6: sección residual, resistencia corregida y la reparación ya ejecutada.</a:t>
            </a:r>
            <a:endParaRPr lang="es-BO" sz="1150">
              <a:solidFill>
                <a:srgbClr val="1C1813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BAD4DB6-DC5C-A384-D40D-631C17DDF1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254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F20448E0-CD77-0103-292B-E43894883DC5}"/>
              </a:ext>
            </a:extLst>
          </p:cNvPr>
          <p:cNvSpPr/>
          <p:nvPr/>
        </p:nvSpPr>
        <p:spPr>
          <a:xfrm>
            <a:off x="7620000" y="2540000"/>
            <a:ext cx="4572000" cy="43180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3C911D1-D88C-0BB1-2412-C2364883EF88}"/>
              </a:ext>
            </a:extLst>
          </p:cNvPr>
          <p:cNvSpPr txBox="1"/>
          <p:nvPr/>
        </p:nvSpPr>
        <p:spPr>
          <a:xfrm>
            <a:off x="7874000" y="2717800"/>
            <a:ext cx="406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8A6A2F"/>
                </a:solidFill>
                <a:latin typeface="Segoe UI Semibold" panose="020B0702040204020203" pitchFamily="34" charset="0"/>
              </a:rPr>
              <a:t>LÍNEA DE TIEMPO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85D6A97-C6A6-E9EE-34C7-0C7318AB59E7}"/>
              </a:ext>
            </a:extLst>
          </p:cNvPr>
          <p:cNvCxnSpPr/>
          <p:nvPr/>
        </p:nvCxnSpPr>
        <p:spPr>
          <a:xfrm>
            <a:off x="7975600" y="3124200"/>
            <a:ext cx="0" cy="1828800"/>
          </a:xfrm>
          <a:prstGeom prst="line">
            <a:avLst/>
          </a:prstGeom>
          <a:ln w="19050">
            <a:solidFill>
              <a:srgbClr val="3A4D6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5C1E473C-8393-8678-0ED5-87F09EA7676F}"/>
              </a:ext>
            </a:extLst>
          </p:cNvPr>
          <p:cNvSpPr/>
          <p:nvPr/>
        </p:nvSpPr>
        <p:spPr>
          <a:xfrm>
            <a:off x="7899400" y="3048000"/>
            <a:ext cx="152400" cy="152400"/>
          </a:xfrm>
          <a:prstGeom prst="ellipse">
            <a:avLst/>
          </a:prstGeom>
          <a:solidFill>
            <a:srgbClr val="3A4D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D0B7228-14D7-C47B-3B97-E44E63C1C8B2}"/>
              </a:ext>
            </a:extLst>
          </p:cNvPr>
          <p:cNvSpPr txBox="1"/>
          <p:nvPr/>
        </p:nvSpPr>
        <p:spPr>
          <a:xfrm>
            <a:off x="8204200" y="30226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1998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C82A53D-6A61-AA5F-DAC9-7C5ABC42C5D9}"/>
              </a:ext>
            </a:extLst>
          </p:cNvPr>
          <p:cNvSpPr txBox="1"/>
          <p:nvPr/>
        </p:nvSpPr>
        <p:spPr>
          <a:xfrm>
            <a:off x="9118600" y="30226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CFC7B8"/>
                </a:solidFill>
                <a:latin typeface="Segoe UI" panose="020B0502040204020203" pitchFamily="34" charset="0"/>
              </a:rPr>
              <a:t>Proyecto y construcción bajo CBH-87</a:t>
            </a:r>
            <a:endParaRPr lang="es-BO" sz="110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1EBC4A4-3B81-5360-865A-6D9361D1E747}"/>
              </a:ext>
            </a:extLst>
          </p:cNvPr>
          <p:cNvSpPr/>
          <p:nvPr/>
        </p:nvSpPr>
        <p:spPr>
          <a:xfrm>
            <a:off x="7899400" y="3505200"/>
            <a:ext cx="152400" cy="152400"/>
          </a:xfrm>
          <a:prstGeom prst="ellipse">
            <a:avLst/>
          </a:prstGeom>
          <a:solidFill>
            <a:srgbClr val="3A4D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61EBE0F-A5DA-FF72-D83F-5F56E46A75A5}"/>
              </a:ext>
            </a:extLst>
          </p:cNvPr>
          <p:cNvSpPr txBox="1"/>
          <p:nvPr/>
        </p:nvSpPr>
        <p:spPr>
          <a:xfrm>
            <a:off x="8204200" y="34798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2012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9693F2F-D0AC-AEBA-E966-57003B2E50AA}"/>
              </a:ext>
            </a:extLst>
          </p:cNvPr>
          <p:cNvSpPr txBox="1"/>
          <p:nvPr/>
        </p:nvSpPr>
        <p:spPr>
          <a:xfrm>
            <a:off x="9118600" y="34798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CFC7B8"/>
                </a:solidFill>
                <a:latin typeface="Segoe UI" panose="020B0502040204020203" pitchFamily="34" charset="0"/>
              </a:rPr>
              <a:t>Se habilita la zona de lavado: humedad permanente y cloruros</a:t>
            </a:r>
            <a:endParaRPr lang="es-BO" sz="110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190B7515-088B-2E67-7A9D-3658A11F448B}"/>
              </a:ext>
            </a:extLst>
          </p:cNvPr>
          <p:cNvSpPr/>
          <p:nvPr/>
        </p:nvSpPr>
        <p:spPr>
          <a:xfrm>
            <a:off x="7899400" y="3962400"/>
            <a:ext cx="152400" cy="152400"/>
          </a:xfrm>
          <a:prstGeom prst="ellipse">
            <a:avLst/>
          </a:prstGeom>
          <a:solidFill>
            <a:srgbClr val="3A4D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8F8E155-FC64-F569-C020-1387BB526D9E}"/>
              </a:ext>
            </a:extLst>
          </p:cNvPr>
          <p:cNvSpPr txBox="1"/>
          <p:nvPr/>
        </p:nvSpPr>
        <p:spPr>
          <a:xfrm>
            <a:off x="8204200" y="39370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2024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5FA4EBC-6A9A-D4B0-6577-BB98E55B1270}"/>
              </a:ext>
            </a:extLst>
          </p:cNvPr>
          <p:cNvSpPr txBox="1"/>
          <p:nvPr/>
        </p:nvSpPr>
        <p:spPr>
          <a:xfrm>
            <a:off x="9118600" y="39370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CFC7B8"/>
                </a:solidFill>
                <a:latin typeface="Segoe UI" panose="020B0502040204020203" pitchFamily="34" charset="0"/>
              </a:rPr>
              <a:t>Aparecen fisuras con óxido en la viga V-3 y en la base de C-4</a:t>
            </a:r>
            <a:endParaRPr lang="es-BO" sz="110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099B77E2-174A-9F32-0D25-8341001AFFC4}"/>
              </a:ext>
            </a:extLst>
          </p:cNvPr>
          <p:cNvSpPr/>
          <p:nvPr/>
        </p:nvSpPr>
        <p:spPr>
          <a:xfrm>
            <a:off x="7899400" y="4419600"/>
            <a:ext cx="152400" cy="152400"/>
          </a:xfrm>
          <a:prstGeom prst="ellipse">
            <a:avLst/>
          </a:prstGeom>
          <a:solidFill>
            <a:srgbClr val="3A4D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C89DB78-BE75-DC5D-FACD-3E34A410B494}"/>
              </a:ext>
            </a:extLst>
          </p:cNvPr>
          <p:cNvSpPr txBox="1"/>
          <p:nvPr/>
        </p:nvSpPr>
        <p:spPr>
          <a:xfrm>
            <a:off x="8204200" y="43942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2026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438A983-9ADF-A557-13B7-7E1C958B59BD}"/>
              </a:ext>
            </a:extLst>
          </p:cNvPr>
          <p:cNvSpPr txBox="1"/>
          <p:nvPr/>
        </p:nvSpPr>
        <p:spPr>
          <a:xfrm>
            <a:off x="9118600" y="43942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CFC7B8"/>
                </a:solidFill>
                <a:latin typeface="Segoe UI" panose="020B0502040204020203" pitchFamily="34" charset="0"/>
              </a:rPr>
              <a:t>Campaña de diagnóstico y propuesta de cambio de uso</a:t>
            </a:r>
            <a:endParaRPr lang="es-BO" sz="110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5D810335-B34F-850F-E41F-45EE0D7499D9}"/>
              </a:ext>
            </a:extLst>
          </p:cNvPr>
          <p:cNvSpPr/>
          <p:nvPr/>
        </p:nvSpPr>
        <p:spPr>
          <a:xfrm>
            <a:off x="7899400" y="4876800"/>
            <a:ext cx="152400" cy="152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4A82974-05AD-EF9F-2AF3-A6BB0575AFDE}"/>
              </a:ext>
            </a:extLst>
          </p:cNvPr>
          <p:cNvSpPr txBox="1"/>
          <p:nvPr/>
        </p:nvSpPr>
        <p:spPr>
          <a:xfrm>
            <a:off x="8204200" y="48514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2026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C43CC42-E5B4-F073-0C7E-563D373632B8}"/>
              </a:ext>
            </a:extLst>
          </p:cNvPr>
          <p:cNvSpPr txBox="1"/>
          <p:nvPr/>
        </p:nvSpPr>
        <p:spPr>
          <a:xfrm>
            <a:off x="9118600" y="48514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00">
                <a:solidFill>
                  <a:srgbClr val="FFFFFF"/>
                </a:solidFill>
                <a:latin typeface="Segoe UI" panose="020B0502040204020203" pitchFamily="34" charset="0"/>
              </a:rPr>
              <a:t>Proyecto de reparación, refuerzo y recalce</a:t>
            </a:r>
            <a:endParaRPr lang="es-BO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4EBF886-50B8-D69F-63A2-1998027F076A}"/>
              </a:ext>
            </a:extLst>
          </p:cNvPr>
          <p:cNvCxnSpPr/>
          <p:nvPr/>
        </p:nvCxnSpPr>
        <p:spPr>
          <a:xfrm>
            <a:off x="609600" y="6527800"/>
            <a:ext cx="66040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BC91579-A950-067C-90BB-29C882B166EE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2" name="PageNo">
            <a:extLst>
              <a:ext uri="{FF2B5EF4-FFF2-40B4-BE49-F238E27FC236}">
                <a16:creationId xmlns:a16="http://schemas.microsoft.com/office/drawing/2014/main" id="{3518AB01-CA7F-A763-BC27-4BACF4E5EE35}"/>
              </a:ext>
            </a:extLst>
          </p:cNvPr>
          <p:cNvSpPr txBox="1"/>
          <p:nvPr/>
        </p:nvSpPr>
        <p:spPr>
          <a:xfrm>
            <a:off x="60706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26 / 38</a:t>
            </a:r>
          </a:p>
        </p:txBody>
      </p:sp>
    </p:spTree>
    <p:extLst>
      <p:ext uri="{BB962C8B-B14F-4D97-AF65-F5344CB8AC3E}">
        <p14:creationId xmlns:p14="http://schemas.microsoft.com/office/powerpoint/2010/main" val="629640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60724C-C856-00E5-A990-9CC2C7268181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7  ·  EXPLICADO PASO A PASO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066297F-649D-F7C7-857A-91C3B6D6ADF9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La zapata de C-4: lo que nadie estaba mirando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6F3C7AD-763B-A58E-CB57-7399688A69B2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53BA3C5-B339-8A10-CE25-AA2D238A1AC0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61521C0-33A2-A3A0-4285-2AEC02C8FEAA}"/>
              </a:ext>
            </a:extLst>
          </p:cNvPr>
          <p:cNvSpPr txBox="1"/>
          <p:nvPr/>
        </p:nvSpPr>
        <p:spPr>
          <a:xfrm>
            <a:off x="609600" y="1371600"/>
            <a:ext cx="6604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La columna cumple con margen 1,30. Nadie había comprobado su zapata en veintiocho años, y con el cambio de uso la carga de servicio sube de 620 a 860 kN. Son cinco preguntas encadenadas: la respuesta de cada una es el dato de entrada de la siguiente.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0589613-FEDC-E3D9-68BD-FBF507224C1A}"/>
              </a:ext>
            </a:extLst>
          </p:cNvPr>
          <p:cNvSpPr/>
          <p:nvPr/>
        </p:nvSpPr>
        <p:spPr>
          <a:xfrm>
            <a:off x="609600" y="2235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4E5037-BA1E-0B93-DF45-1B984881D7DB}"/>
              </a:ext>
            </a:extLst>
          </p:cNvPr>
          <p:cNvSpPr txBox="1"/>
          <p:nvPr/>
        </p:nvSpPr>
        <p:spPr>
          <a:xfrm>
            <a:off x="990600" y="2273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1C1813"/>
                </a:solidFill>
                <a:latin typeface="Segoe UI Semibold" panose="020B0702040204020203" pitchFamily="34" charset="0"/>
              </a:rPr>
              <a:t>¿Cuánta presión aguanta este terreno?</a:t>
            </a:r>
            <a:endParaRPr lang="es-BO" sz="11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1DEDB50-3A1B-3E8C-59CC-FC57A74B5B7D}"/>
              </a:ext>
            </a:extLst>
          </p:cNvPr>
          <p:cNvSpPr/>
          <p:nvPr/>
        </p:nvSpPr>
        <p:spPr>
          <a:xfrm>
            <a:off x="609600" y="2616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FBB2FB8-4732-2163-920C-794E2525146A}"/>
              </a:ext>
            </a:extLst>
          </p:cNvPr>
          <p:cNvSpPr txBox="1"/>
          <p:nvPr/>
        </p:nvSpPr>
        <p:spPr>
          <a:xfrm>
            <a:off x="990600" y="2654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1C1813"/>
                </a:solidFill>
                <a:latin typeface="Segoe UI Semibold" panose="020B0702040204020203" pitchFamily="34" charset="0"/>
              </a:rPr>
              <a:t>¿Cuánta presión le estamos dando hoy?</a:t>
            </a:r>
            <a:endParaRPr lang="es-BO" sz="11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038430F-2626-307E-9A40-2ADB25E819B0}"/>
              </a:ext>
            </a:extLst>
          </p:cNvPr>
          <p:cNvSpPr/>
          <p:nvPr/>
        </p:nvSpPr>
        <p:spPr>
          <a:xfrm>
            <a:off x="609600" y="2997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1DD366E-5DC1-C8BC-FF9F-168CEA8DF4DA}"/>
              </a:ext>
            </a:extLst>
          </p:cNvPr>
          <p:cNvSpPr txBox="1"/>
          <p:nvPr/>
        </p:nvSpPr>
        <p:spPr>
          <a:xfrm>
            <a:off x="990600" y="3035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1C1813"/>
                </a:solidFill>
                <a:latin typeface="Segoe UI Semibold" panose="020B0702040204020203" pitchFamily="34" charset="0"/>
              </a:rPr>
              <a:t>¿Y cuánta le daremos con el uso nuevo?</a:t>
            </a:r>
            <a:endParaRPr lang="es-BO" sz="11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C96A636-E047-1FA1-A90A-CB56FEA3C0AA}"/>
              </a:ext>
            </a:extLst>
          </p:cNvPr>
          <p:cNvSpPr/>
          <p:nvPr/>
        </p:nvSpPr>
        <p:spPr>
          <a:xfrm>
            <a:off x="609600" y="3378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F572CB-72AD-9D22-3FBB-4FDB3B009A15}"/>
              </a:ext>
            </a:extLst>
          </p:cNvPr>
          <p:cNvSpPr txBox="1"/>
          <p:nvPr/>
        </p:nvSpPr>
        <p:spPr>
          <a:xfrm>
            <a:off x="990600" y="3416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1C1813"/>
                </a:solidFill>
                <a:latin typeface="Segoe UI Semibold" panose="020B0702040204020203" pitchFamily="34" charset="0"/>
              </a:rPr>
              <a:t>¿Cuánto hay que ensanchar la zapata?</a:t>
            </a:r>
            <a:endParaRPr lang="es-BO" sz="11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60D9D9B-DF65-557D-10FA-3BBBE964C398}"/>
              </a:ext>
            </a:extLst>
          </p:cNvPr>
          <p:cNvSpPr/>
          <p:nvPr/>
        </p:nvSpPr>
        <p:spPr>
          <a:xfrm>
            <a:off x="609600" y="3759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E21CAC8-FFB9-A4A6-A996-0A9776138C9D}"/>
              </a:ext>
            </a:extLst>
          </p:cNvPr>
          <p:cNvSpPr txBox="1"/>
          <p:nvPr/>
        </p:nvSpPr>
        <p:spPr>
          <a:xfrm>
            <a:off x="990600" y="3797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1C1813"/>
                </a:solidFill>
                <a:latin typeface="Segoe UI Semibold" panose="020B0702040204020203" pitchFamily="34" charset="0"/>
              </a:rPr>
              <a:t>¿Cómo se cose lo nuevo con lo viejo?</a:t>
            </a:r>
            <a:endParaRPr lang="es-BO" sz="11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791AAC2-1591-17AC-96F4-DFFDE055B2C3}"/>
              </a:ext>
            </a:extLst>
          </p:cNvPr>
          <p:cNvSpPr/>
          <p:nvPr/>
        </p:nvSpPr>
        <p:spPr>
          <a:xfrm>
            <a:off x="7467600" y="1371600"/>
            <a:ext cx="41148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91970D4-1DC8-6580-7BB4-CB2E15914FD6}"/>
              </a:ext>
            </a:extLst>
          </p:cNvPr>
          <p:cNvSpPr/>
          <p:nvPr/>
        </p:nvSpPr>
        <p:spPr>
          <a:xfrm>
            <a:off x="7467600" y="1371600"/>
            <a:ext cx="38100" cy="2667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8266B97-2C26-4D9F-9E32-CC9D1C701EFC}"/>
              </a:ext>
            </a:extLst>
          </p:cNvPr>
          <p:cNvSpPr txBox="1"/>
          <p:nvPr/>
        </p:nvSpPr>
        <p:spPr>
          <a:xfrm>
            <a:off x="7670800" y="1485900"/>
            <a:ext cx="3733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LA ZAPATA DE C-4, MEDIDA EN LA CATA DE 2026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54E4EAF-01B3-E913-A476-F6DA5B2958FB}"/>
              </a:ext>
            </a:extLst>
          </p:cNvPr>
          <p:cNvSpPr/>
          <p:nvPr/>
        </p:nvSpPr>
        <p:spPr>
          <a:xfrm>
            <a:off x="7670800" y="1905000"/>
            <a:ext cx="3708400" cy="1879600"/>
          </a:xfrm>
          <a:prstGeom prst="rect">
            <a:avLst/>
          </a:prstGeom>
          <a:solidFill>
            <a:srgbClr val="EAE4D6"/>
          </a:solidFill>
          <a:ln w="6350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D6472C1-A40F-BFE2-FEB0-3D4ED4463AE2}"/>
              </a:ext>
            </a:extLst>
          </p:cNvPr>
          <p:cNvCxnSpPr/>
          <p:nvPr/>
        </p:nvCxnSpPr>
        <p:spPr>
          <a:xfrm>
            <a:off x="7670800" y="1905000"/>
            <a:ext cx="0" cy="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0AE06FD-DC04-D9EC-45BD-51DA63256F74}"/>
              </a:ext>
            </a:extLst>
          </p:cNvPr>
          <p:cNvCxnSpPr/>
          <p:nvPr/>
        </p:nvCxnSpPr>
        <p:spPr>
          <a:xfrm flipH="1">
            <a:off x="7670800" y="1905000"/>
            <a:ext cx="152400" cy="152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CAC6AD0-A730-3A2D-593C-71069AA57675}"/>
              </a:ext>
            </a:extLst>
          </p:cNvPr>
          <p:cNvCxnSpPr/>
          <p:nvPr/>
        </p:nvCxnSpPr>
        <p:spPr>
          <a:xfrm flipH="1">
            <a:off x="7670800" y="1905000"/>
            <a:ext cx="304800" cy="3048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A23749BD-A653-B60A-8F15-B6EAE2E366FB}"/>
              </a:ext>
            </a:extLst>
          </p:cNvPr>
          <p:cNvCxnSpPr/>
          <p:nvPr/>
        </p:nvCxnSpPr>
        <p:spPr>
          <a:xfrm flipH="1">
            <a:off x="7670800" y="1905000"/>
            <a:ext cx="457200" cy="4572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0956C59-2AB9-33B7-A8E8-F9BB4A451221}"/>
              </a:ext>
            </a:extLst>
          </p:cNvPr>
          <p:cNvCxnSpPr/>
          <p:nvPr/>
        </p:nvCxnSpPr>
        <p:spPr>
          <a:xfrm flipH="1">
            <a:off x="7670800" y="1905000"/>
            <a:ext cx="609600" cy="60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10CFA8E5-6D92-7C25-C3B5-5C4C6FF3AEBE}"/>
              </a:ext>
            </a:extLst>
          </p:cNvPr>
          <p:cNvCxnSpPr/>
          <p:nvPr/>
        </p:nvCxnSpPr>
        <p:spPr>
          <a:xfrm flipH="1">
            <a:off x="7670800" y="1905000"/>
            <a:ext cx="762000" cy="7620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E3744F13-F886-6A5E-92E1-0BA372983DF6}"/>
              </a:ext>
            </a:extLst>
          </p:cNvPr>
          <p:cNvCxnSpPr/>
          <p:nvPr/>
        </p:nvCxnSpPr>
        <p:spPr>
          <a:xfrm flipH="1">
            <a:off x="7670800" y="1905000"/>
            <a:ext cx="914400" cy="914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D914DEE1-A371-9D18-8925-BA7D9B09CF38}"/>
              </a:ext>
            </a:extLst>
          </p:cNvPr>
          <p:cNvCxnSpPr/>
          <p:nvPr/>
        </p:nvCxnSpPr>
        <p:spPr>
          <a:xfrm flipH="1">
            <a:off x="7670800" y="1905000"/>
            <a:ext cx="1066800" cy="10668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3865C2C-FA08-2F90-E19C-6B46A8DC38CC}"/>
              </a:ext>
            </a:extLst>
          </p:cNvPr>
          <p:cNvCxnSpPr/>
          <p:nvPr/>
        </p:nvCxnSpPr>
        <p:spPr>
          <a:xfrm flipH="1">
            <a:off x="7670800" y="1905000"/>
            <a:ext cx="1219200" cy="12192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F9A9A2F-A6DB-C9BD-B517-7CFAD025B808}"/>
              </a:ext>
            </a:extLst>
          </p:cNvPr>
          <p:cNvCxnSpPr/>
          <p:nvPr/>
        </p:nvCxnSpPr>
        <p:spPr>
          <a:xfrm flipH="1">
            <a:off x="7670800" y="1905000"/>
            <a:ext cx="1371600" cy="1371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A45408EA-983D-C5C7-8D77-D08282F2A978}"/>
              </a:ext>
            </a:extLst>
          </p:cNvPr>
          <p:cNvCxnSpPr/>
          <p:nvPr/>
        </p:nvCxnSpPr>
        <p:spPr>
          <a:xfrm flipH="1">
            <a:off x="7670800" y="1905000"/>
            <a:ext cx="1524000" cy="15240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E6DD9F56-16A2-9522-645C-EA3CC3A19189}"/>
              </a:ext>
            </a:extLst>
          </p:cNvPr>
          <p:cNvCxnSpPr/>
          <p:nvPr/>
        </p:nvCxnSpPr>
        <p:spPr>
          <a:xfrm flipH="1">
            <a:off x="7670800" y="1905000"/>
            <a:ext cx="1676400" cy="1676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0FA4039-92D2-61FD-D1E5-D3F0E1E114B3}"/>
              </a:ext>
            </a:extLst>
          </p:cNvPr>
          <p:cNvCxnSpPr/>
          <p:nvPr/>
        </p:nvCxnSpPr>
        <p:spPr>
          <a:xfrm flipH="1">
            <a:off x="7670800" y="1905000"/>
            <a:ext cx="1828800" cy="18288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BBDA4622-974D-3A0A-FC06-FFC61CB300DB}"/>
              </a:ext>
            </a:extLst>
          </p:cNvPr>
          <p:cNvCxnSpPr/>
          <p:nvPr/>
        </p:nvCxnSpPr>
        <p:spPr>
          <a:xfrm flipH="1">
            <a:off x="77724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99057C47-B6CC-5823-FED7-973AC1BB9CCD}"/>
              </a:ext>
            </a:extLst>
          </p:cNvPr>
          <p:cNvCxnSpPr/>
          <p:nvPr/>
        </p:nvCxnSpPr>
        <p:spPr>
          <a:xfrm flipH="1">
            <a:off x="79248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03BBD26-7B3D-46A9-A0F8-3DB17D38C1A9}"/>
              </a:ext>
            </a:extLst>
          </p:cNvPr>
          <p:cNvCxnSpPr/>
          <p:nvPr/>
        </p:nvCxnSpPr>
        <p:spPr>
          <a:xfrm flipH="1">
            <a:off x="80772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1E53AEB-1630-21A0-2352-0261767F9373}"/>
              </a:ext>
            </a:extLst>
          </p:cNvPr>
          <p:cNvCxnSpPr/>
          <p:nvPr/>
        </p:nvCxnSpPr>
        <p:spPr>
          <a:xfrm flipH="1">
            <a:off x="82296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0797C5B-E562-08D4-CEC9-1956D4DFE39D}"/>
              </a:ext>
            </a:extLst>
          </p:cNvPr>
          <p:cNvCxnSpPr/>
          <p:nvPr/>
        </p:nvCxnSpPr>
        <p:spPr>
          <a:xfrm flipH="1">
            <a:off x="83820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B743F9EB-0C18-7C94-C68E-60768E28B788}"/>
              </a:ext>
            </a:extLst>
          </p:cNvPr>
          <p:cNvCxnSpPr/>
          <p:nvPr/>
        </p:nvCxnSpPr>
        <p:spPr>
          <a:xfrm flipH="1">
            <a:off x="85344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4C8F4B75-AFB3-1354-31C5-4D9E0AE1E8B3}"/>
              </a:ext>
            </a:extLst>
          </p:cNvPr>
          <p:cNvCxnSpPr/>
          <p:nvPr/>
        </p:nvCxnSpPr>
        <p:spPr>
          <a:xfrm flipH="1">
            <a:off x="86868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138B952F-C19A-9988-292C-B7DBB39D4464}"/>
              </a:ext>
            </a:extLst>
          </p:cNvPr>
          <p:cNvCxnSpPr/>
          <p:nvPr/>
        </p:nvCxnSpPr>
        <p:spPr>
          <a:xfrm flipH="1">
            <a:off x="88392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2B2E01D-2D7A-CFB0-C9B2-1A056D484311}"/>
              </a:ext>
            </a:extLst>
          </p:cNvPr>
          <p:cNvCxnSpPr/>
          <p:nvPr/>
        </p:nvCxnSpPr>
        <p:spPr>
          <a:xfrm flipH="1">
            <a:off x="89916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52A40A90-DCDB-B00F-8313-569CCDF412A1}"/>
              </a:ext>
            </a:extLst>
          </p:cNvPr>
          <p:cNvCxnSpPr/>
          <p:nvPr/>
        </p:nvCxnSpPr>
        <p:spPr>
          <a:xfrm flipH="1">
            <a:off x="91440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ABC5183A-CFC3-1F38-86B5-07339DD29D6C}"/>
              </a:ext>
            </a:extLst>
          </p:cNvPr>
          <p:cNvCxnSpPr/>
          <p:nvPr/>
        </p:nvCxnSpPr>
        <p:spPr>
          <a:xfrm flipH="1">
            <a:off x="92964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B1AB3387-CA5B-51D6-2ECE-2DEB767CA9E1}"/>
              </a:ext>
            </a:extLst>
          </p:cNvPr>
          <p:cNvCxnSpPr/>
          <p:nvPr/>
        </p:nvCxnSpPr>
        <p:spPr>
          <a:xfrm flipH="1">
            <a:off x="9448800" y="1905000"/>
            <a:ext cx="1879600" cy="1879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BE4F15CF-BB63-AFF0-B769-5FD6964D5067}"/>
              </a:ext>
            </a:extLst>
          </p:cNvPr>
          <p:cNvCxnSpPr/>
          <p:nvPr/>
        </p:nvCxnSpPr>
        <p:spPr>
          <a:xfrm flipH="1">
            <a:off x="9601200" y="2006600"/>
            <a:ext cx="1778000" cy="17780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F9847181-26DA-C034-3329-C80E29867552}"/>
              </a:ext>
            </a:extLst>
          </p:cNvPr>
          <p:cNvCxnSpPr/>
          <p:nvPr/>
        </p:nvCxnSpPr>
        <p:spPr>
          <a:xfrm flipH="1">
            <a:off x="9753600" y="2159000"/>
            <a:ext cx="1625600" cy="1625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B5D95F6C-C21C-F222-95E8-5838A5392719}"/>
              </a:ext>
            </a:extLst>
          </p:cNvPr>
          <p:cNvCxnSpPr/>
          <p:nvPr/>
        </p:nvCxnSpPr>
        <p:spPr>
          <a:xfrm flipH="1">
            <a:off x="9906000" y="2311400"/>
            <a:ext cx="1473200" cy="14732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A82451D-C56E-BF79-FFBE-ABC76E49C8E7}"/>
              </a:ext>
            </a:extLst>
          </p:cNvPr>
          <p:cNvCxnSpPr/>
          <p:nvPr/>
        </p:nvCxnSpPr>
        <p:spPr>
          <a:xfrm flipH="1">
            <a:off x="10058400" y="2463800"/>
            <a:ext cx="1320800" cy="13208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A5C1A4F1-1645-5DC4-CED5-A7A3DFA2F70B}"/>
              </a:ext>
            </a:extLst>
          </p:cNvPr>
          <p:cNvCxnSpPr/>
          <p:nvPr/>
        </p:nvCxnSpPr>
        <p:spPr>
          <a:xfrm flipH="1">
            <a:off x="10210800" y="26162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2922E55-3E5C-8143-12F4-41EA3E07F524}"/>
              </a:ext>
            </a:extLst>
          </p:cNvPr>
          <p:cNvCxnSpPr/>
          <p:nvPr/>
        </p:nvCxnSpPr>
        <p:spPr>
          <a:xfrm flipH="1">
            <a:off x="10363200" y="2768600"/>
            <a:ext cx="1016000" cy="10160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655F2FD-DED9-3B88-A9FA-7138339E88F9}"/>
              </a:ext>
            </a:extLst>
          </p:cNvPr>
          <p:cNvCxnSpPr/>
          <p:nvPr/>
        </p:nvCxnSpPr>
        <p:spPr>
          <a:xfrm flipH="1">
            <a:off x="10515600" y="2921000"/>
            <a:ext cx="863600" cy="863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9BF25079-166B-D571-6F24-8408D55DB402}"/>
              </a:ext>
            </a:extLst>
          </p:cNvPr>
          <p:cNvCxnSpPr/>
          <p:nvPr/>
        </p:nvCxnSpPr>
        <p:spPr>
          <a:xfrm flipH="1">
            <a:off x="10668000" y="3073400"/>
            <a:ext cx="711200" cy="7112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4DEBE6E6-90E7-7D68-E29E-6217833ADAC2}"/>
              </a:ext>
            </a:extLst>
          </p:cNvPr>
          <p:cNvCxnSpPr/>
          <p:nvPr/>
        </p:nvCxnSpPr>
        <p:spPr>
          <a:xfrm flipH="1">
            <a:off x="10820400" y="3225800"/>
            <a:ext cx="558800" cy="5588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B46D9FD1-FDEE-106A-C346-CB49F160BDDE}"/>
              </a:ext>
            </a:extLst>
          </p:cNvPr>
          <p:cNvCxnSpPr/>
          <p:nvPr/>
        </p:nvCxnSpPr>
        <p:spPr>
          <a:xfrm flipH="1">
            <a:off x="10972800" y="3378200"/>
            <a:ext cx="406400" cy="406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C55F4E3C-BE29-FFC0-253F-AF642E0AE402}"/>
              </a:ext>
            </a:extLst>
          </p:cNvPr>
          <p:cNvCxnSpPr/>
          <p:nvPr/>
        </p:nvCxnSpPr>
        <p:spPr>
          <a:xfrm flipH="1">
            <a:off x="11125200" y="3530600"/>
            <a:ext cx="254000" cy="2540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A231CD6B-DC0E-BDE1-6647-982576C2DE34}"/>
              </a:ext>
            </a:extLst>
          </p:cNvPr>
          <p:cNvCxnSpPr/>
          <p:nvPr/>
        </p:nvCxnSpPr>
        <p:spPr>
          <a:xfrm flipH="1">
            <a:off x="11277600" y="3683000"/>
            <a:ext cx="101600" cy="101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F8CD5257-D758-7BFA-40EC-250B2220186C}"/>
              </a:ext>
            </a:extLst>
          </p:cNvPr>
          <p:cNvCxnSpPr/>
          <p:nvPr/>
        </p:nvCxnSpPr>
        <p:spPr>
          <a:xfrm>
            <a:off x="7670800" y="1905000"/>
            <a:ext cx="3708400" cy="0"/>
          </a:xfrm>
          <a:prstGeom prst="line">
            <a:avLst/>
          </a:prstGeom>
          <a:ln w="1270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7C55620-EE33-F9EE-EDDF-3A01B00B6D55}"/>
              </a:ext>
            </a:extLst>
          </p:cNvPr>
          <p:cNvCxnSpPr/>
          <p:nvPr/>
        </p:nvCxnSpPr>
        <p:spPr>
          <a:xfrm flipV="1">
            <a:off x="76962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4262EAFB-821E-8F3A-F60B-665B04DE049B}"/>
              </a:ext>
            </a:extLst>
          </p:cNvPr>
          <p:cNvCxnSpPr/>
          <p:nvPr/>
        </p:nvCxnSpPr>
        <p:spPr>
          <a:xfrm flipV="1">
            <a:off x="78359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E9D13966-4EEF-3DDF-2274-719C572BA66F}"/>
              </a:ext>
            </a:extLst>
          </p:cNvPr>
          <p:cNvCxnSpPr/>
          <p:nvPr/>
        </p:nvCxnSpPr>
        <p:spPr>
          <a:xfrm flipV="1">
            <a:off x="79756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EB0929DF-BE1A-12F5-DC77-BC06B7F74D38}"/>
              </a:ext>
            </a:extLst>
          </p:cNvPr>
          <p:cNvCxnSpPr/>
          <p:nvPr/>
        </p:nvCxnSpPr>
        <p:spPr>
          <a:xfrm flipV="1">
            <a:off x="81153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B86EB91E-C10F-56E0-2CFF-4598CC382646}"/>
              </a:ext>
            </a:extLst>
          </p:cNvPr>
          <p:cNvCxnSpPr/>
          <p:nvPr/>
        </p:nvCxnSpPr>
        <p:spPr>
          <a:xfrm flipV="1">
            <a:off x="82550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A76BFF73-6D50-E526-8A8F-CDEAC3E32948}"/>
              </a:ext>
            </a:extLst>
          </p:cNvPr>
          <p:cNvCxnSpPr/>
          <p:nvPr/>
        </p:nvCxnSpPr>
        <p:spPr>
          <a:xfrm flipV="1">
            <a:off x="83947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2C34E297-6F78-402C-2AE8-916E3664C5CC}"/>
              </a:ext>
            </a:extLst>
          </p:cNvPr>
          <p:cNvCxnSpPr/>
          <p:nvPr/>
        </p:nvCxnSpPr>
        <p:spPr>
          <a:xfrm flipV="1">
            <a:off x="85344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B0E9652A-FF01-A98F-1D81-6CFD29142DF5}"/>
              </a:ext>
            </a:extLst>
          </p:cNvPr>
          <p:cNvCxnSpPr/>
          <p:nvPr/>
        </p:nvCxnSpPr>
        <p:spPr>
          <a:xfrm flipV="1">
            <a:off x="86741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11BB4161-5D5D-06B1-90A5-6D9944C72C4D}"/>
              </a:ext>
            </a:extLst>
          </p:cNvPr>
          <p:cNvCxnSpPr/>
          <p:nvPr/>
        </p:nvCxnSpPr>
        <p:spPr>
          <a:xfrm flipV="1">
            <a:off x="88138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DD8D0D8A-1809-F17E-56B2-4B47A507762B}"/>
              </a:ext>
            </a:extLst>
          </p:cNvPr>
          <p:cNvCxnSpPr/>
          <p:nvPr/>
        </p:nvCxnSpPr>
        <p:spPr>
          <a:xfrm flipV="1">
            <a:off x="89535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BD2A7E91-6E57-02BD-EBD3-3C9127FC5B9A}"/>
              </a:ext>
            </a:extLst>
          </p:cNvPr>
          <p:cNvCxnSpPr/>
          <p:nvPr/>
        </p:nvCxnSpPr>
        <p:spPr>
          <a:xfrm flipV="1">
            <a:off x="90932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638F290-9F2B-35F0-9D42-49C0011A0371}"/>
              </a:ext>
            </a:extLst>
          </p:cNvPr>
          <p:cNvCxnSpPr/>
          <p:nvPr/>
        </p:nvCxnSpPr>
        <p:spPr>
          <a:xfrm flipV="1">
            <a:off x="92329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BDDED740-F77C-2537-8022-09A2FF7F2711}"/>
              </a:ext>
            </a:extLst>
          </p:cNvPr>
          <p:cNvCxnSpPr/>
          <p:nvPr/>
        </p:nvCxnSpPr>
        <p:spPr>
          <a:xfrm flipV="1">
            <a:off x="93726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F3A113C3-9F6C-5791-FEC2-72C9AA413C87}"/>
              </a:ext>
            </a:extLst>
          </p:cNvPr>
          <p:cNvCxnSpPr/>
          <p:nvPr/>
        </p:nvCxnSpPr>
        <p:spPr>
          <a:xfrm flipV="1">
            <a:off x="95123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0A843553-ECEC-ED9D-206C-9A9644A81D0A}"/>
              </a:ext>
            </a:extLst>
          </p:cNvPr>
          <p:cNvCxnSpPr/>
          <p:nvPr/>
        </p:nvCxnSpPr>
        <p:spPr>
          <a:xfrm flipV="1">
            <a:off x="96520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869BDD1D-BCC6-CF6F-EA70-3FBB1777C3A4}"/>
              </a:ext>
            </a:extLst>
          </p:cNvPr>
          <p:cNvCxnSpPr/>
          <p:nvPr/>
        </p:nvCxnSpPr>
        <p:spPr>
          <a:xfrm flipV="1">
            <a:off x="97917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5C881035-902A-CF87-83F8-BBB34D1C0EC5}"/>
              </a:ext>
            </a:extLst>
          </p:cNvPr>
          <p:cNvCxnSpPr/>
          <p:nvPr/>
        </p:nvCxnSpPr>
        <p:spPr>
          <a:xfrm flipV="1">
            <a:off x="99314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2AAD7EF5-36BB-7EF4-AAFB-3310471E0436}"/>
              </a:ext>
            </a:extLst>
          </p:cNvPr>
          <p:cNvCxnSpPr/>
          <p:nvPr/>
        </p:nvCxnSpPr>
        <p:spPr>
          <a:xfrm flipV="1">
            <a:off x="100711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DFE3E23-C3DA-C880-90E7-8BD650B42E51}"/>
              </a:ext>
            </a:extLst>
          </p:cNvPr>
          <p:cNvCxnSpPr/>
          <p:nvPr/>
        </p:nvCxnSpPr>
        <p:spPr>
          <a:xfrm flipV="1">
            <a:off x="102108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94D2826A-5B6E-EE18-887B-D289A2E6915A}"/>
              </a:ext>
            </a:extLst>
          </p:cNvPr>
          <p:cNvCxnSpPr/>
          <p:nvPr/>
        </p:nvCxnSpPr>
        <p:spPr>
          <a:xfrm flipV="1">
            <a:off x="103505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1C1A5A8A-429E-BD62-B83F-2D1BD77E3D9D}"/>
              </a:ext>
            </a:extLst>
          </p:cNvPr>
          <p:cNvCxnSpPr/>
          <p:nvPr/>
        </p:nvCxnSpPr>
        <p:spPr>
          <a:xfrm flipV="1">
            <a:off x="104902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3E7955F8-1534-34D3-6C6D-C2E53DA8215C}"/>
              </a:ext>
            </a:extLst>
          </p:cNvPr>
          <p:cNvCxnSpPr/>
          <p:nvPr/>
        </p:nvCxnSpPr>
        <p:spPr>
          <a:xfrm flipV="1">
            <a:off x="106299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D77DE309-960E-A167-3C18-8769E55FF211}"/>
              </a:ext>
            </a:extLst>
          </p:cNvPr>
          <p:cNvCxnSpPr/>
          <p:nvPr/>
        </p:nvCxnSpPr>
        <p:spPr>
          <a:xfrm flipV="1">
            <a:off x="107696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172E0BF0-CF77-E9D1-153E-89B37824A66E}"/>
              </a:ext>
            </a:extLst>
          </p:cNvPr>
          <p:cNvCxnSpPr/>
          <p:nvPr/>
        </p:nvCxnSpPr>
        <p:spPr>
          <a:xfrm flipV="1">
            <a:off x="109093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65888A44-BD92-A9B2-8AE0-AF5EBE14027B}"/>
              </a:ext>
            </a:extLst>
          </p:cNvPr>
          <p:cNvCxnSpPr/>
          <p:nvPr/>
        </p:nvCxnSpPr>
        <p:spPr>
          <a:xfrm flipV="1">
            <a:off x="110490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3C8D4678-1EC5-F593-224A-028894D04CCA}"/>
              </a:ext>
            </a:extLst>
          </p:cNvPr>
          <p:cNvCxnSpPr/>
          <p:nvPr/>
        </p:nvCxnSpPr>
        <p:spPr>
          <a:xfrm flipV="1">
            <a:off x="111887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86B4FEB3-37AB-B88A-1049-9DC12846B7ED}"/>
              </a:ext>
            </a:extLst>
          </p:cNvPr>
          <p:cNvCxnSpPr/>
          <p:nvPr/>
        </p:nvCxnSpPr>
        <p:spPr>
          <a:xfrm flipV="1">
            <a:off x="11328400" y="1905000"/>
            <a:ext cx="88900" cy="101600"/>
          </a:xfrm>
          <a:prstGeom prst="line">
            <a:avLst/>
          </a:prstGeom>
          <a:ln w="762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ángulo 85">
            <a:extLst>
              <a:ext uri="{FF2B5EF4-FFF2-40B4-BE49-F238E27FC236}">
                <a16:creationId xmlns:a16="http://schemas.microsoft.com/office/drawing/2014/main" id="{F3D4E4AE-0F71-24C6-3BCD-4A600B2229F5}"/>
              </a:ext>
            </a:extLst>
          </p:cNvPr>
          <p:cNvSpPr/>
          <p:nvPr/>
        </p:nvSpPr>
        <p:spPr>
          <a:xfrm>
            <a:off x="9410700" y="1752600"/>
            <a:ext cx="228600" cy="482600"/>
          </a:xfrm>
          <a:prstGeom prst="rect">
            <a:avLst/>
          </a:prstGeom>
          <a:solidFill>
            <a:srgbClr val="C9C3B4"/>
          </a:solidFill>
          <a:ln w="9525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7581CA96-0FC2-E78E-66FD-BBB7DE65A3E8}"/>
              </a:ext>
            </a:extLst>
          </p:cNvPr>
          <p:cNvSpPr/>
          <p:nvPr/>
        </p:nvSpPr>
        <p:spPr>
          <a:xfrm>
            <a:off x="8578596" y="2235200"/>
            <a:ext cx="1892807" cy="127000"/>
          </a:xfrm>
          <a:prstGeom prst="rect">
            <a:avLst/>
          </a:prstGeom>
          <a:solidFill>
            <a:srgbClr val="C9C3B4"/>
          </a:solidFill>
          <a:ln w="9525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5127E2CC-64DA-7C83-1F09-C9885891B90B}"/>
              </a:ext>
            </a:extLst>
          </p:cNvPr>
          <p:cNvCxnSpPr/>
          <p:nvPr/>
        </p:nvCxnSpPr>
        <p:spPr>
          <a:xfrm>
            <a:off x="9525000" y="1676400"/>
            <a:ext cx="0" cy="76200"/>
          </a:xfrm>
          <a:prstGeom prst="line">
            <a:avLst/>
          </a:prstGeom>
          <a:ln w="2032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1E8A150F-9B85-47C5-13BE-A8245A2168FA}"/>
              </a:ext>
            </a:extLst>
          </p:cNvPr>
          <p:cNvCxnSpPr/>
          <p:nvPr/>
        </p:nvCxnSpPr>
        <p:spPr>
          <a:xfrm>
            <a:off x="7797800" y="1905000"/>
            <a:ext cx="101600" cy="0"/>
          </a:xfrm>
          <a:prstGeom prst="line">
            <a:avLst/>
          </a:prstGeom>
          <a:ln w="9525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A6A77898-4BA4-EF86-E501-E21816152583}"/>
              </a:ext>
            </a:extLst>
          </p:cNvPr>
          <p:cNvCxnSpPr/>
          <p:nvPr/>
        </p:nvCxnSpPr>
        <p:spPr>
          <a:xfrm>
            <a:off x="7797800" y="2235200"/>
            <a:ext cx="101600" cy="0"/>
          </a:xfrm>
          <a:prstGeom prst="line">
            <a:avLst/>
          </a:prstGeom>
          <a:ln w="9525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C335BD60-538F-EFCE-A51A-C05446DC8883}"/>
              </a:ext>
            </a:extLst>
          </p:cNvPr>
          <p:cNvCxnSpPr/>
          <p:nvPr/>
        </p:nvCxnSpPr>
        <p:spPr>
          <a:xfrm flipV="1">
            <a:off x="7848600" y="1905000"/>
            <a:ext cx="0" cy="165100"/>
          </a:xfrm>
          <a:prstGeom prst="line">
            <a:avLst/>
          </a:prstGeom>
          <a:ln w="11430">
            <a:solidFill>
              <a:srgbClr val="4A555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77DE859B-13FF-F267-3BBD-E4CFD3B5988B}"/>
              </a:ext>
            </a:extLst>
          </p:cNvPr>
          <p:cNvCxnSpPr/>
          <p:nvPr/>
        </p:nvCxnSpPr>
        <p:spPr>
          <a:xfrm>
            <a:off x="7848600" y="2070100"/>
            <a:ext cx="0" cy="165100"/>
          </a:xfrm>
          <a:prstGeom prst="line">
            <a:avLst/>
          </a:prstGeom>
          <a:ln w="11430">
            <a:solidFill>
              <a:srgbClr val="4A555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05C32434-D686-F382-8DA2-C77628AF10E9}"/>
              </a:ext>
            </a:extLst>
          </p:cNvPr>
          <p:cNvSpPr txBox="1"/>
          <p:nvPr/>
        </p:nvSpPr>
        <p:spPr>
          <a:xfrm>
            <a:off x="7924800" y="1993900"/>
            <a:ext cx="81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4A5559"/>
                </a:solidFill>
                <a:latin typeface="Segoe UI Semibold" panose="020B0702040204020203" pitchFamily="34" charset="0"/>
              </a:rPr>
              <a:t>D_f 1,20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D29D0E89-9CB2-3C80-195A-88ADCA8B0A21}"/>
              </a:ext>
            </a:extLst>
          </p:cNvPr>
          <p:cNvSpPr txBox="1"/>
          <p:nvPr/>
        </p:nvSpPr>
        <p:spPr>
          <a:xfrm>
            <a:off x="10522204" y="2057400"/>
            <a:ext cx="965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550">
                <a:solidFill>
                  <a:srgbClr val="A69E8C"/>
                </a:solidFill>
                <a:latin typeface="Segoe UI Semibold" panose="020B0702040204020203" pitchFamily="34" charset="0"/>
              </a:rPr>
              <a:t>relleno 38,6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4A08E44D-550F-124B-DFB1-BEF18BF400A5}"/>
              </a:ext>
            </a:extLst>
          </p:cNvPr>
          <p:cNvSpPr txBox="1"/>
          <p:nvPr/>
        </p:nvSpPr>
        <p:spPr>
          <a:xfrm>
            <a:off x="10522204" y="2247900"/>
            <a:ext cx="965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550">
                <a:solidFill>
                  <a:srgbClr val="A69E8C"/>
                </a:solidFill>
                <a:latin typeface="Segoe UI Semibold" panose="020B0702040204020203" pitchFamily="34" charset="0"/>
              </a:rPr>
              <a:t>zapata 38,9</a:t>
            </a:r>
          </a:p>
        </p:txBody>
      </p: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586D2409-9DDF-52E9-AC89-164C2ED68DF3}"/>
              </a:ext>
            </a:extLst>
          </p:cNvPr>
          <p:cNvCxnSpPr/>
          <p:nvPr/>
        </p:nvCxnSpPr>
        <p:spPr>
          <a:xfrm flipV="1">
            <a:off x="8736330" y="2387600"/>
            <a:ext cx="0" cy="127000"/>
          </a:xfrm>
          <a:prstGeom prst="line">
            <a:avLst/>
          </a:prstGeom>
          <a:ln w="12700">
            <a:solidFill>
              <a:srgbClr val="4C5F3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73A189E8-6056-6B63-4225-9DABB06698ED}"/>
              </a:ext>
            </a:extLst>
          </p:cNvPr>
          <p:cNvCxnSpPr/>
          <p:nvPr/>
        </p:nvCxnSpPr>
        <p:spPr>
          <a:xfrm flipV="1">
            <a:off x="9051798" y="2387600"/>
            <a:ext cx="0" cy="127000"/>
          </a:xfrm>
          <a:prstGeom prst="line">
            <a:avLst/>
          </a:prstGeom>
          <a:ln w="12700">
            <a:solidFill>
              <a:srgbClr val="4C5F3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2BC2FEC8-6C49-CEA9-E149-F2187BD09949}"/>
              </a:ext>
            </a:extLst>
          </p:cNvPr>
          <p:cNvCxnSpPr/>
          <p:nvPr/>
        </p:nvCxnSpPr>
        <p:spPr>
          <a:xfrm flipV="1">
            <a:off x="9367266" y="2387600"/>
            <a:ext cx="0" cy="127000"/>
          </a:xfrm>
          <a:prstGeom prst="line">
            <a:avLst/>
          </a:prstGeom>
          <a:ln w="12700">
            <a:solidFill>
              <a:srgbClr val="4C5F3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545822B7-AC85-AC92-FAD8-7ECE938A82A5}"/>
              </a:ext>
            </a:extLst>
          </p:cNvPr>
          <p:cNvCxnSpPr/>
          <p:nvPr/>
        </p:nvCxnSpPr>
        <p:spPr>
          <a:xfrm flipV="1">
            <a:off x="9682734" y="2387600"/>
            <a:ext cx="0" cy="127000"/>
          </a:xfrm>
          <a:prstGeom prst="line">
            <a:avLst/>
          </a:prstGeom>
          <a:ln w="12700">
            <a:solidFill>
              <a:srgbClr val="4C5F3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86D32D90-1C59-3594-F4F9-ACD8DC7EDE8A}"/>
              </a:ext>
            </a:extLst>
          </p:cNvPr>
          <p:cNvCxnSpPr/>
          <p:nvPr/>
        </p:nvCxnSpPr>
        <p:spPr>
          <a:xfrm flipV="1">
            <a:off x="9998202" y="2387600"/>
            <a:ext cx="0" cy="127000"/>
          </a:xfrm>
          <a:prstGeom prst="line">
            <a:avLst/>
          </a:prstGeom>
          <a:ln w="12700">
            <a:solidFill>
              <a:srgbClr val="4C5F3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75B2EB82-32E8-CF01-A0C0-24FDF43555C3}"/>
              </a:ext>
            </a:extLst>
          </p:cNvPr>
          <p:cNvCxnSpPr/>
          <p:nvPr/>
        </p:nvCxnSpPr>
        <p:spPr>
          <a:xfrm flipV="1">
            <a:off x="10313670" y="2387600"/>
            <a:ext cx="0" cy="127000"/>
          </a:xfrm>
          <a:prstGeom prst="line">
            <a:avLst/>
          </a:prstGeom>
          <a:ln w="12700">
            <a:solidFill>
              <a:srgbClr val="4C5F3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C555D12A-F890-8177-FF17-4604402630E1}"/>
              </a:ext>
            </a:extLst>
          </p:cNvPr>
          <p:cNvCxnSpPr/>
          <p:nvPr/>
        </p:nvCxnSpPr>
        <p:spPr>
          <a:xfrm>
            <a:off x="8578596" y="2540000"/>
            <a:ext cx="0" cy="101600"/>
          </a:xfrm>
          <a:prstGeom prst="line">
            <a:avLst/>
          </a:prstGeom>
          <a:ln w="9525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A3EED182-C864-6F53-8A7D-8C95C39E5BC1}"/>
              </a:ext>
            </a:extLst>
          </p:cNvPr>
          <p:cNvCxnSpPr/>
          <p:nvPr/>
        </p:nvCxnSpPr>
        <p:spPr>
          <a:xfrm>
            <a:off x="10471404" y="2540000"/>
            <a:ext cx="0" cy="101600"/>
          </a:xfrm>
          <a:prstGeom prst="line">
            <a:avLst/>
          </a:prstGeom>
          <a:ln w="9525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13DF7C90-93B9-8BAD-AD5E-C709429AA91F}"/>
              </a:ext>
            </a:extLst>
          </p:cNvPr>
          <p:cNvCxnSpPr/>
          <p:nvPr/>
        </p:nvCxnSpPr>
        <p:spPr>
          <a:xfrm flipH="1">
            <a:off x="8578596" y="2590800"/>
            <a:ext cx="946404" cy="0"/>
          </a:xfrm>
          <a:prstGeom prst="line">
            <a:avLst/>
          </a:prstGeom>
          <a:ln w="11430">
            <a:solidFill>
              <a:srgbClr val="4A555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3D7AC978-1CC8-D305-5A36-C72D62A5596B}"/>
              </a:ext>
            </a:extLst>
          </p:cNvPr>
          <p:cNvCxnSpPr/>
          <p:nvPr/>
        </p:nvCxnSpPr>
        <p:spPr>
          <a:xfrm>
            <a:off x="9525000" y="2590800"/>
            <a:ext cx="946404" cy="0"/>
          </a:xfrm>
          <a:prstGeom prst="line">
            <a:avLst/>
          </a:prstGeom>
          <a:ln w="11430">
            <a:solidFill>
              <a:srgbClr val="4A555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94E0490D-29A0-C005-122F-17CC2D393CAC}"/>
              </a:ext>
            </a:extLst>
          </p:cNvPr>
          <p:cNvSpPr txBox="1"/>
          <p:nvPr/>
        </p:nvSpPr>
        <p:spPr>
          <a:xfrm>
            <a:off x="8451596" y="2641600"/>
            <a:ext cx="2146808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>
                <a:solidFill>
                  <a:srgbClr val="4A5559"/>
                </a:solidFill>
                <a:latin typeface="Segoe UI Semibold" panose="020B0702040204020203" pitchFamily="34" charset="0"/>
              </a:rPr>
              <a:t>B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5391F0FB-59A0-1DD7-1DD3-1B3EA993DA38}"/>
              </a:ext>
            </a:extLst>
          </p:cNvPr>
          <p:cNvSpPr/>
          <p:nvPr/>
        </p:nvSpPr>
        <p:spPr>
          <a:xfrm>
            <a:off x="7721600" y="4140200"/>
            <a:ext cx="38100" cy="1905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E97DAF8-9A30-D588-C1D6-1B69073DE1C9}"/>
              </a:ext>
            </a:extLst>
          </p:cNvPr>
          <p:cNvSpPr txBox="1"/>
          <p:nvPr/>
        </p:nvSpPr>
        <p:spPr>
          <a:xfrm>
            <a:off x="7823200" y="414020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1C1813"/>
                </a:solidFill>
                <a:latin typeface="Segoe UI Semibold" panose="020B0702040204020203" pitchFamily="34" charset="0"/>
              </a:rPr>
              <a:t>Zapata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885BA4DF-BEB1-93ED-62A5-6A562FF4B412}"/>
              </a:ext>
            </a:extLst>
          </p:cNvPr>
          <p:cNvSpPr txBox="1"/>
          <p:nvPr/>
        </p:nvSpPr>
        <p:spPr>
          <a:xfrm>
            <a:off x="8966200" y="4140200"/>
            <a:ext cx="2336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1,80 × 1,80 × 0,50 m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686CD282-E66D-4A0F-A398-10176FDD44D1}"/>
              </a:ext>
            </a:extLst>
          </p:cNvPr>
          <p:cNvSpPr/>
          <p:nvPr/>
        </p:nvSpPr>
        <p:spPr>
          <a:xfrm>
            <a:off x="7721600" y="4368800"/>
            <a:ext cx="38100" cy="1905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57E39F8D-4670-9BF7-4D7F-E659FDF2DB08}"/>
              </a:ext>
            </a:extLst>
          </p:cNvPr>
          <p:cNvSpPr txBox="1"/>
          <p:nvPr/>
        </p:nvSpPr>
        <p:spPr>
          <a:xfrm>
            <a:off x="7823200" y="436880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1C1813"/>
                </a:solidFill>
                <a:latin typeface="Segoe UI Semibold" panose="020B0702040204020203" pitchFamily="34" charset="0"/>
              </a:rPr>
              <a:t>Profundidad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19C2BC42-FCC5-72D5-8753-ECB7A18138B2}"/>
              </a:ext>
            </a:extLst>
          </p:cNvPr>
          <p:cNvSpPr txBox="1"/>
          <p:nvPr/>
        </p:nvSpPr>
        <p:spPr>
          <a:xfrm>
            <a:off x="8966200" y="4368800"/>
            <a:ext cx="2336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D_f = 1,20 m</a:t>
            </a:r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67173B53-B539-A2E8-FBD7-1F1B7ABA083B}"/>
              </a:ext>
            </a:extLst>
          </p:cNvPr>
          <p:cNvSpPr/>
          <p:nvPr/>
        </p:nvSpPr>
        <p:spPr>
          <a:xfrm>
            <a:off x="7721600" y="4597400"/>
            <a:ext cx="38100" cy="1905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9EA72452-1F1D-5B29-2D5E-940B582D406A}"/>
              </a:ext>
            </a:extLst>
          </p:cNvPr>
          <p:cNvSpPr txBox="1"/>
          <p:nvPr/>
        </p:nvSpPr>
        <p:spPr>
          <a:xfrm>
            <a:off x="7823200" y="459740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1C1813"/>
                </a:solidFill>
                <a:latin typeface="Segoe UI Semibold" panose="020B0702040204020203" pitchFamily="34" charset="0"/>
              </a:rPr>
              <a:t>Terreno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B19BC606-5BAC-CF02-5EAF-2398F1EF75C2}"/>
              </a:ext>
            </a:extLst>
          </p:cNvPr>
          <p:cNvSpPr txBox="1"/>
          <p:nvPr/>
        </p:nvSpPr>
        <p:spPr>
          <a:xfrm>
            <a:off x="8966200" y="4597400"/>
            <a:ext cx="2336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c = 25 kPa  ·  </a:t>
            </a:r>
            <a:r>
              <a:rPr lang="el-GR" sz="700">
                <a:solidFill>
                  <a:srgbClr val="5A5248"/>
                </a:solidFill>
                <a:latin typeface="Segoe UI" panose="020B0502040204020203" pitchFamily="34" charset="0"/>
              </a:rPr>
              <a:t>φ = 15°  ·  γ = 17 </a:t>
            </a:r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kN/m³</a:t>
            </a:r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1B5E700D-6696-AFA4-5970-17DA5B293116}"/>
              </a:ext>
            </a:extLst>
          </p:cNvPr>
          <p:cNvSpPr/>
          <p:nvPr/>
        </p:nvSpPr>
        <p:spPr>
          <a:xfrm>
            <a:off x="7721600" y="4826000"/>
            <a:ext cx="38100" cy="1905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0091C53B-5F8E-45D1-2261-AC47427280BB}"/>
              </a:ext>
            </a:extLst>
          </p:cNvPr>
          <p:cNvSpPr txBox="1"/>
          <p:nvPr/>
        </p:nvSpPr>
        <p:spPr>
          <a:xfrm>
            <a:off x="7823200" y="482600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1C1813"/>
                </a:solidFill>
                <a:latin typeface="Segoe UI Semibold" panose="020B0702040204020203" pitchFamily="34" charset="0"/>
              </a:rPr>
              <a:t>Carga</a:t>
            </a:r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1C2EDBBB-AB81-719D-B36B-D7FC1BB8578B}"/>
              </a:ext>
            </a:extLst>
          </p:cNvPr>
          <p:cNvSpPr txBox="1"/>
          <p:nvPr/>
        </p:nvSpPr>
        <p:spPr>
          <a:xfrm>
            <a:off x="8966200" y="4826000"/>
            <a:ext cx="2336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620 kN hoy   →   860 kN con el uso nuevo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F68F31E2-6733-0B99-A68B-ECFF2D434439}"/>
              </a:ext>
            </a:extLst>
          </p:cNvPr>
          <p:cNvSpPr/>
          <p:nvPr/>
        </p:nvSpPr>
        <p:spPr>
          <a:xfrm>
            <a:off x="7721600" y="5054600"/>
            <a:ext cx="38100" cy="1905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DB1CBC76-1033-E215-BF0F-E71BB0529AEE}"/>
              </a:ext>
            </a:extLst>
          </p:cNvPr>
          <p:cNvSpPr txBox="1"/>
          <p:nvPr/>
        </p:nvSpPr>
        <p:spPr>
          <a:xfrm>
            <a:off x="7823200" y="505460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1C1813"/>
                </a:solidFill>
                <a:latin typeface="Segoe UI Semibold" panose="020B0702040204020203" pitchFamily="34" charset="0"/>
              </a:rPr>
              <a:t>La pregunta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9F11297E-5AFA-4046-CE3C-8FBD416C73C1}"/>
              </a:ext>
            </a:extLst>
          </p:cNvPr>
          <p:cNvSpPr txBox="1"/>
          <p:nvPr/>
        </p:nvSpPr>
        <p:spPr>
          <a:xfrm>
            <a:off x="8966200" y="5054600"/>
            <a:ext cx="2336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¿cumple? Y si no, ¿cuánto hay que ensanchar?</a:t>
            </a:r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C943CB07-245D-2347-1251-9C1127BCDC2A}"/>
              </a:ext>
            </a:extLst>
          </p:cNvPr>
          <p:cNvSpPr/>
          <p:nvPr/>
        </p:nvSpPr>
        <p:spPr>
          <a:xfrm>
            <a:off x="609600" y="5537200"/>
            <a:ext cx="10972800" cy="5588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33A77345-38E1-B546-4C8D-011A90C30523}"/>
              </a:ext>
            </a:extLst>
          </p:cNvPr>
          <p:cNvSpPr/>
          <p:nvPr/>
        </p:nvSpPr>
        <p:spPr>
          <a:xfrm>
            <a:off x="609600" y="5537200"/>
            <a:ext cx="5715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FCB7C052-2625-231F-6812-5B3AE382F569}"/>
              </a:ext>
            </a:extLst>
          </p:cNvPr>
          <p:cNvSpPr txBox="1"/>
          <p:nvPr/>
        </p:nvSpPr>
        <p:spPr>
          <a:xfrm>
            <a:off x="838200" y="5588000"/>
            <a:ext cx="1056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La comprobación de una zapata existente no es difícil: es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larga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. El error no suele estar en la fórmula, sino en olvidar el peso propio o en usar el B viejo después de ensanchar.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CD845751-9BDA-1275-E509-1ABD37332BF5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it-IT" sz="700">
                <a:solidFill>
                  <a:srgbClr val="938A7C"/>
                </a:solidFill>
                <a:latin typeface="Segoe UI" panose="020B0502040204020203" pitchFamily="34" charset="0"/>
              </a:rPr>
              <a:t>Fuente: Terzaghi (1943); ACI 562 §6; NB 1225001; ACI 318-19 §22.9.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01513E51-0CAB-F514-068C-1E8CC14956E6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E3F6BB83-A1B5-0171-2864-EBE5B4599CEE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BDFF2A54-6DA1-1DE3-F010-40E78A6829A7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129" name="PageNo">
            <a:extLst>
              <a:ext uri="{FF2B5EF4-FFF2-40B4-BE49-F238E27FC236}">
                <a16:creationId xmlns:a16="http://schemas.microsoft.com/office/drawing/2014/main" id="{00E9DA1B-4556-19BB-4CEC-2CCCD24DF7C1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27 / 38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7884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0200445-667A-4B0C-F71A-5B727CE37CE4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7  ·  PASO 1 DE 5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7A1ACAE-AFF8-74E9-3BFF-6586DA018DF9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Cuánta presión aguanta este terreno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D8301A6-319A-9A59-7DAD-09B4A31538A7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BD435DE-C76F-CD06-BD00-9B3C63959143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FEE4AB6-6534-7025-1F72-BA2E27362A30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¿Con cuánta presión se hundiría este terreno, y cuánta podemos admitir sobre él?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F5035EE-EC65-5A24-95EB-363377291098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pt-BR" sz="1700">
                <a:solidFill>
                  <a:srgbClr val="FFFFFF"/>
                </a:solidFill>
                <a:latin typeface="Bahnschrift SemiBold" panose="020B0502040204020203" pitchFamily="34" charset="0"/>
              </a:rPr>
              <a:t>q_adm  =  ( 1,3 · c · N_c  +  q · N_q  +  0,4 · γ · B · N_γ )  /  FS</a:t>
            </a:r>
            <a:endParaRPr lang="es-BO" sz="17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A36A763-7322-1552-3DDB-B4626DA77980}"/>
              </a:ext>
            </a:extLst>
          </p:cNvPr>
          <p:cNvSpPr/>
          <p:nvPr/>
        </p:nvSpPr>
        <p:spPr>
          <a:xfrm>
            <a:off x="609600" y="2209800"/>
            <a:ext cx="38100" cy="508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0060D6C-D254-EA4B-FF56-F4A73AE8D561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554178-7E5E-81F7-664A-D39FE1559F52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Terzaghi (1943) para zapata cuadrada, dividido por el coeficiente de seguridad. Los tres sumandos son las tres cosas que se oponen a que la zapata se hunda: la cohesión del propio suelo, el peso del terreno que hay por encima del plano de apoyo y el ancho de la zapata.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A36078-1432-B2BB-E21C-654311A5D748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40FFA6-CB36-2EBC-EC76-C9613098C7CC}"/>
              </a:ext>
            </a:extLst>
          </p:cNvPr>
          <p:cNvSpPr/>
          <p:nvPr/>
        </p:nvSpPr>
        <p:spPr>
          <a:xfrm>
            <a:off x="609600" y="3048000"/>
            <a:ext cx="38100" cy="3429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A023B2-513E-1611-2D8A-62CB93A8FCC3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c = 25 kPa  ·  </a:t>
            </a:r>
            <a:r>
              <a:rPr lang="el-GR" sz="1000">
                <a:solidFill>
                  <a:srgbClr val="1C1813"/>
                </a:solidFill>
                <a:latin typeface="Segoe UI Semibold" panose="020B0702040204020203" pitchFamily="34" charset="0"/>
              </a:rPr>
              <a:t>φ = 15°</a:t>
            </a:r>
            <a:endParaRPr lang="es-BO" sz="100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C7DE1FF-5F9C-B324-27AC-C3F2F034E8FA}"/>
              </a:ext>
            </a:extLst>
          </p:cNvPr>
          <p:cNvSpPr txBox="1"/>
          <p:nvPr/>
        </p:nvSpPr>
        <p:spPr>
          <a:xfrm>
            <a:off x="762000" y="32131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Del estudio de suelos de 1998.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CA4AD3-8E5D-EC2A-1F30-AC77158E39F9}"/>
              </a:ext>
            </a:extLst>
          </p:cNvPr>
          <p:cNvSpPr/>
          <p:nvPr/>
        </p:nvSpPr>
        <p:spPr>
          <a:xfrm>
            <a:off x="609600" y="3517900"/>
            <a:ext cx="38100" cy="3429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D20A25B-33E3-CA0F-69AD-36CA16B65E2B}"/>
              </a:ext>
            </a:extLst>
          </p:cNvPr>
          <p:cNvSpPr txBox="1"/>
          <p:nvPr/>
        </p:nvSpPr>
        <p:spPr>
          <a:xfrm>
            <a:off x="762000" y="35179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pt-BR" sz="1000">
                <a:solidFill>
                  <a:srgbClr val="1C1813"/>
                </a:solidFill>
                <a:latin typeface="Segoe UI Semibold" panose="020B0702040204020203" pitchFamily="34" charset="0"/>
              </a:rPr>
              <a:t>N_c 12,86 · N_q 4,45 · N_γ 2,17</a:t>
            </a:r>
            <a:endParaRPr lang="es-BO" sz="100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46379FC-E948-76B4-2C8A-43576B6C2DA5}"/>
              </a:ext>
            </a:extLst>
          </p:cNvPr>
          <p:cNvSpPr txBox="1"/>
          <p:nvPr/>
        </p:nvSpPr>
        <p:spPr>
          <a:xfrm>
            <a:off x="762000" y="3683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850">
                <a:solidFill>
                  <a:srgbClr val="5A5248"/>
                </a:solidFill>
                <a:latin typeface="Segoe UI" panose="020B0502040204020203" pitchFamily="34" charset="0"/>
              </a:rPr>
              <a:t>Factores de Terzaghi para </a:t>
            </a:r>
            <a:r>
              <a:rPr lang="el-GR" sz="850">
                <a:solidFill>
                  <a:srgbClr val="5A5248"/>
                </a:solidFill>
                <a:latin typeface="Segoe UI" panose="020B0502040204020203" pitchFamily="34" charset="0"/>
              </a:rPr>
              <a:t>φ = 15°.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37CC36E-7B1A-7768-1885-B142514820D3}"/>
              </a:ext>
            </a:extLst>
          </p:cNvPr>
          <p:cNvSpPr/>
          <p:nvPr/>
        </p:nvSpPr>
        <p:spPr>
          <a:xfrm>
            <a:off x="609600" y="3987800"/>
            <a:ext cx="38100" cy="3429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4F7FC79-4C4B-4DE4-FAE9-E4E8EC4789EA}"/>
              </a:ext>
            </a:extLst>
          </p:cNvPr>
          <p:cNvSpPr txBox="1"/>
          <p:nvPr/>
        </p:nvSpPr>
        <p:spPr>
          <a:xfrm>
            <a:off x="762000" y="39878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q = 20,4 kPa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4F247B7-7B14-A05A-514B-FBB0B6D4F69D}"/>
              </a:ext>
            </a:extLst>
          </p:cNvPr>
          <p:cNvSpPr txBox="1"/>
          <p:nvPr/>
        </p:nvSpPr>
        <p:spPr>
          <a:xfrm>
            <a:off x="762000" y="41529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Peso del terreno sobre el plano de apoyo.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66F23A9-F761-6080-6773-CF3D09183268}"/>
              </a:ext>
            </a:extLst>
          </p:cNvPr>
          <p:cNvSpPr/>
          <p:nvPr/>
        </p:nvSpPr>
        <p:spPr>
          <a:xfrm>
            <a:off x="609600" y="4457700"/>
            <a:ext cx="38100" cy="3429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ADD8E60-F535-98BD-A2E8-15576D1CD7C7}"/>
              </a:ext>
            </a:extLst>
          </p:cNvPr>
          <p:cNvSpPr txBox="1"/>
          <p:nvPr/>
        </p:nvSpPr>
        <p:spPr>
          <a:xfrm>
            <a:off x="762000" y="44577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B = 1,80 m  ·  FS = 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3781192-FF04-4798-718B-5B659B4BF3E2}"/>
              </a:ext>
            </a:extLst>
          </p:cNvPr>
          <p:cNvSpPr txBox="1"/>
          <p:nvPr/>
        </p:nvSpPr>
        <p:spPr>
          <a:xfrm>
            <a:off x="762000" y="46228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Lado de la zapata, medido en la cata.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A387346-B06C-9645-3D05-5697D1053740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0308DFF-01F7-35BE-4D5A-58A66C62CFAE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EE09AF2-F8FE-E505-E6A8-F123590443DA}"/>
              </a:ext>
            </a:extLst>
          </p:cNvPr>
          <p:cNvSpPr txBox="1"/>
          <p:nvPr/>
        </p:nvSpPr>
        <p:spPr>
          <a:xfrm>
            <a:off x="4648200" y="31623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241F18"/>
                </a:solidFill>
                <a:latin typeface="Segoe UI" panose="020B0502040204020203" pitchFamily="34" charset="0"/>
              </a:rPr>
              <a:t>cohesión          1,3 × 25 × 12,86  =  417,9 kPa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3C39A0C-D924-EC80-851F-853A10256E2E}"/>
              </a:ext>
            </a:extLst>
          </p:cNvPr>
          <p:cNvSpPr txBox="1"/>
          <p:nvPr/>
        </p:nvSpPr>
        <p:spPr>
          <a:xfrm>
            <a:off x="4648200" y="34417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profundidad              20,4 × 4,45  =   90,8 kPa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9F46075-3846-9D2C-259B-4602D2E26D99}"/>
              </a:ext>
            </a:extLst>
          </p:cNvPr>
          <p:cNvSpPr txBox="1"/>
          <p:nvPr/>
        </p:nvSpPr>
        <p:spPr>
          <a:xfrm>
            <a:off x="4648200" y="37211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it-IT" sz="1150">
                <a:solidFill>
                  <a:srgbClr val="241F18"/>
                </a:solidFill>
                <a:latin typeface="Segoe UI" panose="020B0502040204020203" pitchFamily="34" charset="0"/>
              </a:rPr>
              <a:t>ancho B      0,4 × 17 × 1,80 × 2,17  =   26,6 kPa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DAF2429-C4DB-D489-1EA9-692D77FC95B4}"/>
              </a:ext>
            </a:extLst>
          </p:cNvPr>
          <p:cNvSpPr txBox="1"/>
          <p:nvPr/>
        </p:nvSpPr>
        <p:spPr>
          <a:xfrm>
            <a:off x="4648200" y="40005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7DEB3AA-FE24-B32D-A917-807FAE05DE55}"/>
              </a:ext>
            </a:extLst>
          </p:cNvPr>
          <p:cNvSpPr txBox="1"/>
          <p:nvPr/>
        </p:nvSpPr>
        <p:spPr>
          <a:xfrm>
            <a:off x="4648200" y="42799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pl-PL" sz="1150">
                <a:solidFill>
                  <a:srgbClr val="241F18"/>
                </a:solidFill>
                <a:latin typeface="Segoe UI" panose="020B0502040204020203" pitchFamily="34" charset="0"/>
              </a:rPr>
              <a:t>q_u  =  417,9 + 90,8 + 26,6  =  535,3 kPa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5F66767-6792-63A7-1BD9-9CDF4BE7E491}"/>
              </a:ext>
            </a:extLst>
          </p:cNvPr>
          <p:cNvSpPr txBox="1"/>
          <p:nvPr/>
        </p:nvSpPr>
        <p:spPr>
          <a:xfrm>
            <a:off x="4648200" y="45593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nb-NO" sz="1150">
                <a:solidFill>
                  <a:srgbClr val="241F18"/>
                </a:solidFill>
                <a:latin typeface="Segoe UI" panose="020B0502040204020203" pitchFamily="34" charset="0"/>
              </a:rPr>
              <a:t>q_adm  =  535,3 kPa  /  3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7AD5402-54FD-EED2-7A61-AFD2F7883656}"/>
              </a:ext>
            </a:extLst>
          </p:cNvPr>
          <p:cNvSpPr/>
          <p:nvPr/>
        </p:nvSpPr>
        <p:spPr>
          <a:xfrm>
            <a:off x="8229600" y="3048000"/>
            <a:ext cx="3352800" cy="1320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D59A757-4D13-6F3A-BEB4-589F008E1166}"/>
              </a:ext>
            </a:extLst>
          </p:cNvPr>
          <p:cNvSpPr/>
          <p:nvPr/>
        </p:nvSpPr>
        <p:spPr>
          <a:xfrm>
            <a:off x="8229600" y="3048000"/>
            <a:ext cx="38100" cy="1320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C5E4478-94E6-C543-0DE1-85EFC5C1347D}"/>
              </a:ext>
            </a:extLst>
          </p:cNvPr>
          <p:cNvSpPr txBox="1"/>
          <p:nvPr/>
        </p:nvSpPr>
        <p:spPr>
          <a:xfrm>
            <a:off x="8432800" y="3162300"/>
            <a:ext cx="297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EL REPARTO DE LOS TRES SUMANDOS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441081B-D63E-8006-48A7-C6BDF3672119}"/>
              </a:ext>
            </a:extLst>
          </p:cNvPr>
          <p:cNvSpPr/>
          <p:nvPr/>
        </p:nvSpPr>
        <p:spPr>
          <a:xfrm>
            <a:off x="9144000" y="3429000"/>
            <a:ext cx="2159000" cy="190500"/>
          </a:xfrm>
          <a:prstGeom prst="rect">
            <a:avLst/>
          </a:prstGeom>
          <a:solidFill>
            <a:srgbClr val="F5F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0A54BD9-B2B9-63A6-2A44-3C9DA574B553}"/>
              </a:ext>
            </a:extLst>
          </p:cNvPr>
          <p:cNvSpPr/>
          <p:nvPr/>
        </p:nvSpPr>
        <p:spPr>
          <a:xfrm>
            <a:off x="9144000" y="3429000"/>
            <a:ext cx="2159000" cy="190500"/>
          </a:xfrm>
          <a:prstGeom prst="rect">
            <a:avLst/>
          </a:prstGeom>
          <a:solidFill>
            <a:srgbClr val="4C5F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B8EE1F9-9D46-A593-434D-17839556FC65}"/>
              </a:ext>
            </a:extLst>
          </p:cNvPr>
          <p:cNvSpPr txBox="1"/>
          <p:nvPr/>
        </p:nvSpPr>
        <p:spPr>
          <a:xfrm>
            <a:off x="8356600" y="3429000"/>
            <a:ext cx="736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cohesión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F38194D-087E-2B47-D0D1-D75DF69D465C}"/>
              </a:ext>
            </a:extLst>
          </p:cNvPr>
          <p:cNvSpPr txBox="1"/>
          <p:nvPr/>
        </p:nvSpPr>
        <p:spPr>
          <a:xfrm>
            <a:off x="9194800" y="3429000"/>
            <a:ext cx="2057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00">
                <a:solidFill>
                  <a:srgbClr val="FFFFFF"/>
                </a:solidFill>
                <a:latin typeface="Segoe UI Semibold" panose="020B0702040204020203" pitchFamily="34" charset="0"/>
              </a:rPr>
              <a:t>417,95 kPa  ·  78 %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8EFBF30-EE3E-9683-F8F1-B99C33EF5CE4}"/>
              </a:ext>
            </a:extLst>
          </p:cNvPr>
          <p:cNvSpPr/>
          <p:nvPr/>
        </p:nvSpPr>
        <p:spPr>
          <a:xfrm>
            <a:off x="9144000" y="3708400"/>
            <a:ext cx="2159000" cy="190500"/>
          </a:xfrm>
          <a:prstGeom prst="rect">
            <a:avLst/>
          </a:prstGeom>
          <a:solidFill>
            <a:srgbClr val="F5F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84BF6575-34D7-DD53-FEC9-8875339453BF}"/>
              </a:ext>
            </a:extLst>
          </p:cNvPr>
          <p:cNvSpPr/>
          <p:nvPr/>
        </p:nvSpPr>
        <p:spPr>
          <a:xfrm>
            <a:off x="9144000" y="3708400"/>
            <a:ext cx="474980" cy="190500"/>
          </a:xfrm>
          <a:prstGeom prst="rect">
            <a:avLst/>
          </a:prstGeom>
          <a:solidFill>
            <a:srgbClr val="4A55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4810B51-9FEA-DAD4-EC0F-EB015FAFB8F1}"/>
              </a:ext>
            </a:extLst>
          </p:cNvPr>
          <p:cNvSpPr txBox="1"/>
          <p:nvPr/>
        </p:nvSpPr>
        <p:spPr>
          <a:xfrm>
            <a:off x="8356600" y="3708400"/>
            <a:ext cx="736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profundidad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3861920-EA46-F72D-58C9-04E7E31B0996}"/>
              </a:ext>
            </a:extLst>
          </p:cNvPr>
          <p:cNvSpPr txBox="1"/>
          <p:nvPr/>
        </p:nvSpPr>
        <p:spPr>
          <a:xfrm>
            <a:off x="9695180" y="3708400"/>
            <a:ext cx="155702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90,78  ·  17 %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AD63308-9B1D-C8E6-C0BC-C45C223DAE94}"/>
              </a:ext>
            </a:extLst>
          </p:cNvPr>
          <p:cNvSpPr/>
          <p:nvPr/>
        </p:nvSpPr>
        <p:spPr>
          <a:xfrm>
            <a:off x="9144000" y="3987800"/>
            <a:ext cx="2159000" cy="190500"/>
          </a:xfrm>
          <a:prstGeom prst="rect">
            <a:avLst/>
          </a:prstGeom>
          <a:solidFill>
            <a:srgbClr val="F5F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BA19F8AE-7474-62A3-85F9-96C19339A9FA}"/>
              </a:ext>
            </a:extLst>
          </p:cNvPr>
          <p:cNvSpPr/>
          <p:nvPr/>
        </p:nvSpPr>
        <p:spPr>
          <a:xfrm>
            <a:off x="9144000" y="3987800"/>
            <a:ext cx="129540" cy="1905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90F574B-311E-F401-ABFF-1BCED0539B46}"/>
              </a:ext>
            </a:extLst>
          </p:cNvPr>
          <p:cNvSpPr txBox="1"/>
          <p:nvPr/>
        </p:nvSpPr>
        <p:spPr>
          <a:xfrm>
            <a:off x="8356600" y="3987800"/>
            <a:ext cx="736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ancho B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2BECCCF-EDD2-CDE7-892E-F7272941A29D}"/>
              </a:ext>
            </a:extLst>
          </p:cNvPr>
          <p:cNvSpPr txBox="1"/>
          <p:nvPr/>
        </p:nvSpPr>
        <p:spPr>
          <a:xfrm>
            <a:off x="9349740" y="3987800"/>
            <a:ext cx="190246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26,56  ·  5 %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FE380B73-A73F-CAC2-7D5C-9FD4E1793E7C}"/>
              </a:ext>
            </a:extLst>
          </p:cNvPr>
          <p:cNvSpPr/>
          <p:nvPr/>
        </p:nvSpPr>
        <p:spPr>
          <a:xfrm>
            <a:off x="609600" y="5029200"/>
            <a:ext cx="38100" cy="406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4842993-3D69-03B7-19C7-D92E17619B3C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A68D8A8-EDDE-6CC4-FF3D-5141B12AFAB1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De los tres sumandos, la cohesión aporta el 78 %, la profundidad el 17 % y el ancho solo el 5 %: </a:t>
            </a:r>
            <a:r>
              <a:rPr lang="es-MX" sz="1050" b="1">
                <a:solidFill>
                  <a:srgbClr val="5A5248"/>
                </a:solidFill>
                <a:latin typeface="Segoe UI Semibold" panose="020B0702040204020203" pitchFamily="34" charset="0"/>
              </a:rPr>
              <a:t>en este terreno arcilloso manda la cohesión</a:t>
            </a:r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50" name="Resultado_1">
            <a:extLst>
              <a:ext uri="{FF2B5EF4-FFF2-40B4-BE49-F238E27FC236}">
                <a16:creationId xmlns:a16="http://schemas.microsoft.com/office/drawing/2014/main" id="{A068E029-6B28-B9AC-85A2-B488CB9448DD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600">
                <a:solidFill>
                  <a:srgbClr val="FFFFFF"/>
                </a:solidFill>
                <a:latin typeface="Bahnschrift SemiBold" panose="020B0502040204020203" pitchFamily="34" charset="0"/>
              </a:rPr>
              <a:t>q_adm  =  178,4 kPa     ·     el listón contra el que se mide todo el caso</a:t>
            </a:r>
            <a:endParaRPr lang="es-BO" sz="16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7597CCA-E6E8-B287-165E-FE82335189CB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Terzaghi (1943); NB 1225001; estudio de suelos de 1998.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01B8619-7409-F814-3CAA-816654EFE8CC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04C2A63-3843-05CC-0A67-7736EE0168A1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8E131FB-2F40-619F-FCD1-25FF3241AAF0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55" name="PageNo">
            <a:extLst>
              <a:ext uri="{FF2B5EF4-FFF2-40B4-BE49-F238E27FC236}">
                <a16:creationId xmlns:a16="http://schemas.microsoft.com/office/drawing/2014/main" id="{9F61E19C-C754-1098-ED73-49B5880257FC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28 / 38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58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5B6655D-0FCD-12B4-AFA8-DBD665694712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7  ·  PASO 2 DE 5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F42827D-7C6B-D64C-A970-8D594582D933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Cuánta presión le estamos dando hoy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771DBFC-18EF-F857-3C40-B2B4F3A0F658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A095FB8-C3B2-CB7C-39B8-579C91A668BA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42D5FE7-AE95-B492-72AB-14F3C703F272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¿Cuánta presión le está llegando hoy? Ojo con el peso propio, que casi siempre se olvida.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984E03-BF0F-8101-1416-A867D584C511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BO" sz="1700">
                <a:solidFill>
                  <a:srgbClr val="FFFFFF"/>
                </a:solidFill>
                <a:latin typeface="Bahnschrift SemiBold" panose="020B0502040204020203" pitchFamily="34" charset="0"/>
              </a:rPr>
              <a:t>q_aplicada  =  ( P  +  peso propio )  /  A           margen  =  q_adm / q_aplicada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C25288-3BED-DBA9-D789-0E1513E1B366}"/>
              </a:ext>
            </a:extLst>
          </p:cNvPr>
          <p:cNvSpPr/>
          <p:nvPr/>
        </p:nvSpPr>
        <p:spPr>
          <a:xfrm>
            <a:off x="609600" y="2209800"/>
            <a:ext cx="38100" cy="508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A3934ED-928A-24B4-8502-9880FE01BDD6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4191B4-40C0-18DA-1787-775452776CF0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Equilibrio vertical en el plano de apoyo, dividido por el área de la zapata. No es una fórmula de norma: es sumar todo lo que gravita sobre ese plano. Y lo que casi siempre se olvida es que el propio bloque de hormigón y la tierra que lo cubre también pesan.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9A7E659-BAE0-E765-4CBB-0F171F783497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DC0EA81-B4EB-D8C8-A0E5-554F0FC92B88}"/>
              </a:ext>
            </a:extLst>
          </p:cNvPr>
          <p:cNvSpPr/>
          <p:nvPr/>
        </p:nvSpPr>
        <p:spPr>
          <a:xfrm>
            <a:off x="609600" y="3048000"/>
            <a:ext cx="38100" cy="4953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07C68BF-E2E8-F3FF-60BD-DEC4ABEDA354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P = 620 kN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89168FA-05B7-B384-163A-7E5E2B0AFAC7}"/>
              </a:ext>
            </a:extLst>
          </p:cNvPr>
          <p:cNvSpPr txBox="1"/>
          <p:nvPr/>
        </p:nvSpPr>
        <p:spPr>
          <a:xfrm>
            <a:off x="762000" y="32131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Carga de servicio actual que baja por la columna C-4.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89CBCB8-6904-FE30-4EC8-FFB883E3ABDE}"/>
              </a:ext>
            </a:extLst>
          </p:cNvPr>
          <p:cNvSpPr/>
          <p:nvPr/>
        </p:nvSpPr>
        <p:spPr>
          <a:xfrm>
            <a:off x="609600" y="3670300"/>
            <a:ext cx="38100" cy="4953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971AB27-E473-C596-2C46-3E807E7614D4}"/>
              </a:ext>
            </a:extLst>
          </p:cNvPr>
          <p:cNvSpPr txBox="1"/>
          <p:nvPr/>
        </p:nvSpPr>
        <p:spPr>
          <a:xfrm>
            <a:off x="762000" y="36703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Peso propio = 77,5 kN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4BE78FA-652B-3B30-A9F2-0924E4F95EC7}"/>
              </a:ext>
            </a:extLst>
          </p:cNvPr>
          <p:cNvSpPr txBox="1"/>
          <p:nvPr/>
        </p:nvSpPr>
        <p:spPr>
          <a:xfrm>
            <a:off x="762000" y="38354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Zapata 1,80 × 1,80 × 0,50 × 24 = 38,9 kN, y relleno 1,80 × 1,80 × 0,70 × 17 = 38,6 kN.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D6BEFB0-AB07-66C7-D105-D0229D9FAD12}"/>
              </a:ext>
            </a:extLst>
          </p:cNvPr>
          <p:cNvSpPr/>
          <p:nvPr/>
        </p:nvSpPr>
        <p:spPr>
          <a:xfrm>
            <a:off x="609600" y="4292600"/>
            <a:ext cx="38100" cy="4953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496BA05-E83D-3685-2860-44AF690105E3}"/>
              </a:ext>
            </a:extLst>
          </p:cNvPr>
          <p:cNvSpPr txBox="1"/>
          <p:nvPr/>
        </p:nvSpPr>
        <p:spPr>
          <a:xfrm>
            <a:off x="762000" y="42926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A = 3,24 m²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219977B-00A6-7401-B312-503FF97CD2E3}"/>
              </a:ext>
            </a:extLst>
          </p:cNvPr>
          <p:cNvSpPr txBox="1"/>
          <p:nvPr/>
        </p:nvSpPr>
        <p:spPr>
          <a:xfrm>
            <a:off x="762000" y="44577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Área de apoyo de la zapata existente: 1,80 × 1,80.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2F53176-EB82-FB68-E09E-1B5E28B6C753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32B0380-E05F-ECFE-C3FC-CF4B131D990F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B09DBC2-2551-6019-DFA2-CDC059A68490}"/>
              </a:ext>
            </a:extLst>
          </p:cNvPr>
          <p:cNvSpPr txBox="1"/>
          <p:nvPr/>
        </p:nvSpPr>
        <p:spPr>
          <a:xfrm>
            <a:off x="4648200" y="316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n-US" sz="1150">
                <a:solidFill>
                  <a:srgbClr val="241F18"/>
                </a:solidFill>
                <a:latin typeface="Segoe UI" panose="020B0502040204020203" pitchFamily="34" charset="0"/>
              </a:rPr>
              <a:t>P_total  =  620 + 38,9 + 38,6  =  697,5 kN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66A769A-B468-7B82-34C5-D89D5469029E}"/>
              </a:ext>
            </a:extLst>
          </p:cNvPr>
          <p:cNvSpPr txBox="1"/>
          <p:nvPr/>
        </p:nvSpPr>
        <p:spPr>
          <a:xfrm>
            <a:off x="4648200" y="3479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q_aplicada  =  697,5 kN  /  3,24 m²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6087A49-17E7-A075-AC0D-FA692729BB73}"/>
              </a:ext>
            </a:extLst>
          </p:cNvPr>
          <p:cNvSpPr txBox="1"/>
          <p:nvPr/>
        </p:nvSpPr>
        <p:spPr>
          <a:xfrm>
            <a:off x="4648200" y="3797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q_aplicada  =  215,3 kPa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AE09341-9532-F55E-DCB7-FE0FC67B30F5}"/>
              </a:ext>
            </a:extLst>
          </p:cNvPr>
          <p:cNvSpPr txBox="1"/>
          <p:nvPr/>
        </p:nvSpPr>
        <p:spPr>
          <a:xfrm>
            <a:off x="4648200" y="4114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25CBDA8-67E2-DB5E-3FA7-312A8239DA6D}"/>
              </a:ext>
            </a:extLst>
          </p:cNvPr>
          <p:cNvSpPr txBox="1"/>
          <p:nvPr/>
        </p:nvSpPr>
        <p:spPr>
          <a:xfrm>
            <a:off x="4648200" y="443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margen  =  178,4 kPa  /  215,3 kPa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7EB0BF0-1B38-8B5F-C957-ECBDCE69B617}"/>
              </a:ext>
            </a:extLst>
          </p:cNvPr>
          <p:cNvSpPr/>
          <p:nvPr/>
        </p:nvSpPr>
        <p:spPr>
          <a:xfrm>
            <a:off x="8229600" y="3048000"/>
            <a:ext cx="3352800" cy="1320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6AAC880-E404-D90B-BDBA-85B7D9C0BAC2}"/>
              </a:ext>
            </a:extLst>
          </p:cNvPr>
          <p:cNvSpPr/>
          <p:nvPr/>
        </p:nvSpPr>
        <p:spPr>
          <a:xfrm>
            <a:off x="8229600" y="3048000"/>
            <a:ext cx="38100" cy="1320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BA65B83-A056-1F91-0A87-EFABCD9DF16F}"/>
              </a:ext>
            </a:extLst>
          </p:cNvPr>
          <p:cNvSpPr txBox="1"/>
          <p:nvPr/>
        </p:nvSpPr>
        <p:spPr>
          <a:xfrm>
            <a:off x="8432800" y="3162300"/>
            <a:ext cx="297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CON LA CARGA DE HOY  ·  620 KN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8C1E4A0-C260-AF14-537D-17C8BFAE5494}"/>
              </a:ext>
            </a:extLst>
          </p:cNvPr>
          <p:cNvSpPr/>
          <p:nvPr/>
        </p:nvSpPr>
        <p:spPr>
          <a:xfrm>
            <a:off x="9144000" y="3429000"/>
            <a:ext cx="2159000" cy="190500"/>
          </a:xfrm>
          <a:prstGeom prst="rect">
            <a:avLst/>
          </a:prstGeom>
          <a:solidFill>
            <a:srgbClr val="F5F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4800D07-22C0-E65C-9F82-1AF24E16DCCA}"/>
              </a:ext>
            </a:extLst>
          </p:cNvPr>
          <p:cNvSpPr/>
          <p:nvPr/>
        </p:nvSpPr>
        <p:spPr>
          <a:xfrm>
            <a:off x="9144000" y="3429000"/>
            <a:ext cx="1791970" cy="190500"/>
          </a:xfrm>
          <a:prstGeom prst="rect">
            <a:avLst/>
          </a:prstGeom>
          <a:solidFill>
            <a:srgbClr val="4C5F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112C54C-2354-588C-BFA5-DED7FDAF3E8E}"/>
              </a:ext>
            </a:extLst>
          </p:cNvPr>
          <p:cNvSpPr txBox="1"/>
          <p:nvPr/>
        </p:nvSpPr>
        <p:spPr>
          <a:xfrm>
            <a:off x="8356600" y="3429000"/>
            <a:ext cx="736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q_adm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56EE6EE-9444-49F7-CF39-7D9AA5143F51}"/>
              </a:ext>
            </a:extLst>
          </p:cNvPr>
          <p:cNvSpPr txBox="1"/>
          <p:nvPr/>
        </p:nvSpPr>
        <p:spPr>
          <a:xfrm>
            <a:off x="9194800" y="3429000"/>
            <a:ext cx="2057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00">
                <a:solidFill>
                  <a:srgbClr val="FFFFFF"/>
                </a:solidFill>
                <a:latin typeface="Segoe UI Semibold" panose="020B0702040204020203" pitchFamily="34" charset="0"/>
              </a:rPr>
              <a:t>178,4 kPa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9742A0D-527B-4496-D9F9-8EAA7B817AC1}"/>
              </a:ext>
            </a:extLst>
          </p:cNvPr>
          <p:cNvSpPr/>
          <p:nvPr/>
        </p:nvSpPr>
        <p:spPr>
          <a:xfrm>
            <a:off x="9144000" y="3708400"/>
            <a:ext cx="2159000" cy="190500"/>
          </a:xfrm>
          <a:prstGeom prst="rect">
            <a:avLst/>
          </a:prstGeom>
          <a:solidFill>
            <a:srgbClr val="F5F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D83E981-C7DF-C871-B581-F1EE939C73EE}"/>
              </a:ext>
            </a:extLst>
          </p:cNvPr>
          <p:cNvSpPr/>
          <p:nvPr/>
        </p:nvSpPr>
        <p:spPr>
          <a:xfrm>
            <a:off x="9144000" y="3708400"/>
            <a:ext cx="2159000" cy="190500"/>
          </a:xfrm>
          <a:prstGeom prst="rect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C580534-8934-14D0-A1E7-71CD300D20C0}"/>
              </a:ext>
            </a:extLst>
          </p:cNvPr>
          <p:cNvSpPr txBox="1"/>
          <p:nvPr/>
        </p:nvSpPr>
        <p:spPr>
          <a:xfrm>
            <a:off x="8356600" y="3708400"/>
            <a:ext cx="736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q_aplicada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6B609FA-A3BE-0006-B468-74B686130D4B}"/>
              </a:ext>
            </a:extLst>
          </p:cNvPr>
          <p:cNvSpPr txBox="1"/>
          <p:nvPr/>
        </p:nvSpPr>
        <p:spPr>
          <a:xfrm>
            <a:off x="9194800" y="3708400"/>
            <a:ext cx="2057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00">
                <a:solidFill>
                  <a:srgbClr val="FFFFFF"/>
                </a:solidFill>
                <a:latin typeface="Segoe UI Semibold" panose="020B0702040204020203" pitchFamily="34" charset="0"/>
              </a:rPr>
              <a:t>215,3 kPa  ·  margen 0,83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BCB2B6B-9BE5-60C0-C948-9557032EB8AF}"/>
              </a:ext>
            </a:extLst>
          </p:cNvPr>
          <p:cNvSpPr/>
          <p:nvPr/>
        </p:nvSpPr>
        <p:spPr>
          <a:xfrm>
            <a:off x="609600" y="5029200"/>
            <a:ext cx="38100" cy="406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14AE476-DFB3-CF79-5923-F710DD6FE59C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A51990F-8C85-0AB1-0151-DA3B1AC177D6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Este es el hallazgo del caso: </a:t>
            </a:r>
            <a:r>
              <a:rPr lang="es-MX" sz="1050" b="1">
                <a:solidFill>
                  <a:srgbClr val="5A5248"/>
                </a:solidFill>
                <a:latin typeface="Segoe UI Semibold" panose="020B0702040204020203" pitchFamily="34" charset="0"/>
              </a:rPr>
              <a:t>la zapata está por encima de su carga admisible desde el día que se construyó</a:t>
            </a:r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, y nadie lo había comprobado.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Resultado_1">
            <a:extLst>
              <a:ext uri="{FF2B5EF4-FFF2-40B4-BE49-F238E27FC236}">
                <a16:creationId xmlns:a16="http://schemas.microsoft.com/office/drawing/2014/main" id="{5172C6E3-0226-29D5-D0FE-53D21F4EE4DD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600">
                <a:solidFill>
                  <a:srgbClr val="FFFFFF"/>
                </a:solidFill>
                <a:latin typeface="Bahnschrift SemiBold" panose="020B0502040204020203" pitchFamily="34" charset="0"/>
              </a:rPr>
              <a:t>margen = 0,83     ·     NO CUMPLE, y lleva veintiocho años así</a:t>
            </a:r>
            <a:endParaRPr lang="es-BO" sz="16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2AEE262-52D1-3139-0F0C-570B472084AC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§6, evaluación de lo existente frente a la demanda.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1D8AB23-F82E-C938-CB23-12C1FC1FA475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4A85A75-91FC-04FC-092D-693F60E50507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5196852-110F-B893-230C-6F9019C95C90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PageNo">
            <a:extLst>
              <a:ext uri="{FF2B5EF4-FFF2-40B4-BE49-F238E27FC236}">
                <a16:creationId xmlns:a16="http://schemas.microsoft.com/office/drawing/2014/main" id="{B9D3404F-6E29-5DD2-3418-394D23643AE5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29 / 38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255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D05B0D3-A1C2-5A30-D2BE-888ECB12F8C4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7  ·  PASO 3 DE 5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71FD83A-0D1F-67D7-4834-04191F2753C6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Y cuánta le daremos con el uso nuevo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4B02F4C-F270-35A4-07FA-718895A6FA72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60D878E-95DC-5944-12EE-4F0A139C7586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50266FA-4AA1-5AB6-B842-13F2FC30E7C0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¿Y con la carga del cambio de uso? Esta es la comprobación que de verdad decide.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76230-4108-11B3-A05F-0F2FA0CF1BBF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BO" sz="1700">
                <a:solidFill>
                  <a:srgbClr val="FFFFFF"/>
                </a:solidFill>
                <a:latin typeface="Bahnschrift SemiBold" panose="020B0502040204020203" pitchFamily="34" charset="0"/>
              </a:rPr>
              <a:t>q_aplicada  =  ( P_futura  +  peso propio )  /  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04BEE3-1EC6-AF69-9D37-72E731CB1856}"/>
              </a:ext>
            </a:extLst>
          </p:cNvPr>
          <p:cNvSpPr/>
          <p:nvPr/>
        </p:nvSpPr>
        <p:spPr>
          <a:xfrm>
            <a:off x="609600" y="2209800"/>
            <a:ext cx="38100" cy="508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2B9D70-44FE-AE99-3099-7DD2938DBFA1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1B37F4B-820E-14D4-B453-57C59B854B2D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La misma cuenta del paso 2 con la carga futura. Es la que de verdad decide, porque el encargo es un cambio de uso: lo que hay que comprobar no es lo que hay, sino lo que va a haber.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7764EC-9B68-D52B-B0ED-030BF4E5FF24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66CF06A-6D9D-368D-1059-D2F03B51EF36}"/>
              </a:ext>
            </a:extLst>
          </p:cNvPr>
          <p:cNvSpPr/>
          <p:nvPr/>
        </p:nvSpPr>
        <p:spPr>
          <a:xfrm>
            <a:off x="609600" y="3048000"/>
            <a:ext cx="38100" cy="4953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EC4769F-B888-5007-68A8-FC1555F2BB0D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P = 860 kN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01A8047-367B-7A50-0D86-F91010C5D768}"/>
              </a:ext>
            </a:extLst>
          </p:cNvPr>
          <p:cNvSpPr txBox="1"/>
          <p:nvPr/>
        </p:nvSpPr>
        <p:spPr>
          <a:xfrm>
            <a:off x="762000" y="32131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Carga de servicio tras pasar a almacenamiento pesado. Un 39 % más que la actual.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ED86BB4-40B3-962C-3323-511E8773D2A5}"/>
              </a:ext>
            </a:extLst>
          </p:cNvPr>
          <p:cNvSpPr/>
          <p:nvPr/>
        </p:nvSpPr>
        <p:spPr>
          <a:xfrm>
            <a:off x="609600" y="3670300"/>
            <a:ext cx="38100" cy="4953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8209867-E5F0-CD42-9B50-AA76C62FF864}"/>
              </a:ext>
            </a:extLst>
          </p:cNvPr>
          <p:cNvSpPr txBox="1"/>
          <p:nvPr/>
        </p:nvSpPr>
        <p:spPr>
          <a:xfrm>
            <a:off x="762000" y="36703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Peso propio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7C2F15A-4886-27DB-130B-F7078F414B20}"/>
              </a:ext>
            </a:extLst>
          </p:cNvPr>
          <p:cNvSpPr txBox="1"/>
          <p:nvPr/>
        </p:nvSpPr>
        <p:spPr>
          <a:xfrm>
            <a:off x="762000" y="38354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Los mismos 77,5 kN del paso 2: la zapata no cambia.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4E65B74-3E32-CDE8-2AF0-17C92881F914}"/>
              </a:ext>
            </a:extLst>
          </p:cNvPr>
          <p:cNvSpPr/>
          <p:nvPr/>
        </p:nvSpPr>
        <p:spPr>
          <a:xfrm>
            <a:off x="609600" y="4292600"/>
            <a:ext cx="38100" cy="4953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2FB9C09-BE48-20DE-20D7-F63E995B68B9}"/>
              </a:ext>
            </a:extLst>
          </p:cNvPr>
          <p:cNvSpPr txBox="1"/>
          <p:nvPr/>
        </p:nvSpPr>
        <p:spPr>
          <a:xfrm>
            <a:off x="762000" y="42926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q_adm = 178,4 kPa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1E7390D-6943-0BFE-A6A9-59C10E075100}"/>
              </a:ext>
            </a:extLst>
          </p:cNvPr>
          <p:cNvSpPr txBox="1"/>
          <p:nvPr/>
        </p:nvSpPr>
        <p:spPr>
          <a:xfrm>
            <a:off x="762000" y="44577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Tampoco cambia: el terreno y la geometría son los mismos.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54E75BB-C848-FFAB-5C7D-1D8093E48C44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2E8567D-1EF8-B3AC-B4E8-B268DB35397F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8129C21-42EA-2B1A-14E1-0F5F3FDDF7C5}"/>
              </a:ext>
            </a:extLst>
          </p:cNvPr>
          <p:cNvSpPr txBox="1"/>
          <p:nvPr/>
        </p:nvSpPr>
        <p:spPr>
          <a:xfrm>
            <a:off x="4648200" y="316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n-US" sz="1150">
                <a:solidFill>
                  <a:srgbClr val="241F18"/>
                </a:solidFill>
                <a:latin typeface="Segoe UI" panose="020B0502040204020203" pitchFamily="34" charset="0"/>
              </a:rPr>
              <a:t>P_total  =  860 + 77,5  =  937,5 kN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27BAFCD-EFF9-7372-94E9-211C6915FC9C}"/>
              </a:ext>
            </a:extLst>
          </p:cNvPr>
          <p:cNvSpPr txBox="1"/>
          <p:nvPr/>
        </p:nvSpPr>
        <p:spPr>
          <a:xfrm>
            <a:off x="4648200" y="3479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q_aplicada  =  937,5 kN  /  3,24 m²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31BC4C5-B567-B1DA-C98E-10073973AF23}"/>
              </a:ext>
            </a:extLst>
          </p:cNvPr>
          <p:cNvSpPr txBox="1"/>
          <p:nvPr/>
        </p:nvSpPr>
        <p:spPr>
          <a:xfrm>
            <a:off x="4648200" y="3797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q_aplicada  =  289,4 kPa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47551D0-48CF-E177-8F1C-0EEB0BE2F40F}"/>
              </a:ext>
            </a:extLst>
          </p:cNvPr>
          <p:cNvSpPr txBox="1"/>
          <p:nvPr/>
        </p:nvSpPr>
        <p:spPr>
          <a:xfrm>
            <a:off x="4648200" y="4114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045BD23-2F67-74B9-0EF1-86F8C9989CFC}"/>
              </a:ext>
            </a:extLst>
          </p:cNvPr>
          <p:cNvSpPr txBox="1"/>
          <p:nvPr/>
        </p:nvSpPr>
        <p:spPr>
          <a:xfrm>
            <a:off x="4648200" y="443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margen  =  178,4 / 289,4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9AE879A-9819-3C1D-4983-94AE03752194}"/>
              </a:ext>
            </a:extLst>
          </p:cNvPr>
          <p:cNvSpPr/>
          <p:nvPr/>
        </p:nvSpPr>
        <p:spPr>
          <a:xfrm>
            <a:off x="8229600" y="3048000"/>
            <a:ext cx="3352800" cy="1320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E0AE13F-736D-AC0C-E61C-DAD5B11333CD}"/>
              </a:ext>
            </a:extLst>
          </p:cNvPr>
          <p:cNvSpPr/>
          <p:nvPr/>
        </p:nvSpPr>
        <p:spPr>
          <a:xfrm>
            <a:off x="8229600" y="3048000"/>
            <a:ext cx="38100" cy="1320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05E86DD-AC36-02BE-1FC9-15605096C6B0}"/>
              </a:ext>
            </a:extLst>
          </p:cNvPr>
          <p:cNvSpPr txBox="1"/>
          <p:nvPr/>
        </p:nvSpPr>
        <p:spPr>
          <a:xfrm>
            <a:off x="8432800" y="3162300"/>
            <a:ext cx="297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CON EL CAMBIO DE USO  ·  860 KN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D860E49-7620-4752-2BA4-1699AACB61E1}"/>
              </a:ext>
            </a:extLst>
          </p:cNvPr>
          <p:cNvSpPr/>
          <p:nvPr/>
        </p:nvSpPr>
        <p:spPr>
          <a:xfrm>
            <a:off x="9144000" y="3429000"/>
            <a:ext cx="2159000" cy="190500"/>
          </a:xfrm>
          <a:prstGeom prst="rect">
            <a:avLst/>
          </a:prstGeom>
          <a:solidFill>
            <a:srgbClr val="F5F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69F898F-CA54-9E9C-A6A3-3AACA9FD34A4}"/>
              </a:ext>
            </a:extLst>
          </p:cNvPr>
          <p:cNvSpPr/>
          <p:nvPr/>
        </p:nvSpPr>
        <p:spPr>
          <a:xfrm>
            <a:off x="9144000" y="3429000"/>
            <a:ext cx="1338580" cy="190500"/>
          </a:xfrm>
          <a:prstGeom prst="rect">
            <a:avLst/>
          </a:prstGeom>
          <a:solidFill>
            <a:srgbClr val="4C5F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5A087EC-F43C-A56E-7986-6D63076B3D9E}"/>
              </a:ext>
            </a:extLst>
          </p:cNvPr>
          <p:cNvSpPr txBox="1"/>
          <p:nvPr/>
        </p:nvSpPr>
        <p:spPr>
          <a:xfrm>
            <a:off x="8356600" y="3429000"/>
            <a:ext cx="736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q_adm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B05C8B8-9ED9-7B78-4005-B1F8E1532DD2}"/>
              </a:ext>
            </a:extLst>
          </p:cNvPr>
          <p:cNvSpPr txBox="1"/>
          <p:nvPr/>
        </p:nvSpPr>
        <p:spPr>
          <a:xfrm>
            <a:off x="9194800" y="3429000"/>
            <a:ext cx="2057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00">
                <a:solidFill>
                  <a:srgbClr val="FFFFFF"/>
                </a:solidFill>
                <a:latin typeface="Segoe UI Semibold" panose="020B0702040204020203" pitchFamily="34" charset="0"/>
              </a:rPr>
              <a:t>178,4 kPa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04589A9-6546-F272-B102-900C5A2EDDDA}"/>
              </a:ext>
            </a:extLst>
          </p:cNvPr>
          <p:cNvSpPr/>
          <p:nvPr/>
        </p:nvSpPr>
        <p:spPr>
          <a:xfrm>
            <a:off x="9144000" y="3708400"/>
            <a:ext cx="2159000" cy="190500"/>
          </a:xfrm>
          <a:prstGeom prst="rect">
            <a:avLst/>
          </a:prstGeom>
          <a:solidFill>
            <a:srgbClr val="F5F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AD96B49-61BA-2B07-C765-1407C34D6AE5}"/>
              </a:ext>
            </a:extLst>
          </p:cNvPr>
          <p:cNvSpPr/>
          <p:nvPr/>
        </p:nvSpPr>
        <p:spPr>
          <a:xfrm>
            <a:off x="9144000" y="3708400"/>
            <a:ext cx="2159000" cy="190500"/>
          </a:xfrm>
          <a:prstGeom prst="rect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488AFF-74E6-AE46-1A8F-768912DAFF42}"/>
              </a:ext>
            </a:extLst>
          </p:cNvPr>
          <p:cNvSpPr txBox="1"/>
          <p:nvPr/>
        </p:nvSpPr>
        <p:spPr>
          <a:xfrm>
            <a:off x="8356600" y="3708400"/>
            <a:ext cx="736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q_aplicada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51A6739-7BE2-C7C8-42F5-D0B8E0DBA84E}"/>
              </a:ext>
            </a:extLst>
          </p:cNvPr>
          <p:cNvSpPr txBox="1"/>
          <p:nvPr/>
        </p:nvSpPr>
        <p:spPr>
          <a:xfrm>
            <a:off x="9194800" y="3708400"/>
            <a:ext cx="2057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00">
                <a:solidFill>
                  <a:srgbClr val="FFFFFF"/>
                </a:solidFill>
                <a:latin typeface="Segoe UI Semibold" panose="020B0702040204020203" pitchFamily="34" charset="0"/>
              </a:rPr>
              <a:t>289,4 kPa  ·  margen 0,62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2645285-8680-CE69-982C-1AA479217723}"/>
              </a:ext>
            </a:extLst>
          </p:cNvPr>
          <p:cNvSpPr/>
          <p:nvPr/>
        </p:nvSpPr>
        <p:spPr>
          <a:xfrm>
            <a:off x="609600" y="5029200"/>
            <a:ext cx="38100" cy="406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B9E27F0-F765-A7B6-7323-A713B2CD4555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CC32AF5-C944-CE2A-FBBD-25CD268C1B5F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Está a dos tercios de lo que necesita. No es un ajuste fino que se resuelva afinando hipótesis: es un déficit claro.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Resultado_1">
            <a:extLst>
              <a:ext uri="{FF2B5EF4-FFF2-40B4-BE49-F238E27FC236}">
                <a16:creationId xmlns:a16="http://schemas.microsoft.com/office/drawing/2014/main" id="{9F5F5693-8AEB-B004-4C30-88A1B16CCCBF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600">
                <a:solidFill>
                  <a:srgbClr val="FFFFFF"/>
                </a:solidFill>
                <a:latin typeface="Bahnschrift SemiBold" panose="020B0502040204020203" pitchFamily="34" charset="0"/>
              </a:rPr>
              <a:t>margen = 0,62     ·     hace falta un 61 % más de área de apoyo</a:t>
            </a:r>
            <a:endParaRPr lang="es-BO" sz="16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7DD5AB9-EF6E-8C8E-65E5-47FBA2B75A87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562 §6; NBDS-2023 para la combinación con el uso nuevo.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97F93494-8A2A-29D9-55E2-CC7AB83F6334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A506A47-2F2B-5031-E83F-C1751D69E3BF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D621A86-2234-2447-E51E-EA21A166F1E9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PageNo">
            <a:extLst>
              <a:ext uri="{FF2B5EF4-FFF2-40B4-BE49-F238E27FC236}">
                <a16:creationId xmlns:a16="http://schemas.microsoft.com/office/drawing/2014/main" id="{81D73047-A339-59C4-7595-EBDEF28B01EF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30 / 38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285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D715962-57C8-F066-5180-3B94A210F5A2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7  ·  PASO 4 DE 5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A87CFD7-18E3-3F39-D0C9-BBBBECEF9759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Cuánto hay que ensanchar la zapata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AAD6EDA-358E-2C47-2B4E-9A357736F4D6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F7C60AD-B4E2-C145-719A-677229F4C6F4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1C21ED7-ED48-A189-B969-85CE970D8447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¿Qué ancho hay que darle a la zapata para que cumpla, y con qué margen?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F147E1-E53D-46AB-FFA1-6D32CBF8B69F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pt-BR" sz="1700">
                <a:solidFill>
                  <a:srgbClr val="FFFFFF"/>
                </a:solidFill>
                <a:latin typeface="Bahnschrift SemiBold" panose="020B0502040204020203" pitchFamily="34" charset="0"/>
              </a:rPr>
              <a:t>P / B²  +  ( h_z · γ_h  +  h_r · γ_t )   ≤   q_adm</a:t>
            </a:r>
            <a:endParaRPr lang="es-BO" sz="17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64DF45-3C2B-12C4-68E4-9E72E8298C5D}"/>
              </a:ext>
            </a:extLst>
          </p:cNvPr>
          <p:cNvSpPr/>
          <p:nvPr/>
        </p:nvSpPr>
        <p:spPr>
          <a:xfrm>
            <a:off x="609600" y="2209800"/>
            <a:ext cx="38100" cy="508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5D147E-D90B-C424-BFC4-241F709F5479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F89843-0FBB-B6C5-D6EA-D6C34E36EDF0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La misma comprobación del paso 2, escrita con B como incógnita. El peso propio por metro cuadrado no depende de B, así que sale fuera de la cuenta; lo que sí depende de B es el tercer sumando de Terzaghi, y hay que rehacerlo al final.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F0758B-24DE-431D-CDE7-583E09E888D8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10CDE11-1E3B-B0A6-CEC2-75DCA3D2FF2C}"/>
              </a:ext>
            </a:extLst>
          </p:cNvPr>
          <p:cNvSpPr/>
          <p:nvPr/>
        </p:nvSpPr>
        <p:spPr>
          <a:xfrm>
            <a:off x="609600" y="3048000"/>
            <a:ext cx="38100" cy="4953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E0ED535-4915-ADAD-CC24-D1CE7ED97A80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P = 860 kN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867300-3764-B4D1-FB54-E89B179E03A9}"/>
              </a:ext>
            </a:extLst>
          </p:cNvPr>
          <p:cNvSpPr txBox="1"/>
          <p:nvPr/>
        </p:nvSpPr>
        <p:spPr>
          <a:xfrm>
            <a:off x="762000" y="32131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La carga de servicio futura, sin el peso propio: ahora depende de B.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A0016E-0C06-E48D-E151-8B9B80B87579}"/>
              </a:ext>
            </a:extLst>
          </p:cNvPr>
          <p:cNvSpPr/>
          <p:nvPr/>
        </p:nvSpPr>
        <p:spPr>
          <a:xfrm>
            <a:off x="609600" y="3670300"/>
            <a:ext cx="38100" cy="4953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6D8B2BC-37E8-54CA-01D2-ABE55C64B3A1}"/>
              </a:ext>
            </a:extLst>
          </p:cNvPr>
          <p:cNvSpPr txBox="1"/>
          <p:nvPr/>
        </p:nvSpPr>
        <p:spPr>
          <a:xfrm>
            <a:off x="762000" y="36703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23,9 kPa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586DF84-369B-E374-25FE-B9C631627E17}"/>
              </a:ext>
            </a:extLst>
          </p:cNvPr>
          <p:cNvSpPr txBox="1"/>
          <p:nvPr/>
        </p:nvSpPr>
        <p:spPr>
          <a:xfrm>
            <a:off x="762000" y="38354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Peso propio por m² del bloque nuevo: 0,50 × 24 + 0,70 × 17. No cambia con B.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E33A4BB-F190-2FB6-799B-5DAC20771B97}"/>
              </a:ext>
            </a:extLst>
          </p:cNvPr>
          <p:cNvSpPr/>
          <p:nvPr/>
        </p:nvSpPr>
        <p:spPr>
          <a:xfrm>
            <a:off x="609600" y="4292600"/>
            <a:ext cx="38100" cy="4953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EDB733B-AB9D-7046-2B6E-6E0429E41192}"/>
              </a:ext>
            </a:extLst>
          </p:cNvPr>
          <p:cNvSpPr txBox="1"/>
          <p:nvPr/>
        </p:nvSpPr>
        <p:spPr>
          <a:xfrm>
            <a:off x="762000" y="42926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q_adm = 178,4 kPa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E672EF-DABD-FEBC-8884-3756EEFD3E17}"/>
              </a:ext>
            </a:extLst>
          </p:cNvPr>
          <p:cNvSpPr txBox="1"/>
          <p:nvPr/>
        </p:nvSpPr>
        <p:spPr>
          <a:xfrm>
            <a:off x="762000" y="44577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Ojo: al crecer B crece también el tercer sumando de Terzaghi, y q_adm sube.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AD7FF32-84C4-83C5-250B-5B740E7867E6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75A81E6-7E78-9D01-9C19-DAA8548EC6AF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3394EBF-3135-D486-AD04-BF78B93C23C1}"/>
              </a:ext>
            </a:extLst>
          </p:cNvPr>
          <p:cNvSpPr txBox="1"/>
          <p:nvPr/>
        </p:nvSpPr>
        <p:spPr>
          <a:xfrm>
            <a:off x="4648200" y="31623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860 / B²  +  23,9   ≤   178,4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EAF8D61-39F8-84D0-AC06-3DA4736969BC}"/>
              </a:ext>
            </a:extLst>
          </p:cNvPr>
          <p:cNvSpPr txBox="1"/>
          <p:nvPr/>
        </p:nvSpPr>
        <p:spPr>
          <a:xfrm>
            <a:off x="4648200" y="34417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860 / B²  ≤  154,5   →   B²  ≥  5,566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9E4D746-86B3-1784-59DE-44F161B6D9A1}"/>
              </a:ext>
            </a:extLst>
          </p:cNvPr>
          <p:cNvSpPr txBox="1"/>
          <p:nvPr/>
        </p:nvSpPr>
        <p:spPr>
          <a:xfrm>
            <a:off x="4648200" y="37211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B  ≥  2,36 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1994809-6BF8-F2F5-E6DE-488E01DCD202}"/>
              </a:ext>
            </a:extLst>
          </p:cNvPr>
          <p:cNvSpPr txBox="1"/>
          <p:nvPr/>
        </p:nvSpPr>
        <p:spPr>
          <a:xfrm>
            <a:off x="4648200" y="40005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606D892-C5B4-1972-C414-C0C09A67266C}"/>
              </a:ext>
            </a:extLst>
          </p:cNvPr>
          <p:cNvSpPr txBox="1"/>
          <p:nvPr/>
        </p:nvSpPr>
        <p:spPr>
          <a:xfrm>
            <a:off x="4648200" y="42799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B = 2,40 → 149,3 + 23,9 = 173,2 kPa  ·  1,03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51BA622-44B8-D8E3-6E44-227CBE4AA46B}"/>
              </a:ext>
            </a:extLst>
          </p:cNvPr>
          <p:cNvSpPr txBox="1"/>
          <p:nvPr/>
        </p:nvSpPr>
        <p:spPr>
          <a:xfrm>
            <a:off x="4648200" y="45593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B = 2,50 → 137,6 + 23,9 = 161,5 kPa  ·  1,10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51F9D32-9838-1A1E-5F9D-92EFBDF905A7}"/>
              </a:ext>
            </a:extLst>
          </p:cNvPr>
          <p:cNvSpPr/>
          <p:nvPr/>
        </p:nvSpPr>
        <p:spPr>
          <a:xfrm>
            <a:off x="8229600" y="3048000"/>
            <a:ext cx="3352800" cy="1320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04D69DE-26A1-1F7E-BD5F-331D0597C489}"/>
              </a:ext>
            </a:extLst>
          </p:cNvPr>
          <p:cNvSpPr/>
          <p:nvPr/>
        </p:nvSpPr>
        <p:spPr>
          <a:xfrm>
            <a:off x="8229600" y="3048000"/>
            <a:ext cx="38100" cy="1320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A0FF8B4-CDED-9644-B2E3-ABCA1CED8B21}"/>
              </a:ext>
            </a:extLst>
          </p:cNvPr>
          <p:cNvSpPr txBox="1"/>
          <p:nvPr/>
        </p:nvSpPr>
        <p:spPr>
          <a:xfrm>
            <a:off x="8432800" y="3162300"/>
            <a:ext cx="297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EL ENSANCHE, EN PLANTA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8CDA6BA-ECF0-5580-3683-8F90D5A857EC}"/>
              </a:ext>
            </a:extLst>
          </p:cNvPr>
          <p:cNvSpPr/>
          <p:nvPr/>
        </p:nvSpPr>
        <p:spPr>
          <a:xfrm>
            <a:off x="8483600" y="3454400"/>
            <a:ext cx="609600" cy="609600"/>
          </a:xfrm>
          <a:prstGeom prst="rect">
            <a:avLst/>
          </a:prstGeom>
          <a:solidFill>
            <a:srgbClr val="F0E7D5"/>
          </a:solidFill>
          <a:ln w="12700">
            <a:solidFill>
              <a:srgbClr val="6A4F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B948A94-EF5A-849D-484B-FF3E22BB092D}"/>
              </a:ext>
            </a:extLst>
          </p:cNvPr>
          <p:cNvSpPr/>
          <p:nvPr/>
        </p:nvSpPr>
        <p:spPr>
          <a:xfrm>
            <a:off x="8568944" y="3539744"/>
            <a:ext cx="438912" cy="438912"/>
          </a:xfrm>
          <a:prstGeom prst="rect">
            <a:avLst/>
          </a:prstGeom>
          <a:solidFill>
            <a:srgbClr val="C9C3B4"/>
          </a:solidFill>
          <a:ln w="9525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5628DC6-7333-8F4E-BB23-B16A71558FF3}"/>
              </a:ext>
            </a:extLst>
          </p:cNvPr>
          <p:cNvSpPr txBox="1"/>
          <p:nvPr/>
        </p:nvSpPr>
        <p:spPr>
          <a:xfrm>
            <a:off x="8568944" y="3695700"/>
            <a:ext cx="438912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1C1813"/>
                </a:solidFill>
                <a:latin typeface="Segoe UI Semibold" panose="020B0702040204020203" pitchFamily="34" charset="0"/>
              </a:rPr>
              <a:t>1,80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A370D71E-D7EF-1791-D204-E502127211D9}"/>
              </a:ext>
            </a:extLst>
          </p:cNvPr>
          <p:cNvCxnSpPr/>
          <p:nvPr/>
        </p:nvCxnSpPr>
        <p:spPr>
          <a:xfrm>
            <a:off x="8483600" y="4114800"/>
            <a:ext cx="0" cy="101600"/>
          </a:xfrm>
          <a:prstGeom prst="line">
            <a:avLst/>
          </a:prstGeom>
          <a:ln w="9525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54301102-741A-582B-1376-B0E13D5AB707}"/>
              </a:ext>
            </a:extLst>
          </p:cNvPr>
          <p:cNvCxnSpPr/>
          <p:nvPr/>
        </p:nvCxnSpPr>
        <p:spPr>
          <a:xfrm>
            <a:off x="9093200" y="4114800"/>
            <a:ext cx="0" cy="101600"/>
          </a:xfrm>
          <a:prstGeom prst="line">
            <a:avLst/>
          </a:prstGeom>
          <a:ln w="9525">
            <a:solidFill>
              <a:srgbClr val="4A555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2B4C2E06-C928-C593-BF38-B3C77AE43A9B}"/>
              </a:ext>
            </a:extLst>
          </p:cNvPr>
          <p:cNvCxnSpPr/>
          <p:nvPr/>
        </p:nvCxnSpPr>
        <p:spPr>
          <a:xfrm flipH="1">
            <a:off x="8483600" y="4165600"/>
            <a:ext cx="304800" cy="0"/>
          </a:xfrm>
          <a:prstGeom prst="line">
            <a:avLst/>
          </a:prstGeom>
          <a:ln w="11430">
            <a:solidFill>
              <a:srgbClr val="4A555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393C6E8C-A5AB-7F8D-7479-F84BDE7A99BE}"/>
              </a:ext>
            </a:extLst>
          </p:cNvPr>
          <p:cNvCxnSpPr/>
          <p:nvPr/>
        </p:nvCxnSpPr>
        <p:spPr>
          <a:xfrm>
            <a:off x="8788400" y="4165600"/>
            <a:ext cx="304800" cy="0"/>
          </a:xfrm>
          <a:prstGeom prst="line">
            <a:avLst/>
          </a:prstGeom>
          <a:ln w="11430">
            <a:solidFill>
              <a:srgbClr val="4A555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BE92EC3-6977-2393-7095-588AC5B675BE}"/>
              </a:ext>
            </a:extLst>
          </p:cNvPr>
          <p:cNvSpPr txBox="1"/>
          <p:nvPr/>
        </p:nvSpPr>
        <p:spPr>
          <a:xfrm>
            <a:off x="8356600" y="4216400"/>
            <a:ext cx="863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>
                <a:solidFill>
                  <a:srgbClr val="4A5559"/>
                </a:solidFill>
                <a:latin typeface="Segoe UI Semibold" panose="020B0702040204020203" pitchFamily="34" charset="0"/>
              </a:rPr>
              <a:t>B = 2,50 m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C9B761F-2E87-7D5C-8C9C-40D6F4FF0B8C}"/>
              </a:ext>
            </a:extLst>
          </p:cNvPr>
          <p:cNvSpPr txBox="1"/>
          <p:nvPr/>
        </p:nvSpPr>
        <p:spPr>
          <a:xfrm>
            <a:off x="9220200" y="3479800"/>
            <a:ext cx="223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600">
                <a:solidFill>
                  <a:srgbClr val="6A4F20"/>
                </a:solidFill>
                <a:latin typeface="Segoe UI" panose="020B0502040204020203" pitchFamily="34" charset="0"/>
              </a:rPr>
              <a:t>área nueva 3,01 m² de los 6,25 totales</a:t>
            </a:r>
            <a:endParaRPr lang="es-BO" sz="600">
              <a:solidFill>
                <a:srgbClr val="6A4F20"/>
              </a:solidFill>
              <a:latin typeface="Segoe UI" panose="020B0502040204020203" pitchFamily="34" charset="0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20E90942-6762-C974-D3C6-59F614703D91}"/>
              </a:ext>
            </a:extLst>
          </p:cNvPr>
          <p:cNvSpPr/>
          <p:nvPr/>
        </p:nvSpPr>
        <p:spPr>
          <a:xfrm>
            <a:off x="609600" y="5029200"/>
            <a:ext cx="38100" cy="406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AD15C13-E0BF-C737-26CD-6B7D67A4F7D7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6C1736D-B5CD-4863-02EE-0B578ED76C5C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El mínimo estricto es 2,36 m, pero 2,40 deja un margen de 1,03 que no es prudente en un recalce. Por diez centímetros más se pasa a 1,10.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4" name="Resultado_1">
            <a:extLst>
              <a:ext uri="{FF2B5EF4-FFF2-40B4-BE49-F238E27FC236}">
                <a16:creationId xmlns:a16="http://schemas.microsoft.com/office/drawing/2014/main" id="{0B83F75D-21FC-A809-A384-372335FCF091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600">
                <a:solidFill>
                  <a:srgbClr val="FFFFFF"/>
                </a:solidFill>
                <a:latin typeface="Bahnschrift SemiBold" panose="020B0502040204020203" pitchFamily="34" charset="0"/>
              </a:rPr>
              <a:t>Se adopta B = 2,50 m  ·  con el B nuevo q_adm sube a 181,9: margen 1,13</a:t>
            </a:r>
            <a:endParaRPr lang="es-BO" sz="16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8924A1F-E4EF-0DF6-C64D-E9BE34E4BCA2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938A7C"/>
                </a:solidFill>
                <a:latin typeface="Segoe UI" panose="020B0502040204020203" pitchFamily="34" charset="0"/>
              </a:rPr>
              <a:t>Fuente: Terzaghi (1943), tercer sumando proporcional a B.</a:t>
            </a: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7E7603F7-F607-C78D-1E75-5B079CD0299B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B312D1D-1C9F-C35F-FF6A-376F54C182E9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2A79F791-ABAB-7449-0A76-7EC68BF469A3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49" name="PageNo">
            <a:extLst>
              <a:ext uri="{FF2B5EF4-FFF2-40B4-BE49-F238E27FC236}">
                <a16:creationId xmlns:a16="http://schemas.microsoft.com/office/drawing/2014/main" id="{EB0F33EF-1BE2-1273-4EAE-AE0870062879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31 / 38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103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BF46B3-F1A6-F64D-18B2-26B219D8E930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7  ·  PASO 5 DE 5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1D08882-95E2-81F2-301C-3DE8B2A8D8AF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Cómo se cose lo nuevo con lo viejo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4997A50-5BA7-7573-EEBB-7BA10E185B07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F2FDA4D-D62A-F0E0-6EAF-9484758DB6FB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2F430C0-288F-49B6-CED4-CE4B437099C3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¿Cómo se consigue que la carga llegue al ensanche? Cosiendo la junta a cortante por fricción.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DC2C1B-B3ED-1D88-EC5A-6E773E321EFC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700">
                <a:solidFill>
                  <a:srgbClr val="FFFFFF"/>
                </a:solidFill>
                <a:latin typeface="Bahnschrift SemiBold" panose="020B0502040204020203" pitchFamily="34" charset="0"/>
              </a:rPr>
              <a:t>A_vf   ≥   V_u  /  ( φ · μ · f_y )</a:t>
            </a:r>
            <a:endParaRPr lang="es-BO" sz="17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C87CC0F-F85A-01CE-CAA7-5FF057703188}"/>
              </a:ext>
            </a:extLst>
          </p:cNvPr>
          <p:cNvSpPr/>
          <p:nvPr/>
        </p:nvSpPr>
        <p:spPr>
          <a:xfrm>
            <a:off x="609600" y="2209800"/>
            <a:ext cx="38100" cy="508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C170EDB-448C-2913-E3C0-683399511879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C83C2EC-E55F-C6F7-3D40-C3B38A93389E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ACI 318-19 §22.9, cortante por fricción. La junta entre hormigón viejo y nuevo no transmite tracción: transmite cortante por rozamiento, y el acero que la cose es el que genera la compresión normal que hace posible ese rozamiento.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90F0F7-F701-39A3-0BB3-7E9FDB4BA0C6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9312E66-E68E-38B9-BBFF-B9E18454A96A}"/>
              </a:ext>
            </a:extLst>
          </p:cNvPr>
          <p:cNvSpPr/>
          <p:nvPr/>
        </p:nvSpPr>
        <p:spPr>
          <a:xfrm>
            <a:off x="609600" y="3048000"/>
            <a:ext cx="38100" cy="3429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1ABEC2B-57C1-020E-8A9D-EF176E869A6A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V_u = 602 kN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9119BAD-1662-37FA-CFA0-1DD0C052F85F}"/>
              </a:ext>
            </a:extLst>
          </p:cNvPr>
          <p:cNvSpPr txBox="1"/>
          <p:nvPr/>
        </p:nvSpPr>
        <p:spPr>
          <a:xfrm>
            <a:off x="762000" y="32131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La parte de la carga mayorada que cruza la junta.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8F01CC1-8883-C2B3-6870-F06019631F14}"/>
              </a:ext>
            </a:extLst>
          </p:cNvPr>
          <p:cNvSpPr/>
          <p:nvPr/>
        </p:nvSpPr>
        <p:spPr>
          <a:xfrm>
            <a:off x="609600" y="3517900"/>
            <a:ext cx="38100" cy="3429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A8B8681-D9D4-AD36-FE46-565A8FF98E6D}"/>
              </a:ext>
            </a:extLst>
          </p:cNvPr>
          <p:cNvSpPr txBox="1"/>
          <p:nvPr/>
        </p:nvSpPr>
        <p:spPr>
          <a:xfrm>
            <a:off x="762000" y="35179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l-GR" sz="1000">
                <a:solidFill>
                  <a:srgbClr val="1C1813"/>
                </a:solidFill>
                <a:latin typeface="Segoe UI Semibold" panose="020B0702040204020203" pitchFamily="34" charset="0"/>
              </a:rPr>
              <a:t>μ = 1,0</a:t>
            </a:r>
            <a:endParaRPr lang="es-BO" sz="100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25C1049-70BA-C6CE-564E-2890A54F301C}"/>
              </a:ext>
            </a:extLst>
          </p:cNvPr>
          <p:cNvSpPr txBox="1"/>
          <p:nvPr/>
        </p:nvSpPr>
        <p:spPr>
          <a:xfrm>
            <a:off x="762000" y="3683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Junta endurecida, limpia y rugosa a 6 mm de amplitud.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7CAED59-E84A-13D0-78FE-8F622854907F}"/>
              </a:ext>
            </a:extLst>
          </p:cNvPr>
          <p:cNvSpPr/>
          <p:nvPr/>
        </p:nvSpPr>
        <p:spPr>
          <a:xfrm>
            <a:off x="609600" y="3987800"/>
            <a:ext cx="38100" cy="3429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EAC0C23-6232-7702-6B87-21813062846F}"/>
              </a:ext>
            </a:extLst>
          </p:cNvPr>
          <p:cNvSpPr txBox="1"/>
          <p:nvPr/>
        </p:nvSpPr>
        <p:spPr>
          <a:xfrm>
            <a:off x="762000" y="39878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l-GR" sz="1000">
                <a:solidFill>
                  <a:srgbClr val="1C1813"/>
                </a:solidFill>
                <a:latin typeface="Segoe UI Semibold" panose="020B0702040204020203" pitchFamily="34" charset="0"/>
              </a:rPr>
              <a:t>φ = 0,75</a:t>
            </a:r>
            <a:endParaRPr lang="es-BO" sz="100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E1E0DD8-C62F-64A4-B077-23B22BECA004}"/>
              </a:ext>
            </a:extLst>
          </p:cNvPr>
          <p:cNvSpPr txBox="1"/>
          <p:nvPr/>
        </p:nvSpPr>
        <p:spPr>
          <a:xfrm>
            <a:off x="762000" y="41529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Factor de reducción de resistencia para cortante.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A37BF94-38B3-F726-F438-902789E26766}"/>
              </a:ext>
            </a:extLst>
          </p:cNvPr>
          <p:cNvSpPr/>
          <p:nvPr/>
        </p:nvSpPr>
        <p:spPr>
          <a:xfrm>
            <a:off x="609600" y="4457700"/>
            <a:ext cx="38100" cy="3429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9D8639-470A-F760-277B-D930A68D075F}"/>
              </a:ext>
            </a:extLst>
          </p:cNvPr>
          <p:cNvSpPr txBox="1"/>
          <p:nvPr/>
        </p:nvSpPr>
        <p:spPr>
          <a:xfrm>
            <a:off x="762000" y="44577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f_y = 420 MPa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68A9575-A332-C52A-F2C8-68D7E09A5DC8}"/>
              </a:ext>
            </a:extLst>
          </p:cNvPr>
          <p:cNvSpPr txBox="1"/>
          <p:nvPr/>
        </p:nvSpPr>
        <p:spPr>
          <a:xfrm>
            <a:off x="762000" y="46228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Acero de los conectores nuevos.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21C97C1-2134-B9BB-9D24-003098026826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DE99DC4-A864-2413-B2C9-560972C71985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90560B3-B4F6-38FF-585B-D6C16AE846F0}"/>
              </a:ext>
            </a:extLst>
          </p:cNvPr>
          <p:cNvSpPr txBox="1"/>
          <p:nvPr/>
        </p:nvSpPr>
        <p:spPr>
          <a:xfrm>
            <a:off x="4648200" y="31623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150">
                <a:solidFill>
                  <a:srgbClr val="241F18"/>
                </a:solidFill>
                <a:latin typeface="Segoe UI" panose="020B0502040204020203" pitchFamily="34" charset="0"/>
              </a:rPr>
              <a:t>área nueva  =  2,50² − 1,80²  =  3,01 m² de 6,25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F91F5CC-4557-3763-5C82-2D819333FB62}"/>
              </a:ext>
            </a:extLst>
          </p:cNvPr>
          <p:cNvSpPr txBox="1"/>
          <p:nvPr/>
        </p:nvSpPr>
        <p:spPr>
          <a:xfrm>
            <a:off x="4648200" y="34417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fracción  =  3,01 / 6,25  =  48 %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5C930CD-2421-9CBF-8255-F7F768E573F5}"/>
              </a:ext>
            </a:extLst>
          </p:cNvPr>
          <p:cNvSpPr txBox="1"/>
          <p:nvPr/>
        </p:nvSpPr>
        <p:spPr>
          <a:xfrm>
            <a:off x="4648200" y="37211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nl-NL" sz="1150">
                <a:solidFill>
                  <a:srgbClr val="241F18"/>
                </a:solidFill>
                <a:latin typeface="Segoe UI" panose="020B0502040204020203" pitchFamily="34" charset="0"/>
              </a:rPr>
              <a:t>V_u  =  1 250 kN × 0,48  =  602 kN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BE62CC4-324E-B9DC-7CFF-03EA5D0F47CA}"/>
              </a:ext>
            </a:extLst>
          </p:cNvPr>
          <p:cNvSpPr txBox="1"/>
          <p:nvPr/>
        </p:nvSpPr>
        <p:spPr>
          <a:xfrm>
            <a:off x="4648200" y="40005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F68F3FC-36CF-C7F6-82E0-0189AE95A444}"/>
              </a:ext>
            </a:extLst>
          </p:cNvPr>
          <p:cNvSpPr txBox="1"/>
          <p:nvPr/>
        </p:nvSpPr>
        <p:spPr>
          <a:xfrm>
            <a:off x="4648200" y="42799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pt-BR" sz="1150">
                <a:solidFill>
                  <a:srgbClr val="241F18"/>
                </a:solidFill>
                <a:latin typeface="Segoe UI" panose="020B0502040204020203" pitchFamily="34" charset="0"/>
              </a:rPr>
              <a:t>A_vf  =  602 000 N / (0,75 × 1,0 × 420 MPa)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408367F-D568-0EF2-47B3-2E09605CFAD1}"/>
              </a:ext>
            </a:extLst>
          </p:cNvPr>
          <p:cNvSpPr txBox="1"/>
          <p:nvPr/>
        </p:nvSpPr>
        <p:spPr>
          <a:xfrm>
            <a:off x="4648200" y="4559300"/>
            <a:ext cx="3124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pt-BR" sz="1150">
                <a:solidFill>
                  <a:srgbClr val="241F18"/>
                </a:solidFill>
                <a:latin typeface="Segoe UI" panose="020B0502040204020203" pitchFamily="34" charset="0"/>
              </a:rPr>
              <a:t>A_vf  =  1 911 mm²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03CECE1-F884-95E2-0F43-9E35B2DFF1BA}"/>
              </a:ext>
            </a:extLst>
          </p:cNvPr>
          <p:cNvSpPr/>
          <p:nvPr/>
        </p:nvSpPr>
        <p:spPr>
          <a:xfrm>
            <a:off x="8229600" y="3048000"/>
            <a:ext cx="3352800" cy="1320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1CEBD4A-6A49-D36C-475C-257C3877FC2D}"/>
              </a:ext>
            </a:extLst>
          </p:cNvPr>
          <p:cNvSpPr/>
          <p:nvPr/>
        </p:nvSpPr>
        <p:spPr>
          <a:xfrm>
            <a:off x="8229600" y="3048000"/>
            <a:ext cx="38100" cy="1320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BCC91D9-1CAA-55E6-BC5A-6B9D0761DBDC}"/>
              </a:ext>
            </a:extLst>
          </p:cNvPr>
          <p:cNvSpPr txBox="1"/>
          <p:nvPr/>
        </p:nvSpPr>
        <p:spPr>
          <a:xfrm>
            <a:off x="8432800" y="3162300"/>
            <a:ext cx="297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LOS CONECTORES EN EL PERÍMETRO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7469E0E-DD19-3284-7B26-18C482420AF1}"/>
              </a:ext>
            </a:extLst>
          </p:cNvPr>
          <p:cNvSpPr/>
          <p:nvPr/>
        </p:nvSpPr>
        <p:spPr>
          <a:xfrm>
            <a:off x="8483600" y="3454400"/>
            <a:ext cx="609600" cy="609600"/>
          </a:xfrm>
          <a:prstGeom prst="rect">
            <a:avLst/>
          </a:prstGeom>
          <a:solidFill>
            <a:srgbClr val="F0E7D5"/>
          </a:solidFill>
          <a:ln w="12700">
            <a:solidFill>
              <a:srgbClr val="6A4F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8EFDD94-1335-35CD-5DD0-1DC61747F52A}"/>
              </a:ext>
            </a:extLst>
          </p:cNvPr>
          <p:cNvSpPr/>
          <p:nvPr/>
        </p:nvSpPr>
        <p:spPr>
          <a:xfrm>
            <a:off x="8568944" y="3539744"/>
            <a:ext cx="438912" cy="438912"/>
          </a:xfrm>
          <a:prstGeom prst="rect">
            <a:avLst/>
          </a:prstGeom>
          <a:solidFill>
            <a:srgbClr val="C9C3B4"/>
          </a:solidFill>
          <a:ln w="9525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941C96BC-D4F3-ABFC-1B10-15F3B52580ED}"/>
              </a:ext>
            </a:extLst>
          </p:cNvPr>
          <p:cNvSpPr/>
          <p:nvPr/>
        </p:nvSpPr>
        <p:spPr>
          <a:xfrm>
            <a:off x="8537194" y="3507994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10C6628D-C322-851F-D97B-2CFE2BBB9448}"/>
              </a:ext>
            </a:extLst>
          </p:cNvPr>
          <p:cNvSpPr/>
          <p:nvPr/>
        </p:nvSpPr>
        <p:spPr>
          <a:xfrm>
            <a:off x="8537194" y="3946906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C7DEF880-288E-3A76-BE3B-0A0F9E719A14}"/>
              </a:ext>
            </a:extLst>
          </p:cNvPr>
          <p:cNvSpPr/>
          <p:nvPr/>
        </p:nvSpPr>
        <p:spPr>
          <a:xfrm>
            <a:off x="8537194" y="3507994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A0180EDA-AC56-1A8D-86D4-9E2FF3F1E530}"/>
              </a:ext>
            </a:extLst>
          </p:cNvPr>
          <p:cNvSpPr/>
          <p:nvPr/>
        </p:nvSpPr>
        <p:spPr>
          <a:xfrm>
            <a:off x="8976106" y="3507994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F147E35-D747-405D-CD68-A3A786631C88}"/>
              </a:ext>
            </a:extLst>
          </p:cNvPr>
          <p:cNvSpPr/>
          <p:nvPr/>
        </p:nvSpPr>
        <p:spPr>
          <a:xfrm>
            <a:off x="8646922" y="3507994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3C47E903-8CA1-CE87-6D57-1DEDF0570CDE}"/>
              </a:ext>
            </a:extLst>
          </p:cNvPr>
          <p:cNvSpPr/>
          <p:nvPr/>
        </p:nvSpPr>
        <p:spPr>
          <a:xfrm>
            <a:off x="8646922" y="3946906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8832F5BC-EAB4-2C87-6063-A8488604C842}"/>
              </a:ext>
            </a:extLst>
          </p:cNvPr>
          <p:cNvSpPr/>
          <p:nvPr/>
        </p:nvSpPr>
        <p:spPr>
          <a:xfrm>
            <a:off x="8537194" y="3617722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C93858CD-0E4C-317E-9B47-3FC579C687DD}"/>
              </a:ext>
            </a:extLst>
          </p:cNvPr>
          <p:cNvSpPr/>
          <p:nvPr/>
        </p:nvSpPr>
        <p:spPr>
          <a:xfrm>
            <a:off x="8976106" y="3617722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E0626157-D09D-8FF9-1DF6-66DDDDD74B3D}"/>
              </a:ext>
            </a:extLst>
          </p:cNvPr>
          <p:cNvSpPr/>
          <p:nvPr/>
        </p:nvSpPr>
        <p:spPr>
          <a:xfrm>
            <a:off x="8756650" y="3507994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1943014E-F6CB-D3E7-C950-AF6EA53009B5}"/>
              </a:ext>
            </a:extLst>
          </p:cNvPr>
          <p:cNvSpPr/>
          <p:nvPr/>
        </p:nvSpPr>
        <p:spPr>
          <a:xfrm>
            <a:off x="8756650" y="3946906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DE636D65-A482-EEB1-9FA5-E082952B3963}"/>
              </a:ext>
            </a:extLst>
          </p:cNvPr>
          <p:cNvSpPr/>
          <p:nvPr/>
        </p:nvSpPr>
        <p:spPr>
          <a:xfrm>
            <a:off x="8537194" y="3727450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D34C112F-08D5-432D-969D-4CBB34A36CD8}"/>
              </a:ext>
            </a:extLst>
          </p:cNvPr>
          <p:cNvSpPr/>
          <p:nvPr/>
        </p:nvSpPr>
        <p:spPr>
          <a:xfrm>
            <a:off x="8976106" y="3727450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965AF4AE-B101-2781-E01B-63988267BA9D}"/>
              </a:ext>
            </a:extLst>
          </p:cNvPr>
          <p:cNvSpPr/>
          <p:nvPr/>
        </p:nvSpPr>
        <p:spPr>
          <a:xfrm>
            <a:off x="8866378" y="3507994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80B36A3C-8D71-3367-701E-DBCF9B5FE384}"/>
              </a:ext>
            </a:extLst>
          </p:cNvPr>
          <p:cNvSpPr/>
          <p:nvPr/>
        </p:nvSpPr>
        <p:spPr>
          <a:xfrm>
            <a:off x="8866378" y="3946906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D3C484EE-B7F2-E669-895D-AFDD4D6FB108}"/>
              </a:ext>
            </a:extLst>
          </p:cNvPr>
          <p:cNvSpPr/>
          <p:nvPr/>
        </p:nvSpPr>
        <p:spPr>
          <a:xfrm>
            <a:off x="8537194" y="3837178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9700F56-EFE8-FD17-F40D-36B63C59F98E}"/>
              </a:ext>
            </a:extLst>
          </p:cNvPr>
          <p:cNvSpPr/>
          <p:nvPr/>
        </p:nvSpPr>
        <p:spPr>
          <a:xfrm>
            <a:off x="8976106" y="3837178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59386261-70C5-489B-5531-9EE71E289B96}"/>
              </a:ext>
            </a:extLst>
          </p:cNvPr>
          <p:cNvSpPr/>
          <p:nvPr/>
        </p:nvSpPr>
        <p:spPr>
          <a:xfrm>
            <a:off x="8976106" y="3507994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C00B2B77-BCF8-01FD-5952-E0F918DD5BB5}"/>
              </a:ext>
            </a:extLst>
          </p:cNvPr>
          <p:cNvSpPr/>
          <p:nvPr/>
        </p:nvSpPr>
        <p:spPr>
          <a:xfrm>
            <a:off x="8976106" y="3946906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A1B4F839-9BE3-61DA-FF51-3E008F267B71}"/>
              </a:ext>
            </a:extLst>
          </p:cNvPr>
          <p:cNvSpPr/>
          <p:nvPr/>
        </p:nvSpPr>
        <p:spPr>
          <a:xfrm>
            <a:off x="8537194" y="3946906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81D0189-3E5A-1148-F1B9-D26820F2CD84}"/>
              </a:ext>
            </a:extLst>
          </p:cNvPr>
          <p:cNvSpPr/>
          <p:nvPr/>
        </p:nvSpPr>
        <p:spPr>
          <a:xfrm>
            <a:off x="8976106" y="3946906"/>
            <a:ext cx="63500" cy="63500"/>
          </a:xfrm>
          <a:prstGeom prst="ellipse">
            <a:avLst/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BO" sz="4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CF0F8E2-C012-1678-356B-EC5BE65C6661}"/>
              </a:ext>
            </a:extLst>
          </p:cNvPr>
          <p:cNvSpPr txBox="1"/>
          <p:nvPr/>
        </p:nvSpPr>
        <p:spPr>
          <a:xfrm>
            <a:off x="9220200" y="3454400"/>
            <a:ext cx="223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600">
                <a:solidFill>
                  <a:srgbClr val="8C332B"/>
                </a:solidFill>
                <a:latin typeface="Segoe UI" panose="020B0502040204020203" pitchFamily="34" charset="0"/>
              </a:rPr>
              <a:t>18 Ø12 c/400 mm en los 7,20 m de perímetro</a:t>
            </a:r>
            <a:endParaRPr lang="es-BO" sz="600">
              <a:solidFill>
                <a:srgbClr val="8C332B"/>
              </a:solidFill>
              <a:latin typeface="Segoe UI" panose="020B0502040204020203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8649CE52-4540-1A5B-AB6D-560690E2E10C}"/>
              </a:ext>
            </a:extLst>
          </p:cNvPr>
          <p:cNvSpPr/>
          <p:nvPr/>
        </p:nvSpPr>
        <p:spPr>
          <a:xfrm>
            <a:off x="609600" y="5029200"/>
            <a:ext cx="38100" cy="406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D7FEBCE6-ED93-565F-B211-1680D8359F7F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41873A30-B983-FEEE-7A09-0CBBC4D36802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Si el ensanche aporta casi la mitad del área nueva, es razonable que tenga que recibir casi la mitad de la carga. Por eso el 48 %.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61" name="Resultado_1">
            <a:extLst>
              <a:ext uri="{FF2B5EF4-FFF2-40B4-BE49-F238E27FC236}">
                <a16:creationId xmlns:a16="http://schemas.microsoft.com/office/drawing/2014/main" id="{92722B3B-250A-1C7C-B8AD-D39E609E9155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600">
                <a:solidFill>
                  <a:srgbClr val="FFFFFF"/>
                </a:solidFill>
                <a:latin typeface="Bahnschrift SemiBold" panose="020B0502040204020203" pitchFamily="34" charset="0"/>
              </a:rPr>
              <a:t>18 Ø12 en los 7,20 m de perímetro  ·  Ø12 c/400  →  2 036 mm² ≥ 1 911</a:t>
            </a:r>
            <a:endParaRPr lang="es-BO" sz="16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BFE11F3-5942-E64B-EA3F-632C34E6F281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ACI 318-19 §22.9, cortante por fricción.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DCFB1593-A4DD-3D63-5D66-DF04944AB94E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ED183C4-B6A2-B788-5004-F792B4DCAFDA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7C85DF6-E234-6631-84A3-B7A723208FF0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66" name="PageNo">
            <a:extLst>
              <a:ext uri="{FF2B5EF4-FFF2-40B4-BE49-F238E27FC236}">
                <a16:creationId xmlns:a16="http://schemas.microsoft.com/office/drawing/2014/main" id="{A44EAB2E-D55B-4657-3DBF-8DFFD01435C9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32 / 38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64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E1500F-F237-C084-E263-3FB263D44332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7  ·  CIERRE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6785DDB-E3C8-3510-A9BE-74B21C25F358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Cinco preguntas, cinco respuestas, y lo que queda escrito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F4C0B42-4CE1-0A5E-277B-8BB53A83FDDE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A6903DC-686A-0791-C106-17ADDE130B73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1EF9F1F-6FD4-1FAF-99C1-904DC560B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988679"/>
              </p:ext>
            </p:extLst>
          </p:nvPr>
        </p:nvGraphicFramePr>
        <p:xfrm>
          <a:off x="609600" y="1422400"/>
          <a:ext cx="62992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4232826637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695869166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La pregunta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La respuesta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83060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s-MX" sz="10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1 · ¿Cuánto aguanta el terreno?</a:t>
                      </a:r>
                      <a:endParaRPr lang="es-BO" sz="10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q_adm = 178,4 kPa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54211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s-MX" sz="10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2 · ¿Cuánto le damos hoy?</a:t>
                      </a:r>
                      <a:endParaRPr lang="es-BO" sz="10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215,3 kPa   ·   margen 0,83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65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s-MX" sz="10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3 · ¿Y con el uso nuevo?</a:t>
                      </a:r>
                      <a:endParaRPr lang="es-BO" sz="10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289,4 kPa   ·   margen 0,62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66559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4 · ¿Cuánto ensanchamos?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B = 2,50 m   ·   margen 1,13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85798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s-MX" sz="10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5 · ¿Cómo se cose la junta?</a:t>
                      </a:r>
                      <a:endParaRPr lang="es-BO" sz="10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18 Ø12  ·  Ø12 c/400 mm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77098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CBCFDE37-AE4D-8C52-7619-CE617FD323A7}"/>
              </a:ext>
            </a:extLst>
          </p:cNvPr>
          <p:cNvSpPr txBox="1"/>
          <p:nvPr/>
        </p:nvSpPr>
        <p:spPr>
          <a:xfrm>
            <a:off x="7213600" y="1422400"/>
            <a:ext cx="4368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750">
                <a:solidFill>
                  <a:srgbClr val="6A4F20"/>
                </a:solidFill>
                <a:latin typeface="Segoe UI Semibold" panose="020B0702040204020203" pitchFamily="34" charset="0"/>
              </a:rPr>
              <a:t>QUÉ QUEDA REGISTRADO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7B400CC-8ED1-5BD6-6D54-0C8307A07EDB}"/>
              </a:ext>
            </a:extLst>
          </p:cNvPr>
          <p:cNvSpPr/>
          <p:nvPr/>
        </p:nvSpPr>
        <p:spPr>
          <a:xfrm>
            <a:off x="7213600" y="1676400"/>
            <a:ext cx="38100" cy="381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938F372-5C04-CAF1-62AA-E752D2F2326F}"/>
              </a:ext>
            </a:extLst>
          </p:cNvPr>
          <p:cNvSpPr txBox="1"/>
          <p:nvPr/>
        </p:nvSpPr>
        <p:spPr>
          <a:xfrm>
            <a:off x="7366000" y="1676400"/>
            <a:ext cx="421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El cálculo de Terzaghi con los tres sumandos y la fuente de cada parámetro.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8DE6F5-EADE-F82D-EB1D-F113AE0AAFCE}"/>
              </a:ext>
            </a:extLst>
          </p:cNvPr>
          <p:cNvSpPr/>
          <p:nvPr/>
        </p:nvSpPr>
        <p:spPr>
          <a:xfrm>
            <a:off x="7213600" y="2133600"/>
            <a:ext cx="38100" cy="381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8EEA431-4BF4-DCA0-F695-42D5E6136AD0}"/>
              </a:ext>
            </a:extLst>
          </p:cNvPr>
          <p:cNvSpPr txBox="1"/>
          <p:nvPr/>
        </p:nvSpPr>
        <p:spPr>
          <a:xfrm>
            <a:off x="7366000" y="2133600"/>
            <a:ext cx="421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Las dos comprobaciones, con la carga de hoy y con la futura, y su margen.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4F89A46-48DC-D6EB-69CC-08D0BE89DD85}"/>
              </a:ext>
            </a:extLst>
          </p:cNvPr>
          <p:cNvSpPr/>
          <p:nvPr/>
        </p:nvSpPr>
        <p:spPr>
          <a:xfrm>
            <a:off x="7213600" y="2590800"/>
            <a:ext cx="38100" cy="381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A641ED-25ED-154F-ED68-8583A807B7CC}"/>
              </a:ext>
            </a:extLst>
          </p:cNvPr>
          <p:cNvSpPr txBox="1"/>
          <p:nvPr/>
        </p:nvSpPr>
        <p:spPr>
          <a:xfrm>
            <a:off x="7366000" y="2590800"/>
            <a:ext cx="421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El dimensionado del ensanche con el q_adm recalculado para el B nuevo.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07E905-78A3-DEA5-6B04-5313D5403398}"/>
              </a:ext>
            </a:extLst>
          </p:cNvPr>
          <p:cNvSpPr/>
          <p:nvPr/>
        </p:nvSpPr>
        <p:spPr>
          <a:xfrm>
            <a:off x="7213600" y="3048000"/>
            <a:ext cx="38100" cy="381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86315FA-0C06-10EE-4624-81A05CACD5FE}"/>
              </a:ext>
            </a:extLst>
          </p:cNvPr>
          <p:cNvSpPr txBox="1"/>
          <p:nvPr/>
        </p:nvSpPr>
        <p:spPr>
          <a:xfrm>
            <a:off x="7366000" y="3048000"/>
            <a:ext cx="421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El detalle de conectores con el cortante por fricción y la exigencia de rugosidad.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CF3276B-F6E4-7D8D-FD60-A8DFD47F9187}"/>
              </a:ext>
            </a:extLst>
          </p:cNvPr>
          <p:cNvSpPr/>
          <p:nvPr/>
        </p:nvSpPr>
        <p:spPr>
          <a:xfrm>
            <a:off x="7213600" y="3505200"/>
            <a:ext cx="38100" cy="381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EAC18AF-B070-3491-C105-CEB8863560BF}"/>
              </a:ext>
            </a:extLst>
          </p:cNvPr>
          <p:cNvSpPr txBox="1"/>
          <p:nvPr/>
        </p:nvSpPr>
        <p:spPr>
          <a:xfrm>
            <a:off x="7366000" y="3505200"/>
            <a:ext cx="421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La limitación declarada: no se ha comprobado el asiento, y en este terreno puede gobernar.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5E50877-6EC0-FAF3-9AE9-C280A5276B56}"/>
              </a:ext>
            </a:extLst>
          </p:cNvPr>
          <p:cNvSpPr/>
          <p:nvPr/>
        </p:nvSpPr>
        <p:spPr>
          <a:xfrm>
            <a:off x="609600" y="4191000"/>
            <a:ext cx="10972800" cy="8890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1978D33-193D-6F99-AEF5-898DB542047B}"/>
              </a:ext>
            </a:extLst>
          </p:cNvPr>
          <p:cNvSpPr/>
          <p:nvPr/>
        </p:nvSpPr>
        <p:spPr>
          <a:xfrm>
            <a:off x="609600" y="4191000"/>
            <a:ext cx="57150" cy="8890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646EBCE-2632-F56E-0134-5E562D161C79}"/>
              </a:ext>
            </a:extLst>
          </p:cNvPr>
          <p:cNvSpPr txBox="1"/>
          <p:nvPr/>
        </p:nvSpPr>
        <p:spPr>
          <a:xfrm>
            <a:off x="838200" y="4368800"/>
            <a:ext cx="105664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300">
                <a:solidFill>
                  <a:srgbClr val="FFFFFF"/>
                </a:solidFill>
                <a:latin typeface="Segoe UI" panose="020B0502040204020203" pitchFamily="34" charset="0"/>
              </a:rPr>
              <a:t>La estructura no falla por donde se ve el daño. Las fisuras estaban en la viga, el susto estaba en la columna y el problema real estaba bajo tierra, sin fisurar y sin que nadie lo mirara en veintiocho años.</a:t>
            </a:r>
            <a:endParaRPr lang="es-BO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1D7F77A-4549-F4A6-C983-2650AFFCDDD5}"/>
              </a:ext>
            </a:extLst>
          </p:cNvPr>
          <p:cNvSpPr txBox="1"/>
          <p:nvPr/>
        </p:nvSpPr>
        <p:spPr>
          <a:xfrm>
            <a:off x="609600" y="52578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Y el detalle que casi nadie hace: recalcular la carga admisible con el ancho nuevo. Son 3 puntos de margen que estaban ahí y no se cobraban.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C0174D-BB4E-DE61-68C8-0EB8B4587616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it-IT" sz="700">
                <a:solidFill>
                  <a:srgbClr val="938A7C"/>
                </a:solidFill>
                <a:latin typeface="Segoe UI" panose="020B0502040204020203" pitchFamily="34" charset="0"/>
              </a:rPr>
              <a:t>Fuente: Terzaghi (1943); ACI 318-19 §22.9; ACI 562 §6 y §7.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2E72FCE-AFC5-8A4B-4422-3136120ACBC6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B52DDC5-3252-2325-6F00-3739E04D865C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6A271E1-7077-1590-5AC8-76DDB036EE34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PageNo">
            <a:extLst>
              <a:ext uri="{FF2B5EF4-FFF2-40B4-BE49-F238E27FC236}">
                <a16:creationId xmlns:a16="http://schemas.microsoft.com/office/drawing/2014/main" id="{20E28BCB-89D7-7431-F404-B2DDE58A2291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33 / 38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1393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63294E3-4528-F072-FE24-A82002EBDDCB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SÍNTESIS DEL CURSO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6992A8C-BB69-A3DA-C794-0CBF03485BC7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Diez reglas de oro, una por cada cosa que suele salir mal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93A188D-A729-BC4C-55F0-D8621F542E3E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5ADB7A8-56A7-F610-E8CE-5A4559A79490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D69D2FB-0A3A-88AB-54A7-1FA8D705DB2C}"/>
              </a:ext>
            </a:extLst>
          </p:cNvPr>
          <p:cNvSpPr/>
          <p:nvPr/>
        </p:nvSpPr>
        <p:spPr>
          <a:xfrm>
            <a:off x="609600" y="13970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01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27AF495-AD86-66D3-A15D-3B1C6883376F}"/>
              </a:ext>
            </a:extLst>
          </p:cNvPr>
          <p:cNvSpPr txBox="1"/>
          <p:nvPr/>
        </p:nvSpPr>
        <p:spPr>
          <a:xfrm>
            <a:off x="1016000" y="13716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Del síntoma a la causa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32FE46-D7D9-25F4-2799-7861D7B9222C}"/>
              </a:ext>
            </a:extLst>
          </p:cNvPr>
          <p:cNvSpPr txBox="1"/>
          <p:nvPr/>
        </p:nvSpPr>
        <p:spPr>
          <a:xfrm>
            <a:off x="1016000" y="16129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La cadena se recorre al revés y no se cierra hasta llegar a la causa.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8F655A9-094D-C176-D317-DD96D7498840}"/>
              </a:ext>
            </a:extLst>
          </p:cNvPr>
          <p:cNvSpPr/>
          <p:nvPr/>
        </p:nvSpPr>
        <p:spPr>
          <a:xfrm>
            <a:off x="609600" y="23622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02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4177F8D-BA9F-30E9-3F78-36426B760AAC}"/>
              </a:ext>
            </a:extLst>
          </p:cNvPr>
          <p:cNvSpPr txBox="1"/>
          <p:nvPr/>
        </p:nvSpPr>
        <p:spPr>
          <a:xfrm>
            <a:off x="1016000" y="23368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El año manda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EB045E4-44E0-9384-3C6C-C129B14C9908}"/>
              </a:ext>
            </a:extLst>
          </p:cNvPr>
          <p:cNvSpPr txBox="1"/>
          <p:nvPr/>
        </p:nvSpPr>
        <p:spPr>
          <a:xfrm>
            <a:off x="1016000" y="25781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CBH-87 interpreta; NB 1225001 juzga; NBDS-2023 para el sismo.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202EA11-F3FF-F95A-E591-48A456431A2F}"/>
              </a:ext>
            </a:extLst>
          </p:cNvPr>
          <p:cNvSpPr/>
          <p:nvPr/>
        </p:nvSpPr>
        <p:spPr>
          <a:xfrm>
            <a:off x="609600" y="33274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03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3B99F55-2ADA-EAA1-CC8D-9581CC26F9CB}"/>
              </a:ext>
            </a:extLst>
          </p:cNvPr>
          <p:cNvSpPr txBox="1"/>
          <p:nvPr/>
        </p:nvSpPr>
        <p:spPr>
          <a:xfrm>
            <a:off x="1016000" y="33020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El recubrimiento al cuadrado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8FF320-2A95-CF76-1C27-6154BC0E7D67}"/>
              </a:ext>
            </a:extLst>
          </p:cNvPr>
          <p:cNvSpPr txBox="1"/>
          <p:nvPr/>
        </p:nvSpPr>
        <p:spPr>
          <a:xfrm>
            <a:off x="1016000" y="35433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Entra al cuadrado en el tiempo: siete milímetros valieron dieciocho años.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67F330C-A112-68C2-69B5-61C20FADE583}"/>
              </a:ext>
            </a:extLst>
          </p:cNvPr>
          <p:cNvSpPr/>
          <p:nvPr/>
        </p:nvSpPr>
        <p:spPr>
          <a:xfrm>
            <a:off x="609600" y="42926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04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8A3E417-BCE7-0DC6-B571-DF66358BA62F}"/>
              </a:ext>
            </a:extLst>
          </p:cNvPr>
          <p:cNvSpPr txBox="1"/>
          <p:nvPr/>
        </p:nvSpPr>
        <p:spPr>
          <a:xfrm>
            <a:off x="1016000" y="42672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La media engaña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5DF97E3-95D4-145A-8475-C637ED9D5B65}"/>
              </a:ext>
            </a:extLst>
          </p:cNvPr>
          <p:cNvSpPr txBox="1"/>
          <p:nvPr/>
        </p:nvSpPr>
        <p:spPr>
          <a:xfrm>
            <a:off x="1016000" y="45085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La dispersión decide. Con cloruros, la picadura; con recubrimientos, el percentil.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7961679-086F-1F3D-4478-071B21AA9012}"/>
              </a:ext>
            </a:extLst>
          </p:cNvPr>
          <p:cNvSpPr/>
          <p:nvPr/>
        </p:nvSpPr>
        <p:spPr>
          <a:xfrm>
            <a:off x="609600" y="52578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05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DF2BC5C-A369-B0B4-C412-EF68A36D90CE}"/>
              </a:ext>
            </a:extLst>
          </p:cNvPr>
          <p:cNvSpPr txBox="1"/>
          <p:nvPr/>
        </p:nvSpPr>
        <p:spPr>
          <a:xfrm>
            <a:off x="1016000" y="52324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El patrón antes del ensayo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BDB2476-8180-353B-8AD3-76AC7F16D3CC}"/>
              </a:ext>
            </a:extLst>
          </p:cNvPr>
          <p:cNvSpPr txBox="1"/>
          <p:nvPr/>
        </p:nvSpPr>
        <p:spPr>
          <a:xfrm>
            <a:off x="1016000" y="54737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La forma y el momento de una fisura dicen el origen antes que el laboratorio.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F8E327A-045E-C9F1-823B-9E99958B0E3C}"/>
              </a:ext>
            </a:extLst>
          </p:cNvPr>
          <p:cNvSpPr/>
          <p:nvPr/>
        </p:nvSpPr>
        <p:spPr>
          <a:xfrm>
            <a:off x="6096000" y="13970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06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D82190D-C0F9-5B7B-ED19-EBDE64DA1479}"/>
              </a:ext>
            </a:extLst>
          </p:cNvPr>
          <p:cNvSpPr txBox="1"/>
          <p:nvPr/>
        </p:nvSpPr>
        <p:spPr>
          <a:xfrm>
            <a:off x="6502400" y="13716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La alternancia destruye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75FB97-5376-4C80-59C6-457A329F21DD}"/>
              </a:ext>
            </a:extLst>
          </p:cNvPr>
          <p:cNvSpPr txBox="1"/>
          <p:nvPr/>
        </p:nvSpPr>
        <p:spPr>
          <a:xfrm>
            <a:off x="6502400" y="16129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Mojado y seco, hielo y deshielo, oxígeno y falta de oxígeno. La permanencia protege.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5E69CFA9-7B53-C660-40F6-7B4F52C0BC07}"/>
              </a:ext>
            </a:extLst>
          </p:cNvPr>
          <p:cNvSpPr/>
          <p:nvPr/>
        </p:nvSpPr>
        <p:spPr>
          <a:xfrm>
            <a:off x="6096000" y="23622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07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1088F85-A870-F451-8DA3-8B89D0529160}"/>
              </a:ext>
            </a:extLst>
          </p:cNvPr>
          <p:cNvSpPr txBox="1"/>
          <p:nvPr/>
        </p:nvSpPr>
        <p:spPr>
          <a:xfrm>
            <a:off x="6502400" y="23368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pt-BR" sz="1200">
                <a:solidFill>
                  <a:srgbClr val="1C1813"/>
                </a:solidFill>
                <a:latin typeface="Bahnschrift SemiBold" panose="020B0502040204020203" pitchFamily="34" charset="0"/>
              </a:rPr>
              <a:t>Once, cinco o dos micras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B72440B-2393-3E7F-FF25-3D95189A9983}"/>
              </a:ext>
            </a:extLst>
          </p:cNvPr>
          <p:cNvSpPr txBox="1"/>
          <p:nvPr/>
        </p:nvSpPr>
        <p:spPr>
          <a:xfrm>
            <a:off x="6502400" y="25781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Un microamperio por centímetro cuadrado son 11,6 µm de radio al año.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55FC34E-9F68-4CBE-577B-601D4734485E}"/>
              </a:ext>
            </a:extLst>
          </p:cNvPr>
          <p:cNvSpPr/>
          <p:nvPr/>
        </p:nvSpPr>
        <p:spPr>
          <a:xfrm>
            <a:off x="6096000" y="33274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08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D4CC469-642B-6781-9313-59BB21D86468}"/>
              </a:ext>
            </a:extLst>
          </p:cNvPr>
          <p:cNvSpPr txBox="1"/>
          <p:nvPr/>
        </p:nvSpPr>
        <p:spPr>
          <a:xfrm>
            <a:off x="6502400" y="33020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Lo barato decide lo caro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EEEE253-027E-8341-D729-ECCDE1D3A97C}"/>
              </a:ext>
            </a:extLst>
          </p:cNvPr>
          <p:cNvSpPr txBox="1"/>
          <p:nvPr/>
        </p:nvSpPr>
        <p:spPr>
          <a:xfrm>
            <a:off x="6502400" y="35433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Los no destructivos dicen dónde van los testigos. Nunca al revés.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9790B27-29B9-676A-2FBE-DE6FC6532495}"/>
              </a:ext>
            </a:extLst>
          </p:cNvPr>
          <p:cNvSpPr/>
          <p:nvPr/>
        </p:nvSpPr>
        <p:spPr>
          <a:xfrm>
            <a:off x="6096000" y="42926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09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7BF7489-A45C-658E-ED30-27BAD78A2BFE}"/>
              </a:ext>
            </a:extLst>
          </p:cNvPr>
          <p:cNvSpPr txBox="1"/>
          <p:nvPr/>
        </p:nvSpPr>
        <p:spPr>
          <a:xfrm>
            <a:off x="6502400" y="42672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Primero el principio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B49DF45-6243-56A6-F021-3EC13B7E2EE6}"/>
              </a:ext>
            </a:extLst>
          </p:cNvPr>
          <p:cNvSpPr txBox="1"/>
          <p:nvPr/>
        </p:nvSpPr>
        <p:spPr>
          <a:xfrm>
            <a:off x="6502400" y="45085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EN 1504-9 antes que el catálogo. El producto es el paso cuatro, no el primero.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18E9194-02BB-7D1A-3521-2F3752767054}"/>
              </a:ext>
            </a:extLst>
          </p:cNvPr>
          <p:cNvSpPr/>
          <p:nvPr/>
        </p:nvSpPr>
        <p:spPr>
          <a:xfrm>
            <a:off x="6096000" y="52578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10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0503B91-A78E-2E5B-187A-4E705DA2DC34}"/>
              </a:ext>
            </a:extLst>
          </p:cNvPr>
          <p:cNvSpPr txBox="1"/>
          <p:nvPr/>
        </p:nvSpPr>
        <p:spPr>
          <a:xfrm>
            <a:off x="6502400" y="52324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No reforzar es una conclusión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A17DBA-A605-9913-FD64-EB503D2946AB}"/>
              </a:ext>
            </a:extLst>
          </p:cNvPr>
          <p:cNvSpPr txBox="1"/>
          <p:nvPr/>
        </p:nvSpPr>
        <p:spPr>
          <a:xfrm>
            <a:off x="6502400" y="5473700"/>
            <a:ext cx="4927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Demostrar con números que una estructura sirve vale tanto como diseñar el refuerzo.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071B8C9D-DDB8-9301-65DF-99AF71C91321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47B0CBE-A68E-FA3B-E0DB-092648B6C64D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234F30C-7CCD-9906-DEE0-A6713E6927C9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39" name="PageNo">
            <a:extLst>
              <a:ext uri="{FF2B5EF4-FFF2-40B4-BE49-F238E27FC236}">
                <a16:creationId xmlns:a16="http://schemas.microsoft.com/office/drawing/2014/main" id="{E6AB1194-D8BA-51AA-4AA7-F5D0B77A5786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34 / 38</a:t>
            </a:r>
          </a:p>
        </p:txBody>
      </p:sp>
    </p:spTree>
    <p:extLst>
      <p:ext uri="{BB962C8B-B14F-4D97-AF65-F5344CB8AC3E}">
        <p14:creationId xmlns:p14="http://schemas.microsoft.com/office/powerpoint/2010/main" val="1724307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3E0E221-4B09-A25D-2A48-64D234B903C1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LO QUE TE LLEVAS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8752A63-9835-D211-E18D-38F09B431CDA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Cinco entregables que salen de este curso y se usan desde mañana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1B92A6E-BDC9-64A1-D98B-170687BC9869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749FE4B-3DE9-C8AC-E26D-A2304D9E0E4C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92BB314A-E9FE-8E43-63E7-A23482EB0F9E}"/>
              </a:ext>
            </a:extLst>
          </p:cNvPr>
          <p:cNvSpPr/>
          <p:nvPr/>
        </p:nvSpPr>
        <p:spPr>
          <a:xfrm>
            <a:off x="609600" y="1422400"/>
            <a:ext cx="2082800" cy="3403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64E68A-E670-2697-D672-7E7DDB2A40D6}"/>
              </a:ext>
            </a:extLst>
          </p:cNvPr>
          <p:cNvSpPr/>
          <p:nvPr/>
        </p:nvSpPr>
        <p:spPr>
          <a:xfrm>
            <a:off x="609600" y="1422400"/>
            <a:ext cx="38100" cy="3403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F0FC64-56D7-9C91-AEAC-6EDADD7F9773}"/>
              </a:ext>
            </a:extLst>
          </p:cNvPr>
          <p:cNvSpPr txBox="1"/>
          <p:nvPr/>
        </p:nvSpPr>
        <p:spPr>
          <a:xfrm>
            <a:off x="812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B724D2-9925-B530-6055-5DD6478ABBCE}"/>
              </a:ext>
            </a:extLst>
          </p:cNvPr>
          <p:cNvSpPr txBox="1"/>
          <p:nvPr/>
        </p:nvSpPr>
        <p:spPr>
          <a:xfrm>
            <a:off x="812800" y="1981200"/>
            <a:ext cx="170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La ficha de patología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55EA63-0445-570F-033F-D36233C41F0A}"/>
              </a:ext>
            </a:extLst>
          </p:cNvPr>
          <p:cNvSpPr txBox="1"/>
          <p:nvPr/>
        </p:nvSpPr>
        <p:spPr>
          <a:xfrm>
            <a:off x="812800" y="2235200"/>
            <a:ext cx="1676400" cy="246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Cadena causa-mecanismo-lesión-síntoma, con fotografía referenciada, croquis acotado y los valores medidos con su método.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CA156D-68DB-3508-7CFC-CE9044C7E9A6}"/>
              </a:ext>
            </a:extLst>
          </p:cNvPr>
          <p:cNvSpPr/>
          <p:nvPr/>
        </p:nvSpPr>
        <p:spPr>
          <a:xfrm>
            <a:off x="2844800" y="1422400"/>
            <a:ext cx="2082800" cy="3403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7DE3DB6-D138-CAF0-EAE9-D9BDCF51B2AC}"/>
              </a:ext>
            </a:extLst>
          </p:cNvPr>
          <p:cNvSpPr/>
          <p:nvPr/>
        </p:nvSpPr>
        <p:spPr>
          <a:xfrm>
            <a:off x="2844800" y="1422400"/>
            <a:ext cx="38100" cy="3403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F29CF60-2C0B-B8BF-8A83-08CA39E1F841}"/>
              </a:ext>
            </a:extLst>
          </p:cNvPr>
          <p:cNvSpPr txBox="1"/>
          <p:nvPr/>
        </p:nvSpPr>
        <p:spPr>
          <a:xfrm>
            <a:off x="30480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16F786E-53C4-0681-3192-BAFC1394A633}"/>
              </a:ext>
            </a:extLst>
          </p:cNvPr>
          <p:cNvSpPr txBox="1"/>
          <p:nvPr/>
        </p:nvSpPr>
        <p:spPr>
          <a:xfrm>
            <a:off x="3048000" y="1981200"/>
            <a:ext cx="170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La ficha de durabilidad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738E61E-2884-72E0-BA96-C9E2C1598714}"/>
              </a:ext>
            </a:extLst>
          </p:cNvPr>
          <p:cNvSpPr txBox="1"/>
          <p:nvPr/>
        </p:nvSpPr>
        <p:spPr>
          <a:xfrm>
            <a:off x="3048000" y="2235200"/>
            <a:ext cx="1676400" cy="246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K calibrada con la propia obra, años de despasivación, fracción de superficie afectada y vida residual.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E49406-1FF6-1074-4FA4-6F597A267147}"/>
              </a:ext>
            </a:extLst>
          </p:cNvPr>
          <p:cNvSpPr/>
          <p:nvPr/>
        </p:nvSpPr>
        <p:spPr>
          <a:xfrm>
            <a:off x="5080000" y="1422400"/>
            <a:ext cx="2082800" cy="3403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DD758D6-FBE1-0660-F3BA-CB933DAC44BA}"/>
              </a:ext>
            </a:extLst>
          </p:cNvPr>
          <p:cNvSpPr/>
          <p:nvPr/>
        </p:nvSpPr>
        <p:spPr>
          <a:xfrm>
            <a:off x="5080000" y="1422400"/>
            <a:ext cx="38100" cy="3403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62DCAE3-8BC1-1F54-DBE1-05048290F7CA}"/>
              </a:ext>
            </a:extLst>
          </p:cNvPr>
          <p:cNvSpPr txBox="1"/>
          <p:nvPr/>
        </p:nvSpPr>
        <p:spPr>
          <a:xfrm>
            <a:off x="52832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7E0885-1F5D-B0BC-8DA8-E2A28A222E48}"/>
              </a:ext>
            </a:extLst>
          </p:cNvPr>
          <p:cNvSpPr txBox="1"/>
          <p:nvPr/>
        </p:nvSpPr>
        <p:spPr>
          <a:xfrm>
            <a:off x="5283200" y="1981200"/>
            <a:ext cx="170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El plan de ensayos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405CD34-90F1-9737-0E4B-B4E430349868}"/>
              </a:ext>
            </a:extLst>
          </p:cNvPr>
          <p:cNvSpPr txBox="1"/>
          <p:nvPr/>
        </p:nvSpPr>
        <p:spPr>
          <a:xfrm>
            <a:off x="5283200" y="2235200"/>
            <a:ext cx="1676400" cy="246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Zonificación, ensayos por zona, número de puntos, criterio de aceptación de cada uno y orden de ejecución.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16C7E77-3009-8FF4-F74C-AE1CA5FD18D0}"/>
              </a:ext>
            </a:extLst>
          </p:cNvPr>
          <p:cNvSpPr/>
          <p:nvPr/>
        </p:nvSpPr>
        <p:spPr>
          <a:xfrm>
            <a:off x="7315200" y="1422400"/>
            <a:ext cx="2082800" cy="3403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EEFA2EF-CC13-BDD0-AB98-F341955773A5}"/>
              </a:ext>
            </a:extLst>
          </p:cNvPr>
          <p:cNvSpPr/>
          <p:nvPr/>
        </p:nvSpPr>
        <p:spPr>
          <a:xfrm>
            <a:off x="7315200" y="1422400"/>
            <a:ext cx="38100" cy="3403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DAD79D9-AE36-3204-8B9F-A2C3C560BDB2}"/>
              </a:ext>
            </a:extLst>
          </p:cNvPr>
          <p:cNvSpPr txBox="1"/>
          <p:nvPr/>
        </p:nvSpPr>
        <p:spPr>
          <a:xfrm>
            <a:off x="75184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C67B3B9-E0F0-C366-D597-6A45368577CF}"/>
              </a:ext>
            </a:extLst>
          </p:cNvPr>
          <p:cNvSpPr txBox="1"/>
          <p:nvPr/>
        </p:nvSpPr>
        <p:spPr>
          <a:xfrm>
            <a:off x="7518400" y="1981200"/>
            <a:ext cx="170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La especificación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6553726-5CA3-C7D0-C98B-74D467A6ECF8}"/>
              </a:ext>
            </a:extLst>
          </p:cNvPr>
          <p:cNvSpPr txBox="1"/>
          <p:nvPr/>
        </p:nvSpPr>
        <p:spPr>
          <a:xfrm>
            <a:off x="7518400" y="2235200"/>
            <a:ext cx="1676400" cy="246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Principios de EN 1504-9 numerados, saneo, clase y módulo del mortero, puntos de parada y recepción.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C081F48-93A4-FBD1-D3C9-BF0F3F11843F}"/>
              </a:ext>
            </a:extLst>
          </p:cNvPr>
          <p:cNvSpPr/>
          <p:nvPr/>
        </p:nvSpPr>
        <p:spPr>
          <a:xfrm>
            <a:off x="9550400" y="1422400"/>
            <a:ext cx="2082800" cy="3403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E177437-6DB2-2768-6323-7E8E33730BDD}"/>
              </a:ext>
            </a:extLst>
          </p:cNvPr>
          <p:cNvSpPr/>
          <p:nvPr/>
        </p:nvSpPr>
        <p:spPr>
          <a:xfrm>
            <a:off x="9550400" y="1422400"/>
            <a:ext cx="38100" cy="3403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93BA38B-6D23-071B-9689-14F2B7042462}"/>
              </a:ext>
            </a:extLst>
          </p:cNvPr>
          <p:cNvSpPr txBox="1"/>
          <p:nvPr/>
        </p:nvSpPr>
        <p:spPr>
          <a:xfrm>
            <a:off x="97536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05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B4010AF-7C5A-C8FC-436A-4A498AD19EDA}"/>
              </a:ext>
            </a:extLst>
          </p:cNvPr>
          <p:cNvSpPr txBox="1"/>
          <p:nvPr/>
        </p:nvSpPr>
        <p:spPr>
          <a:xfrm>
            <a:off x="9753600" y="1981200"/>
            <a:ext cx="1701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El mantenimiento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901C549-F5D6-D026-2ED3-BCDE56F2735E}"/>
              </a:ext>
            </a:extLst>
          </p:cNvPr>
          <p:cNvSpPr txBox="1"/>
          <p:nvPr/>
        </p:nvSpPr>
        <p:spPr>
          <a:xfrm>
            <a:off x="9753600" y="2235200"/>
            <a:ext cx="1676400" cy="246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Elemento, qué se revisa, cada cuánto, criterio de alarma y responsable con nombre. Con fechas.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F51EC4D-E2FA-FD44-20E2-7C28C2F83DCB}"/>
              </a:ext>
            </a:extLst>
          </p:cNvPr>
          <p:cNvSpPr/>
          <p:nvPr/>
        </p:nvSpPr>
        <p:spPr>
          <a:xfrm>
            <a:off x="609600" y="5080000"/>
            <a:ext cx="10972800" cy="7366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BA58A98-3C4E-7C1B-DFF7-9F67D3777CCE}"/>
              </a:ext>
            </a:extLst>
          </p:cNvPr>
          <p:cNvSpPr/>
          <p:nvPr/>
        </p:nvSpPr>
        <p:spPr>
          <a:xfrm>
            <a:off x="609600" y="5080000"/>
            <a:ext cx="57150" cy="7366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2854979-6922-7C5B-C5E6-90A98ECFFB06}"/>
              </a:ext>
            </a:extLst>
          </p:cNvPr>
          <p:cNvSpPr txBox="1"/>
          <p:nvPr/>
        </p:nvSpPr>
        <p:spPr>
          <a:xfrm>
            <a:off x="838200" y="5130800"/>
            <a:ext cx="10566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Los cinco son documentos de una página.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Ninguno exige comprar nada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y los cinco juntos convierten una inspección en un encargo profesional que se puede defender y cobrar.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DBB5C13D-A39A-8A13-A956-2E34BF1D2193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060A301-463C-1170-3FC5-B1AD20E8BE52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E0890A0-92C7-02C9-155B-0ACF50B6C552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PageNo">
            <a:extLst>
              <a:ext uri="{FF2B5EF4-FFF2-40B4-BE49-F238E27FC236}">
                <a16:creationId xmlns:a16="http://schemas.microsoft.com/office/drawing/2014/main" id="{9353145A-AA53-F8D2-4215-E0F8D2769648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35 / 38</a:t>
            </a:r>
          </a:p>
        </p:txBody>
      </p:sp>
    </p:spTree>
    <p:extLst>
      <p:ext uri="{BB962C8B-B14F-4D97-AF65-F5344CB8AC3E}">
        <p14:creationId xmlns:p14="http://schemas.microsoft.com/office/powerpoint/2010/main" val="596868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1D170AB-0D15-2596-3563-CFB88A964258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HERRAMIENTAS DE LA CLASE  ·  CLASE 7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9C71E5D-F5D6-E4A2-9BF1-5D4898F4400F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La planilla de recálculo y el plan de mantenimiento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6574739-679B-E409-2AA8-6BFA8BA2A9C8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D4B8BCC-60AD-B3A3-8700-0015678B0F7A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8B0060DC-4EC7-36EC-D78A-7DA02017151D}"/>
              </a:ext>
            </a:extLst>
          </p:cNvPr>
          <p:cNvSpPr/>
          <p:nvPr/>
        </p:nvSpPr>
        <p:spPr>
          <a:xfrm>
            <a:off x="609600" y="1371600"/>
            <a:ext cx="6858000" cy="2895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8" name="Imagen 7" descr="Hoja 8 · Recálculo de columna y cimentación">
            <a:extLst>
              <a:ext uri="{FF2B5EF4-FFF2-40B4-BE49-F238E27FC236}">
                <a16:creationId xmlns:a16="http://schemas.microsoft.com/office/drawing/2014/main" id="{1391D298-ABC3-D9AE-A088-0DD511F92C6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486" y="1498600"/>
            <a:ext cx="5566228" cy="2641600"/>
          </a:xfrm>
          <a:prstGeom prst="rect">
            <a:avLst/>
          </a:prstGeom>
          <a:ln w="9525">
            <a:solidFill>
              <a:srgbClr val="DCD5C7"/>
            </a:solidFill>
          </a:ln>
          <a:effectLst>
            <a:outerShdw blurRad="152400" dist="38100" dir="5400000" rotWithShape="0">
              <a:srgbClr val="1C1813">
                <a:alpha val="28000"/>
              </a:srgbClr>
            </a:outerShdw>
          </a:effec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A48449A8-E635-ADF1-37B9-1311DB106FCF}"/>
              </a:ext>
            </a:extLst>
          </p:cNvPr>
          <p:cNvSpPr/>
          <p:nvPr/>
        </p:nvSpPr>
        <p:spPr>
          <a:xfrm>
            <a:off x="7670800" y="1371600"/>
            <a:ext cx="3911600" cy="289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17FDA7-896C-F8E7-A6C9-4188740DE4E2}"/>
              </a:ext>
            </a:extLst>
          </p:cNvPr>
          <p:cNvSpPr txBox="1"/>
          <p:nvPr/>
        </p:nvSpPr>
        <p:spPr>
          <a:xfrm>
            <a:off x="7823200" y="1524000"/>
            <a:ext cx="216408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650">
                <a:solidFill>
                  <a:srgbClr val="938A7C"/>
                </a:solidFill>
                <a:latin typeface="Segoe UI" panose="020B0502040204020203" pitchFamily="34" charset="0"/>
              </a:rPr>
              <a:t>Plan de mantenimiento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296E21B-033F-9673-F6FE-519F6C1CD020}"/>
              </a:ext>
            </a:extLst>
          </p:cNvPr>
          <p:cNvSpPr txBox="1"/>
          <p:nvPr/>
        </p:nvSpPr>
        <p:spPr>
          <a:xfrm>
            <a:off x="9987280" y="1524000"/>
            <a:ext cx="144272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50">
                <a:solidFill>
                  <a:srgbClr val="938A7C"/>
                </a:solidFill>
                <a:latin typeface="Segoe UI" panose="020B0502040204020203" pitchFamily="34" charset="0"/>
              </a:rPr>
              <a:t>PH-PMT-001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BAE3494-1F25-ED83-1214-ADCFC0666AC5}"/>
              </a:ext>
            </a:extLst>
          </p:cNvPr>
          <p:cNvCxnSpPr/>
          <p:nvPr/>
        </p:nvCxnSpPr>
        <p:spPr>
          <a:xfrm>
            <a:off x="7823200" y="1676400"/>
            <a:ext cx="3606800" cy="0"/>
          </a:xfrm>
          <a:prstGeom prst="line">
            <a:avLst/>
          </a:prstGeom>
          <a:ln w="9525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8CDEF68-21E1-11BB-EF01-9A0895DCE78E}"/>
              </a:ext>
            </a:extLst>
          </p:cNvPr>
          <p:cNvCxnSpPr/>
          <p:nvPr/>
        </p:nvCxnSpPr>
        <p:spPr>
          <a:xfrm>
            <a:off x="7823200" y="1803400"/>
            <a:ext cx="3606800" cy="0"/>
          </a:xfrm>
          <a:prstGeom prst="line">
            <a:avLst/>
          </a:prstGeom>
          <a:ln w="1270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D30509A-940E-E726-E834-190C0CB12788}"/>
              </a:ext>
            </a:extLst>
          </p:cNvPr>
          <p:cNvSpPr txBox="1"/>
          <p:nvPr/>
        </p:nvSpPr>
        <p:spPr>
          <a:xfrm>
            <a:off x="7823200" y="1828800"/>
            <a:ext cx="3606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950">
                <a:solidFill>
                  <a:srgbClr val="1C1813"/>
                </a:solidFill>
                <a:latin typeface="Bahnschrift SemiBold" panose="020B0502040204020203" pitchFamily="34" charset="0"/>
              </a:rPr>
              <a:t>Elementos y revisiones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9EDF0B7-DD30-1788-C9AD-9AB83FCCB21A}"/>
              </a:ext>
            </a:extLst>
          </p:cNvPr>
          <p:cNvSpPr txBox="1"/>
          <p:nvPr/>
        </p:nvSpPr>
        <p:spPr>
          <a:xfrm>
            <a:off x="7899400" y="2032000"/>
            <a:ext cx="35306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650" i="1">
                <a:solidFill>
                  <a:srgbClr val="6A4F20"/>
                </a:solidFill>
                <a:latin typeface="Segoe UI" panose="020B0502040204020203" pitchFamily="34" charset="0"/>
              </a:rPr>
              <a:t>→  La columna del responsable es la que hace que ocurra.</a:t>
            </a:r>
            <a:endParaRPr lang="es-BO" sz="650" i="1">
              <a:solidFill>
                <a:srgbClr val="6A4F20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4F3EE6C-C519-72E8-2346-7D1252DE3AC8}"/>
              </a:ext>
            </a:extLst>
          </p:cNvPr>
          <p:cNvSpPr/>
          <p:nvPr/>
        </p:nvSpPr>
        <p:spPr>
          <a:xfrm>
            <a:off x="7823200" y="2235200"/>
            <a:ext cx="1659128" cy="228600"/>
          </a:xfrm>
          <a:prstGeom prst="rect">
            <a:avLst/>
          </a:prstGeom>
          <a:solidFill>
            <a:srgbClr val="EAE4D6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D82F422-1858-75DD-B6BA-BE5E86A70409}"/>
              </a:ext>
            </a:extLst>
          </p:cNvPr>
          <p:cNvSpPr/>
          <p:nvPr/>
        </p:nvSpPr>
        <p:spPr>
          <a:xfrm>
            <a:off x="9482328" y="2235200"/>
            <a:ext cx="194767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3F8F111-A83A-7190-D992-467D1D88BF9F}"/>
              </a:ext>
            </a:extLst>
          </p:cNvPr>
          <p:cNvSpPr txBox="1"/>
          <p:nvPr/>
        </p:nvSpPr>
        <p:spPr>
          <a:xfrm>
            <a:off x="7886700" y="2260600"/>
            <a:ext cx="1557528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1C1813"/>
                </a:solidFill>
                <a:latin typeface="Segoe UI Semibold" panose="020B0702040204020203" pitchFamily="34" charset="0"/>
              </a:rPr>
              <a:t>Qué invalida este plan antes de tiempo</a:t>
            </a:r>
            <a:endParaRPr lang="es-BO" sz="70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6C8FA2C-F0A0-477B-B7E4-34A376E6B0AE}"/>
              </a:ext>
            </a:extLst>
          </p:cNvPr>
          <p:cNvSpPr/>
          <p:nvPr/>
        </p:nvSpPr>
        <p:spPr>
          <a:xfrm>
            <a:off x="7823200" y="2540000"/>
            <a:ext cx="1202267" cy="177800"/>
          </a:xfrm>
          <a:prstGeom prst="rect">
            <a:avLst/>
          </a:prstGeom>
          <a:solidFill>
            <a:srgbClr val="1C1813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B4A1497-D151-3D67-ACA4-A40E7D9B4D7C}"/>
              </a:ext>
            </a:extLst>
          </p:cNvPr>
          <p:cNvSpPr txBox="1"/>
          <p:nvPr/>
        </p:nvSpPr>
        <p:spPr>
          <a:xfrm>
            <a:off x="7874000" y="25527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50">
                <a:solidFill>
                  <a:srgbClr val="FFFFFF"/>
                </a:solidFill>
                <a:latin typeface="Segoe UI Semibold" panose="020B0702040204020203" pitchFamily="34" charset="0"/>
              </a:rPr>
              <a:t>Elemento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80378CC-EBF3-05D1-312A-D9E1C3BD6602}"/>
              </a:ext>
            </a:extLst>
          </p:cNvPr>
          <p:cNvSpPr/>
          <p:nvPr/>
        </p:nvSpPr>
        <p:spPr>
          <a:xfrm>
            <a:off x="9025467" y="2540000"/>
            <a:ext cx="1202267" cy="177800"/>
          </a:xfrm>
          <a:prstGeom prst="rect">
            <a:avLst/>
          </a:prstGeom>
          <a:solidFill>
            <a:srgbClr val="1C1813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6F83361-EE15-253A-8FA2-4B34FF202486}"/>
              </a:ext>
            </a:extLst>
          </p:cNvPr>
          <p:cNvSpPr txBox="1"/>
          <p:nvPr/>
        </p:nvSpPr>
        <p:spPr>
          <a:xfrm>
            <a:off x="9076267" y="25527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50">
                <a:solidFill>
                  <a:srgbClr val="FFFFFF"/>
                </a:solidFill>
                <a:latin typeface="Segoe UI Semibold" panose="020B0702040204020203" pitchFamily="34" charset="0"/>
              </a:rPr>
              <a:t>Cada cuánto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029022D-146F-6AF0-2EE8-603E3BA0FE9A}"/>
              </a:ext>
            </a:extLst>
          </p:cNvPr>
          <p:cNvSpPr/>
          <p:nvPr/>
        </p:nvSpPr>
        <p:spPr>
          <a:xfrm>
            <a:off x="10227733" y="2540000"/>
            <a:ext cx="1202267" cy="177800"/>
          </a:xfrm>
          <a:prstGeom prst="rect">
            <a:avLst/>
          </a:prstGeom>
          <a:solidFill>
            <a:srgbClr val="1C1813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64CDC62-6078-76DE-9584-3927D6EF27D5}"/>
              </a:ext>
            </a:extLst>
          </p:cNvPr>
          <p:cNvSpPr txBox="1"/>
          <p:nvPr/>
        </p:nvSpPr>
        <p:spPr>
          <a:xfrm>
            <a:off x="10278533" y="25527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50">
                <a:solidFill>
                  <a:srgbClr val="FFFFFF"/>
                </a:solidFill>
                <a:latin typeface="Segoe UI Semibold" panose="020B0702040204020203" pitchFamily="34" charset="0"/>
              </a:rPr>
              <a:t>Responsable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52F2138-6210-9511-747F-9BC8FC33001C}"/>
              </a:ext>
            </a:extLst>
          </p:cNvPr>
          <p:cNvSpPr/>
          <p:nvPr/>
        </p:nvSpPr>
        <p:spPr>
          <a:xfrm>
            <a:off x="7823200" y="2717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0F3DFD0-4455-6D0D-F53E-6239F9DD9FE7}"/>
              </a:ext>
            </a:extLst>
          </p:cNvPr>
          <p:cNvSpPr txBox="1"/>
          <p:nvPr/>
        </p:nvSpPr>
        <p:spPr>
          <a:xfrm>
            <a:off x="7874000" y="2730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Ánodos galvánicos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47869FD-AA25-91D0-D59D-B0ABCA10F995}"/>
              </a:ext>
            </a:extLst>
          </p:cNvPr>
          <p:cNvSpPr/>
          <p:nvPr/>
        </p:nvSpPr>
        <p:spPr>
          <a:xfrm>
            <a:off x="9025467" y="2717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4C8EAF2-E2D5-A874-6E3E-C988F2D81B4A}"/>
              </a:ext>
            </a:extLst>
          </p:cNvPr>
          <p:cNvSpPr txBox="1"/>
          <p:nvPr/>
        </p:nvSpPr>
        <p:spPr>
          <a:xfrm>
            <a:off x="9076267" y="2730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7088987-DFF4-0050-2237-F34D21829C97}"/>
              </a:ext>
            </a:extLst>
          </p:cNvPr>
          <p:cNvSpPr/>
          <p:nvPr/>
        </p:nvSpPr>
        <p:spPr>
          <a:xfrm>
            <a:off x="10227733" y="2717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480A13B-6A02-DEDA-D622-41941205EB2E}"/>
              </a:ext>
            </a:extLst>
          </p:cNvPr>
          <p:cNvSpPr txBox="1"/>
          <p:nvPr/>
        </p:nvSpPr>
        <p:spPr>
          <a:xfrm>
            <a:off x="10278533" y="2730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E7CC5BB-1765-A854-67E4-BBDC8F184EF7}"/>
              </a:ext>
            </a:extLst>
          </p:cNvPr>
          <p:cNvSpPr/>
          <p:nvPr/>
        </p:nvSpPr>
        <p:spPr>
          <a:xfrm>
            <a:off x="7823200" y="2908300"/>
            <a:ext cx="1202267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3451D2E-B67D-47F4-05D1-C0CEA9FA5486}"/>
              </a:ext>
            </a:extLst>
          </p:cNvPr>
          <p:cNvSpPr txBox="1"/>
          <p:nvPr/>
        </p:nvSpPr>
        <p:spPr>
          <a:xfrm>
            <a:off x="7874000" y="29210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Sellado de juntas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3BF2302-E79E-690B-A1A3-5AEFDE5D4DA5}"/>
              </a:ext>
            </a:extLst>
          </p:cNvPr>
          <p:cNvSpPr/>
          <p:nvPr/>
        </p:nvSpPr>
        <p:spPr>
          <a:xfrm>
            <a:off x="9025467" y="2908300"/>
            <a:ext cx="1202267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6AB0B9D-250E-B13C-101F-249FE4AE50B8}"/>
              </a:ext>
            </a:extLst>
          </p:cNvPr>
          <p:cNvSpPr txBox="1"/>
          <p:nvPr/>
        </p:nvSpPr>
        <p:spPr>
          <a:xfrm>
            <a:off x="9076267" y="29210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52426AC-A555-D808-35B2-2598EDAB6D20}"/>
              </a:ext>
            </a:extLst>
          </p:cNvPr>
          <p:cNvSpPr/>
          <p:nvPr/>
        </p:nvSpPr>
        <p:spPr>
          <a:xfrm>
            <a:off x="10227733" y="2908300"/>
            <a:ext cx="1202267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01D4C11-E6F6-949C-00D6-91BD6A02E14B}"/>
              </a:ext>
            </a:extLst>
          </p:cNvPr>
          <p:cNvSpPr txBox="1"/>
          <p:nvPr/>
        </p:nvSpPr>
        <p:spPr>
          <a:xfrm>
            <a:off x="10278533" y="29210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5A5F999D-B133-880D-E084-A1F51D28675F}"/>
              </a:ext>
            </a:extLst>
          </p:cNvPr>
          <p:cNvSpPr/>
          <p:nvPr/>
        </p:nvSpPr>
        <p:spPr>
          <a:xfrm>
            <a:off x="7823200" y="3098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6F66E1D-8672-EC3C-1F4B-38F7626794F8}"/>
              </a:ext>
            </a:extLst>
          </p:cNvPr>
          <p:cNvSpPr txBox="1"/>
          <p:nvPr/>
        </p:nvSpPr>
        <p:spPr>
          <a:xfrm>
            <a:off x="7874000" y="3111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Revestimiento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4B3B60B-9F9B-7751-F30F-87CDCEC936A2}"/>
              </a:ext>
            </a:extLst>
          </p:cNvPr>
          <p:cNvSpPr/>
          <p:nvPr/>
        </p:nvSpPr>
        <p:spPr>
          <a:xfrm>
            <a:off x="9025467" y="3098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92AC8C5-FB5F-F3FF-69E0-43BC8A0566F5}"/>
              </a:ext>
            </a:extLst>
          </p:cNvPr>
          <p:cNvSpPr txBox="1"/>
          <p:nvPr/>
        </p:nvSpPr>
        <p:spPr>
          <a:xfrm>
            <a:off x="9076267" y="3111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7AFF791-9F94-9660-5467-5D97EE856834}"/>
              </a:ext>
            </a:extLst>
          </p:cNvPr>
          <p:cNvSpPr/>
          <p:nvPr/>
        </p:nvSpPr>
        <p:spPr>
          <a:xfrm>
            <a:off x="10227733" y="3098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C195F7E-3B4F-562A-67B1-0DECEDFE778B}"/>
              </a:ext>
            </a:extLst>
          </p:cNvPr>
          <p:cNvSpPr txBox="1"/>
          <p:nvPr/>
        </p:nvSpPr>
        <p:spPr>
          <a:xfrm>
            <a:off x="10278533" y="3111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C705C47F-7658-CDBA-131C-EE2452CACEF7}"/>
              </a:ext>
            </a:extLst>
          </p:cNvPr>
          <p:cNvSpPr/>
          <p:nvPr/>
        </p:nvSpPr>
        <p:spPr>
          <a:xfrm>
            <a:off x="609600" y="4343400"/>
            <a:ext cx="6858000" cy="279400"/>
          </a:xfrm>
          <a:prstGeom prst="roundRect">
            <a:avLst>
              <a:gd name="adj" fmla="val 6000"/>
            </a:avLst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Ins="101600" bIns="38100" rtlCol="0" anchor="ctr"/>
          <a:lstStyle/>
          <a:p>
            <a:pPr algn="just"/>
            <a:r>
              <a:rPr lang="es-MX" sz="850">
                <a:solidFill>
                  <a:srgbClr val="C9A66B"/>
                </a:solidFill>
                <a:latin typeface="Segoe UI Semibold" panose="020B0702040204020203" pitchFamily="34" charset="0"/>
              </a:rPr>
              <a:t>Planilla  ·  Hoja 8 · Recálculo de columna y cimentación</a:t>
            </a:r>
            <a:endParaRPr lang="es-BO" sz="850">
              <a:solidFill>
                <a:srgbClr val="C9A66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0C222FDF-E159-02B8-5475-438D13F86B1B}"/>
              </a:ext>
            </a:extLst>
          </p:cNvPr>
          <p:cNvSpPr/>
          <p:nvPr/>
        </p:nvSpPr>
        <p:spPr>
          <a:xfrm>
            <a:off x="7670800" y="4343400"/>
            <a:ext cx="3911600" cy="279400"/>
          </a:xfrm>
          <a:prstGeom prst="roundRect">
            <a:avLst>
              <a:gd name="adj" fmla="val 6000"/>
            </a:avLst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Ins="101600" bIns="38100" rtlCol="0" anchor="ctr"/>
          <a:lstStyle/>
          <a:p>
            <a:pPr algn="just"/>
            <a:r>
              <a:rPr lang="es-BO" sz="850">
                <a:solidFill>
                  <a:srgbClr val="C9A66B"/>
                </a:solidFill>
                <a:latin typeface="Segoe UI Semibold" panose="020B0702040204020203" pitchFamily="34" charset="0"/>
              </a:rPr>
              <a:t>Formato  ·  PH_Plan-de-mantenimiento.docx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5DC4656-4868-9A5D-7061-C5D42697CCFA}"/>
              </a:ext>
            </a:extLst>
          </p:cNvPr>
          <p:cNvSpPr/>
          <p:nvPr/>
        </p:nvSpPr>
        <p:spPr>
          <a:xfrm>
            <a:off x="609600" y="4800600"/>
            <a:ext cx="26289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8BE54F56-CB55-D4C8-AA91-25078E066A87}"/>
              </a:ext>
            </a:extLst>
          </p:cNvPr>
          <p:cNvSpPr/>
          <p:nvPr/>
        </p:nvSpPr>
        <p:spPr>
          <a:xfrm>
            <a:off x="609600" y="4800600"/>
            <a:ext cx="2628900" cy="3175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65B558C-F0CF-162D-C47E-61DA938A62D2}"/>
              </a:ext>
            </a:extLst>
          </p:cNvPr>
          <p:cNvSpPr txBox="1"/>
          <p:nvPr/>
        </p:nvSpPr>
        <p:spPr>
          <a:xfrm>
            <a:off x="762000" y="4902200"/>
            <a:ext cx="2374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1C1813"/>
                </a:solidFill>
                <a:latin typeface="Bahnschrift SemiBold" panose="020B0502040204020203" pitchFamily="34" charset="0"/>
              </a:rPr>
              <a:t>Qué pone usted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24822BD-9927-8C5E-3169-22800A5ACB2A}"/>
              </a:ext>
            </a:extLst>
          </p:cNvPr>
          <p:cNvSpPr txBox="1"/>
          <p:nvPr/>
        </p:nvSpPr>
        <p:spPr>
          <a:xfrm>
            <a:off x="762000" y="5156200"/>
            <a:ext cx="23749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La geometría, la armadura residual de la hoja 4, la resistencia in situ de la hoja 6, los parámetros del suelo y las cargas.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0AE881A-23C6-6AD1-24E4-2461B75479BF}"/>
              </a:ext>
            </a:extLst>
          </p:cNvPr>
          <p:cNvSpPr/>
          <p:nvPr/>
        </p:nvSpPr>
        <p:spPr>
          <a:xfrm>
            <a:off x="3390900" y="4800600"/>
            <a:ext cx="26289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3BF3A0B3-1CF0-B001-3CC8-717B1A15EB6E}"/>
              </a:ext>
            </a:extLst>
          </p:cNvPr>
          <p:cNvSpPr/>
          <p:nvPr/>
        </p:nvSpPr>
        <p:spPr>
          <a:xfrm>
            <a:off x="3390900" y="4800600"/>
            <a:ext cx="2628900" cy="3175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4112809-FE58-A939-A87C-0346F6C4AFFA}"/>
              </a:ext>
            </a:extLst>
          </p:cNvPr>
          <p:cNvSpPr txBox="1"/>
          <p:nvPr/>
        </p:nvSpPr>
        <p:spPr>
          <a:xfrm>
            <a:off x="3543300" y="4902200"/>
            <a:ext cx="2374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1C1813"/>
                </a:solidFill>
                <a:latin typeface="Bahnschrift SemiBold" panose="020B0502040204020203" pitchFamily="34" charset="0"/>
              </a:rPr>
              <a:t>Qué sale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DC12403-87D3-FAD8-52B4-B876F81F0441}"/>
              </a:ext>
            </a:extLst>
          </p:cNvPr>
          <p:cNvSpPr txBox="1"/>
          <p:nvPr/>
        </p:nvSpPr>
        <p:spPr>
          <a:xfrm>
            <a:off x="3543300" y="5156200"/>
            <a:ext cx="23749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La capacidad de la columna con el recubrimiento repuesto y desprendido, la carga admisible por Terzaghi y los tres márgenes.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56957427-907C-F6E8-507A-B46900809358}"/>
              </a:ext>
            </a:extLst>
          </p:cNvPr>
          <p:cNvSpPr/>
          <p:nvPr/>
        </p:nvSpPr>
        <p:spPr>
          <a:xfrm>
            <a:off x="6172200" y="4800600"/>
            <a:ext cx="26289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33217B29-64D4-1F56-4394-E4F5C601AF8C}"/>
              </a:ext>
            </a:extLst>
          </p:cNvPr>
          <p:cNvSpPr/>
          <p:nvPr/>
        </p:nvSpPr>
        <p:spPr>
          <a:xfrm>
            <a:off x="6172200" y="4800600"/>
            <a:ext cx="2628900" cy="3175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CBDB7A0-C85A-3A52-1651-28DA9F70EC14}"/>
              </a:ext>
            </a:extLst>
          </p:cNvPr>
          <p:cNvSpPr txBox="1"/>
          <p:nvPr/>
        </p:nvSpPr>
        <p:spPr>
          <a:xfrm>
            <a:off x="6324600" y="4902200"/>
            <a:ext cx="2374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1C1813"/>
                </a:solidFill>
                <a:latin typeface="Bahnschrift SemiBold" panose="020B0502040204020203" pitchFamily="34" charset="0"/>
              </a:rPr>
              <a:t>Los márgenes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9875C5B9-C684-2F44-99BE-9097C52B1A43}"/>
              </a:ext>
            </a:extLst>
          </p:cNvPr>
          <p:cNvSpPr txBox="1"/>
          <p:nvPr/>
        </p:nvSpPr>
        <p:spPr>
          <a:xfrm>
            <a:off x="6324600" y="5156200"/>
            <a:ext cx="23749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Se colorean solos contra su umbral: hoy 0,83 y en el futuro 0,62 salen en oxblood; con el ensanche, 1,13 sale en oliva.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56B3B8F-2929-D1FE-85C6-D5A4D740C12C}"/>
              </a:ext>
            </a:extLst>
          </p:cNvPr>
          <p:cNvSpPr/>
          <p:nvPr/>
        </p:nvSpPr>
        <p:spPr>
          <a:xfrm>
            <a:off x="8953500" y="4800600"/>
            <a:ext cx="26289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7370EC5-644D-E5B7-DE74-5DA532B9C540}"/>
              </a:ext>
            </a:extLst>
          </p:cNvPr>
          <p:cNvSpPr/>
          <p:nvPr/>
        </p:nvSpPr>
        <p:spPr>
          <a:xfrm>
            <a:off x="8953500" y="4800600"/>
            <a:ext cx="2628900" cy="3175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176256C-BBE4-CA13-59DE-E998111B5998}"/>
              </a:ext>
            </a:extLst>
          </p:cNvPr>
          <p:cNvSpPr txBox="1"/>
          <p:nvPr/>
        </p:nvSpPr>
        <p:spPr>
          <a:xfrm>
            <a:off x="9105900" y="4902200"/>
            <a:ext cx="2374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BO" sz="1150">
                <a:solidFill>
                  <a:srgbClr val="1C1813"/>
                </a:solidFill>
                <a:latin typeface="Bahnschrift SemiBold" panose="020B0502040204020203" pitchFamily="34" charset="0"/>
              </a:rPr>
              <a:t>El mantenimiento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ED8ED57-8539-9C54-4104-E22171253BE7}"/>
              </a:ext>
            </a:extLst>
          </p:cNvPr>
          <p:cNvSpPr txBox="1"/>
          <p:nvPr/>
        </p:nvSpPr>
        <p:spPr>
          <a:xfrm>
            <a:off x="9105900" y="5156200"/>
            <a:ext cx="23749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Lleva la vida del ánodo calculada en la hoja 7 a un calendario con responsable y coste previsto a cinco años.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8446280-A811-A7AA-2D52-5EAB7C82ACBB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Plantillas_y_formatos del curso. Los valores cargados son los del caso ejemplo, la nave Sector 4.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D9093723-45A4-34F8-C20D-EB8A3DDEE4AF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69F45791-4707-23FA-14A1-B81A5CFA6C02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38F3933-1C9C-C983-2543-C6F3ACF2225A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65" name="PageNo">
            <a:extLst>
              <a:ext uri="{FF2B5EF4-FFF2-40B4-BE49-F238E27FC236}">
                <a16:creationId xmlns:a16="http://schemas.microsoft.com/office/drawing/2014/main" id="{BCED77CE-F98A-EC1A-DCF0-FD92572A42C9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36 / 38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33740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B9960EA-0328-5935-FF2F-68A79848C6A0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8A6A2F"/>
                </a:solidFill>
                <a:latin typeface="Segoe UI Semibold" panose="020B0702040204020203" pitchFamily="34" charset="0"/>
              </a:rPr>
              <a:t>SÍNTESIS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BB8788A-2182-9653-6432-A0CF8B65DBB9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700">
                <a:solidFill>
                  <a:srgbClr val="FFFFFF"/>
                </a:solidFill>
                <a:latin typeface="Bahnschrift SemiBold" panose="020B0502040204020203" pitchFamily="34" charset="0"/>
              </a:rPr>
              <a:t>Ideas para llevarse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EF10D14-4DBC-B46C-BBD6-659216E51F29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902A01C-7294-12C9-51F9-5BEF6414194F}"/>
              </a:ext>
            </a:extLst>
          </p:cNvPr>
          <p:cNvCxnSpPr/>
          <p:nvPr/>
        </p:nvCxnSpPr>
        <p:spPr>
          <a:xfrm>
            <a:off x="609600" y="1206500"/>
            <a:ext cx="1219200" cy="0"/>
          </a:xfrm>
          <a:prstGeom prst="line">
            <a:avLst/>
          </a:prstGeom>
          <a:ln w="3175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09FDD443-6CB9-13A0-D089-DA2ACE2B3748}"/>
              </a:ext>
            </a:extLst>
          </p:cNvPr>
          <p:cNvSpPr/>
          <p:nvPr/>
        </p:nvSpPr>
        <p:spPr>
          <a:xfrm>
            <a:off x="609600" y="14986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DB96E75-01E0-8657-90C8-D918C230B0C1}"/>
              </a:ext>
            </a:extLst>
          </p:cNvPr>
          <p:cNvSpPr txBox="1"/>
          <p:nvPr/>
        </p:nvSpPr>
        <p:spPr>
          <a:xfrm>
            <a:off x="863600" y="16764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01A11B3-C345-6385-C03D-BF2565CFFFCC}"/>
              </a:ext>
            </a:extLst>
          </p:cNvPr>
          <p:cNvSpPr txBox="1"/>
          <p:nvPr/>
        </p:nvSpPr>
        <p:spPr>
          <a:xfrm>
            <a:off x="1625600" y="16764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Lo existente se recalcula con las propiedades medidas en la clase 5, nunca con las del proyecto original.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9EB8A4F-53F6-0163-86E8-63E360786CAF}"/>
              </a:ext>
            </a:extLst>
          </p:cNvPr>
          <p:cNvSpPr/>
          <p:nvPr/>
        </p:nvSpPr>
        <p:spPr>
          <a:xfrm>
            <a:off x="6248400" y="14986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6DCCF1-B657-2749-909C-38F248AEC978}"/>
              </a:ext>
            </a:extLst>
          </p:cNvPr>
          <p:cNvSpPr txBox="1"/>
          <p:nvPr/>
        </p:nvSpPr>
        <p:spPr>
          <a:xfrm>
            <a:off x="6502400" y="16764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AF3B7-7D83-9170-4F7D-D27979D2C260}"/>
              </a:ext>
            </a:extLst>
          </p:cNvPr>
          <p:cNvSpPr txBox="1"/>
          <p:nvPr/>
        </p:nvSpPr>
        <p:spPr>
          <a:xfrm>
            <a:off x="7264400" y="16764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Capacidad frente a demanda decide; los requisitos prescriptivos se declaran y se evalúan, no se ignoran.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A3BD476-2332-6616-421D-8E59EDE28670}"/>
              </a:ext>
            </a:extLst>
          </p:cNvPr>
          <p:cNvSpPr/>
          <p:nvPr/>
        </p:nvSpPr>
        <p:spPr>
          <a:xfrm>
            <a:off x="609600" y="29718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FD4AF6-6388-4DCE-DF87-07FFB444AEC8}"/>
              </a:ext>
            </a:extLst>
          </p:cNvPr>
          <p:cNvSpPr txBox="1"/>
          <p:nvPr/>
        </p:nvSpPr>
        <p:spPr>
          <a:xfrm>
            <a:off x="863600" y="31496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4581E7C-0C75-F962-D555-4D038E7E2CC9}"/>
              </a:ext>
            </a:extLst>
          </p:cNvPr>
          <p:cNvSpPr txBox="1"/>
          <p:nvPr/>
        </p:nvSpPr>
        <p:spPr>
          <a:xfrm>
            <a:off x="1625600" y="31496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Reforzar es la última opción: demostrar con números que no hace falta es la conclusión más frecuente y más rentable.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61DA67-64E2-5F71-FC4A-E2600F947BCB}"/>
              </a:ext>
            </a:extLst>
          </p:cNvPr>
          <p:cNvSpPr/>
          <p:nvPr/>
        </p:nvSpPr>
        <p:spPr>
          <a:xfrm>
            <a:off x="6248400" y="29718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72711CB-987F-ECEB-DAE0-25EA4F06BFD8}"/>
              </a:ext>
            </a:extLst>
          </p:cNvPr>
          <p:cNvSpPr txBox="1"/>
          <p:nvPr/>
        </p:nvSpPr>
        <p:spPr>
          <a:xfrm>
            <a:off x="6502400" y="31496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A69B09D-F207-81AE-14BB-862A09C351BC}"/>
              </a:ext>
            </a:extLst>
          </p:cNvPr>
          <p:cNvSpPr txBox="1"/>
          <p:nvPr/>
        </p:nvSpPr>
        <p:spPr>
          <a:xfrm>
            <a:off x="7264400" y="31496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El encamisado sin apeo no recibe la carga que ya actuaba; la fibra de carbono falla por despegue, no por rotura.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1701A95-C10D-0B3C-F5CD-33BDB4789980}"/>
              </a:ext>
            </a:extLst>
          </p:cNvPr>
          <p:cNvSpPr/>
          <p:nvPr/>
        </p:nvSpPr>
        <p:spPr>
          <a:xfrm>
            <a:off x="609600" y="44450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E3F3867-2A3B-1242-C09A-EB0624EBEE91}"/>
              </a:ext>
            </a:extLst>
          </p:cNvPr>
          <p:cNvSpPr txBox="1"/>
          <p:nvPr/>
        </p:nvSpPr>
        <p:spPr>
          <a:xfrm>
            <a:off x="863600" y="46228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05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CC9104B-3F5F-808A-98CA-762E00E1D0B9}"/>
              </a:ext>
            </a:extLst>
          </p:cNvPr>
          <p:cNvSpPr txBox="1"/>
          <p:nvPr/>
        </p:nvSpPr>
        <p:spPr>
          <a:xfrm>
            <a:off x="1625600" y="46228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En un recalce, el ensanche solo trabaja si la conexión se comprueba a cortante por fricción con superficie rugosa.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51BC0EB-7211-6085-5F74-EFF89631D4BD}"/>
              </a:ext>
            </a:extLst>
          </p:cNvPr>
          <p:cNvSpPr/>
          <p:nvPr/>
        </p:nvSpPr>
        <p:spPr>
          <a:xfrm>
            <a:off x="6248400" y="44450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EF01DCA-698D-A145-C086-E916ADFE1EE7}"/>
              </a:ext>
            </a:extLst>
          </p:cNvPr>
          <p:cNvSpPr txBox="1"/>
          <p:nvPr/>
        </p:nvSpPr>
        <p:spPr>
          <a:xfrm>
            <a:off x="6502400" y="46228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06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29540BE-0D7D-197A-4CCB-1701EF7E8E9E}"/>
              </a:ext>
            </a:extLst>
          </p:cNvPr>
          <p:cNvSpPr txBox="1"/>
          <p:nvPr/>
        </p:nvSpPr>
        <p:spPr>
          <a:xfrm>
            <a:off x="7264400" y="46228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just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Un diagnóstico sin plan de mantenimiento con fechas y responsables caduca el día que se entrega.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A2EC104-9DAD-C6B6-BCA8-5C6FC1F8F050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3A322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7EBF950-0955-CA14-B854-88818FB11BAF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C9284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C928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B8F596A-F716-1F96-3B22-520B0F400F3B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7 · REFUERZO, RECALCE Y GESTIÓN</a:t>
            </a:r>
            <a:endParaRPr lang="es-BO" sz="700" spc="130">
              <a:solidFill>
                <a:srgbClr val="9C9284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PageNo">
            <a:extLst>
              <a:ext uri="{FF2B5EF4-FFF2-40B4-BE49-F238E27FC236}">
                <a16:creationId xmlns:a16="http://schemas.microsoft.com/office/drawing/2014/main" id="{DC99DF31-D6BD-29EB-D728-435C481FBE4A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C9A66B"/>
                </a:solidFill>
                <a:latin typeface="Bahnschrift SemiBold" panose="020B0502040204020203" pitchFamily="34" charset="0"/>
              </a:rPr>
              <a:t>37 / 38</a:t>
            </a:r>
          </a:p>
        </p:txBody>
      </p:sp>
    </p:spTree>
    <p:extLst>
      <p:ext uri="{BB962C8B-B14F-4D97-AF65-F5344CB8AC3E}">
        <p14:creationId xmlns:p14="http://schemas.microsoft.com/office/powerpoint/2010/main" val="245929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9218DB-946A-B934-7829-BFF5D9D622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E917DF2-1324-544F-D462-0D89E8C1D4D0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F04093-C31A-00FB-FBD3-8D8812EA2A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10FE19A-A0D5-CA50-62D3-EDC48CE1265D}"/>
              </a:ext>
            </a:extLst>
          </p:cNvPr>
          <p:cNvSpPr/>
          <p:nvPr/>
        </p:nvSpPr>
        <p:spPr>
          <a:xfrm>
            <a:off x="609600" y="1905000"/>
            <a:ext cx="330200" cy="25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ABE8F6-4C63-AE99-D39A-41A73399BD91}"/>
              </a:ext>
            </a:extLst>
          </p:cNvPr>
          <p:cNvSpPr txBox="1"/>
          <p:nvPr/>
        </p:nvSpPr>
        <p:spPr>
          <a:xfrm>
            <a:off x="1066800" y="18288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000" spc="180">
                <a:solidFill>
                  <a:srgbClr val="C9A66B"/>
                </a:solidFill>
                <a:latin typeface="Segoe UI Semibold" panose="020B0702040204020203" pitchFamily="34" charset="0"/>
              </a:rPr>
              <a:t>FIN DE LA CLASE 7</a:t>
            </a:r>
            <a:endParaRPr lang="es-BO" sz="1000" spc="180">
              <a:solidFill>
                <a:srgbClr val="C9A66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4A9D65A8-4621-265B-2FEA-A5BCE1F0842C}"/>
              </a:ext>
            </a:extLst>
          </p:cNvPr>
          <p:cNvSpPr txBox="1"/>
          <p:nvPr/>
        </p:nvSpPr>
        <p:spPr>
          <a:xfrm>
            <a:off x="584200" y="2184400"/>
            <a:ext cx="7620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4400">
                <a:solidFill>
                  <a:srgbClr val="FFFFFF"/>
                </a:solidFill>
                <a:latin typeface="Bahnschrift SemiBold" panose="020B0502040204020203" pitchFamily="34" charset="0"/>
              </a:rPr>
              <a:t>Gracias. ¿Preguntas?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4DDA677-D26B-0602-08E3-54917E06666C}"/>
              </a:ext>
            </a:extLst>
          </p:cNvPr>
          <p:cNvSpPr txBox="1"/>
          <p:nvPr/>
        </p:nvSpPr>
        <p:spPr>
          <a:xfrm>
            <a:off x="609600" y="3327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CFC7B8"/>
                </a:solidFill>
                <a:latin typeface="Segoe UI Semibold" panose="020B0702040204020203" pitchFamily="34" charset="0"/>
              </a:rPr>
              <a:t>FIN DEL CURSO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293E36D-BAB3-39E5-5F0E-B54281C60C95}"/>
              </a:ext>
            </a:extLst>
          </p:cNvPr>
          <p:cNvSpPr txBox="1"/>
          <p:nvPr/>
        </p:nvSpPr>
        <p:spPr>
          <a:xfrm>
            <a:off x="609600" y="3581400"/>
            <a:ext cx="711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2000" i="1">
                <a:solidFill>
                  <a:srgbClr val="C9A66B"/>
                </a:solidFill>
                <a:latin typeface="Constantia" panose="02030602050306030303" pitchFamily="18" charset="0"/>
              </a:rPr>
              <a:t>Gracias por estas siete clases. La nave Sector 4 queda diagnosticada, reparada, reforzada y gestionada</a:t>
            </a:r>
            <a:endParaRPr lang="es-BO" sz="2000" i="1">
              <a:solidFill>
                <a:srgbClr val="C9A66B"/>
              </a:solidFill>
              <a:latin typeface="Constantia" panose="02030602050306030303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F4BE44A-6C56-1254-2D6E-0975574F1E0C}"/>
              </a:ext>
            </a:extLst>
          </p:cNvPr>
          <p:cNvSpPr txBox="1"/>
          <p:nvPr/>
        </p:nvSpPr>
        <p:spPr>
          <a:xfrm>
            <a:off x="609600" y="54356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nn-NO" sz="1300">
                <a:solidFill>
                  <a:srgbClr val="FFFFFF"/>
                </a:solidFill>
                <a:latin typeface="Bahnschrift SemiBold" panose="020B0502040204020203" pitchFamily="34" charset="0"/>
              </a:rPr>
              <a:t>Ing. Kevin Yerko Vera Careaga</a:t>
            </a:r>
            <a:endParaRPr lang="es-BO" sz="13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F3C991-0049-448A-AF56-507D9663C2E8}"/>
              </a:ext>
            </a:extLst>
          </p:cNvPr>
          <p:cNvSpPr txBox="1"/>
          <p:nvPr/>
        </p:nvSpPr>
        <p:spPr>
          <a:xfrm>
            <a:off x="609600" y="5676900"/>
            <a:ext cx="762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Ingeniero Civil · NRI 57148</a:t>
            </a:r>
          </a:p>
          <a:p>
            <a:pPr algn="just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kevin.yerko.vc@gmail.com  ·  +591 78406014  ·  La Paz, Bolivia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Monograma">
            <a:extLst>
              <a:ext uri="{FF2B5EF4-FFF2-40B4-BE49-F238E27FC236}">
                <a16:creationId xmlns:a16="http://schemas.microsoft.com/office/drawing/2014/main" id="{FC135107-F7F8-961B-9C62-75CBF841A951}"/>
              </a:ext>
            </a:extLst>
          </p:cNvPr>
          <p:cNvSpPr/>
          <p:nvPr/>
        </p:nvSpPr>
        <p:spPr>
          <a:xfrm>
            <a:off x="10998200" y="508000"/>
            <a:ext cx="584200" cy="584200"/>
          </a:xfrm>
          <a:prstGeom prst="ellipse">
            <a:avLst/>
          </a:prstGeom>
          <a:noFill/>
          <a:ln w="15875">
            <a:solidFill>
              <a:srgbClr val="8A6A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1C1813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s-BO" sz="1104">
                <a:solidFill>
                  <a:srgbClr val="8A6A2F"/>
                </a:solidFill>
                <a:latin typeface="Bahnschrift SemiBold" panose="020B0502040204020203" pitchFamily="34" charset="0"/>
              </a:rPr>
              <a:t>KY</a:t>
            </a:r>
          </a:p>
          <a:p>
            <a:pPr algn="ctr">
              <a:lnSpc>
                <a:spcPct val="80000"/>
              </a:lnSpc>
            </a:pPr>
            <a:r>
              <a:rPr lang="es-BO" sz="1104">
                <a:solidFill>
                  <a:srgbClr val="8A6A2F"/>
                </a:solidFill>
                <a:latin typeface="Bahnschrift SemiBold" panose="020B0502040204020203" pitchFamily="34" charset="0"/>
              </a:rPr>
              <a:t>VC</a:t>
            </a:r>
          </a:p>
        </p:txBody>
      </p:sp>
    </p:spTree>
    <p:extLst>
      <p:ext uri="{BB962C8B-B14F-4D97-AF65-F5344CB8AC3E}">
        <p14:creationId xmlns:p14="http://schemas.microsoft.com/office/powerpoint/2010/main" val="1308470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proble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tool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9445</Words>
  <Application>Microsoft Office PowerPoint</Application>
  <PresentationFormat>Personalizado</PresentationFormat>
  <Paragraphs>984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7" baseType="lpstr">
      <vt:lpstr>Arial</vt:lpstr>
      <vt:lpstr>Bahnschrift Light</vt:lpstr>
      <vt:lpstr>Bahnschrift SemiBold</vt:lpstr>
      <vt:lpstr>Calibri</vt:lpstr>
      <vt:lpstr>Calibri Light</vt:lpstr>
      <vt:lpstr>Constantia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2026-10-26T16:22:29Z</dcterms:created>
  <dcterms:modified xsi:type="dcterms:W3CDTF">2026-10-26T16:22:29Z</dcterms:modified>
</cp:coreProperties>
</file>